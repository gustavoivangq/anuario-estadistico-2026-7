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a121_130_slideLayout1.xml" ContentType="application/vnd.openxmlformats-officedocument.presentationml.slideLayout+xml"/>
  <Override PartName="/ppt/slideLayouts/s121_slideLayout1.xml" ContentType="application/vnd.openxmlformats-officedocument.presentationml.slideLayout+xml"/>
  <Override PartName="/ppt/slideLayouts/s125_slideLayout1.xml" ContentType="application/vnd.openxmlformats-officedocument.presentationml.slideLayout+xml"/>
  <Override PartName="/ppt/slideLayouts/s9_slideLayout1.xml" ContentType="application/vnd.openxmlformats-officedocument.presentationml.slideLayout+xml"/>
  <Override PartName="/ppt/slideLayouts/s9_slideLayout10.xml" ContentType="application/vnd.openxmlformats-officedocument.presentationml.slideLayout+xml"/>
  <Override PartName="/ppt/slideLayouts/s9_slideLayout11.xml" ContentType="application/vnd.openxmlformats-officedocument.presentationml.slideLayout+xml"/>
  <Override PartName="/ppt/slideLayouts/s9_slideLayout2.xml" ContentType="application/vnd.openxmlformats-officedocument.presentationml.slideLayout+xml"/>
  <Override PartName="/ppt/slideLayouts/s9_slideLayout3.xml" ContentType="application/vnd.openxmlformats-officedocument.presentationml.slideLayout+xml"/>
  <Override PartName="/ppt/slideLayouts/s9_slideLayout4.xml" ContentType="application/vnd.openxmlformats-officedocument.presentationml.slideLayout+xml"/>
  <Override PartName="/ppt/slideLayouts/s9_slideLayout5.xml" ContentType="application/vnd.openxmlformats-officedocument.presentationml.slideLayout+xml"/>
  <Override PartName="/ppt/slideLayouts/s9_slideLayout6.xml" ContentType="application/vnd.openxmlformats-officedocument.presentationml.slideLayout+xml"/>
  <Override PartName="/ppt/slideLayouts/s9_slideLayout7.xml" ContentType="application/vnd.openxmlformats-officedocument.presentationml.slideLayout+xml"/>
  <Override PartName="/ppt/slideLayouts/s9_slideLayout8.xml" ContentType="application/vnd.openxmlformats-officedocument.presentationml.slideLayout+xml"/>
  <Override PartName="/ppt/slideLayouts/s9_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a121_130_slideMaster1.xml" ContentType="application/vnd.openxmlformats-officedocument.presentationml.slideMaster+xml"/>
  <Override PartName="/ppt/slideMasters/s121_slideMaster1.xml" ContentType="application/vnd.openxmlformats-officedocument.presentationml.slideMaster+xml"/>
  <Override PartName="/ppt/slideMasters/s125_slideMaster1.xml" ContentType="application/vnd.openxmlformats-officedocument.presentationml.slideMaster+xml"/>
  <Override PartName="/ppt/slideMasters/s9_slideMaster1.xml" ContentType="application/vnd.openxmlformats-officedocument.presentationml.slideMaster+xml"/>
  <Override PartName="/ppt/slideMasters/slideMaster1.xml" ContentType="application/vnd.openxmlformats-officedocument.presentationml.slideMaster+xml"/>
  <Override PartName="/ppt/slideMasters/theme/a121_130_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s121_theme1.xml" ContentType="application/vnd.openxmlformats-officedocument.theme+xml"/>
  <Override PartName="/ppt/theme/s125_theme1.xml" ContentType="application/vnd.openxmlformats-officedocument.theme+xml"/>
  <Override PartName="/ppt/theme/s9_theme1.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 id="2147490000" r:id="rIdSlide9ReferenceMaster"/>
    <p:sldMasterId id="2147500000" r:id="rIdSlide121ReferenceMaster"/>
    <p:sldMasterId id="2147510000" r:id="rIdSlide125ReferenceMaster"/>
    <p:sldMasterId id="2147520000" r:id="rIdAnnexBlockReferenceMaster"/>
  </p:sldMasterIdLst>
  <p:notesMasterIdLst>
    <p:notesMasterId r:id="rId13"/>
  </p:notesMasterIdLst>
  <p:sldIdLst>
    <p:sldId id="259" r:id="rId5"/>
    <p:sldId id="260" r:id="rId6"/>
    <p:sldId id="386" r:id="rId12"/>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AnnexBlockReferenceMaster" Type="http://schemas.openxmlformats.org/officeDocument/2006/relationships/slideMaster" Target="slideMasters/a121_130_slideMaster1.xml"/><Relationship Id="rIdSlide121ReferenceMaster" Type="http://schemas.openxmlformats.org/officeDocument/2006/relationships/slideMaster" Target="slideMasters/s121_slideMaster1.xml"/><Relationship Id="rIdSlide125ReferenceMaster" Type="http://schemas.openxmlformats.org/officeDocument/2006/relationships/slideMaster" Target="slideMasters/s125_slideMaster1.xml"/><Relationship Id="rIdSlide9ReferenceMaster" Type="http://schemas.openxmlformats.org/officeDocument/2006/relationships/slideMaster" Target="slideMasters/s9_slideMaster1.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6.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5.xml"/><Relationship Id="rId43" Type="http://schemas.openxmlformats.org/officeDocument/2006/relationships/slide" Target="slides/slide16.xml"/><Relationship Id="rId44" Type="http://schemas.openxmlformats.org/officeDocument/2006/relationships/slide" Target="slides/slide17.xml"/><Relationship Id="rId45" Type="http://schemas.openxmlformats.org/officeDocument/2006/relationships/slide" Target="slides/slide18.xml"/><Relationship Id="rId46" Type="http://schemas.openxmlformats.org/officeDocument/2006/relationships/slide" Target="slides/slide19.xml"/><Relationship Id="rId48" Type="http://schemas.openxmlformats.org/officeDocument/2006/relationships/slide" Target="slides/slide20.xml"/><Relationship Id="rId49" Type="http://schemas.openxmlformats.org/officeDocument/2006/relationships/slide" Target="slides/slide21.xml"/><Relationship Id="rId50" Type="http://schemas.openxmlformats.org/officeDocument/2006/relationships/slide" Target="slides/slide22.xml"/><Relationship Id="rId51" Type="http://schemas.openxmlformats.org/officeDocument/2006/relationships/slide" Target="slides/slide23.xml"/><Relationship Id="rId52" Type="http://schemas.openxmlformats.org/officeDocument/2006/relationships/slide" Target="slides/slide24.xml"/><Relationship Id="rId53" Type="http://schemas.openxmlformats.org/officeDocument/2006/relationships/slide" Target="slides/slide25.xml"/><Relationship Id="rId54" Type="http://schemas.openxmlformats.org/officeDocument/2006/relationships/slide" Target="slides/slide26.xml"/><Relationship Id="rId55" Type="http://schemas.openxmlformats.org/officeDocument/2006/relationships/slide" Target="slides/slide27.xml"/><Relationship Id="rId56" Type="http://schemas.openxmlformats.org/officeDocument/2006/relationships/slide" Target="slides/slide28.xml"/><Relationship Id="rId57" Type="http://schemas.openxmlformats.org/officeDocument/2006/relationships/slide" Target="slides/slide29.xml"/><Relationship Id="rId58" Type="http://schemas.openxmlformats.org/officeDocument/2006/relationships/slide" Target="slides/slide30.xml"/><Relationship Id="rId59" Type="http://schemas.openxmlformats.org/officeDocument/2006/relationships/slide" Target="slides/slide31.xml"/><Relationship Id="rId60" Type="http://schemas.openxmlformats.org/officeDocument/2006/relationships/slide" Target="slides/slide32.xml"/><Relationship Id="rId61" Type="http://schemas.openxmlformats.org/officeDocument/2006/relationships/slide" Target="slides/slide33.xml"/><Relationship Id="rId62" Type="http://schemas.openxmlformats.org/officeDocument/2006/relationships/slide" Target="slides/slide34.xml"/><Relationship Id="rId63" Type="http://schemas.openxmlformats.org/officeDocument/2006/relationships/slide" Target="slides/slide35.xml"/><Relationship Id="rId64" Type="http://schemas.openxmlformats.org/officeDocument/2006/relationships/slide" Target="slides/slide36.xml"/><Relationship Id="rId65" Type="http://schemas.openxmlformats.org/officeDocument/2006/relationships/slide" Target="slides/slide37.xml"/><Relationship Id="rId66" Type="http://schemas.openxmlformats.org/officeDocument/2006/relationships/slide" Target="slides/slide38.xml"/><Relationship Id="rId67" Type="http://schemas.openxmlformats.org/officeDocument/2006/relationships/slide" Target="slides/slide39.xml"/><Relationship Id="rId68" Type="http://schemas.openxmlformats.org/officeDocument/2006/relationships/slide" Target="slides/slide40.xml"/><Relationship Id="rId69" Type="http://schemas.openxmlformats.org/officeDocument/2006/relationships/slide" Target="slides/slide41.xml"/><Relationship Id="rId70" Type="http://schemas.openxmlformats.org/officeDocument/2006/relationships/slide" Target="slides/slide42.xml"/><Relationship Id="rId71" Type="http://schemas.openxmlformats.org/officeDocument/2006/relationships/slide" Target="slides/slide43.xml"/><Relationship Id="rId72" Type="http://schemas.openxmlformats.org/officeDocument/2006/relationships/slide" Target="slides/slide44.xml"/><Relationship Id="rId74" Type="http://schemas.openxmlformats.org/officeDocument/2006/relationships/slide" Target="slides/slide45.xml"/><Relationship Id="rId75" Type="http://schemas.openxmlformats.org/officeDocument/2006/relationships/slide" Target="slides/slide46.xml"/><Relationship Id="rId76" Type="http://schemas.openxmlformats.org/officeDocument/2006/relationships/slide" Target="slides/slide47.xml"/><Relationship Id="rId78" Type="http://schemas.openxmlformats.org/officeDocument/2006/relationships/slide" Target="slides/slide48.xml"/><Relationship Id="rId79" Type="http://schemas.openxmlformats.org/officeDocument/2006/relationships/slide" Target="slides/slide49.xml"/><Relationship Id="rId80" Type="http://schemas.openxmlformats.org/officeDocument/2006/relationships/slide" Target="slides/slide50.xml"/><Relationship Id="rId81" Type="http://schemas.openxmlformats.org/officeDocument/2006/relationships/slide" Target="slides/slide51.xml"/><Relationship Id="rId82" Type="http://schemas.openxmlformats.org/officeDocument/2006/relationships/slide" Target="slides/slide52.xml"/><Relationship Id="rId83" Type="http://schemas.openxmlformats.org/officeDocument/2006/relationships/slide" Target="slides/slide53.xml"/><Relationship Id="rId84" Type="http://schemas.openxmlformats.org/officeDocument/2006/relationships/slide" Target="slides/slide54.xml"/><Relationship Id="rId85" Type="http://schemas.openxmlformats.org/officeDocument/2006/relationships/slide" Target="slides/slide55.xml"/><Relationship Id="rId86" Type="http://schemas.openxmlformats.org/officeDocument/2006/relationships/slide" Target="slides/slide56.xml"/><Relationship Id="rId87" Type="http://schemas.openxmlformats.org/officeDocument/2006/relationships/slide" Target="slides/slide57.xml"/><Relationship Id="rId88" Type="http://schemas.openxmlformats.org/officeDocument/2006/relationships/slide" Target="slides/slide58.xml"/><Relationship Id="rId89" Type="http://schemas.openxmlformats.org/officeDocument/2006/relationships/slide" Target="slides/slide59.xml"/><Relationship Id="rId91" Type="http://schemas.openxmlformats.org/officeDocument/2006/relationships/slide" Target="slides/slide60.xml"/><Relationship Id="rId92" Type="http://schemas.openxmlformats.org/officeDocument/2006/relationships/slide" Target="slides/slide61.xml"/><Relationship Id="rId93" Type="http://schemas.openxmlformats.org/officeDocument/2006/relationships/slide" Target="slides/slide62.xml"/><Relationship Id="rId94" Type="http://schemas.openxmlformats.org/officeDocument/2006/relationships/slide" Target="slides/slide63.xml"/><Relationship Id="rId95" Type="http://schemas.openxmlformats.org/officeDocument/2006/relationships/slide" Target="slides/slide64.xml"/><Relationship Id="rId96" Type="http://schemas.openxmlformats.org/officeDocument/2006/relationships/slide" Target="slides/slide65.xml"/><Relationship Id="rId97" Type="http://schemas.openxmlformats.org/officeDocument/2006/relationships/slide" Target="slides/slide66.xml"/><Relationship Id="rId98" Type="http://schemas.openxmlformats.org/officeDocument/2006/relationships/slide" Target="slides/slide67.xml"/><Relationship Id="rId99" Type="http://schemas.openxmlformats.org/officeDocument/2006/relationships/slide" Target="slides/slide68.xml"/><Relationship Id="rId100" Type="http://schemas.openxmlformats.org/officeDocument/2006/relationships/slide" Target="slides/slide69.xml"/><Relationship Id="rId101" Type="http://schemas.openxmlformats.org/officeDocument/2006/relationships/slide" Target="slides/slide70.xml"/><Relationship Id="rId103" Type="http://schemas.openxmlformats.org/officeDocument/2006/relationships/slide" Target="slides/slide71.xml"/><Relationship Id="rId104" Type="http://schemas.openxmlformats.org/officeDocument/2006/relationships/slide" Target="slides/slide72.xml"/><Relationship Id="rId105" Type="http://schemas.openxmlformats.org/officeDocument/2006/relationships/slide" Target="slides/slide73.xml"/><Relationship Id="rId106" Type="http://schemas.openxmlformats.org/officeDocument/2006/relationships/slide" Target="slides/slide74.xml"/><Relationship Id="rId107" Type="http://schemas.openxmlformats.org/officeDocument/2006/relationships/slide" Target="slides/slide75.xml"/><Relationship Id="rId108" Type="http://schemas.openxmlformats.org/officeDocument/2006/relationships/slide" Target="slides/slide76.xml"/><Relationship Id="rId109" Type="http://schemas.openxmlformats.org/officeDocument/2006/relationships/slide" Target="slides/slide77.xml"/><Relationship Id="rId110" Type="http://schemas.openxmlformats.org/officeDocument/2006/relationships/slide" Target="slides/slide78.xml"/><Relationship Id="rId111" Type="http://schemas.openxmlformats.org/officeDocument/2006/relationships/slide" Target="slides/slide79.xml"/><Relationship Id="rId113" Type="http://schemas.openxmlformats.org/officeDocument/2006/relationships/slide" Target="slides/slide81.xml"/><Relationship Id="rId114" Type="http://schemas.openxmlformats.org/officeDocument/2006/relationships/slide" Target="slides/slide82.xml"/><Relationship Id="rId115" Type="http://schemas.openxmlformats.org/officeDocument/2006/relationships/slide" Target="slides/slide83.xml"/><Relationship Id="rId116" Type="http://schemas.openxmlformats.org/officeDocument/2006/relationships/slide" Target="slides/slide84.xml"/><Relationship Id="rId117" Type="http://schemas.openxmlformats.org/officeDocument/2006/relationships/slide" Target="slides/slide85.xml"/><Relationship Id="rId118" Type="http://schemas.openxmlformats.org/officeDocument/2006/relationships/slide" Target="slides/slide86.xml"/><Relationship Id="rId119" Type="http://schemas.openxmlformats.org/officeDocument/2006/relationships/slide" Target="slides/slide87.xml"/><Relationship Id="rId120" Type="http://schemas.openxmlformats.org/officeDocument/2006/relationships/slide" Target="slides/slide88.xml"/><Relationship Id="rId121" Type="http://schemas.openxmlformats.org/officeDocument/2006/relationships/slide" Target="slides/slide89.xml"/><Relationship Id="rId122" Type="http://schemas.openxmlformats.org/officeDocument/2006/relationships/slide" Target="slides/slide90.xml"/><Relationship Id="rId123" Type="http://schemas.openxmlformats.org/officeDocument/2006/relationships/slide" Target="slides/slide91.xml"/><Relationship Id="rId124" Type="http://schemas.openxmlformats.org/officeDocument/2006/relationships/slide" Target="slides/slide92.xml"/><Relationship Id="rId125" Type="http://schemas.openxmlformats.org/officeDocument/2006/relationships/slide" Target="slides/slide93.xml"/><Relationship Id="rId126" Type="http://schemas.openxmlformats.org/officeDocument/2006/relationships/slide" Target="slides/slide94.xml"/><Relationship Id="rId127" Type="http://schemas.openxmlformats.org/officeDocument/2006/relationships/slide" Target="slides/slide95.xml"/><Relationship Id="rId128" Type="http://schemas.openxmlformats.org/officeDocument/2006/relationships/slide" Target="slides/slide96.xml"/><Relationship Id="rId129" Type="http://schemas.openxmlformats.org/officeDocument/2006/relationships/slide" Target="slides/slide97.xml"/><Relationship Id="rId130" Type="http://schemas.openxmlformats.org/officeDocument/2006/relationships/slide" Target="slides/slide98.xml"/><Relationship Id="rId131" Type="http://schemas.openxmlformats.org/officeDocument/2006/relationships/slide" Target="slides/slide99.xml"/><Relationship Id="rId133" Type="http://schemas.openxmlformats.org/officeDocument/2006/relationships/slide" Target="slides/slide100.xml"/><Relationship Id="rId135" Type="http://schemas.openxmlformats.org/officeDocument/2006/relationships/slide" Target="slides/slide101.xml"/><Relationship Id="rId136" Type="http://schemas.openxmlformats.org/officeDocument/2006/relationships/slide" Target="slides/slide102.xml"/><Relationship Id="rId137" Type="http://schemas.openxmlformats.org/officeDocument/2006/relationships/slide" Target="slides/slide103.xml"/><Relationship Id="rId138" Type="http://schemas.openxmlformats.org/officeDocument/2006/relationships/slide" Target="slides/slide104.xml"/><Relationship Id="rId139" Type="http://schemas.openxmlformats.org/officeDocument/2006/relationships/slide" Target="slides/slide105.xml"/><Relationship Id="rId140" Type="http://schemas.openxmlformats.org/officeDocument/2006/relationships/slide" Target="slides/slide106.xml"/><Relationship Id="rId141" Type="http://schemas.openxmlformats.org/officeDocument/2006/relationships/slide" Target="slides/slide107.xml"/><Relationship Id="rId142" Type="http://schemas.openxmlformats.org/officeDocument/2006/relationships/slide" Target="slides/slide108.xml"/><Relationship Id="rId143" Type="http://schemas.openxmlformats.org/officeDocument/2006/relationships/slide" Target="slides/slide109.xml"/><Relationship Id="rId144" Type="http://schemas.openxmlformats.org/officeDocument/2006/relationships/slide" Target="slides/slide110.xml"/><Relationship Id="rId145" Type="http://schemas.openxmlformats.org/officeDocument/2006/relationships/slide" Target="slides/slide111.xml"/><Relationship Id="rId146" Type="http://schemas.openxmlformats.org/officeDocument/2006/relationships/slide" Target="slides/slide112.xml"/><Relationship Id="rId147" Type="http://schemas.openxmlformats.org/officeDocument/2006/relationships/slide" Target="slides/slide113.xml"/><Relationship Id="rId148" Type="http://schemas.openxmlformats.org/officeDocument/2006/relationships/slide" Target="slides/slide114.xml"/><Relationship Id="rId151" Type="http://schemas.openxmlformats.org/officeDocument/2006/relationships/slide" Target="slides/slide9.xml"/><Relationship Id="rId152" Type="http://schemas.openxmlformats.org/officeDocument/2006/relationships/slide" Target="slides/slide80.xml"/><Relationship Id="rId153" Type="http://schemas.openxmlformats.org/officeDocument/2006/relationships/slide" Target="slides/slide115.xml"/><Relationship Id="rId154" Type="http://schemas.openxmlformats.org/officeDocument/2006/relationships/slide" Target="slides/slide116.xml"/><Relationship Id="rId155" Type="http://schemas.openxmlformats.org/officeDocument/2006/relationships/slide" Target="slides/slide117.xml"/><Relationship Id="rId156" Type="http://schemas.openxmlformats.org/officeDocument/2006/relationships/slide" Target="slides/slide118.xml"/><Relationship Id="rId157" Type="http://schemas.openxmlformats.org/officeDocument/2006/relationships/slide" Target="slides/slide119.xml"/><Relationship Id="rId158" Type="http://schemas.openxmlformats.org/officeDocument/2006/relationships/slide" Target="slides/slide120.xml"/><Relationship Id="rId159" Type="http://schemas.openxmlformats.org/officeDocument/2006/relationships/slide" Target="slides/slide121.xml"/><Relationship Id="rId160" Type="http://schemas.openxmlformats.org/officeDocument/2006/relationships/slide" Target="slides/slide122.xml"/><Relationship Id="rId161" Type="http://schemas.openxmlformats.org/officeDocument/2006/relationships/slide" Target="slides/slide123.xml"/><Relationship Id="rId162" Type="http://schemas.openxmlformats.org/officeDocument/2006/relationships/slide" Target="slides/slide124.xml"/><Relationship Id="rId163" Type="http://schemas.openxmlformats.org/officeDocument/2006/relationships/slide" Target="slides/slide125.xml"/><Relationship Id="rId164" Type="http://schemas.openxmlformats.org/officeDocument/2006/relationships/slide" Target="slides/slide126.xml"/><Relationship Id="rId165" Type="http://schemas.openxmlformats.org/officeDocument/2006/relationships/slide" Target="slides/slide127.xml"/><Relationship Id="rId166" Type="http://schemas.openxmlformats.org/officeDocument/2006/relationships/slide" Target="slides/slide128.xml"/><Relationship Id="rId167" Type="http://schemas.openxmlformats.org/officeDocument/2006/relationships/slide" Target="slides/slide129.xml"/><Relationship Id="rId168" Type="http://schemas.openxmlformats.org/officeDocument/2006/relationships/slide" Target="slides/slide1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
            <a:r>
              <a:t>https://blog.google/intl/es-419/actualizaciones-de-producto/informacion/bard-se-convierte-en-gemini-ultra-10-y-una-nueva-aplicacion-movil/</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
            <a:r>
              <a:t>https://bit.crt.gob.mx/descargas/datos/tabs/TD_INGRESOS_TELECOM_ITE_VA.csv</a:t>
            </a:r>
          </a:p>
          <a:p>
            <a:r>
              <a:t>https://www.inegi.org.mx/contenidos/programas/pib/2018/tabulados/ori/PIBT_2.xlsx</a:t>
            </a:r>
          </a:p>
        </p:txBody>
      </p:sp>
    </p:spTree>
  </p:cSld>
  <p:clrMapOvr>
    <a:masterClrMapping/>
  </p:clrMapOvr>
</p:notes>
</file>

<file path=ppt/slideLayouts/_rels/a121_130_slideLayout1.xml.rels><?xml version='1.0' encoding='UTF-8' standalone='yes'?>
<Relationships xmlns="http://schemas.openxmlformats.org/package/2006/relationships"><Relationship Id="R2815022223364e29" Type="http://schemas.openxmlformats.org/officeDocument/2006/relationships/slideMaster" Target="../slideMasters/a121_130_slideMaster1.xml"/></Relationships>
</file>

<file path=ppt/slideLayouts/_rels/s9_slideLayout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2.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3.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4.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5.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6.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7.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8.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9.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0.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121_slideLayout1.xml.rels><?xml version='1.0' encoding='UTF-8' standalone='yes'?>
<Relationships xmlns="http://schemas.openxmlformats.org/package/2006/relationships"><Relationship Id="rId1" Type="http://schemas.openxmlformats.org/officeDocument/2006/relationships/slideMaster" Target="../slideMasters/s121_slideMaster1.xml"/></Relationships>
</file>

<file path=ppt/slideLayouts/_rels/s125_slideLayout1.xml.rels><?xml version='1.0' encoding='UTF-8' standalone='yes'?>
<Relationships xmlns="http://schemas.openxmlformats.org/package/2006/relationships"><Relationship Id="rId1" Type="http://schemas.openxmlformats.org/officeDocument/2006/relationships/slideMaster" Target="../slideMasters/s125_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a121_130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9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9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9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9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9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9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9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9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9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9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9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121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125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a121_130_slideMaster1.xml.rels><?xml version='1.0' encoding='UTF-8' standalone='yes'?>
<Relationships xmlns="http://schemas.openxmlformats.org/package/2006/relationships"><Relationship Id="R0d97e60dc76c4f3e" Type="http://schemas.openxmlformats.org/officeDocument/2006/relationships/theme" Target="theme/a121_130_theme2.xml"/><Relationship Id="R8cbbc4ddcf3345d8" Type="http://schemas.openxmlformats.org/officeDocument/2006/relationships/slideLayout" Target="../slideLayouts/a121_130_slideLayout1.xml"/></Relationships>
</file>

<file path=ppt/slideMasters/_rels/s9_slideMaster1.xml.rels><?xml version='1.0' encoding='UTF-8' standalone='yes'?>
<Relationships xmlns="http://schemas.openxmlformats.org/package/2006/relationships"><Relationship Id="rId1" Type="http://schemas.openxmlformats.org/officeDocument/2006/relationships/slideLayout" Target="../slideLayouts/s9_slideLayout1.xml"/><Relationship Id="rId2" Type="http://schemas.openxmlformats.org/officeDocument/2006/relationships/slideLayout" Target="../slideLayouts/s9_slideLayout2.xml"/><Relationship Id="rId3" Type="http://schemas.openxmlformats.org/officeDocument/2006/relationships/slideLayout" Target="../slideLayouts/s9_slideLayout3.xml"/><Relationship Id="rId4" Type="http://schemas.openxmlformats.org/officeDocument/2006/relationships/slideLayout" Target="../slideLayouts/s9_slideLayout4.xml"/><Relationship Id="rId5" Type="http://schemas.openxmlformats.org/officeDocument/2006/relationships/slideLayout" Target="../slideLayouts/s9_slideLayout5.xml"/><Relationship Id="rId6" Type="http://schemas.openxmlformats.org/officeDocument/2006/relationships/slideLayout" Target="../slideLayouts/s9_slideLayout6.xml"/><Relationship Id="rId7" Type="http://schemas.openxmlformats.org/officeDocument/2006/relationships/slideLayout" Target="../slideLayouts/s9_slideLayout7.xml"/><Relationship Id="rId8" Type="http://schemas.openxmlformats.org/officeDocument/2006/relationships/slideLayout" Target="../slideLayouts/s9_slideLayout8.xml"/><Relationship Id="rId9" Type="http://schemas.openxmlformats.org/officeDocument/2006/relationships/slideLayout" Target="../slideLayouts/s9_slideLayout9.xml"/><Relationship Id="rId10" Type="http://schemas.openxmlformats.org/officeDocument/2006/relationships/slideLayout" Target="../slideLayouts/s9_slideLayout10.xml"/><Relationship Id="rId11" Type="http://schemas.openxmlformats.org/officeDocument/2006/relationships/slideLayout" Target="../slideLayouts/s9_slideLayout11.xml"/><Relationship Id="rId12" Type="http://schemas.openxmlformats.org/officeDocument/2006/relationships/theme" Target="../theme/s9_theme1.xml"/></Relationships>
</file>

<file path=ppt/slideMasters/_rels/s121_slideMaster1.xml.rels><?xml version='1.0' encoding='UTF-8' standalone='yes'?>
<Relationships xmlns="http://schemas.openxmlformats.org/package/2006/relationships"><Relationship Id="rId1" Type="http://schemas.openxmlformats.org/officeDocument/2006/relationships/slideLayout" Target="../slideLayouts/s121_slideLayout1.xml"/><Relationship Id="rId2" Type="http://schemas.openxmlformats.org/officeDocument/2006/relationships/theme" Target="../theme/s121_theme1.xml"/></Relationships>
</file>

<file path=ppt/slideMasters/_rels/s125_slideMaster1.xml.rels><?xml version='1.0' encoding='UTF-8' standalone='yes'?>
<Relationships xmlns="http://schemas.openxmlformats.org/package/2006/relationships"><Relationship Id="rId1" Type="http://schemas.openxmlformats.org/officeDocument/2006/relationships/slideLayout" Target="../slideLayouts/s125_slideLayout1.xml"/><Relationship Id="rId2" Type="http://schemas.openxmlformats.org/officeDocument/2006/relationships/theme" Target="../theme/s125_theme1.xml"/></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a121_130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520001" r:id="R8cbbc4ddcf3345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9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90001" r:id="rId1"/>
    <p:sldLayoutId id="2147490002" r:id="rId2"/>
    <p:sldLayoutId id="2147490003" r:id="rId3"/>
    <p:sldLayoutId id="2147490004" r:id="rId4"/>
    <p:sldLayoutId id="2147490005" r:id="rId5"/>
    <p:sldLayoutId id="2147490006" r:id="rId6"/>
    <p:sldLayoutId id="2147490007" r:id="rId7"/>
    <p:sldLayoutId id="2147490008" r:id="rId8"/>
    <p:sldLayoutId id="2147490009" r:id="rId9"/>
    <p:sldLayoutId id="2147490010" r:id="rId10"/>
    <p:sldLayoutId id="21474900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121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0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125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1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theme/a121_130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it.crt.gob.mx/BitWebApp/" TargetMode="External"/><Relationship Id="rId4" Type="http://schemas.openxmlformats.org/officeDocument/2006/relationships/image" Target="../media/slide7_diseno_image.png"/><Relationship Id="rId5" Type="http://schemas.openxmlformats.org/officeDocument/2006/relationships/image" Target="../media/slide7_diseno_image3.png"/><Relationship Id="rId6" Type="http://schemas.openxmlformats.org/officeDocument/2006/relationships/image" Target="../media/slide7_diseno_image4.png"/></Relationships>
</file>

<file path=ppt/slides/_rels/slide3.xml.rels><?xml version='1.0' encoding='UTF-8' standalone='yes'?>
<Relationships xmlns="http://schemas.openxmlformats.org/package/2006/relationships"><Relationship Id="R5b60e0be82104cba" Type="http://schemas.openxmlformats.org/officeDocument/2006/relationships/hyperlink" Target="https://bit.crt.gob.mx/BitWebApp/" TargetMode="External"/><Relationship Id="R6d4963d98410402b" Type="http://schemas.openxmlformats.org/officeDocument/2006/relationships/image" Target="../media/slide3_diseno_image3.png"/><Relationship Id="R75873b9008704f5e" Type="http://schemas.openxmlformats.org/officeDocument/2006/relationships/slideLayout" Target="../slideLayouts/slideLayout5.xml"/><Relationship Id="R7dd46c82ccd34f7d" Type="http://schemas.openxmlformats.org/officeDocument/2006/relationships/image" Target="../media/slide3_diseno_image.png"/><Relationship Id="Rbccc84560eec49cf" Type="http://schemas.openxmlformats.org/officeDocument/2006/relationships/image" Target="../media/slide3_diseno_image2.png"/><Relationship Id="Rcb20aff7f10a4f9b" Type="http://schemas.openxmlformats.org/officeDocument/2006/relationships/image" Target="../media/slide3_diseno_image4.png"/><Relationship Id="rId7" Type="http://schemas.openxmlformats.org/officeDocument/2006/relationships/image" Target="../media/slide7_diseno_image.png"/><Relationship Id="rId8" Type="http://schemas.openxmlformats.org/officeDocument/2006/relationships/image" Target="../media/slide7_diseno_image3.png"/><Relationship Id="rId9" Type="http://schemas.openxmlformats.org/officeDocument/2006/relationships/image" Target="../media/slide7_diseno_image4.png"/></Relationships>
</file>

<file path=ppt/slides/_rels/slide4.xml.rels><?xml version='1.0' encoding='UTF-8' standalone='yes'?>
<Relationships xmlns="http://schemas.openxmlformats.org/package/2006/relationships"><Relationship Id="R053ec0800dab470a" Type="http://schemas.openxmlformats.org/officeDocument/2006/relationships/image" Target="../media/slide5_diseno_image6.png"/><Relationship Id="R0598c2e78d6345bf" Type="http://schemas.openxmlformats.org/officeDocument/2006/relationships/image" Target="../media/slide5_diseno_image12.png"/><Relationship Id="R063e77096b704b59" Type="http://schemas.openxmlformats.org/officeDocument/2006/relationships/hyperlink" Target="https://bit.crt.gob.mx/BitWebApp/" TargetMode="External"/><Relationship Id="R17eda56c66264122" Type="http://schemas.openxmlformats.org/officeDocument/2006/relationships/image" Target="../media/slide5_diseno_image11.png"/><Relationship Id="R30bbdc5925644f1f" Type="http://schemas.openxmlformats.org/officeDocument/2006/relationships/image" Target="../media/slide5_diseno_image8.png"/><Relationship Id="R46abcff555714d09" Type="http://schemas.openxmlformats.org/officeDocument/2006/relationships/slideLayout" Target="../slideLayouts/slideLayout5.xml"/><Relationship Id="R5f7ecf3039b54788" Type="http://schemas.openxmlformats.org/officeDocument/2006/relationships/image" Target="../media/slide5_diseno_image9.png"/><Relationship Id="R9b21366084f1421c" Type="http://schemas.openxmlformats.org/officeDocument/2006/relationships/image" Target="../media/slide5_diseno_image7.png"/><Relationship Id="Rca2af74a4db24cd7" Type="http://schemas.openxmlformats.org/officeDocument/2006/relationships/image" Target="../media/slide5_diseno_image10.png"/><Relationship Id="Rd0c2a94fb7504565" Type="http://schemas.openxmlformats.org/officeDocument/2006/relationships/image" Target="../media/slide5_diseno_image5.png"/><Relationship Id="rId11" Type="http://schemas.openxmlformats.org/officeDocument/2006/relationships/image" Target="../media/slide7_diseno_image.png"/><Relationship Id="rId12" Type="http://schemas.openxmlformats.org/officeDocument/2006/relationships/image" Target="../media/slide7_diseno_image3.png"/><Relationship Id="rId13" Type="http://schemas.openxmlformats.org/officeDocument/2006/relationships/image" Target="../media/slide7_diseno_image4.png"/><Relationship Id="rId1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18bf096c142f478e" Type="http://schemas.openxmlformats.org/officeDocument/2006/relationships/image" Target="../media/slide6_diseno_image20.png"/><Relationship Id="R5101691e18134900" Type="http://schemas.openxmlformats.org/officeDocument/2006/relationships/image" Target="../media/slide6_diseno_image14.png"/><Relationship Id="R66974e7e788647ff" Type="http://schemas.openxmlformats.org/officeDocument/2006/relationships/slideLayout" Target="../slideLayouts/slideLayout5.xml"/><Relationship Id="R8e1ef3adc9d843cd" Type="http://schemas.openxmlformats.org/officeDocument/2006/relationships/image" Target="../media/slide6_diseno_image18.png"/><Relationship Id="R8f9341f9b5c94c17" Type="http://schemas.openxmlformats.org/officeDocument/2006/relationships/image" Target="../media/slide6_diseno_image19.png"/><Relationship Id="Ra85e1c9945e94a7e" Type="http://schemas.openxmlformats.org/officeDocument/2006/relationships/image" Target="../media/slide6_diseno_image13.png"/><Relationship Id="Ra902198852794fa7" Type="http://schemas.openxmlformats.org/officeDocument/2006/relationships/image" Target="../media/slide6_diseno_image16.png"/><Relationship Id="Rbf38f4683d754baf" Type="http://schemas.openxmlformats.org/officeDocument/2006/relationships/hyperlink" Target="https://bit.crt.gob.mx/BitWebApp/" TargetMode="External"/><Relationship Id="Rc151f4e85cd14391" Type="http://schemas.openxmlformats.org/officeDocument/2006/relationships/image" Target="../media/slide6_diseno_image17.png"/><Relationship Id="Rcd1fc5a8caa9402d" Type="http://schemas.openxmlformats.org/officeDocument/2006/relationships/image" Target="../media/slide6_diseno_image15.png"/><Relationship Id="rId11" Type="http://schemas.openxmlformats.org/officeDocument/2006/relationships/image" Target="../media/slide7_diseno_image.png"/><Relationship Id="rId12" Type="http://schemas.openxmlformats.org/officeDocument/2006/relationships/image" Target="../media/slide7_diseno_image3.png"/><Relationship Id="rId13" Type="http://schemas.openxmlformats.org/officeDocument/2006/relationships/image" Target="../media/slide7_diseno_image4.png"/></Relationships>
</file>

<file path=ppt/slides/_rels/slide6.xml.rels><?xml version='1.0' encoding='UTF-8' standalone='yes'?>
<Relationships xmlns="http://schemas.openxmlformats.org/package/2006/relationships"><Relationship Id="R055272988eb84dce" Type="http://schemas.openxmlformats.org/officeDocument/2006/relationships/image" Target="../media/slide7_diseno_image3.png"/><Relationship Id="R44fd49cd4a32425c" Type="http://schemas.openxmlformats.org/officeDocument/2006/relationships/hyperlink" Target="https://bit.crt.gob.mx/BitWebApp/" TargetMode="External"/><Relationship Id="R5124f4555e354735" Type="http://schemas.openxmlformats.org/officeDocument/2006/relationships/image" Target="../media/slide7_diseno_image2.png"/><Relationship Id="R9648ba0efd3e4fb5" Type="http://schemas.openxmlformats.org/officeDocument/2006/relationships/image" Target="../media/slide7_diseno_image4.png"/><Relationship Id="Ra2f113fc51c24590" Type="http://schemas.openxmlformats.org/officeDocument/2006/relationships/image" Target="../media/slide7_diseno_image.png"/><Relationship Id="Ra94795058d6343e6"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0f556a324a294929" Type="http://schemas.openxmlformats.org/officeDocument/2006/relationships/slideLayout" Target="../slideLayouts/slideLayout5.xml"/><Relationship Id="R4d12f4a07a004500" Type="http://schemas.openxmlformats.org/officeDocument/2006/relationships/image" Target="../media/slide8_diseno_image4.png"/><Relationship Id="R4e3103bf1d6a40b8" Type="http://schemas.openxmlformats.org/officeDocument/2006/relationships/hyperlink" Target="https://bit.crt.gob.mx/BitWebApp/" TargetMode="External"/><Relationship Id="R4f2cbbb30dda4051" Type="http://schemas.openxmlformats.org/officeDocument/2006/relationships/image" Target="../media/slide8_diseno_image3.png"/><Relationship Id="Rab0adeb70d7b4625" Type="http://schemas.openxmlformats.org/officeDocument/2006/relationships/image" Target="../media/slide8_diseno_image.png"/><Relationship Id="Rea391cf12914453e" Type="http://schemas.openxmlformats.org/officeDocument/2006/relationships/image" Target="../media/slide8_diseno_image2.png"/><Relationship Id="rId7" Type="http://schemas.openxmlformats.org/officeDocument/2006/relationships/image" Target="../media/slide7_diseno_image.png"/><Relationship Id="rId8" Type="http://schemas.openxmlformats.org/officeDocument/2006/relationships/image" Target="../media/slide7_diseno_image3.png"/><Relationship Id="rId9" Type="http://schemas.openxmlformats.org/officeDocument/2006/relationships/image" Target="../media/slide7_diseno_image4.png"/><Relationship Id="rId10" Type="http://schemas.openxmlformats.org/officeDocument/2006/relationships/hyperlink" Target="https://bit.crt.gob.mx/BitWebApp/PortalBIT.xhtml?view="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9_slideLayout7.xml"/><Relationship Id="rId2" Type="http://schemas.openxmlformats.org/officeDocument/2006/relationships/image" Target="../media/s9_image1.png"/><Relationship Id="rId3" Type="http://schemas.openxmlformats.org/officeDocument/2006/relationships/image" Target="../media/s9_image2.png"/><Relationship Id="rId4" Type="http://schemas.openxmlformats.org/officeDocument/2006/relationships/image" Target="../media/s9_image3.png"/><Relationship Id="rId5" Type="http://schemas.openxmlformats.org/officeDocument/2006/relationships/image" Target="../media/s9_image4.png"/><Relationship Id="rId6" Type="http://schemas.openxmlformats.org/officeDocument/2006/relationships/image" Target="../media/s9_image5.png"/><Relationship Id="rId7" Type="http://schemas.openxmlformats.org/officeDocument/2006/relationships/image" Target="../media/s9_image6.png"/><Relationship Id="rId8" Type="http://schemas.openxmlformats.org/officeDocument/2006/relationships/image" Target="../media/s9_image7.png"/><Relationship Id="rId9" Type="http://schemas.openxmlformats.org/officeDocument/2006/relationships/image" Target="../media/s9_image8.png"/><Relationship Id="rId10" Type="http://schemas.openxmlformats.org/officeDocument/2006/relationships/image" Target="../media/s9_image9.png"/><Relationship Id="rId11" Type="http://schemas.openxmlformats.org/officeDocument/2006/relationships/image" Target="../media/s9_image10.png"/><Relationship Id="rId12" Type="http://schemas.openxmlformats.org/officeDocument/2006/relationships/image" Target="../media/slide7_diseno_image.png"/><Relationship Id="rId13" Type="http://schemas.openxmlformats.org/officeDocument/2006/relationships/image" Target="../media/slide7_diseno_image3.png"/><Relationship Id="rId14" Type="http://schemas.openxmlformats.org/officeDocument/2006/relationships/image" Target="../media/slide7_diseno_image4.png"/><Relationship Id="rId15" Type="http://schemas.openxmlformats.org/officeDocument/2006/relationships/hyperlink" Target="https://bit.crt.gob.mx/BitWebApp/" TargetMode="External"/><Relationship Id="rId16"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 Id="rId7" Type="http://schemas.openxmlformats.org/officeDocument/2006/relationships/image" Target="../media/anuario_figure_c_3.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8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h_1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h_1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h_1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h_1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estatal.ift.org.mx/" TargetMode="External"/><Relationship Id="rId3" Type="http://schemas.openxmlformats.org/officeDocument/2006/relationships/hyperlink" Target="https://calculadoraprob.ift.org.mx/" TargetMode="External"/><Relationship Id="rId4" Type="http://schemas.openxmlformats.org/officeDocument/2006/relationships/hyperlink" Target="https://bit.crt.gob.mx/BitWebApp/" TargetMode="External"/><Relationship Id="rId5" Type="http://schemas.openxmlformats.org/officeDocument/2006/relationships/image" Target="../media/slide7_diseno_image.png"/><Relationship Id="rId6" Type="http://schemas.openxmlformats.org/officeDocument/2006/relationships/image" Target="../media/slide7_diseno_image3.png"/><Relationship Id="rId7" Type="http://schemas.openxmlformats.org/officeDocument/2006/relationships/image" Target="../media/slide7_diseno_image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121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1.xml.rels><?xml version='1.0' encoding='UTF-8' standalone='yes'?>
<Relationships xmlns="http://schemas.openxmlformats.org/package/2006/relationships"><Relationship Id="R2811c67ff0114818"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2.xml.rels><?xml version='1.0' encoding='UTF-8' standalone='yes'?>
<Relationships xmlns="http://schemas.openxmlformats.org/package/2006/relationships"><Relationship Id="R5d742b8616a745cf"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3.xml.rels><?xml version='1.0' encoding='UTF-8' standalone='yes'?>
<Relationships xmlns="http://schemas.openxmlformats.org/package/2006/relationships"><Relationship Id="R453b3cd00aaf4b5e"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125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5.xml.rels><?xml version='1.0' encoding='UTF-8' standalone='yes'?>
<Relationships xmlns="http://schemas.openxmlformats.org/package/2006/relationships"><Relationship Id="R631a4a7c6fa14d7d"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6.xml.rels><?xml version='1.0' encoding='UTF-8' standalone='yes'?>
<Relationships xmlns="http://schemas.openxmlformats.org/package/2006/relationships"><Relationship Id="R7a3265c2c80e42cc"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7.xml.rels><?xml version='1.0' encoding='UTF-8' standalone='yes'?>
<Relationships xmlns="http://schemas.openxmlformats.org/package/2006/relationships"><Relationship Id="R3e924c45b0ed45f3"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8.xml.rels><?xml version='1.0' encoding='UTF-8' standalone='yes'?>
<Relationships xmlns="http://schemas.openxmlformats.org/package/2006/relationships"><Relationship Id="Rc8e4db0dd9244e49"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9.xml.rels><?xml version='1.0' encoding='UTF-8' standalone='yes'?>
<Relationships xmlns="http://schemas.openxmlformats.org/package/2006/relationships"><Relationship Id="Rac96220c17124d95"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
        <p:nvSpPr>
          <p:cNvPr id="159" name="ANUARIO_REFERENCIA_2024_P2_L001"/>
          <p:cNvSpPr txBox="1"/>
          <p:nvPr/>
        </p:nvSpPr>
        <p:spPr>
          <a:xfrm>
            <a:off x="504772" y="1152716"/>
            <a:ext cx="414108"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LEGALES </a:t>
            </a:r>
          </a:p>
        </p:txBody>
      </p:sp>
      <p:sp>
        <p:nvSpPr>
          <p:cNvPr id="160" name="ANUARIO_REFERENCIA_2024_P2_L002"/>
          <p:cNvSpPr txBox="1"/>
          <p:nvPr/>
        </p:nvSpPr>
        <p:spPr>
          <a:xfrm>
            <a:off x="3608432" y="1152716"/>
            <a:ext cx="143264"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3</a:t>
            </a:r>
          </a:p>
        </p:txBody>
      </p:sp>
      <p:sp>
        <p:nvSpPr>
          <p:cNvPr id="161" name="ANUARIO_REFERENCIA_2024_P2_L003"/>
          <p:cNvSpPr txBox="1"/>
          <p:nvPr/>
        </p:nvSpPr>
        <p:spPr>
          <a:xfrm>
            <a:off x="504794" y="1220197"/>
            <a:ext cx="4766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GLOSARIO </a:t>
            </a:r>
          </a:p>
        </p:txBody>
      </p:sp>
      <p:sp>
        <p:nvSpPr>
          <p:cNvPr id="162" name="ANUARIO_REFERENCIA_2024_P2_L004"/>
          <p:cNvSpPr txBox="1"/>
          <p:nvPr/>
        </p:nvSpPr>
        <p:spPr>
          <a:xfrm>
            <a:off x="3606140" y="1220197"/>
            <a:ext cx="145555"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4</a:t>
            </a:r>
          </a:p>
        </p:txBody>
      </p:sp>
      <p:sp>
        <p:nvSpPr>
          <p:cNvPr id="163" name="ANUARIO_REFERENCIA_2024_P2_L005"/>
          <p:cNvSpPr txBox="1"/>
          <p:nvPr/>
        </p:nvSpPr>
        <p:spPr>
          <a:xfrm>
            <a:off x="504793" y="1287676"/>
            <a:ext cx="66491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INTRODUCCIÓN </a:t>
            </a:r>
          </a:p>
        </p:txBody>
      </p:sp>
      <p:sp>
        <p:nvSpPr>
          <p:cNvPr id="164" name="ANUARIO_REFERENCIA_2024_P2_L006"/>
          <p:cNvSpPr txBox="1"/>
          <p:nvPr/>
        </p:nvSpPr>
        <p:spPr>
          <a:xfrm>
            <a:off x="3611665" y="1287676"/>
            <a:ext cx="14002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6</a:t>
            </a:r>
          </a:p>
        </p:txBody>
      </p:sp>
      <p:sp>
        <p:nvSpPr>
          <p:cNvPr id="165" name="ANUARIO_REFERENCIA_2024_P2_L007"/>
          <p:cNvSpPr txBox="1"/>
          <p:nvPr/>
        </p:nvSpPr>
        <p:spPr>
          <a:xfrm>
            <a:off x="504792" y="1355156"/>
            <a:ext cx="63971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PUNTOS CLAVE </a:t>
            </a:r>
          </a:p>
        </p:txBody>
      </p:sp>
      <p:sp>
        <p:nvSpPr>
          <p:cNvPr id="166" name="ANUARIO_REFERENCIA_2024_P2_L008"/>
          <p:cNvSpPr txBox="1"/>
          <p:nvPr/>
        </p:nvSpPr>
        <p:spPr>
          <a:xfrm>
            <a:off x="3601895" y="1355156"/>
            <a:ext cx="14980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8</a:t>
            </a:r>
          </a:p>
        </p:txBody>
      </p:sp>
      <p:sp>
        <p:nvSpPr>
          <p:cNvPr id="167" name="ANUARIO_REFERENCIA_2024_P2_L009"/>
          <p:cNvSpPr txBox="1"/>
          <p:nvPr/>
        </p:nvSpPr>
        <p:spPr>
          <a:xfrm>
            <a:off x="504793" y="1431533"/>
            <a:ext cx="27944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INDICADORES DE TELECOMUNICACIONES Y RADIODIFUSIÓN A NIVEL NACIONAL </a:t>
            </a:r>
          </a:p>
        </p:txBody>
      </p:sp>
      <p:sp>
        <p:nvSpPr>
          <p:cNvPr id="168" name="ANUARIO_REFERENCIA_2024_P2_L010"/>
          <p:cNvSpPr txBox="1"/>
          <p:nvPr/>
        </p:nvSpPr>
        <p:spPr>
          <a:xfrm>
            <a:off x="3588686" y="1431516"/>
            <a:ext cx="16300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10</a:t>
            </a:r>
          </a:p>
        </p:txBody>
      </p:sp>
      <p:sp>
        <p:nvSpPr>
          <p:cNvPr id="169" name="ANUARIO_REFERENCIA_2024_P2_L011"/>
          <p:cNvSpPr txBox="1"/>
          <p:nvPr/>
        </p:nvSpPr>
        <p:spPr>
          <a:xfrm>
            <a:off x="627311" y="1517024"/>
            <a:ext cx="113713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 INDICADORES ECONÓMICOS</a:t>
            </a:r>
          </a:p>
        </p:txBody>
      </p:sp>
      <p:sp>
        <p:nvSpPr>
          <p:cNvPr id="170" name="ANUARIO_REFERENCIA_2024_P2_L012"/>
          <p:cNvSpPr txBox="1"/>
          <p:nvPr/>
        </p:nvSpPr>
        <p:spPr>
          <a:xfrm>
            <a:off x="3591988" y="1517046"/>
            <a:ext cx="159707"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10</a:t>
            </a:r>
          </a:p>
        </p:txBody>
      </p:sp>
      <p:sp>
        <p:nvSpPr>
          <p:cNvPr id="171" name="ANUARIO_REFERENCIA_2024_P2_L013"/>
          <p:cNvSpPr txBox="1"/>
          <p:nvPr/>
        </p:nvSpPr>
        <p:spPr>
          <a:xfrm>
            <a:off x="749832" y="1592571"/>
            <a:ext cx="243246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Y CONTRIBUCIÓN DE LOS SECTORES DE TYR</a:t>
            </a:r>
          </a:p>
        </p:txBody>
      </p:sp>
      <p:sp>
        <p:nvSpPr>
          <p:cNvPr id="172" name="ANUARIO_REFERENCIA_2024_P2_L014"/>
          <p:cNvSpPr txBox="1"/>
          <p:nvPr/>
        </p:nvSpPr>
        <p:spPr>
          <a:xfrm>
            <a:off x="3600462" y="1592571"/>
            <a:ext cx="15123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a:t>
            </a:r>
          </a:p>
        </p:txBody>
      </p:sp>
      <p:sp>
        <p:nvSpPr>
          <p:cNvPr id="173" name="ANUARIO_REFERENCIA_2024_P2_L015"/>
          <p:cNvSpPr txBox="1"/>
          <p:nvPr/>
        </p:nvSpPr>
        <p:spPr>
          <a:xfrm>
            <a:off x="749811" y="1654723"/>
            <a:ext cx="1147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EMPLEO EN LOS SECTORES DE TYR </a:t>
            </a:r>
          </a:p>
        </p:txBody>
      </p:sp>
      <p:sp>
        <p:nvSpPr>
          <p:cNvPr id="174" name="ANUARIO_REFERENCIA_2024_P2_L016"/>
          <p:cNvSpPr txBox="1"/>
          <p:nvPr/>
        </p:nvSpPr>
        <p:spPr>
          <a:xfrm>
            <a:off x="3591457" y="1654723"/>
            <a:ext cx="16024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11</a:t>
            </a:r>
          </a:p>
        </p:txBody>
      </p:sp>
      <p:sp>
        <p:nvSpPr>
          <p:cNvPr id="175" name="ANUARIO_REFERENCIA_2024_P2_L017"/>
          <p:cNvSpPr txBox="1"/>
          <p:nvPr/>
        </p:nvSpPr>
        <p:spPr>
          <a:xfrm>
            <a:off x="749812" y="1716876"/>
            <a:ext cx="73828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176" name="ANUARIO_REFERENCIA_2024_P2_L018"/>
          <p:cNvSpPr txBox="1"/>
          <p:nvPr/>
        </p:nvSpPr>
        <p:spPr>
          <a:xfrm>
            <a:off x="3590967" y="1716876"/>
            <a:ext cx="1607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a:t>
            </a:r>
          </a:p>
        </p:txBody>
      </p:sp>
      <p:sp>
        <p:nvSpPr>
          <p:cNvPr id="177" name="ANUARIO_REFERENCIA_2024_P2_L019"/>
          <p:cNvSpPr txBox="1"/>
          <p:nvPr/>
        </p:nvSpPr>
        <p:spPr>
          <a:xfrm>
            <a:off x="749812" y="1779029"/>
            <a:ext cx="15701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INVERSIÓN PRIVADA EN TELECOMUNICACIONES </a:t>
            </a:r>
          </a:p>
        </p:txBody>
      </p:sp>
      <p:sp>
        <p:nvSpPr>
          <p:cNvPr id="178" name="ANUARIO_REFERENCIA_2024_P2_L020"/>
          <p:cNvSpPr txBox="1"/>
          <p:nvPr/>
        </p:nvSpPr>
        <p:spPr>
          <a:xfrm>
            <a:off x="3589802" y="1779029"/>
            <a:ext cx="1618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13</a:t>
            </a:r>
          </a:p>
        </p:txBody>
      </p:sp>
      <p:sp>
        <p:nvSpPr>
          <p:cNvPr id="179" name="ANUARIO_REFERENCIA_2024_P2_L021"/>
          <p:cNvSpPr txBox="1"/>
          <p:nvPr/>
        </p:nvSpPr>
        <p:spPr>
          <a:xfrm>
            <a:off x="749811" y="1841181"/>
            <a:ext cx="14461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FLUJOS DE INVERSIÓN EXTRANJERA DIRECTA </a:t>
            </a:r>
          </a:p>
        </p:txBody>
      </p:sp>
      <p:sp>
        <p:nvSpPr>
          <p:cNvPr id="180" name="ANUARIO_REFERENCIA_2024_P2_L022"/>
          <p:cNvSpPr txBox="1"/>
          <p:nvPr/>
        </p:nvSpPr>
        <p:spPr>
          <a:xfrm>
            <a:off x="3589006" y="1841181"/>
            <a:ext cx="16269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14</a:t>
            </a:r>
          </a:p>
        </p:txBody>
      </p:sp>
      <p:sp>
        <p:nvSpPr>
          <p:cNvPr id="181" name="ANUARIO_REFERENCIA_2024_P2_L023"/>
          <p:cNvSpPr txBox="1"/>
          <p:nvPr/>
        </p:nvSpPr>
        <p:spPr>
          <a:xfrm>
            <a:off x="749812" y="1903334"/>
            <a:ext cx="22939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INGRESOS, EGRESOS Y MARGEN DEL SECTOR DE TELECOMUNICACIONES </a:t>
            </a:r>
          </a:p>
        </p:txBody>
      </p:sp>
      <p:sp>
        <p:nvSpPr>
          <p:cNvPr id="182" name="ANUARIO_REFERENCIA_2024_P2_L024"/>
          <p:cNvSpPr txBox="1"/>
          <p:nvPr/>
        </p:nvSpPr>
        <p:spPr>
          <a:xfrm>
            <a:off x="3586801" y="1903334"/>
            <a:ext cx="16489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15</a:t>
            </a:r>
          </a:p>
        </p:txBody>
      </p:sp>
      <p:sp>
        <p:nvSpPr>
          <p:cNvPr id="183" name="ANUARIO_REFERENCIA_2024_P2_L025"/>
          <p:cNvSpPr txBox="1"/>
          <p:nvPr/>
        </p:nvSpPr>
        <p:spPr>
          <a:xfrm>
            <a:off x="749812" y="1965487"/>
            <a:ext cx="2211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FIJAS </a:t>
            </a:r>
          </a:p>
        </p:txBody>
      </p:sp>
      <p:sp>
        <p:nvSpPr>
          <p:cNvPr id="184" name="ANUARIO_REFERENCIA_2024_P2_L026"/>
          <p:cNvSpPr txBox="1"/>
          <p:nvPr/>
        </p:nvSpPr>
        <p:spPr>
          <a:xfrm>
            <a:off x="3592928" y="1965487"/>
            <a:ext cx="1587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16</a:t>
            </a:r>
          </a:p>
        </p:txBody>
      </p:sp>
      <p:sp>
        <p:nvSpPr>
          <p:cNvPr id="185" name="ANUARIO_REFERENCIA_2024_P2_L027"/>
          <p:cNvSpPr txBox="1"/>
          <p:nvPr/>
        </p:nvSpPr>
        <p:spPr>
          <a:xfrm>
            <a:off x="749812" y="2027640"/>
            <a:ext cx="23203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MÓVILES </a:t>
            </a:r>
          </a:p>
        </p:txBody>
      </p:sp>
      <p:sp>
        <p:nvSpPr>
          <p:cNvPr id="186" name="ANUARIO_REFERENCIA_2024_P2_L028"/>
          <p:cNvSpPr txBox="1"/>
          <p:nvPr/>
        </p:nvSpPr>
        <p:spPr>
          <a:xfrm>
            <a:off x="3586616" y="2027640"/>
            <a:ext cx="1650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18</a:t>
            </a:r>
          </a:p>
        </p:txBody>
      </p:sp>
      <p:sp>
        <p:nvSpPr>
          <p:cNvPr id="187" name="ANUARIO_REFERENCIA_2024_P2_L029"/>
          <p:cNvSpPr txBox="1"/>
          <p:nvPr/>
        </p:nvSpPr>
        <p:spPr>
          <a:xfrm>
            <a:off x="627303" y="2099506"/>
            <a:ext cx="163010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B. SERVICIOS FIJOS DE TELECOMUNICACIONES</a:t>
            </a:r>
          </a:p>
        </p:txBody>
      </p:sp>
      <p:sp>
        <p:nvSpPr>
          <p:cNvPr id="188" name="ANUARIO_REFERENCIA_2024_P2_L030"/>
          <p:cNvSpPr txBox="1"/>
          <p:nvPr/>
        </p:nvSpPr>
        <p:spPr>
          <a:xfrm>
            <a:off x="3580534" y="2099506"/>
            <a:ext cx="17116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20</a:t>
            </a:r>
          </a:p>
        </p:txBody>
      </p:sp>
      <p:sp>
        <p:nvSpPr>
          <p:cNvPr id="189" name="ANUARIO_REFERENCIA_2024_P2_L031"/>
          <p:cNvSpPr txBox="1"/>
          <p:nvPr/>
        </p:nvSpPr>
        <p:spPr>
          <a:xfrm>
            <a:off x="749833" y="2175031"/>
            <a:ext cx="195834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FIJOS DE TELECOMUNICACIONES EN LOS HOGARES</a:t>
            </a:r>
          </a:p>
        </p:txBody>
      </p:sp>
      <p:sp>
        <p:nvSpPr>
          <p:cNvPr id="190" name="ANUARIO_REFERENCIA_2024_P2_L032"/>
          <p:cNvSpPr txBox="1"/>
          <p:nvPr/>
        </p:nvSpPr>
        <p:spPr>
          <a:xfrm>
            <a:off x="3589068" y="2175031"/>
            <a:ext cx="16262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20</a:t>
            </a:r>
          </a:p>
        </p:txBody>
      </p:sp>
      <p:sp>
        <p:nvSpPr>
          <p:cNvPr id="191" name="ANUARIO_REFERENCIA_2024_P2_L033"/>
          <p:cNvSpPr txBox="1"/>
          <p:nvPr/>
        </p:nvSpPr>
        <p:spPr>
          <a:xfrm>
            <a:off x="749812" y="2237184"/>
            <a:ext cx="98505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TELEFONÍA </a:t>
            </a:r>
          </a:p>
        </p:txBody>
      </p:sp>
      <p:sp>
        <p:nvSpPr>
          <p:cNvPr id="192" name="ANUARIO_REFERENCIA_2024_P2_L034"/>
          <p:cNvSpPr txBox="1"/>
          <p:nvPr/>
        </p:nvSpPr>
        <p:spPr>
          <a:xfrm>
            <a:off x="3580735" y="2237184"/>
            <a:ext cx="170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23</a:t>
            </a:r>
          </a:p>
        </p:txBody>
      </p:sp>
      <p:sp>
        <p:nvSpPr>
          <p:cNvPr id="193" name="ANUARIO_REFERENCIA_2024_P2_L035"/>
          <p:cNvSpPr txBox="1"/>
          <p:nvPr/>
        </p:nvSpPr>
        <p:spPr>
          <a:xfrm>
            <a:off x="749811" y="2299336"/>
            <a:ext cx="127153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ACCESO A INTERNET </a:t>
            </a:r>
          </a:p>
        </p:txBody>
      </p:sp>
      <p:sp>
        <p:nvSpPr>
          <p:cNvPr id="194" name="ANUARIO_REFERENCIA_2024_P2_L036"/>
          <p:cNvSpPr txBox="1"/>
          <p:nvPr/>
        </p:nvSpPr>
        <p:spPr>
          <a:xfrm>
            <a:off x="3590478" y="2299336"/>
            <a:ext cx="16122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30</a:t>
            </a:r>
          </a:p>
        </p:txBody>
      </p:sp>
      <p:sp>
        <p:nvSpPr>
          <p:cNvPr id="195" name="ANUARIO_REFERENCIA_2024_P2_L037"/>
          <p:cNvSpPr txBox="1"/>
          <p:nvPr/>
        </p:nvSpPr>
        <p:spPr>
          <a:xfrm>
            <a:off x="749813" y="2361489"/>
            <a:ext cx="12734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DE TELEVISIÓN RESTRINGIDA </a:t>
            </a:r>
          </a:p>
        </p:txBody>
      </p:sp>
      <p:sp>
        <p:nvSpPr>
          <p:cNvPr id="196" name="ANUARIO_REFERENCIA_2024_P2_L038"/>
          <p:cNvSpPr txBox="1"/>
          <p:nvPr/>
        </p:nvSpPr>
        <p:spPr>
          <a:xfrm>
            <a:off x="3577304" y="2361489"/>
            <a:ext cx="1743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38</a:t>
            </a:r>
          </a:p>
        </p:txBody>
      </p:sp>
      <p:sp>
        <p:nvSpPr>
          <p:cNvPr id="197" name="ANUARIO_REFERENCIA_2024_P2_L039"/>
          <p:cNvSpPr txBox="1"/>
          <p:nvPr/>
        </p:nvSpPr>
        <p:spPr>
          <a:xfrm>
            <a:off x="627304" y="2433355"/>
            <a:ext cx="17621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C. SERVICIOS MÓVILES DE TELECOMUNICACIONES</a:t>
            </a:r>
          </a:p>
        </p:txBody>
      </p:sp>
      <p:sp>
        <p:nvSpPr>
          <p:cNvPr id="198" name="ANUARIO_REFERENCIA_2024_P2_L040"/>
          <p:cNvSpPr txBox="1"/>
          <p:nvPr/>
        </p:nvSpPr>
        <p:spPr>
          <a:xfrm>
            <a:off x="3564292" y="2433355"/>
            <a:ext cx="18740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45</a:t>
            </a:r>
          </a:p>
        </p:txBody>
      </p:sp>
      <p:sp>
        <p:nvSpPr>
          <p:cNvPr id="199" name="ANUARIO_REFERENCIA_2024_P2_L041"/>
          <p:cNvSpPr txBox="1"/>
          <p:nvPr/>
        </p:nvSpPr>
        <p:spPr>
          <a:xfrm>
            <a:off x="749833" y="2508879"/>
            <a:ext cx="24080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BANDA DE FRECUENCIA</a:t>
            </a:r>
          </a:p>
        </p:txBody>
      </p:sp>
      <p:sp>
        <p:nvSpPr>
          <p:cNvPr id="200" name="ANUARIO_REFERENCIA_2024_P2_L042"/>
          <p:cNvSpPr txBox="1"/>
          <p:nvPr/>
        </p:nvSpPr>
        <p:spPr>
          <a:xfrm>
            <a:off x="3575223" y="2508879"/>
            <a:ext cx="1764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45</a:t>
            </a:r>
          </a:p>
        </p:txBody>
      </p:sp>
      <p:sp>
        <p:nvSpPr>
          <p:cNvPr id="201" name="ANUARIO_REFERENCIA_2024_P2_L043"/>
          <p:cNvSpPr txBox="1"/>
          <p:nvPr/>
        </p:nvSpPr>
        <p:spPr>
          <a:xfrm>
            <a:off x="749813" y="2571032"/>
            <a:ext cx="206299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OPERADOR </a:t>
            </a:r>
          </a:p>
        </p:txBody>
      </p:sp>
      <p:sp>
        <p:nvSpPr>
          <p:cNvPr id="202" name="ANUARIO_REFERENCIA_2024_P2_L044"/>
          <p:cNvSpPr txBox="1"/>
          <p:nvPr/>
        </p:nvSpPr>
        <p:spPr>
          <a:xfrm>
            <a:off x="3582575" y="2571032"/>
            <a:ext cx="16912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46</a:t>
            </a:r>
          </a:p>
        </p:txBody>
      </p:sp>
      <p:sp>
        <p:nvSpPr>
          <p:cNvPr id="203" name="ANUARIO_REFERENCIA_2024_P2_L045"/>
          <p:cNvSpPr txBox="1"/>
          <p:nvPr/>
        </p:nvSpPr>
        <p:spPr>
          <a:xfrm>
            <a:off x="749813" y="2633185"/>
            <a:ext cx="252932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MÓVILES DE TELECOMUNICACIONES POR LA POBLACIÓN </a:t>
            </a:r>
          </a:p>
        </p:txBody>
      </p:sp>
      <p:sp>
        <p:nvSpPr>
          <p:cNvPr id="204" name="ANUARIO_REFERENCIA_2024_P2_L046"/>
          <p:cNvSpPr txBox="1"/>
          <p:nvPr/>
        </p:nvSpPr>
        <p:spPr>
          <a:xfrm>
            <a:off x="3576081" y="2633185"/>
            <a:ext cx="17561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47</a:t>
            </a:r>
          </a:p>
        </p:txBody>
      </p:sp>
      <p:sp>
        <p:nvSpPr>
          <p:cNvPr id="205" name="ANUARIO_REFERENCIA_2024_P2_L047"/>
          <p:cNvSpPr txBox="1"/>
          <p:nvPr/>
        </p:nvSpPr>
        <p:spPr>
          <a:xfrm>
            <a:off x="749813" y="2695337"/>
            <a:ext cx="10627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TELEFONÍA </a:t>
            </a:r>
          </a:p>
        </p:txBody>
      </p:sp>
      <p:sp>
        <p:nvSpPr>
          <p:cNvPr id="206" name="ANUARIO_REFERENCIA_2024_P2_L048"/>
          <p:cNvSpPr txBox="1"/>
          <p:nvPr/>
        </p:nvSpPr>
        <p:spPr>
          <a:xfrm>
            <a:off x="3575651" y="2695337"/>
            <a:ext cx="17604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48</a:t>
            </a:r>
          </a:p>
        </p:txBody>
      </p:sp>
      <p:sp>
        <p:nvSpPr>
          <p:cNvPr id="207" name="ANUARIO_REFERENCIA_2024_P2_L049"/>
          <p:cNvSpPr txBox="1"/>
          <p:nvPr/>
        </p:nvSpPr>
        <p:spPr>
          <a:xfrm>
            <a:off x="749812" y="2757490"/>
            <a:ext cx="134921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ACCESO A INTERNET </a:t>
            </a:r>
          </a:p>
        </p:txBody>
      </p:sp>
      <p:sp>
        <p:nvSpPr>
          <p:cNvPr id="208" name="ANUARIO_REFERENCIA_2024_P2_L050"/>
          <p:cNvSpPr txBox="1"/>
          <p:nvPr/>
        </p:nvSpPr>
        <p:spPr>
          <a:xfrm>
            <a:off x="3578469" y="2757490"/>
            <a:ext cx="17322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54</a:t>
            </a:r>
          </a:p>
        </p:txBody>
      </p:sp>
      <p:sp>
        <p:nvSpPr>
          <p:cNvPr id="209" name="ANUARIO_REFERENCIA_2024_P2_L051"/>
          <p:cNvSpPr txBox="1"/>
          <p:nvPr/>
        </p:nvSpPr>
        <p:spPr>
          <a:xfrm>
            <a:off x="627304" y="2829356"/>
            <a:ext cx="21932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D. TECNOLOGÍAS DE LA INFORMACIÓN Y COMUNICACIÓN (TIC)</a:t>
            </a:r>
          </a:p>
        </p:txBody>
      </p:sp>
      <p:sp>
        <p:nvSpPr>
          <p:cNvPr id="210" name="ANUARIO_REFERENCIA_2024_P2_L052"/>
          <p:cNvSpPr txBox="1"/>
          <p:nvPr/>
        </p:nvSpPr>
        <p:spPr>
          <a:xfrm>
            <a:off x="3577702" y="2829356"/>
            <a:ext cx="1739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60</a:t>
            </a:r>
          </a:p>
        </p:txBody>
      </p:sp>
      <p:sp>
        <p:nvSpPr>
          <p:cNvPr id="211" name="ANUARIO_REFERENCIA_2024_P2_L053"/>
          <p:cNvSpPr txBox="1"/>
          <p:nvPr/>
        </p:nvSpPr>
        <p:spPr>
          <a:xfrm>
            <a:off x="749833" y="2904881"/>
            <a:ext cx="265540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DISPONIBILIDAD DE LAS TECNOLOGÍAS DE LA INFORMACIÓN Y COMUNICACIÓN (TIC)</a:t>
            </a:r>
          </a:p>
        </p:txBody>
      </p:sp>
      <p:sp>
        <p:nvSpPr>
          <p:cNvPr id="212" name="ANUARIO_REFERENCIA_2024_P2_L054"/>
          <p:cNvSpPr txBox="1"/>
          <p:nvPr/>
        </p:nvSpPr>
        <p:spPr>
          <a:xfrm>
            <a:off x="749833" y="2958154"/>
            <a:ext cx="6478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a:t>
            </a:r>
          </a:p>
        </p:txBody>
      </p:sp>
      <p:sp>
        <p:nvSpPr>
          <p:cNvPr id="213" name="ANUARIO_REFERENCIA_2024_P2_L055"/>
          <p:cNvSpPr txBox="1"/>
          <p:nvPr/>
        </p:nvSpPr>
        <p:spPr>
          <a:xfrm>
            <a:off x="3587291" y="2958154"/>
            <a:ext cx="16440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60</a:t>
            </a:r>
          </a:p>
        </p:txBody>
      </p:sp>
      <p:sp>
        <p:nvSpPr>
          <p:cNvPr id="214" name="ANUARIO_REFERENCIA_2024_P2_L056"/>
          <p:cNvSpPr txBox="1"/>
          <p:nvPr/>
        </p:nvSpPr>
        <p:spPr>
          <a:xfrm>
            <a:off x="749812" y="3020085"/>
            <a:ext cx="184508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a:t>
            </a:r>
            <a:r>
              <a:rPr sz="500" b="1" i="1">
                <a:solidFill>
                  <a:srgbClr val="EFF3EF"/>
                </a:solidFill>
                <a:latin typeface="Noto Sans"/>
              </a:rPr>
              <a:t>SMARTPHONE</a:t>
            </a:r>
            <a:r>
              <a:rPr sz="500" b="1" i="0">
                <a:solidFill>
                  <a:srgbClr val="EFF3EF"/>
                </a:solidFill>
                <a:latin typeface="Noto Sans"/>
              </a:rPr>
              <a:t> E INTERNET POR GRUPOS DE EDAD </a:t>
            </a:r>
          </a:p>
        </p:txBody>
      </p:sp>
      <p:sp>
        <p:nvSpPr>
          <p:cNvPr id="215" name="ANUARIO_REFERENCIA_2024_P2_L057"/>
          <p:cNvSpPr txBox="1"/>
          <p:nvPr/>
        </p:nvSpPr>
        <p:spPr>
          <a:xfrm>
            <a:off x="3578224" y="3020307"/>
            <a:ext cx="17347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61</a:t>
            </a:r>
          </a:p>
        </p:txBody>
      </p:sp>
      <p:sp>
        <p:nvSpPr>
          <p:cNvPr id="216" name="ANUARIO_REFERENCIA_2024_P2_L058"/>
          <p:cNvSpPr txBox="1"/>
          <p:nvPr/>
        </p:nvSpPr>
        <p:spPr>
          <a:xfrm>
            <a:off x="749812" y="3082460"/>
            <a:ext cx="25203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PORCENTAJE DE HORAS PROMEDIO DE USO DE INTERNET POR GRUPOS DE EDAD </a:t>
            </a:r>
          </a:p>
        </p:txBody>
      </p:sp>
      <p:sp>
        <p:nvSpPr>
          <p:cNvPr id="217" name="ANUARIO_REFERENCIA_2024_P2_L059"/>
          <p:cNvSpPr txBox="1"/>
          <p:nvPr/>
        </p:nvSpPr>
        <p:spPr>
          <a:xfrm>
            <a:off x="3577734" y="3082460"/>
            <a:ext cx="1739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62</a:t>
            </a:r>
          </a:p>
        </p:txBody>
      </p:sp>
      <p:sp>
        <p:nvSpPr>
          <p:cNvPr id="218" name="ANUARIO_REFERENCIA_2024_P2_L060"/>
          <p:cNvSpPr txBox="1"/>
          <p:nvPr/>
        </p:nvSpPr>
        <p:spPr>
          <a:xfrm>
            <a:off x="749812" y="3144612"/>
            <a:ext cx="20422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DISPOSITIVOS INTELIGENTES CONECTADOS A INTERNET </a:t>
            </a:r>
          </a:p>
        </p:txBody>
      </p:sp>
      <p:sp>
        <p:nvSpPr>
          <p:cNvPr id="219" name="ANUARIO_REFERENCIA_2024_P2_L061"/>
          <p:cNvSpPr txBox="1"/>
          <p:nvPr/>
        </p:nvSpPr>
        <p:spPr>
          <a:xfrm>
            <a:off x="3574610" y="3144612"/>
            <a:ext cx="1770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63</a:t>
            </a:r>
          </a:p>
        </p:txBody>
      </p:sp>
      <p:sp>
        <p:nvSpPr>
          <p:cNvPr id="220" name="ANUARIO_REFERENCIA_2024_P2_L062"/>
          <p:cNvSpPr txBox="1"/>
          <p:nvPr/>
        </p:nvSpPr>
        <p:spPr>
          <a:xfrm>
            <a:off x="749813" y="3206765"/>
            <a:ext cx="2538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EFECTOS DE LA DESCONFIANZA EN INTERNET SOBRE LAS ACTIVIDADES EN LÍNEA 
</a:t>
            </a:r>
          </a:p>
        </p:txBody>
      </p:sp>
      <p:sp>
        <p:nvSpPr>
          <p:cNvPr id="221" name="ANUARIO_REFERENCIA_2024_P2_L063"/>
          <p:cNvSpPr txBox="1"/>
          <p:nvPr/>
        </p:nvSpPr>
        <p:spPr>
          <a:xfrm>
            <a:off x="749813" y="3260039"/>
            <a:ext cx="6578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LOS USUARIOS </a:t>
            </a:r>
          </a:p>
        </p:txBody>
      </p:sp>
      <p:sp>
        <p:nvSpPr>
          <p:cNvPr id="222" name="ANUARIO_REFERENCIA_2024_P2_L064"/>
          <p:cNvSpPr txBox="1"/>
          <p:nvPr/>
        </p:nvSpPr>
        <p:spPr>
          <a:xfrm>
            <a:off x="3576141" y="3260039"/>
            <a:ext cx="1755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64</a:t>
            </a:r>
          </a:p>
        </p:txBody>
      </p:sp>
      <p:sp>
        <p:nvSpPr>
          <p:cNvPr id="223" name="ANUARIO_REFERENCIA_2024_P2_L065"/>
          <p:cNvSpPr txBox="1"/>
          <p:nvPr/>
        </p:nvSpPr>
        <p:spPr>
          <a:xfrm>
            <a:off x="749812" y="3322192"/>
            <a:ext cx="26019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O GRADO DE CONFIANZA QUE TIENEN LAS PERSONAS AL HACER USO 
</a:t>
            </a:r>
          </a:p>
        </p:txBody>
      </p:sp>
      <p:sp>
        <p:nvSpPr>
          <p:cNvPr id="224" name="ANUARIO_REFERENCIA_2024_P2_L066"/>
          <p:cNvSpPr txBox="1"/>
          <p:nvPr/>
        </p:nvSpPr>
        <p:spPr>
          <a:xfrm>
            <a:off x="749812" y="3375465"/>
            <a:ext cx="55663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DEL INTERNET. </a:t>
            </a:r>
          </a:p>
        </p:txBody>
      </p:sp>
      <p:sp>
        <p:nvSpPr>
          <p:cNvPr id="225" name="ANUARIO_REFERENCIA_2024_P2_L067"/>
          <p:cNvSpPr txBox="1"/>
          <p:nvPr/>
        </p:nvSpPr>
        <p:spPr>
          <a:xfrm>
            <a:off x="3574425" y="3375465"/>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67</a:t>
            </a:r>
          </a:p>
        </p:txBody>
      </p:sp>
      <p:sp>
        <p:nvSpPr>
          <p:cNvPr id="226" name="ANUARIO_REFERENCIA_2024_P2_L068"/>
          <p:cNvSpPr txBox="1"/>
          <p:nvPr/>
        </p:nvSpPr>
        <p:spPr>
          <a:xfrm>
            <a:off x="749812" y="3437618"/>
            <a:ext cx="25584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SEGÚN NIVEL DE SEGURIDAD QUE TIENEN LAS PERSONAS USUARIAS 
</a:t>
            </a:r>
          </a:p>
        </p:txBody>
      </p:sp>
      <p:sp>
        <p:nvSpPr>
          <p:cNvPr id="227" name="ANUARIO_REFERENCIA_2024_P2_L069"/>
          <p:cNvSpPr txBox="1"/>
          <p:nvPr/>
        </p:nvSpPr>
        <p:spPr>
          <a:xfrm>
            <a:off x="749812" y="3490892"/>
            <a:ext cx="211715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INTERNET AL REALIZAR DIFERENTES ACTIVIDADES EN INTERNET </a:t>
            </a:r>
          </a:p>
        </p:txBody>
      </p:sp>
      <p:sp>
        <p:nvSpPr>
          <p:cNvPr id="228" name="ANUARIO_REFERENCIA_2024_P2_L070"/>
          <p:cNvSpPr txBox="1"/>
          <p:nvPr/>
        </p:nvSpPr>
        <p:spPr>
          <a:xfrm>
            <a:off x="3574915" y="3490892"/>
            <a:ext cx="176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68</a:t>
            </a:r>
          </a:p>
        </p:txBody>
      </p:sp>
      <p:sp>
        <p:nvSpPr>
          <p:cNvPr id="229" name="ANUARIO_REFERENCIA_2024_P2_L071"/>
          <p:cNvSpPr txBox="1"/>
          <p:nvPr/>
        </p:nvSpPr>
        <p:spPr>
          <a:xfrm>
            <a:off x="749812" y="3553044"/>
            <a:ext cx="282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POBLACIÓN USUARIA DE INTERNET SEGÚN NIVEL DE SEGURIDAD QUE CONSIDERAN, TIENE </a:t>
            </a:r>
          </a:p>
        </p:txBody>
      </p:sp>
      <p:sp>
        <p:nvSpPr>
          <p:cNvPr id="230" name="ANUARIO_REFERENCIA_2024_P2_L072"/>
          <p:cNvSpPr txBox="1"/>
          <p:nvPr/>
        </p:nvSpPr>
        <p:spPr>
          <a:xfrm>
            <a:off x="749812" y="3606318"/>
            <a:ext cx="198880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REALIZAR DIFERENTES ACTIVIDADES EN INTERNET (POR SEXO). </a:t>
            </a:r>
          </a:p>
        </p:txBody>
      </p:sp>
      <p:sp>
        <p:nvSpPr>
          <p:cNvPr id="231" name="ANUARIO_REFERENCIA_2024_P2_L073"/>
          <p:cNvSpPr txBox="1"/>
          <p:nvPr/>
        </p:nvSpPr>
        <p:spPr>
          <a:xfrm>
            <a:off x="3592807" y="3606318"/>
            <a:ext cx="1588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70</a:t>
            </a:r>
          </a:p>
        </p:txBody>
      </p:sp>
      <p:sp>
        <p:nvSpPr>
          <p:cNvPr id="232" name="ANUARIO_REFERENCIA_2024_P2_L074"/>
          <p:cNvSpPr txBox="1"/>
          <p:nvPr/>
        </p:nvSpPr>
        <p:spPr>
          <a:xfrm>
            <a:off x="627305" y="3678185"/>
            <a:ext cx="226802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E. PERSONAS USUARIAS DE SERVICIOS DE TELECOMUNICACIONES</a:t>
            </a:r>
          </a:p>
        </p:txBody>
      </p:sp>
      <p:sp>
        <p:nvSpPr>
          <p:cNvPr id="233" name="ANUARIO_REFERENCIA_2024_P2_L075"/>
          <p:cNvSpPr txBox="1"/>
          <p:nvPr/>
        </p:nvSpPr>
        <p:spPr>
          <a:xfrm>
            <a:off x="3574808" y="3678185"/>
            <a:ext cx="17689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71</a:t>
            </a:r>
          </a:p>
        </p:txBody>
      </p:sp>
      <p:sp>
        <p:nvSpPr>
          <p:cNvPr id="234" name="ANUARIO_REFERENCIA_2024_P2_L076"/>
          <p:cNvSpPr txBox="1"/>
          <p:nvPr/>
        </p:nvSpPr>
        <p:spPr>
          <a:xfrm>
            <a:off x="749835" y="3753709"/>
            <a:ext cx="25067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a:t>
            </a:r>
          </a:p>
        </p:txBody>
      </p:sp>
      <p:sp>
        <p:nvSpPr>
          <p:cNvPr id="235" name="ANUARIO_REFERENCIA_2024_P2_L077"/>
          <p:cNvSpPr txBox="1"/>
          <p:nvPr/>
        </p:nvSpPr>
        <p:spPr>
          <a:xfrm>
            <a:off x="749835" y="3806983"/>
            <a:ext cx="8562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PERSONAS USUARIAS </a:t>
            </a:r>
          </a:p>
        </p:txBody>
      </p:sp>
      <p:sp>
        <p:nvSpPr>
          <p:cNvPr id="236" name="ANUARIO_REFERENCIA_2024_P2_L078"/>
          <p:cNvSpPr txBox="1"/>
          <p:nvPr/>
        </p:nvSpPr>
        <p:spPr>
          <a:xfrm>
            <a:off x="3583923" y="3806983"/>
            <a:ext cx="1677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71</a:t>
            </a:r>
          </a:p>
        </p:txBody>
      </p:sp>
      <p:sp>
        <p:nvSpPr>
          <p:cNvPr id="237" name="ANUARIO_REFERENCIA_2024_P2_L079"/>
          <p:cNvSpPr txBox="1"/>
          <p:nvPr/>
        </p:nvSpPr>
        <p:spPr>
          <a:xfrm>
            <a:off x="749813" y="3869135"/>
            <a:ext cx="268180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CONOCIMIENTO Y PERCEPCIÓN DE LA INTELIGENCIA ARTIFICIAL (IA) Y CHAT GPT </a:t>
            </a:r>
          </a:p>
        </p:txBody>
      </p:sp>
      <p:sp>
        <p:nvSpPr>
          <p:cNvPr id="238" name="ANUARIO_REFERENCIA_2024_P2_L080"/>
          <p:cNvSpPr txBox="1"/>
          <p:nvPr/>
        </p:nvSpPr>
        <p:spPr>
          <a:xfrm>
            <a:off x="3582515" y="3869135"/>
            <a:ext cx="1691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72</a:t>
            </a:r>
          </a:p>
        </p:txBody>
      </p:sp>
      <p:sp>
        <p:nvSpPr>
          <p:cNvPr id="239" name="ANUARIO_REFERENCIA_2024_P2_L081"/>
          <p:cNvSpPr txBox="1"/>
          <p:nvPr/>
        </p:nvSpPr>
        <p:spPr>
          <a:xfrm>
            <a:off x="749814" y="3931288"/>
            <a:ext cx="253496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 
</a:t>
            </a:r>
          </a:p>
        </p:txBody>
      </p:sp>
      <p:sp>
        <p:nvSpPr>
          <p:cNvPr id="240" name="ANUARIO_REFERENCIA_2024_P2_L082"/>
          <p:cNvSpPr txBox="1"/>
          <p:nvPr/>
        </p:nvSpPr>
        <p:spPr>
          <a:xfrm>
            <a:off x="749814" y="3984562"/>
            <a:ext cx="5334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EMPRESAS </a:t>
            </a:r>
          </a:p>
        </p:txBody>
      </p:sp>
      <p:sp>
        <p:nvSpPr>
          <p:cNvPr id="241" name="ANUARIO_REFERENCIA_2024_P2_L083"/>
          <p:cNvSpPr txBox="1"/>
          <p:nvPr/>
        </p:nvSpPr>
        <p:spPr>
          <a:xfrm>
            <a:off x="3585454" y="3984562"/>
            <a:ext cx="16624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73</a:t>
            </a:r>
          </a:p>
        </p:txBody>
      </p:sp>
      <p:sp>
        <p:nvSpPr>
          <p:cNvPr id="242" name="ANUARIO_REFERENCIA_2024_P2_L084"/>
          <p:cNvSpPr txBox="1"/>
          <p:nvPr/>
        </p:nvSpPr>
        <p:spPr>
          <a:xfrm>
            <a:off x="749813" y="4046714"/>
            <a:ext cx="248523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CONTRATADOS POR LAS MICRO, PEQUEÑAS Y MEDIANAS EMPRESAS </a:t>
            </a:r>
          </a:p>
        </p:txBody>
      </p:sp>
      <p:sp>
        <p:nvSpPr>
          <p:cNvPr id="243" name="ANUARIO_REFERENCIA_2024_P2_L085"/>
          <p:cNvSpPr txBox="1"/>
          <p:nvPr/>
        </p:nvSpPr>
        <p:spPr>
          <a:xfrm>
            <a:off x="3582024" y="4046714"/>
            <a:ext cx="1696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74</a:t>
            </a:r>
          </a:p>
        </p:txBody>
      </p:sp>
      <p:sp>
        <p:nvSpPr>
          <p:cNvPr id="244" name="ANUARIO_REFERENCIA_2024_P2_L086"/>
          <p:cNvSpPr txBox="1"/>
          <p:nvPr/>
        </p:nvSpPr>
        <p:spPr>
          <a:xfrm>
            <a:off x="749813" y="4108867"/>
            <a:ext cx="25395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DE TELECOMUNICACIONES PARA REALIZAR ACTIVIDADES 
</a:t>
            </a:r>
          </a:p>
        </p:txBody>
      </p:sp>
      <p:sp>
        <p:nvSpPr>
          <p:cNvPr id="245" name="ANUARIO_REFERENCIA_2024_P2_L087"/>
          <p:cNvSpPr txBox="1"/>
          <p:nvPr/>
        </p:nvSpPr>
        <p:spPr>
          <a:xfrm>
            <a:off x="749813" y="4162141"/>
            <a:ext cx="12440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IMPORTACIÓN Y/O EXPORTACIÓN. </a:t>
            </a:r>
          </a:p>
        </p:txBody>
      </p:sp>
      <p:sp>
        <p:nvSpPr>
          <p:cNvPr id="246" name="ANUARIO_REFERENCIA_2024_P2_L088"/>
          <p:cNvSpPr txBox="1"/>
          <p:nvPr/>
        </p:nvSpPr>
        <p:spPr>
          <a:xfrm>
            <a:off x="3571118" y="4162141"/>
            <a:ext cx="1805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79</a:t>
            </a:r>
          </a:p>
        </p:txBody>
      </p:sp>
      <p:sp>
        <p:nvSpPr>
          <p:cNvPr id="247" name="ANUARIO_REFERENCIA_2024_P2_L089"/>
          <p:cNvSpPr txBox="1"/>
          <p:nvPr/>
        </p:nvSpPr>
        <p:spPr>
          <a:xfrm>
            <a:off x="4716788" y="1167216"/>
            <a:ext cx="166400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F. INDICADORES CON PERSPECTIVA DE GÉNERO</a:t>
            </a:r>
          </a:p>
        </p:txBody>
      </p:sp>
      <p:sp>
        <p:nvSpPr>
          <p:cNvPr id="248" name="ANUARIO_REFERENCIA_2024_P2_L090"/>
          <p:cNvSpPr txBox="1"/>
          <p:nvPr/>
        </p:nvSpPr>
        <p:spPr>
          <a:xfrm>
            <a:off x="7668131" y="1167216"/>
            <a:ext cx="1730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80</a:t>
            </a:r>
          </a:p>
        </p:txBody>
      </p:sp>
      <p:sp>
        <p:nvSpPr>
          <p:cNvPr id="249" name="ANUARIO_REFERENCIA_2024_P2_L091"/>
          <p:cNvSpPr txBox="1"/>
          <p:nvPr/>
        </p:nvSpPr>
        <p:spPr>
          <a:xfrm>
            <a:off x="4839318" y="1242740"/>
            <a:ext cx="17166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EN EL TELÉFONO CELULAR INTELIGENTE</a:t>
            </a:r>
          </a:p>
        </p:txBody>
      </p:sp>
      <p:sp>
        <p:nvSpPr>
          <p:cNvPr id="250" name="ANUARIO_REFERENCIA_2024_P2_L092"/>
          <p:cNvSpPr txBox="1"/>
          <p:nvPr/>
        </p:nvSpPr>
        <p:spPr>
          <a:xfrm>
            <a:off x="7677206" y="1242740"/>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80</a:t>
            </a:r>
          </a:p>
        </p:txBody>
      </p:sp>
      <p:sp>
        <p:nvSpPr>
          <p:cNvPr id="251" name="ANUARIO_REFERENCIA_2024_P2_L093"/>
          <p:cNvSpPr txBox="1"/>
          <p:nvPr/>
        </p:nvSpPr>
        <p:spPr>
          <a:xfrm>
            <a:off x="4839298" y="1304893"/>
            <a:ext cx="132298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REALIZADAS EN INTERNET </a:t>
            </a:r>
          </a:p>
        </p:txBody>
      </p:sp>
      <p:sp>
        <p:nvSpPr>
          <p:cNvPr id="252" name="ANUARIO_REFERENCIA_2024_P2_L094"/>
          <p:cNvSpPr txBox="1"/>
          <p:nvPr/>
        </p:nvSpPr>
        <p:spPr>
          <a:xfrm>
            <a:off x="7677207" y="1304893"/>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80</a:t>
            </a:r>
          </a:p>
        </p:txBody>
      </p:sp>
      <p:sp>
        <p:nvSpPr>
          <p:cNvPr id="253" name="ANUARIO_REFERENCIA_2024_P2_L095"/>
          <p:cNvSpPr txBox="1"/>
          <p:nvPr/>
        </p:nvSpPr>
        <p:spPr>
          <a:xfrm>
            <a:off x="4839299" y="1367046"/>
            <a:ext cx="221671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PERSONAS EMPLEADAS EN TELECOMUNICACIONES Y RADIODIFUSIÓN </a:t>
            </a:r>
          </a:p>
        </p:txBody>
      </p:sp>
      <p:sp>
        <p:nvSpPr>
          <p:cNvPr id="254" name="ANUARIO_REFERENCIA_2024_P2_L096"/>
          <p:cNvSpPr txBox="1"/>
          <p:nvPr/>
        </p:nvSpPr>
        <p:spPr>
          <a:xfrm>
            <a:off x="7663912" y="1367046"/>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85</a:t>
            </a:r>
          </a:p>
        </p:txBody>
      </p:sp>
      <p:sp>
        <p:nvSpPr>
          <p:cNvPr id="255" name="ANUARIO_REFERENCIA_2024_P2_L097"/>
          <p:cNvSpPr txBox="1"/>
          <p:nvPr/>
        </p:nvSpPr>
        <p:spPr>
          <a:xfrm>
            <a:off x="4839298" y="1429198"/>
            <a:ext cx="5181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CIBERACOSO </a:t>
            </a:r>
          </a:p>
        </p:txBody>
      </p:sp>
      <p:sp>
        <p:nvSpPr>
          <p:cNvPr id="256" name="ANUARIO_REFERENCIA_2024_P2_L098"/>
          <p:cNvSpPr txBox="1"/>
          <p:nvPr/>
        </p:nvSpPr>
        <p:spPr>
          <a:xfrm>
            <a:off x="7670958" y="1429198"/>
            <a:ext cx="1702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86</a:t>
            </a:r>
          </a:p>
        </p:txBody>
      </p:sp>
      <p:sp>
        <p:nvSpPr>
          <p:cNvPr id="257" name="ANUARIO_REFERENCIA_2024_P2_L099"/>
          <p:cNvSpPr txBox="1"/>
          <p:nvPr/>
        </p:nvSpPr>
        <p:spPr>
          <a:xfrm>
            <a:off x="4839298" y="1491351"/>
            <a:ext cx="22631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MEDIDAS DE PROTECCIÓN QUE TOMAN LAS PERSONAS USUARIAS ANTE 
</a:t>
            </a:r>
          </a:p>
        </p:txBody>
      </p:sp>
      <p:sp>
        <p:nvSpPr>
          <p:cNvPr id="258" name="ANUARIO_REFERENCIA_2024_P2_L100"/>
          <p:cNvSpPr txBox="1"/>
          <p:nvPr/>
        </p:nvSpPr>
        <p:spPr>
          <a:xfrm>
            <a:off x="4839298" y="1544625"/>
            <a:ext cx="8164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t>
            </a:r>
          </a:p>
        </p:txBody>
      </p:sp>
      <p:sp>
        <p:nvSpPr>
          <p:cNvPr id="259" name="ANUARIO_REFERENCIA_2024_P2_L101"/>
          <p:cNvSpPr txBox="1"/>
          <p:nvPr/>
        </p:nvSpPr>
        <p:spPr>
          <a:xfrm>
            <a:off x="7664156" y="1544625"/>
            <a:ext cx="1770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97</a:t>
            </a:r>
          </a:p>
        </p:txBody>
      </p:sp>
      <p:sp>
        <p:nvSpPr>
          <p:cNvPr id="260" name="ANUARIO_REFERENCIA_2024_P2_L102"/>
          <p:cNvSpPr txBox="1"/>
          <p:nvPr/>
        </p:nvSpPr>
        <p:spPr>
          <a:xfrm>
            <a:off x="4839297" y="1606778"/>
            <a:ext cx="26786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REALIZADAS POR LAS PERSONAS USUARIAS PARA PROTEGERSE O PREVENIR </a:t>
            </a:r>
          </a:p>
        </p:txBody>
      </p:sp>
      <p:sp>
        <p:nvSpPr>
          <p:cNvPr id="261" name="ANUARIO_REFERENCIA_2024_P2_L103"/>
          <p:cNvSpPr txBox="1"/>
          <p:nvPr/>
        </p:nvSpPr>
        <p:spPr>
          <a:xfrm>
            <a:off x="4839319" y="1660051"/>
            <a:ext cx="18764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 TRAVÉS DE INTERNET (POR SEXO). </a:t>
            </a:r>
          </a:p>
        </p:txBody>
      </p:sp>
      <p:sp>
        <p:nvSpPr>
          <p:cNvPr id="262" name="ANUARIO_REFERENCIA_2024_P2_L104"/>
          <p:cNvSpPr txBox="1"/>
          <p:nvPr/>
        </p:nvSpPr>
        <p:spPr>
          <a:xfrm>
            <a:off x="7662502" y="1660051"/>
            <a:ext cx="1786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98</a:t>
            </a:r>
          </a:p>
        </p:txBody>
      </p:sp>
      <p:sp>
        <p:nvSpPr>
          <p:cNvPr id="263" name="ANUARIO_REFERENCIA_2024_P2_L105"/>
          <p:cNvSpPr txBox="1"/>
          <p:nvPr/>
        </p:nvSpPr>
        <p:spPr>
          <a:xfrm>
            <a:off x="4839297" y="1722204"/>
            <a:ext cx="26301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QUE REALIZARÍAN LAS PERSONAS USUARIAS EN CASO DE EXPERIMENTAR 
</a:t>
            </a:r>
          </a:p>
        </p:txBody>
      </p:sp>
      <p:sp>
        <p:nvSpPr>
          <p:cNvPr id="264" name="ANUARIO_REFERENCIA_2024_P2_L106"/>
          <p:cNvSpPr txBox="1"/>
          <p:nvPr/>
        </p:nvSpPr>
        <p:spPr>
          <a:xfrm>
            <a:off x="4839297" y="1775478"/>
            <a:ext cx="17854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VIOLENCIA DIGITAL A TRAVÉS DE INTERNET (POR SEXO). </a:t>
            </a:r>
          </a:p>
        </p:txBody>
      </p:sp>
      <p:sp>
        <p:nvSpPr>
          <p:cNvPr id="265" name="ANUARIO_REFERENCIA_2024_P2_L107"/>
          <p:cNvSpPr txBox="1"/>
          <p:nvPr/>
        </p:nvSpPr>
        <p:spPr>
          <a:xfrm>
            <a:off x="7633403" y="1775478"/>
            <a:ext cx="207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99</a:t>
            </a:r>
          </a:p>
        </p:txBody>
      </p:sp>
      <p:sp>
        <p:nvSpPr>
          <p:cNvPr id="266" name="ANUARIO_REFERENCIA_2024_P2_L108"/>
          <p:cNvSpPr txBox="1"/>
          <p:nvPr/>
        </p:nvSpPr>
        <p:spPr>
          <a:xfrm>
            <a:off x="4716790" y="1847344"/>
            <a:ext cx="1318349"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G. INDICADORES DE RADIODIFUSIÓN</a:t>
            </a:r>
          </a:p>
        </p:txBody>
      </p:sp>
      <p:sp>
        <p:nvSpPr>
          <p:cNvPr id="267" name="ANUARIO_REFERENCIA_2024_P2_L109"/>
          <p:cNvSpPr txBox="1"/>
          <p:nvPr/>
        </p:nvSpPr>
        <p:spPr>
          <a:xfrm>
            <a:off x="7637266" y="1847344"/>
            <a:ext cx="20391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100</a:t>
            </a:r>
          </a:p>
        </p:txBody>
      </p:sp>
      <p:sp>
        <p:nvSpPr>
          <p:cNvPr id="268" name="ANUARIO_REFERENCIA_2024_P2_L110"/>
          <p:cNvSpPr txBox="1"/>
          <p:nvPr/>
        </p:nvSpPr>
        <p:spPr>
          <a:xfrm>
            <a:off x="4716797" y="1932559"/>
            <a:ext cx="13494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 CONSUMO DE RADIO Y TELEVISIÓN</a:t>
            </a:r>
          </a:p>
        </p:txBody>
      </p:sp>
      <p:sp>
        <p:nvSpPr>
          <p:cNvPr id="269" name="ANUARIO_REFERENCIA_2024_P2_L111"/>
          <p:cNvSpPr txBox="1"/>
          <p:nvPr/>
        </p:nvSpPr>
        <p:spPr>
          <a:xfrm>
            <a:off x="7629314" y="1932582"/>
            <a:ext cx="21186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101</a:t>
            </a:r>
          </a:p>
        </p:txBody>
      </p:sp>
      <p:sp>
        <p:nvSpPr>
          <p:cNvPr id="270" name="ANUARIO_REFERENCIA_2024_P2_L112"/>
          <p:cNvSpPr txBox="1"/>
          <p:nvPr/>
        </p:nvSpPr>
        <p:spPr>
          <a:xfrm>
            <a:off x="4839319" y="2008106"/>
            <a:ext cx="231623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A NIVEL NACIONAL (28 CIUDADES)</a:t>
            </a:r>
          </a:p>
        </p:txBody>
      </p:sp>
      <p:sp>
        <p:nvSpPr>
          <p:cNvPr id="271" name="ANUARIO_REFERENCIA_2024_P2_L113"/>
          <p:cNvSpPr txBox="1"/>
          <p:nvPr/>
        </p:nvSpPr>
        <p:spPr>
          <a:xfrm>
            <a:off x="7642530" y="2008106"/>
            <a:ext cx="198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101</a:t>
            </a:r>
          </a:p>
        </p:txBody>
      </p:sp>
      <p:sp>
        <p:nvSpPr>
          <p:cNvPr id="272" name="ANUARIO_REFERENCIA_2024_P2_L114"/>
          <p:cNvSpPr txBox="1"/>
          <p:nvPr/>
        </p:nvSpPr>
        <p:spPr>
          <a:xfrm>
            <a:off x="4839298" y="2070259"/>
            <a:ext cx="27463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 NIVEL </a:t>
            </a:r>
          </a:p>
        </p:txBody>
      </p:sp>
      <p:sp>
        <p:nvSpPr>
          <p:cNvPr id="273" name="ANUARIO_REFERENCIA_2024_P2_L115"/>
          <p:cNvSpPr txBox="1"/>
          <p:nvPr/>
        </p:nvSpPr>
        <p:spPr>
          <a:xfrm>
            <a:off x="4839298" y="2123532"/>
            <a:ext cx="8988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NACIONAL (28 CIUDADES) </a:t>
            </a:r>
          </a:p>
        </p:txBody>
      </p:sp>
      <p:sp>
        <p:nvSpPr>
          <p:cNvPr id="274" name="ANUARIO_REFERENCIA_2024_P2_L116"/>
          <p:cNvSpPr txBox="1"/>
          <p:nvPr/>
        </p:nvSpPr>
        <p:spPr>
          <a:xfrm>
            <a:off x="7641305" y="2123532"/>
            <a:ext cx="1998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102</a:t>
            </a:r>
          </a:p>
        </p:txBody>
      </p:sp>
      <p:sp>
        <p:nvSpPr>
          <p:cNvPr id="275" name="ANUARIO_REFERENCIA_2024_P2_L117"/>
          <p:cNvSpPr txBox="1"/>
          <p:nvPr/>
        </p:nvSpPr>
        <p:spPr>
          <a:xfrm>
            <a:off x="4839298" y="2185685"/>
            <a:ext cx="20145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CIUDAD DE MÉXICO </a:t>
            </a:r>
          </a:p>
        </p:txBody>
      </p:sp>
      <p:sp>
        <p:nvSpPr>
          <p:cNvPr id="276" name="ANUARIO_REFERENCIA_2024_P2_L118"/>
          <p:cNvSpPr txBox="1"/>
          <p:nvPr/>
        </p:nvSpPr>
        <p:spPr>
          <a:xfrm>
            <a:off x="7639222" y="2185685"/>
            <a:ext cx="201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103</a:t>
            </a:r>
          </a:p>
        </p:txBody>
      </p:sp>
      <p:sp>
        <p:nvSpPr>
          <p:cNvPr id="277" name="ANUARIO_REFERENCIA_2024_P2_L119"/>
          <p:cNvSpPr txBox="1"/>
          <p:nvPr/>
        </p:nvSpPr>
        <p:spPr>
          <a:xfrm>
            <a:off x="4839298" y="2247838"/>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78" name="ANUARIO_REFERENCIA_2024_P2_L120"/>
          <p:cNvSpPr txBox="1"/>
          <p:nvPr/>
        </p:nvSpPr>
        <p:spPr>
          <a:xfrm>
            <a:off x="4839298" y="2301112"/>
            <a:ext cx="9078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LA CIUDAD DE MÉXICO </a:t>
            </a:r>
          </a:p>
        </p:txBody>
      </p:sp>
      <p:sp>
        <p:nvSpPr>
          <p:cNvPr id="279" name="ANUARIO_REFERENCIA_2024_P2_L121"/>
          <p:cNvSpPr txBox="1"/>
          <p:nvPr/>
        </p:nvSpPr>
        <p:spPr>
          <a:xfrm>
            <a:off x="7639406" y="2301112"/>
            <a:ext cx="201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104</a:t>
            </a:r>
          </a:p>
        </p:txBody>
      </p:sp>
      <p:sp>
        <p:nvSpPr>
          <p:cNvPr id="280" name="ANUARIO_REFERENCIA_2024_P2_L122"/>
          <p:cNvSpPr txBox="1"/>
          <p:nvPr/>
        </p:nvSpPr>
        <p:spPr>
          <a:xfrm>
            <a:off x="4839298" y="2363264"/>
            <a:ext cx="18581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GUADALAJARA </a:t>
            </a:r>
          </a:p>
        </p:txBody>
      </p:sp>
      <p:sp>
        <p:nvSpPr>
          <p:cNvPr id="281" name="ANUARIO_REFERENCIA_2024_P2_L123"/>
          <p:cNvSpPr txBox="1"/>
          <p:nvPr/>
        </p:nvSpPr>
        <p:spPr>
          <a:xfrm>
            <a:off x="7636587" y="2363264"/>
            <a:ext cx="2045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105</a:t>
            </a:r>
          </a:p>
        </p:txBody>
      </p:sp>
      <p:sp>
        <p:nvSpPr>
          <p:cNvPr id="282" name="ANUARIO_REFERENCIA_2024_P2_L124"/>
          <p:cNvSpPr txBox="1"/>
          <p:nvPr/>
        </p:nvSpPr>
        <p:spPr>
          <a:xfrm>
            <a:off x="4839298" y="2425417"/>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3" name="ANUARIO_REFERENCIA_2024_P2_L125"/>
          <p:cNvSpPr txBox="1"/>
          <p:nvPr/>
        </p:nvSpPr>
        <p:spPr>
          <a:xfrm>
            <a:off x="4839298" y="2478691"/>
            <a:ext cx="6602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GUADALAJARA </a:t>
            </a:r>
          </a:p>
        </p:txBody>
      </p:sp>
      <p:sp>
        <p:nvSpPr>
          <p:cNvPr id="284" name="ANUARIO_REFERENCIA_2024_P2_L126"/>
          <p:cNvSpPr txBox="1"/>
          <p:nvPr/>
        </p:nvSpPr>
        <p:spPr>
          <a:xfrm>
            <a:off x="7644368" y="2478691"/>
            <a:ext cx="19681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106</a:t>
            </a:r>
          </a:p>
        </p:txBody>
      </p:sp>
      <p:sp>
        <p:nvSpPr>
          <p:cNvPr id="285" name="ANUARIO_REFERENCIA_2024_P2_L127"/>
          <p:cNvSpPr txBox="1"/>
          <p:nvPr/>
        </p:nvSpPr>
        <p:spPr>
          <a:xfrm>
            <a:off x="4839298" y="2540843"/>
            <a:ext cx="17964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MONTERREY </a:t>
            </a:r>
          </a:p>
        </p:txBody>
      </p:sp>
      <p:sp>
        <p:nvSpPr>
          <p:cNvPr id="286" name="ANUARIO_REFERENCIA_2024_P2_L128"/>
          <p:cNvSpPr txBox="1"/>
          <p:nvPr/>
        </p:nvSpPr>
        <p:spPr>
          <a:xfrm>
            <a:off x="7637874" y="2540843"/>
            <a:ext cx="2033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107</a:t>
            </a:r>
          </a:p>
        </p:txBody>
      </p:sp>
      <p:sp>
        <p:nvSpPr>
          <p:cNvPr id="287" name="ANUARIO_REFERENCIA_2024_P2_L129"/>
          <p:cNvSpPr txBox="1"/>
          <p:nvPr/>
        </p:nvSpPr>
        <p:spPr>
          <a:xfrm>
            <a:off x="4839298" y="2602996"/>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8" name="ANUARIO_REFERENCIA_2024_P2_L130"/>
          <p:cNvSpPr txBox="1"/>
          <p:nvPr/>
        </p:nvSpPr>
        <p:spPr>
          <a:xfrm>
            <a:off x="4839298" y="2656270"/>
            <a:ext cx="5986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MONTERREY </a:t>
            </a:r>
          </a:p>
        </p:txBody>
      </p:sp>
      <p:sp>
        <p:nvSpPr>
          <p:cNvPr id="289" name="ANUARIO_REFERENCIA_2024_P2_L131"/>
          <p:cNvSpPr txBox="1"/>
          <p:nvPr/>
        </p:nvSpPr>
        <p:spPr>
          <a:xfrm>
            <a:off x="7636342" y="2656270"/>
            <a:ext cx="20484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108</a:t>
            </a:r>
          </a:p>
        </p:txBody>
      </p:sp>
      <p:sp>
        <p:nvSpPr>
          <p:cNvPr id="290" name="ANUARIO_REFERENCIA_2024_P2_L132"/>
          <p:cNvSpPr txBox="1"/>
          <p:nvPr/>
        </p:nvSpPr>
        <p:spPr>
          <a:xfrm>
            <a:off x="4839297" y="2718423"/>
            <a:ext cx="18102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25 CIUDADES </a:t>
            </a:r>
          </a:p>
        </p:txBody>
      </p:sp>
      <p:sp>
        <p:nvSpPr>
          <p:cNvPr id="291" name="ANUARIO_REFERENCIA_2024_P2_L133"/>
          <p:cNvSpPr txBox="1"/>
          <p:nvPr/>
        </p:nvSpPr>
        <p:spPr>
          <a:xfrm>
            <a:off x="7650189" y="2718423"/>
            <a:ext cx="1909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109</a:t>
            </a:r>
          </a:p>
        </p:txBody>
      </p:sp>
      <p:sp>
        <p:nvSpPr>
          <p:cNvPr id="292" name="ANUARIO_REFERENCIA_2024_P2_L134"/>
          <p:cNvSpPr txBox="1"/>
          <p:nvPr/>
        </p:nvSpPr>
        <p:spPr>
          <a:xfrm>
            <a:off x="4839298" y="2780575"/>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93" name="ANUARIO_REFERENCIA_2024_P2_L135"/>
          <p:cNvSpPr txBox="1"/>
          <p:nvPr/>
        </p:nvSpPr>
        <p:spPr>
          <a:xfrm>
            <a:off x="4839298" y="2833849"/>
            <a:ext cx="6124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25 CIUDADES </a:t>
            </a:r>
          </a:p>
        </p:txBody>
      </p:sp>
      <p:sp>
        <p:nvSpPr>
          <p:cNvPr id="294" name="ANUARIO_REFERENCIA_2024_P2_L136"/>
          <p:cNvSpPr txBox="1"/>
          <p:nvPr/>
        </p:nvSpPr>
        <p:spPr>
          <a:xfrm>
            <a:off x="7666976" y="2833849"/>
            <a:ext cx="1742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110</a:t>
            </a:r>
          </a:p>
        </p:txBody>
      </p:sp>
      <p:sp>
        <p:nvSpPr>
          <p:cNvPr id="295" name="ANUARIO_REFERENCIA_2024_P2_L137"/>
          <p:cNvSpPr txBox="1"/>
          <p:nvPr/>
        </p:nvSpPr>
        <p:spPr>
          <a:xfrm>
            <a:off x="4839298" y="2896002"/>
            <a:ext cx="28758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PRINCIPALES CIUDADES DEL PAÍS (CIUDAD DE MÉXICO, </a:t>
            </a:r>
          </a:p>
        </p:txBody>
      </p:sp>
      <p:sp>
        <p:nvSpPr>
          <p:cNvPr id="296" name="ANUARIO_REFERENCIA_2024_P2_L138"/>
          <p:cNvSpPr txBox="1"/>
          <p:nvPr/>
        </p:nvSpPr>
        <p:spPr>
          <a:xfrm>
            <a:off x="4839298" y="2949275"/>
            <a:ext cx="10284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GUADALAJARA Y MONTERREY) </a:t>
            </a:r>
          </a:p>
        </p:txBody>
      </p:sp>
      <p:sp>
        <p:nvSpPr>
          <p:cNvPr id="297" name="ANUARIO_REFERENCIA_2024_P2_L139"/>
          <p:cNvSpPr txBox="1"/>
          <p:nvPr/>
        </p:nvSpPr>
        <p:spPr>
          <a:xfrm>
            <a:off x="7657970" y="2949275"/>
            <a:ext cx="18321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111</a:t>
            </a:r>
          </a:p>
        </p:txBody>
      </p:sp>
      <p:sp>
        <p:nvSpPr>
          <p:cNvPr id="298" name="ANUARIO_REFERENCIA_2024_P2_L140"/>
          <p:cNvSpPr txBox="1"/>
          <p:nvPr/>
        </p:nvSpPr>
        <p:spPr>
          <a:xfrm>
            <a:off x="4839299" y="3011428"/>
            <a:ext cx="185776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CIUDAD DE MÉXICO </a:t>
            </a:r>
          </a:p>
        </p:txBody>
      </p:sp>
      <p:sp>
        <p:nvSpPr>
          <p:cNvPr id="299" name="ANUARIO_REFERENCIA_2024_P2_L141"/>
          <p:cNvSpPr txBox="1"/>
          <p:nvPr/>
        </p:nvSpPr>
        <p:spPr>
          <a:xfrm>
            <a:off x="7657480" y="3011428"/>
            <a:ext cx="18370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112</a:t>
            </a:r>
          </a:p>
        </p:txBody>
      </p:sp>
      <p:sp>
        <p:nvSpPr>
          <p:cNvPr id="300" name="ANUARIO_REFERENCIA_2024_P2_L142"/>
          <p:cNvSpPr txBox="1"/>
          <p:nvPr/>
        </p:nvSpPr>
        <p:spPr>
          <a:xfrm>
            <a:off x="4839299" y="3073581"/>
            <a:ext cx="17012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GUADALAJARA </a:t>
            </a:r>
          </a:p>
        </p:txBody>
      </p:sp>
      <p:sp>
        <p:nvSpPr>
          <p:cNvPr id="301" name="ANUARIO_REFERENCIA_2024_P2_L143"/>
          <p:cNvSpPr txBox="1"/>
          <p:nvPr/>
        </p:nvSpPr>
        <p:spPr>
          <a:xfrm>
            <a:off x="7656315" y="3073581"/>
            <a:ext cx="1848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113</a:t>
            </a:r>
          </a:p>
        </p:txBody>
      </p:sp>
      <p:sp>
        <p:nvSpPr>
          <p:cNvPr id="302" name="ANUARIO_REFERENCIA_2024_P2_L144"/>
          <p:cNvSpPr txBox="1"/>
          <p:nvPr/>
        </p:nvSpPr>
        <p:spPr>
          <a:xfrm>
            <a:off x="4839298" y="3135733"/>
            <a:ext cx="16396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MONTERREY </a:t>
            </a:r>
          </a:p>
        </p:txBody>
      </p:sp>
      <p:sp>
        <p:nvSpPr>
          <p:cNvPr id="303" name="ANUARIO_REFERENCIA_2024_P2_L145"/>
          <p:cNvSpPr txBox="1"/>
          <p:nvPr/>
        </p:nvSpPr>
        <p:spPr>
          <a:xfrm>
            <a:off x="7655520" y="3135733"/>
            <a:ext cx="1856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114</a:t>
            </a:r>
          </a:p>
        </p:txBody>
      </p:sp>
      <p:sp>
        <p:nvSpPr>
          <p:cNvPr id="304" name="ANUARIO_REFERENCIA_2024_P2_L146"/>
          <p:cNvSpPr txBox="1"/>
          <p:nvPr/>
        </p:nvSpPr>
        <p:spPr>
          <a:xfrm>
            <a:off x="4716790" y="3207600"/>
            <a:ext cx="75914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HERRAMIENTAS IFT </a:t>
            </a:r>
          </a:p>
        </p:txBody>
      </p:sp>
      <p:sp>
        <p:nvSpPr>
          <p:cNvPr id="305" name="ANUARIO_REFERENCIA_2024_P2_L147"/>
          <p:cNvSpPr txBox="1"/>
          <p:nvPr/>
        </p:nvSpPr>
        <p:spPr>
          <a:xfrm>
            <a:off x="7640097" y="3207600"/>
            <a:ext cx="20108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115</a:t>
            </a:r>
          </a:p>
        </p:txBody>
      </p:sp>
      <p:sp>
        <p:nvSpPr>
          <p:cNvPr id="306" name="ANUARIO_REFERENCIA_2024_P2_L148"/>
          <p:cNvSpPr txBox="1"/>
          <p:nvPr/>
        </p:nvSpPr>
        <p:spPr>
          <a:xfrm>
            <a:off x="4716799" y="3292816"/>
            <a:ext cx="287623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 RESUMEN DE INDICADORES DE TELECOMUNICACIONES Y RADIODIFUSIÓN </a:t>
            </a:r>
          </a:p>
        </p:txBody>
      </p:sp>
      <p:sp>
        <p:nvSpPr>
          <p:cNvPr id="307" name="ANUARIO_REFERENCIA_2024_P2_L149"/>
          <p:cNvSpPr txBox="1"/>
          <p:nvPr/>
        </p:nvSpPr>
        <p:spPr>
          <a:xfrm>
            <a:off x="7647647" y="3292838"/>
            <a:ext cx="19353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116</a:t>
            </a:r>
          </a:p>
        </p:txBody>
      </p:sp>
      <p:sp>
        <p:nvSpPr>
          <p:cNvPr id="308" name="ANUARIO_REFERENCIA_2024_P2_L150"/>
          <p:cNvSpPr txBox="1"/>
          <p:nvPr/>
        </p:nvSpPr>
        <p:spPr>
          <a:xfrm>
            <a:off x="4716800" y="3378054"/>
            <a:ext cx="932261"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 DEFINICIONES </a:t>
            </a:r>
          </a:p>
        </p:txBody>
      </p:sp>
      <p:sp>
        <p:nvSpPr>
          <p:cNvPr id="309" name="ANUARIO_REFERENCIA_2024_P2_L151"/>
          <p:cNvSpPr txBox="1"/>
          <p:nvPr/>
        </p:nvSpPr>
        <p:spPr>
          <a:xfrm>
            <a:off x="7643334" y="3378076"/>
            <a:ext cx="1978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120</a:t>
            </a:r>
          </a:p>
        </p:txBody>
      </p:sp>
      <p:sp>
        <p:nvSpPr>
          <p:cNvPr id="310" name="ANUARIO_REFERENCIA_2024_P2_L152"/>
          <p:cNvSpPr txBox="1"/>
          <p:nvPr/>
        </p:nvSpPr>
        <p:spPr>
          <a:xfrm>
            <a:off x="4716800" y="3463292"/>
            <a:ext cx="101233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III. METODOLOGÍAS </a:t>
            </a:r>
          </a:p>
        </p:txBody>
      </p:sp>
      <p:sp>
        <p:nvSpPr>
          <p:cNvPr id="311" name="ANUARIO_REFERENCIA_2024_P2_L153"/>
          <p:cNvSpPr txBox="1"/>
          <p:nvPr/>
        </p:nvSpPr>
        <p:spPr>
          <a:xfrm>
            <a:off x="7631405" y="3463314"/>
            <a:ext cx="20978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125</a:t>
            </a:r>
          </a:p>
        </p:txBody>
      </p:sp>
      <p:sp>
        <p:nvSpPr>
          <p:cNvPr id="312" name="ANUARIO_REFERENCIA_2024_P2_L154"/>
          <p:cNvSpPr txBox="1"/>
          <p:nvPr/>
        </p:nvSpPr>
        <p:spPr>
          <a:xfrm>
            <a:off x="4839320" y="3538838"/>
            <a:ext cx="204840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SERVICIOS DE TELECOMUNICACIONES </a:t>
            </a:r>
          </a:p>
        </p:txBody>
      </p:sp>
      <p:sp>
        <p:nvSpPr>
          <p:cNvPr id="313" name="ANUARIO_REFERENCIA_2024_P2_L155"/>
          <p:cNvSpPr txBox="1"/>
          <p:nvPr/>
        </p:nvSpPr>
        <p:spPr>
          <a:xfrm>
            <a:off x="7644921" y="3538838"/>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125</a:t>
            </a:r>
          </a:p>
        </p:txBody>
      </p:sp>
      <p:sp>
        <p:nvSpPr>
          <p:cNvPr id="314" name="ANUARIO_REFERENCIA_2024_P2_L156"/>
          <p:cNvSpPr txBox="1"/>
          <p:nvPr/>
        </p:nvSpPr>
        <p:spPr>
          <a:xfrm>
            <a:off x="4839300" y="3600991"/>
            <a:ext cx="7382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315" name="ANUARIO_REFERENCIA_2024_P2_L157"/>
          <p:cNvSpPr txBox="1"/>
          <p:nvPr/>
        </p:nvSpPr>
        <p:spPr>
          <a:xfrm>
            <a:off x="7644921" y="3600991"/>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125</a:t>
            </a:r>
          </a:p>
        </p:txBody>
      </p:sp>
      <p:sp>
        <p:nvSpPr>
          <p:cNvPr id="316" name="ANUARIO_REFERENCIA_2024_P2_L158"/>
          <p:cNvSpPr txBox="1"/>
          <p:nvPr/>
        </p:nvSpPr>
        <p:spPr>
          <a:xfrm>
            <a:off x="4839300" y="3663143"/>
            <a:ext cx="28248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INGRESO Y GASTO DE LOS HOGARES EN TELECOMUNICACIONES 
</a:t>
            </a:r>
          </a:p>
        </p:txBody>
      </p:sp>
      <p:sp>
        <p:nvSpPr>
          <p:cNvPr id="317" name="ANUARIO_REFERENCIA_2024_P2_L159"/>
          <p:cNvSpPr txBox="1"/>
          <p:nvPr/>
        </p:nvSpPr>
        <p:spPr>
          <a:xfrm>
            <a:off x="4839300" y="3716417"/>
            <a:ext cx="6036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FIJAS Y MÓVILES </a:t>
            </a:r>
          </a:p>
        </p:txBody>
      </p:sp>
      <p:sp>
        <p:nvSpPr>
          <p:cNvPr id="318" name="ANUARIO_REFERENCIA_2024_P2_L160"/>
          <p:cNvSpPr txBox="1"/>
          <p:nvPr/>
        </p:nvSpPr>
        <p:spPr>
          <a:xfrm>
            <a:off x="7650436" y="3716417"/>
            <a:ext cx="1907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126</a:t>
            </a:r>
          </a:p>
        </p:txBody>
      </p:sp>
      <p:sp>
        <p:nvSpPr>
          <p:cNvPr id="319" name="ANUARIO_REFERENCIA_2024_P2_L161"/>
          <p:cNvSpPr txBox="1"/>
          <p:nvPr/>
        </p:nvSpPr>
        <p:spPr>
          <a:xfrm>
            <a:off x="4839301" y="3778570"/>
            <a:ext cx="23691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CONSUMO DE RADIO Y TELEVISIÓN, PARTICULARIDADES METODOLÓGICAS </a:t>
            </a:r>
          </a:p>
        </p:txBody>
      </p:sp>
      <p:sp>
        <p:nvSpPr>
          <p:cNvPr id="320" name="ANUARIO_REFERENCIA_2024_P2_L162"/>
          <p:cNvSpPr txBox="1"/>
          <p:nvPr/>
        </p:nvSpPr>
        <p:spPr>
          <a:xfrm>
            <a:off x="7644800" y="3778570"/>
            <a:ext cx="1963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127</a:t>
            </a:r>
          </a:p>
        </p:txBody>
      </p:sp>
      <p:sp>
        <p:nvSpPr>
          <p:cNvPr id="321" name="ANUARIO_REFERENCIA_2024_P2_L163"/>
          <p:cNvSpPr txBox="1"/>
          <p:nvPr/>
        </p:nvSpPr>
        <p:spPr>
          <a:xfrm>
            <a:off x="4839301" y="3840723"/>
            <a:ext cx="28954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SOBRE DISPONIBILIDAD Y USO DE TECNOLOGÍAS DE LA INFORMACIÓN </a:t>
            </a:r>
          </a:p>
        </p:txBody>
      </p:sp>
      <p:sp>
        <p:nvSpPr>
          <p:cNvPr id="322" name="ANUARIO_REFERENCIA_2024_P2_L164"/>
          <p:cNvSpPr txBox="1"/>
          <p:nvPr/>
        </p:nvSpPr>
        <p:spPr>
          <a:xfrm>
            <a:off x="4839321" y="3893996"/>
            <a:ext cx="23189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(ENDUTIH) 2023, PARTICULARIDADES METODOLÓGICAS </a:t>
            </a:r>
          </a:p>
        </p:txBody>
      </p:sp>
      <p:sp>
        <p:nvSpPr>
          <p:cNvPr id="323" name="ANUARIO_REFERENCIA_2024_P2_L165"/>
          <p:cNvSpPr txBox="1"/>
          <p:nvPr/>
        </p:nvSpPr>
        <p:spPr>
          <a:xfrm>
            <a:off x="7650676" y="3893996"/>
            <a:ext cx="19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127</a:t>
            </a:r>
          </a:p>
        </p:txBody>
      </p:sp>
      <p:sp>
        <p:nvSpPr>
          <p:cNvPr id="324" name="ANUARIO_REFERENCIA_2024_P2_L166"/>
          <p:cNvSpPr txBox="1"/>
          <p:nvPr/>
        </p:nvSpPr>
        <p:spPr>
          <a:xfrm>
            <a:off x="4839301" y="3956149"/>
            <a:ext cx="25682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DE OCUPACIÓN Y EMPLEO (ENOE), POBLACIÓN DE 15 AÑOS 
</a:t>
            </a:r>
          </a:p>
        </p:txBody>
      </p:sp>
      <p:sp>
        <p:nvSpPr>
          <p:cNvPr id="325" name="ANUARIO_REFERENCIA_2024_P2_L167"/>
          <p:cNvSpPr txBox="1"/>
          <p:nvPr/>
        </p:nvSpPr>
        <p:spPr>
          <a:xfrm>
            <a:off x="4839301" y="4009423"/>
            <a:ext cx="177175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Y MÁS DE EDAD, PARTICULARIDADES METODOLÓGICAS </a:t>
            </a:r>
          </a:p>
        </p:txBody>
      </p:sp>
      <p:sp>
        <p:nvSpPr>
          <p:cNvPr id="326" name="ANUARIO_REFERENCIA_2024_P2_L168"/>
          <p:cNvSpPr txBox="1"/>
          <p:nvPr/>
        </p:nvSpPr>
        <p:spPr>
          <a:xfrm>
            <a:off x="7648531" y="4009423"/>
            <a:ext cx="192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7" name="ANUARIO_REFERENCIA_2024_P2_L169"/>
          <p:cNvSpPr txBox="1"/>
          <p:nvPr/>
        </p:nvSpPr>
        <p:spPr>
          <a:xfrm>
            <a:off x="4839300" y="4071575"/>
            <a:ext cx="23215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PARTICULARIDADES METODOLÓGICAS </a:t>
            </a:r>
          </a:p>
        </p:txBody>
      </p:sp>
      <p:sp>
        <p:nvSpPr>
          <p:cNvPr id="328" name="ANUARIO_REFERENCIA_2024_P2_L170"/>
          <p:cNvSpPr txBox="1"/>
          <p:nvPr/>
        </p:nvSpPr>
        <p:spPr>
          <a:xfrm>
            <a:off x="7642655" y="4071575"/>
            <a:ext cx="1985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9" name="ANUARIO_REFERENCIA_2024_P2_L171"/>
          <p:cNvSpPr txBox="1"/>
          <p:nvPr/>
        </p:nvSpPr>
        <p:spPr>
          <a:xfrm>
            <a:off x="4716791" y="4143442"/>
            <a:ext cx="183254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IV. MÉTODOS DE CÁLCULO DE INDICADORES </a:t>
            </a:r>
          </a:p>
        </p:txBody>
      </p:sp>
      <p:sp>
        <p:nvSpPr>
          <p:cNvPr id="330" name="ANUARIO_REFERENCIA_2024_P2_L172"/>
          <p:cNvSpPr txBox="1"/>
          <p:nvPr/>
        </p:nvSpPr>
        <p:spPr>
          <a:xfrm>
            <a:off x="7627362" y="4143442"/>
            <a:ext cx="22932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129</a:t>
            </a:r>
          </a:p>
        </p:txBody>
      </p:sp>
      <p:pic>
        <p:nvPicPr>
          <p:cNvPr id="332" name="ANUARIO_BARRA_FONDO"/>
          <p:cNvPicPr>
            <a:picLocks noChangeAspect="1"/>
          </p:cNvPicPr>
          <p:nvPr/>
        </p:nvPicPr>
        <p:blipFill>
          <a:blip r:embed="rId4"/>
          <a:stretch/>
        </p:blipFill>
        <p:spPr>
          <a:xfrm>
            <a:off x="3378" y="0"/>
            <a:ext cx="9136888" cy="456844"/>
          </a:xfrm>
          <a:prstGeom prst="rect">
            <a:avLst/>
          </a:prstGeom>
        </p:spPr>
      </p:pic>
      <p:sp>
        <p:nvSpPr>
          <p:cNvPr id="333"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334" name="ANUARIO_BARRA_QR"/>
          <p:cNvPicPr>
            <a:picLocks noChangeAspect="1"/>
          </p:cNvPicPr>
          <p:nvPr/>
        </p:nvPicPr>
        <p:blipFill>
          <a:blip r:embed="rId5"/>
          <a:stretch/>
        </p:blipFill>
        <p:spPr>
          <a:xfrm>
            <a:off x="7810564" y="75961"/>
            <a:ext cx="304559" cy="304559"/>
          </a:xfrm>
          <a:prstGeom prst="rect">
            <a:avLst/>
          </a:prstGeom>
        </p:spPr>
      </p:pic>
      <p:pic>
        <p:nvPicPr>
          <p:cNvPr id="335" name="ANUARIO_BARRA_CRT"/>
          <p:cNvPicPr>
            <a:picLocks noChangeAspect="1"/>
          </p:cNvPicPr>
          <p:nvPr/>
        </p:nvPicPr>
        <p:blipFill>
          <a:blip r:embed="rId6"/>
          <a:stretch/>
        </p:blipFill>
        <p:spPr>
          <a:xfrm>
            <a:off x="8294782" y="75961"/>
            <a:ext cx="542115" cy="304559"/>
          </a:xfrm>
          <a:prstGeom prst="rect">
            <a:avLst/>
          </a:prstGeom>
        </p:spPr>
      </p:pic>
      <p:sp>
        <p:nvSpPr>
          <p:cNvPr id="336"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ÍNDICE</a:t>
            </a:r>
          </a:p>
        </p:txBody>
      </p:sp>
      <p:sp>
        <p:nvSpPr>
          <p:cNvPr id="337"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338" name="ANUARIO_BARRA_URL">
            <a:hlinkClick r:id="rId3"/>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8996" y="609904"/>
            <a:ext cx="3098901" cy="1426464"/>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8996" y="685800"/>
            <a:ext cx="38100" cy="1274673"/>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8996" y="2137867"/>
            <a:ext cx="3098901" cy="1275588"/>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8996" y="2213762"/>
            <a:ext cx="38100" cy="1123797"/>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2488996" y="3514953"/>
            <a:ext cx="3098901" cy="1361541"/>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2488996" y="3590848"/>
            <a:ext cx="38100" cy="1209751"/>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396" y="609904"/>
            <a:ext cx="3149193" cy="1627632"/>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396" y="685800"/>
            <a:ext cx="38100" cy="1475841"/>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396" y="2339035"/>
            <a:ext cx="3149193" cy="253746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396" y="2414930"/>
            <a:ext cx="38100" cy="2385669"/>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5568"/>
            <a:ext cx="1675180" cy="36758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300"/>
              </a:spcAft>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los artículos 10, fracción LVIII, y 276 de la Ley en Materia de Telecomunicaciones y Radiodifusión, así como por los artículos 38, fracción XI, y 52, fracciones III, V, XI y XII, del Reglamento Interior de la Comisión Reguladora de Telecomunicaciones, la Comisión Reguladora de Telecomunicaciones (CRT), órgano administrativo desconcentrado de la Agencia de Transformación Digital y Telecomunicaciones (ATDT), publica el presente Anuario Estadístico 2026, elaborado con información proporcionada por los operadores del sector de telecomunicaciones, así como con información publicada por el Instituto Nacional de Estadística y Geografía (INEGI), la Secretaría de Economía (SE) y el Consejo Nacional de Población (CONAPO).</a:t>
            </a:r>
          </a:p>
          <a:p xmlns:a="http://schemas.openxmlformats.org/drawingml/2006/main">
            <a:pPr>
              <a:lnSpc>
                <a:spcPct val="100000"/>
              </a:lnSpc>
              <a:spcBef>
                <a:spcPts val="0"/>
              </a:spcBef>
              <a:spcAft>
                <a:spcPts val="0"/>
              </a:spcAft>
            </a:pPr>
            <a:r>
              <a:rPr sz="700" b="0" i="0">
                <a:solidFill>
                  <a:srgbClr val="FFFFFF"/>
                </a:solidFill>
                <a:latin typeface="Noto Sans"/>
                <a:ea typeface="Noto Sans"/>
                <a:cs typeface="Noto Sans"/>
              </a:rPr>
              <a:t>La información presentada está sujeta a revisiones y modificaciones derivadas de las actualizaciones, aclaraciones o correcciones realizadas por los operadores respecto de las cifras previamente reportadas.</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7687"/>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48">
                <a:solidFill>
                  <a:srgbClr val="263632"/>
                </a:solidFill>
                <a:latin typeface="Noto Sans"/>
                <a:ea typeface="Noto Sans"/>
                <a:cs typeface="Noto Sans"/>
              </a:defRPr>
            </a:pPr>
            <a:r>
              <a:rPr sz="748" b="1" i="0">
                <a:solidFill>
                  <a:srgbClr val="1A4043"/>
                </a:solidFill>
                <a:latin typeface="Noto Sans"/>
                <a:ea typeface="Noto Sans"/>
                <a:cs typeface="Noto Sans"/>
              </a:rPr>
              <a:t>Personas usuarias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86968"/>
            <a:ext cx="2946400" cy="1060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300"/>
              </a:spcAft>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el análisis de los niveles de satisfacción, patrones de consumo y experiencias de las personas usuarias de los servicios de Internet fijo, telefonía fija, televisión restringida, telefonía móvil e Internet móvil, se utilizó la “Segunda Encuesta 2025. Personas Usuarias de Servicios de Telecomunicaciones”, elaborada con información recopilada durante 2024.</a:t>
            </a:r>
          </a:p>
          <a:p xmlns:a="http://schemas.openxmlformats.org/drawingml/2006/main">
            <a:pPr>
              <a:lnSpc>
                <a:spcPct val="100000"/>
              </a:lnSpc>
              <a:spcBef>
                <a:spcPts val="0"/>
              </a:spcBef>
              <a:spcAft>
                <a:spcPts val="0"/>
              </a:spcAft>
            </a:pPr>
            <a:r>
              <a:rPr sz="600" b="0" i="0">
                <a:solidFill>
                  <a:srgbClr val="26312F"/>
                </a:solidFill>
                <a:latin typeface="Noto Sans"/>
                <a:ea typeface="Noto Sans"/>
                <a:cs typeface="Noto Sans"/>
              </a:rPr>
              <a:t>Asimismo, se incorporaron resultados de la “Cuarta Encuesta 2024. Personas Usuarias de Servicios de Telecomunicaciones”, relativos a la contratación, utilización y percepción de los servicios de telecomunicaciones y tecnologías de la información y comunicación por parte de las micro, pequeñas y medianas empresas (MiPyMEs), así como su contribución a las actividades productivas y comerciales.</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2229307"/>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2414016"/>
            <a:ext cx="2946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“Tecnologías de la Información y Comunicación (TIC)” se utilizó información de la “Encuesta Nacional sobre Disponibilidad y Uso de Tecnologías de la Información en los Hogares (ENDUTIH) 2025”, publicada por el Instituto Nacional de Estadística y Geografía (INEGI), con el propósito de analizar la disponibilidad de las TIC en los hogares, el uso de teléfonos celulares inteligentes (</a:t>
            </a:r>
            <a:r>
              <a:rPr sz="600" b="0" i="1">
                <a:solidFill>
                  <a:srgbClr val="26312F"/>
                </a:solidFill>
                <a:latin typeface="Noto Sans"/>
                <a:ea typeface="Noto Sans"/>
                <a:cs typeface="Noto Sans"/>
              </a:rPr>
              <a:t>smartphones</a:t>
            </a:r>
            <a:r>
              <a:rPr sz="600" b="0" i="0">
                <a:solidFill>
                  <a:srgbClr val="26312F"/>
                </a:solidFill>
                <a:latin typeface="Noto Sans"/>
                <a:ea typeface="Noto Sans"/>
                <a:cs typeface="Noto Sans"/>
              </a:rPr>
              <a:t>) e Internet por grupos de edad, el tiempo promedio de uso de Internet y la utilización de dispositivos inteligentes conectados a la red, así como los patrones de uso y las actividades que realizan las personas usuarias mediante estas tecnologías.</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2615184" y="360639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2615184" y="3791102"/>
            <a:ext cx="2946400"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300"/>
              </a:spcAft>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“Indicadores con perspectiva de género” se elaboró con información de la “Encuesta Nacional sobre Disponibilidad y Uso de Tecnologías de la Información en los Hogares (ENDUTIH) 2025”, la “Encuesta Nacional de Ocupación y Empleo (ENOE) 2026” y el “Módulo sobre Ciberacoso (MOCIBA) 2025”, publicados por el Instituto Nacional de Estadística y Geografía (INEGI), así como de la “Segunda Encuesta 2025. Personas Usuarias de Servicios de Telecomunicaciones”.</a:t>
            </a:r>
          </a:p>
          <a:p xmlns:a="http://schemas.openxmlformats.org/drawingml/2006/main">
            <a:pPr>
              <a:lnSpc>
                <a:spcPct val="100000"/>
              </a:lnSpc>
              <a:spcBef>
                <a:spcPts val="0"/>
              </a:spcBef>
              <a:spcAft>
                <a:spcPts val="0"/>
              </a:spcAft>
            </a:pPr>
            <a:r>
              <a:rPr sz="600" b="0" i="0">
                <a:solidFill>
                  <a:srgbClr val="26312F"/>
                </a:solidFill>
                <a:latin typeface="Noto Sans"/>
                <a:ea typeface="Noto Sans"/>
                <a:cs typeface="Noto Sans"/>
              </a:rPr>
              <a:t>Estas fuentes permiten analizar las diferencias por sexo en el acceso y uso de las tecnologías de la información y comunicación, la participación laboral en los sectores de telecomunicaciones y radiodifusión, las experiencias de ciberacoso y las medidas de prevención y protección adoptadas por las personas usuarias.</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697687"/>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886968"/>
            <a:ext cx="2946400" cy="1261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300"/>
              </a:spcAft>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“Panorama de consumo de televisión y radio” se elaboró con información de medición de audiencias de televisión y radio proporcionada por Nielsen IBOPE México, S.A. de C.V., e Investigación de Mercados INRA, S.C., respectivamente, a partir de estudios realizados mediante metodologías de muestreo estadístico.</a:t>
            </a:r>
          </a:p>
          <a:p xmlns:a="http://schemas.openxmlformats.org/drawingml/2006/main">
            <a:pPr>
              <a:lnSpc>
                <a:spcPct val="100000"/>
              </a:lnSpc>
              <a:spcBef>
                <a:spcPts val="0"/>
              </a:spcBef>
              <a:spcAft>
                <a:spcPts val="0"/>
              </a:spcAft>
            </a:pPr>
            <a:r>
              <a:rPr sz="600" b="0" i="0">
                <a:solidFill>
                  <a:srgbClr val="26312F"/>
                </a:solidFill>
                <a:latin typeface="Noto Sans"/>
                <a:ea typeface="Noto Sans"/>
                <a:cs typeface="Noto Sans"/>
              </a:rPr>
              <a:t>Los indicadores permiten analizar los niveles de audiencia, los horarios de mayor consumo y los patrones de exposición a estos medios de comunicación en las ciudades comprendidas en las respectivas mediciones. Debido a la naturaleza muestral de las fuentes, los resultados deben interpretarse como estimaciones estadísticas, considerando sus características metodológicas, cobertura geográfica y periodos de referencia. Para su adecuada interpretación, se recomienda consultar el Anexo II. Definiciones y el Anexo III. Metodologías.</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430475"/>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615184"/>
            <a:ext cx="2946400" cy="21762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300"/>
              </a:spcAft>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sobre audiencias de televisión presentada en este Anuario se elaboró a partir de las bases de datos de Nielsen IBOPE México, S.A. de C.V., conforme a los términos y condiciones de los instrumentos contractuales correspondientes.</a:t>
            </a:r>
          </a:p>
          <a:p xmlns:a="http://schemas.openxmlformats.org/drawingml/2006/main">
            <a:pPr>
              <a:lnSpc>
                <a:spcPct val="100000"/>
              </a:lnSpc>
              <a:spcBef>
                <a:spcPts val="0"/>
              </a:spcBef>
              <a:spcAft>
                <a:spcPts val="300"/>
              </a:spcAft>
            </a:pPr>
            <a:r>
              <a:rPr sz="600" b="0" i="0">
                <a:solidFill>
                  <a:srgbClr val="26312F"/>
                </a:solidFill>
                <a:latin typeface="Noto Sans"/>
                <a:ea typeface="Noto Sans"/>
                <a:cs typeface="Noto Sans"/>
              </a:rPr>
              <a:t>Los indicadores y análisis derivados de dichas bases de datos se presentan con fines estadísticos y de información pública. Sus resultados deben interpretarse considerando las características metodológicas de la medición, los periodos de referencia, la cobertura geográfica y los posibles cambios en los patrones de consumo de televisión.</a:t>
            </a:r>
          </a:p>
          <a:p xmlns:a="http://schemas.openxmlformats.org/drawingml/2006/main">
            <a:pPr>
              <a:lnSpc>
                <a:spcPct val="100000"/>
              </a:lnSpc>
              <a:spcBef>
                <a:spcPts val="0"/>
              </a:spcBef>
              <a:spcAft>
                <a:spcPts val="300"/>
              </a:spcAft>
            </a:pPr>
            <a:r>
              <a:rPr sz="600" b="0" i="0">
                <a:solidFill>
                  <a:srgbClr val="26312F"/>
                </a:solidFill>
                <a:latin typeface="Noto Sans"/>
                <a:ea typeface="Noto Sans"/>
                <a:cs typeface="Noto Sans"/>
              </a:rPr>
              <a:t>La Comisión Reguladora de Telecomunicaciones (CRT) recomienda que, al analizar o comparar los resultados publicados, se consideren las diferencias metodológicas y las condiciones del mercado televisivo correspondientes a cada periodo.</a:t>
            </a:r>
          </a:p>
          <a:p xmlns:a="http://schemas.openxmlformats.org/drawingml/2006/main">
            <a:pPr>
              <a:lnSpc>
                <a:spcPct val="100000"/>
              </a:lnSpc>
              <a:spcBef>
                <a:spcPts val="0"/>
              </a:spcBef>
              <a:spcAft>
                <a:spcPts val="0"/>
              </a:spcAft>
            </a:pPr>
            <a:r>
              <a:rPr sz="600" b="0" i="0">
                <a:solidFill>
                  <a:srgbClr val="26312F"/>
                </a:solidFill>
                <a:latin typeface="Noto Sans"/>
                <a:ea typeface="Noto Sans"/>
                <a:cs typeface="Noto Sans"/>
              </a:rPr>
              <a:t>Las interpretaciones, conclusiones o inferencias realizadas por terceras personas a partir de la información publicada son responsabilidad de quienes las formulen y no representan necesariamente la posición institucional de la CRT.</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pic>
        <p:nvPicPr>
          <p:cNvPr id="126"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7"/>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127"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8" name="ANUARIO_BARRA_QR"/>
          <p:cNvPicPr>
            <a:picLocks xmlns:a="http://schemas.openxmlformats.org/drawingml/2006/main" noChangeAspect="1"/>
          </p:cNvPicPr>
          <p:nvPr/>
        </p:nvPicPr>
        <p:blipFill>
          <a:blip xmlns:r="http://schemas.openxmlformats.org/officeDocument/2006/relationships" xmlns:a="http://schemas.openxmlformats.org/drawingml/2006/main" r:embed="rId8"/>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9" name="ANUARIO_BARRA_CRT"/>
          <p:cNvPicPr>
            <a:picLocks xmlns:a="http://schemas.openxmlformats.org/drawingml/2006/main" noChangeAspect="1"/>
          </p:cNvPicPr>
          <p:nvPr/>
        </p:nvPicPr>
        <p:blipFill>
          <a:blip xmlns:r="http://schemas.openxmlformats.org/officeDocument/2006/relationships" xmlns:a="http://schemas.openxmlformats.org/drawingml/2006/main" r:embed="rId9"/>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130"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31"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132" name="ANUARIO_BARRA_URL">
            <a:hlinkClick xmlns:r="http://schemas.openxmlformats.org/officeDocument/2006/relationships" xmlns:a="http://schemas.openxmlformats.org/drawingml/2006/main" r:id="R5b60e0be82104cba"/>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569216563"/>
      </p:ext>
    </p:extLst>
  </p:cSld>
</p:sld>
</file>

<file path=ppt/slides/slide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53ec0800dab470a"/>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sp>
        <p:nvSpPr>
          <p:cNvPr id="8" name="GLOSARIO_LATERAL_RECTO">
            <a:extLst xmlns:a="http://schemas.openxmlformats.org/drawingml/2006/main">
              <a:ext uri="{FF2B5EF4-FFF2-40B4-BE49-F238E27FC236}">
                <a16:creationId xmlns:a16="http://schemas.microsoft.com/office/drawing/2014/main" id="{699C2FCA-C9C4-4AF6-ABA6-D6F2BFCD49D1}"/>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0AC81507-881F-4EDF-BB67-8DF3A81185E3}"/>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5f7ecf3039b54788"/>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ca2af74a4db24cd7">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0E6172A9-F67F-4B8E-90F9-C32B5388C9C6}"/>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141D10EE-5C75-47C0-B92C-5F63A861D14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7eda56c66264122">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1A92E49E-789C-4286-A024-BA5584A5F2A8}"/>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0C260FF1-6926-4D51-98D7-271F4E65104F}"/>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0598c2e78d6345bf">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8" name="ANUARIO_GLOSARIO_DESIGN_2026">
            <a:extLst xmlns:a="http://schemas.openxmlformats.org/drawingml/2006/main">
              <a:ext uri="{FF2B5EF4-FFF2-40B4-BE49-F238E27FC236}">
                <a16:creationId xmlns:a16="http://schemas.microsoft.com/office/drawing/2014/main" id="{48BA1C1B-8330-4327-9FCE-B139C29FE229}"/>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19" name="GLOSARIO_DIVISOR_COLUMNAS">
            <a:extLst xmlns:a="http://schemas.openxmlformats.org/drawingml/2006/main">
              <a:ext uri="{FF2B5EF4-FFF2-40B4-BE49-F238E27FC236}">
                <a16:creationId xmlns:a16="http://schemas.microsoft.com/office/drawing/2014/main" id="{98822660-0FB6-438D-AE91-8F863314B2FC}"/>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0" name="GLOSARIO_left_1_1">
            <a:extLst xmlns:a="http://schemas.openxmlformats.org/drawingml/2006/main">
              <a:ext uri="{FF2B5EF4-FFF2-40B4-BE49-F238E27FC236}">
                <a16:creationId xmlns:a16="http://schemas.microsoft.com/office/drawing/2014/main" id="{D2E84C62-40C7-4290-8F1D-BDCC6C2944DD}"/>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ARPU: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promedio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suscriptor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Average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Revenue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User</a:t>
            </a:r>
            <a:r>
              <a:rPr sz="720" b="0" i="0">
                <a:solidFill>
                  <a:srgbClr val="263632"/>
                </a:solidFill>
                <a:latin typeface="Noto Sans"/>
                <a:ea typeface="Noto Sans"/>
                <a:cs typeface="Noto Sans"/>
              </a:rPr>
              <a:t>,</a:t>
            </a:r>
          </a:p>
        </p:txBody>
      </p:sp>
      <p:sp>
        <p:nvSpPr>
          <p:cNvPr id="21" name="GLOSARIO_left_1_2">
            <a:extLst xmlns:a="http://schemas.openxmlformats.org/drawingml/2006/main">
              <a:ext uri="{FF2B5EF4-FFF2-40B4-BE49-F238E27FC236}">
                <a16:creationId xmlns:a16="http://schemas.microsoft.com/office/drawing/2014/main" id="{30652296-330A-4FAC-A15A-D8FBCE001304}"/>
              </a:ext>
            </a:extLst>
          </p:cNvPr>
          <p:cNvSpPr>
            <a:spLocks xmlns:a="http://schemas.openxmlformats.org/drawingml/2006/main" noGrp="1"/>
          </p:cNvSpPr>
          <p:nvPr/>
        </p:nvSpPr>
        <p:spPr>
          <a:xfrm xmlns:a="http://schemas.openxmlformats.org/drawingml/2006/main">
            <a:off x="2742844"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ARPU)</a:t>
            </a:r>
          </a:p>
        </p:txBody>
      </p:sp>
      <p:sp>
        <p:nvSpPr>
          <p:cNvPr id="22" name="GLOSARIO_left_2_1">
            <a:extLst xmlns:a="http://schemas.openxmlformats.org/drawingml/2006/main">
              <a:ext uri="{FF2B5EF4-FFF2-40B4-BE49-F238E27FC236}">
                <a16:creationId xmlns:a16="http://schemas.microsoft.com/office/drawing/2014/main" id="{071C1390-31F8-4B69-AAD9-43F652A30DFB}"/>
              </a:ext>
            </a:extLst>
          </p:cNvPr>
          <p:cNvSpPr>
            <a:spLocks xmlns:a="http://schemas.openxmlformats.org/drawingml/2006/main" noGrp="1"/>
          </p:cNvSpPr>
          <p:nvPr/>
        </p:nvSpPr>
        <p:spPr>
          <a:xfrm xmlns:a="http://schemas.openxmlformats.org/drawingml/2006/main">
            <a:off x="2742844" y="1734820"/>
            <a:ext cx="28829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20">
                <a:solidFill>
                  <a:srgbClr val="263632"/>
                </a:solidFill>
                <a:latin typeface="Noto Sans"/>
                <a:ea typeface="Noto Sans"/>
                <a:cs typeface="Noto Sans"/>
              </a:defRPr>
            </a:pPr>
            <a:r>
              <a:rPr sz="720" b="1" i="0">
                <a:solidFill>
                  <a:srgbClr val="153B3C"/>
                </a:solidFill>
                <a:latin typeface="Noto Sans"/>
                <a:ea typeface="Noto Sans"/>
                <a:cs typeface="Noto Sans"/>
              </a:rPr>
              <a:t>GEMINI:</a:t>
            </a:r>
            <a:r>
              <a:rPr sz="720" b="0" i="0">
                <a:solidFill>
                  <a:srgbClr val="153B3C"/>
                </a:solidFill>
                <a:latin typeface="Noto Sans"/>
                <a:ea typeface="Noto Sans"/>
                <a:cs typeface="Noto Sans"/>
              </a:rPr>
              <a:t> Asistente de inteligencia artificial generativa de Google para responder preguntas y crear contenido.</a:t>
            </a:r>
          </a:p>
        </p:txBody>
      </p:sp>
      <p:sp>
        <p:nvSpPr>
          <p:cNvPr id="24" name="GLOSARIO_left_3_1">
            <a:extLst xmlns:a="http://schemas.openxmlformats.org/drawingml/2006/main">
              <a:ext uri="{FF2B5EF4-FFF2-40B4-BE49-F238E27FC236}">
                <a16:creationId xmlns:a16="http://schemas.microsoft.com/office/drawing/2014/main" id="{78C9500A-426C-4134-A665-7DDE8E460DD7}"/>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BEAUTIFUL.AI: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Herramienta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presentación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p>
        </p:txBody>
      </p:sp>
      <p:sp>
        <p:nvSpPr>
          <p:cNvPr id="25" name="GLOSARIO_left_3_2">
            <a:extLst xmlns:a="http://schemas.openxmlformats.org/drawingml/2006/main">
              <a:ext uri="{FF2B5EF4-FFF2-40B4-BE49-F238E27FC236}">
                <a16:creationId xmlns:a16="http://schemas.microsoft.com/office/drawing/2014/main" id="{113D92FC-BFBB-4B46-89CF-860F59A582EC}"/>
              </a:ext>
            </a:extLst>
          </p:cNvPr>
          <p:cNvSpPr>
            <a:spLocks xmlns:a="http://schemas.openxmlformats.org/drawingml/2006/main" noGrp="1"/>
          </p:cNvSpPr>
          <p:nvPr/>
        </p:nvSpPr>
        <p:spPr>
          <a:xfrm xmlns:a="http://schemas.openxmlformats.org/drawingml/2006/main">
            <a:off x="2742844" y="21590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Artificial</a:t>
            </a:r>
          </a:p>
        </p:txBody>
      </p:sp>
      <p:sp>
        <p:nvSpPr>
          <p:cNvPr id="26" name="GLOSARIO_left_4_1">
            <a:extLst xmlns:a="http://schemas.openxmlformats.org/drawingml/2006/main">
              <a:ext uri="{FF2B5EF4-FFF2-40B4-BE49-F238E27FC236}">
                <a16:creationId xmlns:a16="http://schemas.microsoft.com/office/drawing/2014/main" id="{A623A67D-3CA0-48C2-BC55-A11A4C8EEFB7}"/>
              </a:ext>
            </a:extLst>
          </p:cNvPr>
          <p:cNvSpPr>
            <a:spLocks xmlns:a="http://schemas.openxmlformats.org/drawingml/2006/main" noGrp="1"/>
          </p:cNvSpPr>
          <p:nvPr/>
        </p:nvSpPr>
        <p:spPr>
          <a:xfrm xmlns:a="http://schemas.openxmlformats.org/drawingml/2006/main">
            <a:off x="2742844" y="23596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BIT: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Banco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27" name="GLOSARIO_left_5_1">
            <a:extLst xmlns:a="http://schemas.openxmlformats.org/drawingml/2006/main">
              <a:ext uri="{FF2B5EF4-FFF2-40B4-BE49-F238E27FC236}">
                <a16:creationId xmlns:a16="http://schemas.microsoft.com/office/drawing/2014/main" id="{39A0E94F-063D-4270-8C59-957AA6D65884}"/>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BRAND24:</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Software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monitorear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identificar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eventos</a:t>
            </a:r>
          </a:p>
        </p:txBody>
      </p:sp>
      <p:sp>
        <p:nvSpPr>
          <p:cNvPr id="28" name="GLOSARIO_left_5_2">
            <a:extLst xmlns:a="http://schemas.openxmlformats.org/drawingml/2006/main">
              <a:ext uri="{FF2B5EF4-FFF2-40B4-BE49-F238E27FC236}">
                <a16:creationId xmlns:a16="http://schemas.microsoft.com/office/drawing/2014/main" id="{0914911E-23EA-45D3-8B23-C5CF11DE2D54}"/>
              </a:ext>
            </a:extLst>
          </p:cNvPr>
          <p:cNvSpPr>
            <a:spLocks xmlns:a="http://schemas.openxmlformats.org/drawingml/2006/main" noGrp="1"/>
          </p:cNvSpPr>
          <p:nvPr/>
        </p:nvSpPr>
        <p:spPr>
          <a:xfrm xmlns:a="http://schemas.openxmlformats.org/drawingml/2006/main">
            <a:off x="2742844" y="26720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relacionados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p>
        </p:txBody>
      </p:sp>
      <p:sp>
        <p:nvSpPr>
          <p:cNvPr id="29" name="GLOSARIO_left_6_1">
            <a:extLst xmlns:a="http://schemas.openxmlformats.org/drawingml/2006/main">
              <a:ext uri="{FF2B5EF4-FFF2-40B4-BE49-F238E27FC236}">
                <a16:creationId xmlns:a16="http://schemas.microsoft.com/office/drawing/2014/main" id="{D2C5D36A-B9F7-4821-86A5-0F9149E4AFA0}"/>
              </a:ext>
            </a:extLst>
          </p:cNvPr>
          <p:cNvSpPr>
            <a:spLocks xmlns:a="http://schemas.openxmlformats.org/drawingml/2006/main" noGrp="1"/>
          </p:cNvSpPr>
          <p:nvPr/>
        </p:nvSpPr>
        <p:spPr>
          <a:xfrm xmlns:a="http://schemas.openxmlformats.org/drawingml/2006/main">
            <a:off x="2742844" y="28727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CANVA: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Web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diseño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gráfico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imágenes</a:t>
            </a:r>
          </a:p>
        </p:txBody>
      </p:sp>
      <p:sp>
        <p:nvSpPr>
          <p:cNvPr id="30" name="GLOSARIO_left_7_1">
            <a:extLst xmlns:a="http://schemas.openxmlformats.org/drawingml/2006/main">
              <a:ext uri="{FF2B5EF4-FFF2-40B4-BE49-F238E27FC236}">
                <a16:creationId xmlns:a16="http://schemas.microsoft.com/office/drawing/2014/main" id="{B6202D1B-723D-482A-8CB6-6F8BA8F3E10D}"/>
              </a:ext>
            </a:extLst>
          </p:cNvPr>
          <p:cNvSpPr>
            <a:spLocks xmlns:a="http://schemas.openxmlformats.org/drawingml/2006/main" noGrp="1"/>
          </p:cNvSpPr>
          <p:nvPr/>
        </p:nvSpPr>
        <p:spPr>
          <a:xfrm xmlns:a="http://schemas.openxmlformats.org/drawingml/2006/main">
            <a:off x="2742844" y="3073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CONAPO: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Consejo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p>
        </p:txBody>
      </p:sp>
      <p:sp>
        <p:nvSpPr>
          <p:cNvPr id="31" name="GLOSARIO_left_8_1">
            <a:extLst xmlns:a="http://schemas.openxmlformats.org/drawingml/2006/main">
              <a:ext uri="{FF2B5EF4-FFF2-40B4-BE49-F238E27FC236}">
                <a16:creationId xmlns:a16="http://schemas.microsoft.com/office/drawing/2014/main" id="{704296A2-A02D-4998-8265-C9E12157DEC3}"/>
              </a:ext>
            </a:extLst>
          </p:cNvPr>
          <p:cNvSpPr>
            <a:spLocks xmlns:a="http://schemas.openxmlformats.org/drawingml/2006/main" noGrp="1"/>
          </p:cNvSpPr>
          <p:nvPr/>
        </p:nvSpPr>
        <p:spPr>
          <a:xfrm xmlns:a="http://schemas.openxmlformats.org/drawingml/2006/main">
            <a:off x="2742844" y="3274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20">
                <a:solidFill>
                  <a:srgbClr val="263632"/>
                </a:solidFill>
                <a:latin typeface="Noto Sans"/>
                <a:ea typeface="Noto Sans"/>
                <a:cs typeface="Noto Sans"/>
              </a:defRPr>
            </a:pPr>
            <a:r>
              <a:rPr sz="720" b="1" i="0">
                <a:solidFill>
                  <a:srgbClr val="153B3C"/>
                </a:solidFill>
                <a:latin typeface="Noto Sans"/>
                <a:ea typeface="Noto Sans"/>
                <a:cs typeface="Noto Sans"/>
              </a:rPr>
              <a:t>DGP:</a:t>
            </a:r>
            <a:r>
              <a:rPr sz="720" b="0" i="0">
                <a:solidFill>
                  <a:srgbClr val="153B3C"/>
                </a:solidFill>
                <a:latin typeface="Noto Sans"/>
                <a:ea typeface="Noto Sans"/>
                <a:cs typeface="Noto Sans"/>
              </a:rPr>
              <a:t> Dirección General de Planeación</a:t>
            </a:r>
          </a:p>
        </p:txBody>
      </p:sp>
      <p:sp>
        <p:nvSpPr>
          <p:cNvPr id="32" name="GLOSARIO_left_9_1">
            <a:extLst xmlns:a="http://schemas.openxmlformats.org/drawingml/2006/main">
              <a:ext uri="{FF2B5EF4-FFF2-40B4-BE49-F238E27FC236}">
                <a16:creationId xmlns:a16="http://schemas.microsoft.com/office/drawing/2014/main" id="{4D97EECB-4D8F-48E3-90A5-9E7B2E336241}"/>
              </a:ext>
            </a:extLst>
          </p:cNvPr>
          <p:cNvSpPr>
            <a:spLocks xmlns:a="http://schemas.openxmlformats.org/drawingml/2006/main" noGrp="1"/>
          </p:cNvSpPr>
          <p:nvPr/>
        </p:nvSpPr>
        <p:spPr>
          <a:xfrm xmlns:a="http://schemas.openxmlformats.org/drawingml/2006/main">
            <a:off x="2742844" y="34747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Política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a:t>
            </a:r>
          </a:p>
        </p:txBody>
      </p:sp>
      <p:sp>
        <p:nvSpPr>
          <p:cNvPr id="33" name="GLOSARIO_left_10_1">
            <a:extLst xmlns:a="http://schemas.openxmlformats.org/drawingml/2006/main">
              <a:ext uri="{FF2B5EF4-FFF2-40B4-BE49-F238E27FC236}">
                <a16:creationId xmlns:a16="http://schemas.microsoft.com/office/drawing/2014/main" id="{792FAAF8-9AC2-4CBA-B81B-54B850F3F4B7}"/>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CHATGPT: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generativo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pre-entrenado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Chat</a:t>
            </a:r>
          </a:p>
        </p:txBody>
      </p:sp>
      <p:sp>
        <p:nvSpPr>
          <p:cNvPr id="34" name="GLOSARIO_left_10_2">
            <a:extLst xmlns:a="http://schemas.openxmlformats.org/drawingml/2006/main">
              <a:ext uri="{FF2B5EF4-FFF2-40B4-BE49-F238E27FC236}">
                <a16:creationId xmlns:a16="http://schemas.microsoft.com/office/drawing/2014/main" id="{5E005B0F-6756-43CD-902B-628938E1FF63}"/>
              </a:ext>
            </a:extLst>
          </p:cNvPr>
          <p:cNvSpPr>
            <a:spLocks xmlns:a="http://schemas.openxmlformats.org/drawingml/2006/main" noGrp="1"/>
          </p:cNvSpPr>
          <p:nvPr/>
        </p:nvSpPr>
        <p:spPr>
          <a:xfrm xmlns:a="http://schemas.openxmlformats.org/drawingml/2006/main">
            <a:off x="2742844" y="3787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Generative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Pre-Trained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5" name="GLOSARIO_left_11_1">
            <a:extLst xmlns:a="http://schemas.openxmlformats.org/drawingml/2006/main">
              <a:ext uri="{FF2B5EF4-FFF2-40B4-BE49-F238E27FC236}">
                <a16:creationId xmlns:a16="http://schemas.microsoft.com/office/drawing/2014/main" id="{56321304-CD8C-4028-9F86-45BE92FCDC6E}"/>
              </a:ext>
            </a:extLst>
          </p:cNvPr>
          <p:cNvSpPr>
            <a:spLocks xmlns:a="http://schemas.openxmlformats.org/drawingml/2006/main" noGrp="1"/>
          </p:cNvSpPr>
          <p:nvPr/>
        </p:nvSpPr>
        <p:spPr>
          <a:xfrm xmlns:a="http://schemas.openxmlformats.org/drawingml/2006/main">
            <a:off x="2742844" y="3987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DENUE: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Directorio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36" name="GLOSARIO_left_12_1">
            <a:extLst xmlns:a="http://schemas.openxmlformats.org/drawingml/2006/main">
              <a:ext uri="{FF2B5EF4-FFF2-40B4-BE49-F238E27FC236}">
                <a16:creationId xmlns:a16="http://schemas.microsoft.com/office/drawing/2014/main" id="{076C8C86-41EA-4950-98E3-1B2ACC5BE94A}"/>
              </a:ext>
            </a:extLst>
          </p:cNvPr>
          <p:cNvSpPr>
            <a:spLocks xmlns:a="http://schemas.openxmlformats.org/drawingml/2006/main" noGrp="1"/>
          </p:cNvSpPr>
          <p:nvPr/>
        </p:nvSpPr>
        <p:spPr>
          <a:xfrm xmlns:a="http://schemas.openxmlformats.org/drawingml/2006/main">
            <a:off x="2742844" y="41884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DSL: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Suscriber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Line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37" name="GLOSARIO_left_12_2">
            <a:extLst xmlns:a="http://schemas.openxmlformats.org/drawingml/2006/main">
              <a:ext uri="{FF2B5EF4-FFF2-40B4-BE49-F238E27FC236}">
                <a16:creationId xmlns:a16="http://schemas.microsoft.com/office/drawing/2014/main" id="{4C2B7A6A-9BBA-4A0D-B1A9-E321CF251DA1}"/>
              </a:ext>
            </a:extLst>
          </p:cNvPr>
          <p:cNvSpPr>
            <a:spLocks xmlns:a="http://schemas.openxmlformats.org/drawingml/2006/main" noGrp="1"/>
          </p:cNvSpPr>
          <p:nvPr/>
        </p:nvSpPr>
        <p:spPr>
          <a:xfrm xmlns:a="http://schemas.openxmlformats.org/drawingml/2006/main">
            <a:off x="2742844" y="4300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DSL)</a:t>
            </a:r>
          </a:p>
        </p:txBody>
      </p:sp>
      <p:sp>
        <p:nvSpPr>
          <p:cNvPr id="38" name="GLOSARIO_right_1_1">
            <a:extLst xmlns:a="http://schemas.openxmlformats.org/drawingml/2006/main">
              <a:ext uri="{FF2B5EF4-FFF2-40B4-BE49-F238E27FC236}">
                <a16:creationId xmlns:a16="http://schemas.microsoft.com/office/drawing/2014/main" id="{262187B2-9926-42D7-8E5C-92613FB92745}"/>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ENDUTIH: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Disponibilidad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DD04441E-F2E8-4281-BBF0-B179206D87BE}"/>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0" name="GLOSARIO_right_2_1">
            <a:extLst xmlns:a="http://schemas.openxmlformats.org/drawingml/2006/main">
              <a:ext uri="{FF2B5EF4-FFF2-40B4-BE49-F238E27FC236}">
                <a16:creationId xmlns:a16="http://schemas.microsoft.com/office/drawing/2014/main" id="{B3DE5079-6828-4F4E-A61B-3C86A4FD163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ENIGH: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Gastos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1" name="GLOSARIO_right_3_1">
            <a:extLst xmlns:a="http://schemas.openxmlformats.org/drawingml/2006/main">
              <a:ext uri="{FF2B5EF4-FFF2-40B4-BE49-F238E27FC236}">
                <a16:creationId xmlns:a16="http://schemas.microsoft.com/office/drawing/2014/main" id="{DF7A6659-582D-44F8-9C37-8ABAA85AF30F}"/>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ENOE: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Ocupación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Empleo</a:t>
            </a:r>
          </a:p>
        </p:txBody>
      </p:sp>
      <p:sp>
        <p:nvSpPr>
          <p:cNvPr id="42" name="GLOSARIO_right_4_1">
            <a:extLst xmlns:a="http://schemas.openxmlformats.org/drawingml/2006/main">
              <a:ext uri="{FF2B5EF4-FFF2-40B4-BE49-F238E27FC236}">
                <a16:creationId xmlns:a16="http://schemas.microsoft.com/office/drawing/2014/main" id="{29682737-2AB5-434B-B2DE-E4A98254AF89}"/>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43" name="GLOSARIO_right_5_1">
            <a:extLst xmlns:a="http://schemas.openxmlformats.org/drawingml/2006/main">
              <a:ext uri="{FF2B5EF4-FFF2-40B4-BE49-F238E27FC236}">
                <a16:creationId xmlns:a16="http://schemas.microsoft.com/office/drawing/2014/main" id="{DC9ABA5C-049E-49B6-8412-CCF28B603198}"/>
              </a:ext>
            </a:extLst>
          </p:cNvPr>
          <p:cNvSpPr>
            <a:spLocks xmlns:a="http://schemas.openxmlformats.org/drawingml/2006/main" noGrp="1"/>
          </p:cNvSpPr>
          <p:nvPr/>
        </p:nvSpPr>
        <p:spPr>
          <a:xfrm xmlns:a="http://schemas.openxmlformats.org/drawingml/2006/main">
            <a:off x="5852160" y="2336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BING:</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44" name="GLOSARIO_right_5_2">
            <a:extLst xmlns:a="http://schemas.openxmlformats.org/drawingml/2006/main">
              <a:ext uri="{FF2B5EF4-FFF2-40B4-BE49-F238E27FC236}">
                <a16:creationId xmlns:a16="http://schemas.microsoft.com/office/drawing/2014/main" id="{6BE13D77-88DC-4EC4-AFC1-E3CE5153B0ED}"/>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Microsoft</a:t>
            </a:r>
          </a:p>
        </p:txBody>
      </p:sp>
      <p:sp>
        <p:nvSpPr>
          <p:cNvPr id="45" name="GLOSARIO_right_6_1">
            <a:extLst xmlns:a="http://schemas.openxmlformats.org/drawingml/2006/main">
              <a:ext uri="{FF2B5EF4-FFF2-40B4-BE49-F238E27FC236}">
                <a16:creationId xmlns:a16="http://schemas.microsoft.com/office/drawing/2014/main" id="{D65AD992-3126-47BA-AF6A-FCD3378CE793}"/>
              </a:ext>
            </a:extLst>
          </p:cNvPr>
          <p:cNvSpPr>
            <a:spLocks xmlns:a="http://schemas.openxmlformats.org/drawingml/2006/main" noGrp="1"/>
          </p:cNvSpPr>
          <p:nvPr/>
        </p:nvSpPr>
        <p:spPr>
          <a:xfrm xmlns:a="http://schemas.openxmlformats.org/drawingml/2006/main">
            <a:off x="5852160" y="2649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Inversión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Extranjera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Directa</a:t>
            </a:r>
          </a:p>
        </p:txBody>
      </p:sp>
      <p:sp>
        <p:nvSpPr>
          <p:cNvPr id="46" name="GLOSARIO_right_7_1">
            <a:extLst xmlns:a="http://schemas.openxmlformats.org/drawingml/2006/main">
              <a:ext uri="{FF2B5EF4-FFF2-40B4-BE49-F238E27FC236}">
                <a16:creationId xmlns:a16="http://schemas.microsoft.com/office/drawing/2014/main" id="{11013531-D72E-4C79-99AF-2E4B4A927960}"/>
              </a:ext>
            </a:extLst>
          </p:cNvPr>
          <p:cNvSpPr>
            <a:spLocks xmlns:a="http://schemas.openxmlformats.org/drawingml/2006/main" noGrp="1"/>
          </p:cNvSpPr>
          <p:nvPr/>
        </p:nvSpPr>
        <p:spPr>
          <a:xfrm xmlns:a="http://schemas.openxmlformats.org/drawingml/2006/main">
            <a:off x="5852160" y="28498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IFT: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47" name="GLOSARIO_right_8_1">
            <a:extLst xmlns:a="http://schemas.openxmlformats.org/drawingml/2006/main">
              <a:ext uri="{FF2B5EF4-FFF2-40B4-BE49-F238E27FC236}">
                <a16:creationId xmlns:a16="http://schemas.microsoft.com/office/drawing/2014/main" id="{B710E0C1-BFFD-45A4-948A-7B4B9B5D2FD8}"/>
              </a:ext>
            </a:extLst>
          </p:cNvPr>
          <p:cNvSpPr>
            <a:spLocks xmlns:a="http://schemas.openxmlformats.org/drawingml/2006/main" noGrp="1"/>
          </p:cNvSpPr>
          <p:nvPr/>
        </p:nvSpPr>
        <p:spPr>
          <a:xfrm xmlns:a="http://schemas.openxmlformats.org/drawingml/2006/main">
            <a:off x="5852160" y="30505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IHH: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Herfindahl-Hirschman</a:t>
            </a:r>
          </a:p>
        </p:txBody>
      </p:sp>
      <p:sp>
        <p:nvSpPr>
          <p:cNvPr id="48" name="GLOSARIO_right_9_1">
            <a:extLst xmlns:a="http://schemas.openxmlformats.org/drawingml/2006/main">
              <a:ext uri="{FF2B5EF4-FFF2-40B4-BE49-F238E27FC236}">
                <a16:creationId xmlns:a16="http://schemas.microsoft.com/office/drawing/2014/main" id="{185579AF-B6FD-47BC-BDC9-B8845C5EB14C}"/>
              </a:ext>
            </a:extLst>
          </p:cNvPr>
          <p:cNvSpPr>
            <a:spLocks xmlns:a="http://schemas.openxmlformats.org/drawingml/2006/main" noGrp="1"/>
          </p:cNvSpPr>
          <p:nvPr/>
        </p:nvSpPr>
        <p:spPr>
          <a:xfrm xmlns:a="http://schemas.openxmlformats.org/drawingml/2006/main">
            <a:off x="5852160" y="32512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IMT: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Internacionales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International</a:t>
            </a:r>
          </a:p>
        </p:txBody>
      </p:sp>
      <p:sp>
        <p:nvSpPr>
          <p:cNvPr id="49" name="GLOSARIO_right_9_2">
            <a:extLst xmlns:a="http://schemas.openxmlformats.org/drawingml/2006/main">
              <a:ext uri="{FF2B5EF4-FFF2-40B4-BE49-F238E27FC236}">
                <a16:creationId xmlns:a16="http://schemas.microsoft.com/office/drawing/2014/main" id="{C766DF5A-C1D6-4863-9648-2A43E24D2E49}"/>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Mobile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Telecommunications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IMT)</a:t>
            </a:r>
          </a:p>
        </p:txBody>
      </p:sp>
      <p:sp>
        <p:nvSpPr>
          <p:cNvPr id="50" name="GLOSARIO_right_10_1">
            <a:extLst xmlns:a="http://schemas.openxmlformats.org/drawingml/2006/main">
              <a:ext uri="{FF2B5EF4-FFF2-40B4-BE49-F238E27FC236}">
                <a16:creationId xmlns:a16="http://schemas.microsoft.com/office/drawing/2014/main" id="{455CE990-BB99-4AC1-93DA-125FA333F9B5}"/>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INEGI: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Geografía</a:t>
            </a:r>
          </a:p>
        </p:txBody>
      </p:sp>
      <p:sp>
        <p:nvSpPr>
          <p:cNvPr id="51" name="GLOSARIO_right_11_1">
            <a:extLst xmlns:a="http://schemas.openxmlformats.org/drawingml/2006/main">
              <a:ext uri="{FF2B5EF4-FFF2-40B4-BE49-F238E27FC236}">
                <a16:creationId xmlns:a16="http://schemas.microsoft.com/office/drawing/2014/main" id="{E16CACFA-2675-4181-9BCF-F7A4524D0A4D}"/>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INPC: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Consumidor</a:t>
            </a:r>
          </a:p>
        </p:txBody>
      </p:sp>
      <p:sp>
        <p:nvSpPr>
          <p:cNvPr id="52" name="GLOSARIO_right_12_1">
            <a:extLst xmlns:a="http://schemas.openxmlformats.org/drawingml/2006/main">
              <a:ext uri="{FF2B5EF4-FFF2-40B4-BE49-F238E27FC236}">
                <a16:creationId xmlns:a16="http://schemas.microsoft.com/office/drawing/2014/main" id="{43849EA2-50D1-4DE7-A1F0-9C566B939AFF}"/>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IGS: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p>
        </p:txBody>
      </p:sp>
      <p:sp>
        <p:nvSpPr>
          <p:cNvPr id="53" name="GLOSARIO_right_13_1">
            <a:extLst xmlns:a="http://schemas.openxmlformats.org/drawingml/2006/main">
              <a:ext uri="{FF2B5EF4-FFF2-40B4-BE49-F238E27FC236}">
                <a16:creationId xmlns:a16="http://schemas.microsoft.com/office/drawing/2014/main" id="{B53140D2-AB35-45C3-81A7-3053494A0D2F}"/>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JASPER: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Biblioteca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escrita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Java</a:t>
            </a:r>
          </a:p>
        </p:txBody>
      </p:sp>
      <p:sp>
        <p:nvSpPr>
          <p:cNvPr id="54" name="ANUARIO_PAGE_NUMBER">
            <a:extLst xmlns:a="http://schemas.openxmlformats.org/drawingml/2006/main">
              <a:ext uri="{FF2B5EF4-FFF2-40B4-BE49-F238E27FC236}">
                <a16:creationId xmlns:a16="http://schemas.microsoft.com/office/drawing/2014/main" id="{7B8F292A-9186-46E0-AFD0-46B4CB4D3801}"/>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4</a:t>
            </a:r>
          </a:p>
        </p:txBody>
      </p:sp>
      <p:sp>
        <p:nvSpPr>
          <p:cNvPr id="55" name="ANUARIO_EDICION_PIE">
            <a:extLst xmlns:a="http://schemas.openxmlformats.org/drawingml/2006/main">
              <a:ext uri="{FF2B5EF4-FFF2-40B4-BE49-F238E27FC236}">
                <a16:creationId xmlns:a16="http://schemas.microsoft.com/office/drawing/2014/main" id="{D82C8C6F-147F-4FF7-AB40-49AE9A8337EB}"/>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pic>
        <p:nvPicPr>
          <p:cNvPr id="7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1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5" name="ANUARIO_BARRA_QR"/>
          <p:cNvPicPr>
            <a:picLocks xmlns:a="http://schemas.openxmlformats.org/drawingml/2006/main" noChangeAspect="1"/>
          </p:cNvPicPr>
          <p:nvPr/>
        </p:nvPicPr>
        <p:blipFill>
          <a:blip xmlns:r="http://schemas.openxmlformats.org/officeDocument/2006/relationships" xmlns:a="http://schemas.openxmlformats.org/drawingml/2006/main" r:embed="rId1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1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GLOSARIO</a:t>
            </a:r>
          </a:p>
        </p:txBody>
      </p:sp>
      <p:sp>
        <p:nvSpPr>
          <p:cNvPr id="7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79" name="ANUARIO_BARRA_URL">
            <a:hlinkClick xmlns:r="http://schemas.openxmlformats.org/officeDocument/2006/relationships" xmlns:a="http://schemas.openxmlformats.org/drawingml/2006/main" r:id="R063e77096b704b59"/>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272682934"/>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101691e18134900"/>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sp>
        <p:nvSpPr>
          <p:cNvPr id="8" name="GLOSARIO_LATERAL_RECTO">
            <a:extLst xmlns:a="http://schemas.openxmlformats.org/drawingml/2006/main">
              <a:ext uri="{FF2B5EF4-FFF2-40B4-BE49-F238E27FC236}">
                <a16:creationId xmlns:a16="http://schemas.microsoft.com/office/drawing/2014/main" id="{858539AE-EE15-457B-B081-2DEC2AF77BFE}"/>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EE342DF5-0EC0-4C3B-A5A4-C33EBE8E6B55}"/>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c151f4e85cd14391"/>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8e1ef3adc9d843cd">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EBEEC178-35EA-46FF-9731-E9C4AB9C384A}"/>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7AD70741-077A-4D91-981B-7C1DDA20B35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f9341f9b5c94c17">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52D0C20F-671D-481B-8FFF-B5E5F0AEEE52}"/>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83D1B68D-F8D4-4AF0-AB9B-52908CF1890B}"/>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sp>
        <p:nvSpPr>
          <p:cNvPr id="17" name="GLOSARIO_CONTINUACION">
            <a:extLst xmlns:a="http://schemas.openxmlformats.org/drawingml/2006/main">
              <a:ext uri="{FF2B5EF4-FFF2-40B4-BE49-F238E27FC236}">
                <a16:creationId xmlns:a16="http://schemas.microsoft.com/office/drawing/2014/main" id="{1D360054-6A45-445E-8BD1-88FFF2C08756}"/>
              </a:ext>
            </a:extLst>
          </p:cNvPr>
          <p:cNvSpPr>
            <a:spLocks xmlns:a="http://schemas.openxmlformats.org/drawingml/2006/main" noGrp="1"/>
          </p:cNvSpPr>
          <p:nvPr/>
        </p:nvSpPr>
        <p:spPr>
          <a:xfrm xmlns:a="http://schemas.openxmlformats.org/drawingml/2006/main">
            <a:off x="7493000" y="835660"/>
            <a:ext cx="1143000" cy="16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20">
                <a:solidFill>
                  <a:srgbClr val="263632"/>
                </a:solidFill>
                <a:latin typeface="Noto Sans"/>
                <a:ea typeface="Noto Sans"/>
                <a:cs typeface="Noto Sans"/>
              </a:defRPr>
            </a:pPr>
            <a:r>
              <a:rPr sz="720" b="0">
                <a:solidFill>
                  <a:srgbClr val="4A7D76"/>
                </a:solidFill>
                <a:latin typeface="Noto Sans"/>
                <a:ea typeface="Noto Sans"/>
                <a:cs typeface="Noto Sans"/>
              </a:rPr>
              <a:t>Continuación</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18bf096c142f478e">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9" name="ANUARIO_GLOSARIO_CONT_DESIGN_2026">
            <a:extLst xmlns:a="http://schemas.openxmlformats.org/drawingml/2006/main">
              <a:ext uri="{FF2B5EF4-FFF2-40B4-BE49-F238E27FC236}">
                <a16:creationId xmlns:a16="http://schemas.microsoft.com/office/drawing/2014/main" id="{4BF3652A-400F-48F3-912C-66C15ABAF386}"/>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20" name="GLOSARIO_DIVISOR_COLUMNAS">
            <a:extLst xmlns:a="http://schemas.openxmlformats.org/drawingml/2006/main">
              <a:ext uri="{FF2B5EF4-FFF2-40B4-BE49-F238E27FC236}">
                <a16:creationId xmlns:a16="http://schemas.microsoft.com/office/drawing/2014/main" id="{BC67FC0B-947D-41EB-B1C1-8824C1C0F915}"/>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GLOSARIO_left_1_1">
            <a:extLst xmlns:a="http://schemas.openxmlformats.org/drawingml/2006/main">
              <a:ext uri="{FF2B5EF4-FFF2-40B4-BE49-F238E27FC236}">
                <a16:creationId xmlns:a16="http://schemas.microsoft.com/office/drawing/2014/main" id="{0C2EF6C7-874B-49CA-AE72-E1B811AA1DD8}"/>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pequeñas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empresas</a:t>
            </a:r>
          </a:p>
        </p:txBody>
      </p:sp>
      <p:sp>
        <p:nvSpPr>
          <p:cNvPr id="22" name="GLOSARIO_left_2_1">
            <a:extLst xmlns:a="http://schemas.openxmlformats.org/drawingml/2006/main">
              <a:ext uri="{FF2B5EF4-FFF2-40B4-BE49-F238E27FC236}">
                <a16:creationId xmlns:a16="http://schemas.microsoft.com/office/drawing/2014/main" id="{253C5165-02D3-4863-8802-BAA3BF279B71}"/>
              </a:ext>
            </a:extLst>
          </p:cNvPr>
          <p:cNvSpPr>
            <a:spLocks xmlns:a="http://schemas.openxmlformats.org/drawingml/2006/main" noGrp="1"/>
          </p:cNvSpPr>
          <p:nvPr/>
        </p:nvSpPr>
        <p:spPr>
          <a:xfrm xmlns:a="http://schemas.openxmlformats.org/drawingml/2006/main">
            <a:off x="2742844" y="1623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ManyChat: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automatización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chatbots</a:t>
            </a:r>
          </a:p>
        </p:txBody>
      </p:sp>
      <p:sp>
        <p:nvSpPr>
          <p:cNvPr id="23" name="GLOSARIO_left_2_2">
            <a:extLst xmlns:a="http://schemas.openxmlformats.org/drawingml/2006/main">
              <a:ext uri="{FF2B5EF4-FFF2-40B4-BE49-F238E27FC236}">
                <a16:creationId xmlns:a16="http://schemas.microsoft.com/office/drawing/2014/main" id="{9FCF245C-A973-48AE-8FE9-80AF82A660C1}"/>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Facebook</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Messenger,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Instagram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WhatsApp</a:t>
            </a:r>
          </a:p>
        </p:txBody>
      </p:sp>
      <p:sp>
        <p:nvSpPr>
          <p:cNvPr id="24" name="GLOSARIO_left_3_1">
            <a:extLst xmlns:a="http://schemas.openxmlformats.org/drawingml/2006/main">
              <a:ext uri="{FF2B5EF4-FFF2-40B4-BE49-F238E27FC236}">
                <a16:creationId xmlns:a16="http://schemas.microsoft.com/office/drawing/2014/main" id="{A17C0660-9816-4186-BC8D-EE2D4F9A94D7}"/>
              </a:ext>
            </a:extLst>
          </p:cNvPr>
          <p:cNvSpPr>
            <a:spLocks xmlns:a="http://schemas.openxmlformats.org/drawingml/2006/main" noGrp="1"/>
          </p:cNvSpPr>
          <p:nvPr/>
        </p:nvSpPr>
        <p:spPr>
          <a:xfrm xmlns:a="http://schemas.openxmlformats.org/drawingml/2006/main">
            <a:off x="2742844"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IoT: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Cosas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Things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p>
        </p:txBody>
      </p:sp>
      <p:sp>
        <p:nvSpPr>
          <p:cNvPr id="25" name="GLOSARIO_left_3_2">
            <a:extLst xmlns:a="http://schemas.openxmlformats.org/drawingml/2006/main">
              <a:ext uri="{FF2B5EF4-FFF2-40B4-BE49-F238E27FC236}">
                <a16:creationId xmlns:a16="http://schemas.microsoft.com/office/drawing/2014/main" id="{C51E6591-8DB2-427A-B85F-C9509360D5C0}"/>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IoT)</a:t>
            </a:r>
          </a:p>
        </p:txBody>
      </p:sp>
      <p:sp>
        <p:nvSpPr>
          <p:cNvPr id="26" name="GLOSARIO_left_4_1">
            <a:extLst xmlns:a="http://schemas.openxmlformats.org/drawingml/2006/main">
              <a:ext uri="{FF2B5EF4-FFF2-40B4-BE49-F238E27FC236}">
                <a16:creationId xmlns:a16="http://schemas.microsoft.com/office/drawing/2014/main" id="{63B129E8-1914-4C4B-89AD-B753EB3FE9EC}"/>
              </a:ext>
            </a:extLst>
          </p:cNvPr>
          <p:cNvSpPr>
            <a:spLocks xmlns:a="http://schemas.openxmlformats.org/drawingml/2006/main" noGrp="1"/>
          </p:cNvSpPr>
          <p:nvPr/>
        </p:nvSpPr>
        <p:spPr>
          <a:xfrm xmlns:a="http://schemas.openxmlformats.org/drawingml/2006/main">
            <a:off x="2742844"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IPCOM: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Comunicaciones</a:t>
            </a:r>
          </a:p>
        </p:txBody>
      </p:sp>
      <p:sp>
        <p:nvSpPr>
          <p:cNvPr id="27" name="GLOSARIO_left_5_1">
            <a:extLst xmlns:a="http://schemas.openxmlformats.org/drawingml/2006/main">
              <a:ext uri="{FF2B5EF4-FFF2-40B4-BE49-F238E27FC236}">
                <a16:creationId xmlns:a16="http://schemas.microsoft.com/office/drawing/2014/main" id="{8946F43A-DD6B-4778-B592-6E027AC54E0D}"/>
              </a:ext>
            </a:extLst>
          </p:cNvPr>
          <p:cNvSpPr>
            <a:spLocks xmlns:a="http://schemas.openxmlformats.org/drawingml/2006/main" noGrp="1"/>
          </p:cNvSpPr>
          <p:nvPr/>
        </p:nvSpPr>
        <p:spPr>
          <a:xfrm xmlns:a="http://schemas.openxmlformats.org/drawingml/2006/main">
            <a:off x="2742844"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IPTV: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protocolo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Protocol</a:t>
            </a:r>
          </a:p>
        </p:txBody>
      </p:sp>
      <p:sp>
        <p:nvSpPr>
          <p:cNvPr id="28" name="GLOSARIO_left_5_2">
            <a:extLst xmlns:a="http://schemas.openxmlformats.org/drawingml/2006/main">
              <a:ext uri="{FF2B5EF4-FFF2-40B4-BE49-F238E27FC236}">
                <a16:creationId xmlns:a16="http://schemas.microsoft.com/office/drawing/2014/main" id="{1B1E59AC-4925-4298-AAAF-BFC8615E543B}"/>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Television</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IPTV)</a:t>
            </a:r>
          </a:p>
        </p:txBody>
      </p:sp>
      <p:sp>
        <p:nvSpPr>
          <p:cNvPr id="29" name="GLOSARIO_left_6_1">
            <a:extLst xmlns:a="http://schemas.openxmlformats.org/drawingml/2006/main">
              <a:ext uri="{FF2B5EF4-FFF2-40B4-BE49-F238E27FC236}">
                <a16:creationId xmlns:a16="http://schemas.microsoft.com/office/drawing/2014/main" id="{F7205DD0-FBC3-4C9F-9C6B-D11397ED9251}"/>
              </a:ext>
            </a:extLst>
          </p:cNvPr>
          <p:cNvSpPr>
            <a:spLocks xmlns:a="http://schemas.openxmlformats.org/drawingml/2006/main" noGrp="1"/>
          </p:cNvSpPr>
          <p:nvPr/>
        </p:nvSpPr>
        <p:spPr>
          <a:xfrm xmlns:a="http://schemas.openxmlformats.org/drawingml/2006/main">
            <a:off x="2742844"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LFTR: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30" name="GLOSARIO_left_7_1">
            <a:extLst xmlns:a="http://schemas.openxmlformats.org/drawingml/2006/main">
              <a:ext uri="{FF2B5EF4-FFF2-40B4-BE49-F238E27FC236}">
                <a16:creationId xmlns:a16="http://schemas.microsoft.com/office/drawing/2014/main" id="{0BE27991-AB85-4CDB-B891-F1B9D8F2CAA0}"/>
              </a:ext>
            </a:extLst>
          </p:cNvPr>
          <p:cNvSpPr>
            <a:spLocks xmlns:a="http://schemas.openxmlformats.org/drawingml/2006/main" noGrp="1"/>
          </p:cNvSpPr>
          <p:nvPr/>
        </p:nvSpPr>
        <p:spPr>
          <a:xfrm xmlns:a="http://schemas.openxmlformats.org/drawingml/2006/main">
            <a:off x="2742844"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Megabyte</a:t>
            </a:r>
          </a:p>
        </p:txBody>
      </p:sp>
      <p:sp>
        <p:nvSpPr>
          <p:cNvPr id="31" name="GLOSARIO_left_8_1">
            <a:extLst xmlns:a="http://schemas.openxmlformats.org/drawingml/2006/main">
              <a:ext uri="{FF2B5EF4-FFF2-40B4-BE49-F238E27FC236}">
                <a16:creationId xmlns:a16="http://schemas.microsoft.com/office/drawing/2014/main" id="{DD59973D-F693-4FF7-A20F-6A320E57DD93}"/>
              </a:ext>
            </a:extLst>
          </p:cNvPr>
          <p:cNvSpPr>
            <a:spLocks xmlns:a="http://schemas.openxmlformats.org/drawingml/2006/main" noGrp="1"/>
          </p:cNvSpPr>
          <p:nvPr/>
        </p:nvSpPr>
        <p:spPr>
          <a:xfrm xmlns:a="http://schemas.openxmlformats.org/drawingml/2006/main">
            <a:off x="2742844"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MHz:</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Megahertz</a:t>
            </a:r>
          </a:p>
        </p:txBody>
      </p:sp>
      <p:sp>
        <p:nvSpPr>
          <p:cNvPr id="32" name="GLOSARIO_left_9_1">
            <a:extLst xmlns:a="http://schemas.openxmlformats.org/drawingml/2006/main">
              <a:ext uri="{FF2B5EF4-FFF2-40B4-BE49-F238E27FC236}">
                <a16:creationId xmlns:a16="http://schemas.microsoft.com/office/drawing/2014/main" id="{EED8D146-EB43-47F4-9339-51184F974E91}"/>
              </a:ext>
            </a:extLst>
          </p:cNvPr>
          <p:cNvSpPr>
            <a:spLocks xmlns:a="http://schemas.openxmlformats.org/drawingml/2006/main" noGrp="1"/>
          </p:cNvSpPr>
          <p:nvPr/>
        </p:nvSpPr>
        <p:spPr>
          <a:xfrm xmlns:a="http://schemas.openxmlformats.org/drawingml/2006/main">
            <a:off x="2742844"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MOCIBA: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Módulo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p>
        </p:txBody>
      </p:sp>
      <p:sp>
        <p:nvSpPr>
          <p:cNvPr id="33" name="GLOSARIO_left_10_1">
            <a:extLst xmlns:a="http://schemas.openxmlformats.org/drawingml/2006/main">
              <a:ext uri="{FF2B5EF4-FFF2-40B4-BE49-F238E27FC236}">
                <a16:creationId xmlns:a16="http://schemas.microsoft.com/office/drawing/2014/main" id="{C2E53825-8B09-44C8-8E76-9F48DBE922AB}"/>
              </a:ext>
            </a:extLst>
          </p:cNvPr>
          <p:cNvSpPr>
            <a:spLocks xmlns:a="http://schemas.openxmlformats.org/drawingml/2006/main" noGrp="1"/>
          </p:cNvSpPr>
          <p:nvPr/>
        </p:nvSpPr>
        <p:spPr>
          <a:xfrm xmlns:a="http://schemas.openxmlformats.org/drawingml/2006/main">
            <a:off x="2742844"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Minutos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Minutes</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4" name="GLOSARIO_left_10_2">
            <a:extLst xmlns:a="http://schemas.openxmlformats.org/drawingml/2006/main">
              <a:ext uri="{FF2B5EF4-FFF2-40B4-BE49-F238E27FC236}">
                <a16:creationId xmlns:a16="http://schemas.microsoft.com/office/drawing/2014/main" id="{C8AD18E1-5738-4D56-A335-4F59CE25E15A}"/>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MOU)</a:t>
            </a:r>
          </a:p>
        </p:txBody>
      </p:sp>
      <p:sp>
        <p:nvSpPr>
          <p:cNvPr id="35" name="GLOSARIO_left_11_1">
            <a:extLst xmlns:a="http://schemas.openxmlformats.org/drawingml/2006/main">
              <a:ext uri="{FF2B5EF4-FFF2-40B4-BE49-F238E27FC236}">
                <a16:creationId xmlns:a16="http://schemas.microsoft.com/office/drawing/2014/main" id="{7F622D61-AC84-4583-A454-25ADCB55E0CD}"/>
              </a:ext>
            </a:extLst>
          </p:cNvPr>
          <p:cNvSpPr>
            <a:spLocks xmlns:a="http://schemas.openxmlformats.org/drawingml/2006/main" noGrp="1"/>
          </p:cNvSpPr>
          <p:nvPr/>
        </p:nvSpPr>
        <p:spPr>
          <a:xfrm xmlns:a="http://schemas.openxmlformats.org/drawingml/2006/main">
            <a:off x="2742844" y="38760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OMV: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Operador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Virtual</a:t>
            </a:r>
          </a:p>
        </p:txBody>
      </p:sp>
      <p:sp>
        <p:nvSpPr>
          <p:cNvPr id="36" name="GLOSARIO_left_12_1">
            <a:extLst xmlns:a="http://schemas.openxmlformats.org/drawingml/2006/main">
              <a:ext uri="{FF2B5EF4-FFF2-40B4-BE49-F238E27FC236}">
                <a16:creationId xmlns:a16="http://schemas.microsoft.com/office/drawing/2014/main" id="{144E5B24-9572-452F-B662-B205649C45EF}"/>
              </a:ext>
            </a:extLst>
          </p:cNvPr>
          <p:cNvSpPr>
            <a:spLocks xmlns:a="http://schemas.openxmlformats.org/drawingml/2006/main" noGrp="1"/>
          </p:cNvSpPr>
          <p:nvPr/>
        </p:nvSpPr>
        <p:spPr>
          <a:xfrm xmlns:a="http://schemas.openxmlformats.org/drawingml/2006/main">
            <a:off x="2742844" y="40767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OTT: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Over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Top</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OTT)</a:t>
            </a:r>
          </a:p>
        </p:txBody>
      </p:sp>
      <p:sp>
        <p:nvSpPr>
          <p:cNvPr id="37" name="GLOSARIO_left_13_1">
            <a:extLst xmlns:a="http://schemas.openxmlformats.org/drawingml/2006/main">
              <a:ext uri="{FF2B5EF4-FFF2-40B4-BE49-F238E27FC236}">
                <a16:creationId xmlns:a16="http://schemas.microsoft.com/office/drawing/2014/main" id="{6C44E656-CF25-451B-9FFF-5D71194D869A}"/>
              </a:ext>
            </a:extLst>
          </p:cNvPr>
          <p:cNvSpPr>
            <a:spLocks xmlns:a="http://schemas.openxmlformats.org/drawingml/2006/main" noGrp="1"/>
          </p:cNvSpPr>
          <p:nvPr/>
        </p:nvSpPr>
        <p:spPr>
          <a:xfrm xmlns:a="http://schemas.openxmlformats.org/drawingml/2006/main">
            <a:off x="2742844" y="42773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Producto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Bruto</a:t>
            </a:r>
          </a:p>
        </p:txBody>
      </p:sp>
      <p:sp>
        <p:nvSpPr>
          <p:cNvPr id="38" name="GLOSARIO_right_1_1">
            <a:extLst xmlns:a="http://schemas.openxmlformats.org/drawingml/2006/main">
              <a:ext uri="{FF2B5EF4-FFF2-40B4-BE49-F238E27FC236}">
                <a16:creationId xmlns:a16="http://schemas.microsoft.com/office/drawing/2014/main" id="{93D93936-CDA1-48D6-8CAB-B4DC549453EB}"/>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PICTORY: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edición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99C1885C-2FB9-48EC-A89E-5B07B443B9E6}"/>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imágenes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0" name="GLOSARIO_right_2_1">
            <a:extLst xmlns:a="http://schemas.openxmlformats.org/drawingml/2006/main">
              <a:ext uri="{FF2B5EF4-FFF2-40B4-BE49-F238E27FC236}">
                <a16:creationId xmlns:a16="http://schemas.microsoft.com/office/drawing/2014/main" id="{F10AD116-67E6-4AB7-A884-BA1FE5992BB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SCIAN: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Sistema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Clasificación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Industrial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América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Norte</a:t>
            </a:r>
          </a:p>
        </p:txBody>
      </p:sp>
      <p:sp>
        <p:nvSpPr>
          <p:cNvPr id="41" name="GLOSARIO_right_3_1">
            <a:extLst xmlns:a="http://schemas.openxmlformats.org/drawingml/2006/main">
              <a:ext uri="{FF2B5EF4-FFF2-40B4-BE49-F238E27FC236}">
                <a16:creationId xmlns:a16="http://schemas.microsoft.com/office/drawing/2014/main" id="{76F3ED9A-787E-463F-AF7E-B33596B9574C}"/>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Secretaría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Economía</a:t>
            </a:r>
          </a:p>
        </p:txBody>
      </p:sp>
      <p:sp>
        <p:nvSpPr>
          <p:cNvPr id="42" name="GLOSARIO_right_4_1">
            <a:extLst xmlns:a="http://schemas.openxmlformats.org/drawingml/2006/main">
              <a:ext uri="{FF2B5EF4-FFF2-40B4-BE49-F238E27FC236}">
                <a16:creationId xmlns:a16="http://schemas.microsoft.com/office/drawing/2014/main" id="{413F936E-F71F-40FD-9CBD-28732EF56EC3}"/>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SYNTHESIA: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p>
        </p:txBody>
      </p:sp>
      <p:sp>
        <p:nvSpPr>
          <p:cNvPr id="43" name="GLOSARIO_right_4_2">
            <a:extLst xmlns:a="http://schemas.openxmlformats.org/drawingml/2006/main">
              <a:ext uri="{FF2B5EF4-FFF2-40B4-BE49-F238E27FC236}">
                <a16:creationId xmlns:a16="http://schemas.microsoft.com/office/drawing/2014/main" id="{84BA95DE-4E80-4B06-92EC-7A4C232F867B}"/>
              </a:ext>
            </a:extLst>
          </p:cNvPr>
          <p:cNvSpPr>
            <a:spLocks xmlns:a="http://schemas.openxmlformats.org/drawingml/2006/main" noGrp="1"/>
          </p:cNvSpPr>
          <p:nvPr/>
        </p:nvSpPr>
        <p:spPr>
          <a:xfrm xmlns:a="http://schemas.openxmlformats.org/drawingml/2006/main">
            <a:off x="5852160"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sintéticas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4" name="GLOSARIO_right_5_1">
            <a:extLst xmlns:a="http://schemas.openxmlformats.org/drawingml/2006/main">
              <a:ext uri="{FF2B5EF4-FFF2-40B4-BE49-F238E27FC236}">
                <a16:creationId xmlns:a16="http://schemas.microsoft.com/office/drawing/2014/main" id="{E4748B60-9371-4380-A539-AA6CB000EBE3}"/>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SMS: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Texto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Short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Message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Service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45" name="GLOSARIO_right_5_2">
            <a:extLst xmlns:a="http://schemas.openxmlformats.org/drawingml/2006/main">
              <a:ext uri="{FF2B5EF4-FFF2-40B4-BE49-F238E27FC236}">
                <a16:creationId xmlns:a16="http://schemas.microsoft.com/office/drawing/2014/main" id="{AA1B58F8-07DC-41ED-AF7A-06610A750AFE}"/>
              </a:ext>
            </a:extLst>
          </p:cNvPr>
          <p:cNvSpPr>
            <a:spLocks xmlns:a="http://schemas.openxmlformats.org/drawingml/2006/main" noGrp="1"/>
          </p:cNvSpPr>
          <p:nvPr/>
        </p:nvSpPr>
        <p:spPr>
          <a:xfrm xmlns:a="http://schemas.openxmlformats.org/drawingml/2006/main">
            <a:off x="5852160"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SMS)</a:t>
            </a:r>
          </a:p>
        </p:txBody>
      </p:sp>
      <p:sp>
        <p:nvSpPr>
          <p:cNvPr id="46" name="GLOSARIO_right_6_1">
            <a:extLst xmlns:a="http://schemas.openxmlformats.org/drawingml/2006/main">
              <a:ext uri="{FF2B5EF4-FFF2-40B4-BE49-F238E27FC236}">
                <a16:creationId xmlns:a16="http://schemas.microsoft.com/office/drawing/2014/main" id="{C6D85338-1C8E-4385-8307-D91A5833C205}"/>
              </a:ext>
            </a:extLst>
          </p:cNvPr>
          <p:cNvSpPr>
            <a:spLocks xmlns:a="http://schemas.openxmlformats.org/drawingml/2006/main" noGrp="1"/>
          </p:cNvSpPr>
          <p:nvPr/>
        </p:nvSpPr>
        <p:spPr>
          <a:xfrm xmlns:a="http://schemas.openxmlformats.org/drawingml/2006/main">
            <a:off x="5852160"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Tasa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Anual</a:t>
            </a:r>
          </a:p>
        </p:txBody>
      </p:sp>
      <p:sp>
        <p:nvSpPr>
          <p:cNvPr id="47" name="GLOSARIO_right_7_1">
            <a:extLst xmlns:a="http://schemas.openxmlformats.org/drawingml/2006/main">
              <a:ext uri="{FF2B5EF4-FFF2-40B4-BE49-F238E27FC236}">
                <a16:creationId xmlns:a16="http://schemas.microsoft.com/office/drawing/2014/main" id="{F305028A-C6FD-4F9C-AD6C-F95DD45B71CA}"/>
              </a:ext>
            </a:extLst>
          </p:cNvPr>
          <p:cNvSpPr>
            <a:spLocks xmlns:a="http://schemas.openxmlformats.org/drawingml/2006/main" noGrp="1"/>
          </p:cNvSpPr>
          <p:nvPr/>
        </p:nvSpPr>
        <p:spPr>
          <a:xfrm xmlns:a="http://schemas.openxmlformats.org/drawingml/2006/main">
            <a:off x="5852160"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TDT: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Terrestre</a:t>
            </a:r>
          </a:p>
        </p:txBody>
      </p:sp>
      <p:sp>
        <p:nvSpPr>
          <p:cNvPr id="48" name="GLOSARIO_right_8_1">
            <a:extLst xmlns:a="http://schemas.openxmlformats.org/drawingml/2006/main">
              <a:ext uri="{FF2B5EF4-FFF2-40B4-BE49-F238E27FC236}">
                <a16:creationId xmlns:a16="http://schemas.microsoft.com/office/drawing/2014/main" id="{8D0A407C-EEC1-45EC-8B90-3F540633ABA8}"/>
              </a:ext>
            </a:extLst>
          </p:cNvPr>
          <p:cNvSpPr>
            <a:spLocks xmlns:a="http://schemas.openxmlformats.org/drawingml/2006/main" noGrp="1"/>
          </p:cNvSpPr>
          <p:nvPr/>
        </p:nvSpPr>
        <p:spPr>
          <a:xfrm xmlns:a="http://schemas.openxmlformats.org/drawingml/2006/main">
            <a:off x="5852160"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TIC: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Comunicación</a:t>
            </a:r>
          </a:p>
        </p:txBody>
      </p:sp>
      <p:sp>
        <p:nvSpPr>
          <p:cNvPr id="49" name="GLOSARIO_right_9_1">
            <a:extLst xmlns:a="http://schemas.openxmlformats.org/drawingml/2006/main">
              <a:ext uri="{FF2B5EF4-FFF2-40B4-BE49-F238E27FC236}">
                <a16:creationId xmlns:a16="http://schemas.microsoft.com/office/drawing/2014/main" id="{B0EC5F07-BDF7-4A21-99D8-53B5579D6D46}"/>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TyR: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50" name="GLOSARIO_right_10_1">
            <a:extLst xmlns:a="http://schemas.openxmlformats.org/drawingml/2006/main">
              <a:ext uri="{FF2B5EF4-FFF2-40B4-BE49-F238E27FC236}">
                <a16:creationId xmlns:a16="http://schemas.microsoft.com/office/drawing/2014/main" id="{15E9B818-2C7C-4263-B3A8-92BC5CD4ED2B}"/>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51" name="GLOSARIO_right_11_1">
            <a:extLst xmlns:a="http://schemas.openxmlformats.org/drawingml/2006/main">
              <a:ext uri="{FF2B5EF4-FFF2-40B4-BE49-F238E27FC236}">
                <a16:creationId xmlns:a16="http://schemas.microsoft.com/office/drawing/2014/main" id="{2518C1A0-ABCD-4004-B656-887D23CE27CC}"/>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Espectro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Radioeléctrico</a:t>
            </a:r>
          </a:p>
        </p:txBody>
      </p:sp>
      <p:sp>
        <p:nvSpPr>
          <p:cNvPr id="52" name="GLOSARIO_right_12_1">
            <a:extLst xmlns:a="http://schemas.openxmlformats.org/drawingml/2006/main">
              <a:ext uri="{FF2B5EF4-FFF2-40B4-BE49-F238E27FC236}">
                <a16:creationId xmlns:a16="http://schemas.microsoft.com/office/drawing/2014/main" id="{3349765E-9618-496F-854F-CD53A78071F0}"/>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UCS: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p>
        </p:txBody>
      </p:sp>
      <p:sp>
        <p:nvSpPr>
          <p:cNvPr id="53" name="GLOSARIO_right_13_1">
            <a:extLst xmlns:a="http://schemas.openxmlformats.org/drawingml/2006/main">
              <a:ext uri="{FF2B5EF4-FFF2-40B4-BE49-F238E27FC236}">
                <a16:creationId xmlns:a16="http://schemas.microsoft.com/office/drawing/2014/main" id="{10BB834E-AD04-4470-8236-71E0D502AAE9}"/>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UMCA: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Contenidos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Audiovisuales</a:t>
            </a:r>
          </a:p>
        </p:txBody>
      </p:sp>
      <p:sp>
        <p:nvSpPr>
          <p:cNvPr id="54" name="ANUARIO_PAGE_NUMBER">
            <a:extLst xmlns:a="http://schemas.openxmlformats.org/drawingml/2006/main">
              <a:ext uri="{FF2B5EF4-FFF2-40B4-BE49-F238E27FC236}">
                <a16:creationId xmlns:a16="http://schemas.microsoft.com/office/drawing/2014/main" id="{E1455A6A-EBA4-4834-BC3A-5ECD78444352}"/>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5</a:t>
            </a:r>
          </a:p>
        </p:txBody>
      </p:sp>
      <p:sp>
        <p:nvSpPr>
          <p:cNvPr id="55" name="ANUARIO_EDICION_PIE">
            <a:extLst xmlns:a="http://schemas.openxmlformats.org/drawingml/2006/main">
              <a:ext uri="{FF2B5EF4-FFF2-40B4-BE49-F238E27FC236}">
                <a16:creationId xmlns:a16="http://schemas.microsoft.com/office/drawing/2014/main" id="{916E9D32-8FCF-454B-91DC-97F4E81C61D1}"/>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pic>
        <p:nvPicPr>
          <p:cNvPr id="7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1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6" name="ANUARIO_BARRA_QR"/>
          <p:cNvPicPr>
            <a:picLocks xmlns:a="http://schemas.openxmlformats.org/drawingml/2006/main" noChangeAspect="1"/>
          </p:cNvPicPr>
          <p:nvPr/>
        </p:nvPicPr>
        <p:blipFill>
          <a:blip xmlns:r="http://schemas.openxmlformats.org/officeDocument/2006/relationships" xmlns:a="http://schemas.openxmlformats.org/drawingml/2006/main" r:embed="rId1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1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GLOSARIO</a:t>
            </a:r>
          </a:p>
        </p:txBody>
      </p:sp>
      <p:sp>
        <p:nvSpPr>
          <p:cNvPr id="7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0" name="ANUARIO_BARRA_URL">
            <a:hlinkClick xmlns:r="http://schemas.openxmlformats.org/officeDocument/2006/relationships" xmlns:a="http://schemas.openxmlformats.org/drawingml/2006/main" r:id="Rbf38f4683d754baf"/>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861836591"/>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2f113fc51c24590"/>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124f4555e354735"/>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55272988eb84dce"/>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648ba0efd3e4fb5"/>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INTRO_DESIGN_2026">
            <a:extLst xmlns:a="http://schemas.openxmlformats.org/drawingml/2006/main">
              <a:ext uri="{FF2B5EF4-FFF2-40B4-BE49-F238E27FC236}">
                <a16:creationId xmlns:a16="http://schemas.microsoft.com/office/drawing/2014/main" id="{D2E56BA8-34C0-4D45-8C82-A58470D01637}"/>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INTRO_DIVISOR_LATERAL">
            <a:extLst xmlns:a="http://schemas.openxmlformats.org/drawingml/2006/main">
              <a:ext uri="{FF2B5EF4-FFF2-40B4-BE49-F238E27FC236}">
                <a16:creationId xmlns:a16="http://schemas.microsoft.com/office/drawing/2014/main" id="{A0D154AD-E861-4067-9A80-8713D001C5DA}"/>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INTRO_RECUADRO_RESUMEN">
            <a:extLst xmlns:a="http://schemas.openxmlformats.org/drawingml/2006/main">
              <a:ext uri="{FF2B5EF4-FFF2-40B4-BE49-F238E27FC236}">
                <a16:creationId xmlns:a16="http://schemas.microsoft.com/office/drawing/2014/main" id="{B02C55A4-B8E8-4019-95D0-C677E45EAB4F}"/>
              </a:ext>
            </a:extLst>
          </p:cNvPr>
          <p:cNvSpPr>
            <a:spLocks xmlns:a="http://schemas.openxmlformats.org/drawingml/2006/main" noGrp="1"/>
          </p:cNvSpPr>
          <p:nvPr/>
        </p:nvSpPr>
        <p:spPr>
          <a:xfrm xmlns:a="http://schemas.openxmlformats.org/drawingml/2006/main">
            <a:off x="2489200" y="609600"/>
            <a:ext cx="6350000" cy="482600"/>
          </a:xfrm>
          <a:prstGeom xmlns:a="http://schemas.openxmlformats.org/drawingml/2006/main" prst="roundRect">
            <a:avLst>
              <a:gd name="adj" fmla="val 15789"/>
            </a:avLst>
          </a:prstGeom>
          <a:solidFill xmlns:a="http://schemas.openxmlformats.org/drawingml/2006/main">
            <a:srgbClr val="EAF3F1"/>
          </a:solidFill>
          <a:ln xmlns:a="http://schemas.openxmlformats.org/drawingml/2006/main" w="8890">
            <a:solidFill>
              <a:srgbClr val="EAF3F1"/>
            </a:solidFill>
          </a:ln>
        </p:spPr>
      </p:sp>
      <p:sp>
        <p:nvSpPr>
          <p:cNvPr id="9" name="INTRO_ACENTO_RESUMEN">
            <a:extLst xmlns:a="http://schemas.openxmlformats.org/drawingml/2006/main">
              <a:ext uri="{FF2B5EF4-FFF2-40B4-BE49-F238E27FC236}">
                <a16:creationId xmlns:a16="http://schemas.microsoft.com/office/drawing/2014/main" id="{7F9FF756-7030-4ACD-955B-50DA09E43F2A}"/>
              </a:ext>
            </a:extLst>
          </p:cNvPr>
          <p:cNvSpPr>
            <a:spLocks xmlns:a="http://schemas.openxmlformats.org/drawingml/2006/main" noGrp="1"/>
          </p:cNvSpPr>
          <p:nvPr/>
        </p:nvSpPr>
        <p:spPr>
          <a:xfrm xmlns:a="http://schemas.openxmlformats.org/drawingml/2006/main">
            <a:off x="2489200" y="685800"/>
            <a:ext cx="38100" cy="330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INTRO_RECUADRO_1">
            <a:extLst xmlns:a="http://schemas.openxmlformats.org/drawingml/2006/main">
              <a:ext uri="{FF2B5EF4-FFF2-40B4-BE49-F238E27FC236}">
                <a16:creationId xmlns:a16="http://schemas.microsoft.com/office/drawing/2014/main" id="{67720E19-437C-4106-BF4D-CD921195373C}"/>
              </a:ext>
            </a:extLst>
          </p:cNvPr>
          <p:cNvSpPr>
            <a:spLocks xmlns:a="http://schemas.openxmlformats.org/drawingml/2006/main" noGrp="1"/>
          </p:cNvSpPr>
          <p:nvPr/>
        </p:nvSpPr>
        <p:spPr>
          <a:xfrm xmlns:a="http://schemas.openxmlformats.org/drawingml/2006/main">
            <a:off x="2489200" y="1193800"/>
            <a:ext cx="6350000" cy="609600"/>
          </a:xfrm>
          <a:prstGeom xmlns:a="http://schemas.openxmlformats.org/drawingml/2006/main" prst="roundRect">
            <a:avLst>
              <a:gd name="adj" fmla="val 6250"/>
            </a:avLst>
          </a:prstGeom>
          <a:solidFill xmlns:a="http://schemas.openxmlformats.org/drawingml/2006/main">
            <a:srgbClr val="F6FAF9"/>
          </a:solidFill>
          <a:ln xmlns:a="http://schemas.openxmlformats.org/drawingml/2006/main" w="8890">
            <a:solidFill>
              <a:srgbClr val="DCE9E6"/>
            </a:solidFill>
          </a:ln>
        </p:spPr>
      </p:sp>
      <p:sp>
        <p:nvSpPr>
          <p:cNvPr id="11" name="INTRO_ACENTO_1">
            <a:extLst xmlns:a="http://schemas.openxmlformats.org/drawingml/2006/main">
              <a:ext uri="{FF2B5EF4-FFF2-40B4-BE49-F238E27FC236}">
                <a16:creationId xmlns:a16="http://schemas.microsoft.com/office/drawing/2014/main" id="{24323903-7799-4BD3-9875-4CD2FA212D99}"/>
              </a:ext>
            </a:extLst>
          </p:cNvPr>
          <p:cNvSpPr>
            <a:spLocks xmlns:a="http://schemas.openxmlformats.org/drawingml/2006/main" noGrp="1"/>
          </p:cNvSpPr>
          <p:nvPr/>
        </p:nvSpPr>
        <p:spPr>
          <a:xfrm xmlns:a="http://schemas.openxmlformats.org/drawingml/2006/main">
            <a:off x="2489200" y="1270000"/>
            <a:ext cx="38100" cy="457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INTRO_SEPARADOR_1">
            <a:extLst xmlns:a="http://schemas.openxmlformats.org/drawingml/2006/main">
              <a:ext uri="{FF2B5EF4-FFF2-40B4-BE49-F238E27FC236}">
                <a16:creationId xmlns:a16="http://schemas.microsoft.com/office/drawing/2014/main" id="{E4E544F4-BE6C-4C19-8225-FA4091D83B5D}"/>
              </a:ext>
            </a:extLst>
          </p:cNvPr>
          <p:cNvSpPr>
            <a:spLocks xmlns:a="http://schemas.openxmlformats.org/drawingml/2006/main" noGrp="1"/>
          </p:cNvSpPr>
          <p:nvPr/>
        </p:nvSpPr>
        <p:spPr>
          <a:xfrm xmlns:a="http://schemas.openxmlformats.org/drawingml/2006/main">
            <a:off x="4546600" y="1295400"/>
            <a:ext cx="6985" cy="406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3" name="INTRO_NUMERO_FONDO_1">
            <a:extLst xmlns:a="http://schemas.openxmlformats.org/drawingml/2006/main">
              <a:ext uri="{FF2B5EF4-FFF2-40B4-BE49-F238E27FC236}">
                <a16:creationId xmlns:a16="http://schemas.microsoft.com/office/drawing/2014/main" id="{DD71E86F-A603-4AD0-AC0C-84A6E72518F4}"/>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4" name="INTRO_RECUADRO_2">
            <a:extLst xmlns:a="http://schemas.openxmlformats.org/drawingml/2006/main">
              <a:ext uri="{FF2B5EF4-FFF2-40B4-BE49-F238E27FC236}">
                <a16:creationId xmlns:a16="http://schemas.microsoft.com/office/drawing/2014/main" id="{41AF621E-E608-4D88-8A23-A65F33875DF6}"/>
              </a:ext>
            </a:extLst>
          </p:cNvPr>
          <p:cNvSpPr>
            <a:spLocks xmlns:a="http://schemas.openxmlformats.org/drawingml/2006/main" noGrp="1"/>
          </p:cNvSpPr>
          <p:nvPr/>
        </p:nvSpPr>
        <p:spPr>
          <a:xfrm xmlns:a="http://schemas.openxmlformats.org/drawingml/2006/main">
            <a:off x="2489200" y="1905000"/>
            <a:ext cx="6350000" cy="11176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8890">
            <a:solidFill>
              <a:srgbClr val="DCE9E6"/>
            </a:solidFill>
          </a:ln>
        </p:spPr>
      </p:sp>
      <p:sp>
        <p:nvSpPr>
          <p:cNvPr id="15" name="INTRO_ACENTO_2">
            <a:extLst xmlns:a="http://schemas.openxmlformats.org/drawingml/2006/main">
              <a:ext uri="{FF2B5EF4-FFF2-40B4-BE49-F238E27FC236}">
                <a16:creationId xmlns:a16="http://schemas.microsoft.com/office/drawing/2014/main" id="{61728129-C923-4AE3-B872-3F9512475F8F}"/>
              </a:ext>
            </a:extLst>
          </p:cNvPr>
          <p:cNvSpPr>
            <a:spLocks xmlns:a="http://schemas.openxmlformats.org/drawingml/2006/main" noGrp="1"/>
          </p:cNvSpPr>
          <p:nvPr/>
        </p:nvSpPr>
        <p:spPr>
          <a:xfrm xmlns:a="http://schemas.openxmlformats.org/drawingml/2006/main">
            <a:off x="2489200" y="1981200"/>
            <a:ext cx="38100" cy="965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INTRO_SEPARADOR_2">
            <a:extLst xmlns:a="http://schemas.openxmlformats.org/drawingml/2006/main">
              <a:ext uri="{FF2B5EF4-FFF2-40B4-BE49-F238E27FC236}">
                <a16:creationId xmlns:a16="http://schemas.microsoft.com/office/drawing/2014/main" id="{FCA12AE9-6DE3-4CBA-87FA-0FEC7376A968}"/>
              </a:ext>
            </a:extLst>
          </p:cNvPr>
          <p:cNvSpPr>
            <a:spLocks xmlns:a="http://schemas.openxmlformats.org/drawingml/2006/main" noGrp="1"/>
          </p:cNvSpPr>
          <p:nvPr/>
        </p:nvSpPr>
        <p:spPr>
          <a:xfrm xmlns:a="http://schemas.openxmlformats.org/drawingml/2006/main">
            <a:off x="4546600" y="2006600"/>
            <a:ext cx="6985" cy="914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7" name="INTRO_NUMERO_FONDO_2">
            <a:extLst xmlns:a="http://schemas.openxmlformats.org/drawingml/2006/main">
              <a:ext uri="{FF2B5EF4-FFF2-40B4-BE49-F238E27FC236}">
                <a16:creationId xmlns:a16="http://schemas.microsoft.com/office/drawing/2014/main" id="{BCFC4FE7-D950-4860-B879-00A5F467326C}"/>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8" name="INTRO_RECUADRO_3">
            <a:extLst xmlns:a="http://schemas.openxmlformats.org/drawingml/2006/main">
              <a:ext uri="{FF2B5EF4-FFF2-40B4-BE49-F238E27FC236}">
                <a16:creationId xmlns:a16="http://schemas.microsoft.com/office/drawing/2014/main" id="{D75E72D0-845E-490E-A7D3-645ED3843907}"/>
              </a:ext>
            </a:extLst>
          </p:cNvPr>
          <p:cNvSpPr>
            <a:spLocks xmlns:a="http://schemas.openxmlformats.org/drawingml/2006/main" noGrp="1"/>
          </p:cNvSpPr>
          <p:nvPr/>
        </p:nvSpPr>
        <p:spPr>
          <a:xfrm xmlns:a="http://schemas.openxmlformats.org/drawingml/2006/main">
            <a:off x="2489200" y="3124200"/>
            <a:ext cx="6350000" cy="711200"/>
          </a:xfrm>
          <a:prstGeom xmlns:a="http://schemas.openxmlformats.org/drawingml/2006/main" prst="roundRect">
            <a:avLst>
              <a:gd name="adj" fmla="val 5357"/>
            </a:avLst>
          </a:prstGeom>
          <a:solidFill xmlns:a="http://schemas.openxmlformats.org/drawingml/2006/main">
            <a:srgbClr val="F6FAF9"/>
          </a:solidFill>
          <a:ln xmlns:a="http://schemas.openxmlformats.org/drawingml/2006/main" w="8890">
            <a:solidFill>
              <a:srgbClr val="DCE9E6"/>
            </a:solidFill>
          </a:ln>
        </p:spPr>
      </p:sp>
      <p:sp>
        <p:nvSpPr>
          <p:cNvPr id="19" name="INTRO_ACENTO_3">
            <a:extLst xmlns:a="http://schemas.openxmlformats.org/drawingml/2006/main">
              <a:ext uri="{FF2B5EF4-FFF2-40B4-BE49-F238E27FC236}">
                <a16:creationId xmlns:a16="http://schemas.microsoft.com/office/drawing/2014/main" id="{75B0D7BD-2865-4FCD-B213-CFEE7A5EC5D8}"/>
              </a:ext>
            </a:extLst>
          </p:cNvPr>
          <p:cNvSpPr>
            <a:spLocks xmlns:a="http://schemas.openxmlformats.org/drawingml/2006/main" noGrp="1"/>
          </p:cNvSpPr>
          <p:nvPr/>
        </p:nvSpPr>
        <p:spPr>
          <a:xfrm xmlns:a="http://schemas.openxmlformats.org/drawingml/2006/main">
            <a:off x="2489200" y="3200400"/>
            <a:ext cx="38100" cy="558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0" name="INTRO_SEPARADOR_3">
            <a:extLst xmlns:a="http://schemas.openxmlformats.org/drawingml/2006/main">
              <a:ext uri="{FF2B5EF4-FFF2-40B4-BE49-F238E27FC236}">
                <a16:creationId xmlns:a16="http://schemas.microsoft.com/office/drawing/2014/main" id="{5DEFE68D-640A-4EF7-B111-356AE1457D92}"/>
              </a:ext>
            </a:extLst>
          </p:cNvPr>
          <p:cNvSpPr>
            <a:spLocks xmlns:a="http://schemas.openxmlformats.org/drawingml/2006/main" noGrp="1"/>
          </p:cNvSpPr>
          <p:nvPr/>
        </p:nvSpPr>
        <p:spPr>
          <a:xfrm xmlns:a="http://schemas.openxmlformats.org/drawingml/2006/main">
            <a:off x="4546600" y="3225800"/>
            <a:ext cx="6985" cy="5080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INTRO_NUMERO_FONDO_3">
            <a:extLst xmlns:a="http://schemas.openxmlformats.org/drawingml/2006/main">
              <a:ext uri="{FF2B5EF4-FFF2-40B4-BE49-F238E27FC236}">
                <a16:creationId xmlns:a16="http://schemas.microsoft.com/office/drawing/2014/main" id="{684DDF26-0094-45B8-AF9C-7197FF172D92}"/>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2" name="INTRO_RECUADRO_4">
            <a:extLst xmlns:a="http://schemas.openxmlformats.org/drawingml/2006/main">
              <a:ext uri="{FF2B5EF4-FFF2-40B4-BE49-F238E27FC236}">
                <a16:creationId xmlns:a16="http://schemas.microsoft.com/office/drawing/2014/main" id="{35202227-5020-46FB-B93C-ADFC0BF96C9E}"/>
              </a:ext>
            </a:extLst>
          </p:cNvPr>
          <p:cNvSpPr>
            <a:spLocks xmlns:a="http://schemas.openxmlformats.org/drawingml/2006/main" noGrp="1"/>
          </p:cNvSpPr>
          <p:nvPr/>
        </p:nvSpPr>
        <p:spPr>
          <a:xfrm xmlns:a="http://schemas.openxmlformats.org/drawingml/2006/main">
            <a:off x="2489200" y="3937000"/>
            <a:ext cx="6350000" cy="9398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8890">
            <a:solidFill>
              <a:srgbClr val="DCE9E6"/>
            </a:solidFill>
          </a:ln>
        </p:spPr>
      </p:sp>
      <p:sp>
        <p:nvSpPr>
          <p:cNvPr id="23" name="INTRO_ACENTO_4">
            <a:extLst xmlns:a="http://schemas.openxmlformats.org/drawingml/2006/main">
              <a:ext uri="{FF2B5EF4-FFF2-40B4-BE49-F238E27FC236}">
                <a16:creationId xmlns:a16="http://schemas.microsoft.com/office/drawing/2014/main" id="{58F85FE1-4115-405B-A138-0582579952C2}"/>
              </a:ext>
            </a:extLst>
          </p:cNvPr>
          <p:cNvSpPr>
            <a:spLocks xmlns:a="http://schemas.openxmlformats.org/drawingml/2006/main" noGrp="1"/>
          </p:cNvSpPr>
          <p:nvPr/>
        </p:nvSpPr>
        <p:spPr>
          <a:xfrm xmlns:a="http://schemas.openxmlformats.org/drawingml/2006/main">
            <a:off x="2489200" y="4013200"/>
            <a:ext cx="38100" cy="787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4" name="INTRO_SEPARADOR_4">
            <a:extLst xmlns:a="http://schemas.openxmlformats.org/drawingml/2006/main">
              <a:ext uri="{FF2B5EF4-FFF2-40B4-BE49-F238E27FC236}">
                <a16:creationId xmlns:a16="http://schemas.microsoft.com/office/drawing/2014/main" id="{995BE7EE-0661-403A-AC1E-2F6EB4E2FEA0}"/>
              </a:ext>
            </a:extLst>
          </p:cNvPr>
          <p:cNvSpPr>
            <a:spLocks xmlns:a="http://schemas.openxmlformats.org/drawingml/2006/main" noGrp="1"/>
          </p:cNvSpPr>
          <p:nvPr/>
        </p:nvSpPr>
        <p:spPr>
          <a:xfrm xmlns:a="http://schemas.openxmlformats.org/drawingml/2006/main">
            <a:off x="4546600" y="4038600"/>
            <a:ext cx="6985" cy="736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5" name="INTRO_NUMERO_FONDO_4">
            <a:extLst xmlns:a="http://schemas.openxmlformats.org/drawingml/2006/main">
              <a:ext uri="{FF2B5EF4-FFF2-40B4-BE49-F238E27FC236}">
                <a16:creationId xmlns:a16="http://schemas.microsoft.com/office/drawing/2014/main" id="{C8E650B4-8E56-4ECA-A798-B9FA6DA0AFC4}"/>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6" name="INTRO_TEXTO_1">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27" name="INTRO_TEXTO_2">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8" name="INTRO_TEXTO_3">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4fd49cd4a32425c"/>
              </a:rPr>
              <a:t>BIT CRT · bit.crt.gob.mx/BitWebApp</a:t>
            </a:r>
          </a:p>
        </p:txBody>
      </p:sp>
      <p:sp>
        <p:nvSpPr>
          <p:cNvPr id="29" name="INTRO_SOBRE_TITULO">
            <a:extLst xmlns:a="http://schemas.openxmlformats.org/drawingml/2006/main">
              <a:ext uri="{FF2B5EF4-FFF2-40B4-BE49-F238E27FC236}">
                <a16:creationId xmlns:a16="http://schemas.microsoft.com/office/drawing/2014/main" id="{6AD782A6-78E1-4072-A3B9-2744407D92B6}"/>
              </a:ext>
            </a:extLst>
          </p:cNvPr>
          <p:cNvSpPr>
            <a:spLocks xmlns:a="http://schemas.openxmlformats.org/drawingml/2006/main" noGrp="1"/>
          </p:cNvSpPr>
          <p:nvPr/>
        </p:nvSpPr>
        <p:spPr>
          <a:xfrm xmlns:a="http://schemas.openxmlformats.org/drawingml/2006/main">
            <a:off x="482600" y="819150"/>
            <a:ext cx="1778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S O B R E  E L  A N U A R I O</a:t>
            </a:r>
          </a:p>
        </p:txBody>
      </p:sp>
      <p:sp>
        <p:nvSpPr>
          <p:cNvPr id="30" name="INTRO_TEXTO_4">
            <a:extLst xmlns:a="http://schemas.openxmlformats.org/drawingml/2006/main">
              <a:ext uri="{FF2B5EF4-FFF2-40B4-BE49-F238E27FC236}">
                <a16:creationId xmlns:a16="http://schemas.microsoft.com/office/drawing/2014/main" id="{52216F8A-766E-4906-993B-05F1F8C3E9BD}"/>
              </a:ext>
            </a:extLst>
          </p:cNvPr>
          <p:cNvSpPr>
            <a:spLocks xmlns:a="http://schemas.openxmlformats.org/drawingml/2006/main" noGrp="1"/>
          </p:cNvSpPr>
          <p:nvPr/>
        </p:nvSpPr>
        <p:spPr>
          <a:xfrm xmlns:a="http://schemas.openxmlformats.org/drawingml/2006/main">
            <a:off x="482765" y="1115568"/>
            <a:ext cx="1675180" cy="36758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300"/>
              </a:spcAft>
              <a:defRPr sz="760">
                <a:solidFill>
                  <a:srgbClr val="263632"/>
                </a:solidFill>
                <a:latin typeface="Noto Sans"/>
                <a:ea typeface="Noto Sans"/>
                <a:cs typeface="Noto Sans"/>
              </a:defRPr>
            </a:pPr>
            <a:r>
              <a:rPr sz="760" b="0" i="0">
                <a:solidFill>
                  <a:srgbClr val="FFFFFF"/>
                </a:solidFill>
                <a:latin typeface="Noto Sans"/>
                <a:ea typeface="Noto Sans"/>
                <a:cs typeface="Noto Sans"/>
              </a:rPr>
              <a:t>El Anuario Estadístico 2026 presenta los principales indicadores que permiten analizar la evolución de los sectores de telecomunicaciones y radiodifusión (TyR) en México, tanto a nivel nacional como, para determinados indicadores, por entidad federativa.</a:t>
            </a:r>
          </a:p>
          <a:p xmlns:a="http://schemas.openxmlformats.org/drawingml/2006/main">
            <a:pPr>
              <a:lnSpc>
                <a:spcPct val="100000"/>
              </a:lnSpc>
              <a:spcBef>
                <a:spcPts val="0"/>
              </a:spcBef>
              <a:spcAft>
                <a:spcPts val="0"/>
              </a:spcAft>
            </a:pPr>
            <a:r>
              <a:rPr sz="760" b="0" i="0">
                <a:solidFill>
                  <a:srgbClr val="FFFFFF"/>
                </a:solidFill>
                <a:latin typeface="Noto Sans"/>
                <a:ea typeface="Noto Sans"/>
                <a:cs typeface="Noto Sans"/>
              </a:rPr>
              <a:t>A través de esta publicación, la Comisión Reguladora de Telecomunicaciones (CRT) pone a disposición de la ciudadanía, las autoridades, la academia y los agentes económicos información estadística relevante, oportuna y confiable, que contribuye al conocimiento de estos sectores, facilita la toma de decisiones y proporciona elementos para el diseño, seguimiento y evaluación de políticas públicas y regulatorias orientadas al desarrollo de las telecomunicaciones y la radiodifusión en beneficio de la población.</a:t>
            </a:r>
          </a:p>
        </p:txBody>
      </p:sp>
      <p:sp>
        <p:nvSpPr>
          <p:cNvPr id="55" name="INTRO_TEXTO_29">
            <a:extLst xmlns:a="http://schemas.openxmlformats.org/drawingml/2006/main">
              <a:ext uri="{FF2B5EF4-FFF2-40B4-BE49-F238E27FC236}">
                <a16:creationId xmlns:a16="http://schemas.microsoft.com/office/drawing/2014/main" id="{3B9C67BC-D953-4DEA-ACBE-40A011D92208}"/>
              </a:ext>
            </a:extLst>
          </p:cNvPr>
          <p:cNvSpPr>
            <a:spLocks xmlns:a="http://schemas.openxmlformats.org/drawingml/2006/main" noGrp="1"/>
          </p:cNvSpPr>
          <p:nvPr/>
        </p:nvSpPr>
        <p:spPr>
          <a:xfrm xmlns:a="http://schemas.openxmlformats.org/drawingml/2006/main">
            <a:off x="2666886" y="67061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El Anuario se divide en ocho secciones, las cuales presentan indicadores relevantes para el análisis a nivel </a:t>
            </a:r>
          </a:p>
        </p:txBody>
      </p:sp>
      <p:sp>
        <p:nvSpPr>
          <p:cNvPr id="56" name="INTRO_TEXTO_30">
            <a:extLst xmlns:a="http://schemas.openxmlformats.org/drawingml/2006/main">
              <a:ext uri="{FF2B5EF4-FFF2-40B4-BE49-F238E27FC236}">
                <a16:creationId xmlns:a16="http://schemas.microsoft.com/office/drawing/2014/main" id="{7192D7B4-3601-4AB1-A89D-38A83CAA5152}"/>
              </a:ext>
            </a:extLst>
          </p:cNvPr>
          <p:cNvSpPr>
            <a:spLocks xmlns:a="http://schemas.openxmlformats.org/drawingml/2006/main" noGrp="1"/>
          </p:cNvSpPr>
          <p:nvPr/>
        </p:nvSpPr>
        <p:spPr>
          <a:xfrm xmlns:a="http://schemas.openxmlformats.org/drawingml/2006/main">
            <a:off x="2666886" y="79554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nacional y algunos para el análisis por entidad federativa. A continuación, se da una breve descripción de cada </a:t>
            </a:r>
          </a:p>
        </p:txBody>
      </p:sp>
      <p:sp>
        <p:nvSpPr>
          <p:cNvPr id="57" name="INTRO_TEXTO_31">
            <a:extLst xmlns:a="http://schemas.openxmlformats.org/drawingml/2006/main">
              <a:ext uri="{FF2B5EF4-FFF2-40B4-BE49-F238E27FC236}">
                <a16:creationId xmlns:a16="http://schemas.microsoft.com/office/drawing/2014/main" id="{65E1647B-BCC2-430B-958F-857C94BF4767}"/>
              </a:ext>
            </a:extLst>
          </p:cNvPr>
          <p:cNvSpPr>
            <a:spLocks xmlns:a="http://schemas.openxmlformats.org/drawingml/2006/main" noGrp="1"/>
          </p:cNvSpPr>
          <p:nvPr/>
        </p:nvSpPr>
        <p:spPr>
          <a:xfrm xmlns:a="http://schemas.openxmlformats.org/drawingml/2006/main">
            <a:off x="2666886" y="920458"/>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una:</a:t>
            </a:r>
          </a:p>
        </p:txBody>
      </p:sp>
      <p:sp>
        <p:nvSpPr>
          <p:cNvPr id="58" name="INTRO_NUMERO_1">
            <a:extLst xmlns:a="http://schemas.openxmlformats.org/drawingml/2006/main">
              <a:ext uri="{FF2B5EF4-FFF2-40B4-BE49-F238E27FC236}">
                <a16:creationId xmlns:a16="http://schemas.microsoft.com/office/drawing/2014/main" id="{B2541F9D-9050-4678-AFD4-EA1568263D41}"/>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1</a:t>
            </a:r>
          </a:p>
        </p:txBody>
      </p:sp>
      <p:sp>
        <p:nvSpPr>
          <p:cNvPr id="59" name="INTRO_SECCION_1_1">
            <a:extLst xmlns:a="http://schemas.openxmlformats.org/drawingml/2006/main">
              <a:ext uri="{FF2B5EF4-FFF2-40B4-BE49-F238E27FC236}">
                <a16:creationId xmlns:a16="http://schemas.microsoft.com/office/drawing/2014/main" id="{6F0B13B8-95A6-44CB-AD62-DFCAED5F3B1A}"/>
              </a:ext>
            </a:extLst>
          </p:cNvPr>
          <p:cNvSpPr>
            <a:spLocks xmlns:a="http://schemas.openxmlformats.org/drawingml/2006/main" noGrp="1"/>
          </p:cNvSpPr>
          <p:nvPr/>
        </p:nvSpPr>
        <p:spPr>
          <a:xfrm xmlns:a="http://schemas.openxmlformats.org/drawingml/2006/main">
            <a:off x="2971800" y="13639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Indicadores Económicos </a:t>
            </a:r>
          </a:p>
        </p:txBody>
      </p:sp>
      <p:sp>
        <p:nvSpPr>
          <p:cNvPr id="60" name="INTRO_SECCION_1_2">
            <a:extLst xmlns:a="http://schemas.openxmlformats.org/drawingml/2006/main">
              <a:ext uri="{FF2B5EF4-FFF2-40B4-BE49-F238E27FC236}">
                <a16:creationId xmlns:a16="http://schemas.microsoft.com/office/drawing/2014/main" id="{31F2C968-5A63-4778-84E9-C74850330BC8}"/>
              </a:ext>
            </a:extLst>
          </p:cNvPr>
          <p:cNvSpPr>
            <a:spLocks xmlns:a="http://schemas.openxmlformats.org/drawingml/2006/main" noGrp="1"/>
          </p:cNvSpPr>
          <p:nvPr/>
        </p:nvSpPr>
        <p:spPr>
          <a:xfrm xmlns:a="http://schemas.openxmlformats.org/drawingml/2006/main">
            <a:off x="2971800" y="14986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de las TyR:</a:t>
            </a:r>
          </a:p>
        </p:txBody>
      </p:sp>
      <p:sp>
        <p:nvSpPr>
          <p:cNvPr id="61" name="INTRO_TEXTO_32">
            <a:extLst xmlns:a="http://schemas.openxmlformats.org/drawingml/2006/main">
              <a:ext uri="{FF2B5EF4-FFF2-40B4-BE49-F238E27FC236}">
                <a16:creationId xmlns:a16="http://schemas.microsoft.com/office/drawing/2014/main" id="{CDEF6A0C-4025-4B76-97C8-EB344B40305F}"/>
              </a:ext>
            </a:extLst>
          </p:cNvPr>
          <p:cNvSpPr>
            <a:spLocks xmlns:a="http://schemas.openxmlformats.org/drawingml/2006/main" noGrp="1"/>
          </p:cNvSpPr>
          <p:nvPr/>
        </p:nvSpPr>
        <p:spPr>
          <a:xfrm xmlns:a="http://schemas.openxmlformats.org/drawingml/2006/main">
            <a:off x="4673600" y="127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Producto Interno Bruto (PIB); número de personas empleadas; índices de </a:t>
            </a:r>
          </a:p>
        </p:txBody>
      </p:sp>
      <p:sp>
        <p:nvSpPr>
          <p:cNvPr id="62" name="INTRO_TEXTO_33">
            <a:extLst xmlns:a="http://schemas.openxmlformats.org/drawingml/2006/main">
              <a:ext uri="{FF2B5EF4-FFF2-40B4-BE49-F238E27FC236}">
                <a16:creationId xmlns:a16="http://schemas.microsoft.com/office/drawing/2014/main" id="{CB041FC1-1B59-466E-AB8A-216C6D4B3824}"/>
              </a:ext>
            </a:extLst>
          </p:cNvPr>
          <p:cNvSpPr>
            <a:spLocks xmlns:a="http://schemas.openxmlformats.org/drawingml/2006/main" noGrp="1"/>
          </p:cNvSpPr>
          <p:nvPr/>
        </p:nvSpPr>
        <p:spPr>
          <a:xfrm xmlns:a="http://schemas.openxmlformats.org/drawingml/2006/main">
            <a:off x="4673600" y="138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precios; inversión privada en telecomunicaciones; Inversión Extranjera Directa (IED); </a:t>
            </a:r>
          </a:p>
        </p:txBody>
      </p:sp>
      <p:sp>
        <p:nvSpPr>
          <p:cNvPr id="63" name="INTRO_TEXTO_34">
            <a:extLst xmlns:a="http://schemas.openxmlformats.org/drawingml/2006/main">
              <a:ext uri="{FF2B5EF4-FFF2-40B4-BE49-F238E27FC236}">
                <a16:creationId xmlns:a16="http://schemas.microsoft.com/office/drawing/2014/main" id="{F3B691B4-13E6-4D97-9BF8-D624F901A6F4}"/>
              </a:ext>
            </a:extLst>
          </p:cNvPr>
          <p:cNvSpPr>
            <a:spLocks xmlns:a="http://schemas.openxmlformats.org/drawingml/2006/main" noGrp="1"/>
          </p:cNvSpPr>
          <p:nvPr/>
        </p:nvSpPr>
        <p:spPr>
          <a:xfrm xmlns:a="http://schemas.openxmlformats.org/drawingml/2006/main">
            <a:off x="4673600" y="149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ingresos, egresos y margen del sector; y el ingreso y gasto en los hogares de los </a:t>
            </a:r>
          </a:p>
        </p:txBody>
      </p:sp>
      <p:sp>
        <p:nvSpPr>
          <p:cNvPr id="64" name="INTRO_TEXTO_35">
            <a:extLst xmlns:a="http://schemas.openxmlformats.org/drawingml/2006/main">
              <a:ext uri="{FF2B5EF4-FFF2-40B4-BE49-F238E27FC236}">
                <a16:creationId xmlns:a16="http://schemas.microsoft.com/office/drawing/2014/main" id="{CEBC33AE-C347-439E-AA34-7926D4113DAF}"/>
              </a:ext>
            </a:extLst>
          </p:cNvPr>
          <p:cNvSpPr>
            <a:spLocks xmlns:a="http://schemas.openxmlformats.org/drawingml/2006/main" noGrp="1"/>
          </p:cNvSpPr>
          <p:nvPr/>
        </p:nvSpPr>
        <p:spPr>
          <a:xfrm xmlns:a="http://schemas.openxmlformats.org/drawingml/2006/main">
            <a:off x="4673600" y="16052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servicios de telecomunicaciones fijas y móviles.</a:t>
            </a:r>
          </a:p>
        </p:txBody>
      </p:sp>
      <p:sp>
        <p:nvSpPr>
          <p:cNvPr id="65" name="INTRO_NUMERO_2">
            <a:extLst xmlns:a="http://schemas.openxmlformats.org/drawingml/2006/main">
              <a:ext uri="{FF2B5EF4-FFF2-40B4-BE49-F238E27FC236}">
                <a16:creationId xmlns:a16="http://schemas.microsoft.com/office/drawing/2014/main" id="{10044063-37DE-45C0-9296-26CACE0D658D}"/>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2</a:t>
            </a:r>
          </a:p>
        </p:txBody>
      </p:sp>
      <p:sp>
        <p:nvSpPr>
          <p:cNvPr id="66" name="INTRO_SECCION_2_1">
            <a:extLst xmlns:a="http://schemas.openxmlformats.org/drawingml/2006/main">
              <a:ext uri="{FF2B5EF4-FFF2-40B4-BE49-F238E27FC236}">
                <a16:creationId xmlns:a16="http://schemas.microsoft.com/office/drawing/2014/main" id="{E7A0210B-79BA-49E7-B34D-F84F743641DB}"/>
              </a:ext>
            </a:extLst>
          </p:cNvPr>
          <p:cNvSpPr>
            <a:spLocks xmlns:a="http://schemas.openxmlformats.org/drawingml/2006/main" noGrp="1"/>
          </p:cNvSpPr>
          <p:nvPr/>
        </p:nvSpPr>
        <p:spPr>
          <a:xfrm xmlns:a="http://schemas.openxmlformats.org/drawingml/2006/main">
            <a:off x="2971800" y="2329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Fijos de </a:t>
            </a:r>
          </a:p>
        </p:txBody>
      </p:sp>
      <p:sp>
        <p:nvSpPr>
          <p:cNvPr id="67" name="INTRO_SECCION_2_2">
            <a:extLst xmlns:a="http://schemas.openxmlformats.org/drawingml/2006/main">
              <a:ext uri="{FF2B5EF4-FFF2-40B4-BE49-F238E27FC236}">
                <a16:creationId xmlns:a16="http://schemas.microsoft.com/office/drawing/2014/main" id="{B69FD241-09E4-4FC9-847C-1FF47188FABC}"/>
              </a:ext>
            </a:extLst>
          </p:cNvPr>
          <p:cNvSpPr>
            <a:spLocks xmlns:a="http://schemas.openxmlformats.org/drawingml/2006/main" noGrp="1"/>
          </p:cNvSpPr>
          <p:nvPr/>
        </p:nvSpPr>
        <p:spPr>
          <a:xfrm xmlns:a="http://schemas.openxmlformats.org/drawingml/2006/main">
            <a:off x="2971800" y="2463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68" name="INTRO_TEXTO_36">
            <a:extLst xmlns:a="http://schemas.openxmlformats.org/drawingml/2006/main">
              <a:ext uri="{FF2B5EF4-FFF2-40B4-BE49-F238E27FC236}">
                <a16:creationId xmlns:a16="http://schemas.microsoft.com/office/drawing/2014/main" id="{AC519C1A-51C6-4781-B14F-8AA4A32A00A6}"/>
              </a:ext>
            </a:extLst>
          </p:cNvPr>
          <p:cNvSpPr>
            <a:spLocks xmlns:a="http://schemas.openxmlformats.org/drawingml/2006/main" noGrp="1"/>
          </p:cNvSpPr>
          <p:nvPr/>
        </p:nvSpPr>
        <p:spPr>
          <a:xfrm xmlns:a="http://schemas.openxmlformats.org/drawingml/2006/main">
            <a:off x="4673600" y="1981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Comprende la distribución de los servicios fijos en los hogares; números de </a:t>
            </a:r>
          </a:p>
        </p:txBody>
      </p:sp>
      <p:sp>
        <p:nvSpPr>
          <p:cNvPr id="69" name="INTRO_TEXTO_37">
            <a:extLst xmlns:a="http://schemas.openxmlformats.org/drawingml/2006/main">
              <a:ext uri="{FF2B5EF4-FFF2-40B4-BE49-F238E27FC236}">
                <a16:creationId xmlns:a16="http://schemas.microsoft.com/office/drawing/2014/main" id="{6CFA896A-3F88-470E-85EE-E7AB1337F06F}"/>
              </a:ext>
            </a:extLst>
          </p:cNvPr>
          <p:cNvSpPr>
            <a:spLocks xmlns:a="http://schemas.openxmlformats.org/drawingml/2006/main" noGrp="1"/>
          </p:cNvSpPr>
          <p:nvPr/>
        </p:nvSpPr>
        <p:spPr>
          <a:xfrm xmlns:a="http://schemas.openxmlformats.org/drawingml/2006/main">
            <a:off x="4673600" y="2092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totales; participación y concentración de mercado; números de </a:t>
            </a:r>
          </a:p>
        </p:txBody>
      </p:sp>
      <p:sp>
        <p:nvSpPr>
          <p:cNvPr id="70" name="INTRO_TEXTO_38">
            <a:extLst xmlns:a="http://schemas.openxmlformats.org/drawingml/2006/main">
              <a:ext uri="{FF2B5EF4-FFF2-40B4-BE49-F238E27FC236}">
                <a16:creationId xmlns:a16="http://schemas.microsoft.com/office/drawing/2014/main" id="{D1D873C7-942E-4CD8-9540-24B9F5939835}"/>
              </a:ext>
            </a:extLst>
          </p:cNvPr>
          <p:cNvSpPr>
            <a:spLocks xmlns:a="http://schemas.openxmlformats.org/drawingml/2006/main" noGrp="1"/>
          </p:cNvSpPr>
          <p:nvPr/>
        </p:nvSpPr>
        <p:spPr>
          <a:xfrm xmlns:a="http://schemas.openxmlformats.org/drawingml/2006/main">
            <a:off x="4673600" y="2204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por cada 100 hogares a nivel nacional; números de accesos/líneas por </a:t>
            </a:r>
          </a:p>
        </p:txBody>
      </p:sp>
      <p:sp>
        <p:nvSpPr>
          <p:cNvPr id="71" name="INTRO_TEXTO_39">
            <a:extLst xmlns:a="http://schemas.openxmlformats.org/drawingml/2006/main">
              <a:ext uri="{FF2B5EF4-FFF2-40B4-BE49-F238E27FC236}">
                <a16:creationId xmlns:a16="http://schemas.microsoft.com/office/drawing/2014/main" id="{3A52A9E6-0E13-4D8D-8BC8-6A010B9B9B72}"/>
              </a:ext>
            </a:extLst>
          </p:cNvPr>
          <p:cNvSpPr>
            <a:spLocks xmlns:a="http://schemas.openxmlformats.org/drawingml/2006/main" noGrp="1"/>
          </p:cNvSpPr>
          <p:nvPr/>
        </p:nvSpPr>
        <p:spPr>
          <a:xfrm xmlns:a="http://schemas.openxmlformats.org/drawingml/2006/main">
            <a:off x="4673600" y="2316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cada 100 hogares/unidades económicas en los segmentos residencial y no residencial </a:t>
            </a:r>
          </a:p>
        </p:txBody>
      </p:sp>
      <p:sp>
        <p:nvSpPr>
          <p:cNvPr id="72" name="INTRO_TEXTO_40">
            <a:extLst xmlns:a="http://schemas.openxmlformats.org/drawingml/2006/main">
              <a:ext uri="{FF2B5EF4-FFF2-40B4-BE49-F238E27FC236}">
                <a16:creationId xmlns:a16="http://schemas.microsoft.com/office/drawing/2014/main" id="{CE5BAF5E-6CEF-4B14-8B47-133C4D5DA8CB}"/>
              </a:ext>
            </a:extLst>
          </p:cNvPr>
          <p:cNvSpPr>
            <a:spLocks xmlns:a="http://schemas.openxmlformats.org/drawingml/2006/main" noGrp="1"/>
          </p:cNvSpPr>
          <p:nvPr/>
        </p:nvSpPr>
        <p:spPr>
          <a:xfrm xmlns:a="http://schemas.openxmlformats.org/drawingml/2006/main">
            <a:off x="4673600" y="2428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 nivel entidad federativa de los servicios fijos de telefonía, acceso a Internet y </a:t>
            </a:r>
          </a:p>
        </p:txBody>
      </p:sp>
      <p:sp>
        <p:nvSpPr>
          <p:cNvPr id="73" name="INTRO_TEXTO_41">
            <a:extLst xmlns:a="http://schemas.openxmlformats.org/drawingml/2006/main">
              <a:ext uri="{FF2B5EF4-FFF2-40B4-BE49-F238E27FC236}">
                <a16:creationId xmlns:a16="http://schemas.microsoft.com/office/drawing/2014/main" id="{290DAABE-A5CD-4458-92F4-7FF1F55C122F}"/>
              </a:ext>
            </a:extLst>
          </p:cNvPr>
          <p:cNvSpPr>
            <a:spLocks xmlns:a="http://schemas.openxmlformats.org/drawingml/2006/main" noGrp="1"/>
          </p:cNvSpPr>
          <p:nvPr/>
        </p:nvSpPr>
        <p:spPr>
          <a:xfrm xmlns:a="http://schemas.openxmlformats.org/drawingml/2006/main">
            <a:off x="4673600" y="254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televisión restringida; así como el tráfico del servicio fijo de telefonía; y la participación </a:t>
            </a:r>
          </a:p>
        </p:txBody>
      </p:sp>
      <p:sp>
        <p:nvSpPr>
          <p:cNvPr id="74" name="INTRO_TEXTO_42">
            <a:extLst xmlns:a="http://schemas.openxmlformats.org/drawingml/2006/main">
              <a:ext uri="{FF2B5EF4-FFF2-40B4-BE49-F238E27FC236}">
                <a16:creationId xmlns:a16="http://schemas.microsoft.com/office/drawing/2014/main" id="{A2B33632-BE8E-47DC-B375-9DACABEA28B4}"/>
              </a:ext>
            </a:extLst>
          </p:cNvPr>
          <p:cNvSpPr>
            <a:spLocks xmlns:a="http://schemas.openxmlformats.org/drawingml/2006/main" noGrp="1"/>
          </p:cNvSpPr>
          <p:nvPr/>
        </p:nvSpPr>
        <p:spPr>
          <a:xfrm xmlns:a="http://schemas.openxmlformats.org/drawingml/2006/main">
            <a:off x="4673600" y="265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las tecnologías y rangos de velocidad utilizadas para la prestación del servicio fijo </a:t>
            </a:r>
          </a:p>
        </p:txBody>
      </p:sp>
      <p:sp>
        <p:nvSpPr>
          <p:cNvPr id="75" name="INTRO_TEXTO_43">
            <a:extLst xmlns:a="http://schemas.openxmlformats.org/drawingml/2006/main">
              <a:ext uri="{FF2B5EF4-FFF2-40B4-BE49-F238E27FC236}">
                <a16:creationId xmlns:a16="http://schemas.microsoft.com/office/drawing/2014/main" id="{CCB8D276-D1DB-4BCC-A815-08FDD99136E0}"/>
              </a:ext>
            </a:extLst>
          </p:cNvPr>
          <p:cNvSpPr>
            <a:spLocks xmlns:a="http://schemas.openxmlformats.org/drawingml/2006/main" noGrp="1"/>
          </p:cNvSpPr>
          <p:nvPr/>
        </p:nvSpPr>
        <p:spPr>
          <a:xfrm xmlns:a="http://schemas.openxmlformats.org/drawingml/2006/main">
            <a:off x="4673600" y="276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acceso a Internet y del servicio de televisión restringida.</a:t>
            </a:r>
          </a:p>
        </p:txBody>
      </p:sp>
      <p:sp>
        <p:nvSpPr>
          <p:cNvPr id="76" name="INTRO_NUMERO_3">
            <a:extLst xmlns:a="http://schemas.openxmlformats.org/drawingml/2006/main">
              <a:ext uri="{FF2B5EF4-FFF2-40B4-BE49-F238E27FC236}">
                <a16:creationId xmlns:a16="http://schemas.microsoft.com/office/drawing/2014/main" id="{4E0CE3D0-19FB-405D-BCA5-F5D9FA2A8908}"/>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3</a:t>
            </a:r>
          </a:p>
        </p:txBody>
      </p:sp>
      <p:sp>
        <p:nvSpPr>
          <p:cNvPr id="77" name="INTRO_SECCION_3_1">
            <a:extLst xmlns:a="http://schemas.openxmlformats.org/drawingml/2006/main">
              <a:ext uri="{FF2B5EF4-FFF2-40B4-BE49-F238E27FC236}">
                <a16:creationId xmlns:a16="http://schemas.microsoft.com/office/drawing/2014/main" id="{A274F237-CF90-4FFF-9A27-A2133ED0E35F}"/>
              </a:ext>
            </a:extLst>
          </p:cNvPr>
          <p:cNvSpPr>
            <a:spLocks xmlns:a="http://schemas.openxmlformats.org/drawingml/2006/main" noGrp="1"/>
          </p:cNvSpPr>
          <p:nvPr/>
        </p:nvSpPr>
        <p:spPr>
          <a:xfrm xmlns:a="http://schemas.openxmlformats.org/drawingml/2006/main">
            <a:off x="2971800" y="3345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Móviles de </a:t>
            </a:r>
          </a:p>
        </p:txBody>
      </p:sp>
      <p:sp>
        <p:nvSpPr>
          <p:cNvPr id="78" name="INTRO_SECCION_3_2">
            <a:extLst xmlns:a="http://schemas.openxmlformats.org/drawingml/2006/main">
              <a:ext uri="{FF2B5EF4-FFF2-40B4-BE49-F238E27FC236}">
                <a16:creationId xmlns:a16="http://schemas.microsoft.com/office/drawing/2014/main" id="{62CF09A8-B8F2-4B26-BDA2-255BC627FA0A}"/>
              </a:ext>
            </a:extLst>
          </p:cNvPr>
          <p:cNvSpPr>
            <a:spLocks xmlns:a="http://schemas.openxmlformats.org/drawingml/2006/main" noGrp="1"/>
          </p:cNvSpPr>
          <p:nvPr/>
        </p:nvSpPr>
        <p:spPr>
          <a:xfrm xmlns:a="http://schemas.openxmlformats.org/drawingml/2006/main">
            <a:off x="2971800" y="3479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79" name="INTRO_TEXTO_44">
            <a:extLst xmlns:a="http://schemas.openxmlformats.org/drawingml/2006/main">
              <a:ext uri="{FF2B5EF4-FFF2-40B4-BE49-F238E27FC236}">
                <a16:creationId xmlns:a16="http://schemas.microsoft.com/office/drawing/2014/main" id="{AC35FFD4-5E9A-454E-A12B-FA4C3E3DA713}"/>
              </a:ext>
            </a:extLst>
          </p:cNvPr>
          <p:cNvSpPr>
            <a:spLocks xmlns:a="http://schemas.openxmlformats.org/drawingml/2006/main" noGrp="1"/>
          </p:cNvSpPr>
          <p:nvPr/>
        </p:nvSpPr>
        <p:spPr>
          <a:xfrm xmlns:a="http://schemas.openxmlformats.org/drawingml/2006/main">
            <a:off x="4673600" y="32004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la distribución del espectro radioeléctrico por banda de frecuencia y por </a:t>
            </a:r>
          </a:p>
        </p:txBody>
      </p:sp>
      <p:sp>
        <p:nvSpPr>
          <p:cNvPr id="80" name="INTRO_TEXTO_45">
            <a:extLst xmlns:a="http://schemas.openxmlformats.org/drawingml/2006/main">
              <a:ext uri="{FF2B5EF4-FFF2-40B4-BE49-F238E27FC236}">
                <a16:creationId xmlns:a16="http://schemas.microsoft.com/office/drawing/2014/main" id="{CDFCF6B8-AA49-4D10-A598-E2AAF6B99DF0}"/>
              </a:ext>
            </a:extLst>
          </p:cNvPr>
          <p:cNvSpPr>
            <a:spLocks xmlns:a="http://schemas.openxmlformats.org/drawingml/2006/main" noGrp="1"/>
          </p:cNvSpPr>
          <p:nvPr/>
        </p:nvSpPr>
        <p:spPr>
          <a:xfrm xmlns:a="http://schemas.openxmlformats.org/drawingml/2006/main">
            <a:off x="4673600" y="33121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operador; el uso de los servicios móviles de telecomunicaciones por la población; el </a:t>
            </a:r>
          </a:p>
        </p:txBody>
      </p:sp>
      <p:sp>
        <p:nvSpPr>
          <p:cNvPr id="81" name="INTRO_TEXTO_46">
            <a:extLst xmlns:a="http://schemas.openxmlformats.org/drawingml/2006/main">
              <a:ext uri="{FF2B5EF4-FFF2-40B4-BE49-F238E27FC236}">
                <a16:creationId xmlns:a16="http://schemas.microsoft.com/office/drawing/2014/main" id="{66078D7F-686B-4C96-9DDA-F22F0C149268}"/>
              </a:ext>
            </a:extLst>
          </p:cNvPr>
          <p:cNvSpPr>
            <a:spLocks xmlns:a="http://schemas.openxmlformats.org/drawingml/2006/main" noGrp="1"/>
          </p:cNvSpPr>
          <p:nvPr/>
        </p:nvSpPr>
        <p:spPr>
          <a:xfrm xmlns:a="http://schemas.openxmlformats.org/drawingml/2006/main">
            <a:off x="4673600" y="34239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número de líneas totales; la participación y concentración de mercado; el número de </a:t>
            </a:r>
          </a:p>
        </p:txBody>
      </p:sp>
      <p:sp>
        <p:nvSpPr>
          <p:cNvPr id="82" name="INTRO_TEXTO_47">
            <a:extLst xmlns:a="http://schemas.openxmlformats.org/drawingml/2006/main">
              <a:ext uri="{FF2B5EF4-FFF2-40B4-BE49-F238E27FC236}">
                <a16:creationId xmlns:a16="http://schemas.microsoft.com/office/drawing/2014/main" id="{57DAE001-AFE5-4D03-B5D0-C3F94AD69631}"/>
              </a:ext>
            </a:extLst>
          </p:cNvPr>
          <p:cNvSpPr>
            <a:spLocks xmlns:a="http://schemas.openxmlformats.org/drawingml/2006/main" noGrp="1"/>
          </p:cNvSpPr>
          <p:nvPr/>
        </p:nvSpPr>
        <p:spPr>
          <a:xfrm xmlns:a="http://schemas.openxmlformats.org/drawingml/2006/main">
            <a:off x="4673600" y="35356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líneas por cada 100 habitantes a nivel nacional y por entidad federativa; y el tráfico de </a:t>
            </a:r>
          </a:p>
        </p:txBody>
      </p:sp>
      <p:sp>
        <p:nvSpPr>
          <p:cNvPr id="83" name="INTRO_TEXTO_48">
            <a:extLst xmlns:a="http://schemas.openxmlformats.org/drawingml/2006/main">
              <a:ext uri="{FF2B5EF4-FFF2-40B4-BE49-F238E27FC236}">
                <a16:creationId xmlns:a16="http://schemas.microsoft.com/office/drawing/2014/main" id="{DD0A7A0A-BDC1-484E-9159-43D09EDC6170}"/>
              </a:ext>
            </a:extLst>
          </p:cNvPr>
          <p:cNvSpPr>
            <a:spLocks xmlns:a="http://schemas.openxmlformats.org/drawingml/2006/main" noGrp="1"/>
          </p:cNvSpPr>
          <p:nvPr/>
        </p:nvSpPr>
        <p:spPr>
          <a:xfrm xmlns:a="http://schemas.openxmlformats.org/drawingml/2006/main">
            <a:off x="4673600" y="36474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los servicios móviles de telefonía y de acceso a Internet.</a:t>
            </a:r>
          </a:p>
        </p:txBody>
      </p:sp>
      <p:sp>
        <p:nvSpPr>
          <p:cNvPr id="84" name="INTRO_NUMERO_4">
            <a:extLst xmlns:a="http://schemas.openxmlformats.org/drawingml/2006/main">
              <a:ext uri="{FF2B5EF4-FFF2-40B4-BE49-F238E27FC236}">
                <a16:creationId xmlns:a16="http://schemas.microsoft.com/office/drawing/2014/main" id="{AF896CD7-66ED-4125-8776-E7031F378327}"/>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4</a:t>
            </a:r>
          </a:p>
        </p:txBody>
      </p:sp>
      <p:sp>
        <p:nvSpPr>
          <p:cNvPr id="85" name="INTRO_SECCION_4_1">
            <a:extLst xmlns:a="http://schemas.openxmlformats.org/drawingml/2006/main">
              <a:ext uri="{FF2B5EF4-FFF2-40B4-BE49-F238E27FC236}">
                <a16:creationId xmlns:a16="http://schemas.microsoft.com/office/drawing/2014/main" id="{4A56839D-729E-46E3-8F78-6EC30AA53485}"/>
              </a:ext>
            </a:extLst>
          </p:cNvPr>
          <p:cNvSpPr>
            <a:spLocks xmlns:a="http://schemas.openxmlformats.org/drawingml/2006/main" noGrp="1"/>
          </p:cNvSpPr>
          <p:nvPr/>
        </p:nvSpPr>
        <p:spPr>
          <a:xfrm xmlns:a="http://schemas.openxmlformats.org/drawingml/2006/main">
            <a:off x="2971800" y="420497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Tecnologías de la </a:t>
            </a:r>
          </a:p>
        </p:txBody>
      </p:sp>
      <p:sp>
        <p:nvSpPr>
          <p:cNvPr id="86" name="INTRO_SECCION_4_2">
            <a:extLst xmlns:a="http://schemas.openxmlformats.org/drawingml/2006/main">
              <a:ext uri="{FF2B5EF4-FFF2-40B4-BE49-F238E27FC236}">
                <a16:creationId xmlns:a16="http://schemas.microsoft.com/office/drawing/2014/main" id="{9A252672-72B8-455D-94F2-BD33B18CD7A9}"/>
              </a:ext>
            </a:extLst>
          </p:cNvPr>
          <p:cNvSpPr>
            <a:spLocks xmlns:a="http://schemas.openxmlformats.org/drawingml/2006/main" noGrp="1"/>
          </p:cNvSpPr>
          <p:nvPr/>
        </p:nvSpPr>
        <p:spPr>
          <a:xfrm xmlns:a="http://schemas.openxmlformats.org/drawingml/2006/main">
            <a:off x="2971800" y="433959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Información y </a:t>
            </a:r>
          </a:p>
        </p:txBody>
      </p:sp>
      <p:sp>
        <p:nvSpPr>
          <p:cNvPr id="87" name="INTRO_SECCION_4_3">
            <a:extLst xmlns:a="http://schemas.openxmlformats.org/drawingml/2006/main">
              <a:ext uri="{FF2B5EF4-FFF2-40B4-BE49-F238E27FC236}">
                <a16:creationId xmlns:a16="http://schemas.microsoft.com/office/drawing/2014/main" id="{7DDB1388-4B0D-4F03-8955-1BF2D45E6D9D}"/>
              </a:ext>
            </a:extLst>
          </p:cNvPr>
          <p:cNvSpPr>
            <a:spLocks xmlns:a="http://schemas.openxmlformats.org/drawingml/2006/main" noGrp="1"/>
          </p:cNvSpPr>
          <p:nvPr/>
        </p:nvSpPr>
        <p:spPr>
          <a:xfrm xmlns:a="http://schemas.openxmlformats.org/drawingml/2006/main">
            <a:off x="2971800" y="447421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Comunicación (TIC):</a:t>
            </a:r>
          </a:p>
        </p:txBody>
      </p:sp>
      <p:sp>
        <p:nvSpPr>
          <p:cNvPr id="88" name="INTRO_TEXTO_49">
            <a:extLst xmlns:a="http://schemas.openxmlformats.org/drawingml/2006/main">
              <a:ext uri="{FF2B5EF4-FFF2-40B4-BE49-F238E27FC236}">
                <a16:creationId xmlns:a16="http://schemas.microsoft.com/office/drawing/2014/main" id="{27AA3831-3A73-4B14-A6B7-2D8E210E5547}"/>
              </a:ext>
            </a:extLst>
          </p:cNvPr>
          <p:cNvSpPr>
            <a:spLocks xmlns:a="http://schemas.openxmlformats.org/drawingml/2006/main" noGrp="1"/>
          </p:cNvSpPr>
          <p:nvPr/>
        </p:nvSpPr>
        <p:spPr>
          <a:xfrm xmlns:a="http://schemas.openxmlformats.org/drawingml/2006/main">
            <a:off x="4673600" y="4013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Contiene información de la disponibilidad de aparatos de radio, equipo de cómputo, </a:t>
            </a:r>
          </a:p>
        </p:txBody>
      </p:sp>
      <p:sp>
        <p:nvSpPr>
          <p:cNvPr id="89" name="INTRO_TEXTO_50">
            <a:extLst xmlns:a="http://schemas.openxmlformats.org/drawingml/2006/main">
              <a:ext uri="{FF2B5EF4-FFF2-40B4-BE49-F238E27FC236}">
                <a16:creationId xmlns:a16="http://schemas.microsoft.com/office/drawing/2014/main" id="{669FAFE1-94F0-4D1D-B3C4-DF395C98F748}"/>
              </a:ext>
            </a:extLst>
          </p:cNvPr>
          <p:cNvSpPr>
            <a:spLocks xmlns:a="http://schemas.openxmlformats.org/drawingml/2006/main" noGrp="1"/>
          </p:cNvSpPr>
          <p:nvPr/>
        </p:nvSpPr>
        <p:spPr>
          <a:xfrm xmlns:a="http://schemas.openxmlformats.org/drawingml/2006/main">
            <a:off x="4673600" y="4124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teléfono móvil, televisores digitales y analógicos en los hogares, porcentaje de </a:t>
            </a:r>
          </a:p>
        </p:txBody>
      </p:sp>
      <p:sp>
        <p:nvSpPr>
          <p:cNvPr id="90" name="INTRO_TEXTO_51">
            <a:extLst xmlns:a="http://schemas.openxmlformats.org/drawingml/2006/main">
              <a:ext uri="{FF2B5EF4-FFF2-40B4-BE49-F238E27FC236}">
                <a16:creationId xmlns:a16="http://schemas.microsoft.com/office/drawing/2014/main" id="{CC930FD8-74EE-482E-8EB2-37C902CC2214}"/>
              </a:ext>
            </a:extLst>
          </p:cNvPr>
          <p:cNvSpPr>
            <a:spLocks xmlns:a="http://schemas.openxmlformats.org/drawingml/2006/main" noGrp="1"/>
          </p:cNvSpPr>
          <p:nvPr/>
        </p:nvSpPr>
        <p:spPr>
          <a:xfrm xmlns:a="http://schemas.openxmlformats.org/drawingml/2006/main">
            <a:off x="4673600" y="4236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usuarios de Internet y </a:t>
            </a:r>
            <a:r>
              <a:rPr sz="720" b="0" i="1">
                <a:solidFill>
                  <a:srgbClr val="26312F"/>
                </a:solidFill>
                <a:latin typeface="Noto Sans"/>
                <a:ea typeface="Noto Sans"/>
                <a:cs typeface="Noto Sans"/>
              </a:rPr>
              <a:t>Smartphone</a:t>
            </a:r>
            <a:r>
              <a:rPr sz="720" b="0" i="0">
                <a:solidFill>
                  <a:srgbClr val="26312F"/>
                </a:solidFill>
                <a:latin typeface="Noto Sans"/>
                <a:ea typeface="Noto Sans"/>
                <a:cs typeface="Noto Sans"/>
              </a:rPr>
              <a:t>; y horas promedio de uso de Internet por grupos de </a:t>
            </a:r>
          </a:p>
        </p:txBody>
      </p:sp>
      <p:sp>
        <p:nvSpPr>
          <p:cNvPr id="91" name="INTRO_TEXTO_52">
            <a:extLst xmlns:a="http://schemas.openxmlformats.org/drawingml/2006/main">
              <a:ext uri="{FF2B5EF4-FFF2-40B4-BE49-F238E27FC236}">
                <a16:creationId xmlns:a16="http://schemas.microsoft.com/office/drawing/2014/main" id="{64152F2E-E0E2-4244-9601-3110C008B44B}"/>
              </a:ext>
            </a:extLst>
          </p:cNvPr>
          <p:cNvSpPr>
            <a:spLocks xmlns:a="http://schemas.openxmlformats.org/drawingml/2006/main" noGrp="1"/>
          </p:cNvSpPr>
          <p:nvPr/>
        </p:nvSpPr>
        <p:spPr>
          <a:xfrm xmlns:a="http://schemas.openxmlformats.org/drawingml/2006/main">
            <a:off x="4673600" y="4348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edad, uso de dispositivos inteligentes (bocina o asistente del hogar, sistema de video </a:t>
            </a:r>
          </a:p>
        </p:txBody>
      </p:sp>
      <p:sp>
        <p:nvSpPr>
          <p:cNvPr id="92" name="INTRO_TEXTO_53">
            <a:extLst xmlns:a="http://schemas.openxmlformats.org/drawingml/2006/main">
              <a:ext uri="{FF2B5EF4-FFF2-40B4-BE49-F238E27FC236}">
                <a16:creationId xmlns:a16="http://schemas.microsoft.com/office/drawing/2014/main" id="{F8556B8C-7CC4-4E14-93DA-C3CFA46636F0}"/>
              </a:ext>
            </a:extLst>
          </p:cNvPr>
          <p:cNvSpPr>
            <a:spLocks xmlns:a="http://schemas.openxmlformats.org/drawingml/2006/main" noGrp="1"/>
          </p:cNvSpPr>
          <p:nvPr/>
        </p:nvSpPr>
        <p:spPr>
          <a:xfrm xmlns:a="http://schemas.openxmlformats.org/drawingml/2006/main">
            <a:off x="4673600" y="4460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vigilancia, puertas o ventanas de cerrado digital, termostato, dispositivos de ahorro de </a:t>
            </a:r>
          </a:p>
        </p:txBody>
      </p:sp>
      <p:sp>
        <p:nvSpPr>
          <p:cNvPr id="93" name="INTRO_TEXTO_54">
            <a:extLst xmlns:a="http://schemas.openxmlformats.org/drawingml/2006/main">
              <a:ext uri="{FF2B5EF4-FFF2-40B4-BE49-F238E27FC236}">
                <a16:creationId xmlns:a16="http://schemas.microsoft.com/office/drawing/2014/main" id="{68665F53-C432-4926-BC53-EEF332706F88}"/>
              </a:ext>
            </a:extLst>
          </p:cNvPr>
          <p:cNvSpPr>
            <a:spLocks xmlns:a="http://schemas.openxmlformats.org/drawingml/2006/main" noGrp="1"/>
          </p:cNvSpPr>
          <p:nvPr/>
        </p:nvSpPr>
        <p:spPr>
          <a:xfrm xmlns:a="http://schemas.openxmlformats.org/drawingml/2006/main">
            <a:off x="4673600" y="4572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energía, conexión eléctrica, electrodomésticos) por grupo de edad, y los efectos de la </a:t>
            </a:r>
          </a:p>
        </p:txBody>
      </p:sp>
      <p:sp>
        <p:nvSpPr>
          <p:cNvPr id="94" name="INTRO_TEXTO_55">
            <a:extLst xmlns:a="http://schemas.openxmlformats.org/drawingml/2006/main">
              <a:ext uri="{FF2B5EF4-FFF2-40B4-BE49-F238E27FC236}">
                <a16:creationId xmlns:a16="http://schemas.microsoft.com/office/drawing/2014/main" id="{F7DF738E-9E69-43CD-938B-DB8E966F3472}"/>
              </a:ext>
            </a:extLst>
          </p:cNvPr>
          <p:cNvSpPr>
            <a:spLocks xmlns:a="http://schemas.openxmlformats.org/drawingml/2006/main" noGrp="1"/>
          </p:cNvSpPr>
          <p:nvPr/>
        </p:nvSpPr>
        <p:spPr>
          <a:xfrm xmlns:a="http://schemas.openxmlformats.org/drawingml/2006/main">
            <a:off x="4673600" y="4683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desconfianza en Internet sobre las actividades en línea que realizan los usuarios.</a:t>
            </a:r>
          </a:p>
        </p:txBody>
      </p:sp>
      <p:sp>
        <p:nvSpPr>
          <p:cNvPr id="95" name="ANUARIO_PAGE_NUMBER">
            <a:extLst xmlns:a="http://schemas.openxmlformats.org/drawingml/2006/main">
              <a:ext uri="{FF2B5EF4-FFF2-40B4-BE49-F238E27FC236}">
                <a16:creationId xmlns:a16="http://schemas.microsoft.com/office/drawing/2014/main" id="{D3448042-EACC-4FBB-B0E1-633233EA86E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6</a:t>
            </a:r>
          </a:p>
        </p:txBody>
      </p:sp>
      <p:sp>
        <p:nvSpPr>
          <p:cNvPr id="96" name="INTRO_EDICION_PIE">
            <a:extLst xmlns:a="http://schemas.openxmlformats.org/drawingml/2006/main">
              <a:ext uri="{FF2B5EF4-FFF2-40B4-BE49-F238E27FC236}">
                <a16:creationId xmlns:a16="http://schemas.microsoft.com/office/drawing/2014/main" id="{284C3B4B-9391-4E08-924A-C3A44D04AB3B}"/>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350393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a391cf12914453e"/>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9" name="ANUARIO_INTRO_CONT_DESIGN_2026">
            <a:extLst xmlns:a="http://schemas.openxmlformats.org/drawingml/2006/main">
              <a:ext uri="{FF2B5EF4-FFF2-40B4-BE49-F238E27FC236}">
                <a16:creationId xmlns:a16="http://schemas.microsoft.com/office/drawing/2014/main" id="{A11C40A5-9D0A-4D73-87AF-FAC4A236F82F}"/>
              </a:ext>
            </a:extLst>
          </p:cNvPr>
          <p:cNvSpPr>
            <a:spLocks xmlns:a="http://schemas.openxmlformats.org/drawingml/2006/main" noGrp="1"/>
          </p:cNvSpPr>
          <p:nvPr/>
        </p:nvSpPr>
        <p:spPr>
          <a:xfrm xmlns:a="http://schemas.openxmlformats.org/drawingml/2006/main">
            <a:off x="304800" y="609600"/>
            <a:ext cx="8534400" cy="736600"/>
          </a:xfrm>
          <a:prstGeom xmlns:a="http://schemas.openxmlformats.org/drawingml/2006/main" prst="roundRect">
            <a:avLst>
              <a:gd name="adj" fmla="val 5172"/>
            </a:avLst>
          </a:prstGeom>
          <a:solidFill xmlns:a="http://schemas.openxmlformats.org/drawingml/2006/main">
            <a:srgbClr val="F6FAF9"/>
          </a:solidFill>
          <a:ln xmlns:a="http://schemas.openxmlformats.org/drawingml/2006/main" w="8890">
            <a:solidFill>
              <a:srgbClr val="DCE9E6"/>
            </a:solidFill>
          </a:ln>
        </p:spPr>
      </p:sp>
      <p:sp>
        <p:nvSpPr>
          <p:cNvPr id="10" name="INTRO8_ACENTO_5">
            <a:extLst xmlns:a="http://schemas.openxmlformats.org/drawingml/2006/main">
              <a:ext uri="{FF2B5EF4-FFF2-40B4-BE49-F238E27FC236}">
                <a16:creationId xmlns:a16="http://schemas.microsoft.com/office/drawing/2014/main" id="{67D82827-C7B5-4679-9C01-9B762941C046}"/>
              </a:ext>
            </a:extLst>
          </p:cNvPr>
          <p:cNvSpPr>
            <a:spLocks xmlns:a="http://schemas.openxmlformats.org/drawingml/2006/main" noGrp="1"/>
          </p:cNvSpPr>
          <p:nvPr/>
        </p:nvSpPr>
        <p:spPr>
          <a:xfrm xmlns:a="http://schemas.openxmlformats.org/drawingml/2006/main">
            <a:off x="304800" y="6858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1" name="INTRO8_SEPARADOR_5">
            <a:extLst xmlns:a="http://schemas.openxmlformats.org/drawingml/2006/main">
              <a:ext uri="{FF2B5EF4-FFF2-40B4-BE49-F238E27FC236}">
                <a16:creationId xmlns:a16="http://schemas.microsoft.com/office/drawing/2014/main" id="{C1EF825E-D6B0-4C4F-8878-9048EF40CC6A}"/>
              </a:ext>
            </a:extLst>
          </p:cNvPr>
          <p:cNvSpPr>
            <a:spLocks xmlns:a="http://schemas.openxmlformats.org/drawingml/2006/main" noGrp="1"/>
          </p:cNvSpPr>
          <p:nvPr/>
        </p:nvSpPr>
        <p:spPr>
          <a:xfrm xmlns:a="http://schemas.openxmlformats.org/drawingml/2006/main">
            <a:off x="2654300" y="6985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2" name="INTRO8_NUMERO_FONDO_5">
            <a:extLst xmlns:a="http://schemas.openxmlformats.org/drawingml/2006/main">
              <a:ext uri="{FF2B5EF4-FFF2-40B4-BE49-F238E27FC236}">
                <a16:creationId xmlns:a16="http://schemas.microsoft.com/office/drawing/2014/main" id="{663D2CCC-F102-4850-B065-A4491F80D7EE}"/>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3" name="INTRO8_NUMERO_5">
            <a:extLst xmlns:a="http://schemas.openxmlformats.org/drawingml/2006/main">
              <a:ext uri="{FF2B5EF4-FFF2-40B4-BE49-F238E27FC236}">
                <a16:creationId xmlns:a16="http://schemas.microsoft.com/office/drawing/2014/main" id="{376FF3D5-4306-4632-8635-FB865E407D16}"/>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5</a:t>
            </a:r>
          </a:p>
        </p:txBody>
      </p:sp>
      <p:sp>
        <p:nvSpPr>
          <p:cNvPr id="14" name="INTRO8_SECCION_5_1">
            <a:extLst xmlns:a="http://schemas.openxmlformats.org/drawingml/2006/main">
              <a:ext uri="{FF2B5EF4-FFF2-40B4-BE49-F238E27FC236}">
                <a16:creationId xmlns:a16="http://schemas.microsoft.com/office/drawing/2014/main" id="{E5AC784F-7E2F-4BEE-B0B3-1C2DB4C47D7B}"/>
              </a:ext>
            </a:extLst>
          </p:cNvPr>
          <p:cNvSpPr>
            <a:spLocks xmlns:a="http://schemas.openxmlformats.org/drawingml/2006/main" noGrp="1"/>
          </p:cNvSpPr>
          <p:nvPr/>
        </p:nvSpPr>
        <p:spPr>
          <a:xfrm xmlns:a="http://schemas.openxmlformats.org/drawingml/2006/main">
            <a:off x="787400" y="8432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Usuarios de Servicios de</a:t>
            </a:r>
          </a:p>
        </p:txBody>
      </p:sp>
      <p:sp>
        <p:nvSpPr>
          <p:cNvPr id="15" name="INTRO8_SECCION_5_2">
            <a:extLst xmlns:a="http://schemas.openxmlformats.org/drawingml/2006/main">
              <a:ext uri="{FF2B5EF4-FFF2-40B4-BE49-F238E27FC236}">
                <a16:creationId xmlns:a16="http://schemas.microsoft.com/office/drawing/2014/main" id="{85369A02-3C6D-43EB-BA0B-E1A3E93A7F56}"/>
              </a:ext>
            </a:extLst>
          </p:cNvPr>
          <p:cNvSpPr>
            <a:spLocks xmlns:a="http://schemas.openxmlformats.org/drawingml/2006/main" noGrp="1"/>
          </p:cNvSpPr>
          <p:nvPr/>
        </p:nvSpPr>
        <p:spPr>
          <a:xfrm xmlns:a="http://schemas.openxmlformats.org/drawingml/2006/main">
            <a:off x="787400" y="9779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Telecomunicaciones:</a:t>
            </a:r>
          </a:p>
        </p:txBody>
      </p:sp>
      <p:sp>
        <p:nvSpPr>
          <p:cNvPr id="16" name="INTRO8_CUERPO_5_1">
            <a:extLst xmlns:a="http://schemas.openxmlformats.org/drawingml/2006/main">
              <a:ext uri="{FF2B5EF4-FFF2-40B4-BE49-F238E27FC236}">
                <a16:creationId xmlns:a16="http://schemas.microsoft.com/office/drawing/2014/main" id="{3BC6DD94-A716-4EE6-9D55-646911FC33B6}"/>
              </a:ext>
            </a:extLst>
          </p:cNvPr>
          <p:cNvSpPr>
            <a:spLocks xmlns:a="http://schemas.openxmlformats.org/drawingml/2006/main" noGrp="1"/>
          </p:cNvSpPr>
          <p:nvPr/>
        </p:nvSpPr>
        <p:spPr>
          <a:xfrm xmlns:a="http://schemas.openxmlformats.org/drawingml/2006/main">
            <a:off x="2819400" y="6883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17" name="INTRO8_CUERPO_5_2">
            <a:extLst xmlns:a="http://schemas.openxmlformats.org/drawingml/2006/main">
              <a:ext uri="{FF2B5EF4-FFF2-40B4-BE49-F238E27FC236}">
                <a16:creationId xmlns:a16="http://schemas.microsoft.com/office/drawing/2014/main" id="{D6AC3CA9-40DD-418A-B860-240B32398B3B}"/>
              </a:ext>
            </a:extLst>
          </p:cNvPr>
          <p:cNvSpPr>
            <a:spLocks xmlns:a="http://schemas.openxmlformats.org/drawingml/2006/main" noGrp="1"/>
          </p:cNvSpPr>
          <p:nvPr/>
        </p:nvSpPr>
        <p:spPr>
          <a:xfrm xmlns:a="http://schemas.openxmlformats.org/drawingml/2006/main">
            <a:off x="2819400" y="8001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paga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18" name="INTRO8_CUERPO_5_3">
            <a:extLst xmlns:a="http://schemas.openxmlformats.org/drawingml/2006/main">
              <a:ext uri="{FF2B5EF4-FFF2-40B4-BE49-F238E27FC236}">
                <a16:creationId xmlns:a16="http://schemas.microsoft.com/office/drawing/2014/main" id="{092D800A-4C32-484A-8FE9-90C86B8756CD}"/>
              </a:ext>
            </a:extLst>
          </p:cNvPr>
          <p:cNvSpPr>
            <a:spLocks xmlns:a="http://schemas.openxmlformats.org/drawingml/2006/main" noGrp="1"/>
          </p:cNvSpPr>
          <p:nvPr/>
        </p:nvSpPr>
        <p:spPr>
          <a:xfrm xmlns:a="http://schemas.openxmlformats.org/drawingml/2006/main">
            <a:off x="2819400" y="9118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vender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dispositivos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utilizan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ventajas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p>
        </p:txBody>
      </p:sp>
      <p:sp>
        <p:nvSpPr>
          <p:cNvPr id="19" name="INTRO8_CUERPO_5_4">
            <a:extLst xmlns:a="http://schemas.openxmlformats.org/drawingml/2006/main">
              <a:ext uri="{FF2B5EF4-FFF2-40B4-BE49-F238E27FC236}">
                <a16:creationId xmlns:a16="http://schemas.microsoft.com/office/drawing/2014/main" id="{0C582FBB-11BF-4F86-A0F8-EAADF44763E2}"/>
              </a:ext>
            </a:extLst>
          </p:cNvPr>
          <p:cNvSpPr>
            <a:spLocks xmlns:a="http://schemas.openxmlformats.org/drawingml/2006/main" noGrp="1"/>
          </p:cNvSpPr>
          <p:nvPr/>
        </p:nvSpPr>
        <p:spPr>
          <a:xfrm xmlns:a="http://schemas.openxmlformats.org/drawingml/2006/main">
            <a:off x="2819400" y="10236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aplicación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así</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como</a:t>
            </a:r>
          </a:p>
        </p:txBody>
      </p:sp>
      <p:sp>
        <p:nvSpPr>
          <p:cNvPr id="20" name="INTRO8_CUERPO_5_5">
            <a:extLst xmlns:a="http://schemas.openxmlformats.org/drawingml/2006/main">
              <a:ext uri="{FF2B5EF4-FFF2-40B4-BE49-F238E27FC236}">
                <a16:creationId xmlns:a16="http://schemas.microsoft.com/office/drawing/2014/main" id="{EEC164AF-13FC-45C9-AD42-89075D851B0C}"/>
              </a:ext>
            </a:extLst>
          </p:cNvPr>
          <p:cNvSpPr>
            <a:spLocks xmlns:a="http://schemas.openxmlformats.org/drawingml/2006/main" noGrp="1"/>
          </p:cNvSpPr>
          <p:nvPr/>
        </p:nvSpPr>
        <p:spPr>
          <a:xfrm xmlns:a="http://schemas.openxmlformats.org/drawingml/2006/main">
            <a:off x="2819400" y="11353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también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conocimiento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ChatGPT.</a:t>
            </a:r>
          </a:p>
        </p:txBody>
      </p:sp>
      <p:sp>
        <p:nvSpPr>
          <p:cNvPr id="21" name="INTRO8_RECUADRO_6">
            <a:extLst xmlns:a="http://schemas.openxmlformats.org/drawingml/2006/main">
              <a:ext uri="{FF2B5EF4-FFF2-40B4-BE49-F238E27FC236}">
                <a16:creationId xmlns:a16="http://schemas.microsoft.com/office/drawing/2014/main" id="{96F8B077-FE5D-4ACA-B1E8-CE4DB6312980}"/>
              </a:ext>
            </a:extLst>
          </p:cNvPr>
          <p:cNvSpPr>
            <a:spLocks xmlns:a="http://schemas.openxmlformats.org/drawingml/2006/main" noGrp="1"/>
          </p:cNvSpPr>
          <p:nvPr/>
        </p:nvSpPr>
        <p:spPr>
          <a:xfrm xmlns:a="http://schemas.openxmlformats.org/drawingml/2006/main">
            <a:off x="304800" y="1447800"/>
            <a:ext cx="8534400" cy="736600"/>
          </a:xfrm>
          <a:prstGeom xmlns:a="http://schemas.openxmlformats.org/drawingml/2006/main" prst="roundRect">
            <a:avLst>
              <a:gd name="adj" fmla="val 5172"/>
            </a:avLst>
          </a:prstGeom>
          <a:solidFill xmlns:a="http://schemas.openxmlformats.org/drawingml/2006/main">
            <a:srgbClr val="FFFFFF"/>
          </a:solidFill>
          <a:ln xmlns:a="http://schemas.openxmlformats.org/drawingml/2006/main" w="8890">
            <a:solidFill>
              <a:srgbClr val="DCE9E6"/>
            </a:solidFill>
          </a:ln>
        </p:spPr>
      </p:sp>
      <p:sp>
        <p:nvSpPr>
          <p:cNvPr id="22" name="INTRO8_ACENTO_6">
            <a:extLst xmlns:a="http://schemas.openxmlformats.org/drawingml/2006/main">
              <a:ext uri="{FF2B5EF4-FFF2-40B4-BE49-F238E27FC236}">
                <a16:creationId xmlns:a16="http://schemas.microsoft.com/office/drawing/2014/main" id="{AE1BAD2E-B6CE-449A-B9B8-CBE3E5BD54AD}"/>
              </a:ext>
            </a:extLst>
          </p:cNvPr>
          <p:cNvSpPr>
            <a:spLocks xmlns:a="http://schemas.openxmlformats.org/drawingml/2006/main" noGrp="1"/>
          </p:cNvSpPr>
          <p:nvPr/>
        </p:nvSpPr>
        <p:spPr>
          <a:xfrm xmlns:a="http://schemas.openxmlformats.org/drawingml/2006/main">
            <a:off x="304800" y="15240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3" name="INTRO8_SEPARADOR_6">
            <a:extLst xmlns:a="http://schemas.openxmlformats.org/drawingml/2006/main">
              <a:ext uri="{FF2B5EF4-FFF2-40B4-BE49-F238E27FC236}">
                <a16:creationId xmlns:a16="http://schemas.microsoft.com/office/drawing/2014/main" id="{CB4A3015-EB46-4483-BA67-AE0388B92FC7}"/>
              </a:ext>
            </a:extLst>
          </p:cNvPr>
          <p:cNvSpPr>
            <a:spLocks xmlns:a="http://schemas.openxmlformats.org/drawingml/2006/main" noGrp="1"/>
          </p:cNvSpPr>
          <p:nvPr/>
        </p:nvSpPr>
        <p:spPr>
          <a:xfrm xmlns:a="http://schemas.openxmlformats.org/drawingml/2006/main">
            <a:off x="2654300" y="15367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4" name="INTRO8_NUMERO_FONDO_6">
            <a:extLst xmlns:a="http://schemas.openxmlformats.org/drawingml/2006/main">
              <a:ext uri="{FF2B5EF4-FFF2-40B4-BE49-F238E27FC236}">
                <a16:creationId xmlns:a16="http://schemas.microsoft.com/office/drawing/2014/main" id="{193E46C0-ED9C-4558-B792-1AED3405DE8D}"/>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5" name="INTRO8_NUMERO_6">
            <a:extLst xmlns:a="http://schemas.openxmlformats.org/drawingml/2006/main">
              <a:ext uri="{FF2B5EF4-FFF2-40B4-BE49-F238E27FC236}">
                <a16:creationId xmlns:a16="http://schemas.microsoft.com/office/drawing/2014/main" id="{9ECE3B86-B511-47F8-848F-73F0E3E85848}"/>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6</a:t>
            </a:r>
          </a:p>
        </p:txBody>
      </p:sp>
      <p:sp>
        <p:nvSpPr>
          <p:cNvPr id="26" name="INTRO8_SECCION_6_1">
            <a:extLst xmlns:a="http://schemas.openxmlformats.org/drawingml/2006/main">
              <a:ext uri="{FF2B5EF4-FFF2-40B4-BE49-F238E27FC236}">
                <a16:creationId xmlns:a16="http://schemas.microsoft.com/office/drawing/2014/main" id="{04303C32-004A-4646-98B1-86B508BAF8B7}"/>
              </a:ext>
            </a:extLst>
          </p:cNvPr>
          <p:cNvSpPr>
            <a:spLocks xmlns:a="http://schemas.openxmlformats.org/drawingml/2006/main" noGrp="1"/>
          </p:cNvSpPr>
          <p:nvPr/>
        </p:nvSpPr>
        <p:spPr>
          <a:xfrm xmlns:a="http://schemas.openxmlformats.org/drawingml/2006/main">
            <a:off x="787400" y="16814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con Perspectiva</a:t>
            </a:r>
          </a:p>
        </p:txBody>
      </p:sp>
      <p:sp>
        <p:nvSpPr>
          <p:cNvPr id="27" name="INTRO8_SECCION_6_2">
            <a:extLst xmlns:a="http://schemas.openxmlformats.org/drawingml/2006/main">
              <a:ext uri="{FF2B5EF4-FFF2-40B4-BE49-F238E27FC236}">
                <a16:creationId xmlns:a16="http://schemas.microsoft.com/office/drawing/2014/main" id="{4F896681-9B41-4207-BDEC-34D94449DE5C}"/>
              </a:ext>
            </a:extLst>
          </p:cNvPr>
          <p:cNvSpPr>
            <a:spLocks xmlns:a="http://schemas.openxmlformats.org/drawingml/2006/main" noGrp="1"/>
          </p:cNvSpPr>
          <p:nvPr/>
        </p:nvSpPr>
        <p:spPr>
          <a:xfrm xmlns:a="http://schemas.openxmlformats.org/drawingml/2006/main">
            <a:off x="787400" y="18161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de Género:</a:t>
            </a:r>
          </a:p>
        </p:txBody>
      </p:sp>
      <p:sp>
        <p:nvSpPr>
          <p:cNvPr id="28" name="INTRO8_CUERPO_6_1">
            <a:extLst xmlns:a="http://schemas.openxmlformats.org/drawingml/2006/main">
              <a:ext uri="{FF2B5EF4-FFF2-40B4-BE49-F238E27FC236}">
                <a16:creationId xmlns:a16="http://schemas.microsoft.com/office/drawing/2014/main" id="{973153BB-98AE-4BBB-93F5-7C194309ED37}"/>
              </a:ext>
            </a:extLst>
          </p:cNvPr>
          <p:cNvSpPr>
            <a:spLocks xmlns:a="http://schemas.openxmlformats.org/drawingml/2006/main" noGrp="1"/>
          </p:cNvSpPr>
          <p:nvPr/>
        </p:nvSpPr>
        <p:spPr>
          <a:xfrm xmlns:a="http://schemas.openxmlformats.org/drawingml/2006/main">
            <a:off x="2819400" y="15265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Incluye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referente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celular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Smartphone</a:t>
            </a:r>
            <a:r>
              <a:rPr sz="720" b="0" i="0">
                <a:solidFill>
                  <a:srgbClr val="263632"/>
                </a:solidFill>
                <a:latin typeface="Noto Sans"/>
                <a:ea typeface="Noto Sans"/>
                <a:cs typeface="Noto Sans"/>
              </a:rPr>
              <a:t>),</a:t>
            </a:r>
          </a:p>
        </p:txBody>
      </p:sp>
      <p:sp>
        <p:nvSpPr>
          <p:cNvPr id="29" name="INTRO8_CUERPO_6_2">
            <a:extLst xmlns:a="http://schemas.openxmlformats.org/drawingml/2006/main">
              <a:ext uri="{FF2B5EF4-FFF2-40B4-BE49-F238E27FC236}">
                <a16:creationId xmlns:a16="http://schemas.microsoft.com/office/drawing/2014/main" id="{3A351773-BD57-4EDA-8469-F6DEC14A4604}"/>
              </a:ext>
            </a:extLst>
          </p:cNvPr>
          <p:cNvSpPr>
            <a:spLocks xmlns:a="http://schemas.openxmlformats.org/drawingml/2006/main" noGrp="1"/>
          </p:cNvSpPr>
          <p:nvPr/>
        </p:nvSpPr>
        <p:spPr>
          <a:xfrm xmlns:a="http://schemas.openxmlformats.org/drawingml/2006/main">
            <a:off x="2819400" y="16383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computadora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sectores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p>
        </p:txBody>
      </p:sp>
      <p:sp>
        <p:nvSpPr>
          <p:cNvPr id="30" name="INTRO8_CUERPO_6_3">
            <a:extLst xmlns:a="http://schemas.openxmlformats.org/drawingml/2006/main">
              <a:ext uri="{FF2B5EF4-FFF2-40B4-BE49-F238E27FC236}">
                <a16:creationId xmlns:a16="http://schemas.microsoft.com/office/drawing/2014/main" id="{5D7AFBDA-5329-4DA1-A648-D8AD9B7416D9}"/>
              </a:ext>
            </a:extLst>
          </p:cNvPr>
          <p:cNvSpPr>
            <a:spLocks xmlns:a="http://schemas.openxmlformats.org/drawingml/2006/main" noGrp="1"/>
          </p:cNvSpPr>
          <p:nvPr/>
        </p:nvSpPr>
        <p:spPr>
          <a:xfrm xmlns:a="http://schemas.openxmlformats.org/drawingml/2006/main">
            <a:off x="2819400" y="17500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mayor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riesgo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víctimas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1" name="INTRO8_CUERPO_6_4">
            <a:extLst xmlns:a="http://schemas.openxmlformats.org/drawingml/2006/main">
              <a:ext uri="{FF2B5EF4-FFF2-40B4-BE49-F238E27FC236}">
                <a16:creationId xmlns:a16="http://schemas.microsoft.com/office/drawing/2014/main" id="{2421FBFA-6E88-4AD9-9468-92EE46E6E053}"/>
              </a:ext>
            </a:extLst>
          </p:cNvPr>
          <p:cNvSpPr>
            <a:spLocks xmlns:a="http://schemas.openxmlformats.org/drawingml/2006/main" noGrp="1"/>
          </p:cNvSpPr>
          <p:nvPr/>
        </p:nvSpPr>
        <p:spPr>
          <a:xfrm xmlns:a="http://schemas.openxmlformats.org/drawingml/2006/main">
            <a:off x="2819400" y="18618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manera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toman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p>
        </p:txBody>
      </p:sp>
      <p:sp>
        <p:nvSpPr>
          <p:cNvPr id="32" name="INTRO8_CUERPO_6_5">
            <a:extLst xmlns:a="http://schemas.openxmlformats.org/drawingml/2006/main">
              <a:ext uri="{FF2B5EF4-FFF2-40B4-BE49-F238E27FC236}">
                <a16:creationId xmlns:a16="http://schemas.microsoft.com/office/drawing/2014/main" id="{7443B538-5A5C-4FA7-90A8-E4075A8791F4}"/>
              </a:ext>
            </a:extLst>
          </p:cNvPr>
          <p:cNvSpPr>
            <a:spLocks xmlns:a="http://schemas.openxmlformats.org/drawingml/2006/main" noGrp="1"/>
          </p:cNvSpPr>
          <p:nvPr/>
        </p:nvSpPr>
        <p:spPr>
          <a:xfrm xmlns:a="http://schemas.openxmlformats.org/drawingml/2006/main">
            <a:off x="2819400" y="19735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protegerse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prevenir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3" name="INTRO8_RECUADRO_7">
            <a:extLst xmlns:a="http://schemas.openxmlformats.org/drawingml/2006/main">
              <a:ext uri="{FF2B5EF4-FFF2-40B4-BE49-F238E27FC236}">
                <a16:creationId xmlns:a16="http://schemas.microsoft.com/office/drawing/2014/main" id="{382676B6-5B0C-4405-B1CD-B34DFF69D1EC}"/>
              </a:ext>
            </a:extLst>
          </p:cNvPr>
          <p:cNvSpPr>
            <a:spLocks xmlns:a="http://schemas.openxmlformats.org/drawingml/2006/main" noGrp="1"/>
          </p:cNvSpPr>
          <p:nvPr/>
        </p:nvSpPr>
        <p:spPr>
          <a:xfrm xmlns:a="http://schemas.openxmlformats.org/drawingml/2006/main">
            <a:off x="304800" y="2286000"/>
            <a:ext cx="8534400" cy="381000"/>
          </a:xfrm>
          <a:prstGeom xmlns:a="http://schemas.openxmlformats.org/drawingml/2006/main" prst="roundRect">
            <a:avLst>
              <a:gd name="adj" fmla="val 10000"/>
            </a:avLst>
          </a:prstGeom>
          <a:solidFill xmlns:a="http://schemas.openxmlformats.org/drawingml/2006/main">
            <a:srgbClr val="F6FAF9"/>
          </a:solidFill>
          <a:ln xmlns:a="http://schemas.openxmlformats.org/drawingml/2006/main" w="8890">
            <a:solidFill>
              <a:srgbClr val="DCE9E6"/>
            </a:solidFill>
          </a:ln>
        </p:spPr>
      </p:sp>
      <p:sp>
        <p:nvSpPr>
          <p:cNvPr id="34" name="INTRO8_ACENTO_7">
            <a:extLst xmlns:a="http://schemas.openxmlformats.org/drawingml/2006/main">
              <a:ext uri="{FF2B5EF4-FFF2-40B4-BE49-F238E27FC236}">
                <a16:creationId xmlns:a16="http://schemas.microsoft.com/office/drawing/2014/main" id="{92523961-9110-43EC-9CA8-C5ED3ACF5420}"/>
              </a:ext>
            </a:extLst>
          </p:cNvPr>
          <p:cNvSpPr>
            <a:spLocks xmlns:a="http://schemas.openxmlformats.org/drawingml/2006/main" noGrp="1"/>
          </p:cNvSpPr>
          <p:nvPr/>
        </p:nvSpPr>
        <p:spPr>
          <a:xfrm xmlns:a="http://schemas.openxmlformats.org/drawingml/2006/main">
            <a:off x="304800" y="2362200"/>
            <a:ext cx="38100" cy="2286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35" name="INTRO8_SEPARADOR_7">
            <a:extLst xmlns:a="http://schemas.openxmlformats.org/drawingml/2006/main">
              <a:ext uri="{FF2B5EF4-FFF2-40B4-BE49-F238E27FC236}">
                <a16:creationId xmlns:a16="http://schemas.microsoft.com/office/drawing/2014/main" id="{71B4E807-9BBB-4943-B1E5-CC4453D7476F}"/>
              </a:ext>
            </a:extLst>
          </p:cNvPr>
          <p:cNvSpPr>
            <a:spLocks xmlns:a="http://schemas.openxmlformats.org/drawingml/2006/main" noGrp="1"/>
          </p:cNvSpPr>
          <p:nvPr/>
        </p:nvSpPr>
        <p:spPr>
          <a:xfrm xmlns:a="http://schemas.openxmlformats.org/drawingml/2006/main">
            <a:off x="2654300" y="2374900"/>
            <a:ext cx="6985" cy="2032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36" name="INTRO8_NUMERO_FONDO_7">
            <a:extLst xmlns:a="http://schemas.openxmlformats.org/drawingml/2006/main">
              <a:ext uri="{FF2B5EF4-FFF2-40B4-BE49-F238E27FC236}">
                <a16:creationId xmlns:a16="http://schemas.microsoft.com/office/drawing/2014/main" id="{6D37B86E-7C67-4FFE-8288-37C681EEBBEC}"/>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37" name="INTRO8_NUMERO_7">
            <a:extLst xmlns:a="http://schemas.openxmlformats.org/drawingml/2006/main">
              <a:ext uri="{FF2B5EF4-FFF2-40B4-BE49-F238E27FC236}">
                <a16:creationId xmlns:a16="http://schemas.microsoft.com/office/drawing/2014/main" id="{C2257BA2-CA07-4D79-948A-F214E295B28E}"/>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7</a:t>
            </a:r>
          </a:p>
        </p:txBody>
      </p:sp>
      <p:sp>
        <p:nvSpPr>
          <p:cNvPr id="38" name="INTRO8_SECCION_7_1">
            <a:extLst xmlns:a="http://schemas.openxmlformats.org/drawingml/2006/main">
              <a:ext uri="{FF2B5EF4-FFF2-40B4-BE49-F238E27FC236}">
                <a16:creationId xmlns:a16="http://schemas.microsoft.com/office/drawing/2014/main" id="{265222B4-EF76-4B5E-946C-2B73874FE5FF}"/>
              </a:ext>
            </a:extLst>
          </p:cNvPr>
          <p:cNvSpPr>
            <a:spLocks xmlns:a="http://schemas.openxmlformats.org/drawingml/2006/main" noGrp="1"/>
          </p:cNvSpPr>
          <p:nvPr/>
        </p:nvSpPr>
        <p:spPr>
          <a:xfrm xmlns:a="http://schemas.openxmlformats.org/drawingml/2006/main">
            <a:off x="787400" y="23418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de</a:t>
            </a:r>
          </a:p>
        </p:txBody>
      </p:sp>
      <p:sp>
        <p:nvSpPr>
          <p:cNvPr id="39" name="INTRO8_SECCION_7_2">
            <a:extLst xmlns:a="http://schemas.openxmlformats.org/drawingml/2006/main">
              <a:ext uri="{FF2B5EF4-FFF2-40B4-BE49-F238E27FC236}">
                <a16:creationId xmlns:a16="http://schemas.microsoft.com/office/drawing/2014/main" id="{972F580E-6A4D-435D-8E1F-F1AAB52D0C25}"/>
              </a:ext>
            </a:extLst>
          </p:cNvPr>
          <p:cNvSpPr>
            <a:spLocks xmlns:a="http://schemas.openxmlformats.org/drawingml/2006/main" noGrp="1"/>
          </p:cNvSpPr>
          <p:nvPr/>
        </p:nvSpPr>
        <p:spPr>
          <a:xfrm xmlns:a="http://schemas.openxmlformats.org/drawingml/2006/main">
            <a:off x="787400" y="24765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Radiodifusión:</a:t>
            </a:r>
          </a:p>
        </p:txBody>
      </p:sp>
      <p:sp>
        <p:nvSpPr>
          <p:cNvPr id="40" name="INTRO8_CUERPO_7_1">
            <a:extLst xmlns:a="http://schemas.openxmlformats.org/drawingml/2006/main">
              <a:ext uri="{FF2B5EF4-FFF2-40B4-BE49-F238E27FC236}">
                <a16:creationId xmlns:a16="http://schemas.microsoft.com/office/drawing/2014/main" id="{23FCE93B-440D-474E-8E51-48B3542CDC61}"/>
              </a:ext>
            </a:extLst>
          </p:cNvPr>
          <p:cNvSpPr>
            <a:spLocks xmlns:a="http://schemas.openxmlformats.org/drawingml/2006/main" noGrp="1"/>
          </p:cNvSpPr>
          <p:nvPr/>
        </p:nvSpPr>
        <p:spPr>
          <a:xfrm xmlns:a="http://schemas.openxmlformats.org/drawingml/2006/main">
            <a:off x="2819400" y="24104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Expone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relativa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otorgadas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TDT.</a:t>
            </a:r>
          </a:p>
        </p:txBody>
      </p:sp>
      <p:sp>
        <p:nvSpPr>
          <p:cNvPr id="41" name="INTRO8_RECUADRO_8">
            <a:extLst xmlns:a="http://schemas.openxmlformats.org/drawingml/2006/main">
              <a:ext uri="{FF2B5EF4-FFF2-40B4-BE49-F238E27FC236}">
                <a16:creationId xmlns:a16="http://schemas.microsoft.com/office/drawing/2014/main" id="{ED0B5167-A919-4269-8110-5423CD08BA24}"/>
              </a:ext>
            </a:extLst>
          </p:cNvPr>
          <p:cNvSpPr>
            <a:spLocks xmlns:a="http://schemas.openxmlformats.org/drawingml/2006/main" noGrp="1"/>
          </p:cNvSpPr>
          <p:nvPr/>
        </p:nvSpPr>
        <p:spPr>
          <a:xfrm xmlns:a="http://schemas.openxmlformats.org/drawingml/2006/main">
            <a:off x="304800" y="2768600"/>
            <a:ext cx="8534400" cy="4064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8890">
            <a:solidFill>
              <a:srgbClr val="DCE9E6"/>
            </a:solidFill>
          </a:ln>
        </p:spPr>
      </p:sp>
      <p:sp>
        <p:nvSpPr>
          <p:cNvPr id="42" name="INTRO8_ACENTO_8">
            <a:extLst xmlns:a="http://schemas.openxmlformats.org/drawingml/2006/main">
              <a:ext uri="{FF2B5EF4-FFF2-40B4-BE49-F238E27FC236}">
                <a16:creationId xmlns:a16="http://schemas.microsoft.com/office/drawing/2014/main" id="{D98DFFE3-F62E-49B8-B865-19541EC17AA4}"/>
              </a:ext>
            </a:extLst>
          </p:cNvPr>
          <p:cNvSpPr>
            <a:spLocks xmlns:a="http://schemas.openxmlformats.org/drawingml/2006/main" noGrp="1"/>
          </p:cNvSpPr>
          <p:nvPr/>
        </p:nvSpPr>
        <p:spPr>
          <a:xfrm xmlns:a="http://schemas.openxmlformats.org/drawingml/2006/main">
            <a:off x="304800" y="2844800"/>
            <a:ext cx="38100" cy="254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43" name="INTRO8_SEPARADOR_8">
            <a:extLst xmlns:a="http://schemas.openxmlformats.org/drawingml/2006/main">
              <a:ext uri="{FF2B5EF4-FFF2-40B4-BE49-F238E27FC236}">
                <a16:creationId xmlns:a16="http://schemas.microsoft.com/office/drawing/2014/main" id="{C2D50FC0-B282-498C-AFAF-3CBE468E38D7}"/>
              </a:ext>
            </a:extLst>
          </p:cNvPr>
          <p:cNvSpPr>
            <a:spLocks xmlns:a="http://schemas.openxmlformats.org/drawingml/2006/main" noGrp="1"/>
          </p:cNvSpPr>
          <p:nvPr/>
        </p:nvSpPr>
        <p:spPr>
          <a:xfrm xmlns:a="http://schemas.openxmlformats.org/drawingml/2006/main">
            <a:off x="2654300" y="2857500"/>
            <a:ext cx="6985" cy="228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44" name="INTRO8_NUMERO_FONDO_8">
            <a:extLst xmlns:a="http://schemas.openxmlformats.org/drawingml/2006/main">
              <a:ext uri="{FF2B5EF4-FFF2-40B4-BE49-F238E27FC236}">
                <a16:creationId xmlns:a16="http://schemas.microsoft.com/office/drawing/2014/main" id="{EEC64BD8-B959-4CDA-849D-0D983215C8E1}"/>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45" name="INTRO8_NUMERO_8">
            <a:extLst xmlns:a="http://schemas.openxmlformats.org/drawingml/2006/main">
              <a:ext uri="{FF2B5EF4-FFF2-40B4-BE49-F238E27FC236}">
                <a16:creationId xmlns:a16="http://schemas.microsoft.com/office/drawing/2014/main" id="{93790D28-07AD-437C-8364-E038DF1ABF75}"/>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8</a:t>
            </a:r>
          </a:p>
        </p:txBody>
      </p:sp>
      <p:sp>
        <p:nvSpPr>
          <p:cNvPr id="46" name="INTRO8_SECCION_8_1">
            <a:extLst xmlns:a="http://schemas.openxmlformats.org/drawingml/2006/main">
              <a:ext uri="{FF2B5EF4-FFF2-40B4-BE49-F238E27FC236}">
                <a16:creationId xmlns:a16="http://schemas.microsoft.com/office/drawing/2014/main" id="{B8FB4775-C4D2-4E0A-A2F1-281F19384612}"/>
              </a:ext>
            </a:extLst>
          </p:cNvPr>
          <p:cNvSpPr>
            <a:spLocks xmlns:a="http://schemas.openxmlformats.org/drawingml/2006/main" noGrp="1"/>
          </p:cNvSpPr>
          <p:nvPr/>
        </p:nvSpPr>
        <p:spPr>
          <a:xfrm xmlns:a="http://schemas.openxmlformats.org/drawingml/2006/main">
            <a:off x="787400" y="28371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Consumo de Radio y</a:t>
            </a:r>
          </a:p>
        </p:txBody>
      </p:sp>
      <p:sp>
        <p:nvSpPr>
          <p:cNvPr id="47" name="INTRO8_SECCION_8_2">
            <a:extLst xmlns:a="http://schemas.openxmlformats.org/drawingml/2006/main">
              <a:ext uri="{FF2B5EF4-FFF2-40B4-BE49-F238E27FC236}">
                <a16:creationId xmlns:a16="http://schemas.microsoft.com/office/drawing/2014/main" id="{2F980B17-F481-4DFA-8450-7B3E1FC1A34E}"/>
              </a:ext>
            </a:extLst>
          </p:cNvPr>
          <p:cNvSpPr>
            <a:spLocks xmlns:a="http://schemas.openxmlformats.org/drawingml/2006/main" noGrp="1"/>
          </p:cNvSpPr>
          <p:nvPr/>
        </p:nvSpPr>
        <p:spPr>
          <a:xfrm xmlns:a="http://schemas.openxmlformats.org/drawingml/2006/main">
            <a:off x="787400" y="29718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Televisión:</a:t>
            </a:r>
          </a:p>
        </p:txBody>
      </p:sp>
      <p:sp>
        <p:nvSpPr>
          <p:cNvPr id="48" name="INTRO8_CUERPO_8_1">
            <a:extLst xmlns:a="http://schemas.openxmlformats.org/drawingml/2006/main">
              <a:ext uri="{FF2B5EF4-FFF2-40B4-BE49-F238E27FC236}">
                <a16:creationId xmlns:a16="http://schemas.microsoft.com/office/drawing/2014/main" id="{CCFFA60D-D93D-48BC-A9B1-DAAF45AE3522}"/>
              </a:ext>
            </a:extLst>
          </p:cNvPr>
          <p:cNvSpPr>
            <a:spLocks xmlns:a="http://schemas.openxmlformats.org/drawingml/2006/main" noGrp="1"/>
          </p:cNvSpPr>
          <p:nvPr/>
        </p:nvSpPr>
        <p:spPr>
          <a:xfrm xmlns:a="http://schemas.openxmlformats.org/drawingml/2006/main">
            <a:off x="2819400" y="28498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ciudad</a:t>
            </a:r>
          </a:p>
        </p:txBody>
      </p:sp>
      <p:sp>
        <p:nvSpPr>
          <p:cNvPr id="49" name="INTRO8_CUERPO_8_2">
            <a:extLst xmlns:a="http://schemas.openxmlformats.org/drawingml/2006/main">
              <a:ext uri="{FF2B5EF4-FFF2-40B4-BE49-F238E27FC236}">
                <a16:creationId xmlns:a16="http://schemas.microsoft.com/office/drawing/2014/main" id="{7D528F66-0E70-45A0-9224-702BC7C52FFE}"/>
              </a:ext>
            </a:extLst>
          </p:cNvPr>
          <p:cNvSpPr>
            <a:spLocks xmlns:a="http://schemas.openxmlformats.org/drawingml/2006/main" noGrp="1"/>
          </p:cNvSpPr>
          <p:nvPr/>
        </p:nvSpPr>
        <p:spPr>
          <a:xfrm xmlns:a="http://schemas.openxmlformats.org/drawingml/2006/main">
            <a:off x="2819400" y="29616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seleccionada.</a:t>
            </a:r>
          </a:p>
        </p:txBody>
      </p:sp>
      <p:sp>
        <p:nvSpPr>
          <p:cNvPr id="50" name="INTRO8_INFORMACION_COMPLEMENTARIA">
            <a:extLst xmlns:a="http://schemas.openxmlformats.org/drawingml/2006/main">
              <a:ext uri="{FF2B5EF4-FFF2-40B4-BE49-F238E27FC236}">
                <a16:creationId xmlns:a16="http://schemas.microsoft.com/office/drawing/2014/main" id="{712BA54F-1217-4094-AF0F-3CD1AD5B680C}"/>
              </a:ext>
            </a:extLst>
          </p:cNvPr>
          <p:cNvSpPr>
            <a:spLocks xmlns:a="http://schemas.openxmlformats.org/drawingml/2006/main" noGrp="1"/>
          </p:cNvSpPr>
          <p:nvPr/>
        </p:nvSpPr>
        <p:spPr>
          <a:xfrm xmlns:a="http://schemas.openxmlformats.org/drawingml/2006/main">
            <a:off x="304800" y="3302000"/>
            <a:ext cx="8534400" cy="1574800"/>
          </a:xfrm>
          <a:prstGeom xmlns:a="http://schemas.openxmlformats.org/drawingml/2006/main" prst="roundRect">
            <a:avLst>
              <a:gd name="adj" fmla="val 2419"/>
            </a:avLst>
          </a:prstGeom>
          <a:solidFill xmlns:a="http://schemas.openxmlformats.org/drawingml/2006/main">
            <a:srgbClr val="EAF3F1"/>
          </a:solidFill>
          <a:ln xmlns:a="http://schemas.openxmlformats.org/drawingml/2006/main" w="8890">
            <a:solidFill>
              <a:srgbClr val="EAF3F1"/>
            </a:solidFill>
          </a:ln>
        </p:spPr>
      </p:sp>
      <p:sp>
        <p:nvSpPr>
          <p:cNvPr id="51" name="INTRO8_INFORMACION_DIVISOR">
            <a:extLst xmlns:a="http://schemas.openxmlformats.org/drawingml/2006/main">
              <a:ext uri="{FF2B5EF4-FFF2-40B4-BE49-F238E27FC236}">
                <a16:creationId xmlns:a16="http://schemas.microsoft.com/office/drawing/2014/main" id="{B6A84195-E264-4775-966E-59325B41007C}"/>
              </a:ext>
            </a:extLst>
          </p:cNvPr>
          <p:cNvSpPr>
            <a:spLocks xmlns:a="http://schemas.openxmlformats.org/drawingml/2006/main" noGrp="1"/>
          </p:cNvSpPr>
          <p:nvPr/>
        </p:nvSpPr>
        <p:spPr>
          <a:xfrm xmlns:a="http://schemas.openxmlformats.org/drawingml/2006/main">
            <a:off x="1828800" y="3403600"/>
            <a:ext cx="6985" cy="1358900"/>
          </a:xfrm>
          <a:prstGeom xmlns:a="http://schemas.openxmlformats.org/drawingml/2006/main" prst="rect">
            <a:avLst/>
          </a:prstGeom>
          <a:solidFill xmlns:a="http://schemas.openxmlformats.org/drawingml/2006/main">
            <a:srgbClr val="CFDFDA"/>
          </a:solidFill>
          <a:ln xmlns:a="http://schemas.openxmlformats.org/drawingml/2006/main" w="0">
            <a:noFill/>
          </a:ln>
        </p:spPr>
      </p:sp>
      <p:sp>
        <p:nvSpPr>
          <p:cNvPr id="52" name="INTRO8_ROTULO_2_0">
            <a:extLst xmlns:a="http://schemas.openxmlformats.org/drawingml/2006/main">
              <a:ext uri="{FF2B5EF4-FFF2-40B4-BE49-F238E27FC236}">
                <a16:creationId xmlns:a16="http://schemas.microsoft.com/office/drawing/2014/main" id="{15C22A9C-A947-4480-8AF3-3636BC33E767}"/>
              </a:ext>
            </a:extLst>
          </p:cNvPr>
          <p:cNvSpPr>
            <a:spLocks xmlns:a="http://schemas.openxmlformats.org/drawingml/2006/main" noGrp="1"/>
          </p:cNvSpPr>
          <p:nvPr/>
        </p:nvSpPr>
        <p:spPr>
          <a:xfrm xmlns:a="http://schemas.openxmlformats.org/drawingml/2006/main">
            <a:off x="482600" y="3377793"/>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Anexos</a:t>
            </a:r>
          </a:p>
        </p:txBody>
      </p:sp>
      <p:sp>
        <p:nvSpPr>
          <p:cNvPr id="53" name="INTRO8_NOTA_2_1">
            <a:extLst xmlns:a="http://schemas.openxmlformats.org/drawingml/2006/main">
              <a:ext uri="{FF2B5EF4-FFF2-40B4-BE49-F238E27FC236}">
                <a16:creationId xmlns:a16="http://schemas.microsoft.com/office/drawing/2014/main" id="{26BEF6F5-9E72-42F8-B0C1-A40675E8312D}"/>
              </a:ext>
            </a:extLst>
          </p:cNvPr>
          <p:cNvSpPr>
            <a:spLocks xmlns:a="http://schemas.openxmlformats.org/drawingml/2006/main" noGrp="1"/>
          </p:cNvSpPr>
          <p:nvPr/>
        </p:nvSpPr>
        <p:spPr>
          <a:xfrm xmlns:a="http://schemas.openxmlformats.org/drawingml/2006/main">
            <a:off x="1981200" y="3377793"/>
            <a:ext cx="668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05">
                <a:solidFill>
                  <a:srgbClr val="263632"/>
                </a:solidFill>
                <a:latin typeface="Noto Sans"/>
                <a:ea typeface="Noto Sans"/>
                <a:cs typeface="Noto Sans"/>
              </a:defRPr>
            </a:pPr>
            <a:r>
              <a:rPr sz="705" b="0" i="0">
                <a:solidFill>
                  <a:srgbClr val="263632"/>
                </a:solidFill>
                <a:latin typeface="Noto Sans"/>
                <a:ea typeface="Noto Sans"/>
                <a:cs typeface="Noto Sans"/>
              </a:rPr>
              <a:t>Los anexos contienen tablas con los principales indicadores desagregados por entidad federativa (Anexo I), definiciones de los conceptos utilizados (Anexo II), metodologías (Anexo III) y métodos de cálculo de los indicadores (Anexo IV).</a:t>
            </a:r>
          </a:p>
        </p:txBody>
      </p:sp>
      <p:sp>
        <p:nvSpPr>
          <p:cNvPr id="55" name="INTRO8_ROTULO_3_0">
            <a:extLst xmlns:a="http://schemas.openxmlformats.org/drawingml/2006/main">
              <a:ext uri="{FF2B5EF4-FFF2-40B4-BE49-F238E27FC236}">
                <a16:creationId xmlns:a16="http://schemas.microsoft.com/office/drawing/2014/main" id="{24B3C505-2EDA-43B1-B8F3-91CA818ED76F}"/>
              </a:ext>
            </a:extLst>
          </p:cNvPr>
          <p:cNvSpPr>
            <a:spLocks xmlns:a="http://schemas.openxmlformats.org/drawingml/2006/main" noGrp="1"/>
          </p:cNvSpPr>
          <p:nvPr/>
        </p:nvSpPr>
        <p:spPr>
          <a:xfrm xmlns:a="http://schemas.openxmlformats.org/drawingml/2006/main">
            <a:off x="482600" y="3652113"/>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Fuentes</a:t>
            </a:r>
          </a:p>
        </p:txBody>
      </p:sp>
      <p:sp>
        <p:nvSpPr>
          <p:cNvPr id="56" name="INTRO8_NOTA_3_1">
            <a:extLst xmlns:a="http://schemas.openxmlformats.org/drawingml/2006/main">
              <a:ext uri="{FF2B5EF4-FFF2-40B4-BE49-F238E27FC236}">
                <a16:creationId xmlns:a16="http://schemas.microsoft.com/office/drawing/2014/main" id="{5BBC5CD8-4425-4438-B05A-A885A868DC63}"/>
              </a:ext>
            </a:extLst>
          </p:cNvPr>
          <p:cNvSpPr>
            <a:spLocks xmlns:a="http://schemas.openxmlformats.org/drawingml/2006/main" noGrp="1"/>
          </p:cNvSpPr>
          <p:nvPr/>
        </p:nvSpPr>
        <p:spPr>
          <a:xfrm xmlns:a="http://schemas.openxmlformats.org/drawingml/2006/main">
            <a:off x="1981200" y="3652113"/>
            <a:ext cx="6680200" cy="301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05">
                <a:solidFill>
                  <a:srgbClr val="263632"/>
                </a:solidFill>
                <a:latin typeface="Noto Sans"/>
                <a:ea typeface="Noto Sans"/>
                <a:cs typeface="Noto Sans"/>
              </a:defRPr>
            </a:pPr>
            <a:r>
              <a:rPr sz="705" b="0" i="0">
                <a:solidFill>
                  <a:srgbClr val="263632"/>
                </a:solidFill>
                <a:latin typeface="Noto Sans"/>
                <a:ea typeface="Noto Sans"/>
                <a:cs typeface="Noto Sans"/>
              </a:rPr>
              <a:t>La información presentada proviene de diversas fuentes, entre ellas, los datos reportados por los operadores de telecomunicaciones a las autoridades reguladoras competentes, sujetos a los procesos de revisión y validación correspondientes; así como información publicada por el Instituto Nacional de Estadística y Geografía (INEGI) y la Secretaría de Economía (SE).</a:t>
            </a:r>
          </a:p>
        </p:txBody>
      </p:sp>
      <p:sp>
        <p:nvSpPr>
          <p:cNvPr id="58" name="INTRO8_ROTULO_4_0">
            <a:extLst xmlns:a="http://schemas.openxmlformats.org/drawingml/2006/main">
              <a:ext uri="{FF2B5EF4-FFF2-40B4-BE49-F238E27FC236}">
                <a16:creationId xmlns:a16="http://schemas.microsoft.com/office/drawing/2014/main" id="{FFD48A0B-FEA0-49E0-8B72-F64C7CEBDF23}"/>
              </a:ext>
            </a:extLst>
          </p:cNvPr>
          <p:cNvSpPr>
            <a:spLocks xmlns:a="http://schemas.openxmlformats.org/drawingml/2006/main" noGrp="1"/>
          </p:cNvSpPr>
          <p:nvPr/>
        </p:nvSpPr>
        <p:spPr>
          <a:xfrm xmlns:a="http://schemas.openxmlformats.org/drawingml/2006/main">
            <a:off x="482600" y="4008729"/>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Elaboración</a:t>
            </a:r>
          </a:p>
        </p:txBody>
      </p:sp>
      <p:sp>
        <p:nvSpPr>
          <p:cNvPr id="59" name="INTRO8_NOTA_4_1">
            <a:extLst xmlns:a="http://schemas.openxmlformats.org/drawingml/2006/main">
              <a:ext uri="{FF2B5EF4-FFF2-40B4-BE49-F238E27FC236}">
                <a16:creationId xmlns:a16="http://schemas.microsoft.com/office/drawing/2014/main" id="{4FF06F85-A2FB-4215-AAF1-F16990EBF240}"/>
              </a:ext>
            </a:extLst>
          </p:cNvPr>
          <p:cNvSpPr>
            <a:spLocks xmlns:a="http://schemas.openxmlformats.org/drawingml/2006/main" noGrp="1"/>
          </p:cNvSpPr>
          <p:nvPr/>
        </p:nvSpPr>
        <p:spPr>
          <a:xfrm xmlns:a="http://schemas.openxmlformats.org/drawingml/2006/main">
            <a:off x="1981200" y="4008729"/>
            <a:ext cx="66802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05">
                <a:solidFill>
                  <a:srgbClr val="263632"/>
                </a:solidFill>
                <a:latin typeface="Noto Sans"/>
                <a:ea typeface="Noto Sans"/>
                <a:cs typeface="Noto Sans"/>
              </a:defRPr>
            </a:pPr>
            <a:r>
              <a:rPr sz="705" b="0" i="0">
                <a:solidFill>
                  <a:srgbClr val="263632"/>
                </a:solidFill>
                <a:latin typeface="Noto Sans"/>
                <a:ea typeface="Noto Sans"/>
                <a:cs typeface="Noto Sans"/>
              </a:rPr>
              <a:t>El Anuario Estadístico 2026 es una publicación de la Comisión Reguladora de Telecomunicaciones (CRT), elaborada a partir de información estadística sectorial y de fuentes oficiales, con el propósito de facilitar el análisis de la evolución de los sectores de telecomunicaciones y radiodifusión en México.</a:t>
            </a:r>
          </a:p>
        </p:txBody>
      </p:sp>
      <p:sp>
        <p:nvSpPr>
          <p:cNvPr id="62" name="INTRO8_ROTULO_5_0">
            <a:extLst xmlns:a="http://schemas.openxmlformats.org/drawingml/2006/main">
              <a:ext uri="{FF2B5EF4-FFF2-40B4-BE49-F238E27FC236}">
                <a16:creationId xmlns:a16="http://schemas.microsoft.com/office/drawing/2014/main" id="{87C74B79-9AD6-4EB4-A9EE-954CEB6F9AD1}"/>
              </a:ext>
            </a:extLst>
          </p:cNvPr>
          <p:cNvSpPr>
            <a:spLocks xmlns:a="http://schemas.openxmlformats.org/drawingml/2006/main" noGrp="1"/>
          </p:cNvSpPr>
          <p:nvPr/>
        </p:nvSpPr>
        <p:spPr>
          <a:xfrm xmlns:a="http://schemas.openxmlformats.org/drawingml/2006/main">
            <a:off x="482600" y="4356201"/>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Consulta</a:t>
            </a:r>
          </a:p>
        </p:txBody>
      </p:sp>
      <p:sp>
        <p:nvSpPr>
          <p:cNvPr id="63" name="INTRO8_ROTULO_5_1">
            <a:extLst xmlns:a="http://schemas.openxmlformats.org/drawingml/2006/main">
              <a:ext uri="{FF2B5EF4-FFF2-40B4-BE49-F238E27FC236}">
                <a16:creationId xmlns:a16="http://schemas.microsoft.com/office/drawing/2014/main" id="{DEA18FFF-84A3-4C1E-9B66-36731779C312}"/>
              </a:ext>
            </a:extLst>
          </p:cNvPr>
          <p:cNvSpPr>
            <a:spLocks xmlns:a="http://schemas.openxmlformats.org/drawingml/2006/main" noGrp="1"/>
          </p:cNvSpPr>
          <p:nvPr/>
        </p:nvSpPr>
        <p:spPr>
          <a:xfrm xmlns:a="http://schemas.openxmlformats.org/drawingml/2006/main">
            <a:off x="482600" y="4465421"/>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interactiva</a:t>
            </a:r>
          </a:p>
        </p:txBody>
      </p:sp>
      <p:sp>
        <p:nvSpPr>
          <p:cNvPr id="64" name="INTRO8_NOTA_5_1">
            <a:hlinkClick xmlns:a="http://schemas.openxmlformats.org/drawingml/2006/main" xmlns:ns0="http://schemas.openxmlformats.org/officeDocument/2006/relationships" ns0:id="rId10"/>
            <a:extLst xmlns:a="http://schemas.openxmlformats.org/drawingml/2006/main">
              <a:ext uri="{FF2B5EF4-FFF2-40B4-BE49-F238E27FC236}">
                <a16:creationId xmlns:a16="http://schemas.microsoft.com/office/drawing/2014/main" id="{9693281B-0EF9-40F8-AF16-6C73C9C25268}"/>
              </a:ext>
            </a:extLst>
          </p:cNvPr>
          <p:cNvSpPr>
            <a:spLocks xmlns:a="http://schemas.openxmlformats.org/drawingml/2006/main" noGrp="1"/>
          </p:cNvSpPr>
          <p:nvPr/>
        </p:nvSpPr>
        <p:spPr>
          <a:xfrm xmlns:a="http://schemas.openxmlformats.org/drawingml/2006/main">
            <a:off x="1981200" y="4356201"/>
            <a:ext cx="668020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05">
                <a:solidFill>
                  <a:srgbClr val="263632"/>
                </a:solidFill>
                <a:latin typeface="Noto Sans"/>
                <a:ea typeface="Noto Sans"/>
                <a:cs typeface="Noto Sans"/>
              </a:defRPr>
            </a:pPr>
            <a:r>
              <a:rPr sz="705" b="0" i="0">
                <a:solidFill>
                  <a:srgbClr val="263632"/>
                </a:solidFill>
                <a:latin typeface="Noto Sans"/>
                <a:ea typeface="Noto Sans"/>
                <a:cs typeface="Noto Sans"/>
              </a:rPr>
              <a:t>La información presentada en este Anuario puede complementarse mediante la consulta del Banco de Información de Telecomunicaciones (BIT), disponible en </a:t>
            </a:r>
            <a:r>
              <a:rPr sz="705" b="0" i="0" u="sng">
                <a:solidFill>
                  <a:srgbClr val="296B8C"/>
                </a:solidFill>
                <a:latin typeface="Noto Sans"/>
                <a:ea typeface="Noto Sans"/>
                <a:cs typeface="Noto Sans"/>
              </a:rPr>
              <a:t>https://bit.crt.gob.mx/BitWebApp/PortalBIT.xhtml?view=</a:t>
            </a:r>
            <a:r>
              <a:rPr sz="705" b="0" i="0">
                <a:solidFill>
                  <a:srgbClr val="263632"/>
                </a:solidFill>
                <a:latin typeface="Noto Sans"/>
                <a:ea typeface="Noto Sans"/>
                <a:cs typeface="Noto Sans"/>
              </a:rPr>
              <a:t>, que permite acceder a indicadores estadísticos de los sectores de telecomunicaciones y radiodifusión, así como consultar su evolución temporal y, cuando la información se encuentra disponible, su desagregación por entidad federativa.</a:t>
            </a:r>
          </a:p>
        </p:txBody>
      </p:sp>
      <p:sp>
        <p:nvSpPr>
          <p:cNvPr id="68" name="ANUARIO_PAGE_NUMBER">
            <a:extLst xmlns:a="http://schemas.openxmlformats.org/drawingml/2006/main">
              <a:ext uri="{FF2B5EF4-FFF2-40B4-BE49-F238E27FC236}">
                <a16:creationId xmlns:a16="http://schemas.microsoft.com/office/drawing/2014/main" id="{DCC81482-7B03-46C7-A79C-14C19B9D172A}"/>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7</a:t>
            </a:r>
          </a:p>
        </p:txBody>
      </p:sp>
      <p:sp>
        <p:nvSpPr>
          <p:cNvPr id="69" name="INTRO8_EDICION_PIE">
            <a:extLst xmlns:a="http://schemas.openxmlformats.org/drawingml/2006/main">
              <a:ext uri="{FF2B5EF4-FFF2-40B4-BE49-F238E27FC236}">
                <a16:creationId xmlns:a16="http://schemas.microsoft.com/office/drawing/2014/main" id="{0B2371BB-C2A1-44D0-8D72-8E28361A9A93}"/>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pic>
        <p:nvPicPr>
          <p:cNvPr id="75"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7"/>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6"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7" name="ANUARIO_BARRA_QR"/>
          <p:cNvPicPr>
            <a:picLocks xmlns:a="http://schemas.openxmlformats.org/drawingml/2006/main" noChangeAspect="1"/>
          </p:cNvPicPr>
          <p:nvPr/>
        </p:nvPicPr>
        <p:blipFill>
          <a:blip xmlns:r="http://schemas.openxmlformats.org/officeDocument/2006/relationships" xmlns:a="http://schemas.openxmlformats.org/drawingml/2006/main" r:embed="rId8"/>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8" name="ANUARIO_BARRA_CRT"/>
          <p:cNvPicPr>
            <a:picLocks xmlns:a="http://schemas.openxmlformats.org/drawingml/2006/main" noChangeAspect="1"/>
          </p:cNvPicPr>
          <p:nvPr/>
        </p:nvPicPr>
        <p:blipFill>
          <a:blip xmlns:r="http://schemas.openxmlformats.org/officeDocument/2006/relationships" xmlns:a="http://schemas.openxmlformats.org/drawingml/2006/main" r:embed="rId9"/>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9"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80"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1" name="ANUARIO_BARRA_URL">
            <a:hlinkClick xmlns:r="http://schemas.openxmlformats.org/officeDocument/2006/relationships" xmlns:a="http://schemas.openxmlformats.org/drawingml/2006/main" r:id="R4e3103bf1d6a40b8"/>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20970916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pic>
        <p:nvPicPr>
          <p:cNvPr id="3" name="Picture 2" descr="footer.png"/>
          <p:cNvPicPr>
            <a:picLocks noChangeAspect="1"/>
          </p:cNvPicPr>
          <p:nvPr/>
        </p:nvPicPr>
        <p:blipFill>
          <a:blip r:embed="rId3"/>
          <a:stretch>
            <a:fillRect/>
          </a:stretch>
        </p:blipFill>
        <p:spPr>
          <a:xfrm>
            <a:off x="0" y="4991069"/>
            <a:ext cx="9144000" cy="152430"/>
          </a:xfrm>
          <a:prstGeom prst="rect">
            <a:avLst/>
          </a:prstGeom>
        </p:spPr>
      </p:pic>
      <p:sp>
        <p:nvSpPr>
          <p:cNvPr id="9" name="TextBox 8"/>
          <p:cNvSpPr txBox="1"/>
          <p:nvPr/>
        </p:nvSpPr>
        <p:spPr>
          <a:xfrm>
            <a:off x="274320" y="4997196"/>
            <a:ext cx="457200" cy="137160"/>
          </a:xfrm>
          <a:prstGeom prst="rect">
            <a:avLst/>
          </a:prstGeom>
          <a:noFill/>
        </p:spPr>
        <p:txBody>
          <a:bodyPr wrap="square" anchor="ctr" lIns="0" rIns="0" tIns="0" bIns="0">
            <a:spAutoFit/>
          </a:bodyPr>
          <a:lstStyle/>
          <a:p>
            <a:r>
              <a:rPr sz="700" b="1">
                <a:solidFill>
                  <a:srgbClr val="FFFFFF"/>
                </a:solidFill>
                <a:latin typeface="DejaVu Sans"/>
              </a:rPr>
              <a:t>8</a:t>
            </a:r>
          </a:p>
        </p:txBody>
      </p:sp>
      <p:sp>
        <p:nvSpPr>
          <p:cNvPr id="10" name="TextBox 9"/>
          <p:cNvSpPr txBox="1"/>
          <p:nvPr/>
        </p:nvSpPr>
        <p:spPr>
          <a:xfrm>
            <a:off x="5486400" y="4997196"/>
            <a:ext cx="3383280" cy="137160"/>
          </a:xfrm>
          <a:prstGeom prst="rect">
            <a:avLst/>
          </a:prstGeom>
          <a:noFill/>
        </p:spPr>
        <p:txBody>
          <a:bodyPr wrap="square" anchor="ctr" lIns="0" rIns="0" tIns="0" bIns="0">
            <a:spAutoFit/>
          </a:bodyPr>
          <a:lstStyle/>
          <a:p>
            <a:pPr algn="r"/>
            <a:r>
              <a:rPr sz="550" b="0">
                <a:solidFill>
                  <a:srgbClr val="E6F0EE"/>
                </a:solidFill>
                <a:latin typeface="DejaVu Sans"/>
              </a:rPr>
              <a:t>A N U A R I O   E S T A D Í S T I C O   2 0 2 6</a:t>
            </a:r>
          </a:p>
        </p:txBody>
      </p:sp>
      <p:sp>
        <p:nvSpPr>
          <p:cNvPr id="11" name="TextBox 10"/>
          <p:cNvSpPr txBox="1"/>
          <p:nvPr/>
        </p:nvSpPr>
        <p:spPr>
          <a:xfrm>
            <a:off x="274320" y="548640"/>
            <a:ext cx="4160520" cy="182880"/>
          </a:xfrm>
          <a:prstGeom prst="rect">
            <a:avLst/>
          </a:prstGeom>
          <a:noFill/>
        </p:spPr>
        <p:txBody>
          <a:bodyPr wrap="square" anchor="ctr" lIns="0" rIns="0" tIns="0" bIns="0">
            <a:spAutoFit/>
          </a:bodyPr>
          <a:lstStyle/>
          <a:p>
            <a:r>
              <a:rPr sz="850" b="1">
                <a:solidFill>
                  <a:srgbClr val="1A4043"/>
                </a:solidFill>
                <a:latin typeface="DejaVu Sans"/>
              </a:rPr>
              <a:t>INDICADORES ECONÓMICOS</a:t>
            </a:r>
          </a:p>
        </p:txBody>
      </p:sp>
      <p:sp>
        <p:nvSpPr>
          <p:cNvPr id="12" name="Rectangle 11"/>
          <p:cNvSpPr/>
          <p:nvPr/>
        </p:nvSpPr>
        <p:spPr>
          <a:xfrm>
            <a:off x="27432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896112"/>
            <a:ext cx="1842515" cy="694944"/>
          </a:xfrm>
          <a:prstGeom prst="rect">
            <a:avLst/>
          </a:prstGeom>
          <a:noFill/>
        </p:spPr>
        <p:txBody>
          <a:bodyPr wrap="square" anchor="t" lIns="0" rIns="0" tIns="0" bIns="0">
            <a:noAutofit/>
          </a:bodyPr>
          <a:lstStyle/>
          <a:p>
            <a:pPr>
              <a:lnSpc>
                <a:spcPct val="100000"/>
              </a:lnSpc>
              <a:spcBef>
                <a:spcPts val="0"/>
              </a:spcBef>
              <a:spcAft>
                <a:spcPts val="300"/>
              </a:spcAft>
            </a:pPr>
            <a:r>
              <a:rPr sz="680" b="0">
                <a:solidFill>
                  <a:srgbClr val="23373A"/>
                </a:solidFill>
                <a:latin typeface="DejaVu Sans"/>
              </a:rPr>
              <a:t>En 2025, los ingresos de las empresas del sector de telecomunicaciones ascendieron a </a:t>
            </a:r>
            <a:r>
              <a:rPr sz="680" b="1">
                <a:solidFill>
                  <a:srgbClr val="23373A"/>
                </a:solidFill>
                <a:latin typeface="DejaVu Sans"/>
              </a:rPr>
              <a:t>692 mil millones de pesos</a:t>
            </a:r>
            <a:r>
              <a:rPr sz="680" b="0">
                <a:solidFill>
                  <a:srgbClr val="23373A"/>
                </a:solidFill>
                <a:latin typeface="DejaVu Sans"/>
              </a:rPr>
              <a:t>, lo que representó un crecimiento anual de </a:t>
            </a:r>
            <a:r>
              <a:rPr sz="680" b="1">
                <a:solidFill>
                  <a:srgbClr val="23373A"/>
                </a:solidFill>
                <a:latin typeface="DejaVu Sans"/>
              </a:rPr>
              <a:t>10.6%</a:t>
            </a:r>
            <a:r>
              <a:rPr sz="680" b="0">
                <a:solidFill>
                  <a:srgbClr val="23373A"/>
                </a:solidFill>
                <a:latin typeface="DejaVu Sans"/>
              </a:rPr>
              <a:t>.</a:t>
            </a:r>
          </a:p>
          <a:p>
            <a:pPr>
              <a:lnSpc>
                <a:spcPct val="100000"/>
              </a:lnSpc>
              <a:spcBef>
                <a:spcPts val="0"/>
              </a:spcBef>
              <a:spcAft>
                <a:spcPts val="0"/>
              </a:spcAft>
            </a:pPr>
            <a:r>
              <a:rPr sz="480" b="0">
                <a:solidFill>
                  <a:srgbClr val="5F7476"/>
                </a:solidFill>
                <a:latin typeface="DejaVu Sans"/>
              </a:rPr>
              <a:t>Fuente: BIT, datos de los operadores de telecomunicaciones, 2025.</a:t>
            </a:r>
          </a:p>
        </p:txBody>
      </p:sp>
      <p:sp>
        <p:nvSpPr>
          <p:cNvPr id="16" name="Rounded Rectangle 15"/>
          <p:cNvSpPr/>
          <p:nvPr/>
        </p:nvSpPr>
        <p:spPr>
          <a:xfrm>
            <a:off x="2391156"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91156"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172" y="896112"/>
            <a:ext cx="1842515" cy="694944"/>
          </a:xfrm>
          <a:prstGeom prst="rect">
            <a:avLst/>
          </a:prstGeom>
          <a:noFill/>
        </p:spPr>
        <p:txBody>
          <a:bodyPr wrap="square" anchor="t" lIns="0" rIns="0" tIns="0" bIns="0">
            <a:noAutofit/>
          </a:bodyPr>
          <a:lstStyle/>
          <a:p>
            <a:pPr>
              <a:lnSpc>
                <a:spcPct val="100000"/>
              </a:lnSpc>
              <a:spcBef>
                <a:spcPts val="0"/>
              </a:spcBef>
              <a:spcAft>
                <a:spcPts val="300"/>
              </a:spcAft>
            </a:pPr>
            <a:r>
              <a:rPr sz="680" b="0">
                <a:solidFill>
                  <a:srgbClr val="23373A"/>
                </a:solidFill>
                <a:latin typeface="DejaVu Sans"/>
              </a:rPr>
              <a:t>Al cuarto trimestre de 2025, el PIB de los sectores de telecomunicaciones y radiodifusión (TyR) se ubicó en </a:t>
            </a:r>
            <a:r>
              <a:rPr sz="680" b="1">
                <a:solidFill>
                  <a:srgbClr val="23373A"/>
                </a:solidFill>
                <a:latin typeface="DejaVu Sans"/>
              </a:rPr>
              <a:t>438 mil millones de pesos</a:t>
            </a:r>
            <a:r>
              <a:rPr sz="680" b="0">
                <a:solidFill>
                  <a:srgbClr val="23373A"/>
                </a:solidFill>
                <a:latin typeface="DejaVu Sans"/>
              </a:rPr>
              <a:t>, con un crecimiento anual de </a:t>
            </a:r>
            <a:r>
              <a:rPr sz="680" b="1">
                <a:solidFill>
                  <a:srgbClr val="23373A"/>
                </a:solidFill>
                <a:latin typeface="DejaVu Sans"/>
              </a:rPr>
              <a:t>2.5%</a:t>
            </a:r>
            <a:r>
              <a:rPr sz="680" b="0">
                <a:solidFill>
                  <a:srgbClr val="23373A"/>
                </a:solidFill>
                <a:latin typeface="DejaVu Sans"/>
              </a:rPr>
              <a:t>.</a:t>
            </a:r>
          </a:p>
          <a:p>
            <a:pPr>
              <a:lnSpc>
                <a:spcPct val="100000"/>
              </a:lnSpc>
              <a:spcBef>
                <a:spcPts val="0"/>
              </a:spcBef>
              <a:spcAft>
                <a:spcPts val="0"/>
              </a:spcAft>
            </a:pPr>
            <a:r>
              <a:rPr sz="480" b="0">
                <a:solidFill>
                  <a:srgbClr val="5F7476"/>
                </a:solidFill>
                <a:latin typeface="DejaVu Sans"/>
              </a:rPr>
              <a:t>Fuente: INEGI, SCNM. Precios de 2018.</a:t>
            </a:r>
          </a:p>
        </p:txBody>
      </p:sp>
      <p:sp>
        <p:nvSpPr>
          <p:cNvPr id="19" name="Rounded Rectangle 18"/>
          <p:cNvSpPr/>
          <p:nvPr/>
        </p:nvSpPr>
        <p:spPr>
          <a:xfrm>
            <a:off x="274320"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A junio de 2024, el </a:t>
            </a:r>
            <a:r>
              <a:rPr sz="680" b="1">
                <a:solidFill>
                  <a:srgbClr val="1A4043"/>
                </a:solidFill>
                <a:latin typeface="DejaVu Sans"/>
              </a:rPr>
              <a:t>82%</a:t>
            </a:r>
            <a:r>
              <a:rPr sz="680" b="0">
                <a:solidFill>
                  <a:srgbClr val="23373A"/>
                </a:solidFill>
                <a:latin typeface="DejaVu Sans"/>
              </a:rPr>
              <a:t> de los empleos pertenecieron al sector de telecomunicaciones y el </a:t>
            </a:r>
            <a:r>
              <a:rPr sz="680" b="1">
                <a:solidFill>
                  <a:srgbClr val="1A4043"/>
                </a:solidFill>
                <a:latin typeface="DejaVu Sans"/>
              </a:rPr>
              <a:t>18%</a:t>
            </a:r>
            <a:r>
              <a:rPr sz="680" b="0">
                <a:solidFill>
                  <a:srgbClr val="23373A"/>
                </a:solidFill>
                <a:latin typeface="DejaVu Sans"/>
              </a:rPr>
              <a:t> al de radiodifusión.</a:t>
            </a:r>
          </a:p>
          <a:p>
            <a:pPr>
              <a:spcBef>
                <a:spcPts val="150"/>
              </a:spcBef>
            </a:pPr>
            <a:r>
              <a:rPr sz="480" b="0">
                <a:solidFill>
                  <a:srgbClr val="5F7476"/>
                </a:solidFill>
                <a:latin typeface="DejaVu Sans"/>
              </a:rPr>
              <a:t>Fuente: IFT con datos a junio de 2024 de la ENOE-INEGI.</a:t>
            </a:r>
          </a:p>
        </p:txBody>
      </p:sp>
      <p:sp>
        <p:nvSpPr>
          <p:cNvPr id="22" name="Rounded Rectangle 21"/>
          <p:cNvSpPr/>
          <p:nvPr/>
        </p:nvSpPr>
        <p:spPr>
          <a:xfrm>
            <a:off x="2391156"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91156"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172"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De junio de 2013 a julio de 2024, los precios de comunicaciones en su conjunto disminuyeron </a:t>
            </a:r>
            <a:r>
              <a:rPr sz="680" b="1">
                <a:solidFill>
                  <a:srgbClr val="1A4043"/>
                </a:solidFill>
                <a:latin typeface="DejaVu Sans"/>
              </a:rPr>
              <a:t>49.3%</a:t>
            </a:r>
            <a:r>
              <a:rPr sz="680" b="0">
                <a:solidFill>
                  <a:srgbClr val="23373A"/>
                </a:solidFill>
                <a:latin typeface="DejaVu Sans"/>
              </a:rPr>
              <a:t>, mientras que la inflación general fue de </a:t>
            </a:r>
            <a:r>
              <a:rPr sz="680" b="1">
                <a:solidFill>
                  <a:srgbClr val="1A4043"/>
                </a:solidFill>
                <a:latin typeface="DejaVu Sans"/>
              </a:rPr>
              <a:t>66.6%</a:t>
            </a:r>
            <a:r>
              <a:rPr sz="680" b="0">
                <a:solidFill>
                  <a:srgbClr val="23373A"/>
                </a:solidFill>
                <a:latin typeface="DejaVu Sans"/>
              </a:rPr>
              <a:t>.</a:t>
            </a:r>
          </a:p>
          <a:p>
            <a:pPr>
              <a:spcBef>
                <a:spcPts val="150"/>
              </a:spcBef>
            </a:pPr>
            <a:r>
              <a:rPr sz="480" b="0">
                <a:solidFill>
                  <a:srgbClr val="5F7476"/>
                </a:solidFill>
                <a:latin typeface="DejaVu Sans"/>
              </a:rPr>
              <a:t>Fuente: IFT con datos a julio de 2024, del INEGI.</a:t>
            </a:r>
          </a:p>
        </p:txBody>
      </p:sp>
      <p:sp>
        <p:nvSpPr>
          <p:cNvPr id="25" name="TextBox 24"/>
          <p:cNvSpPr txBox="1"/>
          <p:nvPr/>
        </p:nvSpPr>
        <p:spPr>
          <a:xfrm>
            <a:off x="274320" y="2606040"/>
            <a:ext cx="4160520" cy="182880"/>
          </a:xfrm>
          <a:prstGeom prst="rect">
            <a:avLst/>
          </a:prstGeom>
          <a:noFill/>
        </p:spPr>
        <p:txBody>
          <a:bodyPr wrap="square" anchor="ctr" lIns="0" rIns="0" tIns="0" bIns="0">
            <a:spAutoFit/>
          </a:bodyPr>
          <a:lstStyle/>
          <a:p>
            <a:r>
              <a:rPr sz="850" b="1">
                <a:solidFill>
                  <a:srgbClr val="1A4043"/>
                </a:solidFill>
                <a:latin typeface="DejaVu Sans"/>
              </a:rPr>
              <a:t>ESPECTRO RADIOELÉCTRICO</a:t>
            </a:r>
          </a:p>
        </p:txBody>
      </p:sp>
      <p:sp>
        <p:nvSpPr>
          <p:cNvPr id="26" name="Rectangle 25"/>
          <p:cNvSpPr/>
          <p:nvPr/>
        </p:nvSpPr>
        <p:spPr>
          <a:xfrm>
            <a:off x="274320" y="27934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74320" y="2889504"/>
            <a:ext cx="4160520" cy="914400"/>
          </a:xfrm>
          <a:prstGeom prst="roundRect">
            <a:avLst>
              <a:gd name="adj" fmla="val 6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2944368"/>
            <a:ext cx="41148" cy="804672"/>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0Hz</a:t>
            </a:r>
          </a:p>
        </p:txBody>
      </p:sp>
      <p:sp>
        <p:nvSpPr>
          <p:cNvPr id="30" name="TextBox 29"/>
          <p:cNvSpPr txBox="1"/>
          <p:nvPr/>
        </p:nvSpPr>
        <p:spPr>
          <a:xfrm>
            <a:off x="57150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50Hz</a:t>
            </a:r>
          </a:p>
        </p:txBody>
      </p:sp>
      <p:sp>
        <p:nvSpPr>
          <p:cNvPr id="31" name="TextBox 30"/>
          <p:cNvSpPr txBox="1"/>
          <p:nvPr/>
        </p:nvSpPr>
        <p:spPr>
          <a:xfrm>
            <a:off x="978408"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3KHz</a:t>
            </a:r>
          </a:p>
        </p:txBody>
      </p:sp>
      <p:sp>
        <p:nvSpPr>
          <p:cNvPr id="32" name="TextBox 31"/>
          <p:cNvSpPr txBox="1"/>
          <p:nvPr/>
        </p:nvSpPr>
        <p:spPr>
          <a:xfrm>
            <a:off x="1385316"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Radiofrecuencia</a:t>
            </a:r>
          </a:p>
        </p:txBody>
      </p:sp>
      <p:sp>
        <p:nvSpPr>
          <p:cNvPr id="33" name="TextBox 32"/>
          <p:cNvSpPr txBox="1"/>
          <p:nvPr/>
        </p:nvSpPr>
        <p:spPr>
          <a:xfrm>
            <a:off x="1792223"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300GHz</a:t>
            </a:r>
          </a:p>
        </p:txBody>
      </p:sp>
      <p:sp>
        <p:nvSpPr>
          <p:cNvPr id="34" name="TextBox 33"/>
          <p:cNvSpPr txBox="1"/>
          <p:nvPr/>
        </p:nvSpPr>
        <p:spPr>
          <a:xfrm>
            <a:off x="219913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3,000THz</a:t>
            </a:r>
          </a:p>
        </p:txBody>
      </p:sp>
      <p:sp>
        <p:nvSpPr>
          <p:cNvPr id="35" name="TextBox 34"/>
          <p:cNvSpPr txBox="1"/>
          <p:nvPr/>
        </p:nvSpPr>
        <p:spPr>
          <a:xfrm>
            <a:off x="260604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30EHz</a:t>
            </a:r>
          </a:p>
        </p:txBody>
      </p:sp>
      <p:sp>
        <p:nvSpPr>
          <p:cNvPr id="36" name="Freeform 35"/>
          <p:cNvSpPr/>
          <p:nvPr/>
        </p:nvSpPr>
        <p:spPr>
          <a:xfrm>
            <a:off x="438912" y="3157111"/>
            <a:ext cx="2441448" cy="302030"/>
          </a:xfrm>
          <a:custGeom>
            <a:avLst/>
            <a:gdLst/>
            <a:ahLst/>
            <a:cxnLst/>
            <a:rect l="l" t="t" r="r" b="b"/>
            <a:pathLst>
              <a:path w="2441448" h="302030">
                <a:moveTo>
                  <a:pt x="0" y="155330"/>
                </a:moveTo>
                <a:lnTo>
                  <a:pt x="9390" y="157657"/>
                </a:lnTo>
                <a:lnTo>
                  <a:pt x="18780" y="159996"/>
                </a:lnTo>
                <a:lnTo>
                  <a:pt x="28170" y="162347"/>
                </a:lnTo>
                <a:lnTo>
                  <a:pt x="37560" y="164708"/>
                </a:lnTo>
                <a:lnTo>
                  <a:pt x="46950" y="167080"/>
                </a:lnTo>
                <a:lnTo>
                  <a:pt x="56341" y="169460"/>
                </a:lnTo>
                <a:lnTo>
                  <a:pt x="65731" y="171849"/>
                </a:lnTo>
                <a:lnTo>
                  <a:pt x="75121" y="174246"/>
                </a:lnTo>
                <a:lnTo>
                  <a:pt x="84511" y="176650"/>
                </a:lnTo>
                <a:lnTo>
                  <a:pt x="93901" y="179060"/>
                </a:lnTo>
                <a:lnTo>
                  <a:pt x="103292" y="181475"/>
                </a:lnTo>
                <a:lnTo>
                  <a:pt x="112682" y="183895"/>
                </a:lnTo>
                <a:lnTo>
                  <a:pt x="122072" y="186319"/>
                </a:lnTo>
                <a:lnTo>
                  <a:pt x="131462" y="188744"/>
                </a:lnTo>
                <a:lnTo>
                  <a:pt x="140852" y="191171"/>
                </a:lnTo>
                <a:lnTo>
                  <a:pt x="150242" y="193598"/>
                </a:lnTo>
                <a:lnTo>
                  <a:pt x="159633" y="196024"/>
                </a:lnTo>
                <a:lnTo>
                  <a:pt x="169023" y="198446"/>
                </a:lnTo>
                <a:lnTo>
                  <a:pt x="178413" y="200863"/>
                </a:lnTo>
                <a:lnTo>
                  <a:pt x="187803" y="203273"/>
                </a:lnTo>
                <a:lnTo>
                  <a:pt x="197193" y="205674"/>
                </a:lnTo>
                <a:lnTo>
                  <a:pt x="206584" y="208064"/>
                </a:lnTo>
                <a:lnTo>
                  <a:pt x="215974" y="210440"/>
                </a:lnTo>
                <a:lnTo>
                  <a:pt x="225364" y="212800"/>
                </a:lnTo>
                <a:lnTo>
                  <a:pt x="234754" y="215139"/>
                </a:lnTo>
                <a:lnTo>
                  <a:pt x="244144" y="217456"/>
                </a:lnTo>
                <a:lnTo>
                  <a:pt x="253534" y="219746"/>
                </a:lnTo>
                <a:lnTo>
                  <a:pt x="262925" y="222005"/>
                </a:lnTo>
                <a:lnTo>
                  <a:pt x="272315" y="224230"/>
                </a:lnTo>
                <a:lnTo>
                  <a:pt x="281705" y="226415"/>
                </a:lnTo>
                <a:lnTo>
                  <a:pt x="291095" y="228556"/>
                </a:lnTo>
                <a:lnTo>
                  <a:pt x="300485" y="230647"/>
                </a:lnTo>
                <a:lnTo>
                  <a:pt x="309876" y="232683"/>
                </a:lnTo>
                <a:lnTo>
                  <a:pt x="319266" y="234657"/>
                </a:lnTo>
                <a:lnTo>
                  <a:pt x="328656" y="236563"/>
                </a:lnTo>
                <a:lnTo>
                  <a:pt x="338046" y="238395"/>
                </a:lnTo>
                <a:lnTo>
                  <a:pt x="347436" y="240144"/>
                </a:lnTo>
                <a:lnTo>
                  <a:pt x="356827" y="241802"/>
                </a:lnTo>
                <a:lnTo>
                  <a:pt x="366217" y="243362"/>
                </a:lnTo>
                <a:lnTo>
                  <a:pt x="375607" y="244815"/>
                </a:lnTo>
                <a:lnTo>
                  <a:pt x="384997" y="246152"/>
                </a:lnTo>
                <a:lnTo>
                  <a:pt x="394387" y="247362"/>
                </a:lnTo>
                <a:lnTo>
                  <a:pt x="403777" y="248436"/>
                </a:lnTo>
                <a:lnTo>
                  <a:pt x="413168" y="249363"/>
                </a:lnTo>
                <a:lnTo>
                  <a:pt x="422558" y="250132"/>
                </a:lnTo>
                <a:lnTo>
                  <a:pt x="431948" y="250732"/>
                </a:lnTo>
                <a:lnTo>
                  <a:pt x="441338" y="251150"/>
                </a:lnTo>
                <a:lnTo>
                  <a:pt x="450728" y="251376"/>
                </a:lnTo>
                <a:lnTo>
                  <a:pt x="460119" y="251395"/>
                </a:lnTo>
                <a:lnTo>
                  <a:pt x="469509" y="251197"/>
                </a:lnTo>
                <a:lnTo>
                  <a:pt x="478899" y="250767"/>
                </a:lnTo>
                <a:lnTo>
                  <a:pt x="488289" y="250094"/>
                </a:lnTo>
                <a:lnTo>
                  <a:pt x="497679" y="249163"/>
                </a:lnTo>
                <a:lnTo>
                  <a:pt x="507069" y="247963"/>
                </a:lnTo>
                <a:lnTo>
                  <a:pt x="516460" y="246481"/>
                </a:lnTo>
                <a:lnTo>
                  <a:pt x="525850" y="244703"/>
                </a:lnTo>
                <a:lnTo>
                  <a:pt x="535240" y="242619"/>
                </a:lnTo>
                <a:lnTo>
                  <a:pt x="544630" y="240217"/>
                </a:lnTo>
                <a:lnTo>
                  <a:pt x="554020" y="237487"/>
                </a:lnTo>
                <a:lnTo>
                  <a:pt x="563411" y="234418"/>
                </a:lnTo>
                <a:lnTo>
                  <a:pt x="572801" y="231003"/>
                </a:lnTo>
                <a:lnTo>
                  <a:pt x="582191" y="227235"/>
                </a:lnTo>
                <a:lnTo>
                  <a:pt x="591581" y="223108"/>
                </a:lnTo>
                <a:lnTo>
                  <a:pt x="600971" y="218618"/>
                </a:lnTo>
                <a:lnTo>
                  <a:pt x="610362" y="213765"/>
                </a:lnTo>
                <a:lnTo>
                  <a:pt x="619752" y="208549"/>
                </a:lnTo>
                <a:lnTo>
                  <a:pt x="629142" y="202974"/>
                </a:lnTo>
                <a:lnTo>
                  <a:pt x="638532" y="197047"/>
                </a:lnTo>
                <a:lnTo>
                  <a:pt x="647922" y="190778"/>
                </a:lnTo>
                <a:lnTo>
                  <a:pt x="657312" y="184180"/>
                </a:lnTo>
                <a:lnTo>
                  <a:pt x="666703" y="177270"/>
                </a:lnTo>
                <a:lnTo>
                  <a:pt x="676093" y="170072"/>
                </a:lnTo>
                <a:lnTo>
                  <a:pt x="685483" y="162610"/>
                </a:lnTo>
                <a:lnTo>
                  <a:pt x="694873" y="154916"/>
                </a:lnTo>
                <a:lnTo>
                  <a:pt x="704263" y="147026"/>
                </a:lnTo>
                <a:lnTo>
                  <a:pt x="713654" y="138982"/>
                </a:lnTo>
                <a:lnTo>
                  <a:pt x="723044" y="130829"/>
                </a:lnTo>
                <a:lnTo>
                  <a:pt x="732434" y="122621"/>
                </a:lnTo>
                <a:lnTo>
                  <a:pt x="741824" y="114414"/>
                </a:lnTo>
                <a:lnTo>
                  <a:pt x="751214" y="106273"/>
                </a:lnTo>
                <a:lnTo>
                  <a:pt x="760604" y="98266"/>
                </a:lnTo>
                <a:lnTo>
                  <a:pt x="769995" y="90467"/>
                </a:lnTo>
                <a:lnTo>
                  <a:pt x="779385" y="82955"/>
                </a:lnTo>
                <a:lnTo>
                  <a:pt x="788775" y="75812"/>
                </a:lnTo>
                <a:lnTo>
                  <a:pt x="798165" y="69127"/>
                </a:lnTo>
                <a:lnTo>
                  <a:pt x="807555" y="62987"/>
                </a:lnTo>
                <a:lnTo>
                  <a:pt x="816946" y="57487"/>
                </a:lnTo>
                <a:lnTo>
                  <a:pt x="826336" y="52718"/>
                </a:lnTo>
                <a:lnTo>
                  <a:pt x="835726" y="48773"/>
                </a:lnTo>
                <a:lnTo>
                  <a:pt x="845116" y="45743"/>
                </a:lnTo>
                <a:lnTo>
                  <a:pt x="854506" y="43716"/>
                </a:lnTo>
                <a:lnTo>
                  <a:pt x="863896" y="42773"/>
                </a:lnTo>
                <a:lnTo>
                  <a:pt x="873287" y="42989"/>
                </a:lnTo>
                <a:lnTo>
                  <a:pt x="882677" y="44430"/>
                </a:lnTo>
                <a:lnTo>
                  <a:pt x="892067" y="47150"/>
                </a:lnTo>
                <a:lnTo>
                  <a:pt x="901457" y="51188"/>
                </a:lnTo>
                <a:lnTo>
                  <a:pt x="910847" y="56566"/>
                </a:lnTo>
                <a:lnTo>
                  <a:pt x="920238" y="63290"/>
                </a:lnTo>
                <a:lnTo>
                  <a:pt x="929628" y="71343"/>
                </a:lnTo>
                <a:lnTo>
                  <a:pt x="939018" y="80683"/>
                </a:lnTo>
                <a:lnTo>
                  <a:pt x="948408" y="91244"/>
                </a:lnTo>
                <a:lnTo>
                  <a:pt x="957798" y="102934"/>
                </a:lnTo>
                <a:lnTo>
                  <a:pt x="967189" y="115629"/>
                </a:lnTo>
                <a:lnTo>
                  <a:pt x="976579" y="129178"/>
                </a:lnTo>
                <a:lnTo>
                  <a:pt x="985969" y="143401"/>
                </a:lnTo>
                <a:lnTo>
                  <a:pt x="995359" y="158086"/>
                </a:lnTo>
                <a:lnTo>
                  <a:pt x="1004749" y="172996"/>
                </a:lnTo>
                <a:lnTo>
                  <a:pt x="1014139" y="187866"/>
                </a:lnTo>
                <a:lnTo>
                  <a:pt x="1023530" y="202412"/>
                </a:lnTo>
                <a:lnTo>
                  <a:pt x="1032920" y="216328"/>
                </a:lnTo>
                <a:lnTo>
                  <a:pt x="1042310" y="229299"/>
                </a:lnTo>
                <a:lnTo>
                  <a:pt x="1051700" y="241002"/>
                </a:lnTo>
                <a:lnTo>
                  <a:pt x="1061090" y="251118"/>
                </a:lnTo>
                <a:lnTo>
                  <a:pt x="1070481" y="259338"/>
                </a:lnTo>
                <a:lnTo>
                  <a:pt x="1079871" y="265372"/>
                </a:lnTo>
                <a:lnTo>
                  <a:pt x="1089261" y="268964"/>
                </a:lnTo>
                <a:lnTo>
                  <a:pt x="1098651" y="269898"/>
                </a:lnTo>
                <a:lnTo>
                  <a:pt x="1108041" y="268013"/>
                </a:lnTo>
                <a:lnTo>
                  <a:pt x="1117431" y="263210"/>
                </a:lnTo>
                <a:lnTo>
                  <a:pt x="1126822" y="255466"/>
                </a:lnTo>
                <a:lnTo>
                  <a:pt x="1136212" y="244843"/>
                </a:lnTo>
                <a:lnTo>
                  <a:pt x="1145602" y="231491"/>
                </a:lnTo>
                <a:lnTo>
                  <a:pt x="1154992" y="215659"/>
                </a:lnTo>
                <a:lnTo>
                  <a:pt x="1164382" y="197694"/>
                </a:lnTo>
                <a:lnTo>
                  <a:pt x="1173773" y="178038"/>
                </a:lnTo>
                <a:lnTo>
                  <a:pt x="1183163" y="157229"/>
                </a:lnTo>
                <a:lnTo>
                  <a:pt x="1192553" y="135885"/>
                </a:lnTo>
                <a:lnTo>
                  <a:pt x="1201943" y="114692"/>
                </a:lnTo>
                <a:lnTo>
                  <a:pt x="1211333" y="94387"/>
                </a:lnTo>
                <a:lnTo>
                  <a:pt x="1220724" y="75732"/>
                </a:lnTo>
                <a:lnTo>
                  <a:pt x="1230114" y="59486"/>
                </a:lnTo>
                <a:lnTo>
                  <a:pt x="1239504" y="46373"/>
                </a:lnTo>
                <a:lnTo>
                  <a:pt x="1248894" y="37049"/>
                </a:lnTo>
                <a:lnTo>
                  <a:pt x="1258284" y="32064"/>
                </a:lnTo>
                <a:lnTo>
                  <a:pt x="1267674" y="31829"/>
                </a:lnTo>
                <a:lnTo>
                  <a:pt x="1277065" y="36578"/>
                </a:lnTo>
                <a:lnTo>
                  <a:pt x="1286455" y="46343"/>
                </a:lnTo>
                <a:lnTo>
                  <a:pt x="1295845" y="60929"/>
                </a:lnTo>
                <a:lnTo>
                  <a:pt x="1305235" y="79900"/>
                </a:lnTo>
                <a:lnTo>
                  <a:pt x="1314625" y="102577"/>
                </a:lnTo>
                <a:lnTo>
                  <a:pt x="1324016" y="128046"/>
                </a:lnTo>
                <a:lnTo>
                  <a:pt x="1333406" y="155184"/>
                </a:lnTo>
                <a:lnTo>
                  <a:pt x="1342796" y="182698"/>
                </a:lnTo>
                <a:lnTo>
                  <a:pt x="1352186" y="209180"/>
                </a:lnTo>
                <a:lnTo>
                  <a:pt x="1361576" y="233174"/>
                </a:lnTo>
                <a:lnTo>
                  <a:pt x="1370966" y="253257"/>
                </a:lnTo>
                <a:lnTo>
                  <a:pt x="1380357" y="268128"/>
                </a:lnTo>
                <a:lnTo>
                  <a:pt x="1389747" y="276700"/>
                </a:lnTo>
                <a:lnTo>
                  <a:pt x="1399137" y="278185"/>
                </a:lnTo>
                <a:lnTo>
                  <a:pt x="1408527" y="272181"/>
                </a:lnTo>
                <a:lnTo>
                  <a:pt x="1417917" y="258733"/>
                </a:lnTo>
                <a:lnTo>
                  <a:pt x="1427308" y="238370"/>
                </a:lnTo>
                <a:lnTo>
                  <a:pt x="1436698" y="212125"/>
                </a:lnTo>
                <a:lnTo>
                  <a:pt x="1446088" y="181502"/>
                </a:lnTo>
                <a:lnTo>
                  <a:pt x="1455478" y="148419"/>
                </a:lnTo>
                <a:lnTo>
                  <a:pt x="1464868" y="115104"/>
                </a:lnTo>
                <a:lnTo>
                  <a:pt x="1474258" y="83953"/>
                </a:lnTo>
                <a:lnTo>
                  <a:pt x="1483649" y="57367"/>
                </a:lnTo>
                <a:lnTo>
                  <a:pt x="1493039" y="37559"/>
                </a:lnTo>
                <a:lnTo>
                  <a:pt x="1502429" y="26355"/>
                </a:lnTo>
                <a:lnTo>
                  <a:pt x="1511819" y="25007"/>
                </a:lnTo>
                <a:lnTo>
                  <a:pt x="1521209" y="34036"/>
                </a:lnTo>
                <a:lnTo>
                  <a:pt x="1530600" y="53115"/>
                </a:lnTo>
                <a:lnTo>
                  <a:pt x="1539990" y="81022"/>
                </a:lnTo>
                <a:lnTo>
                  <a:pt x="1549380" y="115668"/>
                </a:lnTo>
                <a:lnTo>
                  <a:pt x="1558770" y="154210"/>
                </a:lnTo>
                <a:lnTo>
                  <a:pt x="1568160" y="193256"/>
                </a:lnTo>
                <a:lnTo>
                  <a:pt x="1577551" y="229145"/>
                </a:lnTo>
                <a:lnTo>
                  <a:pt x="1586941" y="258283"/>
                </a:lnTo>
                <a:lnTo>
                  <a:pt x="1596331" y="277521"/>
                </a:lnTo>
                <a:lnTo>
                  <a:pt x="1605721" y="284519"/>
                </a:lnTo>
                <a:lnTo>
                  <a:pt x="1615111" y="278068"/>
                </a:lnTo>
                <a:lnTo>
                  <a:pt x="1624501" y="258323"/>
                </a:lnTo>
                <a:lnTo>
                  <a:pt x="1633892" y="226902"/>
                </a:lnTo>
                <a:lnTo>
                  <a:pt x="1643282" y="186835"/>
                </a:lnTo>
                <a:lnTo>
                  <a:pt x="1652672" y="142335"/>
                </a:lnTo>
                <a:lnTo>
                  <a:pt x="1662062" y="98393"/>
                </a:lnTo>
                <a:lnTo>
                  <a:pt x="1671452" y="60248"/>
                </a:lnTo>
                <a:lnTo>
                  <a:pt x="1680843" y="32753"/>
                </a:lnTo>
                <a:lnTo>
                  <a:pt x="1690233" y="19725"/>
                </a:lnTo>
                <a:lnTo>
                  <a:pt x="1699623" y="23366"/>
                </a:lnTo>
                <a:lnTo>
                  <a:pt x="1709013" y="43832"/>
                </a:lnTo>
                <a:lnTo>
                  <a:pt x="1718403" y="79039"/>
                </a:lnTo>
                <a:lnTo>
                  <a:pt x="1727793" y="124763"/>
                </a:lnTo>
                <a:lnTo>
                  <a:pt x="1737184" y="175060"/>
                </a:lnTo>
                <a:lnTo>
                  <a:pt x="1746574" y="222978"/>
                </a:lnTo>
                <a:lnTo>
                  <a:pt x="1755964" y="261494"/>
                </a:lnTo>
                <a:lnTo>
                  <a:pt x="1765354" y="284571"/>
                </a:lnTo>
                <a:lnTo>
                  <a:pt x="1774744" y="288163"/>
                </a:lnTo>
                <a:lnTo>
                  <a:pt x="1784135" y="271007"/>
                </a:lnTo>
                <a:lnTo>
                  <a:pt x="1793525" y="235058"/>
                </a:lnTo>
                <a:lnTo>
                  <a:pt x="1802915" y="185428"/>
                </a:lnTo>
                <a:lnTo>
                  <a:pt x="1812305" y="129784"/>
                </a:lnTo>
                <a:lnTo>
                  <a:pt x="1821695" y="77249"/>
                </a:lnTo>
                <a:lnTo>
                  <a:pt x="1831086" y="36935"/>
                </a:lnTo>
                <a:lnTo>
                  <a:pt x="1840476" y="16325"/>
                </a:lnTo>
                <a:lnTo>
                  <a:pt x="1849866" y="19789"/>
                </a:lnTo>
                <a:lnTo>
                  <a:pt x="1859256" y="47537"/>
                </a:lnTo>
                <a:lnTo>
                  <a:pt x="1868646" y="95249"/>
                </a:lnTo>
                <a:lnTo>
                  <a:pt x="1878036" y="154559"/>
                </a:lnTo>
                <a:lnTo>
                  <a:pt x="1887427" y="214376"/>
                </a:lnTo>
                <a:lnTo>
                  <a:pt x="1896817" y="262893"/>
                </a:lnTo>
                <a:lnTo>
                  <a:pt x="1906207" y="289943"/>
                </a:lnTo>
                <a:lnTo>
                  <a:pt x="1915597" y="289231"/>
                </a:lnTo>
                <a:lnTo>
                  <a:pt x="1924987" y="259971"/>
                </a:lnTo>
                <a:lnTo>
                  <a:pt x="1934378" y="207466"/>
                </a:lnTo>
                <a:lnTo>
                  <a:pt x="1943768" y="142399"/>
                </a:lnTo>
                <a:lnTo>
                  <a:pt x="1953158" y="78839"/>
                </a:lnTo>
                <a:lnTo>
                  <a:pt x="1962548" y="31261"/>
                </a:lnTo>
                <a:lnTo>
                  <a:pt x="1971938" y="11206"/>
                </a:lnTo>
                <a:lnTo>
                  <a:pt x="1981328" y="24307"/>
                </a:lnTo>
                <a:lnTo>
                  <a:pt x="1990719" y="68497"/>
                </a:lnTo>
                <a:lnTo>
                  <a:pt x="2000109" y="133951"/>
                </a:lnTo>
                <a:lnTo>
                  <a:pt x="2009499" y="204999"/>
                </a:lnTo>
                <a:lnTo>
                  <a:pt x="2018889" y="263725"/>
                </a:lnTo>
                <a:lnTo>
                  <a:pt x="2028279" y="294492"/>
                </a:lnTo>
                <a:lnTo>
                  <a:pt x="2037670" y="288270"/>
                </a:lnTo>
                <a:lnTo>
                  <a:pt x="2047060" y="245562"/>
                </a:lnTo>
                <a:lnTo>
                  <a:pt x="2056450" y="176941"/>
                </a:lnTo>
                <a:lnTo>
                  <a:pt x="2065840" y="100784"/>
                </a:lnTo>
                <a:lnTo>
                  <a:pt x="2075230" y="38554"/>
                </a:lnTo>
                <a:lnTo>
                  <a:pt x="2084620" y="8744"/>
                </a:lnTo>
                <a:lnTo>
                  <a:pt x="2094011" y="21171"/>
                </a:lnTo>
                <a:lnTo>
                  <a:pt x="2103401" y="73396"/>
                </a:lnTo>
                <a:lnTo>
                  <a:pt x="2112791" y="150635"/>
                </a:lnTo>
                <a:lnTo>
                  <a:pt x="2122181" y="229547"/>
                </a:lnTo>
                <a:lnTo>
                  <a:pt x="2131571" y="285107"/>
                </a:lnTo>
                <a:lnTo>
                  <a:pt x="2140962" y="298633"/>
                </a:lnTo>
                <a:lnTo>
                  <a:pt x="2150352" y="264404"/>
                </a:lnTo>
                <a:lnTo>
                  <a:pt x="2159742" y="192462"/>
                </a:lnTo>
                <a:lnTo>
                  <a:pt x="2169132" y="106227"/>
                </a:lnTo>
                <a:lnTo>
                  <a:pt x="2178522" y="35220"/>
                </a:lnTo>
                <a:lnTo>
                  <a:pt x="2187913" y="4984"/>
                </a:lnTo>
                <a:lnTo>
                  <a:pt x="2197303" y="27593"/>
                </a:lnTo>
                <a:lnTo>
                  <a:pt x="2206693" y="96322"/>
                </a:lnTo>
                <a:lnTo>
                  <a:pt x="2216083" y="186929"/>
                </a:lnTo>
                <a:lnTo>
                  <a:pt x="2225473" y="265733"/>
                </a:lnTo>
                <a:lnTo>
                  <a:pt x="2234863" y="302030"/>
                </a:lnTo>
                <a:lnTo>
                  <a:pt x="2244254" y="280374"/>
                </a:lnTo>
                <a:lnTo>
                  <a:pt x="2253644" y="207738"/>
                </a:lnTo>
                <a:lnTo>
                  <a:pt x="2263034" y="112120"/>
                </a:lnTo>
                <a:lnTo>
                  <a:pt x="2272424" y="32293"/>
                </a:lnTo>
                <a:lnTo>
                  <a:pt x="2281814" y="2170"/>
                </a:lnTo>
                <a:lnTo>
                  <a:pt x="2291205" y="35991"/>
                </a:lnTo>
                <a:lnTo>
                  <a:pt x="2300595" y="120880"/>
                </a:lnTo>
                <a:lnTo>
                  <a:pt x="2309985" y="220846"/>
                </a:lnTo>
                <a:lnTo>
                  <a:pt x="2319375" y="291521"/>
                </a:lnTo>
                <a:lnTo>
                  <a:pt x="2328765" y="299910"/>
                </a:lnTo>
                <a:lnTo>
                  <a:pt x="2338155" y="240423"/>
                </a:lnTo>
                <a:lnTo>
                  <a:pt x="2347546" y="139200"/>
                </a:lnTo>
                <a:lnTo>
                  <a:pt x="2356936" y="43509"/>
                </a:lnTo>
                <a:lnTo>
                  <a:pt x="2366326" y="0"/>
                </a:lnTo>
                <a:lnTo>
                  <a:pt x="2375716" y="31561"/>
                </a:lnTo>
                <a:lnTo>
                  <a:pt x="2385106" y="124364"/>
                </a:lnTo>
                <a:lnTo>
                  <a:pt x="2394497" y="232727"/>
                </a:lnTo>
                <a:lnTo>
                  <a:pt x="2403887" y="300939"/>
                </a:lnTo>
                <a:lnTo>
                  <a:pt x="2413277" y="292052"/>
                </a:lnTo>
                <a:lnTo>
                  <a:pt x="2422667" y="208794"/>
                </a:lnTo>
                <a:lnTo>
                  <a:pt x="2432057" y="94425"/>
                </a:lnTo>
                <a:lnTo>
                  <a:pt x="2441448" y="11200"/>
                </a:lnTo>
              </a:path>
            </a:pathLst>
          </a:custGeom>
          <a:noFill/>
          <a:ln w="17780">
            <a:solidFill>
              <a:srgbClr val="4A7D76"/>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3621024"/>
            <a:ext cx="2560320" cy="128016"/>
          </a:xfrm>
          <a:prstGeom prst="rect">
            <a:avLst/>
          </a:prstGeom>
          <a:noFill/>
        </p:spPr>
        <p:txBody>
          <a:bodyPr wrap="square" anchor="ctr" lIns="0" rIns="0" tIns="0" bIns="0">
            <a:spAutoFit/>
          </a:bodyPr>
          <a:lstStyle/>
          <a:p>
            <a:pPr>
              <a:spcBef>
                <a:spcPts val="150"/>
              </a:spcBef>
            </a:pPr>
            <a:r>
              <a:rPr sz="480" b="0">
                <a:solidFill>
                  <a:srgbClr val="5F7476"/>
                </a:solidFill>
                <a:latin typeface="DejaVu Sans"/>
              </a:rPr>
              <a:t>Fuente: IFT con datos a diciembre de 2023.</a:t>
            </a:r>
          </a:p>
        </p:txBody>
      </p:sp>
      <p:sp>
        <p:nvSpPr>
          <p:cNvPr id="38" name="Rounded Rectangle 37"/>
          <p:cNvSpPr/>
          <p:nvPr/>
        </p:nvSpPr>
        <p:spPr>
          <a:xfrm>
            <a:off x="3063239" y="3017520"/>
            <a:ext cx="1243584" cy="658368"/>
          </a:xfrm>
          <a:prstGeom prst="roundRect">
            <a:avLst>
              <a:gd name="adj" fmla="val 11111"/>
            </a:avLst>
          </a:prstGeom>
          <a:solidFill>
            <a:srgbClr val="E3F0ED"/>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54679" y="3017520"/>
            <a:ext cx="1060704" cy="658368"/>
          </a:xfrm>
          <a:prstGeom prst="rect">
            <a:avLst/>
          </a:prstGeom>
          <a:noFill/>
        </p:spPr>
        <p:txBody>
          <a:bodyPr wrap="square" anchor="ctr" lIns="0" rIns="0" tIns="0" bIns="0">
            <a:spAutoFit/>
          </a:bodyPr>
          <a:lstStyle/>
          <a:p>
            <a:pPr>
              <a:lnSpc>
                <a:spcPct val="110000"/>
              </a:lnSpc>
            </a:pPr>
            <a:r>
              <a:rPr sz="700" b="0">
                <a:solidFill>
                  <a:srgbClr val="23373A"/>
                </a:solidFill>
                <a:latin typeface="DejaVu Sans"/>
              </a:rPr>
              <a:t>El </a:t>
            </a:r>
            <a:r>
              <a:rPr sz="700" b="1">
                <a:solidFill>
                  <a:srgbClr val="1A4043"/>
                </a:solidFill>
                <a:latin typeface="DejaVu Sans"/>
              </a:rPr>
              <a:t>21.7%</a:t>
            </a:r>
            <a:r>
              <a:rPr sz="700" b="0">
                <a:solidFill>
                  <a:srgbClr val="23373A"/>
                </a:solidFill>
                <a:latin typeface="DejaVu Sans"/>
              </a:rPr>
              <a:t> del espectro radioeléctrico es asignado a la banda de </a:t>
            </a:r>
            <a:r>
              <a:rPr sz="700" b="1">
                <a:solidFill>
                  <a:srgbClr val="1A4043"/>
                </a:solidFill>
                <a:latin typeface="DejaVu Sans"/>
              </a:rPr>
              <a:t>2,500 MHz</a:t>
            </a:r>
            <a:r>
              <a:rPr sz="700" b="0">
                <a:solidFill>
                  <a:srgbClr val="23373A"/>
                </a:solidFill>
                <a:latin typeface="DejaVu Sans"/>
              </a:rPr>
              <a:t>.</a:t>
            </a:r>
          </a:p>
        </p:txBody>
      </p:sp>
      <p:sp>
        <p:nvSpPr>
          <p:cNvPr id="40" name="TextBox 39"/>
          <p:cNvSpPr txBox="1"/>
          <p:nvPr/>
        </p:nvSpPr>
        <p:spPr>
          <a:xfrm>
            <a:off x="4572000" y="548640"/>
            <a:ext cx="4297680" cy="182880"/>
          </a:xfrm>
          <a:prstGeom prst="rect">
            <a:avLst/>
          </a:prstGeom>
          <a:noFill/>
        </p:spPr>
        <p:txBody>
          <a:bodyPr wrap="square" anchor="ctr" lIns="0" rIns="0" tIns="0" bIns="0">
            <a:spAutoFit/>
          </a:bodyPr>
          <a:lstStyle/>
          <a:p>
            <a:r>
              <a:rPr sz="850" b="1">
                <a:solidFill>
                  <a:srgbClr val="1A4043"/>
                </a:solidFill>
                <a:latin typeface="DejaVu Sans"/>
              </a:rPr>
              <a:t>SERVICIOS MÓVILES DE TELECOMUNICACIONES</a:t>
            </a:r>
          </a:p>
        </p:txBody>
      </p:sp>
      <p:sp>
        <p:nvSpPr>
          <p:cNvPr id="41" name="Rectangle 40"/>
          <p:cNvSpPr/>
          <p:nvPr/>
        </p:nvSpPr>
        <p:spPr>
          <a:xfrm>
            <a:off x="457200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72000" y="83210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654296" y="89154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_phone_w.png"/>
          <p:cNvPicPr>
            <a:picLocks noChangeAspect="1"/>
          </p:cNvPicPr>
          <p:nvPr/>
        </p:nvPicPr>
        <p:blipFill>
          <a:blip r:embed="rId6"/>
          <a:stretch>
            <a:fillRect/>
          </a:stretch>
        </p:blipFill>
        <p:spPr>
          <a:xfrm>
            <a:off x="4709159" y="946403"/>
            <a:ext cx="164592" cy="164592"/>
          </a:xfrm>
          <a:prstGeom prst="rect">
            <a:avLst/>
          </a:prstGeom>
        </p:spPr>
      </p:pic>
      <p:sp>
        <p:nvSpPr>
          <p:cNvPr id="45" name="TextBox 44"/>
          <p:cNvSpPr txBox="1"/>
          <p:nvPr/>
        </p:nvSpPr>
        <p:spPr>
          <a:xfrm>
            <a:off x="5029200" y="85953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diciembre de 2023, se tuvieron </a:t>
            </a:r>
            <a:r>
              <a:rPr sz="660" b="1">
                <a:solidFill>
                  <a:srgbClr val="1A4043"/>
                </a:solidFill>
                <a:latin typeface="DejaVu Sans"/>
              </a:rPr>
              <a:t>110 líneas</a:t>
            </a:r>
            <a:r>
              <a:rPr sz="660" b="0">
                <a:solidFill>
                  <a:srgbClr val="23373A"/>
                </a:solidFill>
                <a:latin typeface="DejaVu Sans"/>
              </a:rPr>
              <a:t> del servicio móvil de telefonía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46" name="Rounded Rectangle 45"/>
          <p:cNvSpPr/>
          <p:nvPr/>
        </p:nvSpPr>
        <p:spPr>
          <a:xfrm>
            <a:off x="4572000" y="1266443"/>
            <a:ext cx="4297680" cy="530352"/>
          </a:xfrm>
          <a:prstGeom prst="roundRect">
            <a:avLst>
              <a:gd name="adj" fmla="val 10344"/>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654296" y="13944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c_call_w.png"/>
          <p:cNvPicPr>
            <a:picLocks noChangeAspect="1"/>
          </p:cNvPicPr>
          <p:nvPr/>
        </p:nvPicPr>
        <p:blipFill>
          <a:blip r:embed="rId7"/>
          <a:stretch>
            <a:fillRect/>
          </a:stretch>
        </p:blipFill>
        <p:spPr>
          <a:xfrm>
            <a:off x="4709159" y="1449323"/>
            <a:ext cx="164592" cy="164592"/>
          </a:xfrm>
          <a:prstGeom prst="rect">
            <a:avLst/>
          </a:prstGeom>
        </p:spPr>
      </p:pic>
      <p:sp>
        <p:nvSpPr>
          <p:cNvPr id="49" name="TextBox 48"/>
          <p:cNvSpPr txBox="1"/>
          <p:nvPr/>
        </p:nvSpPr>
        <p:spPr>
          <a:xfrm>
            <a:off x="5029200" y="1293875"/>
            <a:ext cx="3749040" cy="47548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2023, el </a:t>
            </a:r>
            <a:r>
              <a:rPr sz="660" b="1">
                <a:solidFill>
                  <a:srgbClr val="1A4043"/>
                </a:solidFill>
                <a:latin typeface="DejaVu Sans"/>
              </a:rPr>
              <a:t>29.6%</a:t>
            </a:r>
            <a:r>
              <a:rPr sz="660" b="0">
                <a:solidFill>
                  <a:srgbClr val="23373A"/>
                </a:solidFill>
                <a:latin typeface="DejaVu Sans"/>
              </a:rPr>
              <a:t> de las MiPymes contrató el servicio de telefonía móvil y el </a:t>
            </a:r>
            <a:r>
              <a:rPr sz="660" b="1">
                <a:solidFill>
                  <a:srgbClr val="1A4043"/>
                </a:solidFill>
                <a:latin typeface="DejaVu Sans"/>
              </a:rPr>
              <a:t>19.6%</a:t>
            </a:r>
            <a:r>
              <a:rPr sz="660" b="0">
                <a:solidFill>
                  <a:srgbClr val="23373A"/>
                </a:solidFill>
                <a:latin typeface="DejaVu Sans"/>
              </a:rPr>
              <a:t> contrató conexión a Internet por datos móviles (telefonía móvil). Ambos servicios les permiten tener diferentes beneficios para sus negocios.</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p:txBody>
      </p:sp>
      <p:sp>
        <p:nvSpPr>
          <p:cNvPr id="50" name="Rounded Rectangle 49"/>
          <p:cNvSpPr/>
          <p:nvPr/>
        </p:nvSpPr>
        <p:spPr>
          <a:xfrm>
            <a:off x="4572000" y="183794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654296" y="1897379"/>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c_pin_w.png"/>
          <p:cNvPicPr>
            <a:picLocks noChangeAspect="1"/>
          </p:cNvPicPr>
          <p:nvPr/>
        </p:nvPicPr>
        <p:blipFill>
          <a:blip r:embed="rId8"/>
          <a:stretch>
            <a:fillRect/>
          </a:stretch>
        </p:blipFill>
        <p:spPr>
          <a:xfrm>
            <a:off x="4709159" y="1952243"/>
            <a:ext cx="164592" cy="164592"/>
          </a:xfrm>
          <a:prstGeom prst="rect">
            <a:avLst/>
          </a:prstGeom>
        </p:spPr>
      </p:pic>
      <p:sp>
        <p:nvSpPr>
          <p:cNvPr id="53" name="TextBox 52"/>
          <p:cNvSpPr txBox="1"/>
          <p:nvPr/>
        </p:nvSpPr>
        <p:spPr>
          <a:xfrm>
            <a:off x="5029200" y="186537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La Ciudad de México fue la entidad federativa con el </a:t>
            </a:r>
            <a:r>
              <a:rPr sz="660" b="1">
                <a:solidFill>
                  <a:srgbClr val="1A4043"/>
                </a:solidFill>
                <a:latin typeface="DejaVu Sans"/>
              </a:rPr>
              <a:t>mayor número de líneas del servicio móvil</a:t>
            </a:r>
            <a:r>
              <a:rPr sz="660" b="0">
                <a:solidFill>
                  <a:srgbClr val="23373A"/>
                </a:solidFill>
                <a:latin typeface="DejaVu Sans"/>
              </a:rPr>
              <a:t> de telefonía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54" name="Rounded Rectangle 53"/>
          <p:cNvSpPr/>
          <p:nvPr/>
        </p:nvSpPr>
        <p:spPr>
          <a:xfrm>
            <a:off x="4572000" y="227228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654296" y="233172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c_wifi_w.png"/>
          <p:cNvPicPr>
            <a:picLocks noChangeAspect="1"/>
          </p:cNvPicPr>
          <p:nvPr/>
        </p:nvPicPr>
        <p:blipFill>
          <a:blip r:embed="rId9"/>
          <a:stretch>
            <a:fillRect/>
          </a:stretch>
        </p:blipFill>
        <p:spPr>
          <a:xfrm>
            <a:off x="4709159" y="2386584"/>
            <a:ext cx="164592" cy="164592"/>
          </a:xfrm>
          <a:prstGeom prst="rect">
            <a:avLst/>
          </a:prstGeom>
        </p:spPr>
      </p:pic>
      <p:sp>
        <p:nvSpPr>
          <p:cNvPr id="57" name="TextBox 56"/>
          <p:cNvSpPr txBox="1"/>
          <p:nvPr/>
        </p:nvSpPr>
        <p:spPr>
          <a:xfrm>
            <a:off x="5029200" y="229971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el servicio móvil de acceso a Internet se tuvieron </a:t>
            </a:r>
            <a:r>
              <a:rPr sz="660" b="1">
                <a:solidFill>
                  <a:srgbClr val="1A4043"/>
                </a:solidFill>
                <a:latin typeface="DejaVu Sans"/>
              </a:rPr>
              <a:t>96 líneas</a:t>
            </a:r>
            <a:r>
              <a:rPr sz="660" b="0">
                <a:solidFill>
                  <a:srgbClr val="23373A"/>
                </a:solidFill>
                <a:latin typeface="DejaVu Sans"/>
              </a:rPr>
              <a:t>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58" name="Rounded Rectangle 57"/>
          <p:cNvSpPr/>
          <p:nvPr/>
        </p:nvSpPr>
        <p:spPr>
          <a:xfrm>
            <a:off x="4572000" y="270662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654296" y="27660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c_pin_w.png"/>
          <p:cNvPicPr>
            <a:picLocks noChangeAspect="1"/>
          </p:cNvPicPr>
          <p:nvPr/>
        </p:nvPicPr>
        <p:blipFill>
          <a:blip r:embed="rId8"/>
          <a:stretch>
            <a:fillRect/>
          </a:stretch>
        </p:blipFill>
        <p:spPr>
          <a:xfrm>
            <a:off x="4709159" y="2820924"/>
            <a:ext cx="164592" cy="164592"/>
          </a:xfrm>
          <a:prstGeom prst="rect">
            <a:avLst/>
          </a:prstGeom>
        </p:spPr>
      </p:pic>
      <p:sp>
        <p:nvSpPr>
          <p:cNvPr id="61" name="TextBox 60"/>
          <p:cNvSpPr txBox="1"/>
          <p:nvPr/>
        </p:nvSpPr>
        <p:spPr>
          <a:xfrm>
            <a:off x="5029200" y="273405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Chiapas fue la entidad federativa con el </a:t>
            </a:r>
            <a:r>
              <a:rPr sz="660" b="1">
                <a:solidFill>
                  <a:srgbClr val="1A4043"/>
                </a:solidFill>
                <a:latin typeface="DejaVu Sans"/>
              </a:rPr>
              <a:t>menor número de líneas del servicio móvil</a:t>
            </a:r>
            <a:r>
              <a:rPr sz="660" b="0">
                <a:solidFill>
                  <a:srgbClr val="23373A"/>
                </a:solidFill>
                <a:latin typeface="DejaVu Sans"/>
              </a:rPr>
              <a:t> de acceso a Internet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62" name="Rounded Rectangle 61"/>
          <p:cNvSpPr/>
          <p:nvPr/>
        </p:nvSpPr>
        <p:spPr>
          <a:xfrm>
            <a:off x="4572000" y="3140964"/>
            <a:ext cx="4297680" cy="548640"/>
          </a:xfrm>
          <a:prstGeom prst="roundRect">
            <a:avLst>
              <a:gd name="adj" fmla="val 10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654296" y="3278124"/>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ic_app_w.png"/>
          <p:cNvPicPr>
            <a:picLocks noChangeAspect="1"/>
          </p:cNvPicPr>
          <p:nvPr/>
        </p:nvPicPr>
        <p:blipFill>
          <a:blip r:embed="rId10"/>
          <a:stretch>
            <a:fillRect/>
          </a:stretch>
        </p:blipFill>
        <p:spPr>
          <a:xfrm>
            <a:off x="4709159" y="3332988"/>
            <a:ext cx="164592" cy="164592"/>
          </a:xfrm>
          <a:prstGeom prst="rect">
            <a:avLst/>
          </a:prstGeom>
        </p:spPr>
      </p:pic>
      <p:sp>
        <p:nvSpPr>
          <p:cNvPr id="65" name="TextBox 64"/>
          <p:cNvSpPr txBox="1"/>
          <p:nvPr/>
        </p:nvSpPr>
        <p:spPr>
          <a:xfrm>
            <a:off x="5029200" y="3168396"/>
            <a:ext cx="3749040" cy="493776"/>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El </a:t>
            </a:r>
            <a:r>
              <a:rPr sz="660" b="1">
                <a:solidFill>
                  <a:srgbClr val="1A4043"/>
                </a:solidFill>
                <a:latin typeface="DejaVu Sans"/>
              </a:rPr>
              <a:t>62.7%</a:t>
            </a:r>
            <a:r>
              <a:rPr sz="660" b="0">
                <a:solidFill>
                  <a:srgbClr val="23373A"/>
                </a:solidFill>
                <a:latin typeface="DejaVu Sans"/>
              </a:rPr>
              <a:t> de las MiPymes señaló que contar con una aplicación móvil para su empresa o negocio tiene como beneficio que el contacto con los clientes es más rápido.</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a:p>
            <a:pPr>
              <a:spcBef>
                <a:spcPts val="0"/>
              </a:spcBef>
            </a:pPr>
            <a:r>
              <a:rPr sz="450" b="0">
                <a:solidFill>
                  <a:srgbClr val="5F7476"/>
                </a:solidFill>
                <a:latin typeface="DejaVu Sans"/>
              </a:rPr>
              <a:t>Nota: Indicadores medidos en una escala de 0 a 100.</a:t>
            </a:r>
          </a:p>
        </p:txBody>
      </p:sp>
      <p:sp>
        <p:nvSpPr>
          <p:cNvPr id="66" name="TextBox 65"/>
          <p:cNvSpPr txBox="1"/>
          <p:nvPr/>
        </p:nvSpPr>
        <p:spPr>
          <a:xfrm>
            <a:off x="274320" y="3886200"/>
            <a:ext cx="5486400" cy="182880"/>
          </a:xfrm>
          <a:prstGeom prst="rect">
            <a:avLst/>
          </a:prstGeom>
          <a:noFill/>
        </p:spPr>
        <p:txBody>
          <a:bodyPr wrap="square" anchor="ctr" lIns="0" rIns="0" tIns="0" bIns="0">
            <a:spAutoFit/>
          </a:bodyPr>
          <a:lstStyle/>
          <a:p>
            <a:r>
              <a:rPr sz="850" b="1">
                <a:solidFill>
                  <a:srgbClr val="1A4043"/>
                </a:solidFill>
                <a:latin typeface="DejaVu Sans"/>
              </a:rPr>
              <a:t>CONSUMO DE RADIO Y TELEVISIÓN</a:t>
            </a:r>
          </a:p>
        </p:txBody>
      </p:sp>
      <p:sp>
        <p:nvSpPr>
          <p:cNvPr id="67" name="Rectangle 66"/>
          <p:cNvSpPr/>
          <p:nvPr/>
        </p:nvSpPr>
        <p:spPr>
          <a:xfrm>
            <a:off x="274320" y="407365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274320" y="4169663"/>
            <a:ext cx="416052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7432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02336" y="4224527"/>
            <a:ext cx="2468879"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Escucharon la radio</a:t>
            </a:r>
          </a:p>
          <a:p>
            <a:pPr>
              <a:lnSpc>
                <a:spcPct val="103000"/>
              </a:lnSpc>
            </a:pPr>
            <a:r>
              <a:rPr sz="660" b="0">
                <a:solidFill>
                  <a:srgbClr val="23373A"/>
                </a:solidFill>
                <a:latin typeface="DejaVu Sans"/>
              </a:rPr>
              <a:t>La proporción de personas que escucharon la radio alcanzó su máximo entre las </a:t>
            </a:r>
            <a:r>
              <a:rPr sz="660" b="1">
                <a:solidFill>
                  <a:srgbClr val="1A4043"/>
                </a:solidFill>
                <a:latin typeface="DejaVu Sans"/>
              </a:rPr>
              <a:t>9 y 10 de la mañana</a:t>
            </a:r>
            <a:r>
              <a:rPr sz="660" b="0">
                <a:solidFill>
                  <a:srgbClr val="23373A"/>
                </a:solidFill>
                <a:latin typeface="DejaVu Sans"/>
              </a:rPr>
              <a:t>.</a:t>
            </a:r>
          </a:p>
        </p:txBody>
      </p:sp>
      <p:sp>
        <p:nvSpPr>
          <p:cNvPr id="71" name="Oval 70"/>
          <p:cNvSpPr/>
          <p:nvPr/>
        </p:nvSpPr>
        <p:spPr>
          <a:xfrm>
            <a:off x="300837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ic_user_w.png"/>
          <p:cNvPicPr>
            <a:picLocks noChangeAspect="1"/>
          </p:cNvPicPr>
          <p:nvPr/>
        </p:nvPicPr>
        <p:blipFill>
          <a:blip r:embed="rId11"/>
          <a:stretch>
            <a:fillRect/>
          </a:stretch>
        </p:blipFill>
        <p:spPr>
          <a:xfrm>
            <a:off x="3040379" y="4256531"/>
            <a:ext cx="118872" cy="118872"/>
          </a:xfrm>
          <a:prstGeom prst="rect">
            <a:avLst/>
          </a:prstGeom>
        </p:spPr>
      </p:pic>
      <p:sp>
        <p:nvSpPr>
          <p:cNvPr id="73" name="TextBox 72"/>
          <p:cNvSpPr txBox="1"/>
          <p:nvPr/>
        </p:nvSpPr>
        <p:spPr>
          <a:xfrm>
            <a:off x="321868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74" name="TextBox 73"/>
          <p:cNvSpPr txBox="1"/>
          <p:nvPr/>
        </p:nvSpPr>
        <p:spPr>
          <a:xfrm>
            <a:off x="295351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8.5%</a:t>
            </a:r>
          </a:p>
        </p:txBody>
      </p:sp>
      <p:sp>
        <p:nvSpPr>
          <p:cNvPr id="75" name="Oval 74"/>
          <p:cNvSpPr/>
          <p:nvPr/>
        </p:nvSpPr>
        <p:spPr>
          <a:xfrm>
            <a:off x="3739895"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c_user_w.png"/>
          <p:cNvPicPr>
            <a:picLocks noChangeAspect="1"/>
          </p:cNvPicPr>
          <p:nvPr/>
        </p:nvPicPr>
        <p:blipFill>
          <a:blip r:embed="rId11"/>
          <a:stretch>
            <a:fillRect/>
          </a:stretch>
        </p:blipFill>
        <p:spPr>
          <a:xfrm>
            <a:off x="3771899" y="4256531"/>
            <a:ext cx="118872" cy="118872"/>
          </a:xfrm>
          <a:prstGeom prst="rect">
            <a:avLst/>
          </a:prstGeom>
        </p:spPr>
      </p:pic>
      <p:sp>
        <p:nvSpPr>
          <p:cNvPr id="77" name="TextBox 76"/>
          <p:cNvSpPr txBox="1"/>
          <p:nvPr/>
        </p:nvSpPr>
        <p:spPr>
          <a:xfrm>
            <a:off x="395020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78" name="TextBox 77"/>
          <p:cNvSpPr txBox="1"/>
          <p:nvPr/>
        </p:nvSpPr>
        <p:spPr>
          <a:xfrm>
            <a:off x="368503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11.09%</a:t>
            </a:r>
          </a:p>
        </p:txBody>
      </p:sp>
      <p:sp>
        <p:nvSpPr>
          <p:cNvPr id="79" name="Rounded Rectangle 78"/>
          <p:cNvSpPr/>
          <p:nvPr/>
        </p:nvSpPr>
        <p:spPr>
          <a:xfrm>
            <a:off x="4572000" y="4169663"/>
            <a:ext cx="429768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57200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700016" y="4224527"/>
            <a:ext cx="2606040"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Vieron la televisión</a:t>
            </a:r>
          </a:p>
          <a:p>
            <a:pPr>
              <a:lnSpc>
                <a:spcPct val="103000"/>
              </a:lnSpc>
            </a:pPr>
            <a:r>
              <a:rPr sz="660" b="0">
                <a:solidFill>
                  <a:srgbClr val="23373A"/>
                </a:solidFill>
                <a:latin typeface="DejaVu Sans"/>
              </a:rPr>
              <a:t>Por su parte, el mayor porcentaje de personas viendo la televisión se alcanzó entre las </a:t>
            </a:r>
            <a:r>
              <a:rPr sz="660" b="1">
                <a:solidFill>
                  <a:srgbClr val="1A4043"/>
                </a:solidFill>
                <a:latin typeface="DejaVu Sans"/>
              </a:rPr>
              <a:t>9 y 10 de la noche</a:t>
            </a:r>
            <a:r>
              <a:rPr sz="660" b="0">
                <a:solidFill>
                  <a:srgbClr val="23373A"/>
                </a:solidFill>
                <a:latin typeface="DejaVu Sans"/>
              </a:rPr>
              <a:t>.</a:t>
            </a:r>
          </a:p>
        </p:txBody>
      </p:sp>
      <p:sp>
        <p:nvSpPr>
          <p:cNvPr id="82" name="Oval 81"/>
          <p:cNvSpPr/>
          <p:nvPr/>
        </p:nvSpPr>
        <p:spPr>
          <a:xfrm>
            <a:off x="744321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ic_user_w.png"/>
          <p:cNvPicPr>
            <a:picLocks noChangeAspect="1"/>
          </p:cNvPicPr>
          <p:nvPr/>
        </p:nvPicPr>
        <p:blipFill>
          <a:blip r:embed="rId11"/>
          <a:stretch>
            <a:fillRect/>
          </a:stretch>
        </p:blipFill>
        <p:spPr>
          <a:xfrm>
            <a:off x="7475219" y="4256531"/>
            <a:ext cx="118872" cy="118872"/>
          </a:xfrm>
          <a:prstGeom prst="rect">
            <a:avLst/>
          </a:prstGeom>
        </p:spPr>
      </p:pic>
      <p:sp>
        <p:nvSpPr>
          <p:cNvPr id="84" name="TextBox 83"/>
          <p:cNvSpPr txBox="1"/>
          <p:nvPr/>
        </p:nvSpPr>
        <p:spPr>
          <a:xfrm>
            <a:off x="765352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85" name="TextBox 84"/>
          <p:cNvSpPr txBox="1"/>
          <p:nvPr/>
        </p:nvSpPr>
        <p:spPr>
          <a:xfrm>
            <a:off x="738835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16.46%</a:t>
            </a:r>
          </a:p>
        </p:txBody>
      </p:sp>
      <p:sp>
        <p:nvSpPr>
          <p:cNvPr id="86" name="Oval 85"/>
          <p:cNvSpPr/>
          <p:nvPr/>
        </p:nvSpPr>
        <p:spPr>
          <a:xfrm>
            <a:off x="8174736"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ic_user_w.png"/>
          <p:cNvPicPr>
            <a:picLocks noChangeAspect="1"/>
          </p:cNvPicPr>
          <p:nvPr/>
        </p:nvPicPr>
        <p:blipFill>
          <a:blip r:embed="rId11"/>
          <a:stretch>
            <a:fillRect/>
          </a:stretch>
        </p:blipFill>
        <p:spPr>
          <a:xfrm>
            <a:off x="8206740" y="4256531"/>
            <a:ext cx="118872" cy="118872"/>
          </a:xfrm>
          <a:prstGeom prst="rect">
            <a:avLst/>
          </a:prstGeom>
        </p:spPr>
      </p:pic>
      <p:sp>
        <p:nvSpPr>
          <p:cNvPr id="88" name="TextBox 87"/>
          <p:cNvSpPr txBox="1"/>
          <p:nvPr/>
        </p:nvSpPr>
        <p:spPr>
          <a:xfrm>
            <a:off x="838504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89" name="TextBox 88"/>
          <p:cNvSpPr txBox="1"/>
          <p:nvPr/>
        </p:nvSpPr>
        <p:spPr>
          <a:xfrm>
            <a:off x="811987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14.95%</a:t>
            </a:r>
          </a:p>
        </p:txBody>
      </p:sp>
      <p:sp>
        <p:nvSpPr>
          <p:cNvPr id="90" name="TextBox 89"/>
          <p:cNvSpPr txBox="1"/>
          <p:nvPr/>
        </p:nvSpPr>
        <p:spPr>
          <a:xfrm>
            <a:off x="274320" y="4773168"/>
            <a:ext cx="8595360" cy="128016"/>
          </a:xfrm>
          <a:prstGeom prst="rect">
            <a:avLst/>
          </a:prstGeom>
          <a:noFill/>
        </p:spPr>
        <p:txBody>
          <a:bodyPr wrap="square" anchor="t" lIns="0" rIns="0" tIns="0" bIns="0">
            <a:spAutoFit/>
          </a:bodyPr>
          <a:lstStyle/>
          <a:p>
            <a:pPr>
              <a:spcBef>
                <a:spcPts val="150"/>
              </a:spcBef>
            </a:pPr>
            <a:r>
              <a:rPr sz="459" b="0">
                <a:solidFill>
                  <a:srgbClr val="5F7476"/>
                </a:solidFill>
                <a:latin typeface="DejaVu Sans"/>
              </a:rPr>
              <a:t>Fuente: El consumo de radio se obtuvo de la base de datos de INRA a través de software INRAM. El consumo de televisión se obtuvo de la base de datos de Audiencias-Ratings TV de Nielsen IBOPE, software de explotación MSS TV. Datos de julio 2023 a junio 2024.</a:t>
            </a:r>
          </a:p>
        </p:txBody>
      </p:sp>
      <p:pic>
        <p:nvPicPr>
          <p:cNvPr id="91" name="ANUARIO_BARRA_FONDO"/>
          <p:cNvPicPr>
            <a:picLocks noChangeAspect="1"/>
          </p:cNvPicPr>
          <p:nvPr/>
        </p:nvPicPr>
        <p:blipFill>
          <a:blip r:embed="rId12"/>
          <a:stretch/>
        </p:blipFill>
        <p:spPr>
          <a:xfrm>
            <a:off x="3378" y="0"/>
            <a:ext cx="9136888" cy="456844"/>
          </a:xfrm>
          <a:prstGeom prst="rect">
            <a:avLst/>
          </a:prstGeom>
        </p:spPr>
      </p:pic>
      <p:sp>
        <p:nvSpPr>
          <p:cNvPr id="92"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93" name="ANUARIO_BARRA_QR"/>
          <p:cNvPicPr>
            <a:picLocks noChangeAspect="1"/>
          </p:cNvPicPr>
          <p:nvPr/>
        </p:nvPicPr>
        <p:blipFill>
          <a:blip r:embed="rId13"/>
          <a:stretch/>
        </p:blipFill>
        <p:spPr>
          <a:xfrm>
            <a:off x="7810564" y="75961"/>
            <a:ext cx="304559" cy="304559"/>
          </a:xfrm>
          <a:prstGeom prst="rect">
            <a:avLst/>
          </a:prstGeom>
        </p:spPr>
      </p:pic>
      <p:pic>
        <p:nvPicPr>
          <p:cNvPr id="94" name="ANUARIO_BARRA_CRT"/>
          <p:cNvPicPr>
            <a:picLocks noChangeAspect="1"/>
          </p:cNvPicPr>
          <p:nvPr/>
        </p:nvPicPr>
        <p:blipFill>
          <a:blip r:embed="rId14"/>
          <a:stretch/>
        </p:blipFill>
        <p:spPr>
          <a:xfrm>
            <a:off x="8294782" y="75961"/>
            <a:ext cx="542115" cy="304559"/>
          </a:xfrm>
          <a:prstGeom prst="rect">
            <a:avLst/>
          </a:prstGeom>
        </p:spPr>
      </p:pic>
      <p:sp>
        <p:nvSpPr>
          <p:cNvPr id="95"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PUNTOS CLAVE</a:t>
            </a:r>
          </a:p>
        </p:txBody>
      </p:sp>
      <p:sp>
        <p:nvSpPr>
          <p:cNvPr id="96"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97" name="ANUARIO_BARRA_URL">
            <a:hlinkClick r:id="rId1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a:t>
            </a:r>
          </a:p>
        </p:txBody>
      </p:sp>
      <p:sp>
        <p:nvSpPr>
          <p:cNvPr id="227" name="ANUARIO_REFERENCIA_2024_P10_L001"/>
          <p:cNvSpPr txBox="1"/>
          <p:nvPr/>
        </p:nvSpPr>
        <p:spPr>
          <a:xfrm>
            <a:off x="1000353" y="617172"/>
            <a:ext cx="252797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FIJOS DE TELECOMUNICACIONES</a:t>
            </a:r>
          </a:p>
        </p:txBody>
      </p:sp>
      <p:sp>
        <p:nvSpPr>
          <p:cNvPr id="228" name="ANUARIO_REFERENCIA_2024_P10_L002"/>
          <p:cNvSpPr txBox="1"/>
          <p:nvPr/>
        </p:nvSpPr>
        <p:spPr>
          <a:xfrm>
            <a:off x="1347900" y="4061473"/>
            <a:ext cx="1988175"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DE RADIODIFUSIÓN</a:t>
            </a:r>
          </a:p>
        </p:txBody>
      </p:sp>
      <p:sp>
        <p:nvSpPr>
          <p:cNvPr id="229" name="ANUARIO_REFERENCIA_2024_P10_L003"/>
          <p:cNvSpPr txBox="1"/>
          <p:nvPr/>
        </p:nvSpPr>
        <p:spPr>
          <a:xfrm>
            <a:off x="5184893" y="617172"/>
            <a:ext cx="260450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CON PERSPECTIVA DE GÉNERO</a:t>
            </a:r>
          </a:p>
        </p:txBody>
      </p:sp>
      <p:sp>
        <p:nvSpPr>
          <p:cNvPr id="230" name="ANUARIO_REFERENCIA_2024_P10_L004"/>
          <p:cNvSpPr txBox="1"/>
          <p:nvPr/>
        </p:nvSpPr>
        <p:spPr>
          <a:xfrm>
            <a:off x="4735245" y="2367524"/>
            <a:ext cx="254013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USO, CONOCIMIENTO Y PERCEPCIÓN DE LA</a:t>
            </a:r>
          </a:p>
        </p:txBody>
      </p:sp>
      <p:sp>
        <p:nvSpPr>
          <p:cNvPr id="231" name="ANUARIO_REFERENCIA_2024_P10_L005"/>
          <p:cNvSpPr txBox="1"/>
          <p:nvPr/>
        </p:nvSpPr>
        <p:spPr>
          <a:xfrm>
            <a:off x="4735245" y="2490586"/>
            <a:ext cx="240899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INTELIGENCIA ARTIFICIAL (IA) Y CHATGPT</a:t>
            </a:r>
          </a:p>
        </p:txBody>
      </p:sp>
      <p:sp>
        <p:nvSpPr>
          <p:cNvPr id="232" name="ANUARIO_REFERENCIA_2024_P10_L006"/>
          <p:cNvSpPr txBox="1"/>
          <p:nvPr/>
        </p:nvSpPr>
        <p:spPr>
          <a:xfrm>
            <a:off x="5262901" y="825016"/>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las mujeres superaron por primera vez a los hombres en el porcentaje uso de Internet. </a:t>
            </a:r>
          </a:p>
        </p:txBody>
      </p:sp>
      <p:sp>
        <p:nvSpPr>
          <p:cNvPr id="233" name="ANUARIO_REFERENCIA_2024_P10_L007"/>
          <p:cNvSpPr txBox="1"/>
          <p:nvPr/>
        </p:nvSpPr>
        <p:spPr>
          <a:xfrm>
            <a:off x="5195296" y="917333"/>
            <a:ext cx="353722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diferencia fue de 0.4 puntos porcentuales, con 81.4% de mujeres conectadas, mientras que los </a:t>
            </a:r>
          </a:p>
        </p:txBody>
      </p:sp>
      <p:sp>
        <p:nvSpPr>
          <p:cNvPr id="234" name="ANUARIO_REFERENCIA_2024_P10_L008"/>
          <p:cNvSpPr txBox="1"/>
          <p:nvPr/>
        </p:nvSpPr>
        <p:spPr>
          <a:xfrm>
            <a:off x="5195296" y="1009651"/>
            <a:ext cx="118361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hombres alcanzaron un 81.0%.</a:t>
            </a:r>
          </a:p>
        </p:txBody>
      </p:sp>
      <p:sp>
        <p:nvSpPr>
          <p:cNvPr id="235" name="ANUARIO_REFERENCIA_2024_P10_L009"/>
          <p:cNvSpPr txBox="1"/>
          <p:nvPr/>
        </p:nvSpPr>
        <p:spPr>
          <a:xfrm>
            <a:off x="5195285" y="1118607"/>
            <a:ext cx="16795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Fuente: IFT con datos de la ENDUTIH 2023, del INEGI. </a:t>
            </a:r>
          </a:p>
        </p:txBody>
      </p:sp>
      <p:sp>
        <p:nvSpPr>
          <p:cNvPr id="236" name="ANUARIO_REFERENCIA_2024_P10_L010"/>
          <p:cNvSpPr txBox="1"/>
          <p:nvPr/>
        </p:nvSpPr>
        <p:spPr>
          <a:xfrm>
            <a:off x="1152649" y="1359512"/>
            <a:ext cx="332303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Querétaro fue la entidad federativa con el mayor número de accesos residenciales de </a:t>
            </a:r>
          </a:p>
        </p:txBody>
      </p:sp>
      <p:sp>
        <p:nvSpPr>
          <p:cNvPr id="237" name="ANUARIO_REFERENCIA_2024_P10_L011"/>
          <p:cNvSpPr txBox="1"/>
          <p:nvPr/>
        </p:nvSpPr>
        <p:spPr>
          <a:xfrm>
            <a:off x="1085044" y="1441225"/>
            <a:ext cx="1911049"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televisión restringida por cada 100 hogares con </a:t>
            </a:r>
            <a:r>
              <a:rPr sz="688" b="1" i="0">
                <a:solidFill>
                  <a:srgbClr val="1C2829"/>
                </a:solidFill>
                <a:latin typeface="Noto Sans"/>
              </a:rPr>
              <a:t>94</a:t>
            </a:r>
            <a:r>
              <a:rPr sz="602" b="0" i="0">
                <a:solidFill>
                  <a:srgbClr val="1C2829"/>
                </a:solidFill>
                <a:latin typeface="Noto Sans"/>
              </a:rPr>
              <a:t>.</a:t>
            </a:r>
          </a:p>
        </p:txBody>
      </p:sp>
      <p:sp>
        <p:nvSpPr>
          <p:cNvPr id="238" name="ANUARIO_REFERENCIA_2024_P10_L012"/>
          <p:cNvSpPr txBox="1"/>
          <p:nvPr/>
        </p:nvSpPr>
        <p:spPr>
          <a:xfrm>
            <a:off x="1085033" y="1560752"/>
            <a:ext cx="3385309"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población por entidad federativa del INEGI </a:t>
            </a:r>
          </a:p>
        </p:txBody>
      </p:sp>
      <p:sp>
        <p:nvSpPr>
          <p:cNvPr id="239" name="ANUARIO_REFERENCIA_2024_P10_L013"/>
          <p:cNvSpPr txBox="1"/>
          <p:nvPr/>
        </p:nvSpPr>
        <p:spPr>
          <a:xfrm>
            <a:off x="1085033" y="1622283"/>
            <a:ext cx="591968"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y la ENDUTIH 2023.</a:t>
            </a:r>
          </a:p>
        </p:txBody>
      </p:sp>
      <p:sp>
        <p:nvSpPr>
          <p:cNvPr id="240" name="ANUARIO_REFERENCIA_2024_P10_L014"/>
          <p:cNvSpPr txBox="1"/>
          <p:nvPr/>
        </p:nvSpPr>
        <p:spPr>
          <a:xfrm>
            <a:off x="1152649" y="1021507"/>
            <a:ext cx="332240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año 2000, se tenían 14 accesos del servicio por cada 100 hogares. Para diciembre de </a:t>
            </a:r>
          </a:p>
        </p:txBody>
      </p:sp>
      <p:sp>
        <p:nvSpPr>
          <p:cNvPr id="241" name="ANUARIO_REFERENCIA_2024_P10_L015"/>
          <p:cNvSpPr txBox="1"/>
          <p:nvPr/>
        </p:nvSpPr>
        <p:spPr>
          <a:xfrm>
            <a:off x="1085044" y="1103220"/>
            <a:ext cx="169231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son </a:t>
            </a:r>
            <a:r>
              <a:rPr sz="688" b="1" i="0">
                <a:solidFill>
                  <a:srgbClr val="1C2829"/>
                </a:solidFill>
                <a:latin typeface="Noto Sans"/>
              </a:rPr>
              <a:t>61 los accesos</a:t>
            </a:r>
            <a:r>
              <a:rPr sz="602" b="0" i="0">
                <a:solidFill>
                  <a:srgbClr val="1C2829"/>
                </a:solidFill>
                <a:latin typeface="Noto Sans"/>
              </a:rPr>
              <a:t> para este servicio. </a:t>
            </a:r>
          </a:p>
        </p:txBody>
      </p:sp>
      <p:sp>
        <p:nvSpPr>
          <p:cNvPr id="242" name="ANUARIO_REFERENCIA_2024_P10_L016"/>
          <p:cNvSpPr txBox="1"/>
          <p:nvPr/>
        </p:nvSpPr>
        <p:spPr>
          <a:xfrm>
            <a:off x="1085033" y="1238134"/>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43" name="ANUARIO_REFERENCIA_2024_P10_L017"/>
          <p:cNvSpPr txBox="1"/>
          <p:nvPr/>
        </p:nvSpPr>
        <p:spPr>
          <a:xfrm>
            <a:off x="1085033" y="879953"/>
            <a:ext cx="98469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Televisión restringida</a:t>
            </a:r>
          </a:p>
        </p:txBody>
      </p:sp>
      <p:sp>
        <p:nvSpPr>
          <p:cNvPr id="244" name="ANUARIO_REFERENCIA_2024_P10_L018"/>
          <p:cNvSpPr txBox="1"/>
          <p:nvPr/>
        </p:nvSpPr>
        <p:spPr>
          <a:xfrm>
            <a:off x="1152649" y="2249708"/>
            <a:ext cx="226914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89.4%</a:t>
            </a:r>
            <a:r>
              <a:rPr sz="602" b="0" i="0">
                <a:solidFill>
                  <a:srgbClr val="1C2829"/>
                </a:solidFill>
                <a:latin typeface="Noto Sans"/>
              </a:rPr>
              <a:t> de las MiPymes contrata el servicio de Internet fijo.</a:t>
            </a:r>
          </a:p>
        </p:txBody>
      </p:sp>
      <p:sp>
        <p:nvSpPr>
          <p:cNvPr id="245" name="ANUARIO_REFERENCIA_2024_P10_L019"/>
          <p:cNvSpPr txBox="1"/>
          <p:nvPr/>
        </p:nvSpPr>
        <p:spPr>
          <a:xfrm>
            <a:off x="1085044" y="2373068"/>
            <a:ext cx="33900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Consideran que el contar con el servicio trae como beneficios tener más cercanía con sus </a:t>
            </a:r>
          </a:p>
        </p:txBody>
      </p:sp>
      <p:sp>
        <p:nvSpPr>
          <p:cNvPr id="246" name="ANUARIO_REFERENCIA_2024_P10_L020"/>
          <p:cNvSpPr txBox="1"/>
          <p:nvPr/>
        </p:nvSpPr>
        <p:spPr>
          <a:xfrm>
            <a:off x="1085044" y="2460216"/>
            <a:ext cx="87792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clientes y más ventas. </a:t>
            </a:r>
          </a:p>
        </p:txBody>
      </p:sp>
      <p:sp>
        <p:nvSpPr>
          <p:cNvPr id="247" name="ANUARIO_REFERENCIA_2024_P10_L021"/>
          <p:cNvSpPr txBox="1"/>
          <p:nvPr/>
        </p:nvSpPr>
        <p:spPr>
          <a:xfrm>
            <a:off x="1085033" y="2567200"/>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48" name="ANUARIO_REFERENCIA_2024_P10_L022"/>
          <p:cNvSpPr txBox="1"/>
          <p:nvPr/>
        </p:nvSpPr>
        <p:spPr>
          <a:xfrm>
            <a:off x="1085033" y="2628731"/>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49" name="ANUARIO_REFERENCIA_2024_P10_L023"/>
          <p:cNvSpPr txBox="1"/>
          <p:nvPr/>
        </p:nvSpPr>
        <p:spPr>
          <a:xfrm>
            <a:off x="1085033" y="2690262"/>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0" name="ANUARIO_REFERENCIA_2024_P10_L024"/>
          <p:cNvSpPr txBox="1"/>
          <p:nvPr/>
        </p:nvSpPr>
        <p:spPr>
          <a:xfrm>
            <a:off x="1152649" y="2014644"/>
            <a:ext cx="251884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65.0%</a:t>
            </a:r>
            <a:r>
              <a:rPr sz="602" b="0" i="0">
                <a:solidFill>
                  <a:srgbClr val="1C2829"/>
                </a:solidFill>
                <a:latin typeface="Noto Sans"/>
              </a:rPr>
              <a:t> de los accesos del servicio se dieron a través de fibra óptica. </a:t>
            </a:r>
          </a:p>
        </p:txBody>
      </p:sp>
      <p:sp>
        <p:nvSpPr>
          <p:cNvPr id="251" name="ANUARIO_REFERENCIA_2024_P10_L025"/>
          <p:cNvSpPr txBox="1"/>
          <p:nvPr/>
        </p:nvSpPr>
        <p:spPr>
          <a:xfrm>
            <a:off x="1085033" y="2126243"/>
            <a:ext cx="1643455"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a diciembre de 2023.</a:t>
            </a:r>
          </a:p>
        </p:txBody>
      </p:sp>
      <p:sp>
        <p:nvSpPr>
          <p:cNvPr id="252" name="ANUARIO_REFERENCIA_2024_P10_L026"/>
          <p:cNvSpPr txBox="1"/>
          <p:nvPr/>
        </p:nvSpPr>
        <p:spPr>
          <a:xfrm>
            <a:off x="1085033" y="1881269"/>
            <a:ext cx="59468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Internet fijo</a:t>
            </a:r>
          </a:p>
        </p:txBody>
      </p:sp>
      <p:sp>
        <p:nvSpPr>
          <p:cNvPr id="253" name="ANUARIO_REFERENCIA_2024_P10_L027"/>
          <p:cNvSpPr txBox="1"/>
          <p:nvPr/>
        </p:nvSpPr>
        <p:spPr>
          <a:xfrm>
            <a:off x="1152649" y="3413741"/>
            <a:ext cx="33223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Índice General de Satisfacción del servicio de Internet fijo para empresas medianas se </a:t>
            </a:r>
          </a:p>
        </p:txBody>
      </p:sp>
      <p:sp>
        <p:nvSpPr>
          <p:cNvPr id="254" name="ANUARIO_REFERENCIA_2024_P10_L028"/>
          <p:cNvSpPr txBox="1"/>
          <p:nvPr/>
        </p:nvSpPr>
        <p:spPr>
          <a:xfrm>
            <a:off x="1085044" y="3490326"/>
            <a:ext cx="339040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ubicó en 2023 con 79.2 puntos; lo que representa un crecimiento del </a:t>
            </a:r>
            <a:r>
              <a:rPr sz="688" b="1" i="0">
                <a:solidFill>
                  <a:srgbClr val="1C2829"/>
                </a:solidFill>
                <a:latin typeface="Noto Sans"/>
              </a:rPr>
              <a:t>7.2%</a:t>
            </a:r>
            <a:r>
              <a:rPr sz="602" b="0" i="0">
                <a:solidFill>
                  <a:srgbClr val="1C2829"/>
                </a:solidFill>
                <a:latin typeface="Noto Sans"/>
              </a:rPr>
              <a:t> respecto a 2022. </a:t>
            </a:r>
          </a:p>
        </p:txBody>
      </p:sp>
      <p:sp>
        <p:nvSpPr>
          <p:cNvPr id="255" name="ANUARIO_REFERENCIA_2024_P10_L029"/>
          <p:cNvSpPr txBox="1"/>
          <p:nvPr/>
        </p:nvSpPr>
        <p:spPr>
          <a:xfrm>
            <a:off x="1085016" y="3588058"/>
            <a:ext cx="27286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Esto indica que quienes lo contratan están más satisfechos con el servicio.</a:t>
            </a:r>
          </a:p>
        </p:txBody>
      </p:sp>
      <p:sp>
        <p:nvSpPr>
          <p:cNvPr id="256" name="ANUARIO_REFERENCIA_2024_P10_L030"/>
          <p:cNvSpPr txBox="1"/>
          <p:nvPr/>
        </p:nvSpPr>
        <p:spPr>
          <a:xfrm>
            <a:off x="1085033" y="3697307"/>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57" name="ANUARIO_REFERENCIA_2024_P10_L031"/>
          <p:cNvSpPr txBox="1"/>
          <p:nvPr/>
        </p:nvSpPr>
        <p:spPr>
          <a:xfrm>
            <a:off x="1085033" y="3758838"/>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58" name="ANUARIO_REFERENCIA_2024_P10_L032"/>
          <p:cNvSpPr txBox="1"/>
          <p:nvPr/>
        </p:nvSpPr>
        <p:spPr>
          <a:xfrm>
            <a:off x="1085033" y="3820369"/>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9" name="ANUARIO_REFERENCIA_2024_P10_L033"/>
          <p:cNvSpPr txBox="1"/>
          <p:nvPr/>
        </p:nvSpPr>
        <p:spPr>
          <a:xfrm>
            <a:off x="1152649" y="3094278"/>
            <a:ext cx="332273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nivel nacional se tenía en 1971, un total de 11 líneas del servicio por cada 100 hogares. Para </a:t>
            </a:r>
          </a:p>
        </p:txBody>
      </p:sp>
      <p:sp>
        <p:nvSpPr>
          <p:cNvPr id="260" name="ANUARIO_REFERENCIA_2024_P10_L034"/>
          <p:cNvSpPr txBox="1"/>
          <p:nvPr/>
        </p:nvSpPr>
        <p:spPr>
          <a:xfrm>
            <a:off x="1085044" y="3175991"/>
            <a:ext cx="180650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se tienen</a:t>
            </a:r>
            <a:r>
              <a:rPr sz="688" b="1" i="0">
                <a:solidFill>
                  <a:srgbClr val="1C2829"/>
                </a:solidFill>
                <a:latin typeface="Noto Sans"/>
              </a:rPr>
              <a:t> 75 líneas</a:t>
            </a:r>
            <a:r>
              <a:rPr sz="602" b="0" i="0">
                <a:solidFill>
                  <a:srgbClr val="1C2829"/>
                </a:solidFill>
                <a:latin typeface="Noto Sans"/>
              </a:rPr>
              <a:t> por cada 100 hogares.</a:t>
            </a:r>
          </a:p>
        </p:txBody>
      </p:sp>
      <p:sp>
        <p:nvSpPr>
          <p:cNvPr id="261" name="ANUARIO_REFERENCIA_2024_P10_L035"/>
          <p:cNvSpPr txBox="1"/>
          <p:nvPr/>
        </p:nvSpPr>
        <p:spPr>
          <a:xfrm>
            <a:off x="1085033" y="3292363"/>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62" name="ANUARIO_REFERENCIA_2024_P10_L036"/>
          <p:cNvSpPr txBox="1"/>
          <p:nvPr/>
        </p:nvSpPr>
        <p:spPr>
          <a:xfrm>
            <a:off x="1085033" y="2952733"/>
            <a:ext cx="651121"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Telefonía fija </a:t>
            </a:r>
          </a:p>
        </p:txBody>
      </p:sp>
      <p:sp>
        <p:nvSpPr>
          <p:cNvPr id="263" name="ANUARIO_REFERENCIA_2024_P10_L037"/>
          <p:cNvSpPr txBox="1"/>
          <p:nvPr/>
        </p:nvSpPr>
        <p:spPr>
          <a:xfrm>
            <a:off x="432136" y="4566513"/>
            <a:ext cx="36303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BIT Estatal Concesiones otorgadas de radio AM, FM, y TDT a diciembre de 2023: </a:t>
            </a:r>
            <a:r>
              <a:rPr sz="430" b="0" i="0">
                <a:solidFill>
                  <a:srgbClr val="484979"/>
                </a:solidFill>
                <a:latin typeface="Noto Sans"/>
              </a:rPr>
              <a:t>https://bitestatal.ift.org.mx/#/estado/Nacional </a:t>
            </a:r>
          </a:p>
        </p:txBody>
      </p:sp>
      <p:sp>
        <p:nvSpPr>
          <p:cNvPr id="264" name="ANUARIO_REFERENCIA_2024_P10_L038"/>
          <p:cNvSpPr txBox="1"/>
          <p:nvPr/>
        </p:nvSpPr>
        <p:spPr>
          <a:xfrm>
            <a:off x="4735244" y="2673766"/>
            <a:ext cx="282623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De acuerdo con un Estudio cualitativo de conocimiento y percepción de IA y </a:t>
            </a:r>
          </a:p>
        </p:txBody>
      </p:sp>
      <p:sp>
        <p:nvSpPr>
          <p:cNvPr id="265" name="ANUARIO_REFERENCIA_2024_P10_L039"/>
          <p:cNvSpPr txBox="1"/>
          <p:nvPr/>
        </p:nvSpPr>
        <p:spPr>
          <a:xfrm>
            <a:off x="4735244" y="2766083"/>
            <a:ext cx="2826475"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ChatGPT, las personas participantes consideraron que estas herramientas son </a:t>
            </a:r>
          </a:p>
        </p:txBody>
      </p:sp>
      <p:sp>
        <p:nvSpPr>
          <p:cNvPr id="266" name="ANUARIO_REFERENCIA_2024_P10_L040"/>
          <p:cNvSpPr txBox="1"/>
          <p:nvPr/>
        </p:nvSpPr>
        <p:spPr>
          <a:xfrm>
            <a:off x="4735244" y="2858400"/>
            <a:ext cx="2826780"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accesibles y aportan beneficios significativos en diferentes áreas de la vida como </a:t>
            </a:r>
          </a:p>
        </p:txBody>
      </p:sp>
      <p:sp>
        <p:nvSpPr>
          <p:cNvPr id="267" name="ANUARIO_REFERENCIA_2024_P10_L041"/>
          <p:cNvSpPr txBox="1"/>
          <p:nvPr/>
        </p:nvSpPr>
        <p:spPr>
          <a:xfrm>
            <a:off x="4735244" y="2950717"/>
            <a:ext cx="282628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son; laboral, escolar, salud y hogar. Algunas desventajas que se mencionaron, es </a:t>
            </a:r>
          </a:p>
        </p:txBody>
      </p:sp>
      <p:sp>
        <p:nvSpPr>
          <p:cNvPr id="268" name="ANUARIO_REFERENCIA_2024_P10_L042"/>
          <p:cNvSpPr txBox="1"/>
          <p:nvPr/>
        </p:nvSpPr>
        <p:spPr>
          <a:xfrm>
            <a:off x="4735244" y="3043034"/>
            <a:ext cx="237430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que no se da la protección de privacidad de datos y los ciberdelitos.</a:t>
            </a:r>
          </a:p>
        </p:txBody>
      </p:sp>
      <p:sp>
        <p:nvSpPr>
          <p:cNvPr id="269" name="ANUARIO_REFERENCIA_2024_P10_L043"/>
          <p:cNvSpPr txBox="1"/>
          <p:nvPr/>
        </p:nvSpPr>
        <p:spPr>
          <a:xfrm>
            <a:off x="4735244" y="3185445"/>
            <a:ext cx="2821724" cy="109728"/>
          </a:xfrm>
          <a:prstGeom prst="rect">
            <a:avLst/>
          </a:prstGeom>
          <a:noFill/>
        </p:spPr>
        <p:txBody>
          <a:bodyPr wrap="none" anchor="t" lIns="0" rIns="0" tIns="0" bIns="0">
            <a:noAutofit/>
          </a:bodyPr>
          <a:lstStyle/>
          <a:p>
            <a:pPr>
              <a:spcBef>
                <a:spcPts val="0"/>
              </a:spcBef>
              <a:spcAft>
                <a:spcPts val="0"/>
              </a:spcAft>
            </a:pPr>
            <a:r>
              <a:rPr sz="421" b="0" i="0">
                <a:solidFill>
                  <a:srgbClr val="1C2829"/>
                </a:solidFill>
                <a:latin typeface="Noto Sans"/>
              </a:rPr>
              <a:t>Fuente: IFT, con información del Estudio Cualitativo. Conocimiento y Percepción Sobre La Inteligencia Artificial </a:t>
            </a:r>
          </a:p>
        </p:txBody>
      </p:sp>
      <p:sp>
        <p:nvSpPr>
          <p:cNvPr id="270" name="ANUARIO_REFERENCIA_2024_P10_L044"/>
          <p:cNvSpPr txBox="1"/>
          <p:nvPr/>
        </p:nvSpPr>
        <p:spPr>
          <a:xfrm>
            <a:off x="4735244" y="3246976"/>
            <a:ext cx="2809419" cy="109728"/>
          </a:xfrm>
          <a:prstGeom prst="rect">
            <a:avLst/>
          </a:prstGeom>
          <a:noFill/>
        </p:spPr>
        <p:txBody>
          <a:bodyPr wrap="none" anchor="t" lIns="0" rIns="0" tIns="0" bIns="0">
            <a:noAutofit/>
          </a:bodyPr>
          <a:lstStyle/>
          <a:p>
            <a:pPr>
              <a:spcBef>
                <a:spcPts val="0"/>
              </a:spcBef>
              <a:spcAft>
                <a:spcPts val="0"/>
              </a:spcAft>
            </a:pPr>
            <a:r>
              <a:rPr sz="428" b="0" i="0">
                <a:solidFill>
                  <a:srgbClr val="1C2829"/>
                </a:solidFill>
                <a:latin typeface="Noto Sans"/>
              </a:rPr>
              <a:t>(IA) y ChatGPT 2023. Para más información consultar: </a:t>
            </a:r>
            <a:r>
              <a:rPr sz="428" b="0" i="0">
                <a:solidFill>
                  <a:srgbClr val="484979"/>
                </a:solidFill>
                <a:latin typeface="Noto Sans"/>
              </a:rPr>
              <a:t>https://www.ift.org.mx/usuarios-y-audiencias/estudio-</a:t>
            </a:r>
          </a:p>
        </p:txBody>
      </p:sp>
      <p:sp>
        <p:nvSpPr>
          <p:cNvPr id="271" name="ANUARIO_REFERENCIA_2024_P10_L045"/>
          <p:cNvSpPr txBox="1"/>
          <p:nvPr/>
        </p:nvSpPr>
        <p:spPr>
          <a:xfrm>
            <a:off x="4735244" y="3308507"/>
            <a:ext cx="2355336" cy="109728"/>
          </a:xfrm>
          <a:prstGeom prst="rect">
            <a:avLst/>
          </a:prstGeom>
          <a:noFill/>
        </p:spPr>
        <p:txBody>
          <a:bodyPr wrap="none" anchor="t" lIns="0" rIns="0" tIns="0" bIns="0">
            <a:noAutofit/>
          </a:bodyPr>
          <a:lstStyle/>
          <a:p>
            <a:pPr>
              <a:spcBef>
                <a:spcPts val="0"/>
              </a:spcBef>
              <a:spcAft>
                <a:spcPts val="0"/>
              </a:spcAft>
            </a:pPr>
            <a:r>
              <a:rPr sz="430" b="0" i="0">
                <a:solidFill>
                  <a:srgbClr val="484979"/>
                </a:solidFill>
                <a:latin typeface="Noto Sans"/>
              </a:rPr>
              <a:t>cualitativo-conocimiento-y-percepcion-sobre-la-inteligencia-artificial-ia-y-chatgpt-2023</a:t>
            </a:r>
          </a:p>
        </p:txBody>
      </p:sp>
      <p:sp>
        <p:nvSpPr>
          <p:cNvPr id="272" name="ANUARIO_REFERENCIA_2024_P10_L046"/>
          <p:cNvSpPr txBox="1"/>
          <p:nvPr/>
        </p:nvSpPr>
        <p:spPr>
          <a:xfrm>
            <a:off x="5262901" y="1223220"/>
            <a:ext cx="346961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Las mujeres (38%) leen más periódicos, revistas o libros a través de Internet que los hombres (36%).</a:t>
            </a:r>
          </a:p>
        </p:txBody>
      </p:sp>
      <p:sp>
        <p:nvSpPr>
          <p:cNvPr id="273" name="ANUARIO_REFERENCIA_2024_P10_L047"/>
          <p:cNvSpPr txBox="1"/>
          <p:nvPr/>
        </p:nvSpPr>
        <p:spPr>
          <a:xfrm>
            <a:off x="5195274" y="1337241"/>
            <a:ext cx="146174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2023, del INEGI.</a:t>
            </a:r>
          </a:p>
        </p:txBody>
      </p:sp>
      <p:sp>
        <p:nvSpPr>
          <p:cNvPr id="274" name="ANUARIO_REFERENCIA_2024_P10_L048"/>
          <p:cNvSpPr txBox="1"/>
          <p:nvPr/>
        </p:nvSpPr>
        <p:spPr>
          <a:xfrm>
            <a:off x="5262901" y="1508547"/>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Los hombres utilizan en mayor proporción (88%) la computadora para descargar contenido de </a:t>
            </a:r>
          </a:p>
        </p:txBody>
      </p:sp>
      <p:sp>
        <p:nvSpPr>
          <p:cNvPr id="275" name="ANUARIO_REFERENCIA_2024_P10_L049"/>
          <p:cNvSpPr txBox="1"/>
          <p:nvPr/>
        </p:nvSpPr>
        <p:spPr>
          <a:xfrm>
            <a:off x="5195296" y="1600865"/>
            <a:ext cx="120175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Internet que las mujeres (87%).</a:t>
            </a:r>
          </a:p>
        </p:txBody>
      </p:sp>
      <p:sp>
        <p:nvSpPr>
          <p:cNvPr id="276" name="ANUARIO_REFERENCIA_2024_P10_L050"/>
          <p:cNvSpPr txBox="1"/>
          <p:nvPr/>
        </p:nvSpPr>
        <p:spPr>
          <a:xfrm>
            <a:off x="5195285" y="1710278"/>
            <a:ext cx="14900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2022, del INEGI.  </a:t>
            </a:r>
          </a:p>
        </p:txBody>
      </p:sp>
      <p:sp>
        <p:nvSpPr>
          <p:cNvPr id="277" name="ANUARIO_REFERENCIA_2024_P10_L051"/>
          <p:cNvSpPr txBox="1"/>
          <p:nvPr/>
        </p:nvSpPr>
        <p:spPr>
          <a:xfrm>
            <a:off x="5262901" y="1916125"/>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población de 12 años y más que vivió ciberacoso en mayor medida, se presentó en el Estado de </a:t>
            </a:r>
          </a:p>
        </p:txBody>
      </p:sp>
      <p:sp>
        <p:nvSpPr>
          <p:cNvPr id="278" name="ANUARIO_REFERENCIA_2024_P10_L052"/>
          <p:cNvSpPr txBox="1"/>
          <p:nvPr/>
        </p:nvSpPr>
        <p:spPr>
          <a:xfrm>
            <a:off x="5195296" y="2008442"/>
            <a:ext cx="205907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México (13.1%), Jalisco (7.8%) y Ciudad de México (7.1%).</a:t>
            </a:r>
          </a:p>
        </p:txBody>
      </p:sp>
      <p:sp>
        <p:nvSpPr>
          <p:cNvPr id="279" name="ANUARIO_REFERENCIA_2024_P10_L053"/>
          <p:cNvSpPr txBox="1"/>
          <p:nvPr/>
        </p:nvSpPr>
        <p:spPr>
          <a:xfrm>
            <a:off x="5195291" y="2114931"/>
            <a:ext cx="1420667"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del MOCIBA 2023, del INEGI.  </a:t>
            </a:r>
          </a:p>
        </p:txBody>
      </p:sp>
      <p:sp>
        <p:nvSpPr>
          <p:cNvPr id="280" name="ANUARIO_REFERENCIA_2024_P10_L054"/>
          <p:cNvSpPr txBox="1"/>
          <p:nvPr/>
        </p:nvSpPr>
        <p:spPr>
          <a:xfrm>
            <a:off x="1447177" y="4306721"/>
            <a:ext cx="294537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Existen </a:t>
            </a:r>
            <a:r>
              <a:rPr sz="688" b="1" i="0">
                <a:solidFill>
                  <a:srgbClr val="1C2829"/>
                </a:solidFill>
                <a:latin typeface="Noto Sans"/>
              </a:rPr>
              <a:t>368 concesiones</a:t>
            </a:r>
            <a:r>
              <a:rPr sz="602" b="0" i="0">
                <a:solidFill>
                  <a:srgbClr val="1C2829"/>
                </a:solidFill>
                <a:latin typeface="Noto Sans"/>
              </a:rPr>
              <a:t> AM 1,912 concesiones FM y 934 concesiones TDT </a:t>
            </a:r>
          </a:p>
        </p:txBody>
      </p:sp>
      <p:sp>
        <p:nvSpPr>
          <p:cNvPr id="281" name="ANUARIO_REFERENCIA_2024_P10_L055"/>
          <p:cNvSpPr txBox="1"/>
          <p:nvPr/>
        </p:nvSpPr>
        <p:spPr>
          <a:xfrm>
            <a:off x="1447153" y="4409622"/>
            <a:ext cx="104989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otorgadas de radiodifusión</a:t>
            </a:r>
          </a:p>
        </p:txBody>
      </p:sp>
      <p:sp>
        <p:nvSpPr>
          <p:cNvPr id="282" name="ANUARIO_REFERENCIA_2024_P10_L056"/>
          <p:cNvSpPr txBox="1"/>
          <p:nvPr/>
        </p:nvSpPr>
        <p:spPr>
          <a:xfrm>
            <a:off x="5280466" y="3609665"/>
            <a:ext cx="3452053"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Los usuarios de dispositivos IoT prefieren las tecnologías que tienen la finalidad de entretenimiento </a:t>
            </a:r>
          </a:p>
        </p:txBody>
      </p:sp>
      <p:sp>
        <p:nvSpPr>
          <p:cNvPr id="283" name="ANUARIO_REFERENCIA_2024_P10_L057"/>
          <p:cNvSpPr txBox="1"/>
          <p:nvPr/>
        </p:nvSpPr>
        <p:spPr>
          <a:xfrm>
            <a:off x="5280466" y="3701265"/>
            <a:ext cx="1859470"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a:t>
            </a:r>
            <a:r>
              <a:rPr sz="596" b="1" i="0">
                <a:solidFill>
                  <a:srgbClr val="1A403D"/>
                </a:solidFill>
                <a:latin typeface="Noto Sans"/>
              </a:rPr>
              <a:t>59.6%</a:t>
            </a:r>
            <a:r>
              <a:rPr sz="596" b="0" i="0">
                <a:solidFill>
                  <a:srgbClr val="1A403D"/>
                </a:solidFill>
                <a:latin typeface="Noto Sans"/>
              </a:rPr>
              <a:t>) y las bocinas o asistentes del hogar (</a:t>
            </a:r>
            <a:r>
              <a:rPr sz="596" b="1" i="0">
                <a:solidFill>
                  <a:srgbClr val="1A403D"/>
                </a:solidFill>
                <a:latin typeface="Noto Sans"/>
              </a:rPr>
              <a:t>55.0%</a:t>
            </a:r>
            <a:r>
              <a:rPr sz="596" b="0" i="0">
                <a:solidFill>
                  <a:srgbClr val="1A403D"/>
                </a:solidFill>
                <a:latin typeface="Noto Sans"/>
              </a:rPr>
              <a:t>)</a:t>
            </a:r>
          </a:p>
        </p:txBody>
      </p:sp>
      <p:sp>
        <p:nvSpPr>
          <p:cNvPr id="284" name="ANUARIO_REFERENCIA_2024_P10_L058"/>
          <p:cNvSpPr txBox="1"/>
          <p:nvPr/>
        </p:nvSpPr>
        <p:spPr>
          <a:xfrm>
            <a:off x="5279409" y="3824996"/>
            <a:ext cx="3333939"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datos de la ENDUTIH 2023, del INEGI. Datos disponibles en https://www.inegi.org.mx/programas/endutih/2023/ </a:t>
            </a:r>
          </a:p>
        </p:txBody>
      </p:sp>
      <p:sp>
        <p:nvSpPr>
          <p:cNvPr id="285" name="ANUARIO_REFERENCIA_2024_P10_L059"/>
          <p:cNvSpPr txBox="1"/>
          <p:nvPr/>
        </p:nvSpPr>
        <p:spPr>
          <a:xfrm>
            <a:off x="5280212" y="4179253"/>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acuerdo con la </a:t>
            </a:r>
            <a:r>
              <a:rPr sz="596" b="0" i="1">
                <a:solidFill>
                  <a:srgbClr val="1A403D"/>
                </a:solidFill>
                <a:latin typeface="Noto Sans"/>
              </a:rPr>
              <a:t>Encuesta de Confianza en el Servicio de Internet (ECSI) 2024</a:t>
            </a:r>
            <a:r>
              <a:rPr sz="596" b="0" i="0">
                <a:solidFill>
                  <a:srgbClr val="1A403D"/>
                </a:solidFill>
                <a:latin typeface="Noto Sans"/>
              </a:rPr>
              <a:t>; el grado de </a:t>
            </a:r>
          </a:p>
        </p:txBody>
      </p:sp>
      <p:sp>
        <p:nvSpPr>
          <p:cNvPr id="286" name="ANUARIO_REFERENCIA_2024_P10_L060"/>
          <p:cNvSpPr txBox="1"/>
          <p:nvPr/>
        </p:nvSpPr>
        <p:spPr>
          <a:xfrm>
            <a:off x="5280212" y="4271570"/>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confianza que las personas tienen al hacer uso de Internet registró que aproximadamente la mitad </a:t>
            </a:r>
          </a:p>
        </p:txBody>
      </p:sp>
      <p:sp>
        <p:nvSpPr>
          <p:cNvPr id="287" name="ANUARIO_REFERENCIA_2024_P10_L061"/>
          <p:cNvSpPr txBox="1"/>
          <p:nvPr/>
        </p:nvSpPr>
        <p:spPr>
          <a:xfrm>
            <a:off x="5280212" y="4363169"/>
            <a:ext cx="3452307"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la población considera tener poco (</a:t>
            </a:r>
            <a:r>
              <a:rPr sz="596" b="1" i="0">
                <a:solidFill>
                  <a:srgbClr val="1A403D"/>
                </a:solidFill>
                <a:latin typeface="Noto Sans"/>
              </a:rPr>
              <a:t>38.5%</a:t>
            </a:r>
            <a:r>
              <a:rPr sz="596" b="0" i="0">
                <a:solidFill>
                  <a:srgbClr val="1A403D"/>
                </a:solidFill>
                <a:latin typeface="Noto Sans"/>
              </a:rPr>
              <a:t>) o nada (</a:t>
            </a:r>
            <a:r>
              <a:rPr sz="596" b="1" i="0">
                <a:solidFill>
                  <a:srgbClr val="1A403D"/>
                </a:solidFill>
                <a:latin typeface="Noto Sans"/>
              </a:rPr>
              <a:t>13.6%</a:t>
            </a:r>
            <a:r>
              <a:rPr sz="596" b="0" i="0">
                <a:solidFill>
                  <a:srgbClr val="1A403D"/>
                </a:solidFill>
                <a:latin typeface="Noto Sans"/>
              </a:rPr>
              <a:t>) de confianza al hacer uso del Internet.</a:t>
            </a:r>
          </a:p>
        </p:txBody>
      </p:sp>
      <p:sp>
        <p:nvSpPr>
          <p:cNvPr id="288" name="ANUARIO_REFERENCIA_2024_P10_L062"/>
          <p:cNvSpPr txBox="1"/>
          <p:nvPr/>
        </p:nvSpPr>
        <p:spPr>
          <a:xfrm>
            <a:off x="5281104" y="4486259"/>
            <a:ext cx="2536263"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información de la Encuesta de Confianza en el Servicio de Internet (ECSI), 2024.</a:t>
            </a:r>
          </a:p>
        </p:txBody>
      </p:sp>
      <p:sp>
        <p:nvSpPr>
          <p:cNvPr id="289" name="ANUARIO_REFERENCIA_2024_P10_L063"/>
          <p:cNvSpPr txBox="1"/>
          <p:nvPr/>
        </p:nvSpPr>
        <p:spPr>
          <a:xfrm>
            <a:off x="5281021" y="4031517"/>
            <a:ext cx="3451498"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Percepción o grado de confianza que tienen las personas al hacer uso de internet</a:t>
            </a:r>
          </a:p>
        </p:txBody>
      </p:sp>
      <p:sp>
        <p:nvSpPr>
          <p:cNvPr id="290" name="ANUARIO_REFERENCIA_2024_P10_L064"/>
          <p:cNvSpPr txBox="1"/>
          <p:nvPr/>
        </p:nvSpPr>
        <p:spPr>
          <a:xfrm>
            <a:off x="5280841" y="3469123"/>
            <a:ext cx="2059335"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Dispositivos inteligentes conectados a Internet</a:t>
            </a:r>
          </a:p>
        </p:txBody>
      </p:sp>
      <p:pic>
        <p:nvPicPr>
          <p:cNvPr id="292" name="ANUARIO_BARRA_FONDO"/>
          <p:cNvPicPr>
            <a:picLocks noChangeAspect="1"/>
          </p:cNvPicPr>
          <p:nvPr/>
        </p:nvPicPr>
        <p:blipFill>
          <a:blip r:embed="rId3"/>
          <a:stretch/>
        </p:blipFill>
        <p:spPr>
          <a:xfrm>
            <a:off x="3378" y="0"/>
            <a:ext cx="9136888" cy="456844"/>
          </a:xfrm>
          <a:prstGeom prst="rect">
            <a:avLst/>
          </a:prstGeom>
        </p:spPr>
      </p:pic>
      <p:sp>
        <p:nvSpPr>
          <p:cNvPr id="293"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94" name="ANUARIO_BARRA_QR"/>
          <p:cNvPicPr>
            <a:picLocks noChangeAspect="1"/>
          </p:cNvPicPr>
          <p:nvPr/>
        </p:nvPicPr>
        <p:blipFill>
          <a:blip r:embed="rId4"/>
          <a:stretch/>
        </p:blipFill>
        <p:spPr>
          <a:xfrm>
            <a:off x="7810564" y="75961"/>
            <a:ext cx="304559" cy="304559"/>
          </a:xfrm>
          <a:prstGeom prst="rect">
            <a:avLst/>
          </a:prstGeom>
        </p:spPr>
      </p:pic>
      <p:pic>
        <p:nvPicPr>
          <p:cNvPr id="295" name="ANUARIO_BARRA_CRT"/>
          <p:cNvPicPr>
            <a:picLocks noChangeAspect="1"/>
          </p:cNvPicPr>
          <p:nvPr/>
        </p:nvPicPr>
        <p:blipFill>
          <a:blip r:embed="rId5"/>
          <a:stretch/>
        </p:blipFill>
        <p:spPr>
          <a:xfrm>
            <a:off x="8294782" y="75961"/>
            <a:ext cx="542115" cy="304559"/>
          </a:xfrm>
          <a:prstGeom prst="rect">
            <a:avLst/>
          </a:prstGeom>
        </p:spPr>
      </p:pic>
      <p:sp>
        <p:nvSpPr>
          <p:cNvPr id="296"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PUNTOS CLAVE</a:t>
            </a:r>
          </a:p>
        </p:txBody>
      </p:sp>
      <p:sp>
        <p:nvSpPr>
          <p:cNvPr id="297"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98" name="ANUARIO_BARRA_URL">
            <a:hlinkClick r:id="rId2"/>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3"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3"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aumentó 3.3% respecto del mismo mes de 2025. El Índice de Precios de Comunicaciones (IPCOM) disminuyó 1.5% entre diciembre de 2023 y julio de 2024. Los dos indicadores tienen cortes diferentes y se presentan con sus periodos originales.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3"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3"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3"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3"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3"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3"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3"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3"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3"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3"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3"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3"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3"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3"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3"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3"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3"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3"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3"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3"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C.3 · USO DE LOS SERVICIOS MÓVILES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2" name="ANUARIO_TEXT_LAYER_C_3" descr="Capa accesible con el texto del SVG de la figura C.3"/>
          <p:cNvSpPr txBox="1"/>
          <p:nvPr/>
        </p:nvSpPr>
        <p:spPr>
          <a:xfrm>
            <a:off x="5712802" y="1016677"/>
            <a:ext cx="568275"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3" name="ANUARIO_IMAGE_C_3" descr="Figura C.3. SVG vectorial sin respaldo raster"/>
          <p:cNvPicPr>
            <a:picLocks noChangeAspect="1"/>
          </p:cNvPicPr>
          <p:nvPr/>
        </p:nvPicPr>
        <p:blipFill>
          <a:blip r:embed="rId7"/>
          <a:stretch>
            <a:fillRect/>
          </a:stretch>
        </p:blipFill>
        <p:spPr>
          <a:xfrm>
            <a:off x="5712802" y="1016677"/>
            <a:ext cx="568275" cy="1603176"/>
          </a:xfrm>
          <a:prstGeom prst="rect">
            <a:avLst/>
          </a:prstGeom>
        </p:spPr>
      </p:pic>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C.4 · USO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3" name="ANUARIO_FIGURE_C_4" descr="ANUARIO_FIGURE_ID=C.3;ROLE=FIGURE_PLACEHOLDER;FIT=CONTAIN" title="Marcador automático para Figura A.1">
            <a:extLst>
              <a:ext uri="{FF2B5EF4-FFF2-40B4-BE49-F238E27FC236}">
                <ns2:creationId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4" name="ANUARIO_TEXT_LAYER_C_4" descr="Capa accesible con el texto del SVG de la figura C.4"/>
          <p:cNvSpPr txBox="1"/>
          <p:nvPr/>
        </p:nvSpPr>
        <p:spPr>
          <a:xfrm>
            <a:off x="4504328" y="2857597"/>
            <a:ext cx="2985224"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5" name="ANUARIO_IMAGE_C_4" descr="Figura C.4. SVG vectorial sin respaldo raster"/>
          <p:cNvPicPr>
            <a:picLocks noChangeAspect="1"/>
          </p:cNvPicPr>
          <p:nvPr/>
        </p:nvPicPr>
        <p:blipFill>
          <a:blip r:embed="rId2"/>
          <a:stretch>
            <a:fillRect/>
          </a:stretch>
        </p:blipFill>
        <p:spPr>
          <a:xfrm>
            <a:off x="4504328" y="2857597"/>
            <a:ext cx="2985224" cy="1603176"/>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pic>
        <p:nvPicPr>
          <p:cNvPr id="226" name="ANUARIO_BARRA_FONDO"/>
          <p:cNvPicPr>
            <a:picLocks noChangeAspect="1"/>
          </p:cNvPicPr>
          <p:nvPr/>
        </p:nvPicPr>
        <p:blipFill>
          <a:blip r:embed="rId3"/>
          <a:stretch/>
        </p:blipFill>
        <p:spPr>
          <a:xfrm>
            <a:off x="3378" y="0"/>
            <a:ext cx="9136888" cy="456844"/>
          </a:xfrm>
          <a:prstGeom prst="rect">
            <a:avLst/>
          </a:prstGeom>
        </p:spPr>
      </p:pic>
      <p:sp>
        <p:nvSpPr>
          <p:cNvPr id="227"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8" name="ANUARIO_BARRA_QR"/>
          <p:cNvPicPr>
            <a:picLocks noChangeAspect="1"/>
          </p:cNvPicPr>
          <p:nvPr/>
        </p:nvPicPr>
        <p:blipFill>
          <a:blip r:embed="rId4"/>
          <a:stretch/>
        </p:blipFill>
        <p:spPr>
          <a:xfrm>
            <a:off x="7810564" y="75961"/>
            <a:ext cx="304559" cy="304559"/>
          </a:xfrm>
          <a:prstGeom prst="rect">
            <a:avLst/>
          </a:prstGeom>
        </p:spPr>
      </p:pic>
      <p:pic>
        <p:nvPicPr>
          <p:cNvPr id="229" name="ANUARIO_BARRA_CRT"/>
          <p:cNvPicPr>
            <a:picLocks noChangeAspect="1"/>
          </p:cNvPicPr>
          <p:nvPr/>
        </p:nvPicPr>
        <p:blipFill>
          <a:blip r:embed="rId5"/>
          <a:stretch/>
        </p:blipFill>
        <p:spPr>
          <a:xfrm>
            <a:off x="8294782" y="75961"/>
            <a:ext cx="542115" cy="304559"/>
          </a:xfrm>
          <a:prstGeom prst="rect">
            <a:avLst/>
          </a:prstGeom>
        </p:spPr>
      </p:pic>
      <p:sp>
        <p:nvSpPr>
          <p:cNvPr id="230"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31"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2"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3"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3"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3"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3"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3"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3"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3"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3"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3"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3"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3"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3"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3"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3"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3"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p:txBody>
      </p:sp>
      <p:pic>
        <p:nvPicPr>
          <p:cNvPr id="223"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3"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p:txBody>
      </p:sp>
      <p:pic>
        <p:nvPicPr>
          <p:cNvPr id="223"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3"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3"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3"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3"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3"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3"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3"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3"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3"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sp>
        <p:nvSpPr>
          <p:cNvPr id="227" name="ANUARIO_F_SOURCE"/>
          <p:cNvSpPr txBox="1"/>
          <p:nvPr/>
        </p:nvSpPr>
        <p:spPr>
          <a:xfrm>
            <a:off x="438912" y="667512"/>
            <a:ext cx="4572000" cy="155448"/>
          </a:xfrm>
          <a:prstGeom prst="rect">
            <a:avLst/>
          </a:prstGeom>
          <a:noFill/>
        </p:spPr>
        <p:txBody>
          <a:bodyPr wrap="square" anchor="t" lIns="0" rIns="0" tIns="0" bIns="0">
            <a:noAutofit/>
          </a:bodyPr>
          <a:lstStyle/>
          <a:p>
            <a:pPr>
              <a:lnSpc>
                <a:spcPct val="100000"/>
              </a:lnSpc>
              <a:spcBef>
                <a:spcPts val="0"/>
              </a:spcBef>
              <a:spcAft>
                <a:spcPts val="0"/>
              </a:spcAft>
            </a:pPr>
            <a:r>
              <a:rPr sz="710" b="0">
                <a:solidFill>
                  <a:srgbClr val="4F5B5C"/>
                </a:solidFill>
                <a:latin typeface="Noto Sans"/>
                <a:hlinkClick r:id="rId2"/>
              </a:rPr>
              <a:t>Fuente: INEGI, ENDUTIH 2025</a:t>
            </a:r>
          </a:p>
        </p:txBody>
      </p:sp>
      <p:sp>
        <p:nvSpPr>
          <p:cNvPr id="228" name="ANUARIO_F_CARD_SMARTPHONE"/>
          <p:cNvSpPr/>
          <p:nvPr/>
        </p:nvSpPr>
        <p:spPr>
          <a:xfrm>
            <a:off x="438912" y="932688"/>
            <a:ext cx="2596896" cy="3730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F_TITLE_SMARTPHONE"/>
          <p:cNvSpPr txBox="1"/>
          <p:nvPr/>
        </p:nvSpPr>
        <p:spPr>
          <a:xfrm>
            <a:off x="576072" y="1042416"/>
            <a:ext cx="2322576"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EL TELÉFONO CELULAR INTELIGENTE</a:t>
            </a:r>
          </a:p>
        </p:txBody>
      </p:sp>
      <p:sp>
        <p:nvSpPr>
          <p:cNvPr id="230" name="ANUARIO_F_BODY_SMARTPHONE"/>
          <p:cNvSpPr txBox="1"/>
          <p:nvPr/>
        </p:nvSpPr>
        <p:spPr>
          <a:xfrm>
            <a:off x="576072" y="1380744"/>
            <a:ext cx="2322576" cy="3191256"/>
          </a:xfrm>
          <a:prstGeom prst="rect">
            <a:avLst/>
          </a:prstGeom>
          <a:noFill/>
        </p:spPr>
        <p:txBody>
          <a:bodyPr wrap="square" anchor="t" lIns="0" rIns="0" tIns="0" bIns="0">
            <a:noAutofit/>
          </a:bodyPr>
          <a:lstStyle/>
          <a:p>
            <a:pPr>
              <a:lnSpc>
                <a:spcPct val="100000"/>
              </a:lnSpc>
              <a:spcBef>
                <a:spcPts val="0"/>
              </a:spcBef>
              <a:spcAft>
                <a:spcPts val="0"/>
              </a:spcAft>
            </a:pPr>
            <a:r>
              <a:rPr sz="760" b="0">
                <a:solidFill>
                  <a:srgbClr val="1F3031"/>
                </a:solidFill>
                <a:latin typeface="Noto Sans"/>
              </a:rPr>
              <a:t>Con base en los resultados de la ENDUTIH 2025, en México 52.7 millones de mujeres y 47.5 millones de hombres, ambos grupos refiriéndose a personas de 6 años o más, utilizaron Internet mediante su teléfono celular inteligente (</a:t>
            </a:r>
            <a:r>
              <a:rPr i="1" sz="760">
                <a:solidFill>
                  <a:srgbClr val="1F3031"/>
                </a:solidFill>
                <a:latin typeface="Noto Sans"/>
              </a:rPr>
              <a:t>Smartphone</a:t>
            </a:r>
            <a:r>
              <a:rPr sz="760" b="0">
                <a:solidFill>
                  <a:srgbClr val="1F3031"/>
                </a:solidFill>
                <a:latin typeface="Noto Sans"/>
              </a:rPr>
              <a:t>),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31" name="ANUARIO_F_CARD_INTERNET"/>
          <p:cNvSpPr/>
          <p:nvPr/>
        </p:nvSpPr>
        <p:spPr>
          <a:xfrm>
            <a:off x="3182112" y="932688"/>
            <a:ext cx="5504688" cy="1225296"/>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NUARIO_F_TITLE_INTERNET"/>
          <p:cNvSpPr txBox="1"/>
          <p:nvPr/>
        </p:nvSpPr>
        <p:spPr>
          <a:xfrm>
            <a:off x="3319272" y="104241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REALIZADAS EN INTERNET</a:t>
            </a:r>
          </a:p>
        </p:txBody>
      </p:sp>
      <p:sp>
        <p:nvSpPr>
          <p:cNvPr id="233" name="ANUARIO_F_BODY_INTERNET"/>
          <p:cNvSpPr txBox="1"/>
          <p:nvPr/>
        </p:nvSpPr>
        <p:spPr>
          <a:xfrm>
            <a:off x="3319272" y="1380744"/>
            <a:ext cx="5230368" cy="685800"/>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34" name="ANUARIO_F_CARD_COMPUTADORA"/>
          <p:cNvSpPr/>
          <p:nvPr/>
        </p:nvSpPr>
        <p:spPr>
          <a:xfrm>
            <a:off x="3182112" y="2267712"/>
            <a:ext cx="5504688" cy="1115568"/>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NUARIO_F_TITLE_COMPUTADORA"/>
          <p:cNvSpPr txBox="1"/>
          <p:nvPr/>
        </p:nvSpPr>
        <p:spPr>
          <a:xfrm>
            <a:off x="3319272" y="2377440"/>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LA COMPUTADORA</a:t>
            </a:r>
          </a:p>
        </p:txBody>
      </p:sp>
      <p:sp>
        <p:nvSpPr>
          <p:cNvPr id="236" name="ANUARIO_F_BODY_COMPUTADORA"/>
          <p:cNvSpPr txBox="1"/>
          <p:nvPr/>
        </p:nvSpPr>
        <p:spPr>
          <a:xfrm>
            <a:off x="3319272" y="2715768"/>
            <a:ext cx="5230368" cy="576072"/>
          </a:xfrm>
          <a:prstGeom prst="rect">
            <a:avLst/>
          </a:prstGeom>
          <a:noFill/>
        </p:spPr>
        <p:txBody>
          <a:bodyPr wrap="square" anchor="t" lIns="0" rIns="0" tIns="0" bIns="0">
            <a:noAutofit/>
          </a:bodyPr>
          <a:lstStyle/>
          <a:p>
            <a:pPr>
              <a:lnSpc>
                <a:spcPct val="100000"/>
              </a:lnSpc>
              <a:spcBef>
                <a:spcPts val="0"/>
              </a:spcBef>
              <a:spcAft>
                <a:spcPts val="0"/>
              </a:spcAft>
            </a:pPr>
            <a:r>
              <a:rPr sz="755" b="0">
                <a:solidFill>
                  <a:srgbClr val="1F3031"/>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37" name="ANUARIO_F_CARD_REDES"/>
          <p:cNvSpPr/>
          <p:nvPr/>
        </p:nvSpPr>
        <p:spPr>
          <a:xfrm>
            <a:off x="3182112" y="3493008"/>
            <a:ext cx="5504688" cy="117043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NUARIO_F_TITLE_REDES"/>
          <p:cNvSpPr txBox="1"/>
          <p:nvPr/>
        </p:nvSpPr>
        <p:spPr>
          <a:xfrm>
            <a:off x="3319272" y="360273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USO DE LAS REDES SOCIALES</a:t>
            </a:r>
          </a:p>
        </p:txBody>
      </p:sp>
      <p:sp>
        <p:nvSpPr>
          <p:cNvPr id="239" name="ANUARIO_F_BODY_REDES"/>
          <p:cNvSpPr txBox="1"/>
          <p:nvPr/>
        </p:nvSpPr>
        <p:spPr>
          <a:xfrm>
            <a:off x="3319272" y="3941063"/>
            <a:ext cx="5230368" cy="630936"/>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pic>
        <p:nvPicPr>
          <p:cNvPr id="240" name="ANUARIO_BARRA_FONDO"/>
          <p:cNvPicPr>
            <a:picLocks noChangeAspect="1"/>
          </p:cNvPicPr>
          <p:nvPr/>
        </p:nvPicPr>
        <p:blipFill>
          <a:blip r:embed="rId3"/>
          <a:stretch/>
        </p:blipFill>
        <p:spPr>
          <a:xfrm>
            <a:off x="3378" y="0"/>
            <a:ext cx="9136888" cy="456844"/>
          </a:xfrm>
          <a:prstGeom prst="rect">
            <a:avLst/>
          </a:prstGeom>
        </p:spPr>
      </p:pic>
      <p:sp>
        <p:nvSpPr>
          <p:cNvPr id="241"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42" name="ANUARIO_BARRA_QR"/>
          <p:cNvPicPr>
            <a:picLocks noChangeAspect="1"/>
          </p:cNvPicPr>
          <p:nvPr/>
        </p:nvPicPr>
        <p:blipFill>
          <a:blip r:embed="rId4"/>
          <a:stretch/>
        </p:blipFill>
        <p:spPr>
          <a:xfrm>
            <a:off x="7810564" y="75961"/>
            <a:ext cx="304559" cy="304559"/>
          </a:xfrm>
          <a:prstGeom prst="rect">
            <a:avLst/>
          </a:prstGeom>
        </p:spPr>
      </p:pic>
      <p:pic>
        <p:nvPicPr>
          <p:cNvPr id="243" name="ANUARIO_BARRA_CRT"/>
          <p:cNvPicPr>
            <a:picLocks noChangeAspect="1"/>
          </p:cNvPicPr>
          <p:nvPr/>
        </p:nvPicPr>
        <p:blipFill>
          <a:blip r:embed="rId5"/>
          <a:stretch/>
        </p:blipFill>
        <p:spPr>
          <a:xfrm>
            <a:off x="8294782" y="75961"/>
            <a:ext cx="542115" cy="304559"/>
          </a:xfrm>
          <a:prstGeom prst="rect">
            <a:avLst/>
          </a:prstGeom>
        </p:spPr>
      </p:pic>
      <p:sp>
        <p:nvSpPr>
          <p:cNvPr id="244"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45"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46"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3"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3"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3"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3"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3"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3"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3"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Banco de Información de Telecomunicaciones (BIT), corte 2023.</a:t>
            </a:r>
          </a:p>
        </p:txBody>
      </p:sp>
      <p:pic>
        <p:nvPicPr>
          <p:cNvPr id="223"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G. INDICADORES DE RADIODIFUSIÓN</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a:t>
            </a:r>
          </a:p>
          <a:p>
            <a:pPr>
              <a:spcBef>
                <a:spcPts val="0"/>
              </a:spcBef>
              <a:spcAft>
                <a:spcPts val="600"/>
              </a:spcAft>
            </a:pPr>
            <a:r>
              <a:rPr sz="950" b="1">
                <a:solidFill>
                  <a:srgbClr val="203634"/>
                </a:solidFill>
                <a:latin typeface="Noto Sans"/>
              </a:rPr>
              <a:t>PORCENTAJE DE PERSONAS QUE VIERON LA TELEVISIÓN POR HORA A NIVEL NACIONAL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El nivel de exposición a la televisión se mide a través del promedio de personas que tienen su televisor encendido en un intervalo de tiempo determinado. De acuerdo con los datos reportados en la muestra analizada por el IFT, el promedio de personas con el televisor encendido de julio 2023 a junio 2024 fue de 15.72% durante las 24 horas del día. Sin embargo, esa proporción cambia significativamente a lo largo del día, alcanzando su punto máximo de 31.21% entre las 21:00 horas y 22:00 horas (Ver Figura H.1.).</a:t>
            </a:r>
          </a:p>
          <a:p>
            <a:pPr>
              <a:lnSpc>
                <a:spcPct val="100000"/>
              </a:lnSpc>
              <a:spcBef>
                <a:spcPts val="0"/>
              </a:spcBef>
              <a:spcAft>
                <a:spcPts val="400"/>
              </a:spcAft>
            </a:pPr>
            <a:r>
              <a:rPr sz="700" b="0">
                <a:solidFill>
                  <a:srgbClr val="434343"/>
                </a:solidFill>
                <a:latin typeface="Noto Sans"/>
              </a:rPr>
              <a:t>Además, el nivel de encendidos puede variar dependiendo del público que se analice. De esta manera, el porcentaje de encendidos para las mujeres fue de 16.46%, mientras que para los hombres fue de 14.95%. Asimismo, en ambos casos su hora de mayor exposición fue de 21:00 a 22:00 horas, con 32.61% y 29.73%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pic>
        <p:nvPicPr>
          <p:cNvPr id="222" name="ANUARIO_HISTORICAL_H_1" descr="h_01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H.2</a:t>
            </a:r>
          </a:p>
          <a:p>
            <a:pPr>
              <a:spcBef>
                <a:spcPts val="0"/>
              </a:spcBef>
              <a:spcAft>
                <a:spcPts val="600"/>
              </a:spcAft>
            </a:pPr>
            <a:r>
              <a:rPr sz="950" b="1">
                <a:solidFill>
                  <a:srgbClr val="203634"/>
                </a:solidFill>
                <a:latin typeface="Noto Sans"/>
              </a:rPr>
              <a:t>HORAS DEDICADAS Y RATING PROMEDIO POR GÉNERO EN CANALES NACIONALES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H.2.).</a:t>
            </a:r>
          </a:p>
          <a:p>
            <a:pPr>
              <a:lnSpc>
                <a:spcPct val="100000"/>
              </a:lnSpc>
              <a:spcBef>
                <a:spcPts val="0"/>
              </a:spcBef>
              <a:spcAft>
                <a:spcPts val="400"/>
              </a:spcAft>
            </a:pPr>
            <a:r>
              <a:rPr sz="700" b="0">
                <a:solidFill>
                  <a:srgbClr val="434343"/>
                </a:solidFill>
                <a:latin typeface="Noto Sans"/>
              </a:rPr>
              <a:t>Por otra parte, al analizar la audiencia de los géneros programáticos en hombres y mujeres, se puede apreciar que los tres géneros ya mencionados fueron los de mayor audiencia para las mujeres, mientras que los hombres consumieron principalmente “Dramatizados unitarios”, seguidos de “Reality shows” y “Deportes”.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pic>
        <p:nvPicPr>
          <p:cNvPr id="222" name="ANUARIO_HISTORICAL_H_2" descr="h_02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H.3</a:t>
            </a:r>
          </a:p>
          <a:p>
            <a:pPr>
              <a:spcBef>
                <a:spcPts val="0"/>
              </a:spcBef>
              <a:spcAft>
                <a:spcPts val="600"/>
              </a:spcAft>
            </a:pPr>
            <a:r>
              <a:rPr sz="950" b="1">
                <a:solidFill>
                  <a:srgbClr val="203634"/>
                </a:solidFill>
                <a:latin typeface="Noto Sans"/>
              </a:rPr>
              <a:t>PORCENTAJE DE PERSONAS QUE VIERON LA TELEVISIÓN POR HORA EN CIUDAD DE MÉXICO</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la Ciudad de México, el promedio de personas con el televisor encendido de julio 2023 a junio 2024 fue de 16.69% durante las 24 horas del día. Sin embargo, esa proporción cambió significativamente a lo largo del día, alcanzando su punto máximo de 34.82% entre las 21:00 horas y 22:00 horas (Ver Figura H.3.).</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17.43%, mientras que para los hombres fue de 15.89%. Asimismo, en ambos casos su hora de mayor exposición fue de 21:00 a 22:00 horas, con 36.48% y 33.03%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pic>
        <p:nvPicPr>
          <p:cNvPr id="222" name="ANUARIO_HISTORICAL_H_3" descr="h_03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H.4</a:t>
            </a:r>
          </a:p>
          <a:p>
            <a:pPr>
              <a:spcBef>
                <a:spcPts val="0"/>
              </a:spcBef>
              <a:spcAft>
                <a:spcPts val="600"/>
              </a:spcAft>
            </a:pPr>
            <a:r>
              <a:rPr sz="950" b="1">
                <a:solidFill>
                  <a:srgbClr val="203634"/>
                </a:solidFill>
                <a:latin typeface="Noto Sans"/>
              </a:rPr>
              <a:t>HORAS DEDICADAS Y RATING PROMEDIO POR GÉNERO EN CANALES NACIONALES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 Ciudad de México,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H.4.).</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“Dramatizados unitarios”, seguidos de “Reality shows” y “Deportes”.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pic>
        <p:nvPicPr>
          <p:cNvPr id="222" name="ANUARIO_HISTORICAL_H_4" descr="h_04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H.5</a:t>
            </a:r>
          </a:p>
          <a:p>
            <a:pPr>
              <a:spcBef>
                <a:spcPts val="0"/>
              </a:spcBef>
              <a:spcAft>
                <a:spcPts val="600"/>
              </a:spcAft>
            </a:pPr>
            <a:r>
              <a:rPr sz="950" b="1">
                <a:solidFill>
                  <a:srgbClr val="203634"/>
                </a:solidFill>
                <a:latin typeface="Noto Sans"/>
              </a:rPr>
              <a:t>PORCENTAJE DE PERSONAS QUE VIERON LA TELEVISIÓN POR HORA EN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Guadalajara, el promedio de personas con el televisor encendido de julio 2023 a junio 2024 fue de 15.27% a lo largo de las 24 horas. Sin embargo, esa proporción cambió significativamente a lo largo del día, alcanzando su punto máximo de 28.99% entre las 21:00 horas y 22:00 horas (ver Figura H.5.).</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16.22%, mientras que para los hombres fue de 14.28%. Asimismo, en ambos casos su hora de mayor exposición fue de 21:00 a 22:00 horas, con 29.92% y 28.03%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pic>
        <p:nvPicPr>
          <p:cNvPr id="222" name="ANUARIO_HISTORICAL_H_5" descr="h_05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H.6</a:t>
            </a:r>
          </a:p>
          <a:p>
            <a:pPr>
              <a:spcBef>
                <a:spcPts val="0"/>
              </a:spcBef>
              <a:spcAft>
                <a:spcPts val="600"/>
              </a:spcAft>
            </a:pPr>
            <a:r>
              <a:rPr sz="950" b="1">
                <a:solidFill>
                  <a:srgbClr val="203634"/>
                </a:solidFill>
                <a:latin typeface="Noto Sans"/>
              </a:rPr>
              <a:t>HORAS DEDICADAS Y RATING PROMEDIO POR GÉNERO EN CANALES NACIONALES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Guadalajara,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H.6.).</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“Deportes”, “Dramatizados unitarios”, y “Reality show”.</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pic>
        <p:nvPicPr>
          <p:cNvPr id="222" name="ANUARIO_HISTORICAL_H_6" descr="h_06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H.7</a:t>
            </a:r>
          </a:p>
          <a:p>
            <a:pPr>
              <a:spcBef>
                <a:spcPts val="0"/>
              </a:spcBef>
              <a:spcAft>
                <a:spcPts val="600"/>
              </a:spcAft>
            </a:pPr>
            <a:r>
              <a:rPr sz="950" b="1">
                <a:solidFill>
                  <a:srgbClr val="203634"/>
                </a:solidFill>
                <a:latin typeface="Noto Sans"/>
              </a:rPr>
              <a:t>PORCENTAJE DE PERSONAS QUE VIERON LA TELEVISIÓN POR HORA EN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Monterrey, el promedio de personas con el televisor encendido de julio 2023 a junio 2024 fue de 17.92% a lo largo de las 24 horas. Sin embargo, esa proporción cambió significativamente a lo largo del día, alcanzando su punto máximo de 31.35% entre las 21:00 horas y 22:00 horas. (Ver Figura H.7.).</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19.33% y, su hora de mayor exposición fue de 21:00 a 22:00 horas, con 33.32%. En el caso de los hombres el porcentaje de encendidos fue de 16.50%, con un consumo máximo de 29.38% de 20:00 a 21:00 horas.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pic>
        <p:nvPicPr>
          <p:cNvPr id="222" name="ANUARIO_HISTORICAL_H_7" descr="h_07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H.8</a:t>
            </a:r>
          </a:p>
          <a:p>
            <a:pPr>
              <a:spcBef>
                <a:spcPts val="0"/>
              </a:spcBef>
              <a:spcAft>
                <a:spcPts val="600"/>
              </a:spcAft>
            </a:pPr>
            <a:r>
              <a:rPr sz="950" b="1">
                <a:solidFill>
                  <a:srgbClr val="203634"/>
                </a:solidFill>
                <a:latin typeface="Noto Sans"/>
              </a:rPr>
              <a:t>HORAS DEDICADAS Y RATING PROMEDIO POR GÉNERO EN CANALES NACIONALES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Monterrey, los géneros televisivos “Dramatizado Unitario”, “Telenovelas” y “Deportes” fueron los que mayor consumo registraron en los canales nacionales, sin importar que estos no hayan sido los que tuvieron más horas de transmisión, lo que indica que son géneros rentables en términos de la relación audiencia generada/ tiempo al aire (ver Figura H.8.).</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los hombres, mientras que las mujeres consumieron principalmente “Dramatizados unitarios”, “Telenovelas” y “Reality show”.</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pic>
        <p:nvPicPr>
          <p:cNvPr id="222" name="ANUARIO_HISTORICAL_H_8" descr="h_08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H.9</a:t>
            </a:r>
          </a:p>
          <a:p>
            <a:pPr>
              <a:spcBef>
                <a:spcPts val="0"/>
              </a:spcBef>
              <a:spcAft>
                <a:spcPts val="600"/>
              </a:spcAft>
            </a:pPr>
            <a:r>
              <a:rPr sz="950" b="1">
                <a:solidFill>
                  <a:srgbClr val="203634"/>
                </a:solidFill>
                <a:latin typeface="Noto Sans"/>
              </a:rPr>
              <a:t>PORCENTAJE DE PERSONAS QUE VIERON LA TELEVISIÓN POR HORA EN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En las 25 ciudades restantes de la muestra analizada por el IFT, el promedio de personas con el televisor encendido de julio 2023 a junio 2024 fue de 14.73% a lo largo de las 24 horas. Sin embargo, esa proporción cambió significativamente a lo largo del día, alcanzando su punto máximo de 28.98% entre las 21:00 horas y 22:00 horas (Ver Figura H.9.).</a:t>
            </a:r>
          </a:p>
          <a:p>
            <a:pPr>
              <a:lnSpc>
                <a:spcPct val="100000"/>
              </a:lnSpc>
              <a:spcBef>
                <a:spcPts val="0"/>
              </a:spcBef>
              <a:spcAft>
                <a:spcPts val="400"/>
              </a:spcAft>
            </a:pPr>
            <a:r>
              <a:rPr sz="700" b="0">
                <a:solidFill>
                  <a:srgbClr val="434343"/>
                </a:solidFill>
                <a:latin typeface="Noto Sans"/>
              </a:rPr>
              <a:t>Además, al analizar el nivel de encendidos por el género de la audiencia se encontró que, el porcentaje de encendidos para las mujeres fue de 15.31%, mientras que para los hombres fue de 14.13%. Asimismo, en ambos casos su hora de mayor exposición fue de 21:00 a 22:00 horas, con 30.15% y 27.75%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pic>
        <p:nvPicPr>
          <p:cNvPr id="222" name="ANUARIO_HISTORICAL_H_9" descr="h_09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H.10</a:t>
            </a:r>
          </a:p>
          <a:p>
            <a:pPr>
              <a:spcBef>
                <a:spcPts val="0"/>
              </a:spcBef>
              <a:spcAft>
                <a:spcPts val="600"/>
              </a:spcAft>
            </a:pPr>
            <a:r>
              <a:rPr sz="950" b="1">
                <a:solidFill>
                  <a:srgbClr val="203634"/>
                </a:solidFill>
                <a:latin typeface="Noto Sans"/>
              </a:rPr>
              <a:t>HORAS DEDICADAS Y RATING PROMEDIO POR GÉNERO EN CANALES NACIONALES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las 25 ciudades restantes de la muestra analizada por el IFT,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H.10.).</a:t>
            </a:r>
          </a:p>
          <a:p>
            <a:pPr>
              <a:lnSpc>
                <a:spcPct val="100000"/>
              </a:lnSpc>
              <a:spcBef>
                <a:spcPts val="0"/>
              </a:spcBef>
              <a:spcAft>
                <a:spcPts val="400"/>
              </a:spcAft>
            </a:pPr>
            <a:r>
              <a:rPr sz="700" b="0">
                <a:solidFill>
                  <a:srgbClr val="434343"/>
                </a:solidFill>
                <a:latin typeface="Noto Sans"/>
              </a:rPr>
              <a:t>Por otra parte, al analizar la audiencia de los géneros programáticos entre hombres y mujeres, se puede apreciar que los tres géneros ya mencionados también fueron los de mayor audiencia para las mujeres, mientras que los hombres consumieron principalmente “Dramatizados unitarios”, “Reality shows” y “Deportes”.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pic>
        <p:nvPicPr>
          <p:cNvPr id="222" name="ANUARIO_HISTORICAL_H_10" descr="h_10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H.11</a:t>
            </a:r>
          </a:p>
          <a:p>
            <a:pPr>
              <a:spcBef>
                <a:spcPts val="0"/>
              </a:spcBef>
              <a:spcAft>
                <a:spcPts val="600"/>
              </a:spcAft>
            </a:pPr>
            <a:r>
              <a:rPr sz="950" b="1">
                <a:solidFill>
                  <a:srgbClr val="203634"/>
                </a:solidFill>
                <a:latin typeface="Noto Sans"/>
              </a:rPr>
              <a:t>PROPORCIÓN DE PERSONAS QUE ESCUCHARON LA RADIO POR HORA (%) — CDMX, GUADALAJARA Y MONTERREY</a:t>
            </a:r>
          </a:p>
          <a:p>
            <a:pPr>
              <a:lnSpc>
                <a:spcPct val="100000"/>
              </a:lnSpc>
              <a:spcBef>
                <a:spcPts val="0"/>
              </a:spcBef>
              <a:spcAft>
                <a:spcPts val="400"/>
              </a:spcAft>
            </a:pPr>
            <a:r>
              <a:rPr sz="650" b="0">
                <a:solidFill>
                  <a:srgbClr val="434343"/>
                </a:solidFill>
                <a:latin typeface="Noto Sans"/>
              </a:rPr>
              <a:t>En el caso de la radio, el nivel de personas con la radio encendida es un indicador que mide el grado de exposición a este servicio en un intervalo de tiempo determinado. De acuerdo con los datos reportados en la muestra analizada por el IFT10, de julio 2023 a junio 2024, el promedio de personas con la radio encendida en estas tres ciudades fue de 9.67% en el intervalo de tiempo de las 6:00 horas a las 24:00 horas de lunes a domingo. Sin embargo, al contrario que en televisión, la proporción de personas con la radio encendida alcanzó su máximo entre las 09:00 y 10:00 horas, cuando el nivel de encendidos fue de 16.91% (ver Figura H.11.).</a:t>
            </a:r>
          </a:p>
          <a:p>
            <a:pPr>
              <a:lnSpc>
                <a:spcPct val="100000"/>
              </a:lnSpc>
              <a:spcBef>
                <a:spcPts val="0"/>
              </a:spcBef>
              <a:spcAft>
                <a:spcPts val="400"/>
              </a:spcAft>
            </a:pPr>
            <a:r>
              <a:rPr sz="650" b="0">
                <a:solidFill>
                  <a:srgbClr val="434343"/>
                </a:solidFill>
                <a:latin typeface="Noto Sans"/>
              </a:rPr>
              <a:t>Además, al analizar el nivel de exposición a la radio entre géneros de la audiencia, se pudo encontrar que el promedio de exposición de los hombres fue de 11.09% y su horario más alto fue a las 08:00 horas con 19.00%, mientras que para las mujeres el promedio fue de 8.54% y su principal horario fue a las 10:00 horas con 16.10%.</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H_11" descr="Capa accesible con el texto del SVG de la figura H.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H.11</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12:00</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16:00</a:t>
            </a:r>
          </a:p>
          <a:p>
            <a:pPr>
              <a:spcBef>
                <a:spcPts val="0"/>
              </a:spcBef>
              <a:spcAft>
                <a:spcPts val="0"/>
              </a:spcAft>
            </a:pPr>
            <a:r>
              <a:rPr sz="100">
                <a:solidFill>
                  <a:srgbClr val="FFFFFF"/>
                </a:solidFill>
                <a:latin typeface="Noto Sans"/>
              </a:rPr>
              <a:t>17:00</a:t>
            </a:r>
          </a:p>
          <a:p>
            <a:pPr>
              <a:spcBef>
                <a:spcPts val="0"/>
              </a:spcBef>
              <a:spcAft>
                <a:spcPts val="0"/>
              </a:spcAft>
            </a:pPr>
            <a:r>
              <a:rPr sz="100">
                <a:solidFill>
                  <a:srgbClr val="FFFFFF"/>
                </a:solidFill>
                <a:latin typeface="Noto Sans"/>
              </a:rPr>
              <a:t>18:00</a:t>
            </a:r>
          </a:p>
          <a:p>
            <a:pPr>
              <a:spcBef>
                <a:spcPts val="0"/>
              </a:spcBef>
              <a:spcAft>
                <a:spcPts val="0"/>
              </a:spcAft>
            </a:pPr>
            <a:r>
              <a:rPr sz="100">
                <a:solidFill>
                  <a:srgbClr val="FFFFFF"/>
                </a:solidFill>
                <a:latin typeface="Noto Sans"/>
              </a:rPr>
              <a:t>19:00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21:00</a:t>
            </a:r>
          </a:p>
          <a:p>
            <a:pPr>
              <a:spcBef>
                <a:spcPts val="0"/>
              </a:spcBef>
              <a:spcAft>
                <a:spcPts val="0"/>
              </a:spcAft>
            </a:pPr>
            <a:r>
              <a:rPr sz="100">
                <a:solidFill>
                  <a:srgbClr val="FFFFFF"/>
                </a:solidFill>
                <a:latin typeface="Noto Sans"/>
              </a:rPr>
              <a:t>22:00</a:t>
            </a:r>
          </a:p>
          <a:p>
            <a:pPr>
              <a:spcBef>
                <a:spcPts val="0"/>
              </a:spcBef>
              <a:spcAft>
                <a:spcPts val="0"/>
              </a:spcAft>
            </a:pPr>
            <a:r>
              <a:rPr sz="100">
                <a:solidFill>
                  <a:srgbClr val="FFFFFF"/>
                </a:solidFill>
                <a:latin typeface="Noto Sans"/>
              </a:rPr>
              <a:t>23:00</a:t>
            </a:r>
          </a:p>
          <a:p>
            <a:pPr>
              <a:spcBef>
                <a:spcPts val="0"/>
              </a:spcBef>
              <a:spcAft>
                <a:spcPts val="0"/>
              </a:spcAft>
            </a:pPr>
            <a:r>
              <a:rPr sz="100">
                <a:solidFill>
                  <a:srgbClr val="FFFFFF"/>
                </a:solidFill>
                <a:latin typeface="Noto Sans"/>
              </a:rPr>
              <a:t>Horario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Proporción de personas escuchando la radio (%)</a:t>
            </a:r>
          </a:p>
          <a:p>
            <a:pPr>
              <a:spcBef>
                <a:spcPts val="0"/>
              </a:spcBef>
              <a:spcAft>
                <a:spcPts val="0"/>
              </a:spcAft>
            </a:pPr>
            <a:r>
              <a:rPr sz="100">
                <a:solidFill>
                  <a:srgbClr val="FFFFFF"/>
                </a:solidFill>
                <a:latin typeface="Noto Sans"/>
              </a:rPr>
              <a:t>Total personas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H.11.</a:t>
            </a:r>
          </a:p>
          <a:p>
            <a:pPr>
              <a:spcBef>
                <a:spcPts val="0"/>
              </a:spcBef>
              <a:spcAft>
                <a:spcPts val="0"/>
              </a:spcAft>
            </a:pPr>
            <a:r>
              <a:rPr sz="100">
                <a:solidFill>
                  <a:srgbClr val="FFFFFF"/>
                </a:solidFill>
                <a:latin typeface="Noto Sans"/>
              </a:rPr>
              <a:t>Proporción de personas que escucharon la radio por hora (%)</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Base de Datos de INRA a través del software INRAM.</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Datos obtenidos de julio 2023 a junio 2024. La variable de consulta es el porcentaje de encendidos (tvr%).</a:t>
            </a:r>
          </a:p>
          <a:p>
            <a:pPr>
              <a:spcBef>
                <a:spcPts val="0"/>
              </a:spcBef>
              <a:spcAft>
                <a:spcPts val="0"/>
              </a:spcAft>
            </a:pPr>
            <a:r>
              <a:rPr sz="100">
                <a:solidFill>
                  <a:srgbClr val="FFFFFF"/>
                </a:solidFill>
                <a:latin typeface="Noto Sans"/>
              </a:rPr>
              <a:t>Se suman las estaciones exportadas por INRAM. Las regiones consideradas son Ciudad de México, Guadalajara y Monterrey.</a:t>
            </a:r>
          </a:p>
          <a:p>
            <a:pPr>
              <a:spcBef>
                <a:spcPts val="0"/>
              </a:spcBef>
              <a:spcAft>
                <a:spcPts val="0"/>
              </a:spcAft>
            </a:pPr>
            <a:r>
              <a:rPr sz="100">
                <a:solidFill>
                  <a:srgbClr val="FFFFFF"/>
                </a:solidFill>
                <a:latin typeface="Noto Sans"/>
              </a:rPr>
              <a:t>El target utilizado es hombres y mujeres de 8 años en adelante, todos los niveles socioeconómicos.</a:t>
            </a:r>
          </a:p>
          <a:p>
            <a:pPr>
              <a:spcBef>
                <a:spcPts val="0"/>
              </a:spcBef>
              <a:spcAft>
                <a:spcPts val="0"/>
              </a:spcAft>
            </a:pPr>
            <a:r>
              <a:rPr sz="100">
                <a:solidFill>
                  <a:srgbClr val="FFFFFF"/>
                </a:solidFill>
                <a:latin typeface="Noto Sans"/>
              </a:rPr>
              <a:t>Horario de consulta de 06:00 a 24:00 horas de lunes a domingo.</a:t>
            </a:r>
          </a:p>
        </p:txBody>
      </p:sp>
      <p:pic>
        <p:nvPicPr>
          <p:cNvPr id="223" name="ANUARIO_IMAGE_H_11" descr="Figura H.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H.12</a:t>
            </a:r>
          </a:p>
          <a:p>
            <a:pPr>
              <a:spcBef>
                <a:spcPts val="0"/>
              </a:spcBef>
              <a:spcAft>
                <a:spcPts val="600"/>
              </a:spcAft>
            </a:pPr>
            <a:r>
              <a:rPr sz="950" b="1">
                <a:solidFill>
                  <a:srgbClr val="203634"/>
                </a:solidFill>
                <a:latin typeface="Noto Sans"/>
              </a:rPr>
              <a:t>PROPORCIÓN DE PERSONAS QUE ESCUCHARON LA RADIO POR HORA (%) — CDMX</a:t>
            </a:r>
          </a:p>
          <a:p>
            <a:pPr>
              <a:lnSpc>
                <a:spcPct val="100000"/>
              </a:lnSpc>
              <a:spcBef>
                <a:spcPts val="0"/>
              </a:spcBef>
              <a:spcAft>
                <a:spcPts val="400"/>
              </a:spcAft>
            </a:pPr>
            <a:r>
              <a:rPr sz="760" b="0">
                <a:solidFill>
                  <a:srgbClr val="434343"/>
                </a:solidFill>
                <a:latin typeface="Noto Sans"/>
              </a:rPr>
              <a:t>En el caso de la Ciudad de México, el promedio de personas con la radio encendida fue de 10.76% y alcanzó su máximo a las 09:00 horas, cuando el nivel de encendidos fue de 18.73% (ver Figura H.12.).</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12.24% y su horario más alto ocurrió a las 08:00 horas con 20.62%. Asimismo, respecto a las mujeres se registró un promedio de exposición de 9.59% y su máximo lo alcanzaron a las 10:00 horas con 18.48%.</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H_12" descr="Capa accesible con el texto del SVG de la figura H.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H.12</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12:00</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16:00</a:t>
            </a:r>
          </a:p>
          <a:p>
            <a:pPr>
              <a:spcBef>
                <a:spcPts val="0"/>
              </a:spcBef>
              <a:spcAft>
                <a:spcPts val="0"/>
              </a:spcAft>
            </a:pPr>
            <a:r>
              <a:rPr sz="100">
                <a:solidFill>
                  <a:srgbClr val="FFFFFF"/>
                </a:solidFill>
                <a:latin typeface="Noto Sans"/>
              </a:rPr>
              <a:t>17:00</a:t>
            </a:r>
          </a:p>
          <a:p>
            <a:pPr>
              <a:spcBef>
                <a:spcPts val="0"/>
              </a:spcBef>
              <a:spcAft>
                <a:spcPts val="0"/>
              </a:spcAft>
            </a:pPr>
            <a:r>
              <a:rPr sz="100">
                <a:solidFill>
                  <a:srgbClr val="FFFFFF"/>
                </a:solidFill>
                <a:latin typeface="Noto Sans"/>
              </a:rPr>
              <a:t>18:00</a:t>
            </a:r>
          </a:p>
          <a:p>
            <a:pPr>
              <a:spcBef>
                <a:spcPts val="0"/>
              </a:spcBef>
              <a:spcAft>
                <a:spcPts val="0"/>
              </a:spcAft>
            </a:pPr>
            <a:r>
              <a:rPr sz="100">
                <a:solidFill>
                  <a:srgbClr val="FFFFFF"/>
                </a:solidFill>
                <a:latin typeface="Noto Sans"/>
              </a:rPr>
              <a:t>19:00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21:00</a:t>
            </a:r>
          </a:p>
          <a:p>
            <a:pPr>
              <a:spcBef>
                <a:spcPts val="0"/>
              </a:spcBef>
              <a:spcAft>
                <a:spcPts val="0"/>
              </a:spcAft>
            </a:pPr>
            <a:r>
              <a:rPr sz="100">
                <a:solidFill>
                  <a:srgbClr val="FFFFFF"/>
                </a:solidFill>
                <a:latin typeface="Noto Sans"/>
              </a:rPr>
              <a:t>22:00</a:t>
            </a:r>
          </a:p>
          <a:p>
            <a:pPr>
              <a:spcBef>
                <a:spcPts val="0"/>
              </a:spcBef>
              <a:spcAft>
                <a:spcPts val="0"/>
              </a:spcAft>
            </a:pPr>
            <a:r>
              <a:rPr sz="100">
                <a:solidFill>
                  <a:srgbClr val="FFFFFF"/>
                </a:solidFill>
                <a:latin typeface="Noto Sans"/>
              </a:rPr>
              <a:t>23:00</a:t>
            </a:r>
          </a:p>
          <a:p>
            <a:pPr>
              <a:spcBef>
                <a:spcPts val="0"/>
              </a:spcBef>
              <a:spcAft>
                <a:spcPts val="0"/>
              </a:spcAft>
            </a:pPr>
            <a:r>
              <a:rPr sz="100">
                <a:solidFill>
                  <a:srgbClr val="FFFFFF"/>
                </a:solidFill>
                <a:latin typeface="Noto Sans"/>
              </a:rPr>
              <a:t>Horario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Proporción de personas escuchando la radio (%)</a:t>
            </a:r>
          </a:p>
          <a:p>
            <a:pPr>
              <a:spcBef>
                <a:spcPts val="0"/>
              </a:spcBef>
              <a:spcAft>
                <a:spcPts val="0"/>
              </a:spcAft>
            </a:pPr>
            <a:r>
              <a:rPr sz="100">
                <a:solidFill>
                  <a:srgbClr val="FFFFFF"/>
                </a:solidFill>
                <a:latin typeface="Noto Sans"/>
              </a:rPr>
              <a:t>Total personas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H.12.</a:t>
            </a:r>
          </a:p>
          <a:p>
            <a:pPr>
              <a:spcBef>
                <a:spcPts val="0"/>
              </a:spcBef>
              <a:spcAft>
                <a:spcPts val="0"/>
              </a:spcAft>
            </a:pPr>
            <a:r>
              <a:rPr sz="100">
                <a:solidFill>
                  <a:srgbClr val="FFFFFF"/>
                </a:solidFill>
                <a:latin typeface="Noto Sans"/>
              </a:rPr>
              <a:t>Proporción de personas que escucharon la radio por hora (%)</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Base de Datos de INRA a través del software INRAM.</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Datos obtenidos de julio 2023 a junio 2024. La variable de consulta es el porcentaje de encendidos (tvr%).</a:t>
            </a:r>
          </a:p>
          <a:p>
            <a:pPr>
              <a:spcBef>
                <a:spcPts val="0"/>
              </a:spcBef>
              <a:spcAft>
                <a:spcPts val="0"/>
              </a:spcAft>
            </a:pPr>
            <a:r>
              <a:rPr sz="100">
                <a:solidFill>
                  <a:srgbClr val="FFFFFF"/>
                </a:solidFill>
                <a:latin typeface="Noto Sans"/>
              </a:rPr>
              <a:t>Se suman las estaciones exportadas por INRAM. La región considerada es Ciudad de México.</a:t>
            </a:r>
          </a:p>
          <a:p>
            <a:pPr>
              <a:spcBef>
                <a:spcPts val="0"/>
              </a:spcBef>
              <a:spcAft>
                <a:spcPts val="0"/>
              </a:spcAft>
            </a:pPr>
            <a:r>
              <a:rPr sz="100">
                <a:solidFill>
                  <a:srgbClr val="FFFFFF"/>
                </a:solidFill>
                <a:latin typeface="Noto Sans"/>
              </a:rPr>
              <a:t>El target utilizado es hombres y mujeres de 8 años en adelante, todos los niveles socioeconómicos.</a:t>
            </a:r>
          </a:p>
          <a:p>
            <a:pPr>
              <a:spcBef>
                <a:spcPts val="0"/>
              </a:spcBef>
              <a:spcAft>
                <a:spcPts val="0"/>
              </a:spcAft>
            </a:pPr>
            <a:r>
              <a:rPr sz="100">
                <a:solidFill>
                  <a:srgbClr val="FFFFFF"/>
                </a:solidFill>
                <a:latin typeface="Noto Sans"/>
              </a:rPr>
              <a:t>Horario de consulta de 06:00 a 24:00 horas de lunes a domingo.</a:t>
            </a:r>
          </a:p>
        </p:txBody>
      </p:sp>
      <p:pic>
        <p:nvPicPr>
          <p:cNvPr id="223" name="ANUARIO_IMAGE_H_12" descr="Figura H.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H.13</a:t>
            </a:r>
          </a:p>
          <a:p>
            <a:pPr>
              <a:spcBef>
                <a:spcPts val="0"/>
              </a:spcBef>
              <a:spcAft>
                <a:spcPts val="600"/>
              </a:spcAft>
            </a:pPr>
            <a:r>
              <a:rPr sz="950" b="1">
                <a:solidFill>
                  <a:srgbClr val="203634"/>
                </a:solidFill>
                <a:latin typeface="Noto Sans"/>
              </a:rPr>
              <a:t>PROPORCIÓN DE PERSONAS QUE ESCUCHARON LA RADIO POR HORA (%) — GUADALAJARA</a:t>
            </a:r>
          </a:p>
          <a:p>
            <a:pPr>
              <a:lnSpc>
                <a:spcPct val="100000"/>
              </a:lnSpc>
              <a:spcBef>
                <a:spcPts val="0"/>
              </a:spcBef>
              <a:spcAft>
                <a:spcPts val="400"/>
              </a:spcAft>
            </a:pPr>
            <a:r>
              <a:rPr sz="760" b="0">
                <a:solidFill>
                  <a:srgbClr val="434343"/>
                </a:solidFill>
                <a:latin typeface="Noto Sans"/>
              </a:rPr>
              <a:t>Respecto a la ciudad de Guadalajara, el promedio de personas expuestas la radio fue de 7.83% y alcanzó su máximo a las 10:00 horas, cuando el nivel de encendidos fue de 13.06% (ver Figura H.13.).</a:t>
            </a:r>
          </a:p>
          <a:p>
            <a:pPr>
              <a:lnSpc>
                <a:spcPct val="100000"/>
              </a:lnSpc>
              <a:spcBef>
                <a:spcPts val="0"/>
              </a:spcBef>
              <a:spcAft>
                <a:spcPts val="400"/>
              </a:spcAft>
            </a:pPr>
            <a:r>
              <a:rPr sz="760" b="0">
                <a:solidFill>
                  <a:srgbClr val="434343"/>
                </a:solidFill>
                <a:latin typeface="Noto Sans"/>
              </a:rPr>
              <a:t>Además, al analizar el nivel de exposición a la radio entre los géneros de la audiencia, se pudo encontrar que el promedio de exposición de los hombres fue de 9.49% y su horario más alto fue a las 10:00 horas con 15.99%, mientras que para las mujeres el promedio fue de 6.51% y su principal horario fue a las 10:00 horas con 10.74%.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H_13" descr="Capa accesible con el texto del SVG de la figura H.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H.13</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12:00</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16:00</a:t>
            </a:r>
          </a:p>
          <a:p>
            <a:pPr>
              <a:spcBef>
                <a:spcPts val="0"/>
              </a:spcBef>
              <a:spcAft>
                <a:spcPts val="0"/>
              </a:spcAft>
            </a:pPr>
            <a:r>
              <a:rPr sz="100">
                <a:solidFill>
                  <a:srgbClr val="FFFFFF"/>
                </a:solidFill>
                <a:latin typeface="Noto Sans"/>
              </a:rPr>
              <a:t>17:00</a:t>
            </a:r>
          </a:p>
          <a:p>
            <a:pPr>
              <a:spcBef>
                <a:spcPts val="0"/>
              </a:spcBef>
              <a:spcAft>
                <a:spcPts val="0"/>
              </a:spcAft>
            </a:pPr>
            <a:r>
              <a:rPr sz="100">
                <a:solidFill>
                  <a:srgbClr val="FFFFFF"/>
                </a:solidFill>
                <a:latin typeface="Noto Sans"/>
              </a:rPr>
              <a:t>18:00</a:t>
            </a:r>
          </a:p>
          <a:p>
            <a:pPr>
              <a:spcBef>
                <a:spcPts val="0"/>
              </a:spcBef>
              <a:spcAft>
                <a:spcPts val="0"/>
              </a:spcAft>
            </a:pPr>
            <a:r>
              <a:rPr sz="100">
                <a:solidFill>
                  <a:srgbClr val="FFFFFF"/>
                </a:solidFill>
                <a:latin typeface="Noto Sans"/>
              </a:rPr>
              <a:t>19:00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21:00</a:t>
            </a:r>
          </a:p>
          <a:p>
            <a:pPr>
              <a:spcBef>
                <a:spcPts val="0"/>
              </a:spcBef>
              <a:spcAft>
                <a:spcPts val="0"/>
              </a:spcAft>
            </a:pPr>
            <a:r>
              <a:rPr sz="100">
                <a:solidFill>
                  <a:srgbClr val="FFFFFF"/>
                </a:solidFill>
                <a:latin typeface="Noto Sans"/>
              </a:rPr>
              <a:t>22:00</a:t>
            </a:r>
          </a:p>
          <a:p>
            <a:pPr>
              <a:spcBef>
                <a:spcPts val="0"/>
              </a:spcBef>
              <a:spcAft>
                <a:spcPts val="0"/>
              </a:spcAft>
            </a:pPr>
            <a:r>
              <a:rPr sz="100">
                <a:solidFill>
                  <a:srgbClr val="FFFFFF"/>
                </a:solidFill>
                <a:latin typeface="Noto Sans"/>
              </a:rPr>
              <a:t>23:00</a:t>
            </a:r>
          </a:p>
          <a:p>
            <a:pPr>
              <a:spcBef>
                <a:spcPts val="0"/>
              </a:spcBef>
              <a:spcAft>
                <a:spcPts val="0"/>
              </a:spcAft>
            </a:pPr>
            <a:r>
              <a:rPr sz="100">
                <a:solidFill>
                  <a:srgbClr val="FFFFFF"/>
                </a:solidFill>
                <a:latin typeface="Noto Sans"/>
              </a:rPr>
              <a:t>Horario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12.00</a:t>
            </a:r>
          </a:p>
          <a:p>
            <a:pPr>
              <a:spcBef>
                <a:spcPts val="0"/>
              </a:spcBef>
              <a:spcAft>
                <a:spcPts val="0"/>
              </a:spcAft>
            </a:pPr>
            <a:r>
              <a:rPr sz="100">
                <a:solidFill>
                  <a:srgbClr val="FFFFFF"/>
                </a:solidFill>
                <a:latin typeface="Noto Sans"/>
              </a:rPr>
              <a:t>14.00</a:t>
            </a:r>
          </a:p>
          <a:p>
            <a:pPr>
              <a:spcBef>
                <a:spcPts val="0"/>
              </a:spcBef>
              <a:spcAft>
                <a:spcPts val="0"/>
              </a:spcAft>
            </a:pPr>
            <a:r>
              <a:rPr sz="100">
                <a:solidFill>
                  <a:srgbClr val="FFFFFF"/>
                </a:solidFill>
                <a:latin typeface="Noto Sans"/>
              </a:rPr>
              <a:t>16.00</a:t>
            </a:r>
          </a:p>
          <a:p>
            <a:pPr>
              <a:spcBef>
                <a:spcPts val="0"/>
              </a:spcBef>
              <a:spcAft>
                <a:spcPts val="0"/>
              </a:spcAft>
            </a:pPr>
            <a:r>
              <a:rPr sz="100">
                <a:solidFill>
                  <a:srgbClr val="FFFFFF"/>
                </a:solidFill>
                <a:latin typeface="Noto Sans"/>
              </a:rPr>
              <a:t>18.00</a:t>
            </a:r>
          </a:p>
          <a:p>
            <a:pPr>
              <a:spcBef>
                <a:spcPts val="0"/>
              </a:spcBef>
              <a:spcAft>
                <a:spcPts val="0"/>
              </a:spcAft>
            </a:pPr>
            <a:r>
              <a:rPr sz="100">
                <a:solidFill>
                  <a:srgbClr val="FFFFFF"/>
                </a:solidFill>
                <a:latin typeface="Noto Sans"/>
              </a:rPr>
              <a:t>Proporción de personas escuchando la radio (%)</a:t>
            </a:r>
          </a:p>
          <a:p>
            <a:pPr>
              <a:spcBef>
                <a:spcPts val="0"/>
              </a:spcBef>
              <a:spcAft>
                <a:spcPts val="0"/>
              </a:spcAft>
            </a:pPr>
            <a:r>
              <a:rPr sz="100">
                <a:solidFill>
                  <a:srgbClr val="FFFFFF"/>
                </a:solidFill>
                <a:latin typeface="Noto Sans"/>
              </a:rPr>
              <a:t>Total personas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H.13.</a:t>
            </a:r>
          </a:p>
          <a:p>
            <a:pPr>
              <a:spcBef>
                <a:spcPts val="0"/>
              </a:spcBef>
              <a:spcAft>
                <a:spcPts val="0"/>
              </a:spcAft>
            </a:pPr>
            <a:r>
              <a:rPr sz="100">
                <a:solidFill>
                  <a:srgbClr val="FFFFFF"/>
                </a:solidFill>
                <a:latin typeface="Noto Sans"/>
              </a:rPr>
              <a:t>Proporción de personas que escucharon la radio por hora (%)</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Base de Datos de INRA a través del software INRAM.</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Datos obtenidos de julio 2023 a junio 2024. La variable de consulta es el porcentaje de encendidos (tvr%).</a:t>
            </a:r>
          </a:p>
          <a:p>
            <a:pPr>
              <a:spcBef>
                <a:spcPts val="0"/>
              </a:spcBef>
              <a:spcAft>
                <a:spcPts val="0"/>
              </a:spcAft>
            </a:pPr>
            <a:r>
              <a:rPr sz="100">
                <a:solidFill>
                  <a:srgbClr val="FFFFFF"/>
                </a:solidFill>
                <a:latin typeface="Noto Sans"/>
              </a:rPr>
              <a:t>Se suman las estaciones exportadas por INRAM. La región considerada es Guadalajara.</a:t>
            </a:r>
          </a:p>
          <a:p>
            <a:pPr>
              <a:spcBef>
                <a:spcPts val="0"/>
              </a:spcBef>
              <a:spcAft>
                <a:spcPts val="0"/>
              </a:spcAft>
            </a:pPr>
            <a:r>
              <a:rPr sz="100">
                <a:solidFill>
                  <a:srgbClr val="FFFFFF"/>
                </a:solidFill>
                <a:latin typeface="Noto Sans"/>
              </a:rPr>
              <a:t>El target utilizado es hombres y mujeres de 8 años en adelante, todos los niveles socioeconómicos.</a:t>
            </a:r>
          </a:p>
          <a:p>
            <a:pPr>
              <a:spcBef>
                <a:spcPts val="0"/>
              </a:spcBef>
              <a:spcAft>
                <a:spcPts val="0"/>
              </a:spcAft>
            </a:pPr>
            <a:r>
              <a:rPr sz="100">
                <a:solidFill>
                  <a:srgbClr val="FFFFFF"/>
                </a:solidFill>
                <a:latin typeface="Noto Sans"/>
              </a:rPr>
              <a:t>Horario de consulta de 06:00 a 24:00 horas de lunes a domingo.</a:t>
            </a:r>
          </a:p>
        </p:txBody>
      </p:sp>
      <p:pic>
        <p:nvPicPr>
          <p:cNvPr id="223" name="ANUARIO_IMAGE_H_13" descr="Figura H.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H.14</a:t>
            </a:r>
          </a:p>
          <a:p>
            <a:pPr>
              <a:spcBef>
                <a:spcPts val="0"/>
              </a:spcBef>
              <a:spcAft>
                <a:spcPts val="600"/>
              </a:spcAft>
            </a:pPr>
            <a:r>
              <a:rPr sz="950" b="1">
                <a:solidFill>
                  <a:srgbClr val="203634"/>
                </a:solidFill>
                <a:latin typeface="Noto Sans"/>
              </a:rPr>
              <a:t>PROPORCIÓN DE PERSONAS QUE ESCUCHARON LA RADIO POR HORA (%) — MONTERREY</a:t>
            </a:r>
          </a:p>
          <a:p>
            <a:pPr>
              <a:lnSpc>
                <a:spcPct val="100000"/>
              </a:lnSpc>
              <a:spcBef>
                <a:spcPts val="0"/>
              </a:spcBef>
              <a:spcAft>
                <a:spcPts val="400"/>
              </a:spcAft>
            </a:pPr>
            <a:r>
              <a:rPr sz="760" b="0">
                <a:solidFill>
                  <a:srgbClr val="434343"/>
                </a:solidFill>
                <a:latin typeface="Noto Sans"/>
              </a:rPr>
              <a:t>En el caso de Monterrey, el promedio de personas con la radio encendida fue de 7.15% y alcanzó su máximo a las 08:00 horas, cuando el nivel de encendidos fue de 14.43% (ver Figura H.14.).</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8.15% y su horario más alto ocurrió a las 08:00 horas con 16.06%. Asimismo, respecto a las mujeres se registró un promedio de exposición de 6.32% y su máximo lo alcanzaron a las 08:00 horas con 13.09%.</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H_14" descr="Capa accesible con el texto del SVG de la figura H.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H.14</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12:00</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16:00</a:t>
            </a:r>
          </a:p>
          <a:p>
            <a:pPr>
              <a:spcBef>
                <a:spcPts val="0"/>
              </a:spcBef>
              <a:spcAft>
                <a:spcPts val="0"/>
              </a:spcAft>
            </a:pPr>
            <a:r>
              <a:rPr sz="100">
                <a:solidFill>
                  <a:srgbClr val="FFFFFF"/>
                </a:solidFill>
                <a:latin typeface="Noto Sans"/>
              </a:rPr>
              <a:t>17:00</a:t>
            </a:r>
          </a:p>
          <a:p>
            <a:pPr>
              <a:spcBef>
                <a:spcPts val="0"/>
              </a:spcBef>
              <a:spcAft>
                <a:spcPts val="0"/>
              </a:spcAft>
            </a:pPr>
            <a:r>
              <a:rPr sz="100">
                <a:solidFill>
                  <a:srgbClr val="FFFFFF"/>
                </a:solidFill>
                <a:latin typeface="Noto Sans"/>
              </a:rPr>
              <a:t>18:00</a:t>
            </a:r>
          </a:p>
          <a:p>
            <a:pPr>
              <a:spcBef>
                <a:spcPts val="0"/>
              </a:spcBef>
              <a:spcAft>
                <a:spcPts val="0"/>
              </a:spcAft>
            </a:pPr>
            <a:r>
              <a:rPr sz="100">
                <a:solidFill>
                  <a:srgbClr val="FFFFFF"/>
                </a:solidFill>
                <a:latin typeface="Noto Sans"/>
              </a:rPr>
              <a:t>19:00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21:00</a:t>
            </a:r>
          </a:p>
          <a:p>
            <a:pPr>
              <a:spcBef>
                <a:spcPts val="0"/>
              </a:spcBef>
              <a:spcAft>
                <a:spcPts val="0"/>
              </a:spcAft>
            </a:pPr>
            <a:r>
              <a:rPr sz="100">
                <a:solidFill>
                  <a:srgbClr val="FFFFFF"/>
                </a:solidFill>
                <a:latin typeface="Noto Sans"/>
              </a:rPr>
              <a:t>22:00</a:t>
            </a:r>
          </a:p>
          <a:p>
            <a:pPr>
              <a:spcBef>
                <a:spcPts val="0"/>
              </a:spcBef>
              <a:spcAft>
                <a:spcPts val="0"/>
              </a:spcAft>
            </a:pPr>
            <a:r>
              <a:rPr sz="100">
                <a:solidFill>
                  <a:srgbClr val="FFFFFF"/>
                </a:solidFill>
                <a:latin typeface="Noto Sans"/>
              </a:rPr>
              <a:t>23:00</a:t>
            </a:r>
          </a:p>
          <a:p>
            <a:pPr>
              <a:spcBef>
                <a:spcPts val="0"/>
              </a:spcBef>
              <a:spcAft>
                <a:spcPts val="0"/>
              </a:spcAft>
            </a:pPr>
            <a:r>
              <a:rPr sz="100">
                <a:solidFill>
                  <a:srgbClr val="FFFFFF"/>
                </a:solidFill>
                <a:latin typeface="Noto Sans"/>
              </a:rPr>
              <a:t>Horario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12.00</a:t>
            </a:r>
          </a:p>
          <a:p>
            <a:pPr>
              <a:spcBef>
                <a:spcPts val="0"/>
              </a:spcBef>
              <a:spcAft>
                <a:spcPts val="0"/>
              </a:spcAft>
            </a:pPr>
            <a:r>
              <a:rPr sz="100">
                <a:solidFill>
                  <a:srgbClr val="FFFFFF"/>
                </a:solidFill>
                <a:latin typeface="Noto Sans"/>
              </a:rPr>
              <a:t>14.00</a:t>
            </a:r>
          </a:p>
          <a:p>
            <a:pPr>
              <a:spcBef>
                <a:spcPts val="0"/>
              </a:spcBef>
              <a:spcAft>
                <a:spcPts val="0"/>
              </a:spcAft>
            </a:pPr>
            <a:r>
              <a:rPr sz="100">
                <a:solidFill>
                  <a:srgbClr val="FFFFFF"/>
                </a:solidFill>
                <a:latin typeface="Noto Sans"/>
              </a:rPr>
              <a:t>16.00</a:t>
            </a:r>
          </a:p>
          <a:p>
            <a:pPr>
              <a:spcBef>
                <a:spcPts val="0"/>
              </a:spcBef>
              <a:spcAft>
                <a:spcPts val="0"/>
              </a:spcAft>
            </a:pPr>
            <a:r>
              <a:rPr sz="100">
                <a:solidFill>
                  <a:srgbClr val="FFFFFF"/>
                </a:solidFill>
                <a:latin typeface="Noto Sans"/>
              </a:rPr>
              <a:t>18.00</a:t>
            </a:r>
          </a:p>
          <a:p>
            <a:pPr>
              <a:spcBef>
                <a:spcPts val="0"/>
              </a:spcBef>
              <a:spcAft>
                <a:spcPts val="0"/>
              </a:spcAft>
            </a:pPr>
            <a:r>
              <a:rPr sz="100">
                <a:solidFill>
                  <a:srgbClr val="FFFFFF"/>
                </a:solidFill>
                <a:latin typeface="Noto Sans"/>
              </a:rPr>
              <a:t>Proporción de personas escuchando la radio (%)</a:t>
            </a:r>
          </a:p>
          <a:p>
            <a:pPr>
              <a:spcBef>
                <a:spcPts val="0"/>
              </a:spcBef>
              <a:spcAft>
                <a:spcPts val="0"/>
              </a:spcAft>
            </a:pPr>
            <a:r>
              <a:rPr sz="100">
                <a:solidFill>
                  <a:srgbClr val="FFFFFF"/>
                </a:solidFill>
                <a:latin typeface="Noto Sans"/>
              </a:rPr>
              <a:t>Total personas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H.14.</a:t>
            </a:r>
          </a:p>
          <a:p>
            <a:pPr>
              <a:spcBef>
                <a:spcPts val="0"/>
              </a:spcBef>
              <a:spcAft>
                <a:spcPts val="0"/>
              </a:spcAft>
            </a:pPr>
            <a:r>
              <a:rPr sz="100">
                <a:solidFill>
                  <a:srgbClr val="FFFFFF"/>
                </a:solidFill>
                <a:latin typeface="Noto Sans"/>
              </a:rPr>
              <a:t>Proporción de personas que escucharon la radio por hora (%)</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Base de Datos de INRA a través del software INRAM.</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Datos obtenidos de julio 2023 a junio 2024. La variable de consulta es el porcentaje de encendidos (tvr%).</a:t>
            </a:r>
          </a:p>
          <a:p>
            <a:pPr>
              <a:spcBef>
                <a:spcPts val="0"/>
              </a:spcBef>
              <a:spcAft>
                <a:spcPts val="0"/>
              </a:spcAft>
            </a:pPr>
            <a:r>
              <a:rPr sz="100">
                <a:solidFill>
                  <a:srgbClr val="FFFFFF"/>
                </a:solidFill>
                <a:latin typeface="Noto Sans"/>
              </a:rPr>
              <a:t>Se suman las estaciones exportadas por INRAM. La región considerada es Monterrey.</a:t>
            </a:r>
          </a:p>
          <a:p>
            <a:pPr>
              <a:spcBef>
                <a:spcPts val="0"/>
              </a:spcBef>
              <a:spcAft>
                <a:spcPts val="0"/>
              </a:spcAft>
            </a:pPr>
            <a:r>
              <a:rPr sz="100">
                <a:solidFill>
                  <a:srgbClr val="FFFFFF"/>
                </a:solidFill>
                <a:latin typeface="Noto Sans"/>
              </a:rPr>
              <a:t>El target utilizado es hombres y mujeres de 8 años en adelante, todos los niveles socioeconómicos.</a:t>
            </a:r>
          </a:p>
          <a:p>
            <a:pPr>
              <a:spcBef>
                <a:spcPts val="0"/>
              </a:spcBef>
              <a:spcAft>
                <a:spcPts val="0"/>
              </a:spcAft>
            </a:pPr>
            <a:r>
              <a:rPr sz="100">
                <a:solidFill>
                  <a:srgbClr val="FFFFFF"/>
                </a:solidFill>
                <a:latin typeface="Noto Sans"/>
              </a:rPr>
              <a:t>Horario de consulta de 06:00 a 24:00 horas de lunes a domingo.</a:t>
            </a:r>
          </a:p>
        </p:txBody>
      </p:sp>
      <p:pic>
        <p:nvPicPr>
          <p:cNvPr id="223" name="ANUARIO_IMAGE_H_14" descr="Figura H.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sp>
        <p:nvSpPr>
          <p:cNvPr id="227" name="ANUARIO_TOOLS_TITLE"/>
          <p:cNvSpPr txBox="1"/>
          <p:nvPr/>
        </p:nvSpPr>
        <p:spPr>
          <a:xfrm>
            <a:off x="548640" y="713232"/>
            <a:ext cx="8101583" cy="310896"/>
          </a:xfrm>
          <a:prstGeom prst="rect">
            <a:avLst/>
          </a:prstGeom>
          <a:noFill/>
        </p:spPr>
        <p:txBody>
          <a:bodyPr wrap="square" anchor="t" lIns="0" rIns="0" tIns="0" bIns="0">
            <a:noAutofit/>
          </a:bodyPr>
          <a:lstStyle/>
          <a:p>
            <a:pPr>
              <a:lnSpc>
                <a:spcPct val="100000"/>
              </a:lnSpc>
              <a:spcBef>
                <a:spcPts val="0"/>
              </a:spcBef>
              <a:spcAft>
                <a:spcPts val="0"/>
              </a:spcAft>
            </a:pPr>
            <a:r>
              <a:rPr sz="1230" b="1">
                <a:solidFill>
                  <a:srgbClr val="484979"/>
                </a:solidFill>
                <a:latin typeface="Noto Sans"/>
              </a:rPr>
              <a:t>CONOCE LAS HERRAMIENTAS CON INFORMACIÓN POR ENTIDAD FEDERATIVA:</a:t>
            </a:r>
          </a:p>
        </p:txBody>
      </p:sp>
      <p:sp>
        <p:nvSpPr>
          <p:cNvPr id="228" name="ANUARIO_TOOL_CARD_BIT_ESTATAL"/>
          <p:cNvSpPr/>
          <p:nvPr/>
        </p:nvSpPr>
        <p:spPr>
          <a:xfrm>
            <a:off x="548640" y="1170432"/>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TOOL_TITLE_BIT_ESTATAL"/>
          <p:cNvSpPr txBox="1"/>
          <p:nvPr/>
        </p:nvSpPr>
        <p:spPr>
          <a:xfrm>
            <a:off x="768096" y="1307592"/>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BIT ESTATAL:</a:t>
            </a:r>
          </a:p>
        </p:txBody>
      </p:sp>
      <p:sp>
        <p:nvSpPr>
          <p:cNvPr id="230" name="ANUARIO_TOOL_URL_BIT_ESTATAL"/>
          <p:cNvSpPr txBox="1"/>
          <p:nvPr/>
        </p:nvSpPr>
        <p:spPr>
          <a:xfrm>
            <a:off x="768096" y="1572768"/>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2"/>
              </a:rPr>
              <a:t>https://bitestatal.ift.org.mx/</a:t>
            </a:r>
          </a:p>
        </p:txBody>
      </p:sp>
      <p:sp>
        <p:nvSpPr>
          <p:cNvPr id="231" name="ANUARIO_TOOL_BODY_BIT_ESTATAL"/>
          <p:cNvSpPr txBox="1"/>
          <p:nvPr/>
        </p:nvSpPr>
        <p:spPr>
          <a:xfrm>
            <a:off x="768096" y="1947672"/>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El portal permite conocer de forma detallada, accesible e ilustrativa la información sobre accesos, líneas, concesiones y uso de los servicios fijos y móviles de TyR, así como la disponibilidad y la adopción de las TIC, por entidad federativa.</a:t>
            </a:r>
          </a:p>
        </p:txBody>
      </p:sp>
      <p:sp>
        <p:nvSpPr>
          <p:cNvPr id="232" name="ANUARIO_TOOL_CARD_CALCULADORA"/>
          <p:cNvSpPr/>
          <p:nvPr/>
        </p:nvSpPr>
        <p:spPr>
          <a:xfrm>
            <a:off x="548640" y="2761488"/>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NUARIO_TOOL_TITLE_CALCULADORA"/>
          <p:cNvSpPr txBox="1"/>
          <p:nvPr/>
        </p:nvSpPr>
        <p:spPr>
          <a:xfrm>
            <a:off x="768096" y="2898648"/>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CALCULADORA DE PROBABILIDADES:</a:t>
            </a:r>
          </a:p>
        </p:txBody>
      </p:sp>
      <p:sp>
        <p:nvSpPr>
          <p:cNvPr id="234" name="ANUARIO_TOOL_URL_CALCULADORA"/>
          <p:cNvSpPr txBox="1"/>
          <p:nvPr/>
        </p:nvSpPr>
        <p:spPr>
          <a:xfrm>
            <a:off x="768096" y="3163824"/>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3"/>
              </a:rPr>
              <a:t>https://calculadoraprob.ift.org.mx/</a:t>
            </a:r>
          </a:p>
        </p:txBody>
      </p:sp>
      <p:sp>
        <p:nvSpPr>
          <p:cNvPr id="235" name="ANUARIO_TOOL_BODY_CALCULADORA"/>
          <p:cNvSpPr txBox="1"/>
          <p:nvPr/>
        </p:nvSpPr>
        <p:spPr>
          <a:xfrm>
            <a:off x="768096" y="3538728"/>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Esta herramienta interactiva te mostrará probabilidades de uso de las TIC y realizar actividades por Internet de acuerdo con las características de la población.</a:t>
            </a:r>
          </a:p>
        </p:txBody>
      </p:sp>
      <p:sp>
        <p:nvSpPr>
          <p:cNvPr id="236" name="ANUARIO_TOOL_CURRENT"/>
          <p:cNvSpPr txBox="1"/>
          <p:nvPr/>
        </p:nvSpPr>
        <p:spPr>
          <a:xfrm>
            <a:off x="576072" y="4389120"/>
            <a:ext cx="8138160" cy="155448"/>
          </a:xfrm>
          <a:prstGeom prst="rect">
            <a:avLst/>
          </a:prstGeom>
          <a:noFill/>
        </p:spPr>
        <p:txBody>
          <a:bodyPr wrap="square" anchor="t" lIns="0" rIns="0" tIns="0" bIns="0">
            <a:noAutofit/>
          </a:bodyPr>
          <a:lstStyle/>
          <a:p>
            <a:pPr>
              <a:lnSpc>
                <a:spcPct val="100000"/>
              </a:lnSpc>
              <a:spcBef>
                <a:spcPts val="0"/>
              </a:spcBef>
              <a:spcAft>
                <a:spcPts val="0"/>
              </a:spcAft>
            </a:pPr>
            <a:r>
              <a:rPr sz="750" b="0">
                <a:solidFill>
                  <a:srgbClr val="4F5B5C"/>
                </a:solidFill>
                <a:latin typeface="Noto Sans"/>
                <a:hlinkClick r:id="rId4"/>
              </a:rPr>
              <a:t>Consulta actual del BIT de la CRT: https://bit.crt.gob.mx/BitWebApp/</a:t>
            </a:r>
          </a:p>
        </p:txBody>
      </p:sp>
      <p:sp>
        <p:nvSpPr>
          <p:cNvPr id="237" name="ANUARIO_TOOL_HISTORICAL"/>
          <p:cNvSpPr txBox="1"/>
          <p:nvPr/>
        </p:nvSpPr>
        <p:spPr>
          <a:xfrm>
            <a:off x="576072" y="4590288"/>
            <a:ext cx="8138160" cy="146304"/>
          </a:xfrm>
          <a:prstGeom prst="rect">
            <a:avLst/>
          </a:prstGeom>
          <a:noFill/>
        </p:spPr>
        <p:txBody>
          <a:bodyPr wrap="square" anchor="t" lIns="0" rIns="0" tIns="0" bIns="0">
            <a:noAutofit/>
          </a:bodyPr>
          <a:lstStyle/>
          <a:p>
            <a:pPr>
              <a:lnSpc>
                <a:spcPct val="100000"/>
              </a:lnSpc>
              <a:spcBef>
                <a:spcPts val="0"/>
              </a:spcBef>
              <a:spcAft>
                <a:spcPts val="0"/>
              </a:spcAft>
            </a:pPr>
            <a:r>
              <a:rPr sz="700" b="0">
                <a:solidFill>
                  <a:srgbClr val="4F5B5C"/>
                </a:solidFill>
                <a:latin typeface="Noto Sans"/>
              </a:rPr>
              <a:t>Los enlaces a BIT Estatal y a la Calculadora de Probabilidades se conservan como referencias históricas de la edición 2024.</a:t>
            </a:r>
          </a:p>
        </p:txBody>
      </p:sp>
      <p:pic>
        <p:nvPicPr>
          <p:cNvPr id="238" name="ANUARIO_BARRA_FONDO"/>
          <p:cNvPicPr>
            <a:picLocks noChangeAspect="1"/>
          </p:cNvPicPr>
          <p:nvPr/>
        </p:nvPicPr>
        <p:blipFill>
          <a:blip r:embed="rId5"/>
          <a:stretch/>
        </p:blipFill>
        <p:spPr>
          <a:xfrm>
            <a:off x="3378" y="0"/>
            <a:ext cx="9136888" cy="456844"/>
          </a:xfrm>
          <a:prstGeom prst="rect">
            <a:avLst/>
          </a:prstGeom>
        </p:spPr>
      </p:pic>
      <p:sp>
        <p:nvSpPr>
          <p:cNvPr id="239"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40" name="ANUARIO_BARRA_QR"/>
          <p:cNvPicPr>
            <a:picLocks noChangeAspect="1"/>
          </p:cNvPicPr>
          <p:nvPr/>
        </p:nvPicPr>
        <p:blipFill>
          <a:blip r:embed="rId6"/>
          <a:stretch/>
        </p:blipFill>
        <p:spPr>
          <a:xfrm>
            <a:off x="7810564" y="75961"/>
            <a:ext cx="304559" cy="304559"/>
          </a:xfrm>
          <a:prstGeom prst="rect">
            <a:avLst/>
          </a:prstGeom>
        </p:spPr>
      </p:pic>
      <p:pic>
        <p:nvPicPr>
          <p:cNvPr id="241" name="ANUARIO_BARRA_CRT"/>
          <p:cNvPicPr>
            <a:picLocks noChangeAspect="1"/>
          </p:cNvPicPr>
          <p:nvPr/>
        </p:nvPicPr>
        <p:blipFill>
          <a:blip r:embed="rId7"/>
          <a:stretch/>
        </p:blipFill>
        <p:spPr>
          <a:xfrm>
            <a:off x="8294782" y="75961"/>
            <a:ext cx="542115" cy="304559"/>
          </a:xfrm>
          <a:prstGeom prst="rect">
            <a:avLst/>
          </a:prstGeom>
        </p:spPr>
      </p:pic>
      <p:sp>
        <p:nvSpPr>
          <p:cNvPr id="242"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HERRAMIENTAS IFT</a:t>
            </a:r>
          </a:p>
        </p:txBody>
      </p:sp>
      <p:sp>
        <p:nvSpPr>
          <p:cNvPr id="243"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44" name="ANUARIO_BARRA_URL">
            <a:hlinkClick r:id="rId4"/>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graphicFrame>
        <p:nvGraphicFramePr>
          <p:cNvPr id="222" name="ANUARIO_ANEXO_I_COMPLETO_117"/>
          <p:cNvGraphicFramePr>
            <a:graphicFrameLocks noGrp="1"/>
          </p:cNvGraphicFramePr>
          <p:nvPr/>
        </p:nvGraphicFramePr>
        <p:xfrm>
          <a:off x="310896" y="795528"/>
          <a:ext cx="8522206" cy="3685005"/>
        </p:xfrm>
        <a:graphic>
          <a:graphicData uri="http://schemas.openxmlformats.org/drawingml/2006/table">
            <a:tbl>
              <a:tblPr>
                <a:tableStyleId>{5C22544A-7EE6-4342-B048-85BDC9FD1C3A}</a:tableStyleId>
              </a:tblPr>
              <a:tblGrid>
                <a:gridCol w="1005840"/>
                <a:gridCol w="578182"/>
                <a:gridCol w="578182"/>
                <a:gridCol w="578182"/>
                <a:gridCol w="578182"/>
                <a:gridCol w="578182"/>
                <a:gridCol w="578182"/>
                <a:gridCol w="578182"/>
                <a:gridCol w="578182"/>
                <a:gridCol w="578182"/>
                <a:gridCol w="578182"/>
                <a:gridCol w="578182"/>
                <a:gridCol w="578182"/>
                <a:gridCol w="578182"/>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6">
                  <a:txBody>
                    <a:bodyPr wrap="square"/>
                    <a:lstStyle/>
                    <a:p>
                      <a:pPr algn="ctr">
                        <a:spcBef>
                          <a:spcPts val="0"/>
                        </a:spcBef>
                        <a:spcAft>
                          <a:spcPts val="0"/>
                        </a:spcAft>
                      </a:pPr>
                      <a:r>
                        <a:rPr sz="535" b="1">
                          <a:solidFill>
                            <a:srgbClr val="FFFFFF"/>
                          </a:solidFill>
                          <a:latin typeface="Noto Sans"/>
                        </a:rPr>
                        <a:t>Indicadores sociodemográficos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Empleo en telecomunicaciones y radiodifusión</a:t>
                      </a:r>
                    </a:p>
                  </a:txBody>
                  <a:tcPr marL="7315" marR="7315" marT="0" marB="0" anchor="ctr">
                    <a:solidFill>
                      <a:srgbClr val="1F4544"/>
                    </a:solidFill>
                  </a:tcPr>
                </a:tc>
                <a:tc hMerge="1">
                  <a:txBody>
                    <a:bodyPr wrap="square"/>
                    <a:lstStyle/>
                    <a:p/>
                  </a:txBody>
                  <a:tcPr marL="7315" marR="7315" marT="0" marB="0" anchor="ctr">
                    <a:solidFill>
                      <a:srgbClr val="1F4544"/>
                    </a:solidFill>
                  </a:tcPr>
                </a:tc>
                <a:tc gridSpan="5">
                  <a:txBody>
                    <a:bodyPr wrap="square"/>
                    <a:lstStyle/>
                    <a:p>
                      <a:pPr algn="ctr">
                        <a:spcBef>
                          <a:spcPts val="0"/>
                        </a:spcBef>
                        <a:spcAft>
                          <a:spcPts val="0"/>
                        </a:spcAft>
                      </a:pPr>
                      <a:r>
                        <a:rPr sz="535" b="1">
                          <a:solidFill>
                            <a:srgbClr val="FFFFFF"/>
                          </a:solidFill>
                          <a:latin typeface="Noto Sans"/>
                        </a:rPr>
                        <a:t>Equipamiento de TIC en hogares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pPr algn="ctr">
                        <a:spcBef>
                          <a:spcPts val="0"/>
                        </a:spcBef>
                        <a:spcAft>
                          <a:spcPts val="0"/>
                        </a:spcAft>
                      </a:pPr>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Habitantes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Telecom.</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Radiodif.</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analóg.</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digital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Cómputo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Móvil</a:t>
                      </a:r>
                    </a:p>
                  </a:txBody>
                  <a:tcPr marL="7315" marR="7315" marT="0" marB="0" anchor="ctr">
                    <a:solidFill>
                      <a:srgbClr val="4E827B"/>
                    </a:solidFill>
                  </a:tcPr>
                </a:tc>
              </a:tr>
              <a:tr h="246888">
                <a:tc>
                  <a:txBody>
                    <a:bodyPr wrap="square"/>
                    <a:lstStyle/>
                    <a:p>
                      <a:pPr algn="ctr">
                        <a:spcBef>
                          <a:spcPts val="0"/>
                        </a:spcBef>
                        <a:spcAft>
                          <a:spcPts val="0"/>
                        </a:spcAft>
                      </a:pP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38,627,319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8,219,662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30,407,657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129,407,263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29,463,764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99,943,499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247,172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54,694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81.7%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95.1%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346,163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1,495,545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286,755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1,208,790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1,239,008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92,110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1,146,898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3,788,682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269,317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3,519,365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30,219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255,884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868,940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786,285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64,801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209,799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949,838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242,985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1,001,663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81,031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920,632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3,297,644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278,255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3,019,389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245,471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219,129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745,500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79,489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666,011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1,464,726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712,682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752,044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5,714,039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3,001,605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2,712,434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1,192,379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158,669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1,033,710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3,851,622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491,925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3,359,697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3,064,550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3,045,823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9,301,936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9,226,553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43,877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553,626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151,892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401,734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1,880,456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535,462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1,344,994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1,765,081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501,136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1,263,945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6,300,221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1,842,011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4,458,210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1,035,815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386,376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649,439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3,613,757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1,477,806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2,135,951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950,721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420,183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530,538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3,209,534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1,424,224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1,785,310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2,562,766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2,189,496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8,593,719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1,241,680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7,352,039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5,183,923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4,465,856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17,499,979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2,576,591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14,923,388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387,515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1,024,077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5,000,372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1,502,555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3,497,817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610,985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116,008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1,977,132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394,014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1,583,118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410,921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121,824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289,097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1,269,082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380,748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888,334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1,830,383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1,713,622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6,117,115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388,840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5,728,275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1,238,269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643,146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595,123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4,313,108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2,253,281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2,059,827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1,865,156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509,027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1,356,129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6,620,349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1,871,490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4,748,859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575,632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2,515,679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639,025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1,876,654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595,483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52,602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1,913,139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188,835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1,724,304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828,853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566,061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2,861,102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941,877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1,919,225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937,857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219,843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3,088,382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2,344,092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938,141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112,910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825,231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2,994,767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362,733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2,632,034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718,851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296,017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422,834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2,475,170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1,077,303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1,397,867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1,121,968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106,612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1,015,356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3,576,108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351,385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3,224,723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70,628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317,967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1,417,362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262,683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1,154,679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2,570,753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1,616,153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8,130,279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3,215,314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4,914,965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691,647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92,586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599,061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2,381,532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364,995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2,016,537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484,726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180,374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304,352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1,645,173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618,253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1,026,920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2,049</a:t>
                      </a:r>
                    </a:p>
                  </a:txBody>
                  <a:tcPr marL="7315" marR="7315" marT="0" marB="0" anchor="ctr">
                    <a:solidFill>
                      <a:srgbClr val="FFFFFF"/>
                    </a:solidFill>
                  </a:tcPr>
                </a:tc>
                <a:tc>
                  <a:txBody>
                    <a:bodyPr wrap="none"/>
                    <a:lstStyle/>
                    <a:p>
                      <a:pPr algn="ctr">
                        <a:spcBef>
                          <a:spcPts val="0"/>
                        </a:spcBef>
                        <a:spcAft>
                          <a:spcPts val="0"/>
                        </a:spcAft>
                      </a:pP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93.6%</a:t>
                      </a:r>
                    </a:p>
                  </a:txBody>
                  <a:tcPr marL="7315" marR="7315" marT="0" marB="0" anchor="ctr">
                    <a:solidFill>
                      <a:srgbClr val="FFFFFF"/>
                    </a:solidFill>
                  </a:tcPr>
                </a:tc>
              </a:tr>
            </a:tbl>
          </a:graphicData>
        </a:graphic>
      </p:graphicFrame>
      <p:sp>
        <p:nvSpPr>
          <p:cNvPr id="223" name="ANUARIO_ANEXO_I_FUENTE_117"/>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sus cortes se indican en los encabezados de origen.</a:t>
            </a:r>
          </a:p>
        </p:txBody>
      </p:sp>
      <p:pic>
        <p:nvPicPr>
          <p:cNvPr id="224" name="ANUARIO_BARRA_FONDO"/>
          <p:cNvPicPr>
            <a:picLocks noChangeAspect="1"/>
          </p:cNvPicPr>
          <p:nvPr/>
        </p:nvPicPr>
        <p:blipFill>
          <a:blip r:embed="rId2"/>
          <a:stretch/>
        </p:blipFill>
        <p:spPr>
          <a:xfrm>
            <a:off x="3378" y="0"/>
            <a:ext cx="9136888" cy="456844"/>
          </a:xfrm>
          <a:prstGeom prst="rect">
            <a:avLst/>
          </a:prstGeom>
        </p:spPr>
      </p:pic>
      <p:sp>
        <p:nvSpPr>
          <p:cNvPr id="225"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3"/>
          <a:stretch/>
        </p:blipFill>
        <p:spPr>
          <a:xfrm>
            <a:off x="7810564" y="75961"/>
            <a:ext cx="304559" cy="304559"/>
          </a:xfrm>
          <a:prstGeom prst="rect">
            <a:avLst/>
          </a:prstGeom>
        </p:spPr>
      </p:pic>
      <p:pic>
        <p:nvPicPr>
          <p:cNvPr id="227" name="ANUARIO_BARRA_CRT"/>
          <p:cNvPicPr>
            <a:picLocks noChangeAspect="1"/>
          </p:cNvPicPr>
          <p:nvPr/>
        </p:nvPicPr>
        <p:blipFill>
          <a:blip r:embed="rId4"/>
          <a:stretch/>
        </p:blipFill>
        <p:spPr>
          <a:xfrm>
            <a:off x="8294782" y="75961"/>
            <a:ext cx="542115" cy="304559"/>
          </a:xfrm>
          <a:prstGeom prst="rect">
            <a:avLst/>
          </a:prstGeom>
        </p:spPr>
      </p:pic>
      <p:sp>
        <p:nvSpPr>
          <p:cNvPr id="228" name="ANUARIO_BARRA_TITULO">
            <a:extLst>
              <a:ext uri="{FF2B5EF4-FFF2-40B4-BE49-F238E27FC236}">
                <a16:creationId xmlns:a16="http://schemas.microsoft.com/office/drawing/2014/main" id="{0936628E-1D72-4C14-AF7F-6AEAD61F4725}"/>
              </a:ext>
            </a:extLst>
          </p:cNvPr>
          <p:cNvSpPr>
            <a:spLocks noGrp="1"/>
          </p:cNvSpPr>
          <p:nvPr/>
        </p:nvSpPr>
        <p:spPr>
          <a:xfrm>
            <a:off x="304914" y="45720"/>
            <a:ext cx="5050000" cy="365760"/>
          </a:xfrm>
          <a:prstGeom prst="rect">
            <a:avLst/>
          </a:prstGeom>
          <a:noFill/>
          <a:ln w="0">
            <a:noFill/>
          </a:ln>
        </p:spPr>
        <p:txBody>
          <a:bodyPr wrap="none" lIns="0" tIns="0" rIns="0" bIns="0" anchor="t">
            <a:noAutofit/>
          </a:bodyPr>
          <a:lstStyle/>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ANEXO I. RESUMEN DE INDICADORES DE</a:t>
            </a:r>
          </a:p>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TELECOMUNICACIONES Y RADIODIFUSIÓN</a:t>
            </a:r>
          </a:p>
        </p:txBody>
      </p:sp>
      <p:sp>
        <p:nvSpPr>
          <p:cNvPr id="229"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graphicFrame>
        <p:nvGraphicFramePr>
          <p:cNvPr id="222" name="ANUARIO_ANEXO_I_COMPLETO_118"/>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3">
                  <a:txBody>
                    <a:bodyPr wrap="square"/>
                    <a:lstStyle/>
                    <a:p>
                      <a:pPr algn="ctr">
                        <a:spcBef>
                          <a:spcPts val="0"/>
                        </a:spcBef>
                        <a:spcAft>
                          <a:spcPts val="0"/>
                        </a:spcAft>
                      </a:pPr>
                      <a:r>
                        <a:rPr sz="535" b="1">
                          <a:solidFill>
                            <a:srgbClr val="FFFFFF"/>
                          </a:solidFill>
                          <a:latin typeface="Noto Sans"/>
                        </a:rPr>
                        <a:t>Personas usuarias de TIC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7">
                  <a:txBody>
                    <a:bodyPr wrap="square"/>
                    <a:lstStyle/>
                    <a:p>
                      <a:pPr algn="ctr">
                        <a:spcBef>
                          <a:spcPts val="0"/>
                        </a:spcBef>
                        <a:spcAft>
                          <a:spcPts val="0"/>
                        </a:spcAft>
                      </a:pPr>
                      <a:r>
                        <a:rPr sz="535" b="1">
                          <a:solidFill>
                            <a:srgbClr val="FFFFFF"/>
                          </a:solidFill>
                          <a:latin typeface="Noto Sans"/>
                        </a:rPr>
                        <a:t>Servicios fijos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4">
                  <a:txBody>
                    <a:bodyPr wrap="square"/>
                    <a:lstStyle/>
                    <a:p>
                      <a:pPr algn="ctr">
                        <a:spcBef>
                          <a:spcPts val="0"/>
                        </a:spcBef>
                        <a:spcAft>
                          <a:spcPts val="0"/>
                        </a:spcAft>
                      </a:pPr>
                      <a:r>
                        <a:rPr sz="535" b="1">
                          <a:solidFill>
                            <a:srgbClr val="FFFFFF"/>
                          </a:solidFill>
                          <a:latin typeface="Noto Sans"/>
                        </a:rPr>
                        <a:t>Internet residencial por tecnología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Computadora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Smartphone</a:t>
                      </a:r>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Telefonía fija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Internet fijo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TV restringida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pública · histórico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Cable</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DSL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Fibra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Otras</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Líneas/1,000 hab.</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97,012,089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44,517,175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93,078,887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23.3%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66.3%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1,157,961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548,700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1,098,116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3,231,512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1,681,391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3,076,436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725,869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357,511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694,310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728,809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310,650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670,349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2,541,922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1,227,608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2,468,843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591,261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573,543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3,050,081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1,063,441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2,984,937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3,017,196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1,537,820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2,925,943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7,897,062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4,932,018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7,683,977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1,465,379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659,546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1,359,467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4,537,208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1,771,593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4,468,371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2,375,775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750,243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2,296,347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2,383,401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1,121,924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2,281,080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7,118,480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3,058,287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6,873,401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13,313,595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6,649,874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12,778,594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3,593,108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1,397,722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3,372,485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1,452,792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660,311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1,450,435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984,051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393,689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913,505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4,940,052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2,504,158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4,750,428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2,768,713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1,059,494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2,631,930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4,463,188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1,897,290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4,212,047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1,940,531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1,005,381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1,895,974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1,625,497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730,663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1,516,352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2,100,427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871,639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1,973,240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2,438,881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1,073,046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2,306,023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2,412,875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1,209,791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2,299,709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1,768,418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673,165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1,672,795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2,864,326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1,288,792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2,760,457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1,062,190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959,019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5,425,337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2,041,370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5,297,337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1,847,162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793,599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1,739,216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1,189,030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445,006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1,094,221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bl>
          </a:graphicData>
        </a:graphic>
      </p:graphicFrame>
      <p:sp>
        <p:nvSpPr>
          <p:cNvPr id="223" name="ANUARIO_ANEXO_I_FUENTE_118"/>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con denominadores ENDUTIH 2025 y DENUE en columnas de servicios (figs. B.6, B.7, B.13, B.14, B.21 y B.22). Demás columnas: Anuario 2024. —: tasa nacional no recalculada.</a:t>
            </a:r>
          </a:p>
        </p:txBody>
      </p:sp>
      <p:pic>
        <p:nvPicPr>
          <p:cNvPr id="224" name="ANUARIO_BARRA_FONDO"/>
          <p:cNvPicPr>
            <a:picLocks noChangeAspect="1"/>
          </p:cNvPicPr>
          <p:nvPr/>
        </p:nvPicPr>
        <p:blipFill>
          <a:blip r:embed="rId2"/>
          <a:stretch/>
        </p:blipFill>
        <p:spPr>
          <a:xfrm>
            <a:off x="3378" y="0"/>
            <a:ext cx="9136888" cy="456844"/>
          </a:xfrm>
          <a:prstGeom prst="rect">
            <a:avLst/>
          </a:prstGeom>
        </p:spPr>
      </p:pic>
      <p:sp>
        <p:nvSpPr>
          <p:cNvPr id="225"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3"/>
          <a:stretch/>
        </p:blipFill>
        <p:spPr>
          <a:xfrm>
            <a:off x="7810564" y="75961"/>
            <a:ext cx="304559" cy="304559"/>
          </a:xfrm>
          <a:prstGeom prst="rect">
            <a:avLst/>
          </a:prstGeom>
        </p:spPr>
      </p:pic>
      <p:pic>
        <p:nvPicPr>
          <p:cNvPr id="227" name="ANUARIO_BARRA_CRT"/>
          <p:cNvPicPr>
            <a:picLocks noChangeAspect="1"/>
          </p:cNvPicPr>
          <p:nvPr/>
        </p:nvPicPr>
        <p:blipFill>
          <a:blip r:embed="rId4"/>
          <a:stretch/>
        </p:blipFill>
        <p:spPr>
          <a:xfrm>
            <a:off x="8294782" y="75961"/>
            <a:ext cx="542115" cy="304559"/>
          </a:xfrm>
          <a:prstGeom prst="rect">
            <a:avLst/>
          </a:prstGeom>
        </p:spPr>
      </p:pic>
      <p:sp>
        <p:nvSpPr>
          <p:cNvPr id="228" name="ANUARIO_BARRA_TITULO">
            <a:extLst>
              <a:ext uri="{FF2B5EF4-FFF2-40B4-BE49-F238E27FC236}">
                <a16:creationId xmlns:a16="http://schemas.microsoft.com/office/drawing/2014/main" id="{0936628E-1D72-4C14-AF7F-6AEAD61F4725}"/>
              </a:ext>
            </a:extLst>
          </p:cNvPr>
          <p:cNvSpPr>
            <a:spLocks noGrp="1"/>
          </p:cNvSpPr>
          <p:nvPr/>
        </p:nvSpPr>
        <p:spPr>
          <a:xfrm>
            <a:off x="304914" y="45720"/>
            <a:ext cx="5050000" cy="365760"/>
          </a:xfrm>
          <a:prstGeom prst="rect">
            <a:avLst/>
          </a:prstGeom>
          <a:noFill/>
          <a:ln w="0">
            <a:noFill/>
          </a:ln>
        </p:spPr>
        <p:txBody>
          <a:bodyPr wrap="none" lIns="0" tIns="0" rIns="0" bIns="0" anchor="t">
            <a:noAutofit/>
          </a:bodyPr>
          <a:lstStyle/>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ANEXO I. RESUMEN DE INDICADORES DE</a:t>
            </a:r>
          </a:p>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TELECOMUNICACIONES Y RADIODIFUSIÓN</a:t>
            </a:r>
          </a:p>
        </p:txBody>
      </p:sp>
      <p:sp>
        <p:nvSpPr>
          <p:cNvPr id="229"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graphicFrame>
        <p:nvGraphicFramePr>
          <p:cNvPr id="222" name="ANUARIO_ANEXO_I_COMPLETO_119"/>
          <p:cNvGraphicFramePr>
            <a:graphicFrameLocks noGrp="1"/>
          </p:cNvGraphicFramePr>
          <p:nvPr/>
        </p:nvGraphicFramePr>
        <p:xfrm>
          <a:off x="310896" y="795528"/>
          <a:ext cx="8522196" cy="3685005"/>
        </p:xfrm>
        <a:graphic>
          <a:graphicData uri="http://schemas.openxmlformats.org/drawingml/2006/table">
            <a:tbl>
              <a:tblPr>
                <a:tableStyleId>{5C22544A-7EE6-4342-B048-85BDC9FD1C3A}</a:tableStyleId>
              </a:tblPr>
              <a:tblGrid>
                <a:gridCol w="950976"/>
                <a:gridCol w="504748"/>
                <a:gridCol w="504748"/>
                <a:gridCol w="504748"/>
                <a:gridCol w="504748"/>
                <a:gridCol w="504748"/>
                <a:gridCol w="504748"/>
                <a:gridCol w="504748"/>
                <a:gridCol w="504748"/>
                <a:gridCol w="504748"/>
                <a:gridCol w="504748"/>
                <a:gridCol w="504748"/>
                <a:gridCol w="504748"/>
                <a:gridCol w="504748"/>
                <a:gridCol w="504748"/>
                <a:gridCol w="504748"/>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3">
                  <a:txBody>
                    <a:bodyPr wrap="square"/>
                    <a:lstStyle/>
                    <a:p>
                      <a:pPr algn="ctr">
                        <a:spcBef>
                          <a:spcPts val="0"/>
                        </a:spcBef>
                        <a:spcAft>
                          <a:spcPts val="0"/>
                        </a:spcAft>
                      </a:pPr>
                      <a:r>
                        <a:rPr sz="535" b="1">
                          <a:solidFill>
                            <a:srgbClr val="FFFFFF"/>
                          </a:solidFill>
                          <a:latin typeface="Noto Sans"/>
                        </a:rPr>
                        <a:t>Telecomunicaciones fijas · datos históricos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Telecomunicaciones móviles · actualizado</a:t>
                      </a:r>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Internet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Servicios fijos en 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móvil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 móvil</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DSL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Fibra</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Dos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76.6%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35.1%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11.0%</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13.4%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25.4%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33.8%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FFFFF"/>
                    </a:solidFill>
                  </a:tcPr>
                </a:tc>
              </a:tr>
            </a:tbl>
          </a:graphicData>
        </a:graphic>
      </p:graphicFrame>
      <p:sp>
        <p:nvSpPr>
          <p:cNvPr id="223" name="ANUARIO_ANEXO_I_FUENTE_119"/>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y denominador de las figuras C.7 y C.13 en las dos columnas móviles. Demás columnas: Anuario 2024. —: tasa nacional no recalculada.</a:t>
            </a:r>
          </a:p>
        </p:txBody>
      </p:sp>
      <p:pic>
        <p:nvPicPr>
          <p:cNvPr id="224" name="ANUARIO_BARRA_FONDO"/>
          <p:cNvPicPr>
            <a:picLocks noChangeAspect="1"/>
          </p:cNvPicPr>
          <p:nvPr/>
        </p:nvPicPr>
        <p:blipFill>
          <a:blip r:embed="rId2"/>
          <a:stretch/>
        </p:blipFill>
        <p:spPr>
          <a:xfrm>
            <a:off x="3378" y="0"/>
            <a:ext cx="9136888" cy="456844"/>
          </a:xfrm>
          <a:prstGeom prst="rect">
            <a:avLst/>
          </a:prstGeom>
        </p:spPr>
      </p:pic>
      <p:sp>
        <p:nvSpPr>
          <p:cNvPr id="225"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3"/>
          <a:stretch/>
        </p:blipFill>
        <p:spPr>
          <a:xfrm>
            <a:off x="7810564" y="75961"/>
            <a:ext cx="304559" cy="304559"/>
          </a:xfrm>
          <a:prstGeom prst="rect">
            <a:avLst/>
          </a:prstGeom>
        </p:spPr>
      </p:pic>
      <p:pic>
        <p:nvPicPr>
          <p:cNvPr id="227" name="ANUARIO_BARRA_CRT"/>
          <p:cNvPicPr>
            <a:picLocks noChangeAspect="1"/>
          </p:cNvPicPr>
          <p:nvPr/>
        </p:nvPicPr>
        <p:blipFill>
          <a:blip r:embed="rId4"/>
          <a:stretch/>
        </p:blipFill>
        <p:spPr>
          <a:xfrm>
            <a:off x="8294782" y="75961"/>
            <a:ext cx="542115" cy="304559"/>
          </a:xfrm>
          <a:prstGeom prst="rect">
            <a:avLst/>
          </a:prstGeom>
        </p:spPr>
      </p:pic>
      <p:sp>
        <p:nvSpPr>
          <p:cNvPr id="228" name="ANUARIO_BARRA_TITULO">
            <a:extLst>
              <a:ext uri="{FF2B5EF4-FFF2-40B4-BE49-F238E27FC236}">
                <a16:creationId xmlns:a16="http://schemas.microsoft.com/office/drawing/2014/main" id="{0936628E-1D72-4C14-AF7F-6AEAD61F4725}"/>
              </a:ext>
            </a:extLst>
          </p:cNvPr>
          <p:cNvSpPr>
            <a:spLocks noGrp="1"/>
          </p:cNvSpPr>
          <p:nvPr/>
        </p:nvSpPr>
        <p:spPr>
          <a:xfrm>
            <a:off x="304914" y="45720"/>
            <a:ext cx="5050000" cy="365760"/>
          </a:xfrm>
          <a:prstGeom prst="rect">
            <a:avLst/>
          </a:prstGeom>
          <a:noFill/>
          <a:ln w="0">
            <a:noFill/>
          </a:ln>
        </p:spPr>
        <p:txBody>
          <a:bodyPr wrap="none" lIns="0" tIns="0" rIns="0" bIns="0" anchor="t">
            <a:noAutofit/>
          </a:bodyPr>
          <a:lstStyle/>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ANEXO I. RESUMEN DE INDICADORES DE</a:t>
            </a:r>
          </a:p>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TELECOMUNICACIONES Y RADIODIFUSIÓN</a:t>
            </a:r>
          </a:p>
        </p:txBody>
      </p:sp>
      <p:sp>
        <p:nvSpPr>
          <p:cNvPr id="229"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graphicFrame>
        <p:nvGraphicFramePr>
          <p:cNvPr id="222" name="ANUARIO_ANEXO_I_COMPLETO_120"/>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4">
                  <a:txBody>
                    <a:bodyPr wrap="square"/>
                    <a:lstStyle/>
                    <a:p>
                      <a:pPr algn="ctr">
                        <a:spcBef>
                          <a:spcPts val="0"/>
                        </a:spcBef>
                        <a:spcAft>
                          <a:spcPts val="0"/>
                        </a:spcAft>
                      </a:pPr>
                      <a:r>
                        <a:rPr sz="535" b="1">
                          <a:solidFill>
                            <a:srgbClr val="FFFFFF"/>
                          </a:solidFill>
                          <a:latin typeface="Noto Sans"/>
                        </a:rPr>
                        <a:t>Concesiones de radiodifusión · cuadro histórico del Anuario 2024</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AM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FM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Televisión digital terrestre</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1171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597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bl>
          </a:graphicData>
        </a:graphic>
      </p:graphicFrame>
      <p:sp>
        <p:nvSpPr>
          <p:cNvPr id="223" name="ANUARIO_ANEXO_I_FUENTE_120"/>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de concesiones; no se presenta como dato de 2026.</a:t>
            </a:r>
          </a:p>
        </p:txBody>
      </p:sp>
      <p:pic>
        <p:nvPicPr>
          <p:cNvPr id="224" name="ANUARIO_BARRA_FONDO"/>
          <p:cNvPicPr>
            <a:picLocks noChangeAspect="1"/>
          </p:cNvPicPr>
          <p:nvPr/>
        </p:nvPicPr>
        <p:blipFill>
          <a:blip r:embed="rId2"/>
          <a:stretch/>
        </p:blipFill>
        <p:spPr>
          <a:xfrm>
            <a:off x="3378" y="0"/>
            <a:ext cx="9136888" cy="456844"/>
          </a:xfrm>
          <a:prstGeom prst="rect">
            <a:avLst/>
          </a:prstGeom>
        </p:spPr>
      </p:pic>
      <p:sp>
        <p:nvSpPr>
          <p:cNvPr id="225"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3"/>
          <a:stretch/>
        </p:blipFill>
        <p:spPr>
          <a:xfrm>
            <a:off x="7810564" y="75961"/>
            <a:ext cx="304559" cy="304559"/>
          </a:xfrm>
          <a:prstGeom prst="rect">
            <a:avLst/>
          </a:prstGeom>
        </p:spPr>
      </p:pic>
      <p:pic>
        <p:nvPicPr>
          <p:cNvPr id="227" name="ANUARIO_BARRA_CRT"/>
          <p:cNvPicPr>
            <a:picLocks noChangeAspect="1"/>
          </p:cNvPicPr>
          <p:nvPr/>
        </p:nvPicPr>
        <p:blipFill>
          <a:blip r:embed="rId4"/>
          <a:stretch/>
        </p:blipFill>
        <p:spPr>
          <a:xfrm>
            <a:off x="8294782" y="75961"/>
            <a:ext cx="542115" cy="304559"/>
          </a:xfrm>
          <a:prstGeom prst="rect">
            <a:avLst/>
          </a:prstGeom>
        </p:spPr>
      </p:pic>
      <p:sp>
        <p:nvSpPr>
          <p:cNvPr id="228" name="ANUARIO_BARRA_TITULO">
            <a:extLst>
              <a:ext uri="{FF2B5EF4-FFF2-40B4-BE49-F238E27FC236}">
                <a16:creationId xmlns:a16="http://schemas.microsoft.com/office/drawing/2014/main" id="{0936628E-1D72-4C14-AF7F-6AEAD61F4725}"/>
              </a:ext>
            </a:extLst>
          </p:cNvPr>
          <p:cNvSpPr>
            <a:spLocks noGrp="1"/>
          </p:cNvSpPr>
          <p:nvPr/>
        </p:nvSpPr>
        <p:spPr>
          <a:xfrm>
            <a:off x="304914" y="45720"/>
            <a:ext cx="5050000" cy="365760"/>
          </a:xfrm>
          <a:prstGeom prst="rect">
            <a:avLst/>
          </a:prstGeom>
          <a:noFill/>
          <a:ln w="0">
            <a:noFill/>
          </a:ln>
        </p:spPr>
        <p:txBody>
          <a:bodyPr wrap="none" lIns="0" tIns="0" rIns="0" bIns="0" anchor="t">
            <a:noAutofit/>
          </a:bodyPr>
          <a:lstStyle/>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ANEXO I. RESUMEN DE INDICADORES DE</a:t>
            </a:r>
          </a:p>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TELECOMUNICACIONES Y RADIODIFUSIÓN</a:t>
            </a:r>
          </a:p>
        </p:txBody>
      </p:sp>
      <p:sp>
        <p:nvSpPr>
          <p:cNvPr id="229"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7" name="Shape 5"/>
          <p:cNvSpPr/>
          <p:nvPr/>
        </p:nvSpPr>
        <p:spPr>
          <a:xfrm>
            <a:off x="301752" y="621792"/>
            <a:ext cx="4178808" cy="1115568"/>
          </a:xfrm>
          <a:prstGeom prst="roundRect">
            <a:avLst>
              <a:gd name="adj" fmla="val 4918"/>
            </a:avLst>
          </a:prstGeom>
          <a:solidFill>
            <a:srgbClr val="F6FAF9"/>
          </a:solidFill>
          <a:ln w="9525">
            <a:solidFill>
              <a:srgbClr val="C9DAD6"/>
            </a:solidFill>
            <a:prstDash val="solid"/>
          </a:ln>
        </p:spPr>
      </p:sp>
      <p:sp>
        <p:nvSpPr>
          <p:cNvPr id="8" name="Shape 6"/>
          <p:cNvSpPr/>
          <p:nvPr/>
        </p:nvSpPr>
        <p:spPr>
          <a:xfrm>
            <a:off x="301752" y="694944"/>
            <a:ext cx="64008" cy="969264"/>
          </a:xfrm>
          <a:prstGeom prst="rect">
            <a:avLst/>
          </a:prstGeom>
          <a:solidFill>
            <a:srgbClr val="2F7F6F"/>
          </a:solidFill>
          <a:ln w="12700">
            <a:solidFill>
              <a:srgbClr val="2F7F6F"/>
            </a:solidFill>
            <a:prstDash val="solid"/>
          </a:ln>
        </p:spPr>
      </p:sp>
      <p:sp>
        <p:nvSpPr>
          <p:cNvPr id="9" name="Shape 7"/>
          <p:cNvSpPr/>
          <p:nvPr/>
        </p:nvSpPr>
        <p:spPr>
          <a:xfrm>
            <a:off x="484632" y="713232"/>
            <a:ext cx="237744" cy="237744"/>
          </a:xfrm>
          <a:prstGeom prst="roundRect">
            <a:avLst>
              <a:gd name="adj" fmla="val 19231"/>
            </a:avLst>
          </a:prstGeom>
          <a:solidFill>
            <a:srgbClr val="1A4043"/>
          </a:solidFill>
          <a:ln w="12700">
            <a:solidFill>
              <a:srgbClr val="1A4043"/>
            </a:solidFill>
            <a:prstDash val="solid"/>
          </a:ln>
        </p:spPr>
      </p:sp>
      <p:sp>
        <p:nvSpPr>
          <p:cNvPr id="10" name="Text 8"/>
          <p:cNvSpPr txBox="1"/>
          <p:nvPr/>
        </p:nvSpPr>
        <p:spPr>
          <a:xfrm>
            <a:off x="484632"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A</a:t>
            </a:r>
            <a:endParaRPr lang="en-US" sz="1000" dirty="0"/>
          </a:p>
        </p:txBody>
      </p:sp>
      <p:sp>
        <p:nvSpPr>
          <p:cNvPr id="11" name="Text 9"/>
          <p:cNvSpPr txBox="1"/>
          <p:nvPr/>
        </p:nvSpPr>
        <p:spPr>
          <a:xfrm>
            <a:off x="484632" y="1005840"/>
            <a:ext cx="3813048" cy="658368"/>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Acceso: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El conjunto de canales físicos de una Red Pública de Telecomunicaciones, que conecta el Equipo Terminal en la ubicación del usuario con la instalación del Operador desde la cual se presta el servicio al usuario. En el caso de Redes de Acceso Fijo alámbrico se le suele llamar históricamente bucle local, y en Servicios de Transporte de Voz se le conoce como línea.</a:t>
            </a:r>
            <a:endParaRPr lang="en-US" sz="730" dirty="0"/>
          </a:p>
        </p:txBody>
      </p:sp>
      <p:sp>
        <p:nvSpPr>
          <p:cNvPr id="12" name="Shape 10"/>
          <p:cNvSpPr/>
          <p:nvPr/>
        </p:nvSpPr>
        <p:spPr>
          <a:xfrm>
            <a:off x="301752" y="1828800"/>
            <a:ext cx="4178808" cy="2633472"/>
          </a:xfrm>
          <a:prstGeom prst="roundRect">
            <a:avLst>
              <a:gd name="adj" fmla="val 2083"/>
            </a:avLst>
          </a:prstGeom>
          <a:solidFill>
            <a:srgbClr val="F6FAF9"/>
          </a:solidFill>
          <a:ln w="9525">
            <a:solidFill>
              <a:srgbClr val="C9DAD6"/>
            </a:solidFill>
            <a:prstDash val="solid"/>
          </a:ln>
        </p:spPr>
      </p:sp>
      <p:sp>
        <p:nvSpPr>
          <p:cNvPr id="13" name="Shape 11"/>
          <p:cNvSpPr/>
          <p:nvPr/>
        </p:nvSpPr>
        <p:spPr>
          <a:xfrm>
            <a:off x="301752" y="1901952"/>
            <a:ext cx="64008" cy="2487168"/>
          </a:xfrm>
          <a:prstGeom prst="rect">
            <a:avLst/>
          </a:prstGeom>
          <a:solidFill>
            <a:srgbClr val="2F7F6F"/>
          </a:solidFill>
          <a:ln w="12700">
            <a:solidFill>
              <a:srgbClr val="2F7F6F"/>
            </a:solidFill>
            <a:prstDash val="solid"/>
          </a:ln>
        </p:spPr>
      </p:sp>
      <p:sp>
        <p:nvSpPr>
          <p:cNvPr id="14" name="Shape 12"/>
          <p:cNvSpPr/>
          <p:nvPr/>
        </p:nvSpPr>
        <p:spPr>
          <a:xfrm>
            <a:off x="484632" y="1920240"/>
            <a:ext cx="237744" cy="237744"/>
          </a:xfrm>
          <a:prstGeom prst="roundRect">
            <a:avLst>
              <a:gd name="adj" fmla="val 19231"/>
            </a:avLst>
          </a:prstGeom>
          <a:solidFill>
            <a:srgbClr val="1A4043"/>
          </a:solidFill>
          <a:ln w="12700">
            <a:solidFill>
              <a:srgbClr val="1A4043"/>
            </a:solidFill>
            <a:prstDash val="solid"/>
          </a:ln>
        </p:spPr>
      </p:sp>
      <p:sp>
        <p:nvSpPr>
          <p:cNvPr id="15" name="Text 13"/>
          <p:cNvSpPr txBox="1"/>
          <p:nvPr/>
        </p:nvSpPr>
        <p:spPr>
          <a:xfrm>
            <a:off x="484632" y="19202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C</a:t>
            </a:r>
            <a:endParaRPr lang="en-US" sz="1000" dirty="0"/>
          </a:p>
        </p:txBody>
      </p:sp>
      <p:sp>
        <p:nvSpPr>
          <p:cNvPr id="16" name="Text 14"/>
          <p:cNvSpPr txBox="1"/>
          <p:nvPr/>
        </p:nvSpPr>
        <p:spPr>
          <a:xfrm>
            <a:off x="484632" y="2212848"/>
            <a:ext cx="3813048" cy="2176272"/>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Caricaturas: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Son todos los programas que están hechos con alguna de las siguientes técnicas: dibujos animados, plastilina, arcilla (stop motion), animación vectorial y de tercera dimensión. No deben considerarse dentro de este género los cortometrajes animados.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Cómico: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 cuyo contenido está enfocado al esparcimiento de la audiencia, al manejar cuadros cómicos, chistes, cuentos y cualquier otro elemento que intente provocar la risa.</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Concurso: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Formato de programa en el que los participantes realizan una serie de actividades en busca de superar a sus rivales. Un concurso puede hacer competir tanto a individuos, como a grupos y/o instituciones privadas o públicas, y pueden o no obtenerse premios.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Cultural: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Programación que presenta las formas y expresiones de una sociedad. Su contenido es referente a los siguientes temas artísticos: arquitectura, danza, escultura, literatura, ópera, pintura, teatro, museos, exposiciones; sociales: académicos, científicos, históricos, gastronómicos, etnográficos, ciencias naturales; y simbólicos: biografías, entrevista de semblanza a personajes involucrados en la cultura, happenings.</a:t>
            </a:r>
            <a:endParaRPr lang="en-US" sz="730" dirty="0"/>
          </a:p>
        </p:txBody>
      </p:sp>
      <p:sp>
        <p:nvSpPr>
          <p:cNvPr id="17" name="Shape 15"/>
          <p:cNvSpPr/>
          <p:nvPr/>
        </p:nvSpPr>
        <p:spPr>
          <a:xfrm>
            <a:off x="4663440" y="621792"/>
            <a:ext cx="4178808" cy="3840480"/>
          </a:xfrm>
          <a:prstGeom prst="roundRect">
            <a:avLst>
              <a:gd name="adj" fmla="val 1429"/>
            </a:avLst>
          </a:prstGeom>
          <a:solidFill>
            <a:srgbClr val="F6FAF9"/>
          </a:solidFill>
          <a:ln w="9525">
            <a:solidFill>
              <a:srgbClr val="C9DAD6"/>
            </a:solidFill>
            <a:prstDash val="solid"/>
          </a:ln>
        </p:spPr>
      </p:sp>
      <p:sp>
        <p:nvSpPr>
          <p:cNvPr id="18" name="Shape 16"/>
          <p:cNvSpPr/>
          <p:nvPr/>
        </p:nvSpPr>
        <p:spPr>
          <a:xfrm>
            <a:off x="4663440" y="694944"/>
            <a:ext cx="64008" cy="3694176"/>
          </a:xfrm>
          <a:prstGeom prst="rect">
            <a:avLst/>
          </a:prstGeom>
          <a:solidFill>
            <a:srgbClr val="2F7F6F"/>
          </a:solidFill>
          <a:ln w="12700">
            <a:solidFill>
              <a:srgbClr val="2F7F6F"/>
            </a:solidFill>
            <a:prstDash val="solid"/>
          </a:ln>
        </p:spPr>
      </p:sp>
      <p:sp>
        <p:nvSpPr>
          <p:cNvPr id="19" name="Shape 17"/>
          <p:cNvSpPr/>
          <p:nvPr/>
        </p:nvSpPr>
        <p:spPr>
          <a:xfrm>
            <a:off x="4846320" y="713232"/>
            <a:ext cx="237744" cy="237744"/>
          </a:xfrm>
          <a:prstGeom prst="roundRect">
            <a:avLst>
              <a:gd name="adj" fmla="val 19231"/>
            </a:avLst>
          </a:prstGeom>
          <a:solidFill>
            <a:srgbClr val="1A4043"/>
          </a:solidFill>
          <a:ln w="12700">
            <a:solidFill>
              <a:srgbClr val="1A4043"/>
            </a:solidFill>
            <a:prstDash val="solid"/>
          </a:ln>
        </p:spPr>
      </p:sp>
      <p:sp>
        <p:nvSpPr>
          <p:cNvPr id="20" name="Text 18"/>
          <p:cNvSpPr txBox="1"/>
          <p:nvPr/>
        </p:nvSpPr>
        <p:spPr>
          <a:xfrm>
            <a:off x="4846320"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D</a:t>
            </a:r>
            <a:endParaRPr lang="en-US" sz="1000" dirty="0"/>
          </a:p>
        </p:txBody>
      </p:sp>
      <p:sp>
        <p:nvSpPr>
          <p:cNvPr id="21" name="Text 19"/>
          <p:cNvSpPr txBox="1"/>
          <p:nvPr/>
        </p:nvSpPr>
        <p:spPr>
          <a:xfrm>
            <a:off x="4846320" y="1005840"/>
            <a:ext cx="3813048" cy="3383280"/>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Debate: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Espacio argumentativo en el cual se emiten ideas antagónicas sobre un tema o temas específicos. Contempla un panel de especialistas y un moderador, quienes aportan puntos de vista desde su campo de conocimiento.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Decil de ingreso: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Los hogares pueden ser agrupados de acuerdo con los ingresos que perciben. Cuando se forman diez conjuntos del mismo tamaño, se les conoce como “deciles”, por lo que el primer decil está integrado por la décima parte de los hogares que tienen los menores ingresos, y así de manera sucesiva, hasta llegar al último decil, que está compuesto por la décima parte de los hogares con los ingresos más altos¹¹.</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Deportes: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Transmisión de eventos deportivos, cultura física o programas de resumen deportivo, así como resultados y/o comentarios relacionados con el deporte. En este género no se incluyen programas de reportaje que, en un capítulo en específico, aborden un tema deportivo.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Directorio Estadístico Nacional de Unidades Económicas (DENUE):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Herramienta interactiva del INEGI en la que se ofrecen los datos de identificación, ubicación, actividad económica y tamaño de los negocios activos en el territorio nacional, actualizados, fundamentalmente, en el segmento de los establecimientos grandes. Disponible en: https://www.inegi.org.mx/app/mapa/denue/default.aspx.</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Dramatizado Unitario: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Programas de ficción en los que cada capítulo constituye una unidad narrativa independiente. En su contenido se manifiestan situaciones conflictivas y/o trágicas, y cada episodio tiene inicio, desarrollo y final. En muy pocas ocasiones puede extenderse a más de una emisión.</a:t>
            </a:r>
            <a:endParaRPr lang="en-US" sz="730" dirty="0"/>
          </a:p>
        </p:txBody>
      </p:sp>
      <p:sp>
        <p:nvSpPr>
          <p:cNvPr id="22" name="Text 20"/>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11 </a:t>
            </a:r>
            <a:pPr indent="0" marL="0">
              <a:buNone/>
            </a:pPr>
            <a:r>
              <a:rPr lang="en-US" sz="520" dirty="0">
                <a:solidFill>
                  <a:srgbClr val="24383A"/>
                </a:solidFill>
                <a:latin typeface="DejaVu Sans" pitchFamily="34" charset="0"/>
                <a:ea typeface="DejaVu Sans" pitchFamily="34" charset="-122"/>
                <a:cs typeface="DejaVu Sans" pitchFamily="34" charset="-120"/>
              </a:rPr>
              <a:t>Definición publicada el 26 de julio de 2023 por el Instituto Nacional de Estadística y Geografía (INEGI), pág. 11., en el cual se dan a conocer los resultados de la Encuesta Nacional de Ingresos y Gastos de los Hogares (ENIGH) 2020. Disponible en: Encuesta Nacional de Ingresos y Gastos de los Hogares 2022. Presentación de resultados.</a:t>
            </a:r>
            <a:endParaRPr lang="en-US" sz="520" dirty="0"/>
          </a:p>
        </p:txBody>
      </p:sp>
      <p:sp>
        <p:nvSpPr>
          <p:cNvPr id="23" name="Shape 21"/>
          <p:cNvSpPr/>
          <p:nvPr/>
        </p:nvSpPr>
        <p:spPr>
          <a:xfrm>
            <a:off x="0" y="4937760"/>
            <a:ext cx="9144000" cy="205740"/>
          </a:xfrm>
          <a:prstGeom prst="rect">
            <a:avLst/>
          </a:prstGeom>
          <a:solidFill>
            <a:srgbClr val="1A4043"/>
          </a:solidFill>
          <a:ln w="12700">
            <a:solidFill>
              <a:srgbClr val="1A4043"/>
            </a:solidFill>
            <a:prstDash val="solid"/>
          </a:ln>
        </p:spPr>
      </p:sp>
      <p:sp>
        <p:nvSpPr>
          <p:cNvPr id="24" name="Text 22"/>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121</a:t>
            </a:r>
            <a:endParaRPr lang="en-US" sz="700" dirty="0"/>
          </a:p>
        </p:txBody>
      </p:sp>
      <p:sp>
        <p:nvSpPr>
          <p:cNvPr id="25" name="Text 23"/>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pic>
        <p:nvPicPr>
          <p:cNvPr id="26" name="ANUARIO_BARRA_FONDO"/>
          <p:cNvPicPr>
            <a:picLocks noChangeAspect="1"/>
          </p:cNvPicPr>
          <p:nvPr/>
        </p:nvPicPr>
        <p:blipFill>
          <a:blip r:embed="rId2"/>
          <a:stretch/>
        </p:blipFill>
        <p:spPr>
          <a:xfrm>
            <a:off x="3378" y="0"/>
            <a:ext cx="9136888" cy="456844"/>
          </a:xfrm>
          <a:prstGeom prst="rect">
            <a:avLst/>
          </a:prstGeom>
        </p:spPr>
      </p:pic>
      <p:sp>
        <p:nvSpPr>
          <p:cNvPr id="27"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8" name="ANUARIO_BARRA_QR"/>
          <p:cNvPicPr>
            <a:picLocks noChangeAspect="1"/>
          </p:cNvPicPr>
          <p:nvPr/>
        </p:nvPicPr>
        <p:blipFill>
          <a:blip r:embed="rId3"/>
          <a:stretch/>
        </p:blipFill>
        <p:spPr>
          <a:xfrm>
            <a:off x="7810564" y="75961"/>
            <a:ext cx="304559" cy="304559"/>
          </a:xfrm>
          <a:prstGeom prst="rect">
            <a:avLst/>
          </a:prstGeom>
        </p:spPr>
      </p:pic>
      <p:pic>
        <p:nvPicPr>
          <p:cNvPr id="29" name="ANUARIO_BARRA_CRT"/>
          <p:cNvPicPr>
            <a:picLocks noChangeAspect="1"/>
          </p:cNvPicPr>
          <p:nvPr/>
        </p:nvPicPr>
        <p:blipFill>
          <a:blip r:embed="rId4"/>
          <a:stretch/>
        </p:blipFill>
        <p:spPr>
          <a:xfrm>
            <a:off x="8294782" y="75961"/>
            <a:ext cx="542115" cy="304559"/>
          </a:xfrm>
          <a:prstGeom prst="rect">
            <a:avLst/>
          </a:prstGeom>
        </p:spPr>
      </p:pic>
      <p:sp>
        <p:nvSpPr>
          <p:cNvPr id="30"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31"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32" name="ANUARIO_BARRA_URL">
            <a:hlinkClick r:id="rId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1.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67478D00-C6D3-4921-B4BE-5F6A44862486}"/>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E4AD0882-B201-4115-9F53-DDF5A91B256C}"/>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121</a:t>
            </a:r>
          </a:p>
        </p:txBody>
      </p:sp>
      <p:sp>
        <p:nvSpPr>
          <p:cNvPr id="9" name="ANUARIO_EDICION">
            <a:extLst xmlns:a="http://schemas.openxmlformats.org/drawingml/2006/main">
              <a:ext uri="{FF2B5EF4-FFF2-40B4-BE49-F238E27FC236}">
                <a16:creationId xmlns:a16="http://schemas.microsoft.com/office/drawing/2014/main" id="{C44CD72B-8D17-4039-BDBA-89AB96AE4D37}"/>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2_DESIGN_2026">
            <a:extLst xmlns:a="http://schemas.openxmlformats.org/drawingml/2006/main">
              <a:ext uri="{FF2B5EF4-FFF2-40B4-BE49-F238E27FC236}">
                <a16:creationId xmlns:a16="http://schemas.microsoft.com/office/drawing/2014/main" id="{7C2682C7-7E65-45CA-A741-86178EE128CD}"/>
              </a:ext>
            </a:extLst>
          </p:cNvPr>
          <p:cNvSpPr>
            <a:spLocks xmlns:a="http://schemas.openxmlformats.org/drawingml/2006/main" noGrp="1"/>
          </p:cNvSpPr>
          <p:nvPr/>
        </p:nvSpPr>
        <p:spPr>
          <a:xfrm xmlns:a="http://schemas.openxmlformats.org/drawingml/2006/main">
            <a:off x="301752" y="566928"/>
            <a:ext cx="4178808" cy="2549316"/>
          </a:xfrm>
          <a:prstGeom xmlns:a="http://schemas.openxmlformats.org/drawingml/2006/main" prst="roundRect">
            <a:avLst>
              <a:gd name="adj" fmla="val 2152"/>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6432A3D0-66DA-4BD7-BCC7-6CF45147083C}"/>
              </a:ext>
            </a:extLst>
          </p:cNvPr>
          <p:cNvSpPr>
            <a:spLocks xmlns:a="http://schemas.openxmlformats.org/drawingml/2006/main" noGrp="1"/>
          </p:cNvSpPr>
          <p:nvPr/>
        </p:nvSpPr>
        <p:spPr>
          <a:xfrm xmlns:a="http://schemas.openxmlformats.org/drawingml/2006/main">
            <a:off x="301752" y="640080"/>
            <a:ext cx="64008" cy="240301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LETRA_FONDO">
            <a:extLst xmlns:a="http://schemas.openxmlformats.org/drawingml/2006/main">
              <a:ext uri="{FF2B5EF4-FFF2-40B4-BE49-F238E27FC236}">
                <a16:creationId xmlns:a16="http://schemas.microsoft.com/office/drawing/2014/main" id="{27D05E98-B7C6-41AD-82E4-F8D3603B021E}"/>
              </a:ext>
            </a:extLst>
          </p:cNvPr>
          <p:cNvSpPr>
            <a:spLocks xmlns:a="http://schemas.openxmlformats.org/drawingml/2006/main" noGrp="1"/>
          </p:cNvSpPr>
          <p:nvPr/>
        </p:nvSpPr>
        <p:spPr>
          <a:xfrm xmlns:a="http://schemas.openxmlformats.org/drawingml/2006/main">
            <a:off x="466344"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13" name="ANUARIO_LETRA">
            <a:extLst xmlns:a="http://schemas.openxmlformats.org/drawingml/2006/main">
              <a:ext uri="{FF2B5EF4-FFF2-40B4-BE49-F238E27FC236}">
                <a16:creationId xmlns:a16="http://schemas.microsoft.com/office/drawing/2014/main" id="{9B4BD0D6-00AD-441F-B6DB-619DA77AB6A3}"/>
              </a:ext>
            </a:extLst>
          </p:cNvPr>
          <p:cNvSpPr>
            <a:spLocks xmlns:a="http://schemas.openxmlformats.org/drawingml/2006/main" noGrp="1"/>
          </p:cNvSpPr>
          <p:nvPr/>
        </p:nvSpPr>
        <p:spPr>
          <a:xfrm xmlns:a="http://schemas.openxmlformats.org/drawingml/2006/main">
            <a:off x="466344"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a:t>
            </a:r>
          </a:p>
        </p:txBody>
      </p:sp>
      <p:sp>
        <p:nvSpPr>
          <p:cNvPr id="14" name="ANUARIO_CONTENIDO_0_0_0">
            <a:extLst xmlns:a="http://schemas.openxmlformats.org/drawingml/2006/main">
              <a:ext uri="{FF2B5EF4-FFF2-40B4-BE49-F238E27FC236}">
                <a16:creationId xmlns:a16="http://schemas.microsoft.com/office/drawing/2014/main" id="{AD5D5187-E3E4-44F8-B991-11C273EFD3EF}"/>
              </a:ext>
            </a:extLst>
          </p:cNvPr>
          <p:cNvSpPr>
            <a:spLocks xmlns:a="http://schemas.openxmlformats.org/drawingml/2006/main" noGrp="1"/>
          </p:cNvSpPr>
          <p:nvPr/>
        </p:nvSpPr>
        <p:spPr>
          <a:xfrm xmlns:a="http://schemas.openxmlformats.org/drawingml/2006/main">
            <a:off x="466344"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Encendidos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(tvr%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TRr%):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Porcentaje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encendida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p>
        </p:txBody>
      </p:sp>
      <p:sp>
        <p:nvSpPr>
          <p:cNvPr id="15" name="ANUARIO_CONTENIDO_0_0_1">
            <a:extLst xmlns:a="http://schemas.openxmlformats.org/drawingml/2006/main">
              <a:ext uri="{FF2B5EF4-FFF2-40B4-BE49-F238E27FC236}">
                <a16:creationId xmlns:a16="http://schemas.microsoft.com/office/drawing/2014/main" id="{791C9A0C-C33E-44CF-90CF-EB054240F96A}"/>
              </a:ext>
            </a:extLst>
          </p:cNvPr>
          <p:cNvSpPr>
            <a:spLocks xmlns:a="http://schemas.openxmlformats.org/drawingml/2006/main" noGrp="1"/>
          </p:cNvSpPr>
          <p:nvPr/>
        </p:nvSpPr>
        <p:spPr>
          <a:xfrm xmlns:a="http://schemas.openxmlformats.org/drawingml/2006/main">
            <a:off x="466344"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escucharon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momento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importar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canal.</a:t>
            </a:r>
          </a:p>
        </p:txBody>
      </p:sp>
      <p:sp>
        <p:nvSpPr>
          <p:cNvPr id="16" name="ANUARIO_CONTENIDO_0_0_2">
            <a:extLst xmlns:a="http://schemas.openxmlformats.org/drawingml/2006/main">
              <a:ext uri="{FF2B5EF4-FFF2-40B4-BE49-F238E27FC236}">
                <a16:creationId xmlns:a16="http://schemas.microsoft.com/office/drawing/2014/main" id="{9B0F2FBC-37ED-4D96-8FD4-6254DFA3FE46}"/>
              </a:ext>
            </a:extLst>
          </p:cNvPr>
          <p:cNvSpPr>
            <a:spLocks xmlns:a="http://schemas.openxmlformats.org/drawingml/2006/main" noGrp="1"/>
          </p:cNvSpPr>
          <p:nvPr/>
        </p:nvSpPr>
        <p:spPr>
          <a:xfrm xmlns:a="http://schemas.openxmlformats.org/drawingml/2006/main">
            <a:off x="466344" y="10881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Disponibilidad</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Uso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las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Tecnologías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Información</a:t>
            </a:r>
            <a:r>
              <a:rPr sz="650" b="1" i="0">
                <a:solidFill>
                  <a:srgbClr val="2F7F6F"/>
                </a:solidFill>
                <a:latin typeface="DejaVu Sans"/>
                <a:ea typeface="DejaVu Sans"/>
                <a:cs typeface="DejaVu Sans"/>
              </a:rPr>
              <a:t> </a:t>
            </a:r>
          </a:p>
        </p:txBody>
      </p:sp>
      <p:sp>
        <p:nvSpPr>
          <p:cNvPr id="17" name="ANUARIO_CONTENIDO_0_0_3">
            <a:extLst xmlns:a="http://schemas.openxmlformats.org/drawingml/2006/main">
              <a:ext uri="{FF2B5EF4-FFF2-40B4-BE49-F238E27FC236}">
                <a16:creationId xmlns:a16="http://schemas.microsoft.com/office/drawing/2014/main" id="{62371776-BE51-46F6-862D-E4E6D27E80FF}"/>
              </a:ext>
            </a:extLst>
          </p:cNvPr>
          <p:cNvSpPr>
            <a:spLocks xmlns:a="http://schemas.openxmlformats.org/drawingml/2006/main" noGrp="1"/>
          </p:cNvSpPr>
          <p:nvPr/>
        </p:nvSpPr>
        <p:spPr>
          <a:xfrm xmlns:a="http://schemas.openxmlformats.org/drawingml/2006/main">
            <a:off x="466344"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Hogares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(ENDUTIH):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p>
        </p:txBody>
      </p:sp>
      <p:sp>
        <p:nvSpPr>
          <p:cNvPr id="18" name="ANUARIO_CONTENIDO_0_0_4">
            <a:extLst xmlns:a="http://schemas.openxmlformats.org/drawingml/2006/main">
              <a:ext uri="{FF2B5EF4-FFF2-40B4-BE49-F238E27FC236}">
                <a16:creationId xmlns:a16="http://schemas.microsoft.com/office/drawing/2014/main" id="{E21F4527-B209-47C3-A3ED-CDC2D685666B}"/>
              </a:ext>
            </a:extLst>
          </p:cNvPr>
          <p:cNvSpPr>
            <a:spLocks xmlns:a="http://schemas.openxmlformats.org/drawingml/2006/main" noGrp="1"/>
          </p:cNvSpPr>
          <p:nvPr/>
        </p:nvSpPr>
        <p:spPr>
          <a:xfrm xmlns:a="http://schemas.openxmlformats.org/drawingml/2006/main">
            <a:off x="466344"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estadística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conocer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disponibilidad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Tecnologías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p>
        </p:txBody>
      </p:sp>
      <p:sp>
        <p:nvSpPr>
          <p:cNvPr id="19" name="ANUARIO_CONTENIDO_0_0_5">
            <a:extLst xmlns:a="http://schemas.openxmlformats.org/drawingml/2006/main">
              <a:ext uri="{FF2B5EF4-FFF2-40B4-BE49-F238E27FC236}">
                <a16:creationId xmlns:a16="http://schemas.microsoft.com/office/drawing/2014/main" id="{1941C591-2699-4674-8A47-4553610C54EB}"/>
              </a:ext>
            </a:extLst>
          </p:cNvPr>
          <p:cNvSpPr>
            <a:spLocks xmlns:a="http://schemas.openxmlformats.org/drawingml/2006/main" noGrp="1"/>
          </p:cNvSpPr>
          <p:nvPr/>
        </p:nvSpPr>
        <p:spPr>
          <a:xfrm xmlns:a="http://schemas.openxmlformats.org/drawingml/2006/main">
            <a:off x="466344"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individuos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seis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p>
        </p:txBody>
      </p:sp>
      <p:sp>
        <p:nvSpPr>
          <p:cNvPr id="20" name="ANUARIO_CONTENIDO_0_0_6">
            <a:extLst xmlns:a="http://schemas.openxmlformats.org/drawingml/2006/main">
              <a:ext uri="{FF2B5EF4-FFF2-40B4-BE49-F238E27FC236}">
                <a16:creationId xmlns:a16="http://schemas.microsoft.com/office/drawing/2014/main" id="{F46664C2-7D9E-4439-84A5-231865BE69FC}"/>
              </a:ext>
            </a:extLst>
          </p:cNvPr>
          <p:cNvSpPr>
            <a:spLocks xmlns:a="http://schemas.openxmlformats.org/drawingml/2006/main" noGrp="1"/>
          </p:cNvSpPr>
          <p:nvPr/>
        </p:nvSpPr>
        <p:spPr>
          <a:xfrm xmlns:a="http://schemas.openxmlformats.org/drawingml/2006/main">
            <a:off x="466344" y="14579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México.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https://www.inegi.org.mx/programas/</a:t>
            </a:r>
            <a:r>
              <a:rPr sz="650" b="0" i="0">
                <a:solidFill>
                  <a:srgbClr val="24383A"/>
                </a:solidFill>
                <a:latin typeface="DejaVu Sans"/>
                <a:ea typeface="DejaVu Sans"/>
                <a:cs typeface="DejaVu Sans"/>
              </a:rPr>
              <a:t>endutih/2025/</a:t>
            </a:r>
            <a:r>
              <a:rPr sz="650" b="0" i="0">
                <a:solidFill>
                  <a:srgbClr val="24383A"/>
                </a:solidFill>
                <a:latin typeface="DejaVu Sans"/>
                <a:ea typeface="DejaVu Sans"/>
                <a:cs typeface="DejaVu Sans"/>
              </a:rPr>
              <a:t>.</a:t>
            </a:r>
          </a:p>
        </p:txBody>
      </p:sp>
      <p:sp>
        <p:nvSpPr>
          <p:cNvPr id="21" name="ANUARIO_CONTENIDO_0_0_7">
            <a:extLst xmlns:a="http://schemas.openxmlformats.org/drawingml/2006/main">
              <a:ext uri="{FF2B5EF4-FFF2-40B4-BE49-F238E27FC236}">
                <a16:creationId xmlns:a16="http://schemas.microsoft.com/office/drawing/2014/main" id="{AEB53C02-3D6E-4D12-8588-660451F0D5B9}"/>
              </a:ext>
            </a:extLst>
          </p:cNvPr>
          <p:cNvSpPr>
            <a:spLocks xmlns:a="http://schemas.openxmlformats.org/drawingml/2006/main" noGrp="1"/>
          </p:cNvSpPr>
          <p:nvPr/>
        </p:nvSpPr>
        <p:spPr>
          <a:xfrm xmlns:a="http://schemas.openxmlformats.org/drawingml/2006/main">
            <a:off x="466344" y="15758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Ingresos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Gastos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Hogares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(ENIGH):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cuyo</a:t>
            </a:r>
            <a:r>
              <a:rPr sz="650" b="0" i="0">
                <a:solidFill>
                  <a:srgbClr val="24383A"/>
                </a:solidFill>
                <a:latin typeface="DejaVu Sans"/>
                <a:ea typeface="DejaVu Sans"/>
                <a:cs typeface="DejaVu Sans"/>
              </a:rPr>
              <a:t> </a:t>
            </a:r>
          </a:p>
        </p:txBody>
      </p:sp>
      <p:sp>
        <p:nvSpPr>
          <p:cNvPr id="22" name="ANUARIO_CONTENIDO_0_0_8">
            <a:extLst xmlns:a="http://schemas.openxmlformats.org/drawingml/2006/main">
              <a:ext uri="{FF2B5EF4-FFF2-40B4-BE49-F238E27FC236}">
                <a16:creationId xmlns:a16="http://schemas.microsoft.com/office/drawing/2014/main" id="{B795F4DD-4654-42EA-B5EB-A818683EA7DD}"/>
              </a:ext>
            </a:extLst>
          </p:cNvPr>
          <p:cNvSpPr>
            <a:spLocks xmlns:a="http://schemas.openxmlformats.org/drawingml/2006/main" noGrp="1"/>
          </p:cNvSpPr>
          <p:nvPr/>
        </p:nvSpPr>
        <p:spPr>
          <a:xfrm xmlns:a="http://schemas.openxmlformats.org/drawingml/2006/main">
            <a:off x="466344" y="16682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proporcionar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panorama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estadístico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comportamiento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23" name="ANUARIO_CONTENIDO_0_0_9">
            <a:extLst xmlns:a="http://schemas.openxmlformats.org/drawingml/2006/main">
              <a:ext uri="{FF2B5EF4-FFF2-40B4-BE49-F238E27FC236}">
                <a16:creationId xmlns:a16="http://schemas.microsoft.com/office/drawing/2014/main" id="{D54FBBFF-007C-4AEB-BFC5-5B50BAF45818}"/>
              </a:ext>
            </a:extLst>
          </p:cNvPr>
          <p:cNvSpPr>
            <a:spLocks xmlns:a="http://schemas.openxmlformats.org/drawingml/2006/main" noGrp="1"/>
          </p:cNvSpPr>
          <p:nvPr/>
        </p:nvSpPr>
        <p:spPr>
          <a:xfrm xmlns:a="http://schemas.openxmlformats.org/drawingml/2006/main">
            <a:off x="466344" y="17607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gastos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procedencia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distribución;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adicionalmente,</a:t>
            </a:r>
            <a:r>
              <a:rPr sz="650" b="0" i="0">
                <a:solidFill>
                  <a:srgbClr val="24383A"/>
                </a:solidFill>
                <a:latin typeface="DejaVu Sans"/>
                <a:ea typeface="DejaVu Sans"/>
                <a:cs typeface="DejaVu Sans"/>
              </a:rPr>
              <a:t> </a:t>
            </a:r>
          </a:p>
        </p:txBody>
      </p:sp>
      <p:sp>
        <p:nvSpPr>
          <p:cNvPr id="24" name="ANUARIO_CONTENIDO_0_0_10">
            <a:extLst xmlns:a="http://schemas.openxmlformats.org/drawingml/2006/main">
              <a:ext uri="{FF2B5EF4-FFF2-40B4-BE49-F238E27FC236}">
                <a16:creationId xmlns:a16="http://schemas.microsoft.com/office/drawing/2014/main" id="{79968642-7D06-4ECD-BC8B-2AF6B1071EBC}"/>
              </a:ext>
            </a:extLst>
          </p:cNvPr>
          <p:cNvSpPr>
            <a:spLocks xmlns:a="http://schemas.openxmlformats.org/drawingml/2006/main" noGrp="1"/>
          </p:cNvSpPr>
          <p:nvPr/>
        </p:nvSpPr>
        <p:spPr>
          <a:xfrm xmlns:a="http://schemas.openxmlformats.org/drawingml/2006/main">
            <a:off x="466344" y="18531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ofrece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ocupacionales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sociodemográficas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p>
        </p:txBody>
      </p:sp>
      <p:sp>
        <p:nvSpPr>
          <p:cNvPr id="25" name="ANUARIO_CONTENIDO_0_0_11">
            <a:extLst xmlns:a="http://schemas.openxmlformats.org/drawingml/2006/main">
              <a:ext uri="{FF2B5EF4-FFF2-40B4-BE49-F238E27FC236}">
                <a16:creationId xmlns:a16="http://schemas.microsoft.com/office/drawing/2014/main" id="{6B6FFB0F-2822-4432-89A5-24546031FC17}"/>
              </a:ext>
            </a:extLst>
          </p:cNvPr>
          <p:cNvSpPr>
            <a:spLocks xmlns:a="http://schemas.openxmlformats.org/drawingml/2006/main" noGrp="1"/>
          </p:cNvSpPr>
          <p:nvPr/>
        </p:nvSpPr>
        <p:spPr>
          <a:xfrm xmlns:a="http://schemas.openxmlformats.org/drawingml/2006/main">
            <a:off x="466344" y="19456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integrantes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así</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infraestructura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vivienda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26" name="ANUARIO_CONTENIDO_0_0_12">
            <a:extLst xmlns:a="http://schemas.openxmlformats.org/drawingml/2006/main">
              <a:ext uri="{FF2B5EF4-FFF2-40B4-BE49-F238E27FC236}">
                <a16:creationId xmlns:a16="http://schemas.microsoft.com/office/drawing/2014/main" id="{8D812A3E-651E-4762-BEA6-30CC55E3B10E}"/>
              </a:ext>
            </a:extLst>
          </p:cNvPr>
          <p:cNvSpPr>
            <a:spLocks xmlns:a="http://schemas.openxmlformats.org/drawingml/2006/main" noGrp="1"/>
          </p:cNvSpPr>
          <p:nvPr/>
        </p:nvSpPr>
        <p:spPr>
          <a:xfrm xmlns:a="http://schemas.openxmlformats.org/drawingml/2006/main">
            <a:off x="466344" y="20380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equipamiento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a:t>
            </a:r>
          </a:p>
        </p:txBody>
      </p:sp>
      <p:sp>
        <p:nvSpPr>
          <p:cNvPr id="27" name="ANUARIO_CONTENIDO_0_0_13">
            <a:extLst xmlns:a="http://schemas.openxmlformats.org/drawingml/2006/main">
              <a:ext uri="{FF2B5EF4-FFF2-40B4-BE49-F238E27FC236}">
                <a16:creationId xmlns:a16="http://schemas.microsoft.com/office/drawing/2014/main" id="{B1B6B940-89E4-4F28-B12D-FE0C0C11C9D4}"/>
              </a:ext>
            </a:extLst>
          </p:cNvPr>
          <p:cNvSpPr>
            <a:spLocks xmlns:a="http://schemas.openxmlformats.org/drawingml/2006/main" noGrp="1"/>
          </p:cNvSpPr>
          <p:nvPr/>
        </p:nvSpPr>
        <p:spPr>
          <a:xfrm xmlns:a="http://schemas.openxmlformats.org/drawingml/2006/main">
            <a:off x="466344" y="21305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www.inegi.org.mx/programas/enigh/nc/2024/</a:t>
            </a:r>
            <a:r>
              <a:rPr sz="650" b="0" i="0">
                <a:solidFill>
                  <a:srgbClr val="24383A"/>
                </a:solidFill>
                <a:latin typeface="DejaVu Sans"/>
                <a:ea typeface="DejaVu Sans"/>
                <a:cs typeface="DejaVu Sans"/>
              </a:rPr>
              <a:t>.</a:t>
            </a:r>
          </a:p>
        </p:txBody>
      </p:sp>
      <p:sp>
        <p:nvSpPr>
          <p:cNvPr id="28" name="ANUARIO_CONTENIDO_0_0_14">
            <a:extLst xmlns:a="http://schemas.openxmlformats.org/drawingml/2006/main">
              <a:ext uri="{FF2B5EF4-FFF2-40B4-BE49-F238E27FC236}">
                <a16:creationId xmlns:a16="http://schemas.microsoft.com/office/drawing/2014/main" id="{4FC0B02D-CE14-4985-A928-EFC73917C03E}"/>
              </a:ext>
            </a:extLst>
          </p:cNvPr>
          <p:cNvSpPr>
            <a:spLocks xmlns:a="http://schemas.openxmlformats.org/drawingml/2006/main" noGrp="1"/>
          </p:cNvSpPr>
          <p:nvPr/>
        </p:nvSpPr>
        <p:spPr>
          <a:xfrm xmlns:a="http://schemas.openxmlformats.org/drawingml/2006/main">
            <a:off x="466344" y="22484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Ocupación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Empleo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(ENOE):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29" name="ANUARIO_CONTENIDO_0_0_15">
            <a:extLst xmlns:a="http://schemas.openxmlformats.org/drawingml/2006/main">
              <a:ext uri="{FF2B5EF4-FFF2-40B4-BE49-F238E27FC236}">
                <a16:creationId xmlns:a16="http://schemas.microsoft.com/office/drawing/2014/main" id="{9866A27B-9380-49B2-BE91-255BA85AD571}"/>
              </a:ext>
            </a:extLst>
          </p:cNvPr>
          <p:cNvSpPr>
            <a:spLocks xmlns:a="http://schemas.openxmlformats.org/drawingml/2006/main" noGrp="1"/>
          </p:cNvSpPr>
          <p:nvPr/>
        </p:nvSpPr>
        <p:spPr>
          <a:xfrm xmlns:a="http://schemas.openxmlformats.org/drawingml/2006/main">
            <a:off x="466344" y="23408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proporcionar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laboral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mexicano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ofrecer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mensuales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30" name="ANUARIO_CONTENIDO_0_0_16">
            <a:extLst xmlns:a="http://schemas.openxmlformats.org/drawingml/2006/main">
              <a:ext uri="{FF2B5EF4-FFF2-40B4-BE49-F238E27FC236}">
                <a16:creationId xmlns:a16="http://schemas.microsoft.com/office/drawing/2014/main" id="{11DB692F-8B07-458A-8081-EFDD900D968E}"/>
              </a:ext>
            </a:extLst>
          </p:cNvPr>
          <p:cNvSpPr>
            <a:spLocks xmlns:a="http://schemas.openxmlformats.org/drawingml/2006/main" noGrp="1"/>
          </p:cNvSpPr>
          <p:nvPr/>
        </p:nvSpPr>
        <p:spPr>
          <a:xfrm xmlns:a="http://schemas.openxmlformats.org/drawingml/2006/main">
            <a:off x="466344" y="24333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trimestrales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fuerza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trabajo,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ocupación,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informalidad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laboral,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subocupación</a:t>
            </a:r>
            <a:r>
              <a:rPr sz="650" b="0" i="0">
                <a:solidFill>
                  <a:srgbClr val="24383A"/>
                </a:solidFill>
                <a:latin typeface="DejaVu Sans"/>
                <a:ea typeface="DejaVu Sans"/>
                <a:cs typeface="DejaVu Sans"/>
              </a:rPr>
              <a:t> </a:t>
            </a:r>
          </a:p>
        </p:txBody>
      </p:sp>
      <p:sp>
        <p:nvSpPr>
          <p:cNvPr id="31" name="ANUARIO_CONTENIDO_0_0_17">
            <a:extLst xmlns:a="http://schemas.openxmlformats.org/drawingml/2006/main">
              <a:ext uri="{FF2B5EF4-FFF2-40B4-BE49-F238E27FC236}">
                <a16:creationId xmlns:a16="http://schemas.microsoft.com/office/drawing/2014/main" id="{EF42B501-1DBF-4365-8B6A-61823333C4BF}"/>
              </a:ext>
            </a:extLst>
          </p:cNvPr>
          <p:cNvSpPr>
            <a:spLocks xmlns:a="http://schemas.openxmlformats.org/drawingml/2006/main" noGrp="1"/>
          </p:cNvSpPr>
          <p:nvPr/>
        </p:nvSpPr>
        <p:spPr>
          <a:xfrm xmlns:a="http://schemas.openxmlformats.org/drawingml/2006/main">
            <a:off x="466344" y="25257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desocupación.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https://www.inegi.org.mx/programas/enoe/15ymas/</a:t>
            </a:r>
            <a:r>
              <a:rPr sz="650" b="0" i="0">
                <a:solidFill>
                  <a:srgbClr val="24383A"/>
                </a:solidFill>
                <a:latin typeface="DejaVu Sans"/>
                <a:ea typeface="DejaVu Sans"/>
                <a:cs typeface="DejaVu Sans"/>
              </a:rPr>
              <a:t>.</a:t>
            </a:r>
            <a:r>
              <a:rPr sz="650" b="0" i="0">
                <a:solidFill>
                  <a:srgbClr val="24383A"/>
                </a:solidFill>
                <a:latin typeface="DejaVu Sans"/>
                <a:ea typeface="DejaVu Sans"/>
                <a:cs typeface="DejaVu Sans"/>
              </a:rPr>
              <a:t> </a:t>
            </a:r>
          </a:p>
        </p:txBody>
      </p:sp>
      <p:sp>
        <p:nvSpPr>
          <p:cNvPr id="32" name="ANUARIO_CONTENIDO_0_0_18">
            <a:extLst xmlns:a="http://schemas.openxmlformats.org/drawingml/2006/main">
              <a:ext uri="{FF2B5EF4-FFF2-40B4-BE49-F238E27FC236}">
                <a16:creationId xmlns:a16="http://schemas.microsoft.com/office/drawing/2014/main" id="{424A8096-1E1B-470A-8F82-C49DB8A4DC0F}"/>
              </a:ext>
            </a:extLst>
          </p:cNvPr>
          <p:cNvSpPr>
            <a:spLocks xmlns:a="http://schemas.openxmlformats.org/drawingml/2006/main" noGrp="1"/>
          </p:cNvSpPr>
          <p:nvPr/>
        </p:nvSpPr>
        <p:spPr>
          <a:xfrm xmlns:a="http://schemas.openxmlformats.org/drawingml/2006/main">
            <a:off x="466344" y="26436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Equipo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terminal: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Dispositivo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usuario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conectarse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Red</a:t>
            </a:r>
            <a:r>
              <a:rPr sz="650" b="0" i="0">
                <a:solidFill>
                  <a:srgbClr val="24383A"/>
                </a:solidFill>
                <a:latin typeface="DejaVu Sans"/>
                <a:ea typeface="DejaVu Sans"/>
                <a:cs typeface="DejaVu Sans"/>
              </a:rPr>
              <a:t> </a:t>
            </a:r>
          </a:p>
        </p:txBody>
      </p:sp>
      <p:sp>
        <p:nvSpPr>
          <p:cNvPr id="33" name="ANUARIO_CONTENIDO_0_0_19">
            <a:extLst xmlns:a="http://schemas.openxmlformats.org/drawingml/2006/main">
              <a:ext uri="{FF2B5EF4-FFF2-40B4-BE49-F238E27FC236}">
                <a16:creationId xmlns:a16="http://schemas.microsoft.com/office/drawing/2014/main" id="{6FC4B380-72B8-4281-B64C-EADE02F7E4FD}"/>
              </a:ext>
            </a:extLst>
          </p:cNvPr>
          <p:cNvSpPr>
            <a:spLocks xmlns:a="http://schemas.openxmlformats.org/drawingml/2006/main" noGrp="1"/>
          </p:cNvSpPr>
          <p:nvPr/>
        </p:nvSpPr>
        <p:spPr>
          <a:xfrm xmlns:a="http://schemas.openxmlformats.org/drawingml/2006/main">
            <a:off x="466344" y="273608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Pública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propósito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obtener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p>
        </p:txBody>
      </p:sp>
      <p:sp>
        <p:nvSpPr>
          <p:cNvPr id="34" name="ANUARIO_CONTENIDO_0_0_20">
            <a:extLst xmlns:a="http://schemas.openxmlformats.org/drawingml/2006/main">
              <a:ext uri="{FF2B5EF4-FFF2-40B4-BE49-F238E27FC236}">
                <a16:creationId xmlns:a16="http://schemas.microsoft.com/office/drawing/2014/main" id="{A3DFF438-1435-4B37-B58B-A232CE1E5AF2}"/>
              </a:ext>
            </a:extLst>
          </p:cNvPr>
          <p:cNvSpPr>
            <a:spLocks xmlns:a="http://schemas.openxmlformats.org/drawingml/2006/main" noGrp="1"/>
          </p:cNvSpPr>
          <p:nvPr/>
        </p:nvSpPr>
        <p:spPr>
          <a:xfrm xmlns:a="http://schemas.openxmlformats.org/drawingml/2006/main">
            <a:off x="466344" y="282854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p>
        </p:txBody>
      </p:sp>
      <p:sp>
        <p:nvSpPr>
          <p:cNvPr id="35" name="ANUARIO_ANEXO_P122_DESIGN_2026">
            <a:extLst xmlns:a="http://schemas.openxmlformats.org/drawingml/2006/main">
              <a:ext uri="{FF2B5EF4-FFF2-40B4-BE49-F238E27FC236}">
                <a16:creationId xmlns:a16="http://schemas.microsoft.com/office/drawing/2014/main" id="{993E622E-1C1B-42E9-B4C2-DCF53E450A4C}"/>
              </a:ext>
            </a:extLst>
          </p:cNvPr>
          <p:cNvSpPr>
            <a:spLocks xmlns:a="http://schemas.openxmlformats.org/drawingml/2006/main" noGrp="1"/>
          </p:cNvSpPr>
          <p:nvPr/>
        </p:nvSpPr>
        <p:spPr>
          <a:xfrm xmlns:a="http://schemas.openxmlformats.org/drawingml/2006/main">
            <a:off x="301752" y="3207684"/>
            <a:ext cx="4178808" cy="1254588"/>
          </a:xfrm>
          <a:prstGeom xmlns:a="http://schemas.openxmlformats.org/drawingml/2006/main" prst="roundRect">
            <a:avLst>
              <a:gd name="adj" fmla="val 4373"/>
            </a:avLst>
          </a:prstGeom>
          <a:solidFill xmlns:a="http://schemas.openxmlformats.org/drawingml/2006/main">
            <a:srgbClr val="F6FAF9"/>
          </a:solidFill>
          <a:ln xmlns:a="http://schemas.openxmlformats.org/drawingml/2006/main" w="9525">
            <a:solidFill>
              <a:srgbClr val="C9DAD6"/>
            </a:solidFill>
          </a:ln>
        </p:spPr>
      </p:sp>
      <p:sp>
        <p:nvSpPr>
          <p:cNvPr id="36" name="ANUARIO_ACENTO">
            <a:extLst xmlns:a="http://schemas.openxmlformats.org/drawingml/2006/main">
              <a:ext uri="{FF2B5EF4-FFF2-40B4-BE49-F238E27FC236}">
                <a16:creationId xmlns:a16="http://schemas.microsoft.com/office/drawing/2014/main" id="{0A1E6F72-C0AC-496F-BA08-51F74CAF087F}"/>
              </a:ext>
            </a:extLst>
          </p:cNvPr>
          <p:cNvSpPr>
            <a:spLocks xmlns:a="http://schemas.openxmlformats.org/drawingml/2006/main" noGrp="1"/>
          </p:cNvSpPr>
          <p:nvPr/>
        </p:nvSpPr>
        <p:spPr>
          <a:xfrm xmlns:a="http://schemas.openxmlformats.org/drawingml/2006/main">
            <a:off x="301752" y="3280836"/>
            <a:ext cx="64008" cy="110828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37" name="ANUARIO_LETRA_FONDO">
            <a:extLst xmlns:a="http://schemas.openxmlformats.org/drawingml/2006/main">
              <a:ext uri="{FF2B5EF4-FFF2-40B4-BE49-F238E27FC236}">
                <a16:creationId xmlns:a16="http://schemas.microsoft.com/office/drawing/2014/main" id="{AA6CEB90-E0B5-4BC8-B7C8-B2852A3888F5}"/>
              </a:ext>
            </a:extLst>
          </p:cNvPr>
          <p:cNvSpPr>
            <a:spLocks xmlns:a="http://schemas.openxmlformats.org/drawingml/2006/main" noGrp="1"/>
          </p:cNvSpPr>
          <p:nvPr/>
        </p:nvSpPr>
        <p:spPr>
          <a:xfrm xmlns:a="http://schemas.openxmlformats.org/drawingml/2006/main">
            <a:off x="466344" y="3280836"/>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38" name="ANUARIO_LETRA">
            <a:extLst xmlns:a="http://schemas.openxmlformats.org/drawingml/2006/main">
              <a:ext uri="{FF2B5EF4-FFF2-40B4-BE49-F238E27FC236}">
                <a16:creationId xmlns:a16="http://schemas.microsoft.com/office/drawing/2014/main" id="{FF9745E2-F069-4D59-B774-878B0CA18CF1}"/>
              </a:ext>
            </a:extLst>
          </p:cNvPr>
          <p:cNvSpPr>
            <a:spLocks xmlns:a="http://schemas.openxmlformats.org/drawingml/2006/main" noGrp="1"/>
          </p:cNvSpPr>
          <p:nvPr/>
        </p:nvSpPr>
        <p:spPr>
          <a:xfrm xmlns:a="http://schemas.openxmlformats.org/drawingml/2006/main">
            <a:off x="466344" y="3299124"/>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a:t>
            </a:r>
          </a:p>
        </p:txBody>
      </p:sp>
      <p:sp>
        <p:nvSpPr>
          <p:cNvPr id="39" name="ANUARIO_CONTENIDO_0_1_0">
            <a:extLst xmlns:a="http://schemas.openxmlformats.org/drawingml/2006/main">
              <a:ext uri="{FF2B5EF4-FFF2-40B4-BE49-F238E27FC236}">
                <a16:creationId xmlns:a16="http://schemas.microsoft.com/office/drawing/2014/main" id="{DBE4FE9E-3A5A-4743-A3E4-780CF7DDC265}"/>
              </a:ext>
            </a:extLst>
          </p:cNvPr>
          <p:cNvSpPr>
            <a:spLocks xmlns:a="http://schemas.openxmlformats.org/drawingml/2006/main" noGrp="1"/>
          </p:cNvSpPr>
          <p:nvPr/>
        </p:nvSpPr>
        <p:spPr>
          <a:xfrm xmlns:a="http://schemas.openxmlformats.org/drawingml/2006/main">
            <a:off x="466344" y="35185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etiqueta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referencia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Nielsen</a:t>
            </a:r>
            <a:r>
              <a:rPr sz="650" b="0" i="0">
                <a:solidFill>
                  <a:srgbClr val="24383A"/>
                </a:solidFill>
                <a:latin typeface="DejaVu Sans"/>
                <a:ea typeface="DejaVu Sans"/>
                <a:cs typeface="DejaVu Sans"/>
              </a:rPr>
              <a:t> </a:t>
            </a:r>
          </a:p>
        </p:txBody>
      </p:sp>
      <p:sp>
        <p:nvSpPr>
          <p:cNvPr id="40" name="ANUARIO_CONTENIDO_0_1_1">
            <a:extLst xmlns:a="http://schemas.openxmlformats.org/drawingml/2006/main">
              <a:ext uri="{FF2B5EF4-FFF2-40B4-BE49-F238E27FC236}">
                <a16:creationId xmlns:a16="http://schemas.microsoft.com/office/drawing/2014/main" id="{AB82C973-348A-48D2-A046-DBDB7498E34D}"/>
              </a:ext>
            </a:extLst>
          </p:cNvPr>
          <p:cNvSpPr>
            <a:spLocks xmlns:a="http://schemas.openxmlformats.org/drawingml/2006/main" noGrp="1"/>
          </p:cNvSpPr>
          <p:nvPr/>
        </p:nvSpPr>
        <p:spPr>
          <a:xfrm xmlns:a="http://schemas.openxmlformats.org/drawingml/2006/main">
            <a:off x="466344" y="36110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IBOPE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bases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propósito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clasificar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p>
        </p:txBody>
      </p:sp>
      <p:sp>
        <p:nvSpPr>
          <p:cNvPr id="41" name="ANUARIO_CONTENIDO_0_1_2">
            <a:extLst xmlns:a="http://schemas.openxmlformats.org/drawingml/2006/main">
              <a:ext uri="{FF2B5EF4-FFF2-40B4-BE49-F238E27FC236}">
                <a16:creationId xmlns:a16="http://schemas.microsoft.com/office/drawing/2014/main" id="{1EFD17B4-35BA-4252-8FD2-4532D2BB49AA}"/>
              </a:ext>
            </a:extLst>
          </p:cNvPr>
          <p:cNvSpPr>
            <a:spLocks xmlns:a="http://schemas.openxmlformats.org/drawingml/2006/main" noGrp="1"/>
          </p:cNvSpPr>
          <p:nvPr/>
        </p:nvSpPr>
        <p:spPr>
          <a:xfrm xmlns:a="http://schemas.openxmlformats.org/drawingml/2006/main">
            <a:off x="466344" y="37288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Gobierno: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LFTR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ordena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electrónicos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transmisión</a:t>
            </a:r>
            <a:r>
              <a:rPr sz="650" b="0" i="0">
                <a:solidFill>
                  <a:srgbClr val="24383A"/>
                </a:solidFill>
                <a:latin typeface="DejaVu Sans"/>
                <a:ea typeface="DejaVu Sans"/>
                <a:cs typeface="DejaVu Sans"/>
              </a:rPr>
              <a:t> </a:t>
            </a:r>
          </a:p>
        </p:txBody>
      </p:sp>
      <p:sp>
        <p:nvSpPr>
          <p:cNvPr id="42" name="ANUARIO_CONTENIDO_0_1_3">
            <a:extLst xmlns:a="http://schemas.openxmlformats.org/drawingml/2006/main">
              <a:ext uri="{FF2B5EF4-FFF2-40B4-BE49-F238E27FC236}">
                <a16:creationId xmlns:a16="http://schemas.microsoft.com/office/drawing/2014/main" id="{9143D28C-86F0-4FF5-A0C6-0BB84F65EB8B}"/>
              </a:ext>
            </a:extLst>
          </p:cNvPr>
          <p:cNvSpPr>
            <a:spLocks xmlns:a="http://schemas.openxmlformats.org/drawingml/2006/main" noGrp="1"/>
          </p:cNvSpPr>
          <p:nvPr/>
        </p:nvSpPr>
        <p:spPr>
          <a:xfrm xmlns:a="http://schemas.openxmlformats.org/drawingml/2006/main">
            <a:off x="466344" y="38213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gratuita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diaria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30</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minutos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continuos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discontinuos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p>
        </p:txBody>
      </p:sp>
      <p:sp>
        <p:nvSpPr>
          <p:cNvPr id="43" name="ANUARIO_CONTENIDO_0_1_4">
            <a:extLst xmlns:a="http://schemas.openxmlformats.org/drawingml/2006/main">
              <a:ext uri="{FF2B5EF4-FFF2-40B4-BE49-F238E27FC236}">
                <a16:creationId xmlns:a16="http://schemas.microsoft.com/office/drawing/2014/main" id="{A8D772EB-6793-4626-A915-73AA784EF612}"/>
              </a:ext>
            </a:extLst>
          </p:cNvPr>
          <p:cNvSpPr>
            <a:spLocks xmlns:a="http://schemas.openxmlformats.org/drawingml/2006/main" noGrp="1"/>
          </p:cNvSpPr>
          <p:nvPr/>
        </p:nvSpPr>
        <p:spPr>
          <a:xfrm xmlns:a="http://schemas.openxmlformats.org/drawingml/2006/main">
            <a:off x="466344" y="39138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dedicados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difundir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educativos,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culturales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orientación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social.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Todas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44" name="ANUARIO_CONTENIDO_0_1_5">
            <a:extLst xmlns:a="http://schemas.openxmlformats.org/drawingml/2006/main">
              <a:ext uri="{FF2B5EF4-FFF2-40B4-BE49-F238E27FC236}">
                <a16:creationId xmlns:a16="http://schemas.microsoft.com/office/drawing/2014/main" id="{70238828-5B92-4726-9D3C-476AC4C55FD3}"/>
              </a:ext>
            </a:extLst>
          </p:cNvPr>
          <p:cNvSpPr>
            <a:spLocks xmlns:a="http://schemas.openxmlformats.org/drawingml/2006/main" noGrp="1"/>
          </p:cNvSpPr>
          <p:nvPr/>
        </p:nvSpPr>
        <p:spPr>
          <a:xfrm xmlns:a="http://schemas.openxmlformats.org/drawingml/2006/main">
            <a:off x="466344" y="40062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estaciones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país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estarán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obligadas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encadenarse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p>
        </p:txBody>
      </p:sp>
      <p:sp>
        <p:nvSpPr>
          <p:cNvPr id="45" name="ANUARIO_CONTENIDO_0_1_6">
            <a:extLst xmlns:a="http://schemas.openxmlformats.org/drawingml/2006/main">
              <a:ext uri="{FF2B5EF4-FFF2-40B4-BE49-F238E27FC236}">
                <a16:creationId xmlns:a16="http://schemas.microsoft.com/office/drawing/2014/main" id="{8A64043B-7673-41FA-B484-1E55D746EE53}"/>
              </a:ext>
            </a:extLst>
          </p:cNvPr>
          <p:cNvSpPr>
            <a:spLocks xmlns:a="http://schemas.openxmlformats.org/drawingml/2006/main" noGrp="1"/>
          </p:cNvSpPr>
          <p:nvPr/>
        </p:nvSpPr>
        <p:spPr>
          <a:xfrm xmlns:a="http://schemas.openxmlformats.org/drawingml/2006/main">
            <a:off x="466344" y="40987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transmitir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trascendencia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juicio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Secretaría</a:t>
            </a:r>
            <a:r>
              <a:rPr sz="650" b="0" i="0">
                <a:solidFill>
                  <a:srgbClr val="24383A"/>
                </a:solidFill>
                <a:latin typeface="DejaVu Sans"/>
                <a:ea typeface="DejaVu Sans"/>
                <a:cs typeface="DejaVu Sans"/>
              </a:rPr>
              <a:t> </a:t>
            </a:r>
          </a:p>
        </p:txBody>
      </p:sp>
      <p:sp>
        <p:nvSpPr>
          <p:cNvPr id="46" name="ANUARIO_CONTENIDO_0_1_7">
            <a:extLst xmlns:a="http://schemas.openxmlformats.org/drawingml/2006/main">
              <a:ext uri="{FF2B5EF4-FFF2-40B4-BE49-F238E27FC236}">
                <a16:creationId xmlns:a16="http://schemas.microsoft.com/office/drawing/2014/main" id="{B2E0B6D7-DBF9-48DF-A39E-A45FD79F8ED9}"/>
              </a:ext>
            </a:extLst>
          </p:cNvPr>
          <p:cNvSpPr>
            <a:spLocks xmlns:a="http://schemas.openxmlformats.org/drawingml/2006/main" noGrp="1"/>
          </p:cNvSpPr>
          <p:nvPr/>
        </p:nvSpPr>
        <p:spPr>
          <a:xfrm xmlns:a="http://schemas.openxmlformats.org/drawingml/2006/main">
            <a:off x="466344" y="41911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Gobernación.</a:t>
            </a:r>
          </a:p>
        </p:txBody>
      </p:sp>
      <p:sp>
        <p:nvSpPr>
          <p:cNvPr id="47" name="ANUARIO_ANEXO_P122_DESIGN_2026">
            <a:extLst xmlns:a="http://schemas.openxmlformats.org/drawingml/2006/main">
              <a:ext uri="{FF2B5EF4-FFF2-40B4-BE49-F238E27FC236}">
                <a16:creationId xmlns:a16="http://schemas.microsoft.com/office/drawing/2014/main" id="{5EE6CAA8-70B1-4744-9F50-7C2A63A1BE39}"/>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48" name="ANUARIO_ACENTO">
            <a:extLst xmlns:a="http://schemas.openxmlformats.org/drawingml/2006/main">
              <a:ext uri="{FF2B5EF4-FFF2-40B4-BE49-F238E27FC236}">
                <a16:creationId xmlns:a16="http://schemas.microsoft.com/office/drawing/2014/main" id="{D63E11B6-1709-4B24-ABD4-139F10CAECB4}"/>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9" name="ANUARIO_LETRA_FONDO">
            <a:extLst xmlns:a="http://schemas.openxmlformats.org/drawingml/2006/main">
              <a:ext uri="{FF2B5EF4-FFF2-40B4-BE49-F238E27FC236}">
                <a16:creationId xmlns:a16="http://schemas.microsoft.com/office/drawing/2014/main" id="{61F6D5B9-6D0C-447A-9EE6-34154B5716CE}"/>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50" name="ANUARIO_LETRA">
            <a:extLst xmlns:a="http://schemas.openxmlformats.org/drawingml/2006/main">
              <a:ext uri="{FF2B5EF4-FFF2-40B4-BE49-F238E27FC236}">
                <a16:creationId xmlns:a16="http://schemas.microsoft.com/office/drawing/2014/main" id="{64F60DA7-390C-4FDC-880F-E19A9AD0CCFE}"/>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I</a:t>
            </a:r>
          </a:p>
        </p:txBody>
      </p:sp>
      <p:sp>
        <p:nvSpPr>
          <p:cNvPr id="51" name="ANUARIO_CONTENIDO_1_0_0">
            <a:extLst xmlns:a="http://schemas.openxmlformats.org/drawingml/2006/main">
              <a:ext uri="{FF2B5EF4-FFF2-40B4-BE49-F238E27FC236}">
                <a16:creationId xmlns:a16="http://schemas.microsoft.com/office/drawing/2014/main" id="{3D9CF672-B820-473C-946D-5A93D0269685}"/>
              </a:ext>
            </a:extLst>
          </p:cNvPr>
          <p:cNvSpPr>
            <a:spLocks xmlns:a="http://schemas.openxmlformats.org/drawingml/2006/main" noGrp="1"/>
          </p:cNvSpPr>
          <p:nvPr/>
        </p:nvSpPr>
        <p:spPr>
          <a:xfrm xmlns:a="http://schemas.openxmlformats.org/drawingml/2006/main">
            <a:off x="4828032"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Índice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Herfindahl-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Hirschman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calcula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52" name="ANUARIO_CONTENIDO_1_0_1">
            <a:extLst xmlns:a="http://schemas.openxmlformats.org/drawingml/2006/main">
              <a:ext uri="{FF2B5EF4-FFF2-40B4-BE49-F238E27FC236}">
                <a16:creationId xmlns:a16="http://schemas.microsoft.com/office/drawing/2014/main" id="{1630D686-95DC-4299-A384-2431CD2CF544}"/>
              </a:ext>
            </a:extLst>
          </p:cNvPr>
          <p:cNvSpPr>
            <a:spLocks xmlns:a="http://schemas.openxmlformats.org/drawingml/2006/main" noGrp="1"/>
          </p:cNvSpPr>
          <p:nvPr/>
        </p:nvSpPr>
        <p:spPr>
          <a:xfrm xmlns:a="http://schemas.openxmlformats.org/drawingml/2006/main">
            <a:off x="4828032"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participaciones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relevantes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relacionados.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53" name="ANUARIO_CONTENIDO_1_0_2">
            <a:extLst xmlns:a="http://schemas.openxmlformats.org/drawingml/2006/main">
              <a:ext uri="{FF2B5EF4-FFF2-40B4-BE49-F238E27FC236}">
                <a16:creationId xmlns:a16="http://schemas.microsoft.com/office/drawing/2014/main" id="{07612933-7F02-4683-943A-44762381F437}"/>
              </a:ext>
            </a:extLst>
          </p:cNvPr>
          <p:cNvSpPr>
            <a:spLocks xmlns:a="http://schemas.openxmlformats.org/drawingml/2006/main" noGrp="1"/>
          </p:cNvSpPr>
          <p:nvPr/>
        </p:nvSpPr>
        <p:spPr>
          <a:xfrm xmlns:a="http://schemas.openxmlformats.org/drawingml/2006/main">
            <a:off x="4828032" y="1062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aumenta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empresas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disminuye.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implica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54" name="ANUARIO_CONTENIDO_1_0_3">
            <a:extLst xmlns:a="http://schemas.openxmlformats.org/drawingml/2006/main">
              <a:ext uri="{FF2B5EF4-FFF2-40B4-BE49-F238E27FC236}">
                <a16:creationId xmlns:a16="http://schemas.microsoft.com/office/drawing/2014/main" id="{612FCBF9-A788-4969-AAAA-E3DD5F02089F}"/>
              </a:ext>
            </a:extLst>
          </p:cNvPr>
          <p:cNvSpPr>
            <a:spLocks xmlns:a="http://schemas.openxmlformats.org/drawingml/2006/main" noGrp="1"/>
          </p:cNvSpPr>
          <p:nvPr/>
        </p:nvSpPr>
        <p:spPr>
          <a:xfrm xmlns:a="http://schemas.openxmlformats.org/drawingml/2006/main">
            <a:off x="4828032" y="11551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cualquier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adquisición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completa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empresas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reflejada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p>
        </p:txBody>
      </p:sp>
      <p:sp>
        <p:nvSpPr>
          <p:cNvPr id="55" name="ANUARIO_CONTENIDO_1_0_4">
            <a:extLst xmlns:a="http://schemas.openxmlformats.org/drawingml/2006/main">
              <a:ext uri="{FF2B5EF4-FFF2-40B4-BE49-F238E27FC236}">
                <a16:creationId xmlns:a16="http://schemas.microsoft.com/office/drawing/2014/main" id="{13C24D4E-AB01-4CD5-A2CD-D5F00ED0C06A}"/>
              </a:ext>
            </a:extLst>
          </p:cNvPr>
          <p:cNvSpPr>
            <a:spLocks xmlns:a="http://schemas.openxmlformats.org/drawingml/2006/main" noGrp="1"/>
          </p:cNvSpPr>
          <p:nvPr/>
        </p:nvSpPr>
        <p:spPr>
          <a:xfrm xmlns:a="http://schemas.openxmlformats.org/drawingml/2006/main">
            <a:off x="4828032" y="12476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valor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pequeño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p>
        </p:txBody>
      </p:sp>
      <p:sp>
        <p:nvSpPr>
          <p:cNvPr id="56" name="ANUARIO_CONTENIDO_1_0_5">
            <a:extLst xmlns:a="http://schemas.openxmlformats.org/drawingml/2006/main">
              <a:ext uri="{FF2B5EF4-FFF2-40B4-BE49-F238E27FC236}">
                <a16:creationId xmlns:a16="http://schemas.microsoft.com/office/drawing/2014/main" id="{8D8B638B-3BC1-4DEA-9B70-603824FF4C54}"/>
              </a:ext>
            </a:extLst>
          </p:cNvPr>
          <p:cNvSpPr>
            <a:spLocks xmlns:a="http://schemas.openxmlformats.org/drawingml/2006/main" noGrp="1"/>
          </p:cNvSpPr>
          <p:nvPr/>
        </p:nvSpPr>
        <p:spPr>
          <a:xfrm xmlns:a="http://schemas.openxmlformats.org/drawingml/2006/main">
            <a:off x="4828032" y="13401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probable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participaciones,</a:t>
            </a:r>
            <a:r>
              <a:rPr sz="650" b="0" i="0">
                <a:solidFill>
                  <a:srgbClr val="24383A"/>
                </a:solidFill>
                <a:latin typeface="DejaVu Sans"/>
                <a:ea typeface="DejaVu Sans"/>
                <a:cs typeface="DejaVu Sans"/>
              </a:rPr>
              <a:t> </a:t>
            </a:r>
          </a:p>
        </p:txBody>
      </p:sp>
      <p:sp>
        <p:nvSpPr>
          <p:cNvPr id="57" name="ANUARIO_CONTENIDO_1_0_6">
            <a:extLst xmlns:a="http://schemas.openxmlformats.org/drawingml/2006/main">
              <a:ext uri="{FF2B5EF4-FFF2-40B4-BE49-F238E27FC236}">
                <a16:creationId xmlns:a16="http://schemas.microsoft.com/office/drawing/2014/main" id="{3155C03A-4E56-45C3-B1C4-E44466E63232}"/>
              </a:ext>
            </a:extLst>
          </p:cNvPr>
          <p:cNvSpPr>
            <a:spLocks xmlns:a="http://schemas.openxmlformats.org/drawingml/2006/main" noGrp="1"/>
          </p:cNvSpPr>
          <p:nvPr/>
        </p:nvSpPr>
        <p:spPr>
          <a:xfrm xmlns:a="http://schemas.openxmlformats.org/drawingml/2006/main">
            <a:off x="4828032" y="14325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modifiquen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condiciones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competencia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resto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p>
        </p:txBody>
      </p:sp>
      <p:sp>
        <p:nvSpPr>
          <p:cNvPr id="58" name="ANUARIO_CONTENIDO_1_0_7">
            <a:extLst xmlns:a="http://schemas.openxmlformats.org/drawingml/2006/main">
              <a:ext uri="{FF2B5EF4-FFF2-40B4-BE49-F238E27FC236}">
                <a16:creationId xmlns:a16="http://schemas.microsoft.com/office/drawing/2014/main" id="{2EBCCCFC-B509-446C-978A-C58D3309B5C6}"/>
              </a:ext>
            </a:extLst>
          </p:cNvPr>
          <p:cNvSpPr>
            <a:spLocks xmlns:a="http://schemas.openxmlformats.org/drawingml/2006/main" noGrp="1"/>
          </p:cNvSpPr>
          <p:nvPr/>
        </p:nvSpPr>
        <p:spPr>
          <a:xfrm xmlns:a="http://schemas.openxmlformats.org/drawingml/2006/main">
            <a:off x="4828032" y="15250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indicador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calculado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conforme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metodología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establecida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IFT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ACUERDO</a:t>
            </a:r>
            <a:r>
              <a:rPr sz="650" b="0" i="0">
                <a:solidFill>
                  <a:srgbClr val="24383A"/>
                </a:solidFill>
                <a:latin typeface="DejaVu Sans"/>
                <a:ea typeface="DejaVu Sans"/>
                <a:cs typeface="DejaVu Sans"/>
              </a:rPr>
              <a:t> </a:t>
            </a:r>
          </a:p>
        </p:txBody>
      </p:sp>
      <p:sp>
        <p:nvSpPr>
          <p:cNvPr id="59" name="ANUARIO_CONTENIDO_1_0_8">
            <a:extLst xmlns:a="http://schemas.openxmlformats.org/drawingml/2006/main">
              <a:ext uri="{FF2B5EF4-FFF2-40B4-BE49-F238E27FC236}">
                <a16:creationId xmlns:a16="http://schemas.microsoft.com/office/drawing/2014/main" id="{19884A5C-AAFA-4212-AA48-8B53493B38C9}"/>
              </a:ext>
            </a:extLst>
          </p:cNvPr>
          <p:cNvSpPr>
            <a:spLocks xmlns:a="http://schemas.openxmlformats.org/drawingml/2006/main" noGrp="1"/>
          </p:cNvSpPr>
          <p:nvPr/>
        </p:nvSpPr>
        <p:spPr>
          <a:xfrm xmlns:a="http://schemas.openxmlformats.org/drawingml/2006/main">
            <a:off x="4828032" y="16174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PLENO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INSTITUTO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FEDERAL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60" name="ANUARIO_CONTENIDO_1_0_9">
            <a:extLst xmlns:a="http://schemas.openxmlformats.org/drawingml/2006/main">
              <a:ext uri="{FF2B5EF4-FFF2-40B4-BE49-F238E27FC236}">
                <a16:creationId xmlns:a16="http://schemas.microsoft.com/office/drawing/2014/main" id="{14625262-06E7-4629-A8AA-FC473D3FDAA9}"/>
              </a:ext>
            </a:extLst>
          </p:cNvPr>
          <p:cNvSpPr>
            <a:spLocks xmlns:a="http://schemas.openxmlformats.org/drawingml/2006/main" noGrp="1"/>
          </p:cNvSpPr>
          <p:nvPr/>
        </p:nvSpPr>
        <p:spPr>
          <a:xfrm xmlns:a="http://schemas.openxmlformats.org/drawingml/2006/main">
            <a:off x="4828032" y="17099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MODIFICA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CRITERIO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TÉCNICO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CÁLCULO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APLICACIÓN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p>
        </p:txBody>
      </p:sp>
      <p:sp>
        <p:nvSpPr>
          <p:cNvPr id="61" name="ANUARIO_CONTENIDO_1_0_10">
            <a:extLst xmlns:a="http://schemas.openxmlformats.org/drawingml/2006/main">
              <a:ext uri="{FF2B5EF4-FFF2-40B4-BE49-F238E27FC236}">
                <a16:creationId xmlns:a16="http://schemas.microsoft.com/office/drawing/2014/main" id="{4E4E707A-A932-425A-87B0-1D63FCBC90E2}"/>
              </a:ext>
            </a:extLst>
          </p:cNvPr>
          <p:cNvSpPr>
            <a:spLocks xmlns:a="http://schemas.openxmlformats.org/drawingml/2006/main" noGrp="1"/>
          </p:cNvSpPr>
          <p:nvPr/>
        </p:nvSpPr>
        <p:spPr>
          <a:xfrm xmlns:a="http://schemas.openxmlformats.org/drawingml/2006/main">
            <a:off x="4828032" y="18023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CUANTITATIVO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CONCENTRACIÓN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MERCADOS</a:t>
            </a:r>
            <a:r>
              <a:rPr sz="650" b="0" i="0">
                <a:solidFill>
                  <a:srgbClr val="24383A"/>
                </a:solidFill>
                <a:latin typeface="DejaVu Sans"/>
                <a:ea typeface="DejaVu Sans"/>
                <a:cs typeface="DejaVu Sans"/>
              </a:rPr>
              <a:t> </a:t>
            </a:r>
          </a:p>
        </p:txBody>
      </p:sp>
      <p:sp>
        <p:nvSpPr>
          <p:cNvPr id="62" name="ANUARIO_CONTENIDO_1_0_11">
            <a:extLst xmlns:a="http://schemas.openxmlformats.org/drawingml/2006/main">
              <a:ext uri="{FF2B5EF4-FFF2-40B4-BE49-F238E27FC236}">
                <a16:creationId xmlns:a16="http://schemas.microsoft.com/office/drawing/2014/main" id="{C2CE1B92-74A6-48B6-80A2-8974E6FF66CD}"/>
              </a:ext>
            </a:extLst>
          </p:cNvPr>
          <p:cNvSpPr>
            <a:spLocks xmlns:a="http://schemas.openxmlformats.org/drawingml/2006/main" noGrp="1"/>
          </p:cNvSpPr>
          <p:nvPr/>
        </p:nvSpPr>
        <p:spPr>
          <a:xfrm xmlns:a="http://schemas.openxmlformats.org/drawingml/2006/main">
            <a:off x="4828032" y="18948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CORRESPONDIENTES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SECTORES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63" name="ANUARIO_CONTENIDO_1_0_12">
            <a:extLst xmlns:a="http://schemas.openxmlformats.org/drawingml/2006/main">
              <a:ext uri="{FF2B5EF4-FFF2-40B4-BE49-F238E27FC236}">
                <a16:creationId xmlns:a16="http://schemas.microsoft.com/office/drawing/2014/main" id="{107C2D02-172F-4BA1-878F-C9266C95398B}"/>
              </a:ext>
            </a:extLst>
          </p:cNvPr>
          <p:cNvSpPr>
            <a:spLocks xmlns:a="http://schemas.openxmlformats.org/drawingml/2006/main" noGrp="1"/>
          </p:cNvSpPr>
          <p:nvPr/>
        </p:nvSpPr>
        <p:spPr>
          <a:xfrm xmlns:a="http://schemas.openxmlformats.org/drawingml/2006/main">
            <a:off x="4828032" y="19872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RADIODIFUSIÓN.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https://www.dof.gob.</a:t>
            </a:r>
            <a:r>
              <a:rPr sz="650" b="0" i="0">
                <a:solidFill>
                  <a:srgbClr val="24383A"/>
                </a:solidFill>
                <a:latin typeface="DejaVu Sans"/>
                <a:ea typeface="DejaVu Sans"/>
                <a:cs typeface="DejaVu Sans"/>
              </a:rPr>
              <a:t> </a:t>
            </a:r>
          </a:p>
        </p:txBody>
      </p:sp>
      <p:sp>
        <p:nvSpPr>
          <p:cNvPr id="64" name="ANUARIO_CONTENIDO_1_0_13">
            <a:extLst xmlns:a="http://schemas.openxmlformats.org/drawingml/2006/main">
              <a:ext uri="{FF2B5EF4-FFF2-40B4-BE49-F238E27FC236}">
                <a16:creationId xmlns:a16="http://schemas.microsoft.com/office/drawing/2014/main" id="{9B540F80-A2F6-41B1-B1C5-BC1B5930E903}"/>
              </a:ext>
            </a:extLst>
          </p:cNvPr>
          <p:cNvSpPr>
            <a:spLocks xmlns:a="http://schemas.openxmlformats.org/drawingml/2006/main" noGrp="1"/>
          </p:cNvSpPr>
          <p:nvPr/>
        </p:nvSpPr>
        <p:spPr>
          <a:xfrm xmlns:a="http://schemas.openxmlformats.org/drawingml/2006/main">
            <a:off x="4828032" y="20797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mx/nota_detalle.php?codigo=5645045&amp;fecha=09/03/2022#gsc.tab=0</a:t>
            </a:r>
            <a:r>
              <a:rPr sz="650" b="0" i="0">
                <a:solidFill>
                  <a:srgbClr val="24383A"/>
                </a:solidFill>
                <a:latin typeface="DejaVu Sans"/>
                <a:ea typeface="DejaVu Sans"/>
                <a:cs typeface="DejaVu Sans"/>
              </a:rPr>
              <a:t>.</a:t>
            </a:r>
          </a:p>
        </p:txBody>
      </p:sp>
      <p:sp>
        <p:nvSpPr>
          <p:cNvPr id="65" name="ANUARIO_CONTENIDO_1_0_14">
            <a:extLst xmlns:a="http://schemas.openxmlformats.org/drawingml/2006/main">
              <a:ext uri="{FF2B5EF4-FFF2-40B4-BE49-F238E27FC236}">
                <a16:creationId xmlns:a16="http://schemas.microsoft.com/office/drawing/2014/main" id="{52554E27-046F-44B1-BB30-5F51F2050E34}"/>
              </a:ext>
            </a:extLst>
          </p:cNvPr>
          <p:cNvSpPr>
            <a:spLocks xmlns:a="http://schemas.openxmlformats.org/drawingml/2006/main" noGrp="1"/>
          </p:cNvSpPr>
          <p:nvPr/>
        </p:nvSpPr>
        <p:spPr>
          <a:xfrm xmlns:a="http://schemas.openxmlformats.org/drawingml/2006/main">
            <a:off x="4828032" y="21976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Índice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Precios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Consumidor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Indicador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finalidad</a:t>
            </a:r>
            <a:r>
              <a:rPr sz="650" b="0" i="0">
                <a:solidFill>
                  <a:srgbClr val="24383A"/>
                </a:solidFill>
                <a:latin typeface="DejaVu Sans"/>
                <a:ea typeface="DejaVu Sans"/>
                <a:cs typeface="DejaVu Sans"/>
              </a:rPr>
              <a:t> </a:t>
            </a:r>
          </a:p>
        </p:txBody>
      </p:sp>
      <p:sp>
        <p:nvSpPr>
          <p:cNvPr id="66" name="ANUARIO_CONTENIDO_1_0_15">
            <a:extLst xmlns:a="http://schemas.openxmlformats.org/drawingml/2006/main">
              <a:ext uri="{FF2B5EF4-FFF2-40B4-BE49-F238E27FC236}">
                <a16:creationId xmlns:a16="http://schemas.microsoft.com/office/drawing/2014/main" id="{89E0B928-2A1C-4090-9534-3FFF7E8D632A}"/>
              </a:ext>
            </a:extLst>
          </p:cNvPr>
          <p:cNvSpPr>
            <a:spLocks xmlns:a="http://schemas.openxmlformats.org/drawingml/2006/main" noGrp="1"/>
          </p:cNvSpPr>
          <p:nvPr/>
        </p:nvSpPr>
        <p:spPr>
          <a:xfrm xmlns:a="http://schemas.openxmlformats.org/drawingml/2006/main">
            <a:off x="4828032" y="22900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tiempo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fija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bienes</a:t>
            </a:r>
            <a:r>
              <a:rPr sz="650" b="0" i="0">
                <a:solidFill>
                  <a:srgbClr val="24383A"/>
                </a:solidFill>
                <a:latin typeface="DejaVu Sans"/>
                <a:ea typeface="DejaVu Sans"/>
                <a:cs typeface="DejaVu Sans"/>
              </a:rPr>
              <a:t> </a:t>
            </a:r>
          </a:p>
        </p:txBody>
      </p:sp>
      <p:sp>
        <p:nvSpPr>
          <p:cNvPr id="67" name="ANUARIO_CONTENIDO_1_0_16">
            <a:extLst xmlns:a="http://schemas.openxmlformats.org/drawingml/2006/main">
              <a:ext uri="{FF2B5EF4-FFF2-40B4-BE49-F238E27FC236}">
                <a16:creationId xmlns:a16="http://schemas.microsoft.com/office/drawing/2014/main" id="{4AF90D88-827D-4600-85DA-DB32C43AE1CA}"/>
              </a:ext>
            </a:extLst>
          </p:cNvPr>
          <p:cNvSpPr>
            <a:spLocks xmlns:a="http://schemas.openxmlformats.org/drawingml/2006/main" noGrp="1"/>
          </p:cNvSpPr>
          <p:nvPr/>
        </p:nvSpPr>
        <p:spPr>
          <a:xfrm xmlns:a="http://schemas.openxmlformats.org/drawingml/2006/main">
            <a:off x="4828032" y="23825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representativa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consumo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estudio</a:t>
            </a:r>
            <a:r>
              <a:rPr sz="650" b="0" i="0">
                <a:solidFill>
                  <a:srgbClr val="24383A"/>
                </a:solidFill>
                <a:latin typeface="DejaVu Sans"/>
                <a:ea typeface="DejaVu Sans"/>
                <a:cs typeface="DejaVu Sans"/>
              </a:rPr>
              <a:t> </a:t>
            </a:r>
          </a:p>
        </p:txBody>
      </p:sp>
      <p:sp>
        <p:nvSpPr>
          <p:cNvPr id="68" name="ANUARIO_CONTENIDO_1_0_17">
            <a:extLst xmlns:a="http://schemas.openxmlformats.org/drawingml/2006/main">
              <a:ext uri="{FF2B5EF4-FFF2-40B4-BE49-F238E27FC236}">
                <a16:creationId xmlns:a16="http://schemas.microsoft.com/office/drawing/2014/main" id="{4CCC57CA-DD80-45BB-B3D1-9207A6EB743A}"/>
              </a:ext>
            </a:extLst>
          </p:cNvPr>
          <p:cNvSpPr>
            <a:spLocks xmlns:a="http://schemas.openxmlformats.org/drawingml/2006/main" noGrp="1"/>
          </p:cNvSpPr>
          <p:nvPr/>
        </p:nvSpPr>
        <p:spPr>
          <a:xfrm xmlns:a="http://schemas.openxmlformats.org/drawingml/2006/main">
            <a:off x="4828032" y="24749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diciembre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2013.</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ponderadores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69" name="ANUARIO_CONTENIDO_1_0_18">
            <a:extLst xmlns:a="http://schemas.openxmlformats.org/drawingml/2006/main">
              <a:ext uri="{FF2B5EF4-FFF2-40B4-BE49-F238E27FC236}">
                <a16:creationId xmlns:a16="http://schemas.microsoft.com/office/drawing/2014/main" id="{02DAD0A0-2257-402C-84E1-D714B64D8D82}"/>
              </a:ext>
            </a:extLst>
          </p:cNvPr>
          <p:cNvSpPr>
            <a:spLocks xmlns:a="http://schemas.openxmlformats.org/drawingml/2006/main" noGrp="1"/>
          </p:cNvSpPr>
          <p:nvPr/>
        </p:nvSpPr>
        <p:spPr>
          <a:xfrm xmlns:a="http://schemas.openxmlformats.org/drawingml/2006/main">
            <a:off x="4828032" y="25674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dentro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70" name="ANUARIO_CONTENIDO_1_0_19">
            <a:extLst xmlns:a="http://schemas.openxmlformats.org/drawingml/2006/main">
              <a:ext uri="{FF2B5EF4-FFF2-40B4-BE49-F238E27FC236}">
                <a16:creationId xmlns:a16="http://schemas.microsoft.com/office/drawing/2014/main" id="{45BFD782-9DCC-4E5F-8132-B87CDB310CF4}"/>
              </a:ext>
            </a:extLst>
          </p:cNvPr>
          <p:cNvSpPr>
            <a:spLocks xmlns:a="http://schemas.openxmlformats.org/drawingml/2006/main" noGrp="1"/>
          </p:cNvSpPr>
          <p:nvPr/>
        </p:nvSpPr>
        <p:spPr>
          <a:xfrm xmlns:a="http://schemas.openxmlformats.org/drawingml/2006/main">
            <a:off x="4828032" y="265988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integran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consultar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Anexo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III.</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Metodologías.</a:t>
            </a:r>
          </a:p>
        </p:txBody>
      </p:sp>
      <p:sp>
        <p:nvSpPr>
          <p:cNvPr id="71" name="ANUARIO_CONTENIDO_1_0_20">
            <a:extLst xmlns:a="http://schemas.openxmlformats.org/drawingml/2006/main">
              <a:ext uri="{FF2B5EF4-FFF2-40B4-BE49-F238E27FC236}">
                <a16:creationId xmlns:a16="http://schemas.microsoft.com/office/drawing/2014/main" id="{416BC9A8-90FF-40EB-8E79-05566DDFBC65}"/>
              </a:ext>
            </a:extLst>
          </p:cNvPr>
          <p:cNvSpPr>
            <a:spLocks xmlns:a="http://schemas.openxmlformats.org/drawingml/2006/main" noGrp="1"/>
          </p:cNvSpPr>
          <p:nvPr/>
        </p:nvSpPr>
        <p:spPr>
          <a:xfrm xmlns:a="http://schemas.openxmlformats.org/drawingml/2006/main">
            <a:off x="4828032" y="277774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Infantil: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enfocados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directamente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aunque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excluyen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p>
        </p:txBody>
      </p:sp>
      <p:sp>
        <p:nvSpPr>
          <p:cNvPr id="72" name="ANUARIO_CONTENIDO_1_0_21">
            <a:extLst xmlns:a="http://schemas.openxmlformats.org/drawingml/2006/main">
              <a:ext uri="{FF2B5EF4-FFF2-40B4-BE49-F238E27FC236}">
                <a16:creationId xmlns:a16="http://schemas.microsoft.com/office/drawing/2014/main" id="{04A7F47E-F868-4832-94D0-C1079E52A3FE}"/>
              </a:ext>
            </a:extLst>
          </p:cNvPr>
          <p:cNvSpPr>
            <a:spLocks xmlns:a="http://schemas.openxmlformats.org/drawingml/2006/main" noGrp="1"/>
          </p:cNvSpPr>
          <p:nvPr/>
        </p:nvSpPr>
        <p:spPr>
          <a:xfrm xmlns:a="http://schemas.openxmlformats.org/drawingml/2006/main">
            <a:off x="4828032" y="287020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auditorio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adulto.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comprenden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caricaturas,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p>
        </p:txBody>
      </p:sp>
      <p:sp>
        <p:nvSpPr>
          <p:cNvPr id="73" name="ANUARIO_CONTENIDO_1_0_22">
            <a:extLst xmlns:a="http://schemas.openxmlformats.org/drawingml/2006/main">
              <a:ext uri="{FF2B5EF4-FFF2-40B4-BE49-F238E27FC236}">
                <a16:creationId xmlns:a16="http://schemas.microsoft.com/office/drawing/2014/main" id="{E7FC2C41-8381-41B2-941E-6EB573D382A4}"/>
              </a:ext>
            </a:extLst>
          </p:cNvPr>
          <p:cNvSpPr>
            <a:spLocks xmlns:a="http://schemas.openxmlformats.org/drawingml/2006/main" noGrp="1"/>
          </p:cNvSpPr>
          <p:nvPr/>
        </p:nvSpPr>
        <p:spPr>
          <a:xfrm xmlns:a="http://schemas.openxmlformats.org/drawingml/2006/main">
            <a:off x="4828032" y="296265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tendencia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didáctica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estructuran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lenguaje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sencillo,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función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74" name="ANUARIO_CONTENIDO_1_0_23">
            <a:extLst xmlns:a="http://schemas.openxmlformats.org/drawingml/2006/main">
              <a:ext uri="{FF2B5EF4-FFF2-40B4-BE49-F238E27FC236}">
                <a16:creationId xmlns:a16="http://schemas.microsoft.com/office/drawing/2014/main" id="{B9B8DD07-DDB3-4104-BFF9-C00C46D8472B}"/>
              </a:ext>
            </a:extLst>
          </p:cNvPr>
          <p:cNvSpPr>
            <a:spLocks xmlns:a="http://schemas.openxmlformats.org/drawingml/2006/main" noGrp="1"/>
          </p:cNvSpPr>
          <p:nvPr/>
        </p:nvSpPr>
        <p:spPr>
          <a:xfrm xmlns:a="http://schemas.openxmlformats.org/drawingml/2006/main">
            <a:off x="4828032" y="305511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auditorio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ocasiones,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recae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lograr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75" name="ANUARIO_CONTENIDO_1_0_24">
            <a:extLst xmlns:a="http://schemas.openxmlformats.org/drawingml/2006/main">
              <a:ext uri="{FF2B5EF4-FFF2-40B4-BE49-F238E27FC236}">
                <a16:creationId xmlns:a16="http://schemas.microsoft.com/office/drawing/2014/main" id="{39D8CAC0-4387-4F1B-A86E-735C57C06DC6}"/>
              </a:ext>
            </a:extLst>
          </p:cNvPr>
          <p:cNvSpPr>
            <a:spLocks xmlns:a="http://schemas.openxmlformats.org/drawingml/2006/main" noGrp="1"/>
          </p:cNvSpPr>
          <p:nvPr/>
        </p:nvSpPr>
        <p:spPr>
          <a:xfrm xmlns:a="http://schemas.openxmlformats.org/drawingml/2006/main">
            <a:off x="4828032" y="314756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mayor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identificación.</a:t>
            </a:r>
          </a:p>
        </p:txBody>
      </p:sp>
      <p:sp>
        <p:nvSpPr>
          <p:cNvPr id="76" name="ANUARIO_CONTENIDO_1_0_25">
            <a:extLst xmlns:a="http://schemas.openxmlformats.org/drawingml/2006/main">
              <a:ext uri="{FF2B5EF4-FFF2-40B4-BE49-F238E27FC236}">
                <a16:creationId xmlns:a16="http://schemas.microsoft.com/office/drawing/2014/main" id="{373B481E-2D1E-4A77-B412-E4B7390EAEE8}"/>
              </a:ext>
            </a:extLst>
          </p:cNvPr>
          <p:cNvSpPr>
            <a:spLocks xmlns:a="http://schemas.openxmlformats.org/drawingml/2006/main" noGrp="1"/>
          </p:cNvSpPr>
          <p:nvPr/>
        </p:nvSpPr>
        <p:spPr>
          <a:xfrm xmlns:a="http://schemas.openxmlformats.org/drawingml/2006/main">
            <a:off x="4828032" y="32654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corrientes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p>
        </p:txBody>
      </p:sp>
      <p:sp>
        <p:nvSpPr>
          <p:cNvPr id="77" name="ANUARIO_CONTENIDO_1_0_26">
            <a:extLst xmlns:a="http://schemas.openxmlformats.org/drawingml/2006/main">
              <a:ext uri="{FF2B5EF4-FFF2-40B4-BE49-F238E27FC236}">
                <a16:creationId xmlns:a16="http://schemas.microsoft.com/office/drawing/2014/main" id="{3231210D-6EB3-4C63-88E9-D749E9220F76}"/>
              </a:ext>
            </a:extLst>
          </p:cNvPr>
          <p:cNvSpPr>
            <a:spLocks xmlns:a="http://schemas.openxmlformats.org/drawingml/2006/main" noGrp="1"/>
          </p:cNvSpPr>
          <p:nvPr/>
        </p:nvSpPr>
        <p:spPr>
          <a:xfrm xmlns:a="http://schemas.openxmlformats.org/drawingml/2006/main">
            <a:off x="4828032" y="33578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Comprenden:</a:t>
            </a:r>
          </a:p>
        </p:txBody>
      </p:sp>
      <p:sp>
        <p:nvSpPr>
          <p:cNvPr id="78" name="ANUARIO_CONTENIDO_1_0_27">
            <a:extLst xmlns:a="http://schemas.openxmlformats.org/drawingml/2006/main">
              <a:ext uri="{FF2B5EF4-FFF2-40B4-BE49-F238E27FC236}">
                <a16:creationId xmlns:a16="http://schemas.microsoft.com/office/drawing/2014/main" id="{F70F5669-41BB-445E-9449-80112D208755}"/>
              </a:ext>
            </a:extLst>
          </p:cNvPr>
          <p:cNvSpPr>
            <a:spLocks xmlns:a="http://schemas.openxmlformats.org/drawingml/2006/main" noGrp="1"/>
          </p:cNvSpPr>
          <p:nvPr/>
        </p:nvSpPr>
        <p:spPr>
          <a:xfrm xmlns:a="http://schemas.openxmlformats.org/drawingml/2006/main">
            <a:off x="4828032" y="3475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1.</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79" name="ANUARIO_CONTENIDO_1_0_28">
            <a:extLst xmlns:a="http://schemas.openxmlformats.org/drawingml/2006/main">
              <a:ext uri="{FF2B5EF4-FFF2-40B4-BE49-F238E27FC236}">
                <a16:creationId xmlns:a16="http://schemas.microsoft.com/office/drawing/2014/main" id="{8E961128-5436-4DEC-BF03-5A22A7CC17FC}"/>
              </a:ext>
            </a:extLst>
          </p:cNvPr>
          <p:cNvSpPr>
            <a:spLocks xmlns:a="http://schemas.openxmlformats.org/drawingml/2006/main" noGrp="1"/>
          </p:cNvSpPr>
          <p:nvPr/>
        </p:nvSpPr>
        <p:spPr>
          <a:xfrm xmlns:a="http://schemas.openxmlformats.org/drawingml/2006/main">
            <a:off x="4828032" y="3593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2.</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instalación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mantenimiento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80" name="ANUARIO_CONTENIDO_1_0_29">
            <a:extLst xmlns:a="http://schemas.openxmlformats.org/drawingml/2006/main">
              <a:ext uri="{FF2B5EF4-FFF2-40B4-BE49-F238E27FC236}">
                <a16:creationId xmlns:a16="http://schemas.microsoft.com/office/drawing/2014/main" id="{BA3707B8-FD5B-46E7-A6AA-66DAA79B19B5}"/>
              </a:ext>
            </a:extLst>
          </p:cNvPr>
          <p:cNvSpPr>
            <a:spLocks xmlns:a="http://schemas.openxmlformats.org/drawingml/2006/main" noGrp="1"/>
          </p:cNvSpPr>
          <p:nvPr/>
        </p:nvSpPr>
        <p:spPr>
          <a:xfrm xmlns:a="http://schemas.openxmlformats.org/drawingml/2006/main">
            <a:off x="4828032" y="3686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81" name="ANUARIO_CONTENIDO_1_0_30">
            <a:extLst xmlns:a="http://schemas.openxmlformats.org/drawingml/2006/main">
              <a:ext uri="{FF2B5EF4-FFF2-40B4-BE49-F238E27FC236}">
                <a16:creationId xmlns:a16="http://schemas.microsoft.com/office/drawing/2014/main" id="{0F6BF5AC-84BA-4F5A-9AE4-A9F7DDC03632}"/>
              </a:ext>
            </a:extLst>
          </p:cNvPr>
          <p:cNvSpPr>
            <a:spLocks xmlns:a="http://schemas.openxmlformats.org/drawingml/2006/main" noGrp="1"/>
          </p:cNvSpPr>
          <p:nvPr/>
        </p:nvSpPr>
        <p:spPr>
          <a:xfrm xmlns:a="http://schemas.openxmlformats.org/drawingml/2006/main">
            <a:off x="4828032" y="38039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3.</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minoristas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pic>
        <p:nvPicPr>
          <p:cNvPr id="8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8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85"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8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8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8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9"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224622623"/>
      </p:ext>
    </p:extLst>
  </p:cSld>
</p:sld>
</file>

<file path=ppt/slides/slide122.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265122FF-3104-4551-BD31-3552EEE0FF23}"/>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6A683A15-33D8-46D3-B441-6B85AD5F548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122</a:t>
            </a:r>
          </a:p>
        </p:txBody>
      </p:sp>
      <p:sp>
        <p:nvSpPr>
          <p:cNvPr id="9" name="ANUARIO_EDICION">
            <a:extLst xmlns:a="http://schemas.openxmlformats.org/drawingml/2006/main">
              <a:ext uri="{FF2B5EF4-FFF2-40B4-BE49-F238E27FC236}">
                <a16:creationId xmlns:a16="http://schemas.microsoft.com/office/drawing/2014/main" id="{6625AFAD-CA33-44AD-83A7-84593EB8273E}"/>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3_DESIGN_2026">
            <a:extLst xmlns:a="http://schemas.openxmlformats.org/drawingml/2006/main">
              <a:ext uri="{FF2B5EF4-FFF2-40B4-BE49-F238E27FC236}">
                <a16:creationId xmlns:a16="http://schemas.microsoft.com/office/drawing/2014/main" id="{06263628-945A-45D7-891C-E1EB8717488D}"/>
              </a:ext>
            </a:extLst>
          </p:cNvPr>
          <p:cNvSpPr>
            <a:spLocks xmlns:a="http://schemas.openxmlformats.org/drawingml/2006/main" noGrp="1"/>
          </p:cNvSpPr>
          <p:nvPr/>
        </p:nvSpPr>
        <p:spPr>
          <a:xfrm xmlns:a="http://schemas.openxmlformats.org/drawingml/2006/main">
            <a:off x="301752"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FBEE744F-0061-45F1-A19E-6D5023E90496}"/>
              </a:ext>
            </a:extLst>
          </p:cNvPr>
          <p:cNvSpPr>
            <a:spLocks xmlns:a="http://schemas.openxmlformats.org/drawingml/2006/main" noGrp="1"/>
          </p:cNvSpPr>
          <p:nvPr/>
        </p:nvSpPr>
        <p:spPr>
          <a:xfrm xmlns:a="http://schemas.openxmlformats.org/drawingml/2006/main">
            <a:off x="301752"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96239DED-A592-4EFE-A438-28375615E3F5}"/>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I · continuación</a:t>
            </a:r>
          </a:p>
        </p:txBody>
      </p:sp>
      <p:sp>
        <p:nvSpPr>
          <p:cNvPr id="13" name="ANUARIO_CONTENIDO_0_0_0">
            <a:extLst xmlns:a="http://schemas.openxmlformats.org/drawingml/2006/main">
              <a:ext uri="{FF2B5EF4-FFF2-40B4-BE49-F238E27FC236}">
                <a16:creationId xmlns:a16="http://schemas.microsoft.com/office/drawing/2014/main" id="{EC3014CA-B78D-4B52-AE8C-C64A5BF78FB9}"/>
              </a:ext>
            </a:extLst>
          </p:cNvPr>
          <p:cNvSpPr>
            <a:spLocks xmlns:a="http://schemas.openxmlformats.org/drawingml/2006/main" noGrp="1"/>
          </p:cNvSpPr>
          <p:nvPr/>
        </p:nvSpPr>
        <p:spPr>
          <a:xfrm xmlns:a="http://schemas.openxmlformats.org/drawingml/2006/main">
            <a:off x="466344" y="100584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4.</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mayoristas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47CE5043-F7CC-4286-9E57-6AC99E08734D}"/>
              </a:ext>
            </a:extLst>
          </p:cNvPr>
          <p:cNvSpPr>
            <a:spLocks xmlns:a="http://schemas.openxmlformats.org/drawingml/2006/main" noGrp="1"/>
          </p:cNvSpPr>
          <p:nvPr/>
        </p:nvSpPr>
        <p:spPr>
          <a:xfrm xmlns:a="http://schemas.openxmlformats.org/drawingml/2006/main">
            <a:off x="466344" y="113223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5.</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minoristas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a:t>
            </a:r>
            <a:r>
              <a:rPr sz="710" b="0" i="0">
                <a:solidFill>
                  <a:srgbClr val="24383A"/>
                </a:solidFill>
                <a:latin typeface="DejaVu Sans"/>
                <a:ea typeface="DejaVu Sans"/>
                <a:cs typeface="DejaVu Sans"/>
              </a:rPr>
              <a:t> </a:t>
            </a:r>
            <a:r>
              <a:rPr sz="710" b="0" i="1">
                <a:solidFill>
                  <a:srgbClr val="24383A"/>
                </a:solidFill>
                <a:latin typeface="DejaVu Sans"/>
                <a:ea typeface="DejaVu Sans"/>
                <a:cs typeface="DejaVu Sans"/>
              </a:rPr>
              <a:t>Over</a:t>
            </a:r>
            <a:r>
              <a:rPr sz="710" b="0" i="1">
                <a:solidFill>
                  <a:srgbClr val="24383A"/>
                </a:solidFill>
                <a:latin typeface="DejaVu Sans"/>
                <a:ea typeface="DejaVu Sans"/>
                <a:cs typeface="DejaVu Sans"/>
              </a:rPr>
              <a:t> </a:t>
            </a:r>
            <a:r>
              <a:rPr sz="710" b="0" i="1">
                <a:solidFill>
                  <a:srgbClr val="24383A"/>
                </a:solidFill>
                <a:latin typeface="DejaVu Sans"/>
                <a:ea typeface="DejaVu Sans"/>
                <a:cs typeface="DejaVu Sans"/>
              </a:rPr>
              <a:t>The</a:t>
            </a:r>
            <a:r>
              <a:rPr sz="710" b="0" i="1">
                <a:solidFill>
                  <a:srgbClr val="24383A"/>
                </a:solidFill>
                <a:latin typeface="DejaVu Sans"/>
                <a:ea typeface="DejaVu Sans"/>
                <a:cs typeface="DejaVu Sans"/>
              </a:rPr>
              <a:t> </a:t>
            </a:r>
            <a:r>
              <a:rPr sz="710" b="0" i="1">
                <a:solidFill>
                  <a:srgbClr val="24383A"/>
                </a:solidFill>
                <a:latin typeface="DejaVu Sans"/>
                <a:ea typeface="DejaVu Sans"/>
                <a:cs typeface="DejaVu Sans"/>
              </a:rPr>
              <a:t>Top</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(OTT).</a:t>
            </a:r>
            <a:r>
              <a:rPr sz="71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C658E482-D11D-4F58-A414-D0657171876F}"/>
              </a:ext>
            </a:extLst>
          </p:cNvPr>
          <p:cNvSpPr>
            <a:spLocks xmlns:a="http://schemas.openxmlformats.org/drawingml/2006/main" noGrp="1"/>
          </p:cNvSpPr>
          <p:nvPr/>
        </p:nvSpPr>
        <p:spPr>
          <a:xfrm xmlns:a="http://schemas.openxmlformats.org/drawingml/2006/main">
            <a:off x="466344" y="125862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6.</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mayoristas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Over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The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Top</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(OTT).</a:t>
            </a:r>
          </a:p>
        </p:txBody>
      </p:sp>
      <p:sp>
        <p:nvSpPr>
          <p:cNvPr id="16" name="ANUARIO_CONTENIDO_0_0_3">
            <a:extLst xmlns:a="http://schemas.openxmlformats.org/drawingml/2006/main">
              <a:ext uri="{FF2B5EF4-FFF2-40B4-BE49-F238E27FC236}">
                <a16:creationId xmlns:a16="http://schemas.microsoft.com/office/drawing/2014/main" id="{1DFF5CDC-EDD5-46D1-9883-9D0CC8795DD1}"/>
              </a:ext>
            </a:extLst>
          </p:cNvPr>
          <p:cNvSpPr>
            <a:spLocks xmlns:a="http://schemas.openxmlformats.org/drawingml/2006/main" noGrp="1"/>
          </p:cNvSpPr>
          <p:nvPr/>
        </p:nvSpPr>
        <p:spPr>
          <a:xfrm xmlns:a="http://schemas.openxmlformats.org/drawingml/2006/main">
            <a:off x="466344" y="138501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7.</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p>
        </p:txBody>
      </p:sp>
      <p:sp>
        <p:nvSpPr>
          <p:cNvPr id="17" name="ANUARIO_CONTENIDO_0_0_4">
            <a:extLst xmlns:a="http://schemas.openxmlformats.org/drawingml/2006/main">
              <a:ext uri="{FF2B5EF4-FFF2-40B4-BE49-F238E27FC236}">
                <a16:creationId xmlns:a16="http://schemas.microsoft.com/office/drawing/2014/main" id="{C7F267CE-892C-464B-B1E7-264D9A039E68}"/>
              </a:ext>
            </a:extLst>
          </p:cNvPr>
          <p:cNvSpPr>
            <a:spLocks xmlns:a="http://schemas.openxmlformats.org/drawingml/2006/main" noGrp="1"/>
          </p:cNvSpPr>
          <p:nvPr/>
        </p:nvSpPr>
        <p:spPr>
          <a:xfrm xmlns:a="http://schemas.openxmlformats.org/drawingml/2006/main">
            <a:off x="466344" y="151140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Todos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valores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sin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ni</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ningún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impuesto</a:t>
            </a:r>
            <a:r>
              <a:rPr sz="71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4FA6FBA6-98F2-4CFF-A6EF-49E9CC869499}"/>
              </a:ext>
            </a:extLst>
          </p:cNvPr>
          <p:cNvSpPr>
            <a:spLocks xmlns:a="http://schemas.openxmlformats.org/drawingml/2006/main" noGrp="1"/>
          </p:cNvSpPr>
          <p:nvPr/>
        </p:nvSpPr>
        <p:spPr>
          <a:xfrm xmlns:a="http://schemas.openxmlformats.org/drawingml/2006/main">
            <a:off x="466344" y="161239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aplicable,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descuentos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bonificaciones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tarifarias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sus</a:t>
            </a:r>
            <a:r>
              <a:rPr sz="710" b="0" i="0">
                <a:solidFill>
                  <a:srgbClr val="24383A"/>
                </a:solidFill>
                <a:latin typeface="DejaVu Sans"/>
                <a:ea typeface="DejaVu Sans"/>
                <a:cs typeface="DejaVu Sans"/>
              </a:rPr>
              <a:t> </a:t>
            </a:r>
          </a:p>
        </p:txBody>
      </p:sp>
      <p:sp>
        <p:nvSpPr>
          <p:cNvPr id="19" name="ANUARIO_CONTENIDO_0_0_6">
            <a:extLst xmlns:a="http://schemas.openxmlformats.org/drawingml/2006/main">
              <a:ext uri="{FF2B5EF4-FFF2-40B4-BE49-F238E27FC236}">
                <a16:creationId xmlns:a16="http://schemas.microsoft.com/office/drawing/2014/main" id="{D3C93BC6-C03B-4487-85CE-01885633F7CD}"/>
              </a:ext>
            </a:extLst>
          </p:cNvPr>
          <p:cNvSpPr>
            <a:spLocks xmlns:a="http://schemas.openxmlformats.org/drawingml/2006/main" noGrp="1"/>
          </p:cNvSpPr>
          <p:nvPr/>
        </p:nvSpPr>
        <p:spPr>
          <a:xfrm xmlns:a="http://schemas.openxmlformats.org/drawingml/2006/main">
            <a:off x="466344" y="171338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Planes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Tarifarios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aplicadas.</a:t>
            </a:r>
            <a:r>
              <a:rPr sz="710" b="0" i="0">
                <a:solidFill>
                  <a:srgbClr val="24383A"/>
                </a:solidFill>
                <a:latin typeface="DejaVu Sans"/>
                <a:ea typeface="DejaVu Sans"/>
                <a:cs typeface="DejaVu Sans"/>
              </a:rPr>
              <a:t> </a:t>
            </a:r>
          </a:p>
        </p:txBody>
      </p:sp>
      <p:sp>
        <p:nvSpPr>
          <p:cNvPr id="20" name="ANUARIO_CONTENIDO_0_0_7">
            <a:extLst xmlns:a="http://schemas.openxmlformats.org/drawingml/2006/main">
              <a:ext uri="{FF2B5EF4-FFF2-40B4-BE49-F238E27FC236}">
                <a16:creationId xmlns:a16="http://schemas.microsoft.com/office/drawing/2014/main" id="{69130361-0F30-48A2-9EE2-FD3ACCA3D252}"/>
              </a:ext>
            </a:extLst>
          </p:cNvPr>
          <p:cNvSpPr>
            <a:spLocks xmlns:a="http://schemas.openxmlformats.org/drawingml/2006/main" noGrp="1"/>
          </p:cNvSpPr>
          <p:nvPr/>
        </p:nvSpPr>
        <p:spPr>
          <a:xfrm xmlns:a="http://schemas.openxmlformats.org/drawingml/2006/main">
            <a:off x="466344" y="183977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Ingreso</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corriente: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Máximo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recursos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hogar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puede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acceder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manera</a:t>
            </a:r>
            <a:r>
              <a:rPr sz="71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ED29799E-80B4-43A8-B243-9F0A4DADD67F}"/>
              </a:ext>
            </a:extLst>
          </p:cNvPr>
          <p:cNvSpPr>
            <a:spLocks xmlns:a="http://schemas.openxmlformats.org/drawingml/2006/main" noGrp="1"/>
          </p:cNvSpPr>
          <p:nvPr/>
        </p:nvSpPr>
        <p:spPr>
          <a:xfrm xmlns:a="http://schemas.openxmlformats.org/drawingml/2006/main">
            <a:off x="466344" y="194076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regular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están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disponibles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consumo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bienes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lapso</a:t>
            </a:r>
            <a:r>
              <a:rPr sz="71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FD34A22D-BD97-496D-A681-EC315C7BA674}"/>
              </a:ext>
            </a:extLst>
          </p:cNvPr>
          <p:cNvSpPr>
            <a:spLocks xmlns:a="http://schemas.openxmlformats.org/drawingml/2006/main" noGrp="1"/>
          </p:cNvSpPr>
          <p:nvPr/>
        </p:nvSpPr>
        <p:spPr>
          <a:xfrm xmlns:a="http://schemas.openxmlformats.org/drawingml/2006/main">
            <a:off x="466344" y="204175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manteniendo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inalterado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patrimonio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hogar.</a:t>
            </a:r>
          </a:p>
        </p:txBody>
      </p:sp>
      <p:sp>
        <p:nvSpPr>
          <p:cNvPr id="23" name="ANUARIO_CONTENIDO_0_0_10">
            <a:extLst xmlns:a="http://schemas.openxmlformats.org/drawingml/2006/main">
              <a:ext uri="{FF2B5EF4-FFF2-40B4-BE49-F238E27FC236}">
                <a16:creationId xmlns:a16="http://schemas.microsoft.com/office/drawing/2014/main" id="{2ABA1758-0F53-45E3-BF8C-44D616C123DE}"/>
              </a:ext>
            </a:extLst>
          </p:cNvPr>
          <p:cNvSpPr>
            <a:spLocks xmlns:a="http://schemas.openxmlformats.org/drawingml/2006/main" noGrp="1"/>
          </p:cNvSpPr>
          <p:nvPr/>
        </p:nvSpPr>
        <p:spPr>
          <a:xfrm xmlns:a="http://schemas.openxmlformats.org/drawingml/2006/main">
            <a:off x="466344" y="216814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Inversión</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privada</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en</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p>
        </p:txBody>
      </p:sp>
      <p:sp>
        <p:nvSpPr>
          <p:cNvPr id="24" name="ANUARIO_CONTENIDO_0_0_11">
            <a:extLst xmlns:a="http://schemas.openxmlformats.org/drawingml/2006/main">
              <a:ext uri="{FF2B5EF4-FFF2-40B4-BE49-F238E27FC236}">
                <a16:creationId xmlns:a16="http://schemas.microsoft.com/office/drawing/2014/main" id="{594858E5-1954-4754-A45F-402EAE851240}"/>
              </a:ext>
            </a:extLst>
          </p:cNvPr>
          <p:cNvSpPr>
            <a:spLocks xmlns:a="http://schemas.openxmlformats.org/drawingml/2006/main" noGrp="1"/>
          </p:cNvSpPr>
          <p:nvPr/>
        </p:nvSpPr>
        <p:spPr>
          <a:xfrm xmlns:a="http://schemas.openxmlformats.org/drawingml/2006/main">
            <a:off x="466344" y="226913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infraestructura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corrientes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operadores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25" name="ANUARIO_CONTENIDO_0_0_12">
            <a:extLst xmlns:a="http://schemas.openxmlformats.org/drawingml/2006/main">
              <a:ext uri="{FF2B5EF4-FFF2-40B4-BE49-F238E27FC236}">
                <a16:creationId xmlns:a16="http://schemas.microsoft.com/office/drawing/2014/main" id="{255022E6-C03F-4B0E-BDC2-4EC9CCC95585}"/>
              </a:ext>
            </a:extLst>
          </p:cNvPr>
          <p:cNvSpPr>
            <a:spLocks xmlns:a="http://schemas.openxmlformats.org/drawingml/2006/main" noGrp="1"/>
          </p:cNvSpPr>
          <p:nvPr/>
        </p:nvSpPr>
        <p:spPr>
          <a:xfrm xmlns:a="http://schemas.openxmlformats.org/drawingml/2006/main">
            <a:off x="466344" y="237012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comprende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siguiente:</a:t>
            </a:r>
            <a:r>
              <a:rPr sz="710" b="0" i="0">
                <a:solidFill>
                  <a:srgbClr val="24383A"/>
                </a:solidFill>
                <a:latin typeface="DejaVu Sans"/>
                <a:ea typeface="DejaVu Sans"/>
                <a:cs typeface="DejaVu Sans"/>
              </a:rPr>
              <a:t> </a:t>
            </a:r>
          </a:p>
        </p:txBody>
      </p:sp>
      <p:sp>
        <p:nvSpPr>
          <p:cNvPr id="26" name="ANUARIO_CONTENIDO_0_0_13">
            <a:extLst xmlns:a="http://schemas.openxmlformats.org/drawingml/2006/main">
              <a:ext uri="{FF2B5EF4-FFF2-40B4-BE49-F238E27FC236}">
                <a16:creationId xmlns:a16="http://schemas.microsoft.com/office/drawing/2014/main" id="{A5DD88A7-CBA3-455E-BFA8-E45ABF6836E4}"/>
              </a:ext>
            </a:extLst>
          </p:cNvPr>
          <p:cNvSpPr>
            <a:spLocks xmlns:a="http://schemas.openxmlformats.org/drawingml/2006/main" noGrp="1"/>
          </p:cNvSpPr>
          <p:nvPr/>
        </p:nvSpPr>
        <p:spPr>
          <a:xfrm xmlns:a="http://schemas.openxmlformats.org/drawingml/2006/main">
            <a:off x="466344" y="249651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1.</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bruta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adquisición</a:t>
            </a:r>
            <a:r>
              <a:rPr sz="710" b="0" i="0">
                <a:solidFill>
                  <a:srgbClr val="24383A"/>
                </a:solidFill>
                <a:latin typeface="DejaVu Sans"/>
                <a:ea typeface="DejaVu Sans"/>
                <a:cs typeface="DejaVu Sans"/>
              </a:rPr>
              <a:t> </a:t>
            </a:r>
          </a:p>
        </p:txBody>
      </p:sp>
      <p:sp>
        <p:nvSpPr>
          <p:cNvPr id="27" name="ANUARIO_CONTENIDO_0_0_14">
            <a:extLst xmlns:a="http://schemas.openxmlformats.org/drawingml/2006/main">
              <a:ext uri="{FF2B5EF4-FFF2-40B4-BE49-F238E27FC236}">
                <a16:creationId xmlns:a16="http://schemas.microsoft.com/office/drawing/2014/main" id="{298057B5-0A70-4067-B544-E0CCF203D5CE}"/>
              </a:ext>
            </a:extLst>
          </p:cNvPr>
          <p:cNvSpPr>
            <a:spLocks xmlns:a="http://schemas.openxmlformats.org/drawingml/2006/main" noGrp="1"/>
          </p:cNvSpPr>
          <p:nvPr/>
        </p:nvSpPr>
        <p:spPr>
          <a:xfrm xmlns:a="http://schemas.openxmlformats.org/drawingml/2006/main">
            <a:off x="466344" y="259750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mejora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infraestructura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territorio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Incluye</a:t>
            </a:r>
            <a:r>
              <a:rPr sz="710" b="0" i="0">
                <a:solidFill>
                  <a:srgbClr val="24383A"/>
                </a:solidFill>
                <a:latin typeface="DejaVu Sans"/>
                <a:ea typeface="DejaVu Sans"/>
                <a:cs typeface="DejaVu Sans"/>
              </a:rPr>
              <a:t> </a:t>
            </a:r>
          </a:p>
        </p:txBody>
      </p:sp>
      <p:sp>
        <p:nvSpPr>
          <p:cNvPr id="28" name="ANUARIO_CONTENIDO_0_0_15">
            <a:extLst xmlns:a="http://schemas.openxmlformats.org/drawingml/2006/main">
              <a:ext uri="{FF2B5EF4-FFF2-40B4-BE49-F238E27FC236}">
                <a16:creationId xmlns:a16="http://schemas.microsoft.com/office/drawing/2014/main" id="{E01A137B-6061-4D03-9697-5DAFBBEAB1BD}"/>
              </a:ext>
            </a:extLst>
          </p:cNvPr>
          <p:cNvSpPr>
            <a:spLocks xmlns:a="http://schemas.openxmlformats.org/drawingml/2006/main" noGrp="1"/>
          </p:cNvSpPr>
          <p:nvPr/>
        </p:nvSpPr>
        <p:spPr>
          <a:xfrm xmlns:a="http://schemas.openxmlformats.org/drawingml/2006/main">
            <a:off x="466344" y="269849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instalaciones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operación,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así</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adiciones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29" name="ANUARIO_CONTENIDO_0_0_16">
            <a:extLst xmlns:a="http://schemas.openxmlformats.org/drawingml/2006/main">
              <a:ext uri="{FF2B5EF4-FFF2-40B4-BE49-F238E27FC236}">
                <a16:creationId xmlns:a16="http://schemas.microsoft.com/office/drawing/2014/main" id="{0D39A70E-6B72-4C21-B857-3C5FDDC82E03}"/>
              </a:ext>
            </a:extLst>
          </p:cNvPr>
          <p:cNvSpPr>
            <a:spLocks xmlns:a="http://schemas.openxmlformats.org/drawingml/2006/main" noGrp="1"/>
          </p:cNvSpPr>
          <p:nvPr/>
        </p:nvSpPr>
        <p:spPr>
          <a:xfrm xmlns:a="http://schemas.openxmlformats.org/drawingml/2006/main">
            <a:off x="466344" y="279948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modificaciones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instalaciones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existentes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utilización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prevé</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p>
        </p:txBody>
      </p:sp>
      <p:sp>
        <p:nvSpPr>
          <p:cNvPr id="30" name="ANUARIO_CONTENIDO_0_0_17">
            <a:extLst xmlns:a="http://schemas.openxmlformats.org/drawingml/2006/main">
              <a:ext uri="{FF2B5EF4-FFF2-40B4-BE49-F238E27FC236}">
                <a16:creationId xmlns:a16="http://schemas.microsoft.com/office/drawing/2014/main" id="{E1CCD793-EE8C-4204-92F1-5FFB7E907B59}"/>
              </a:ext>
            </a:extLst>
          </p:cNvPr>
          <p:cNvSpPr>
            <a:spLocks xmlns:a="http://schemas.openxmlformats.org/drawingml/2006/main" noGrp="1"/>
          </p:cNvSpPr>
          <p:nvPr/>
        </p:nvSpPr>
        <p:spPr>
          <a:xfrm xmlns:a="http://schemas.openxmlformats.org/drawingml/2006/main">
            <a:off x="466344" y="290047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amplio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periodo,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ejemplo,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conmutación,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señalización,</a:t>
            </a:r>
            <a:r>
              <a:rPr sz="710" b="0" i="0">
                <a:solidFill>
                  <a:srgbClr val="24383A"/>
                </a:solidFill>
                <a:latin typeface="DejaVu Sans"/>
                <a:ea typeface="DejaVu Sans"/>
                <a:cs typeface="DejaVu Sans"/>
              </a:rPr>
              <a:t> </a:t>
            </a:r>
          </a:p>
        </p:txBody>
      </p:sp>
      <p:sp>
        <p:nvSpPr>
          <p:cNvPr id="31" name="ANUARIO_CONTENIDO_0_0_18">
            <a:extLst xmlns:a="http://schemas.openxmlformats.org/drawingml/2006/main">
              <a:ext uri="{FF2B5EF4-FFF2-40B4-BE49-F238E27FC236}">
                <a16:creationId xmlns:a16="http://schemas.microsoft.com/office/drawing/2014/main" id="{A1D82FC4-5D65-4C9D-85E3-BE49B885A52A}"/>
              </a:ext>
            </a:extLst>
          </p:cNvPr>
          <p:cNvSpPr>
            <a:spLocks xmlns:a="http://schemas.openxmlformats.org/drawingml/2006/main" noGrp="1"/>
          </p:cNvSpPr>
          <p:nvPr/>
        </p:nvSpPr>
        <p:spPr>
          <a:xfrm xmlns:a="http://schemas.openxmlformats.org/drawingml/2006/main">
            <a:off x="466344" y="300146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sincronización,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fuerza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eléctrica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clima,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p>
        </p:txBody>
      </p:sp>
      <p:sp>
        <p:nvSpPr>
          <p:cNvPr id="32" name="ANUARIO_CONTENIDO_0_0_19">
            <a:extLst xmlns:a="http://schemas.openxmlformats.org/drawingml/2006/main">
              <a:ext uri="{FF2B5EF4-FFF2-40B4-BE49-F238E27FC236}">
                <a16:creationId xmlns:a16="http://schemas.microsoft.com/office/drawing/2014/main" id="{0B6FA691-C3A2-49E2-A597-B899D77403AC}"/>
              </a:ext>
            </a:extLst>
          </p:cNvPr>
          <p:cNvSpPr>
            <a:spLocks xmlns:a="http://schemas.openxmlformats.org/drawingml/2006/main" noGrp="1"/>
          </p:cNvSpPr>
          <p:nvPr/>
        </p:nvSpPr>
        <p:spPr>
          <a:xfrm xmlns:a="http://schemas.openxmlformats.org/drawingml/2006/main">
            <a:off x="466344" y="312785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2.</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bruta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concepto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compra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terrenos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edificios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asociados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a:t>
            </a:r>
            <a:r>
              <a:rPr sz="710" b="0" i="0">
                <a:solidFill>
                  <a:srgbClr val="24383A"/>
                </a:solidFill>
                <a:latin typeface="DejaVu Sans"/>
                <a:ea typeface="DejaVu Sans"/>
                <a:cs typeface="DejaVu Sans"/>
              </a:rPr>
              <a:t> </a:t>
            </a:r>
          </a:p>
        </p:txBody>
      </p:sp>
      <p:sp>
        <p:nvSpPr>
          <p:cNvPr id="33" name="ANUARIO_CONTENIDO_0_0_20">
            <a:extLst xmlns:a="http://schemas.openxmlformats.org/drawingml/2006/main">
              <a:ext uri="{FF2B5EF4-FFF2-40B4-BE49-F238E27FC236}">
                <a16:creationId xmlns:a16="http://schemas.microsoft.com/office/drawing/2014/main" id="{0961B3D9-7A72-4F16-844F-B9D74C07B063}"/>
              </a:ext>
            </a:extLst>
          </p:cNvPr>
          <p:cNvSpPr>
            <a:spLocks xmlns:a="http://schemas.openxmlformats.org/drawingml/2006/main" noGrp="1"/>
          </p:cNvSpPr>
          <p:nvPr/>
        </p:nvSpPr>
        <p:spPr>
          <a:xfrm xmlns:a="http://schemas.openxmlformats.org/drawingml/2006/main">
            <a:off x="466344" y="322884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servicio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p>
        </p:txBody>
      </p:sp>
      <p:sp>
        <p:nvSpPr>
          <p:cNvPr id="34" name="ANUARIO_CONTENIDO_0_0_21">
            <a:extLst xmlns:a="http://schemas.openxmlformats.org/drawingml/2006/main">
              <a:ext uri="{FF2B5EF4-FFF2-40B4-BE49-F238E27FC236}">
                <a16:creationId xmlns:a16="http://schemas.microsoft.com/office/drawing/2014/main" id="{8D4D8566-3F95-4998-95D3-9DE005456072}"/>
              </a:ext>
            </a:extLst>
          </p:cNvPr>
          <p:cNvSpPr>
            <a:spLocks xmlns:a="http://schemas.openxmlformats.org/drawingml/2006/main" noGrp="1"/>
          </p:cNvSpPr>
          <p:nvPr/>
        </p:nvSpPr>
        <p:spPr>
          <a:xfrm xmlns:a="http://schemas.openxmlformats.org/drawingml/2006/main">
            <a:off x="466344" y="335523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Índice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de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Precios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de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Comunicaciones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(IPCOM):</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índice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integra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índices</a:t>
            </a:r>
            <a:r>
              <a:rPr sz="710" b="0" i="0">
                <a:solidFill>
                  <a:srgbClr val="24383A"/>
                </a:solidFill>
                <a:latin typeface="DejaVu Sans"/>
                <a:ea typeface="DejaVu Sans"/>
                <a:cs typeface="DejaVu Sans"/>
              </a:rPr>
              <a:t> </a:t>
            </a:r>
          </a:p>
        </p:txBody>
      </p:sp>
      <p:sp>
        <p:nvSpPr>
          <p:cNvPr id="35" name="ANUARIO_CONTENIDO_0_0_22">
            <a:extLst xmlns:a="http://schemas.openxmlformats.org/drawingml/2006/main">
              <a:ext uri="{FF2B5EF4-FFF2-40B4-BE49-F238E27FC236}">
                <a16:creationId xmlns:a16="http://schemas.microsoft.com/office/drawing/2014/main" id="{80092B86-56B8-4E06-B327-EFD6B0F36A9E}"/>
              </a:ext>
            </a:extLst>
          </p:cNvPr>
          <p:cNvSpPr>
            <a:spLocks xmlns:a="http://schemas.openxmlformats.org/drawingml/2006/main" noGrp="1"/>
          </p:cNvSpPr>
          <p:nvPr/>
        </p:nvSpPr>
        <p:spPr>
          <a:xfrm xmlns:a="http://schemas.openxmlformats.org/drawingml/2006/main">
            <a:off x="466344" y="345622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móvil,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fija,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paquetes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36" name="ANUARIO_CONTENIDO_0_0_23">
            <a:extLst xmlns:a="http://schemas.openxmlformats.org/drawingml/2006/main">
              <a:ext uri="{FF2B5EF4-FFF2-40B4-BE49-F238E27FC236}">
                <a16:creationId xmlns:a16="http://schemas.microsoft.com/office/drawing/2014/main" id="{30F60BCB-862B-41F7-97BF-4BB913B40AD3}"/>
              </a:ext>
            </a:extLst>
          </p:cNvPr>
          <p:cNvSpPr>
            <a:spLocks xmlns:a="http://schemas.openxmlformats.org/drawingml/2006/main" noGrp="1"/>
          </p:cNvSpPr>
          <p:nvPr/>
        </p:nvSpPr>
        <p:spPr>
          <a:xfrm xmlns:a="http://schemas.openxmlformats.org/drawingml/2006/main">
            <a:off x="466344" y="355721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televisión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paga,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terminales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comunicación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p>
        </p:txBody>
      </p:sp>
      <p:sp>
        <p:nvSpPr>
          <p:cNvPr id="37" name="ANUARIO_CONTENIDO_0_0_24">
            <a:extLst xmlns:a="http://schemas.openxmlformats.org/drawingml/2006/main">
              <a:ext uri="{FF2B5EF4-FFF2-40B4-BE49-F238E27FC236}">
                <a16:creationId xmlns:a16="http://schemas.microsoft.com/office/drawing/2014/main" id="{07840669-4E9E-4E3A-9C1D-DE5C190B97BC}"/>
              </a:ext>
            </a:extLst>
          </p:cNvPr>
          <p:cNvSpPr>
            <a:spLocks xmlns:a="http://schemas.openxmlformats.org/drawingml/2006/main" noGrp="1"/>
          </p:cNvSpPr>
          <p:nvPr/>
        </p:nvSpPr>
        <p:spPr>
          <a:xfrm xmlns:a="http://schemas.openxmlformats.org/drawingml/2006/main">
            <a:off x="466344" y="365821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paquetería.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más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sobre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ponderadores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38" name="ANUARIO_CONTENIDO_0_0_25">
            <a:extLst xmlns:a="http://schemas.openxmlformats.org/drawingml/2006/main">
              <a:ext uri="{FF2B5EF4-FFF2-40B4-BE49-F238E27FC236}">
                <a16:creationId xmlns:a16="http://schemas.microsoft.com/office/drawing/2014/main" id="{C155BCA3-C914-4BC3-BB42-01A53A2B6670}"/>
              </a:ext>
            </a:extLst>
          </p:cNvPr>
          <p:cNvSpPr>
            <a:spLocks xmlns:a="http://schemas.openxmlformats.org/drawingml/2006/main" noGrp="1"/>
          </p:cNvSpPr>
          <p:nvPr/>
        </p:nvSpPr>
        <p:spPr>
          <a:xfrm xmlns:a="http://schemas.openxmlformats.org/drawingml/2006/main">
            <a:off x="466344" y="375920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INPC</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consultar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Anexo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III.</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Metodologías.</a:t>
            </a:r>
          </a:p>
        </p:txBody>
      </p:sp>
      <p:sp>
        <p:nvSpPr>
          <p:cNvPr id="39" name="ANUARIO_ANEXO_P123_DESIGN_2026">
            <a:extLst xmlns:a="http://schemas.openxmlformats.org/drawingml/2006/main">
              <a:ext uri="{FF2B5EF4-FFF2-40B4-BE49-F238E27FC236}">
                <a16:creationId xmlns:a16="http://schemas.microsoft.com/office/drawing/2014/main" id="{F6B8FC87-DA26-4A8C-96DE-79611622178E}"/>
              </a:ext>
            </a:extLst>
          </p:cNvPr>
          <p:cNvSpPr>
            <a:spLocks xmlns:a="http://schemas.openxmlformats.org/drawingml/2006/main" noGrp="1"/>
          </p:cNvSpPr>
          <p:nvPr/>
        </p:nvSpPr>
        <p:spPr>
          <a:xfrm xmlns:a="http://schemas.openxmlformats.org/drawingml/2006/main">
            <a:off x="4663440" y="566928"/>
            <a:ext cx="4178808" cy="2556198"/>
          </a:xfrm>
          <a:prstGeom xmlns:a="http://schemas.openxmlformats.org/drawingml/2006/main" prst="roundRect">
            <a:avLst>
              <a:gd name="adj" fmla="val 2146"/>
            </a:avLst>
          </a:prstGeom>
          <a:solidFill xmlns:a="http://schemas.openxmlformats.org/drawingml/2006/main">
            <a:srgbClr val="F6FAF9"/>
          </a:solidFill>
          <a:ln xmlns:a="http://schemas.openxmlformats.org/drawingml/2006/main" w="9525">
            <a:solidFill>
              <a:srgbClr val="C9DAD6"/>
            </a:solidFill>
          </a:ln>
        </p:spPr>
      </p:sp>
      <p:sp>
        <p:nvSpPr>
          <p:cNvPr id="40" name="ANUARIO_ACENTO">
            <a:extLst xmlns:a="http://schemas.openxmlformats.org/drawingml/2006/main">
              <a:ext uri="{FF2B5EF4-FFF2-40B4-BE49-F238E27FC236}">
                <a16:creationId xmlns:a16="http://schemas.microsoft.com/office/drawing/2014/main" id="{7C0A87F2-0E63-4B57-87D7-C859E16449F7}"/>
              </a:ext>
            </a:extLst>
          </p:cNvPr>
          <p:cNvSpPr>
            <a:spLocks xmlns:a="http://schemas.openxmlformats.org/drawingml/2006/main" noGrp="1"/>
          </p:cNvSpPr>
          <p:nvPr/>
        </p:nvSpPr>
        <p:spPr>
          <a:xfrm xmlns:a="http://schemas.openxmlformats.org/drawingml/2006/main">
            <a:off x="4663440" y="640080"/>
            <a:ext cx="64008" cy="240989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1" name="ANUARIO_LETRA_FONDO">
            <a:extLst xmlns:a="http://schemas.openxmlformats.org/drawingml/2006/main">
              <a:ext uri="{FF2B5EF4-FFF2-40B4-BE49-F238E27FC236}">
                <a16:creationId xmlns:a16="http://schemas.microsoft.com/office/drawing/2014/main" id="{5B60389B-C4D0-4C71-81F2-18DAE486B3EC}"/>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42" name="ANUARIO_LETRA">
            <a:extLst xmlns:a="http://schemas.openxmlformats.org/drawingml/2006/main">
              <a:ext uri="{FF2B5EF4-FFF2-40B4-BE49-F238E27FC236}">
                <a16:creationId xmlns:a16="http://schemas.microsoft.com/office/drawing/2014/main" id="{EE3B56DD-BA1C-4AF2-A439-279687A71FC0}"/>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M</a:t>
            </a:r>
          </a:p>
        </p:txBody>
      </p:sp>
      <p:sp>
        <p:nvSpPr>
          <p:cNvPr id="43" name="ANUARIO_CONTENIDO_1_0_0">
            <a:extLst xmlns:a="http://schemas.openxmlformats.org/drawingml/2006/main">
              <a:ext uri="{FF2B5EF4-FFF2-40B4-BE49-F238E27FC236}">
                <a16:creationId xmlns:a16="http://schemas.microsoft.com/office/drawing/2014/main" id="{D2F8B5BA-6130-4435-BD1B-D567D44FAC20}"/>
              </a:ext>
            </a:extLst>
          </p:cNvPr>
          <p:cNvSpPr>
            <a:spLocks xmlns:a="http://schemas.openxmlformats.org/drawingml/2006/main" noGrp="1"/>
          </p:cNvSpPr>
          <p:nvPr/>
        </p:nvSpPr>
        <p:spPr>
          <a:xfrm xmlns:a="http://schemas.openxmlformats.org/drawingml/2006/main">
            <a:off x="4828032" y="87782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1">
                <a:solidFill>
                  <a:srgbClr val="2F7F6F"/>
                </a:solidFill>
                <a:latin typeface="DejaVu Sans"/>
                <a:ea typeface="DejaVu Sans"/>
                <a:cs typeface="DejaVu Sans"/>
              </a:rPr>
              <a:t>Magazine</a:t>
            </a:r>
            <a:r>
              <a:rPr sz="710" b="1" i="0">
                <a:solidFill>
                  <a:srgbClr val="2F7F6F"/>
                </a:solidFill>
                <a:latin typeface="DejaVu Sans"/>
                <a:ea typeface="DejaVu Sans"/>
                <a:cs typeface="DejaVu Sans"/>
              </a:rPr>
              <a: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producción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contiene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diferentes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cuadros,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p>
        </p:txBody>
      </p:sp>
      <p:sp>
        <p:nvSpPr>
          <p:cNvPr id="44" name="ANUARIO_CONTENIDO_1_0_1">
            <a:extLst xmlns:a="http://schemas.openxmlformats.org/drawingml/2006/main">
              <a:ext uri="{FF2B5EF4-FFF2-40B4-BE49-F238E27FC236}">
                <a16:creationId xmlns:a16="http://schemas.microsoft.com/office/drawing/2014/main" id="{D232C2CC-616C-4951-808A-424608C9EBA7}"/>
              </a:ext>
            </a:extLst>
          </p:cNvPr>
          <p:cNvSpPr>
            <a:spLocks xmlns:a="http://schemas.openxmlformats.org/drawingml/2006/main" noGrp="1"/>
          </p:cNvSpPr>
          <p:nvPr/>
        </p:nvSpPr>
        <p:spPr>
          <a:xfrm xmlns:a="http://schemas.openxmlformats.org/drawingml/2006/main">
            <a:off x="4828032" y="97881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variedades,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entrevistas,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investigaciones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comentarios.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p>
        </p:txBody>
      </p:sp>
      <p:sp>
        <p:nvSpPr>
          <p:cNvPr id="45" name="ANUARIO_CONTENIDO_1_0_2">
            <a:extLst xmlns:a="http://schemas.openxmlformats.org/drawingml/2006/main">
              <a:ext uri="{FF2B5EF4-FFF2-40B4-BE49-F238E27FC236}">
                <a16:creationId xmlns:a16="http://schemas.microsoft.com/office/drawing/2014/main" id="{611E37D7-1DE8-4204-AB35-0B800F2C6181}"/>
              </a:ext>
            </a:extLst>
          </p:cNvPr>
          <p:cNvSpPr>
            <a:spLocks xmlns:a="http://schemas.openxmlformats.org/drawingml/2006/main" noGrp="1"/>
          </p:cNvSpPr>
          <p:nvPr/>
        </p:nvSpPr>
        <p:spPr>
          <a:xfrm xmlns:a="http://schemas.openxmlformats.org/drawingml/2006/main">
            <a:off x="4828032" y="107980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contemplan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aquellos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características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sean</a:t>
            </a:r>
            <a:r>
              <a:rPr sz="710" b="0" i="0">
                <a:solidFill>
                  <a:srgbClr val="24383A"/>
                </a:solidFill>
                <a:latin typeface="DejaVu Sans"/>
                <a:ea typeface="DejaVu Sans"/>
                <a:cs typeface="DejaVu Sans"/>
              </a:rPr>
              <a:t> </a:t>
            </a:r>
          </a:p>
        </p:txBody>
      </p:sp>
      <p:sp>
        <p:nvSpPr>
          <p:cNvPr id="46" name="ANUARIO_CONTENIDO_1_0_3">
            <a:extLst xmlns:a="http://schemas.openxmlformats.org/drawingml/2006/main">
              <a:ext uri="{FF2B5EF4-FFF2-40B4-BE49-F238E27FC236}">
                <a16:creationId xmlns:a16="http://schemas.microsoft.com/office/drawing/2014/main" id="{37F7670D-C99E-46A8-AE96-D33D6F2AC8C5}"/>
              </a:ext>
            </a:extLst>
          </p:cNvPr>
          <p:cNvSpPr>
            <a:spLocks xmlns:a="http://schemas.openxmlformats.org/drawingml/2006/main" noGrp="1"/>
          </p:cNvSpPr>
          <p:nvPr/>
        </p:nvSpPr>
        <p:spPr>
          <a:xfrm xmlns:a="http://schemas.openxmlformats.org/drawingml/2006/main">
            <a:off x="4828032" y="118079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clasificables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algún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cobertura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eventos</a:t>
            </a:r>
            <a:r>
              <a:rPr sz="710" b="0" i="0">
                <a:solidFill>
                  <a:srgbClr val="24383A"/>
                </a:solidFill>
                <a:latin typeface="DejaVu Sans"/>
                <a:ea typeface="DejaVu Sans"/>
                <a:cs typeface="DejaVu Sans"/>
              </a:rPr>
              <a:t> </a:t>
            </a:r>
          </a:p>
        </p:txBody>
      </p:sp>
      <p:sp>
        <p:nvSpPr>
          <p:cNvPr id="47" name="ANUARIO_CONTENIDO_1_0_4">
            <a:extLst xmlns:a="http://schemas.openxmlformats.org/drawingml/2006/main">
              <a:ext uri="{FF2B5EF4-FFF2-40B4-BE49-F238E27FC236}">
                <a16:creationId xmlns:a16="http://schemas.microsoft.com/office/drawing/2014/main" id="{DBB81BBD-4339-4719-9AEB-451BB7282E20}"/>
              </a:ext>
            </a:extLst>
          </p:cNvPr>
          <p:cNvSpPr>
            <a:spLocks xmlns:a="http://schemas.openxmlformats.org/drawingml/2006/main" noGrp="1"/>
          </p:cNvSpPr>
          <p:nvPr/>
        </p:nvSpPr>
        <p:spPr>
          <a:xfrm xmlns:a="http://schemas.openxmlformats.org/drawingml/2006/main">
            <a:off x="4828032" y="128178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(exceptuando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religiosos,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deportivos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culturales).</a:t>
            </a:r>
          </a:p>
        </p:txBody>
      </p:sp>
      <p:sp>
        <p:nvSpPr>
          <p:cNvPr id="48" name="ANUARIO_CONTENIDO_1_0_5">
            <a:extLst xmlns:a="http://schemas.openxmlformats.org/drawingml/2006/main">
              <a:ext uri="{FF2B5EF4-FFF2-40B4-BE49-F238E27FC236}">
                <a16:creationId xmlns:a16="http://schemas.microsoft.com/office/drawing/2014/main" id="{4F57126C-FA15-4541-9399-48CA54A13960}"/>
              </a:ext>
            </a:extLst>
          </p:cNvPr>
          <p:cNvSpPr>
            <a:spLocks xmlns:a="http://schemas.openxmlformats.org/drawingml/2006/main" noGrp="1"/>
          </p:cNvSpPr>
          <p:nvPr/>
        </p:nvSpPr>
        <p:spPr>
          <a:xfrm xmlns:a="http://schemas.openxmlformats.org/drawingml/2006/main">
            <a:off x="4828032" y="140817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Megabyte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(MB):</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datos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p>
        </p:txBody>
      </p:sp>
      <p:sp>
        <p:nvSpPr>
          <p:cNvPr id="49" name="ANUARIO_CONTENIDO_1_0_6">
            <a:extLst xmlns:a="http://schemas.openxmlformats.org/drawingml/2006/main">
              <a:ext uri="{FF2B5EF4-FFF2-40B4-BE49-F238E27FC236}">
                <a16:creationId xmlns:a16="http://schemas.microsoft.com/office/drawing/2014/main" id="{76B8A2D6-E8C6-427D-9613-967607F32239}"/>
              </a:ext>
            </a:extLst>
          </p:cNvPr>
          <p:cNvSpPr>
            <a:spLocks xmlns:a="http://schemas.openxmlformats.org/drawingml/2006/main" noGrp="1"/>
          </p:cNvSpPr>
          <p:nvPr/>
        </p:nvSpPr>
        <p:spPr>
          <a:xfrm xmlns:a="http://schemas.openxmlformats.org/drawingml/2006/main">
            <a:off x="4828032" y="153456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Megabits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(Mbps):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Megabits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segundo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velocidad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50" name="ANUARIO_CONTENIDO_1_0_7">
            <a:extLst xmlns:a="http://schemas.openxmlformats.org/drawingml/2006/main">
              <a:ext uri="{FF2B5EF4-FFF2-40B4-BE49-F238E27FC236}">
                <a16:creationId xmlns:a16="http://schemas.microsoft.com/office/drawing/2014/main" id="{E9CA3EBB-924D-4211-B37B-4D46B35BB7B7}"/>
              </a:ext>
            </a:extLst>
          </p:cNvPr>
          <p:cNvSpPr>
            <a:spLocks xmlns:a="http://schemas.openxmlformats.org/drawingml/2006/main" noGrp="1"/>
          </p:cNvSpPr>
          <p:nvPr/>
        </p:nvSpPr>
        <p:spPr>
          <a:xfrm xmlns:a="http://schemas.openxmlformats.org/drawingml/2006/main">
            <a:off x="4828032" y="163555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datos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banda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ancha.</a:t>
            </a:r>
          </a:p>
        </p:txBody>
      </p:sp>
      <p:sp>
        <p:nvSpPr>
          <p:cNvPr id="51" name="ANUARIO_CONTENIDO_1_0_8">
            <a:extLst xmlns:a="http://schemas.openxmlformats.org/drawingml/2006/main">
              <a:ext uri="{FF2B5EF4-FFF2-40B4-BE49-F238E27FC236}">
                <a16:creationId xmlns:a16="http://schemas.microsoft.com/office/drawing/2014/main" id="{D1DA5B47-6404-4210-A11C-82AF48F0DBD4}"/>
              </a:ext>
            </a:extLst>
          </p:cNvPr>
          <p:cNvSpPr>
            <a:spLocks xmlns:a="http://schemas.openxmlformats.org/drawingml/2006/main" noGrp="1"/>
          </p:cNvSpPr>
          <p:nvPr/>
        </p:nvSpPr>
        <p:spPr>
          <a:xfrm xmlns:a="http://schemas.openxmlformats.org/drawingml/2006/main">
            <a:off x="4828032" y="176194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Megahertz</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(MHz):</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frecuencia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equivale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106</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Hertz.</a:t>
            </a:r>
          </a:p>
        </p:txBody>
      </p:sp>
      <p:sp>
        <p:nvSpPr>
          <p:cNvPr id="52" name="ANUARIO_CONTENIDO_1_0_9">
            <a:extLst xmlns:a="http://schemas.openxmlformats.org/drawingml/2006/main">
              <a:ext uri="{FF2B5EF4-FFF2-40B4-BE49-F238E27FC236}">
                <a16:creationId xmlns:a16="http://schemas.microsoft.com/office/drawing/2014/main" id="{C17F7D81-87AF-4880-810C-948D3DF57112}"/>
              </a:ext>
            </a:extLst>
          </p:cNvPr>
          <p:cNvSpPr>
            <a:spLocks xmlns:a="http://schemas.openxmlformats.org/drawingml/2006/main" noGrp="1"/>
          </p:cNvSpPr>
          <p:nvPr/>
        </p:nvSpPr>
        <p:spPr>
          <a:xfrm xmlns:a="http://schemas.openxmlformats.org/drawingml/2006/main">
            <a:off x="4828032" y="188833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Mercadeo: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promueve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venta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productos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telefónica.</a:t>
            </a:r>
            <a:r>
              <a:rPr sz="710" b="0" i="0">
                <a:solidFill>
                  <a:srgbClr val="24383A"/>
                </a:solidFill>
                <a:latin typeface="DejaVu Sans"/>
                <a:ea typeface="DejaVu Sans"/>
                <a:cs typeface="DejaVu Sans"/>
              </a:rPr>
              <a:t> </a:t>
            </a:r>
          </a:p>
        </p:txBody>
      </p:sp>
      <p:sp>
        <p:nvSpPr>
          <p:cNvPr id="53" name="ANUARIO_CONTENIDO_1_0_10">
            <a:extLst xmlns:a="http://schemas.openxmlformats.org/drawingml/2006/main">
              <a:ext uri="{FF2B5EF4-FFF2-40B4-BE49-F238E27FC236}">
                <a16:creationId xmlns:a16="http://schemas.microsoft.com/office/drawing/2014/main" id="{F51DDDB6-DCF9-41EF-889F-0F10750B755C}"/>
              </a:ext>
            </a:extLst>
          </p:cNvPr>
          <p:cNvSpPr>
            <a:spLocks xmlns:a="http://schemas.openxmlformats.org/drawingml/2006/main" noGrp="1"/>
          </p:cNvSpPr>
          <p:nvPr/>
        </p:nvSpPr>
        <p:spPr>
          <a:xfrm xmlns:a="http://schemas.openxmlformats.org/drawingml/2006/main">
            <a:off x="4828032" y="198932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Generalmente,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tipo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demostraciones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54" name="ANUARIO_CONTENIDO_1_0_11">
            <a:extLst xmlns:a="http://schemas.openxmlformats.org/drawingml/2006/main">
              <a:ext uri="{FF2B5EF4-FFF2-40B4-BE49-F238E27FC236}">
                <a16:creationId xmlns:a16="http://schemas.microsoft.com/office/drawing/2014/main" id="{71AB3BBA-308D-4C48-8C58-A36C80E28936}"/>
              </a:ext>
            </a:extLst>
          </p:cNvPr>
          <p:cNvSpPr>
            <a:spLocks xmlns:a="http://schemas.openxmlformats.org/drawingml/2006/main" noGrp="1"/>
          </p:cNvSpPr>
          <p:nvPr/>
        </p:nvSpPr>
        <p:spPr>
          <a:xfrm xmlns:a="http://schemas.openxmlformats.org/drawingml/2006/main">
            <a:off x="4828032" y="209031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explicaciones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funcionamiento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artículos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ofrecidos.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p>
        </p:txBody>
      </p:sp>
      <p:sp>
        <p:nvSpPr>
          <p:cNvPr id="55" name="ANUARIO_CONTENIDO_1_0_12">
            <a:extLst xmlns:a="http://schemas.openxmlformats.org/drawingml/2006/main">
              <a:ext uri="{FF2B5EF4-FFF2-40B4-BE49-F238E27FC236}">
                <a16:creationId xmlns:a16="http://schemas.microsoft.com/office/drawing/2014/main" id="{5C14E93C-43AA-4CB6-AF93-905EECAFF94B}"/>
              </a:ext>
            </a:extLst>
          </p:cNvPr>
          <p:cNvSpPr>
            <a:spLocks xmlns:a="http://schemas.openxmlformats.org/drawingml/2006/main" noGrp="1"/>
          </p:cNvSpPr>
          <p:nvPr/>
        </p:nvSpPr>
        <p:spPr>
          <a:xfrm xmlns:a="http://schemas.openxmlformats.org/drawingml/2006/main">
            <a:off x="4828032" y="219130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encuentran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categoría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pagados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instituciones,</a:t>
            </a:r>
            <a:r>
              <a:rPr sz="710" b="0" i="0">
                <a:solidFill>
                  <a:srgbClr val="24383A"/>
                </a:solidFill>
                <a:latin typeface="DejaVu Sans"/>
                <a:ea typeface="DejaVu Sans"/>
                <a:cs typeface="DejaVu Sans"/>
              </a:rPr>
              <a:t> </a:t>
            </a:r>
          </a:p>
        </p:txBody>
      </p:sp>
      <p:sp>
        <p:nvSpPr>
          <p:cNvPr id="56" name="ANUARIO_CONTENIDO_1_0_13">
            <a:extLst xmlns:a="http://schemas.openxmlformats.org/drawingml/2006/main">
              <a:ext uri="{FF2B5EF4-FFF2-40B4-BE49-F238E27FC236}">
                <a16:creationId xmlns:a16="http://schemas.microsoft.com/office/drawing/2014/main" id="{5A786FA2-0940-43D9-A39D-254D027D2E4C}"/>
              </a:ext>
            </a:extLst>
          </p:cNvPr>
          <p:cNvSpPr>
            <a:spLocks xmlns:a="http://schemas.openxmlformats.org/drawingml/2006/main" noGrp="1"/>
          </p:cNvSpPr>
          <p:nvPr/>
        </p:nvSpPr>
        <p:spPr>
          <a:xfrm xmlns:a="http://schemas.openxmlformats.org/drawingml/2006/main">
            <a:off x="4828032" y="229229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asociaciones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civiles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religiosas,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tiempo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aire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utilizado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p>
        </p:txBody>
      </p:sp>
      <p:sp>
        <p:nvSpPr>
          <p:cNvPr id="57" name="ANUARIO_CONTENIDO_1_0_14">
            <a:extLst xmlns:a="http://schemas.openxmlformats.org/drawingml/2006/main">
              <a:ext uri="{FF2B5EF4-FFF2-40B4-BE49-F238E27FC236}">
                <a16:creationId xmlns:a16="http://schemas.microsoft.com/office/drawing/2014/main" id="{0023F81E-9993-41B5-92EA-691317D1F030}"/>
              </a:ext>
            </a:extLst>
          </p:cNvPr>
          <p:cNvSpPr>
            <a:spLocks xmlns:a="http://schemas.openxmlformats.org/drawingml/2006/main" noGrp="1"/>
          </p:cNvSpPr>
          <p:nvPr/>
        </p:nvSpPr>
        <p:spPr>
          <a:xfrm xmlns:a="http://schemas.openxmlformats.org/drawingml/2006/main">
            <a:off x="4828032" y="239329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difusión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mensaje.</a:t>
            </a:r>
          </a:p>
        </p:txBody>
      </p:sp>
      <p:sp>
        <p:nvSpPr>
          <p:cNvPr id="58" name="ANUARIO_CONTENIDO_1_0_15">
            <a:extLst xmlns:a="http://schemas.openxmlformats.org/drawingml/2006/main">
              <a:ext uri="{FF2B5EF4-FFF2-40B4-BE49-F238E27FC236}">
                <a16:creationId xmlns:a16="http://schemas.microsoft.com/office/drawing/2014/main" id="{F2E018C1-095B-4973-B126-4C15A803ED05}"/>
              </a:ext>
            </a:extLst>
          </p:cNvPr>
          <p:cNvSpPr>
            <a:spLocks xmlns:a="http://schemas.openxmlformats.org/drawingml/2006/main" noGrp="1"/>
          </p:cNvSpPr>
          <p:nvPr/>
        </p:nvSpPr>
        <p:spPr>
          <a:xfrm xmlns:a="http://schemas.openxmlformats.org/drawingml/2006/main">
            <a:off x="4828032" y="251968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Musicales: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corte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musical,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videos,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conciertos,</a:t>
            </a:r>
            <a:r>
              <a:rPr sz="710" b="0" i="0">
                <a:solidFill>
                  <a:srgbClr val="24383A"/>
                </a:solidFill>
                <a:latin typeface="DejaVu Sans"/>
                <a:ea typeface="DejaVu Sans"/>
                <a:cs typeface="DejaVu Sans"/>
              </a:rPr>
              <a:t> </a:t>
            </a:r>
          </a:p>
        </p:txBody>
      </p:sp>
      <p:sp>
        <p:nvSpPr>
          <p:cNvPr id="59" name="ANUARIO_CONTENIDO_1_0_16">
            <a:extLst xmlns:a="http://schemas.openxmlformats.org/drawingml/2006/main">
              <a:ext uri="{FF2B5EF4-FFF2-40B4-BE49-F238E27FC236}">
                <a16:creationId xmlns:a16="http://schemas.microsoft.com/office/drawing/2014/main" id="{C42AEBBC-1724-4EC1-9F3B-00A2CB4616A3}"/>
              </a:ext>
            </a:extLst>
          </p:cNvPr>
          <p:cNvSpPr>
            <a:spLocks xmlns:a="http://schemas.openxmlformats.org/drawingml/2006/main" noGrp="1"/>
          </p:cNvSpPr>
          <p:nvPr/>
        </p:nvSpPr>
        <p:spPr>
          <a:xfrm xmlns:a="http://schemas.openxmlformats.org/drawingml/2006/main">
            <a:off x="4828032" y="262067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presentaciones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cantantes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grupos,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pueden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incluir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semblanzas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60" name="ANUARIO_CONTENIDO_1_0_17">
            <a:extLst xmlns:a="http://schemas.openxmlformats.org/drawingml/2006/main">
              <a:ext uri="{FF2B5EF4-FFF2-40B4-BE49-F238E27FC236}">
                <a16:creationId xmlns:a16="http://schemas.microsoft.com/office/drawing/2014/main" id="{88863E40-16B4-4068-8308-C2F11DB9DB11}"/>
              </a:ext>
            </a:extLst>
          </p:cNvPr>
          <p:cNvSpPr>
            <a:spLocks xmlns:a="http://schemas.openxmlformats.org/drawingml/2006/main" noGrp="1"/>
          </p:cNvSpPr>
          <p:nvPr/>
        </p:nvSpPr>
        <p:spPr>
          <a:xfrm xmlns:a="http://schemas.openxmlformats.org/drawingml/2006/main">
            <a:off x="4828032" y="272166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entrevistas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presentados.</a:t>
            </a:r>
          </a:p>
        </p:txBody>
      </p:sp>
      <p:sp>
        <p:nvSpPr>
          <p:cNvPr id="61" name="ANUARIO_ANEXO_P123_DESIGN_2026">
            <a:extLst xmlns:a="http://schemas.openxmlformats.org/drawingml/2006/main">
              <a:ext uri="{FF2B5EF4-FFF2-40B4-BE49-F238E27FC236}">
                <a16:creationId xmlns:a16="http://schemas.microsoft.com/office/drawing/2014/main" id="{ECB9C988-B179-4A01-A888-614E8BD05454}"/>
              </a:ext>
            </a:extLst>
          </p:cNvPr>
          <p:cNvSpPr>
            <a:spLocks xmlns:a="http://schemas.openxmlformats.org/drawingml/2006/main" noGrp="1"/>
          </p:cNvSpPr>
          <p:nvPr/>
        </p:nvSpPr>
        <p:spPr>
          <a:xfrm xmlns:a="http://schemas.openxmlformats.org/drawingml/2006/main">
            <a:off x="4663440" y="3214566"/>
            <a:ext cx="4178808" cy="1247706"/>
          </a:xfrm>
          <a:prstGeom xmlns:a="http://schemas.openxmlformats.org/drawingml/2006/main" prst="roundRect">
            <a:avLst>
              <a:gd name="adj" fmla="val 4397"/>
            </a:avLst>
          </a:prstGeom>
          <a:solidFill xmlns:a="http://schemas.openxmlformats.org/drawingml/2006/main">
            <a:srgbClr val="F6FAF9"/>
          </a:solidFill>
          <a:ln xmlns:a="http://schemas.openxmlformats.org/drawingml/2006/main" w="9525">
            <a:solidFill>
              <a:srgbClr val="C9DAD6"/>
            </a:solidFill>
          </a:ln>
        </p:spPr>
      </p:sp>
      <p:sp>
        <p:nvSpPr>
          <p:cNvPr id="62" name="ANUARIO_ACENTO">
            <a:extLst xmlns:a="http://schemas.openxmlformats.org/drawingml/2006/main">
              <a:ext uri="{FF2B5EF4-FFF2-40B4-BE49-F238E27FC236}">
                <a16:creationId xmlns:a16="http://schemas.microsoft.com/office/drawing/2014/main" id="{E9AADBC6-844C-424C-9BEE-09BD8D355997}"/>
              </a:ext>
            </a:extLst>
          </p:cNvPr>
          <p:cNvSpPr>
            <a:spLocks xmlns:a="http://schemas.openxmlformats.org/drawingml/2006/main" noGrp="1"/>
          </p:cNvSpPr>
          <p:nvPr/>
        </p:nvSpPr>
        <p:spPr>
          <a:xfrm xmlns:a="http://schemas.openxmlformats.org/drawingml/2006/main">
            <a:off x="4663440" y="3287718"/>
            <a:ext cx="64008" cy="110140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63" name="ANUARIO_LETRA_FONDO">
            <a:extLst xmlns:a="http://schemas.openxmlformats.org/drawingml/2006/main">
              <a:ext uri="{FF2B5EF4-FFF2-40B4-BE49-F238E27FC236}">
                <a16:creationId xmlns:a16="http://schemas.microsoft.com/office/drawing/2014/main" id="{89942648-AB1D-46B8-AA51-453C331A28ED}"/>
              </a:ext>
            </a:extLst>
          </p:cNvPr>
          <p:cNvSpPr>
            <a:spLocks xmlns:a="http://schemas.openxmlformats.org/drawingml/2006/main" noGrp="1"/>
          </p:cNvSpPr>
          <p:nvPr/>
        </p:nvSpPr>
        <p:spPr>
          <a:xfrm xmlns:a="http://schemas.openxmlformats.org/drawingml/2006/main">
            <a:off x="4828032" y="3287718"/>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64" name="ANUARIO_LETRA">
            <a:extLst xmlns:a="http://schemas.openxmlformats.org/drawingml/2006/main">
              <a:ext uri="{FF2B5EF4-FFF2-40B4-BE49-F238E27FC236}">
                <a16:creationId xmlns:a16="http://schemas.microsoft.com/office/drawing/2014/main" id="{E4ACC113-DE1D-408E-9267-D1953ED88CE2}"/>
              </a:ext>
            </a:extLst>
          </p:cNvPr>
          <p:cNvSpPr>
            <a:spLocks xmlns:a="http://schemas.openxmlformats.org/drawingml/2006/main" noGrp="1"/>
          </p:cNvSpPr>
          <p:nvPr/>
        </p:nvSpPr>
        <p:spPr>
          <a:xfrm xmlns:a="http://schemas.openxmlformats.org/drawingml/2006/main">
            <a:off x="4828032" y="3306006"/>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N</a:t>
            </a:r>
          </a:p>
        </p:txBody>
      </p:sp>
      <p:sp>
        <p:nvSpPr>
          <p:cNvPr id="65" name="ANUARIO_CONTENIDO_1_1_0">
            <a:extLst xmlns:a="http://schemas.openxmlformats.org/drawingml/2006/main">
              <a:ext uri="{FF2B5EF4-FFF2-40B4-BE49-F238E27FC236}">
                <a16:creationId xmlns:a16="http://schemas.microsoft.com/office/drawing/2014/main" id="{7FBC53AD-8CBB-457E-A6FB-F92136B4D387}"/>
              </a:ext>
            </a:extLst>
          </p:cNvPr>
          <p:cNvSpPr>
            <a:spLocks xmlns:a="http://schemas.openxmlformats.org/drawingml/2006/main" noGrp="1"/>
          </p:cNvSpPr>
          <p:nvPr/>
        </p:nvSpPr>
        <p:spPr>
          <a:xfrm xmlns:a="http://schemas.openxmlformats.org/drawingml/2006/main">
            <a:off x="4828032" y="352546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Noticieros: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basada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actualidad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a:t>
            </a:r>
            <a:r>
              <a:rPr sz="710" b="0" i="0">
                <a:solidFill>
                  <a:srgbClr val="24383A"/>
                </a:solidFill>
                <a:latin typeface="DejaVu Sans"/>
                <a:ea typeface="DejaVu Sans"/>
                <a:cs typeface="DejaVu Sans"/>
              </a:rPr>
              <a:t> </a:t>
            </a:r>
          </a:p>
        </p:txBody>
      </p:sp>
      <p:sp>
        <p:nvSpPr>
          <p:cNvPr id="66" name="ANUARIO_CONTENIDO_1_1_1">
            <a:extLst xmlns:a="http://schemas.openxmlformats.org/drawingml/2006/main">
              <a:ext uri="{FF2B5EF4-FFF2-40B4-BE49-F238E27FC236}">
                <a16:creationId xmlns:a16="http://schemas.microsoft.com/office/drawing/2014/main" id="{8B2704DA-C2AA-45FF-8D0E-04793E2E80C1}"/>
              </a:ext>
            </a:extLst>
          </p:cNvPr>
          <p:cNvSpPr>
            <a:spLocks xmlns:a="http://schemas.openxmlformats.org/drawingml/2006/main" noGrp="1"/>
          </p:cNvSpPr>
          <p:nvPr/>
        </p:nvSpPr>
        <p:spPr>
          <a:xfrm xmlns:a="http://schemas.openxmlformats.org/drawingml/2006/main">
            <a:off x="4828032" y="362645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internacional,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articulada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tradicionales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periodismo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escrito,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p>
        </p:txBody>
      </p:sp>
      <p:sp>
        <p:nvSpPr>
          <p:cNvPr id="67" name="ANUARIO_CONTENIDO_1_1_2">
            <a:extLst xmlns:a="http://schemas.openxmlformats.org/drawingml/2006/main">
              <a:ext uri="{FF2B5EF4-FFF2-40B4-BE49-F238E27FC236}">
                <a16:creationId xmlns:a16="http://schemas.microsoft.com/office/drawing/2014/main" id="{85928106-1532-477D-A034-E8971324F61D}"/>
              </a:ext>
            </a:extLst>
          </p:cNvPr>
          <p:cNvSpPr>
            <a:spLocks xmlns:a="http://schemas.openxmlformats.org/drawingml/2006/main" noGrp="1"/>
          </p:cNvSpPr>
          <p:nvPr/>
        </p:nvSpPr>
        <p:spPr>
          <a:xfrm xmlns:a="http://schemas.openxmlformats.org/drawingml/2006/main">
            <a:off x="4828032" y="372744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entrevista,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editorial,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p>
        </p:txBody>
      </p:sp>
      <p:sp>
        <p:nvSpPr>
          <p:cNvPr id="68" name="ANUARIO_CONTENIDO_1_1_3">
            <a:extLst xmlns:a="http://schemas.openxmlformats.org/drawingml/2006/main">
              <a:ext uri="{FF2B5EF4-FFF2-40B4-BE49-F238E27FC236}">
                <a16:creationId xmlns:a16="http://schemas.microsoft.com/office/drawing/2014/main" id="{380C8932-3F8C-42B3-BD49-43E3AB55887F}"/>
              </a:ext>
            </a:extLst>
          </p:cNvPr>
          <p:cNvSpPr>
            <a:spLocks xmlns:a="http://schemas.openxmlformats.org/drawingml/2006/main" noGrp="1"/>
          </p:cNvSpPr>
          <p:nvPr/>
        </p:nvSpPr>
        <p:spPr>
          <a:xfrm xmlns:a="http://schemas.openxmlformats.org/drawingml/2006/main">
            <a:off x="4828032" y="382843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Generalmente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estructuran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bloques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temáticos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buscan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mantener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interés</a:t>
            </a:r>
            <a:r>
              <a:rPr sz="710" b="0" i="0">
                <a:solidFill>
                  <a:srgbClr val="24383A"/>
                </a:solidFill>
                <a:latin typeface="DejaVu Sans"/>
                <a:ea typeface="DejaVu Sans"/>
                <a:cs typeface="DejaVu Sans"/>
              </a:rPr>
              <a:t> </a:t>
            </a:r>
          </a:p>
        </p:txBody>
      </p:sp>
      <p:sp>
        <p:nvSpPr>
          <p:cNvPr id="69" name="ANUARIO_CONTENIDO_1_1_4">
            <a:extLst xmlns:a="http://schemas.openxmlformats.org/drawingml/2006/main">
              <a:ext uri="{FF2B5EF4-FFF2-40B4-BE49-F238E27FC236}">
                <a16:creationId xmlns:a16="http://schemas.microsoft.com/office/drawing/2014/main" id="{2CB81059-5A3C-4ACB-99BF-09BACB07A915}"/>
              </a:ext>
            </a:extLst>
          </p:cNvPr>
          <p:cNvSpPr>
            <a:spLocks xmlns:a="http://schemas.openxmlformats.org/drawingml/2006/main" noGrp="1"/>
          </p:cNvSpPr>
          <p:nvPr/>
        </p:nvSpPr>
        <p:spPr>
          <a:xfrm xmlns:a="http://schemas.openxmlformats.org/drawingml/2006/main">
            <a:off x="4828032" y="392942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eliminar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factores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distracción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está</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expuesto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televidente.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p>
        </p:txBody>
      </p:sp>
      <p:sp>
        <p:nvSpPr>
          <p:cNvPr id="70" name="ANUARIO_CONTENIDO_1_1_5">
            <a:extLst xmlns:a="http://schemas.openxmlformats.org/drawingml/2006/main">
              <a:ext uri="{FF2B5EF4-FFF2-40B4-BE49-F238E27FC236}">
                <a16:creationId xmlns:a16="http://schemas.microsoft.com/office/drawing/2014/main" id="{6A6CE820-E046-4ECA-A9E3-5DE3978692AD}"/>
              </a:ext>
            </a:extLst>
          </p:cNvPr>
          <p:cNvSpPr>
            <a:spLocks xmlns:a="http://schemas.openxmlformats.org/drawingml/2006/main" noGrp="1"/>
          </p:cNvSpPr>
          <p:nvPr/>
        </p:nvSpPr>
        <p:spPr>
          <a:xfrm xmlns:a="http://schemas.openxmlformats.org/drawingml/2006/main">
            <a:off x="4828032" y="403041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contemplan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aquellos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carácter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informativo,</a:t>
            </a:r>
            <a:r>
              <a:rPr sz="710" b="0" i="0">
                <a:solidFill>
                  <a:srgbClr val="24383A"/>
                </a:solidFill>
                <a:latin typeface="DejaVu Sans"/>
                <a:ea typeface="DejaVu Sans"/>
                <a:cs typeface="DejaVu Sans"/>
              </a:rPr>
              <a:t> </a:t>
            </a:r>
          </a:p>
        </p:txBody>
      </p:sp>
      <p:sp>
        <p:nvSpPr>
          <p:cNvPr id="71" name="ANUARIO_CONTENIDO_1_1_6">
            <a:extLst xmlns:a="http://schemas.openxmlformats.org/drawingml/2006/main">
              <a:ext uri="{FF2B5EF4-FFF2-40B4-BE49-F238E27FC236}">
                <a16:creationId xmlns:a16="http://schemas.microsoft.com/office/drawing/2014/main" id="{81A69B70-BB60-4A40-99C0-A5B3A114F817}"/>
              </a:ext>
            </a:extLst>
          </p:cNvPr>
          <p:cNvSpPr>
            <a:spLocks xmlns:a="http://schemas.openxmlformats.org/drawingml/2006/main" noGrp="1"/>
          </p:cNvSpPr>
          <p:nvPr/>
        </p:nvSpPr>
        <p:spPr>
          <a:xfrm xmlns:a="http://schemas.openxmlformats.org/drawingml/2006/main">
            <a:off x="4828032" y="413140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análisis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especializados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sobre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específicos.</a:t>
            </a:r>
          </a:p>
        </p:txBody>
      </p:sp>
      <p:pic>
        <p:nvPicPr>
          <p:cNvPr id="7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5"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7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79"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933780979"/>
      </p:ext>
    </p:extLst>
  </p:cSld>
</p:sld>
</file>

<file path=ppt/slides/slide123.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F3FA8A58-02F2-46E5-B7CB-DE1CF7117148}"/>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A164387E-5395-48FD-834D-49FE05BA375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123</a:t>
            </a:r>
          </a:p>
        </p:txBody>
      </p:sp>
      <p:sp>
        <p:nvSpPr>
          <p:cNvPr id="9" name="ANUARIO_EDICION">
            <a:extLst xmlns:a="http://schemas.openxmlformats.org/drawingml/2006/main">
              <a:ext uri="{FF2B5EF4-FFF2-40B4-BE49-F238E27FC236}">
                <a16:creationId xmlns:a16="http://schemas.microsoft.com/office/drawing/2014/main" id="{09F30D03-6B36-4353-B047-4C2875F1C7E4}"/>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4_DESIGN_2026">
            <a:extLst xmlns:a="http://schemas.openxmlformats.org/drawingml/2006/main">
              <a:ext uri="{FF2B5EF4-FFF2-40B4-BE49-F238E27FC236}">
                <a16:creationId xmlns:a16="http://schemas.microsoft.com/office/drawing/2014/main" id="{C4FF3E71-FF42-4E66-B913-1251F98FBF94}"/>
              </a:ext>
            </a:extLst>
          </p:cNvPr>
          <p:cNvSpPr>
            <a:spLocks xmlns:a="http://schemas.openxmlformats.org/drawingml/2006/main" noGrp="1"/>
          </p:cNvSpPr>
          <p:nvPr/>
        </p:nvSpPr>
        <p:spPr>
          <a:xfrm xmlns:a="http://schemas.openxmlformats.org/drawingml/2006/main">
            <a:off x="301752" y="566928"/>
            <a:ext cx="4178808" cy="1135804"/>
          </a:xfrm>
          <a:prstGeom xmlns:a="http://schemas.openxmlformats.org/drawingml/2006/main" prst="roundRect">
            <a:avLst>
              <a:gd name="adj" fmla="val 4830"/>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136357BF-50BC-4822-8F9F-A86CD6169F4B}"/>
              </a:ext>
            </a:extLst>
          </p:cNvPr>
          <p:cNvSpPr>
            <a:spLocks xmlns:a="http://schemas.openxmlformats.org/drawingml/2006/main" noGrp="1"/>
          </p:cNvSpPr>
          <p:nvPr/>
        </p:nvSpPr>
        <p:spPr>
          <a:xfrm xmlns:a="http://schemas.openxmlformats.org/drawingml/2006/main">
            <a:off x="301752" y="640080"/>
            <a:ext cx="64008" cy="98950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LETRA_FONDO">
            <a:extLst xmlns:a="http://schemas.openxmlformats.org/drawingml/2006/main">
              <a:ext uri="{FF2B5EF4-FFF2-40B4-BE49-F238E27FC236}">
                <a16:creationId xmlns:a16="http://schemas.microsoft.com/office/drawing/2014/main" id="{C319BAA2-9EED-4859-8B81-27DEEB23DB6D}"/>
              </a:ext>
            </a:extLst>
          </p:cNvPr>
          <p:cNvSpPr>
            <a:spLocks xmlns:a="http://schemas.openxmlformats.org/drawingml/2006/main" noGrp="1"/>
          </p:cNvSpPr>
          <p:nvPr/>
        </p:nvSpPr>
        <p:spPr>
          <a:xfrm xmlns:a="http://schemas.openxmlformats.org/drawingml/2006/main">
            <a:off x="466344"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13" name="ANUARIO_LETRA">
            <a:extLst xmlns:a="http://schemas.openxmlformats.org/drawingml/2006/main">
              <a:ext uri="{FF2B5EF4-FFF2-40B4-BE49-F238E27FC236}">
                <a16:creationId xmlns:a16="http://schemas.microsoft.com/office/drawing/2014/main" id="{5E6066C0-302D-49E0-84CE-AAAA5EAD373F}"/>
              </a:ext>
            </a:extLst>
          </p:cNvPr>
          <p:cNvSpPr>
            <a:spLocks xmlns:a="http://schemas.openxmlformats.org/drawingml/2006/main" noGrp="1"/>
          </p:cNvSpPr>
          <p:nvPr/>
        </p:nvSpPr>
        <p:spPr>
          <a:xfrm xmlns:a="http://schemas.openxmlformats.org/drawingml/2006/main">
            <a:off x="466344"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O</a:t>
            </a:r>
          </a:p>
        </p:txBody>
      </p:sp>
      <p:sp>
        <p:nvSpPr>
          <p:cNvPr id="14" name="ANUARIO_CONTENIDO_0_0_0">
            <a:extLst xmlns:a="http://schemas.openxmlformats.org/drawingml/2006/main">
              <a:ext uri="{FF2B5EF4-FFF2-40B4-BE49-F238E27FC236}">
                <a16:creationId xmlns:a16="http://schemas.microsoft.com/office/drawing/2014/main" id="{495481F7-62C5-4192-A267-51A8C71B0976}"/>
              </a:ext>
            </a:extLst>
          </p:cNvPr>
          <p:cNvSpPr>
            <a:spLocks xmlns:a="http://schemas.openxmlformats.org/drawingml/2006/main" noGrp="1"/>
          </p:cNvSpPr>
          <p:nvPr/>
        </p:nvSpPr>
        <p:spPr>
          <a:xfrm xmlns:a="http://schemas.openxmlformats.org/drawingml/2006/main">
            <a:off x="466344"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Operador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física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titular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varias</a:t>
            </a:r>
            <a:r>
              <a:rPr sz="650" b="0" i="0">
                <a:solidFill>
                  <a:srgbClr val="24383A"/>
                </a:solidFill>
                <a:latin typeface="DejaVu Sans"/>
                <a:ea typeface="DejaVu Sans"/>
                <a:cs typeface="DejaVu Sans"/>
              </a:rPr>
              <a:t> </a:t>
            </a:r>
          </a:p>
        </p:txBody>
      </p:sp>
      <p:sp>
        <p:nvSpPr>
          <p:cNvPr id="15" name="ANUARIO_CONTENIDO_0_0_1">
            <a:extLst xmlns:a="http://schemas.openxmlformats.org/drawingml/2006/main">
              <a:ext uri="{FF2B5EF4-FFF2-40B4-BE49-F238E27FC236}">
                <a16:creationId xmlns:a16="http://schemas.microsoft.com/office/drawing/2014/main" id="{12EF2D98-6F09-4036-AC9A-B43DBC1864F2}"/>
              </a:ext>
            </a:extLst>
          </p:cNvPr>
          <p:cNvSpPr>
            <a:spLocks xmlns:a="http://schemas.openxmlformats.org/drawingml/2006/main" noGrp="1"/>
          </p:cNvSpPr>
          <p:nvPr/>
        </p:nvSpPr>
        <p:spPr>
          <a:xfrm xmlns:a="http://schemas.openxmlformats.org/drawingml/2006/main">
            <a:off x="466344"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concesiones,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autorizaciones,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asignaciones,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habilitan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explotar</a:t>
            </a:r>
            <a:r>
              <a:rPr sz="650" b="0" i="0">
                <a:solidFill>
                  <a:srgbClr val="24383A"/>
                </a:solidFill>
                <a:latin typeface="DejaVu Sans"/>
                <a:ea typeface="DejaVu Sans"/>
                <a:cs typeface="DejaVu Sans"/>
              </a:rPr>
              <a:t> </a:t>
            </a:r>
          </a:p>
        </p:txBody>
      </p:sp>
      <p:sp>
        <p:nvSpPr>
          <p:cNvPr id="16" name="ANUARIO_CONTENIDO_0_0_2">
            <a:extLst xmlns:a="http://schemas.openxmlformats.org/drawingml/2006/main">
              <a:ext uri="{FF2B5EF4-FFF2-40B4-BE49-F238E27FC236}">
                <a16:creationId xmlns:a16="http://schemas.microsoft.com/office/drawing/2014/main" id="{F4881284-6FC4-484E-A65C-6CA7C0940C8A}"/>
              </a:ext>
            </a:extLst>
          </p:cNvPr>
          <p:cNvSpPr>
            <a:spLocks xmlns:a="http://schemas.openxmlformats.org/drawingml/2006/main" noGrp="1"/>
          </p:cNvSpPr>
          <p:nvPr/>
        </p:nvSpPr>
        <p:spPr>
          <a:xfrm xmlns:a="http://schemas.openxmlformats.org/drawingml/2006/main">
            <a:off x="466344" y="1062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espectro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radioeléctrico,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recursos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orbitales.</a:t>
            </a:r>
          </a:p>
        </p:txBody>
      </p:sp>
      <p:sp>
        <p:nvSpPr>
          <p:cNvPr id="17" name="ANUARIO_CONTENIDO_0_0_3">
            <a:extLst xmlns:a="http://schemas.openxmlformats.org/drawingml/2006/main">
              <a:ext uri="{FF2B5EF4-FFF2-40B4-BE49-F238E27FC236}">
                <a16:creationId xmlns:a16="http://schemas.microsoft.com/office/drawing/2014/main" id="{F0164C54-0021-4606-A1BC-B1BE8AC3086D}"/>
              </a:ext>
            </a:extLst>
          </p:cNvPr>
          <p:cNvSpPr>
            <a:spLocks xmlns:a="http://schemas.openxmlformats.org/drawingml/2006/main" noGrp="1"/>
          </p:cNvSpPr>
          <p:nvPr/>
        </p:nvSpPr>
        <p:spPr>
          <a:xfrm xmlns:a="http://schemas.openxmlformats.org/drawingml/2006/main">
            <a:off x="466344"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Over</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the</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Top</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(OTT)</a:t>
            </a:r>
            <a:r>
              <a:rPr sz="650" b="1" i="0">
                <a:solidFill>
                  <a:srgbClr val="2F7F6F"/>
                </a:solidFill>
                <a:latin typeface="DejaVu Sans"/>
                <a:ea typeface="DejaVu Sans"/>
                <a:cs typeface="DejaVu Sans"/>
              </a:rPr>
              <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línea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según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Internacional</a:t>
            </a:r>
            <a:r>
              <a:rPr sz="650" b="0" i="0">
                <a:solidFill>
                  <a:srgbClr val="24383A"/>
                </a:solidFill>
                <a:latin typeface="DejaVu Sans"/>
                <a:ea typeface="DejaVu Sans"/>
                <a:cs typeface="DejaVu Sans"/>
              </a:rPr>
              <a:t> </a:t>
            </a:r>
          </a:p>
        </p:txBody>
      </p:sp>
      <p:sp>
        <p:nvSpPr>
          <p:cNvPr id="18" name="ANUARIO_CONTENIDO_0_0_4">
            <a:extLst xmlns:a="http://schemas.openxmlformats.org/drawingml/2006/main">
              <a:ext uri="{FF2B5EF4-FFF2-40B4-BE49-F238E27FC236}">
                <a16:creationId xmlns:a16="http://schemas.microsoft.com/office/drawing/2014/main" id="{24BC0660-80F8-4AE7-8B1E-3F511B6461F0}"/>
              </a:ext>
            </a:extLst>
          </p:cNvPr>
          <p:cNvSpPr>
            <a:spLocks xmlns:a="http://schemas.openxmlformats.org/drawingml/2006/main" noGrp="1"/>
          </p:cNvSpPr>
          <p:nvPr/>
        </p:nvSpPr>
        <p:spPr>
          <a:xfrm xmlns:a="http://schemas.openxmlformats.org/drawingml/2006/main">
            <a:off x="466344"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sustitutos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potenciales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p>
        </p:txBody>
      </p:sp>
      <p:sp>
        <p:nvSpPr>
          <p:cNvPr id="19" name="ANUARIO_CONTENIDO_0_0_5">
            <a:extLst xmlns:a="http://schemas.openxmlformats.org/drawingml/2006/main">
              <a:ext uri="{FF2B5EF4-FFF2-40B4-BE49-F238E27FC236}">
                <a16:creationId xmlns:a16="http://schemas.microsoft.com/office/drawing/2014/main" id="{ACA6A8A2-D453-4EE2-A92F-5E19E16EBD93}"/>
              </a:ext>
            </a:extLst>
          </p:cNvPr>
          <p:cNvSpPr>
            <a:spLocks xmlns:a="http://schemas.openxmlformats.org/drawingml/2006/main" noGrp="1"/>
          </p:cNvSpPr>
          <p:nvPr/>
        </p:nvSpPr>
        <p:spPr>
          <a:xfrm xmlns:a="http://schemas.openxmlformats.org/drawingml/2006/main">
            <a:off x="466344"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tradicionales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audiovisual.</a:t>
            </a:r>
          </a:p>
        </p:txBody>
      </p:sp>
      <p:sp>
        <p:nvSpPr>
          <p:cNvPr id="20" name="ANUARIO_ANEXO_P124_DESIGN_2026">
            <a:extLst xmlns:a="http://schemas.openxmlformats.org/drawingml/2006/main">
              <a:ext uri="{FF2B5EF4-FFF2-40B4-BE49-F238E27FC236}">
                <a16:creationId xmlns:a16="http://schemas.microsoft.com/office/drawing/2014/main" id="{74DE36E7-EB57-4F0B-8A85-0CA070A912F8}"/>
              </a:ext>
            </a:extLst>
          </p:cNvPr>
          <p:cNvSpPr>
            <a:spLocks xmlns:a="http://schemas.openxmlformats.org/drawingml/2006/main" noGrp="1"/>
          </p:cNvSpPr>
          <p:nvPr/>
        </p:nvSpPr>
        <p:spPr>
          <a:xfrm xmlns:a="http://schemas.openxmlformats.org/drawingml/2006/main">
            <a:off x="301752" y="1794172"/>
            <a:ext cx="4178808" cy="2668100"/>
          </a:xfrm>
          <a:prstGeom xmlns:a="http://schemas.openxmlformats.org/drawingml/2006/main" prst="roundRect">
            <a:avLst>
              <a:gd name="adj" fmla="val 2056"/>
            </a:avLst>
          </a:prstGeom>
          <a:solidFill xmlns:a="http://schemas.openxmlformats.org/drawingml/2006/main">
            <a:srgbClr val="F6FAF9"/>
          </a:solidFill>
          <a:ln xmlns:a="http://schemas.openxmlformats.org/drawingml/2006/main" w="9525">
            <a:solidFill>
              <a:srgbClr val="C9DAD6"/>
            </a:solidFill>
          </a:ln>
        </p:spPr>
      </p:sp>
      <p:sp>
        <p:nvSpPr>
          <p:cNvPr id="21" name="ANUARIO_ACENTO">
            <a:extLst xmlns:a="http://schemas.openxmlformats.org/drawingml/2006/main">
              <a:ext uri="{FF2B5EF4-FFF2-40B4-BE49-F238E27FC236}">
                <a16:creationId xmlns:a16="http://schemas.microsoft.com/office/drawing/2014/main" id="{51162988-A0A1-4608-BE27-73DA260C963B}"/>
              </a:ext>
            </a:extLst>
          </p:cNvPr>
          <p:cNvSpPr>
            <a:spLocks xmlns:a="http://schemas.openxmlformats.org/drawingml/2006/main" noGrp="1"/>
          </p:cNvSpPr>
          <p:nvPr/>
        </p:nvSpPr>
        <p:spPr>
          <a:xfrm xmlns:a="http://schemas.openxmlformats.org/drawingml/2006/main">
            <a:off x="301752" y="1867324"/>
            <a:ext cx="64008" cy="2521796"/>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2" name="ANUARIO_LETRA_FONDO">
            <a:extLst xmlns:a="http://schemas.openxmlformats.org/drawingml/2006/main">
              <a:ext uri="{FF2B5EF4-FFF2-40B4-BE49-F238E27FC236}">
                <a16:creationId xmlns:a16="http://schemas.microsoft.com/office/drawing/2014/main" id="{012E2182-291C-40C2-9C6C-F01677359C63}"/>
              </a:ext>
            </a:extLst>
          </p:cNvPr>
          <p:cNvSpPr>
            <a:spLocks xmlns:a="http://schemas.openxmlformats.org/drawingml/2006/main" noGrp="1"/>
          </p:cNvSpPr>
          <p:nvPr/>
        </p:nvSpPr>
        <p:spPr>
          <a:xfrm xmlns:a="http://schemas.openxmlformats.org/drawingml/2006/main">
            <a:off x="466344" y="1867324"/>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23" name="ANUARIO_LETRA">
            <a:extLst xmlns:a="http://schemas.openxmlformats.org/drawingml/2006/main">
              <a:ext uri="{FF2B5EF4-FFF2-40B4-BE49-F238E27FC236}">
                <a16:creationId xmlns:a16="http://schemas.microsoft.com/office/drawing/2014/main" id="{4037A7EC-B1F9-4630-93BD-9E462471CF09}"/>
              </a:ext>
            </a:extLst>
          </p:cNvPr>
          <p:cNvSpPr>
            <a:spLocks xmlns:a="http://schemas.openxmlformats.org/drawingml/2006/main" noGrp="1"/>
          </p:cNvSpPr>
          <p:nvPr/>
        </p:nvSpPr>
        <p:spPr>
          <a:xfrm xmlns:a="http://schemas.openxmlformats.org/drawingml/2006/main">
            <a:off x="466344" y="1885612"/>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P</a:t>
            </a:r>
          </a:p>
        </p:txBody>
      </p:sp>
      <p:sp>
        <p:nvSpPr>
          <p:cNvPr id="24" name="ANUARIO_CONTENIDO_0_1_0">
            <a:extLst xmlns:a="http://schemas.openxmlformats.org/drawingml/2006/main">
              <a:ext uri="{FF2B5EF4-FFF2-40B4-BE49-F238E27FC236}">
                <a16:creationId xmlns:a16="http://schemas.microsoft.com/office/drawing/2014/main" id="{A13056F7-063C-4B97-A23A-BF72F1097789}"/>
              </a:ext>
            </a:extLst>
          </p:cNvPr>
          <p:cNvSpPr>
            <a:spLocks xmlns:a="http://schemas.openxmlformats.org/drawingml/2006/main" noGrp="1"/>
          </p:cNvSpPr>
          <p:nvPr/>
        </p:nvSpPr>
        <p:spPr>
          <a:xfrm xmlns:a="http://schemas.openxmlformats.org/drawingml/2006/main">
            <a:off x="466344" y="210506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Partidos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Políticos: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p>
        </p:txBody>
      </p:sp>
      <p:sp>
        <p:nvSpPr>
          <p:cNvPr id="25" name="ANUARIO_CONTENIDO_0_1_1">
            <a:extLst xmlns:a="http://schemas.openxmlformats.org/drawingml/2006/main">
              <a:ext uri="{FF2B5EF4-FFF2-40B4-BE49-F238E27FC236}">
                <a16:creationId xmlns:a16="http://schemas.microsoft.com/office/drawing/2014/main" id="{14C0CA07-D5E8-4FCD-80DC-3997E110AC30}"/>
              </a:ext>
            </a:extLst>
          </p:cNvPr>
          <p:cNvSpPr>
            <a:spLocks xmlns:a="http://schemas.openxmlformats.org/drawingml/2006/main" noGrp="1"/>
          </p:cNvSpPr>
          <p:nvPr/>
        </p:nvSpPr>
        <p:spPr>
          <a:xfrm xmlns:a="http://schemas.openxmlformats.org/drawingml/2006/main">
            <a:off x="466344" y="21975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mensajes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actividades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políticos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registrados.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26" name="ANUARIO_CONTENIDO_0_1_2">
            <a:extLst xmlns:a="http://schemas.openxmlformats.org/drawingml/2006/main">
              <a:ext uri="{FF2B5EF4-FFF2-40B4-BE49-F238E27FC236}">
                <a16:creationId xmlns:a16="http://schemas.microsoft.com/office/drawing/2014/main" id="{DA7AF10B-395A-4A17-8E50-1B3815F98BAC}"/>
              </a:ext>
            </a:extLst>
          </p:cNvPr>
          <p:cNvSpPr>
            <a:spLocks xmlns:a="http://schemas.openxmlformats.org/drawingml/2006/main" noGrp="1"/>
          </p:cNvSpPr>
          <p:nvPr/>
        </p:nvSpPr>
        <p:spPr>
          <a:xfrm xmlns:a="http://schemas.openxmlformats.org/drawingml/2006/main">
            <a:off x="466344" y="22899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identificaciones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asociaciones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políticas.</a:t>
            </a:r>
          </a:p>
        </p:txBody>
      </p:sp>
      <p:sp>
        <p:nvSpPr>
          <p:cNvPr id="27" name="ANUARIO_CONTENIDO_0_1_3">
            <a:extLst xmlns:a="http://schemas.openxmlformats.org/drawingml/2006/main">
              <a:ext uri="{FF2B5EF4-FFF2-40B4-BE49-F238E27FC236}">
                <a16:creationId xmlns:a16="http://schemas.microsoft.com/office/drawing/2014/main" id="{54E74B4C-1BC6-4EDD-AAC1-F46314040C9B}"/>
              </a:ext>
            </a:extLst>
          </p:cNvPr>
          <p:cNvSpPr>
            <a:spLocks xmlns:a="http://schemas.openxmlformats.org/drawingml/2006/main" noGrp="1"/>
          </p:cNvSpPr>
          <p:nvPr/>
        </p:nvSpPr>
        <p:spPr>
          <a:xfrm xmlns:a="http://schemas.openxmlformats.org/drawingml/2006/main">
            <a:off x="466344" y="24078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Películas: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genérica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nombre.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Normalmente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realizada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cine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p>
        </p:txBody>
      </p:sp>
      <p:sp>
        <p:nvSpPr>
          <p:cNvPr id="28" name="ANUARIO_CONTENIDO_0_1_4">
            <a:extLst xmlns:a="http://schemas.openxmlformats.org/drawingml/2006/main">
              <a:ext uri="{FF2B5EF4-FFF2-40B4-BE49-F238E27FC236}">
                <a16:creationId xmlns:a16="http://schemas.microsoft.com/office/drawing/2014/main" id="{CF4CD4FA-2F1B-42E0-A480-F0BE0088981F}"/>
              </a:ext>
            </a:extLst>
          </p:cNvPr>
          <p:cNvSpPr>
            <a:spLocks xmlns:a="http://schemas.openxmlformats.org/drawingml/2006/main" noGrp="1"/>
          </p:cNvSpPr>
          <p:nvPr/>
        </p:nvSpPr>
        <p:spPr>
          <a:xfrm xmlns:a="http://schemas.openxmlformats.org/drawingml/2006/main">
            <a:off x="466344" y="25002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transmite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29" name="ANUARIO_CONTENIDO_0_1_5">
            <a:extLst xmlns:a="http://schemas.openxmlformats.org/drawingml/2006/main">
              <a:ext uri="{FF2B5EF4-FFF2-40B4-BE49-F238E27FC236}">
                <a16:creationId xmlns:a16="http://schemas.microsoft.com/office/drawing/2014/main" id="{14E35C7E-B8E3-486B-A170-772F1C350F60}"/>
              </a:ext>
            </a:extLst>
          </p:cNvPr>
          <p:cNvSpPr>
            <a:spLocks xmlns:a="http://schemas.openxmlformats.org/drawingml/2006/main" noGrp="1"/>
          </p:cNvSpPr>
          <p:nvPr/>
        </p:nvSpPr>
        <p:spPr>
          <a:xfrm xmlns:a="http://schemas.openxmlformats.org/drawingml/2006/main">
            <a:off x="466344" y="25927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extranjeras.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está</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contemplado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cine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documental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carácter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didáctico</a:t>
            </a:r>
            <a:r>
              <a:rPr sz="650" b="0" i="0">
                <a:solidFill>
                  <a:srgbClr val="24383A"/>
                </a:solidFill>
                <a:latin typeface="DejaVu Sans"/>
                <a:ea typeface="DejaVu Sans"/>
                <a:cs typeface="DejaVu Sans"/>
              </a:rPr>
              <a:t> </a:t>
            </a:r>
          </a:p>
        </p:txBody>
      </p:sp>
      <p:sp>
        <p:nvSpPr>
          <p:cNvPr id="30" name="ANUARIO_CONTENIDO_0_1_6">
            <a:extLst xmlns:a="http://schemas.openxmlformats.org/drawingml/2006/main">
              <a:ext uri="{FF2B5EF4-FFF2-40B4-BE49-F238E27FC236}">
                <a16:creationId xmlns:a16="http://schemas.microsoft.com/office/drawing/2014/main" id="{869748DC-AC21-4BA7-883F-27B682DF0366}"/>
              </a:ext>
            </a:extLst>
          </p:cNvPr>
          <p:cNvSpPr>
            <a:spLocks xmlns:a="http://schemas.openxmlformats.org/drawingml/2006/main" noGrp="1"/>
          </p:cNvSpPr>
          <p:nvPr/>
        </p:nvSpPr>
        <p:spPr>
          <a:xfrm xmlns:a="http://schemas.openxmlformats.org/drawingml/2006/main">
            <a:off x="466344" y="26852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entrevistas.</a:t>
            </a:r>
          </a:p>
        </p:txBody>
      </p:sp>
      <p:sp>
        <p:nvSpPr>
          <p:cNvPr id="31" name="ANUARIO_CONTENIDO_0_1_7">
            <a:extLst xmlns:a="http://schemas.openxmlformats.org/drawingml/2006/main">
              <a:ext uri="{FF2B5EF4-FFF2-40B4-BE49-F238E27FC236}">
                <a16:creationId xmlns:a16="http://schemas.microsoft.com/office/drawing/2014/main" id="{140A44B2-411E-4FFD-8ECB-5FC7AE4EB09D}"/>
              </a:ext>
            </a:extLst>
          </p:cNvPr>
          <p:cNvSpPr>
            <a:spLocks xmlns:a="http://schemas.openxmlformats.org/drawingml/2006/main" noGrp="1"/>
          </p:cNvSpPr>
          <p:nvPr/>
        </p:nvSpPr>
        <p:spPr>
          <a:xfrm xmlns:a="http://schemas.openxmlformats.org/drawingml/2006/main">
            <a:off x="466344" y="28030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Producto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Interno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Bruto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(PIB):</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valor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bienes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32" name="ANUARIO_CONTENIDO_0_1_8">
            <a:extLst xmlns:a="http://schemas.openxmlformats.org/drawingml/2006/main">
              <a:ext uri="{FF2B5EF4-FFF2-40B4-BE49-F238E27FC236}">
                <a16:creationId xmlns:a16="http://schemas.microsoft.com/office/drawing/2014/main" id="{C254C85B-1E28-4705-8743-45EBFED8C3AC}"/>
              </a:ext>
            </a:extLst>
          </p:cNvPr>
          <p:cNvSpPr>
            <a:spLocks xmlns:a="http://schemas.openxmlformats.org/drawingml/2006/main" noGrp="1"/>
          </p:cNvSpPr>
          <p:nvPr/>
        </p:nvSpPr>
        <p:spPr>
          <a:xfrm xmlns:a="http://schemas.openxmlformats.org/drawingml/2006/main">
            <a:off x="466344" y="28955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país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documento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p>
        </p:txBody>
      </p:sp>
      <p:sp>
        <p:nvSpPr>
          <p:cNvPr id="33" name="ANUARIO_CONTENIDO_0_1_9">
            <a:extLst xmlns:a="http://schemas.openxmlformats.org/drawingml/2006/main">
              <a:ext uri="{FF2B5EF4-FFF2-40B4-BE49-F238E27FC236}">
                <a16:creationId xmlns:a16="http://schemas.microsoft.com/office/drawing/2014/main" id="{8FF594CC-6A4B-4C25-8B69-C6524563C064}"/>
              </a:ext>
            </a:extLst>
          </p:cNvPr>
          <p:cNvSpPr>
            <a:spLocks xmlns:a="http://schemas.openxmlformats.org/drawingml/2006/main" noGrp="1"/>
          </p:cNvSpPr>
          <p:nvPr/>
        </p:nvSpPr>
        <p:spPr>
          <a:xfrm xmlns:a="http://schemas.openxmlformats.org/drawingml/2006/main">
            <a:off x="466344" y="29879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constantes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2018.</a:t>
            </a:r>
          </a:p>
        </p:txBody>
      </p:sp>
      <p:sp>
        <p:nvSpPr>
          <p:cNvPr id="34" name="ANUARIO_CONTENIDO_0_1_10">
            <a:extLst xmlns:a="http://schemas.openxmlformats.org/drawingml/2006/main">
              <a:ext uri="{FF2B5EF4-FFF2-40B4-BE49-F238E27FC236}">
                <a16:creationId xmlns:a16="http://schemas.microsoft.com/office/drawing/2014/main" id="{A59A4652-E4B1-4D0D-BAB6-51F65F82C8A9}"/>
              </a:ext>
            </a:extLst>
          </p:cNvPr>
          <p:cNvSpPr>
            <a:spLocks xmlns:a="http://schemas.openxmlformats.org/drawingml/2006/main" noGrp="1"/>
          </p:cNvSpPr>
          <p:nvPr/>
        </p:nvSpPr>
        <p:spPr>
          <a:xfrm xmlns:a="http://schemas.openxmlformats.org/drawingml/2006/main">
            <a:off x="466344" y="31058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controlado: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p>
        </p:txBody>
      </p:sp>
      <p:sp>
        <p:nvSpPr>
          <p:cNvPr id="35" name="ANUARIO_CONTENIDO_0_1_11">
            <a:extLst xmlns:a="http://schemas.openxmlformats.org/drawingml/2006/main">
              <a:ext uri="{FF2B5EF4-FFF2-40B4-BE49-F238E27FC236}">
                <a16:creationId xmlns:a16="http://schemas.microsoft.com/office/drawing/2014/main" id="{2D89F53F-9C3B-480A-BB97-241F1465E7DE}"/>
              </a:ext>
            </a:extLst>
          </p:cNvPr>
          <p:cNvSpPr>
            <a:spLocks xmlns:a="http://schemas.openxmlformats.org/drawingml/2006/main" noGrp="1"/>
          </p:cNvSpPr>
          <p:nvPr/>
        </p:nvSpPr>
        <p:spPr>
          <a:xfrm xmlns:a="http://schemas.openxmlformats.org/drawingml/2006/main">
            <a:off x="466344" y="31982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posterior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p>
        </p:txBody>
      </p:sp>
      <p:sp>
        <p:nvSpPr>
          <p:cNvPr id="36" name="ANUARIO_CONTENIDO_0_1_12">
            <a:extLst xmlns:a="http://schemas.openxmlformats.org/drawingml/2006/main">
              <a:ext uri="{FF2B5EF4-FFF2-40B4-BE49-F238E27FC236}">
                <a16:creationId xmlns:a16="http://schemas.microsoft.com/office/drawing/2014/main" id="{668CA4D9-5814-42B1-B154-16D18B042E80}"/>
              </a:ext>
            </a:extLst>
          </p:cNvPr>
          <p:cNvSpPr>
            <a:spLocks xmlns:a="http://schemas.openxmlformats.org/drawingml/2006/main" noGrp="1"/>
          </p:cNvSpPr>
          <p:nvPr/>
        </p:nvSpPr>
        <p:spPr>
          <a:xfrm xmlns:a="http://schemas.openxmlformats.org/drawingml/2006/main">
            <a:off x="466344" y="32907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recargas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adicionales.</a:t>
            </a:r>
          </a:p>
        </p:txBody>
      </p:sp>
      <p:sp>
        <p:nvSpPr>
          <p:cNvPr id="37" name="ANUARIO_CONTENIDO_0_1_13">
            <a:extLst xmlns:a="http://schemas.openxmlformats.org/drawingml/2006/main">
              <a:ext uri="{FF2B5EF4-FFF2-40B4-BE49-F238E27FC236}">
                <a16:creationId xmlns:a16="http://schemas.microsoft.com/office/drawing/2014/main" id="{6306A1BB-393E-4AEF-BABA-08BD43018F6B}"/>
              </a:ext>
            </a:extLst>
          </p:cNvPr>
          <p:cNvSpPr>
            <a:spLocks xmlns:a="http://schemas.openxmlformats.org/drawingml/2006/main" noGrp="1"/>
          </p:cNvSpPr>
          <p:nvPr/>
        </p:nvSpPr>
        <p:spPr>
          <a:xfrm xmlns:a="http://schemas.openxmlformats.org/drawingml/2006/main">
            <a:off x="466344" y="34085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libre: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38" name="ANUARIO_CONTENIDO_0_1_14">
            <a:extLst xmlns:a="http://schemas.openxmlformats.org/drawingml/2006/main">
              <a:ext uri="{FF2B5EF4-FFF2-40B4-BE49-F238E27FC236}">
                <a16:creationId xmlns:a16="http://schemas.microsoft.com/office/drawing/2014/main" id="{14734F85-BEC3-4148-B498-84180D70A323}"/>
              </a:ext>
            </a:extLst>
          </p:cNvPr>
          <p:cNvSpPr>
            <a:spLocks xmlns:a="http://schemas.openxmlformats.org/drawingml/2006/main" noGrp="1"/>
          </p:cNvSpPr>
          <p:nvPr/>
        </p:nvSpPr>
        <p:spPr>
          <a:xfrm xmlns:a="http://schemas.openxmlformats.org/drawingml/2006/main">
            <a:off x="466344" y="35010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inicialmente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realizar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recargas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adicionales</a:t>
            </a:r>
            <a:r>
              <a:rPr sz="650" b="0" i="0">
                <a:solidFill>
                  <a:srgbClr val="24383A"/>
                </a:solidFill>
                <a:latin typeface="DejaVu Sans"/>
                <a:ea typeface="DejaVu Sans"/>
                <a:cs typeface="DejaVu Sans"/>
              </a:rPr>
              <a:t> </a:t>
            </a:r>
          </a:p>
        </p:txBody>
      </p:sp>
      <p:sp>
        <p:nvSpPr>
          <p:cNvPr id="39" name="ANUARIO_CONTENIDO_0_1_15">
            <a:extLst xmlns:a="http://schemas.openxmlformats.org/drawingml/2006/main">
              <a:ext uri="{FF2B5EF4-FFF2-40B4-BE49-F238E27FC236}">
                <a16:creationId xmlns:a16="http://schemas.microsoft.com/office/drawing/2014/main" id="{AFF96B0F-EA3C-41D8-903E-C7912E5927FD}"/>
              </a:ext>
            </a:extLst>
          </p:cNvPr>
          <p:cNvSpPr>
            <a:spLocks xmlns:a="http://schemas.openxmlformats.org/drawingml/2006/main" noGrp="1"/>
          </p:cNvSpPr>
          <p:nvPr/>
        </p:nvSpPr>
        <p:spPr>
          <a:xfrm xmlns:a="http://schemas.openxmlformats.org/drawingml/2006/main">
            <a:off x="466344" y="35935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(prepago).</a:t>
            </a:r>
          </a:p>
        </p:txBody>
      </p:sp>
      <p:sp>
        <p:nvSpPr>
          <p:cNvPr id="40" name="ANUARIO_CONTENIDO_0_1_16">
            <a:extLst xmlns:a="http://schemas.openxmlformats.org/drawingml/2006/main">
              <a:ext uri="{FF2B5EF4-FFF2-40B4-BE49-F238E27FC236}">
                <a16:creationId xmlns:a16="http://schemas.microsoft.com/office/drawing/2014/main" id="{44FB9E5B-D7EE-4336-BA38-FF2A6EF9ABF6}"/>
              </a:ext>
            </a:extLst>
          </p:cNvPr>
          <p:cNvSpPr>
            <a:spLocks xmlns:a="http://schemas.openxmlformats.org/drawingml/2006/main" noGrp="1"/>
          </p:cNvSpPr>
          <p:nvPr/>
        </p:nvSpPr>
        <p:spPr>
          <a:xfrm xmlns:a="http://schemas.openxmlformats.org/drawingml/2006/main">
            <a:off x="466344" y="37113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41" name="ANUARIO_CONTENIDO_0_1_17">
            <a:extLst xmlns:a="http://schemas.openxmlformats.org/drawingml/2006/main">
              <a:ext uri="{FF2B5EF4-FFF2-40B4-BE49-F238E27FC236}">
                <a16:creationId xmlns:a16="http://schemas.microsoft.com/office/drawing/2014/main" id="{A5C2DFC4-0327-4089-A286-C68767312DAC}"/>
              </a:ext>
            </a:extLst>
          </p:cNvPr>
          <p:cNvSpPr>
            <a:spLocks xmlns:a="http://schemas.openxmlformats.org/drawingml/2006/main" noGrp="1"/>
          </p:cNvSpPr>
          <p:nvPr/>
        </p:nvSpPr>
        <p:spPr>
          <a:xfrm xmlns:a="http://schemas.openxmlformats.org/drawingml/2006/main">
            <a:off x="466344" y="38038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posterior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mismos.</a:t>
            </a:r>
            <a:r>
              <a:rPr sz="650" b="0" i="0">
                <a:solidFill>
                  <a:srgbClr val="24383A"/>
                </a:solidFill>
                <a:latin typeface="DejaVu Sans"/>
                <a:ea typeface="DejaVu Sans"/>
                <a:cs typeface="DejaVu Sans"/>
              </a:rPr>
              <a:t> </a:t>
            </a:r>
          </a:p>
        </p:txBody>
      </p:sp>
      <p:sp>
        <p:nvSpPr>
          <p:cNvPr id="42" name="ANUARIO_CONTENIDO_0_1_18">
            <a:extLst xmlns:a="http://schemas.openxmlformats.org/drawingml/2006/main">
              <a:ext uri="{FF2B5EF4-FFF2-40B4-BE49-F238E27FC236}">
                <a16:creationId xmlns:a16="http://schemas.microsoft.com/office/drawing/2014/main" id="{5543A42C-AA74-4C6E-B48F-0CD5DE00C24A}"/>
              </a:ext>
            </a:extLst>
          </p:cNvPr>
          <p:cNvSpPr>
            <a:spLocks xmlns:a="http://schemas.openxmlformats.org/drawingml/2006/main" noGrp="1"/>
          </p:cNvSpPr>
          <p:nvPr/>
        </p:nvSpPr>
        <p:spPr>
          <a:xfrm xmlns:a="http://schemas.openxmlformats.org/drawingml/2006/main">
            <a:off x="466344" y="39216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Prepago: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43" name="ANUARIO_CONTENIDO_0_1_19">
            <a:extLst xmlns:a="http://schemas.openxmlformats.org/drawingml/2006/main">
              <a:ext uri="{FF2B5EF4-FFF2-40B4-BE49-F238E27FC236}">
                <a16:creationId xmlns:a16="http://schemas.microsoft.com/office/drawing/2014/main" id="{1A1CE70D-EE9F-459A-B09E-134A2CC1BF0B}"/>
              </a:ext>
            </a:extLst>
          </p:cNvPr>
          <p:cNvSpPr>
            <a:spLocks xmlns:a="http://schemas.openxmlformats.org/drawingml/2006/main" noGrp="1"/>
          </p:cNvSpPr>
          <p:nvPr/>
        </p:nvSpPr>
        <p:spPr>
          <a:xfrm xmlns:a="http://schemas.openxmlformats.org/drawingml/2006/main">
            <a:off x="466344" y="40141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anticipada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mismos.</a:t>
            </a:r>
            <a:r>
              <a:rPr sz="650" b="0" i="0">
                <a:solidFill>
                  <a:srgbClr val="24383A"/>
                </a:solidFill>
                <a:latin typeface="DejaVu Sans"/>
                <a:ea typeface="DejaVu Sans"/>
                <a:cs typeface="DejaVu Sans"/>
              </a:rPr>
              <a:t> </a:t>
            </a:r>
          </a:p>
        </p:txBody>
      </p:sp>
      <p:sp>
        <p:nvSpPr>
          <p:cNvPr id="44" name="ANUARIO_ANEXO_P124_DESIGN_2026">
            <a:extLst xmlns:a="http://schemas.openxmlformats.org/drawingml/2006/main">
              <a:ext uri="{FF2B5EF4-FFF2-40B4-BE49-F238E27FC236}">
                <a16:creationId xmlns:a16="http://schemas.microsoft.com/office/drawing/2014/main" id="{177C0CC3-69FE-4FF5-8BD4-400F150508E0}"/>
              </a:ext>
            </a:extLst>
          </p:cNvPr>
          <p:cNvSpPr>
            <a:spLocks xmlns:a="http://schemas.openxmlformats.org/drawingml/2006/main" noGrp="1"/>
          </p:cNvSpPr>
          <p:nvPr/>
        </p:nvSpPr>
        <p:spPr>
          <a:xfrm xmlns:a="http://schemas.openxmlformats.org/drawingml/2006/main">
            <a:off x="4663440" y="566928"/>
            <a:ext cx="4178808" cy="1373975"/>
          </a:xfrm>
          <a:prstGeom xmlns:a="http://schemas.openxmlformats.org/drawingml/2006/main" prst="roundRect">
            <a:avLst>
              <a:gd name="adj" fmla="val 3993"/>
            </a:avLst>
          </a:prstGeom>
          <a:solidFill xmlns:a="http://schemas.openxmlformats.org/drawingml/2006/main">
            <a:srgbClr val="F6FAF9"/>
          </a:solidFill>
          <a:ln xmlns:a="http://schemas.openxmlformats.org/drawingml/2006/main" w="9525">
            <a:solidFill>
              <a:srgbClr val="C9DAD6"/>
            </a:solidFill>
          </a:ln>
        </p:spPr>
      </p:sp>
      <p:sp>
        <p:nvSpPr>
          <p:cNvPr id="45" name="ANUARIO_ACENTO">
            <a:extLst xmlns:a="http://schemas.openxmlformats.org/drawingml/2006/main">
              <a:ext uri="{FF2B5EF4-FFF2-40B4-BE49-F238E27FC236}">
                <a16:creationId xmlns:a16="http://schemas.microsoft.com/office/drawing/2014/main" id="{D362C69E-84B0-445D-AE50-BF9E4C550234}"/>
              </a:ext>
            </a:extLst>
          </p:cNvPr>
          <p:cNvSpPr>
            <a:spLocks xmlns:a="http://schemas.openxmlformats.org/drawingml/2006/main" noGrp="1"/>
          </p:cNvSpPr>
          <p:nvPr/>
        </p:nvSpPr>
        <p:spPr>
          <a:xfrm xmlns:a="http://schemas.openxmlformats.org/drawingml/2006/main">
            <a:off x="4663440" y="640080"/>
            <a:ext cx="64008" cy="1227671"/>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6" name="ANUARIO_LETRA_FONDO">
            <a:extLst xmlns:a="http://schemas.openxmlformats.org/drawingml/2006/main">
              <a:ext uri="{FF2B5EF4-FFF2-40B4-BE49-F238E27FC236}">
                <a16:creationId xmlns:a16="http://schemas.microsoft.com/office/drawing/2014/main" id="{F2EBE179-CA9F-4860-B84F-975F56DBAAEB}"/>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47" name="ANUARIO_LETRA">
            <a:extLst xmlns:a="http://schemas.openxmlformats.org/drawingml/2006/main">
              <a:ext uri="{FF2B5EF4-FFF2-40B4-BE49-F238E27FC236}">
                <a16:creationId xmlns:a16="http://schemas.microsoft.com/office/drawing/2014/main" id="{0892AA08-BD1A-4B1B-B224-571DE70784F4}"/>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R</a:t>
            </a:r>
          </a:p>
        </p:txBody>
      </p:sp>
      <p:sp>
        <p:nvSpPr>
          <p:cNvPr id="48" name="ANUARIO_CONTENIDO_1_0_0">
            <a:extLst xmlns:a="http://schemas.openxmlformats.org/drawingml/2006/main">
              <a:ext uri="{FF2B5EF4-FFF2-40B4-BE49-F238E27FC236}">
                <a16:creationId xmlns:a16="http://schemas.microsoft.com/office/drawing/2014/main" id="{98038B01-66DC-4DD4-B4A3-A4FFFBE7D616}"/>
              </a:ext>
            </a:extLst>
          </p:cNvPr>
          <p:cNvSpPr>
            <a:spLocks xmlns:a="http://schemas.openxmlformats.org/drawingml/2006/main" noGrp="1"/>
          </p:cNvSpPr>
          <p:nvPr/>
        </p:nvSpPr>
        <p:spPr>
          <a:xfrm xmlns:a="http://schemas.openxmlformats.org/drawingml/2006/main">
            <a:off x="4828032"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Rating</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(rat%):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Porcentaje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estuvieron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viendo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p>
        </p:txBody>
      </p:sp>
      <p:sp>
        <p:nvSpPr>
          <p:cNvPr id="49" name="ANUARIO_CONTENIDO_1_0_1">
            <a:extLst xmlns:a="http://schemas.openxmlformats.org/drawingml/2006/main">
              <a:ext uri="{FF2B5EF4-FFF2-40B4-BE49-F238E27FC236}">
                <a16:creationId xmlns:a16="http://schemas.microsoft.com/office/drawing/2014/main" id="{81562BEF-511E-4641-811C-032B96DACE5A}"/>
              </a:ext>
            </a:extLst>
          </p:cNvPr>
          <p:cNvSpPr>
            <a:spLocks xmlns:a="http://schemas.openxmlformats.org/drawingml/2006/main" noGrp="1"/>
          </p:cNvSpPr>
          <p:nvPr/>
        </p:nvSpPr>
        <p:spPr>
          <a:xfrm xmlns:a="http://schemas.openxmlformats.org/drawingml/2006/main">
            <a:off x="4828032"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tiempo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p>
        </p:txBody>
      </p:sp>
      <p:sp>
        <p:nvSpPr>
          <p:cNvPr id="50" name="ANUARIO_CONTENIDO_1_0_2">
            <a:extLst xmlns:a="http://schemas.openxmlformats.org/drawingml/2006/main">
              <a:ext uri="{FF2B5EF4-FFF2-40B4-BE49-F238E27FC236}">
                <a16:creationId xmlns:a16="http://schemas.microsoft.com/office/drawing/2014/main" id="{C5994D18-F543-4A8E-9553-80C7E0AAAB69}"/>
              </a:ext>
            </a:extLst>
          </p:cNvPr>
          <p:cNvSpPr>
            <a:spLocks xmlns:a="http://schemas.openxmlformats.org/drawingml/2006/main" noGrp="1"/>
          </p:cNvSpPr>
          <p:nvPr/>
        </p:nvSpPr>
        <p:spPr>
          <a:xfrm xmlns:a="http://schemas.openxmlformats.org/drawingml/2006/main">
            <a:off x="4828032" y="10881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Reality</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Show</a:t>
            </a:r>
            <a:r>
              <a:rPr sz="650" b="1" i="0">
                <a:solidFill>
                  <a:srgbClr val="2F7F6F"/>
                </a:solidFill>
                <a:latin typeface="DejaVu Sans"/>
                <a:ea typeface="DejaVu Sans"/>
                <a:cs typeface="DejaVu Sans"/>
              </a:rPr>
              <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También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conocidos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donde</a:t>
            </a:r>
            <a:r>
              <a:rPr sz="650" b="0" i="0">
                <a:solidFill>
                  <a:srgbClr val="24383A"/>
                </a:solidFill>
                <a:latin typeface="DejaVu Sans"/>
                <a:ea typeface="DejaVu Sans"/>
                <a:cs typeface="DejaVu Sans"/>
              </a:rPr>
              <a:t> </a:t>
            </a:r>
          </a:p>
        </p:txBody>
      </p:sp>
      <p:sp>
        <p:nvSpPr>
          <p:cNvPr id="51" name="ANUARIO_CONTENIDO_1_0_3">
            <a:extLst xmlns:a="http://schemas.openxmlformats.org/drawingml/2006/main">
              <a:ext uri="{FF2B5EF4-FFF2-40B4-BE49-F238E27FC236}">
                <a16:creationId xmlns:a16="http://schemas.microsoft.com/office/drawing/2014/main" id="{7527D588-8A65-4DF3-B367-75B8AF03D7BF}"/>
              </a:ext>
            </a:extLst>
          </p:cNvPr>
          <p:cNvSpPr>
            <a:spLocks xmlns:a="http://schemas.openxmlformats.org/drawingml/2006/main" noGrp="1"/>
          </p:cNvSpPr>
          <p:nvPr/>
        </p:nvSpPr>
        <p:spPr>
          <a:xfrm xmlns:a="http://schemas.openxmlformats.org/drawingml/2006/main">
            <a:off x="4828032"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grupo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famosas-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grabadas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durante</a:t>
            </a:r>
            <a:r>
              <a:rPr sz="650" b="0" i="0">
                <a:solidFill>
                  <a:srgbClr val="24383A"/>
                </a:solidFill>
                <a:latin typeface="DejaVu Sans"/>
                <a:ea typeface="DejaVu Sans"/>
                <a:cs typeface="DejaVu Sans"/>
              </a:rPr>
              <a:t> </a:t>
            </a:r>
          </a:p>
        </p:txBody>
      </p:sp>
      <p:sp>
        <p:nvSpPr>
          <p:cNvPr id="52" name="ANUARIO_CONTENIDO_1_0_4">
            <a:extLst xmlns:a="http://schemas.openxmlformats.org/drawingml/2006/main">
              <a:ext uri="{FF2B5EF4-FFF2-40B4-BE49-F238E27FC236}">
                <a16:creationId xmlns:a16="http://schemas.microsoft.com/office/drawing/2014/main" id="{3AD56A16-64B9-4553-B418-AE68944949D8}"/>
              </a:ext>
            </a:extLst>
          </p:cNvPr>
          <p:cNvSpPr>
            <a:spLocks xmlns:a="http://schemas.openxmlformats.org/drawingml/2006/main" noGrp="1"/>
          </p:cNvSpPr>
          <p:nvPr/>
        </p:nvSpPr>
        <p:spPr>
          <a:xfrm xmlns:a="http://schemas.openxmlformats.org/drawingml/2006/main">
            <a:off x="4828032"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encuentran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sitio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común,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importar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p>
        </p:txBody>
      </p:sp>
      <p:sp>
        <p:nvSpPr>
          <p:cNvPr id="53" name="ANUARIO_CONTENIDO_1_0_5">
            <a:extLst xmlns:a="http://schemas.openxmlformats.org/drawingml/2006/main">
              <a:ext uri="{FF2B5EF4-FFF2-40B4-BE49-F238E27FC236}">
                <a16:creationId xmlns:a16="http://schemas.microsoft.com/office/drawing/2014/main" id="{8879E920-B43F-4DA7-B8C8-103860F4710C}"/>
              </a:ext>
            </a:extLst>
          </p:cNvPr>
          <p:cNvSpPr>
            <a:spLocks xmlns:a="http://schemas.openxmlformats.org/drawingml/2006/main" noGrp="1"/>
          </p:cNvSpPr>
          <p:nvPr/>
        </p:nvSpPr>
        <p:spPr>
          <a:xfrm xmlns:a="http://schemas.openxmlformats.org/drawingml/2006/main">
            <a:off x="4828032"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compitiendo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premio.</a:t>
            </a:r>
          </a:p>
        </p:txBody>
      </p:sp>
      <p:sp>
        <p:nvSpPr>
          <p:cNvPr id="54" name="ANUARIO_CONTENIDO_1_0_6">
            <a:extLst xmlns:a="http://schemas.openxmlformats.org/drawingml/2006/main">
              <a:ext uri="{FF2B5EF4-FFF2-40B4-BE49-F238E27FC236}">
                <a16:creationId xmlns:a16="http://schemas.microsoft.com/office/drawing/2014/main" id="{59FFB0F6-F2DC-4246-ADCD-E9D29A771CB4}"/>
              </a:ext>
            </a:extLst>
          </p:cNvPr>
          <p:cNvSpPr>
            <a:spLocks xmlns:a="http://schemas.openxmlformats.org/drawingml/2006/main" noGrp="1"/>
          </p:cNvSpPr>
          <p:nvPr/>
        </p:nvSpPr>
        <p:spPr>
          <a:xfrm xmlns:a="http://schemas.openxmlformats.org/drawingml/2006/main">
            <a:off x="4828032" y="14833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Religión: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estrictamente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religioso,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retiros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55" name="ANUARIO_CONTENIDO_1_0_7">
            <a:extLst xmlns:a="http://schemas.openxmlformats.org/drawingml/2006/main">
              <a:ext uri="{FF2B5EF4-FFF2-40B4-BE49-F238E27FC236}">
                <a16:creationId xmlns:a16="http://schemas.microsoft.com/office/drawing/2014/main" id="{DF876D5B-1DFF-46E2-B9E9-CA29CD6427DD}"/>
              </a:ext>
            </a:extLst>
          </p:cNvPr>
          <p:cNvSpPr>
            <a:spLocks xmlns:a="http://schemas.openxmlformats.org/drawingml/2006/main" noGrp="1"/>
          </p:cNvSpPr>
          <p:nvPr/>
        </p:nvSpPr>
        <p:spPr>
          <a:xfrm xmlns:a="http://schemas.openxmlformats.org/drawingml/2006/main">
            <a:off x="4828032" y="15758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coberturas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visitas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pastorales.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están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reportaje</a:t>
            </a:r>
            <a:r>
              <a:rPr sz="650" b="0" i="0">
                <a:solidFill>
                  <a:srgbClr val="24383A"/>
                </a:solidFill>
                <a:latin typeface="DejaVu Sans"/>
                <a:ea typeface="DejaVu Sans"/>
                <a:cs typeface="DejaVu Sans"/>
              </a:rPr>
              <a:t> </a:t>
            </a:r>
          </a:p>
        </p:txBody>
      </p:sp>
      <p:sp>
        <p:nvSpPr>
          <p:cNvPr id="56" name="ANUARIO_CONTENIDO_1_0_8">
            <a:extLst xmlns:a="http://schemas.openxmlformats.org/drawingml/2006/main">
              <a:ext uri="{FF2B5EF4-FFF2-40B4-BE49-F238E27FC236}">
                <a16:creationId xmlns:a16="http://schemas.microsoft.com/office/drawing/2014/main" id="{5D97706D-91C9-4B05-8FCD-660E778A5D6D}"/>
              </a:ext>
            </a:extLst>
          </p:cNvPr>
          <p:cNvSpPr>
            <a:spLocks xmlns:a="http://schemas.openxmlformats.org/drawingml/2006/main" noGrp="1"/>
          </p:cNvSpPr>
          <p:nvPr/>
        </p:nvSpPr>
        <p:spPr>
          <a:xfrm xmlns:a="http://schemas.openxmlformats.org/drawingml/2006/main">
            <a:off x="4828032" y="16682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capítulo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específico,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aborden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religioso.</a:t>
            </a:r>
          </a:p>
        </p:txBody>
      </p:sp>
      <p:sp>
        <p:nvSpPr>
          <p:cNvPr id="57" name="ANUARIO_ANEXO_P124_DESIGN_2026">
            <a:extLst xmlns:a="http://schemas.openxmlformats.org/drawingml/2006/main">
              <a:ext uri="{FF2B5EF4-FFF2-40B4-BE49-F238E27FC236}">
                <a16:creationId xmlns:a16="http://schemas.microsoft.com/office/drawing/2014/main" id="{BD4FFAEA-81AD-4C9B-8570-440A40A0AD43}"/>
              </a:ext>
            </a:extLst>
          </p:cNvPr>
          <p:cNvSpPr>
            <a:spLocks xmlns:a="http://schemas.openxmlformats.org/drawingml/2006/main" noGrp="1"/>
          </p:cNvSpPr>
          <p:nvPr/>
        </p:nvSpPr>
        <p:spPr>
          <a:xfrm xmlns:a="http://schemas.openxmlformats.org/drawingml/2006/main">
            <a:off x="4663440" y="2032343"/>
            <a:ext cx="4178808" cy="2429929"/>
          </a:xfrm>
          <a:prstGeom xmlns:a="http://schemas.openxmlformats.org/drawingml/2006/main" prst="roundRect">
            <a:avLst>
              <a:gd name="adj" fmla="val 2258"/>
            </a:avLst>
          </a:prstGeom>
          <a:solidFill xmlns:a="http://schemas.openxmlformats.org/drawingml/2006/main">
            <a:srgbClr val="F6FAF9"/>
          </a:solidFill>
          <a:ln xmlns:a="http://schemas.openxmlformats.org/drawingml/2006/main" w="9525">
            <a:solidFill>
              <a:srgbClr val="C9DAD6"/>
            </a:solidFill>
          </a:ln>
        </p:spPr>
      </p:sp>
      <p:sp>
        <p:nvSpPr>
          <p:cNvPr id="58" name="ANUARIO_ACENTO">
            <a:extLst xmlns:a="http://schemas.openxmlformats.org/drawingml/2006/main">
              <a:ext uri="{FF2B5EF4-FFF2-40B4-BE49-F238E27FC236}">
                <a16:creationId xmlns:a16="http://schemas.microsoft.com/office/drawing/2014/main" id="{D701F3B3-AADA-4D46-B8B5-886EA406802A}"/>
              </a:ext>
            </a:extLst>
          </p:cNvPr>
          <p:cNvSpPr>
            <a:spLocks xmlns:a="http://schemas.openxmlformats.org/drawingml/2006/main" noGrp="1"/>
          </p:cNvSpPr>
          <p:nvPr/>
        </p:nvSpPr>
        <p:spPr>
          <a:xfrm xmlns:a="http://schemas.openxmlformats.org/drawingml/2006/main">
            <a:off x="4663440" y="2105495"/>
            <a:ext cx="64008" cy="2283625"/>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59" name="ANUARIO_LETRA_FONDO">
            <a:extLst xmlns:a="http://schemas.openxmlformats.org/drawingml/2006/main">
              <a:ext uri="{FF2B5EF4-FFF2-40B4-BE49-F238E27FC236}">
                <a16:creationId xmlns:a16="http://schemas.microsoft.com/office/drawing/2014/main" id="{BA43EEAC-A004-4224-A53D-AE5A88097F99}"/>
              </a:ext>
            </a:extLst>
          </p:cNvPr>
          <p:cNvSpPr>
            <a:spLocks xmlns:a="http://schemas.openxmlformats.org/drawingml/2006/main" noGrp="1"/>
          </p:cNvSpPr>
          <p:nvPr/>
        </p:nvSpPr>
        <p:spPr>
          <a:xfrm xmlns:a="http://schemas.openxmlformats.org/drawingml/2006/main">
            <a:off x="4828032" y="2105495"/>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60" name="ANUARIO_LETRA">
            <a:extLst xmlns:a="http://schemas.openxmlformats.org/drawingml/2006/main">
              <a:ext uri="{FF2B5EF4-FFF2-40B4-BE49-F238E27FC236}">
                <a16:creationId xmlns:a16="http://schemas.microsoft.com/office/drawing/2014/main" id="{328A74FE-3596-4BC4-837A-6965D35FF68B}"/>
              </a:ext>
            </a:extLst>
          </p:cNvPr>
          <p:cNvSpPr>
            <a:spLocks xmlns:a="http://schemas.openxmlformats.org/drawingml/2006/main" noGrp="1"/>
          </p:cNvSpPr>
          <p:nvPr/>
        </p:nvSpPr>
        <p:spPr>
          <a:xfrm xmlns:a="http://schemas.openxmlformats.org/drawingml/2006/main">
            <a:off x="4828032" y="2123783"/>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S</a:t>
            </a:r>
          </a:p>
        </p:txBody>
      </p:sp>
      <p:sp>
        <p:nvSpPr>
          <p:cNvPr id="61" name="ANUARIO_CONTENIDO_1_1_0">
            <a:extLst xmlns:a="http://schemas.openxmlformats.org/drawingml/2006/main">
              <a:ext uri="{FF2B5EF4-FFF2-40B4-BE49-F238E27FC236}">
                <a16:creationId xmlns:a16="http://schemas.microsoft.com/office/drawing/2014/main" id="{6CA5197E-DE38-4575-8933-78392421EC32}"/>
              </a:ext>
            </a:extLst>
          </p:cNvPr>
          <p:cNvSpPr>
            <a:spLocks xmlns:a="http://schemas.openxmlformats.org/drawingml/2006/main" noGrp="1"/>
          </p:cNvSpPr>
          <p:nvPr/>
        </p:nvSpPr>
        <p:spPr>
          <a:xfrm xmlns:a="http://schemas.openxmlformats.org/drawingml/2006/main">
            <a:off x="4828032" y="234323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Series: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Formato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emisiones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sucesivas,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individualmente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62" name="ANUARIO_CONTENIDO_1_1_1">
            <a:extLst xmlns:a="http://schemas.openxmlformats.org/drawingml/2006/main">
              <a:ext uri="{FF2B5EF4-FFF2-40B4-BE49-F238E27FC236}">
                <a16:creationId xmlns:a16="http://schemas.microsoft.com/office/drawing/2014/main" id="{69AD4FD0-A366-4021-810C-3C6898E6AE9A}"/>
              </a:ext>
            </a:extLst>
          </p:cNvPr>
          <p:cNvSpPr>
            <a:spLocks xmlns:a="http://schemas.openxmlformats.org/drawingml/2006/main" noGrp="1"/>
          </p:cNvSpPr>
          <p:nvPr/>
        </p:nvSpPr>
        <p:spPr>
          <a:xfrm xmlns:a="http://schemas.openxmlformats.org/drawingml/2006/main">
            <a:off x="4828032" y="243569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argumental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sí</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aunque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continuidad,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menos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temática,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p>
        </p:txBody>
      </p:sp>
      <p:sp>
        <p:nvSpPr>
          <p:cNvPr id="63" name="ANUARIO_CONTENIDO_1_1_2">
            <a:extLst xmlns:a="http://schemas.openxmlformats.org/drawingml/2006/main">
              <a:ext uri="{FF2B5EF4-FFF2-40B4-BE49-F238E27FC236}">
                <a16:creationId xmlns:a16="http://schemas.microsoft.com/office/drawing/2014/main" id="{7FBC00E3-8614-4961-A958-A1D784E559CA}"/>
              </a:ext>
            </a:extLst>
          </p:cNvPr>
          <p:cNvSpPr>
            <a:spLocks xmlns:a="http://schemas.openxmlformats.org/drawingml/2006/main" noGrp="1"/>
          </p:cNvSpPr>
          <p:nvPr/>
        </p:nvSpPr>
        <p:spPr>
          <a:xfrm xmlns:a="http://schemas.openxmlformats.org/drawingml/2006/main">
            <a:off x="4828032" y="252815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episodios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integran.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subgéneros,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ficción,</a:t>
            </a:r>
            <a:r>
              <a:rPr sz="650" b="0" i="0">
                <a:solidFill>
                  <a:srgbClr val="24383A"/>
                </a:solidFill>
                <a:latin typeface="DejaVu Sans"/>
                <a:ea typeface="DejaVu Sans"/>
                <a:cs typeface="DejaVu Sans"/>
              </a:rPr>
              <a:t> </a:t>
            </a:r>
          </a:p>
        </p:txBody>
      </p:sp>
      <p:sp>
        <p:nvSpPr>
          <p:cNvPr id="64" name="ANUARIO_CONTENIDO_1_1_3">
            <a:extLst xmlns:a="http://schemas.openxmlformats.org/drawingml/2006/main">
              <a:ext uri="{FF2B5EF4-FFF2-40B4-BE49-F238E27FC236}">
                <a16:creationId xmlns:a16="http://schemas.microsoft.com/office/drawing/2014/main" id="{96FD1059-6954-4771-B474-EB1BAB2A95BF}"/>
              </a:ext>
            </a:extLst>
          </p:cNvPr>
          <p:cNvSpPr>
            <a:spLocks xmlns:a="http://schemas.openxmlformats.org/drawingml/2006/main" noGrp="1"/>
          </p:cNvSpPr>
          <p:nvPr/>
        </p:nvSpPr>
        <p:spPr>
          <a:xfrm xmlns:a="http://schemas.openxmlformats.org/drawingml/2006/main">
            <a:off x="4828032" y="262060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suspenso,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comedia,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etcétera.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Bajo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encontrar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tanto</a:t>
            </a:r>
            <a:r>
              <a:rPr sz="650" b="0" i="0">
                <a:solidFill>
                  <a:srgbClr val="24383A"/>
                </a:solidFill>
                <a:latin typeface="DejaVu Sans"/>
                <a:ea typeface="DejaVu Sans"/>
                <a:cs typeface="DejaVu Sans"/>
              </a:rPr>
              <a:t> </a:t>
            </a:r>
          </a:p>
        </p:txBody>
      </p:sp>
      <p:sp>
        <p:nvSpPr>
          <p:cNvPr id="65" name="ANUARIO_CONTENIDO_1_1_4">
            <a:extLst xmlns:a="http://schemas.openxmlformats.org/drawingml/2006/main">
              <a:ext uri="{FF2B5EF4-FFF2-40B4-BE49-F238E27FC236}">
                <a16:creationId xmlns:a16="http://schemas.microsoft.com/office/drawing/2014/main" id="{C2406386-076D-418D-A2D2-E9BA02F7A43D}"/>
              </a:ext>
            </a:extLst>
          </p:cNvPr>
          <p:cNvSpPr>
            <a:spLocks xmlns:a="http://schemas.openxmlformats.org/drawingml/2006/main" noGrp="1"/>
          </p:cNvSpPr>
          <p:nvPr/>
        </p:nvSpPr>
        <p:spPr>
          <a:xfrm xmlns:a="http://schemas.openxmlformats.org/drawingml/2006/main">
            <a:off x="4828032" y="271306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extranjeras.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miniseries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también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agrupan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p>
        </p:txBody>
      </p:sp>
      <p:sp>
        <p:nvSpPr>
          <p:cNvPr id="66" name="ANUARIO_CONTENIDO_1_1_5">
            <a:extLst xmlns:a="http://schemas.openxmlformats.org/drawingml/2006/main">
              <a:ext uri="{FF2B5EF4-FFF2-40B4-BE49-F238E27FC236}">
                <a16:creationId xmlns:a16="http://schemas.microsoft.com/office/drawing/2014/main" id="{46F8C4A1-9EA2-4751-9F7C-8B3A605C8123}"/>
              </a:ext>
            </a:extLst>
          </p:cNvPr>
          <p:cNvSpPr>
            <a:spLocks xmlns:a="http://schemas.openxmlformats.org/drawingml/2006/main" noGrp="1"/>
          </p:cNvSpPr>
          <p:nvPr/>
        </p:nvSpPr>
        <p:spPr>
          <a:xfrm xmlns:a="http://schemas.openxmlformats.org/drawingml/2006/main">
            <a:off x="4828032" y="280551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formato.</a:t>
            </a:r>
          </a:p>
        </p:txBody>
      </p:sp>
      <p:sp>
        <p:nvSpPr>
          <p:cNvPr id="67" name="ANUARIO_CONTENIDO_1_1_6">
            <a:extLst xmlns:a="http://schemas.openxmlformats.org/drawingml/2006/main">
              <a:ext uri="{FF2B5EF4-FFF2-40B4-BE49-F238E27FC236}">
                <a16:creationId xmlns:a16="http://schemas.microsoft.com/office/drawing/2014/main" id="{990FEF35-CC4E-4E13-9DDD-E630E77BBEE5}"/>
              </a:ext>
            </a:extLst>
          </p:cNvPr>
          <p:cNvSpPr>
            <a:spLocks xmlns:a="http://schemas.openxmlformats.org/drawingml/2006/main" noGrp="1"/>
          </p:cNvSpPr>
          <p:nvPr/>
        </p:nvSpPr>
        <p:spPr>
          <a:xfrm xmlns:a="http://schemas.openxmlformats.org/drawingml/2006/main">
            <a:off x="4828032" y="292337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televisión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restringida: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a:t>
            </a:r>
            <a:r>
              <a:rPr sz="650" b="0" i="0">
                <a:solidFill>
                  <a:srgbClr val="24383A"/>
                </a:solidFill>
                <a:latin typeface="DejaVu Sans"/>
                <a:ea typeface="DejaVu Sans"/>
                <a:cs typeface="DejaVu Sans"/>
              </a:rPr>
              <a:t> </a:t>
            </a:r>
          </a:p>
        </p:txBody>
      </p:sp>
      <p:sp>
        <p:nvSpPr>
          <p:cNvPr id="68" name="ANUARIO_CONTENIDO_1_1_7">
            <a:extLst xmlns:a="http://schemas.openxmlformats.org/drawingml/2006/main">
              <a:ext uri="{FF2B5EF4-FFF2-40B4-BE49-F238E27FC236}">
                <a16:creationId xmlns:a16="http://schemas.microsoft.com/office/drawing/2014/main" id="{CEBF3E02-4D07-45B9-9A87-1F3913C5B297}"/>
              </a:ext>
            </a:extLst>
          </p:cNvPr>
          <p:cNvSpPr>
            <a:spLocks xmlns:a="http://schemas.openxmlformats.org/drawingml/2006/main" noGrp="1"/>
          </p:cNvSpPr>
          <p:nvPr/>
        </p:nvSpPr>
        <p:spPr>
          <a:xfrm xmlns:a="http://schemas.openxmlformats.org/drawingml/2006/main">
            <a:off x="4828032" y="301583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video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asociados,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redes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públicas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69" name="ANUARIO_CONTENIDO_1_1_8">
            <a:extLst xmlns:a="http://schemas.openxmlformats.org/drawingml/2006/main">
              <a:ext uri="{FF2B5EF4-FFF2-40B4-BE49-F238E27FC236}">
                <a16:creationId xmlns:a16="http://schemas.microsoft.com/office/drawing/2014/main" id="{8CC4186C-2C71-4673-9A36-21816FF73693}"/>
              </a:ext>
            </a:extLst>
          </p:cNvPr>
          <p:cNvSpPr>
            <a:spLocks xmlns:a="http://schemas.openxmlformats.org/drawingml/2006/main" noGrp="1"/>
          </p:cNvSpPr>
          <p:nvPr/>
        </p:nvSpPr>
        <p:spPr>
          <a:xfrm xmlns:a="http://schemas.openxmlformats.org/drawingml/2006/main">
            <a:off x="4828032" y="310828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periódico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cantidad</a:t>
            </a:r>
            <a:r>
              <a:rPr sz="650" b="0" i="0">
                <a:solidFill>
                  <a:srgbClr val="24383A"/>
                </a:solidFill>
                <a:latin typeface="DejaVu Sans"/>
                <a:ea typeface="DejaVu Sans"/>
                <a:cs typeface="DejaVu Sans"/>
              </a:rPr>
              <a:t> </a:t>
            </a:r>
          </a:p>
        </p:txBody>
      </p:sp>
      <p:sp>
        <p:nvSpPr>
          <p:cNvPr id="70" name="ANUARIO_CONTENIDO_1_1_9">
            <a:extLst xmlns:a="http://schemas.openxmlformats.org/drawingml/2006/main">
              <a:ext uri="{FF2B5EF4-FFF2-40B4-BE49-F238E27FC236}">
                <a16:creationId xmlns:a16="http://schemas.microsoft.com/office/drawing/2014/main" id="{E22406CD-56A2-4BB6-A8CC-3269E5CFE645}"/>
              </a:ext>
            </a:extLst>
          </p:cNvPr>
          <p:cNvSpPr>
            <a:spLocks xmlns:a="http://schemas.openxmlformats.org/drawingml/2006/main" noGrp="1"/>
          </p:cNvSpPr>
          <p:nvPr/>
        </p:nvSpPr>
        <p:spPr>
          <a:xfrm xmlns:a="http://schemas.openxmlformats.org/drawingml/2006/main">
            <a:off x="4828032" y="320074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preestablecida.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accesos.</a:t>
            </a:r>
          </a:p>
        </p:txBody>
      </p:sp>
      <p:sp>
        <p:nvSpPr>
          <p:cNvPr id="71" name="ANUARIO_CONTENIDO_1_1_10">
            <a:extLst xmlns:a="http://schemas.openxmlformats.org/drawingml/2006/main">
              <a:ext uri="{FF2B5EF4-FFF2-40B4-BE49-F238E27FC236}">
                <a16:creationId xmlns:a16="http://schemas.microsoft.com/office/drawing/2014/main" id="{281C03F5-1222-4972-965C-22B10D24DC82}"/>
              </a:ext>
            </a:extLst>
          </p:cNvPr>
          <p:cNvSpPr>
            <a:spLocks xmlns:a="http://schemas.openxmlformats.org/drawingml/2006/main" noGrp="1"/>
          </p:cNvSpPr>
          <p:nvPr/>
        </p:nvSpPr>
        <p:spPr>
          <a:xfrm xmlns:a="http://schemas.openxmlformats.org/drawingml/2006/main">
            <a:off x="4828032" y="331859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fijo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acceso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Internet: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provee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p>
        </p:txBody>
      </p:sp>
      <p:sp>
        <p:nvSpPr>
          <p:cNvPr id="72" name="ANUARIO_CONTENIDO_1_1_11">
            <a:extLst xmlns:a="http://schemas.openxmlformats.org/drawingml/2006/main">
              <a:ext uri="{FF2B5EF4-FFF2-40B4-BE49-F238E27FC236}">
                <a16:creationId xmlns:a16="http://schemas.microsoft.com/office/drawing/2014/main" id="{E0FBB3B9-6865-4878-A1DA-0A2FA9B7663B}"/>
              </a:ext>
            </a:extLst>
          </p:cNvPr>
          <p:cNvSpPr>
            <a:spLocks xmlns:a="http://schemas.openxmlformats.org/drawingml/2006/main" noGrp="1"/>
          </p:cNvSpPr>
          <p:nvPr/>
        </p:nvSpPr>
        <p:spPr>
          <a:xfrm xmlns:a="http://schemas.openxmlformats.org/drawingml/2006/main">
            <a:off x="4828032" y="341105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transferencia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terminales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73" name="ANUARIO_CONTENIDO_1_1_12">
            <a:extLst xmlns:a="http://schemas.openxmlformats.org/drawingml/2006/main">
              <a:ext uri="{FF2B5EF4-FFF2-40B4-BE49-F238E27FC236}">
                <a16:creationId xmlns:a16="http://schemas.microsoft.com/office/drawing/2014/main" id="{1E168B36-6B22-414D-943F-356E91F124C7}"/>
              </a:ext>
            </a:extLst>
          </p:cNvPr>
          <p:cNvSpPr>
            <a:spLocks xmlns:a="http://schemas.openxmlformats.org/drawingml/2006/main" noGrp="1"/>
          </p:cNvSpPr>
          <p:nvPr/>
        </p:nvSpPr>
        <p:spPr>
          <a:xfrm xmlns:a="http://schemas.openxmlformats.org/drawingml/2006/main">
            <a:off x="4828032" y="350351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ubicación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geográfica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74" name="ANUARIO_CONTENIDO_1_1_13">
            <a:extLst xmlns:a="http://schemas.openxmlformats.org/drawingml/2006/main">
              <a:ext uri="{FF2B5EF4-FFF2-40B4-BE49-F238E27FC236}">
                <a16:creationId xmlns:a16="http://schemas.microsoft.com/office/drawing/2014/main" id="{458F1169-111B-45C9-890D-839E8FBDC128}"/>
              </a:ext>
            </a:extLst>
          </p:cNvPr>
          <p:cNvSpPr>
            <a:spLocks xmlns:a="http://schemas.openxmlformats.org/drawingml/2006/main" noGrp="1"/>
          </p:cNvSpPr>
          <p:nvPr/>
        </p:nvSpPr>
        <p:spPr>
          <a:xfrm xmlns:a="http://schemas.openxmlformats.org/drawingml/2006/main">
            <a:off x="4828032" y="359596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accesos.</a:t>
            </a:r>
          </a:p>
        </p:txBody>
      </p:sp>
      <p:sp>
        <p:nvSpPr>
          <p:cNvPr id="75" name="ANUARIO_CONTENIDO_1_1_14">
            <a:extLst xmlns:a="http://schemas.openxmlformats.org/drawingml/2006/main">
              <a:ext uri="{FF2B5EF4-FFF2-40B4-BE49-F238E27FC236}">
                <a16:creationId xmlns:a16="http://schemas.microsoft.com/office/drawing/2014/main" id="{0CE38284-9FEC-43FD-A990-5D77C7CA85E2}"/>
              </a:ext>
            </a:extLst>
          </p:cNvPr>
          <p:cNvSpPr>
            <a:spLocks xmlns:a="http://schemas.openxmlformats.org/drawingml/2006/main" noGrp="1"/>
          </p:cNvSpPr>
          <p:nvPr/>
        </p:nvSpPr>
        <p:spPr>
          <a:xfrm xmlns:a="http://schemas.openxmlformats.org/drawingml/2006/main">
            <a:off x="4828032" y="371382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fijo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telefonía: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provee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76" name="ANUARIO_CONTENIDO_1_1_15">
            <a:extLst xmlns:a="http://schemas.openxmlformats.org/drawingml/2006/main">
              <a:ext uri="{FF2B5EF4-FFF2-40B4-BE49-F238E27FC236}">
                <a16:creationId xmlns:a16="http://schemas.microsoft.com/office/drawing/2014/main" id="{E6C38890-2A30-43FE-8E47-599DFD83F8C6}"/>
              </a:ext>
            </a:extLst>
          </p:cNvPr>
          <p:cNvSpPr>
            <a:spLocks xmlns:a="http://schemas.openxmlformats.org/drawingml/2006/main" noGrp="1"/>
          </p:cNvSpPr>
          <p:nvPr/>
        </p:nvSpPr>
        <p:spPr>
          <a:xfrm xmlns:a="http://schemas.openxmlformats.org/drawingml/2006/main">
            <a:off x="4828032" y="380627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transporte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voz,</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terminales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77" name="ANUARIO_CONTENIDO_1_1_16">
            <a:extLst xmlns:a="http://schemas.openxmlformats.org/drawingml/2006/main">
              <a:ext uri="{FF2B5EF4-FFF2-40B4-BE49-F238E27FC236}">
                <a16:creationId xmlns:a16="http://schemas.microsoft.com/office/drawing/2014/main" id="{C6C4615D-A1C3-480F-A8B2-4521DE36AACD}"/>
              </a:ext>
            </a:extLst>
          </p:cNvPr>
          <p:cNvSpPr>
            <a:spLocks xmlns:a="http://schemas.openxmlformats.org/drawingml/2006/main" noGrp="1"/>
          </p:cNvSpPr>
          <p:nvPr/>
        </p:nvSpPr>
        <p:spPr>
          <a:xfrm xmlns:a="http://schemas.openxmlformats.org/drawingml/2006/main">
            <a:off x="4828032" y="389873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ubicación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geográfica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además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efectuar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recibir</a:t>
            </a:r>
            <a:r>
              <a:rPr sz="650" b="0" i="0">
                <a:solidFill>
                  <a:srgbClr val="24383A"/>
                </a:solidFill>
                <a:latin typeface="DejaVu Sans"/>
                <a:ea typeface="DejaVu Sans"/>
                <a:cs typeface="DejaVu Sans"/>
              </a:rPr>
              <a:t> </a:t>
            </a:r>
          </a:p>
        </p:txBody>
      </p:sp>
      <p:sp>
        <p:nvSpPr>
          <p:cNvPr id="78" name="ANUARIO_CONTENIDO_1_1_17">
            <a:extLst xmlns:a="http://schemas.openxmlformats.org/drawingml/2006/main">
              <a:ext uri="{FF2B5EF4-FFF2-40B4-BE49-F238E27FC236}">
                <a16:creationId xmlns:a16="http://schemas.microsoft.com/office/drawing/2014/main" id="{59F7E41B-03CB-49E6-8359-28F71420FB2B}"/>
              </a:ext>
            </a:extLst>
          </p:cNvPr>
          <p:cNvSpPr>
            <a:spLocks xmlns:a="http://schemas.openxmlformats.org/drawingml/2006/main" noGrp="1"/>
          </p:cNvSpPr>
          <p:nvPr/>
        </p:nvSpPr>
        <p:spPr>
          <a:xfrm xmlns:a="http://schemas.openxmlformats.org/drawingml/2006/main">
            <a:off x="4828032" y="399119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llamadas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locales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larga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distancia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internacional,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serie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p>
        </p:txBody>
      </p:sp>
      <p:sp>
        <p:nvSpPr>
          <p:cNvPr id="79" name="ANUARIO_CONTENIDO_1_1_18">
            <a:extLst xmlns:a="http://schemas.openxmlformats.org/drawingml/2006/main">
              <a:ext uri="{FF2B5EF4-FFF2-40B4-BE49-F238E27FC236}">
                <a16:creationId xmlns:a16="http://schemas.microsoft.com/office/drawing/2014/main" id="{056E9437-3E7E-448A-AFE8-DF7DEEC5AB2F}"/>
              </a:ext>
            </a:extLst>
          </p:cNvPr>
          <p:cNvSpPr>
            <a:spLocks xmlns:a="http://schemas.openxmlformats.org/drawingml/2006/main" noGrp="1"/>
          </p:cNvSpPr>
          <p:nvPr/>
        </p:nvSpPr>
        <p:spPr>
          <a:xfrm xmlns:a="http://schemas.openxmlformats.org/drawingml/2006/main">
            <a:off x="4828032" y="408364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adicionales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emergencia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suplementarios,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p>
        </p:txBody>
      </p:sp>
      <p:sp>
        <p:nvSpPr>
          <p:cNvPr id="80" name="ANUARIO_CONTENIDO_1_1_19">
            <a:extLst xmlns:a="http://schemas.openxmlformats.org/drawingml/2006/main">
              <a:ext uri="{FF2B5EF4-FFF2-40B4-BE49-F238E27FC236}">
                <a16:creationId xmlns:a16="http://schemas.microsoft.com/office/drawing/2014/main" id="{212F42D6-4EFA-4C25-AFDB-7C7AC7F7D368}"/>
              </a:ext>
            </a:extLst>
          </p:cNvPr>
          <p:cNvSpPr>
            <a:spLocks xmlns:a="http://schemas.openxmlformats.org/drawingml/2006/main" noGrp="1"/>
          </p:cNvSpPr>
          <p:nvPr/>
        </p:nvSpPr>
        <p:spPr>
          <a:xfrm xmlns:a="http://schemas.openxmlformats.org/drawingml/2006/main">
            <a:off x="4828032" y="417610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otros.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líneas.</a:t>
            </a:r>
          </a:p>
        </p:txBody>
      </p:sp>
      <p:pic>
        <p:nvPicPr>
          <p:cNvPr id="82"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83"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84"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85"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86"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87"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8"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526979659"/>
      </p:ext>
    </p:extLst>
  </p:cSld>
</p:sld>
</file>

<file path=ppt/slides/slide124.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7" name="Shape 5"/>
          <p:cNvSpPr/>
          <p:nvPr/>
        </p:nvSpPr>
        <p:spPr>
          <a:xfrm>
            <a:off x="0" y="4937760"/>
            <a:ext cx="9144000" cy="205740"/>
          </a:xfrm>
          <a:prstGeom prst="rect">
            <a:avLst/>
          </a:prstGeom>
          <a:solidFill>
            <a:srgbClr val="1A4043"/>
          </a:solidFill>
          <a:ln w="12700">
            <a:solidFill>
              <a:srgbClr val="1A4043"/>
            </a:solidFill>
            <a:prstDash val="solid"/>
          </a:ln>
        </p:spPr>
      </p:sp>
      <p:sp>
        <p:nvSpPr>
          <p:cNvPr id="8" name="Text 6"/>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125</a:t>
            </a:r>
            <a:endParaRPr lang="en-US" sz="700" dirty="0"/>
          </a:p>
        </p:txBody>
      </p:sp>
      <p:sp>
        <p:nvSpPr>
          <p:cNvPr id="9" name="Text 7"/>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sp>
        <p:nvSpPr>
          <p:cNvPr id="10" name="Shape 8"/>
          <p:cNvSpPr/>
          <p:nvPr/>
        </p:nvSpPr>
        <p:spPr>
          <a:xfrm>
            <a:off x="301752" y="566928"/>
            <a:ext cx="4178808" cy="1920240"/>
          </a:xfrm>
          <a:prstGeom prst="roundRect">
            <a:avLst>
              <a:gd name="adj" fmla="val 2857"/>
            </a:avLst>
          </a:prstGeom>
          <a:solidFill>
            <a:srgbClr val="F6FAF9"/>
          </a:solidFill>
          <a:ln w="9525">
            <a:solidFill>
              <a:srgbClr val="C9DAD6"/>
            </a:solidFill>
            <a:prstDash val="solid"/>
          </a:ln>
        </p:spPr>
      </p:sp>
      <p:sp>
        <p:nvSpPr>
          <p:cNvPr id="11" name="Shape 9"/>
          <p:cNvSpPr/>
          <p:nvPr/>
        </p:nvSpPr>
        <p:spPr>
          <a:xfrm>
            <a:off x="301752" y="640080"/>
            <a:ext cx="64008" cy="1773936"/>
          </a:xfrm>
          <a:prstGeom prst="rect">
            <a:avLst/>
          </a:prstGeom>
          <a:solidFill>
            <a:srgbClr val="2F7F6F"/>
          </a:solidFill>
          <a:ln w="12700">
            <a:solidFill>
              <a:srgbClr val="2F7F6F"/>
            </a:solidFill>
            <a:prstDash val="solid"/>
          </a:ln>
        </p:spPr>
      </p:sp>
      <p:sp>
        <p:nvSpPr>
          <p:cNvPr id="12" name="Shape 10"/>
          <p:cNvSpPr/>
          <p:nvPr/>
        </p:nvSpPr>
        <p:spPr>
          <a:xfrm>
            <a:off x="466344" y="640080"/>
            <a:ext cx="201168" cy="201168"/>
          </a:xfrm>
          <a:prstGeom prst="roundRect">
            <a:avLst>
              <a:gd name="adj" fmla="val 18182"/>
            </a:avLst>
          </a:prstGeom>
          <a:solidFill>
            <a:srgbClr val="1A4043"/>
          </a:solidFill>
          <a:ln w="12700">
            <a:solidFill>
              <a:srgbClr val="1A4043"/>
            </a:solidFill>
            <a:prstDash val="solid"/>
          </a:ln>
        </p:spPr>
      </p:sp>
      <p:sp>
        <p:nvSpPr>
          <p:cNvPr id="13" name="Text 11"/>
          <p:cNvSpPr txBox="1"/>
          <p:nvPr/>
        </p:nvSpPr>
        <p:spPr>
          <a:xfrm>
            <a:off x="466344" y="6400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S</a:t>
            </a:r>
            <a:endParaRPr lang="en-US" sz="900" dirty="0"/>
          </a:p>
        </p:txBody>
      </p:sp>
      <p:sp>
        <p:nvSpPr>
          <p:cNvPr id="14" name="Text 12"/>
          <p:cNvSpPr txBox="1"/>
          <p:nvPr/>
        </p:nvSpPr>
        <p:spPr>
          <a:xfrm>
            <a:off x="466344" y="868680"/>
            <a:ext cx="3904488" cy="155448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fijo: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Servicio de telecomunicaciones para usuarios finales, que se puede prestar mientras el Equipo Terminal se encuentra sin movilidad, o con movilidad limitada a un área geográfica determinada por el Operador, independientemente de su Cobertura.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de acceso a Internet: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Este servicio permite enviar y recibir datos dentro del territorio nacional y/o en itinerancia, a través de equipos terminales que no tienen una ubicación geográfica determinada. Este servicio se mide en líneas.</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de telefonía: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Este servicio permite efectuar y recibir llamadas locales, de larga distancia internacional y/o de itinerancia a través de equipos terminales que no tienen una ubicación geográfica determinada, además permite hacer uso de una serie de servicios adicionales tales como acceso a servicios de emergencia o servicios suplementarios, entre otros. Este servicio se mide en líneas.</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Servicio de telecomunicaciones para usuarios finales que se puede prestar en movilidad mientras el Equipo Terminal se encuentre en cualquier área geográfica dentro de la Cobertura del Operador.</a:t>
            </a:r>
            <a:endParaRPr lang="en-US" sz="630" dirty="0"/>
          </a:p>
        </p:txBody>
      </p:sp>
      <p:sp>
        <p:nvSpPr>
          <p:cNvPr id="15" name="Shape 13"/>
          <p:cNvSpPr/>
          <p:nvPr/>
        </p:nvSpPr>
        <p:spPr>
          <a:xfrm>
            <a:off x="301752" y="2560320"/>
            <a:ext cx="4178808" cy="1901952"/>
          </a:xfrm>
          <a:prstGeom prst="roundRect">
            <a:avLst>
              <a:gd name="adj" fmla="val 2885"/>
            </a:avLst>
          </a:prstGeom>
          <a:solidFill>
            <a:srgbClr val="F6FAF9"/>
          </a:solidFill>
          <a:ln w="9525">
            <a:solidFill>
              <a:srgbClr val="C9DAD6"/>
            </a:solidFill>
            <a:prstDash val="solid"/>
          </a:ln>
        </p:spPr>
      </p:sp>
      <p:sp>
        <p:nvSpPr>
          <p:cNvPr id="16" name="Shape 14"/>
          <p:cNvSpPr/>
          <p:nvPr/>
        </p:nvSpPr>
        <p:spPr>
          <a:xfrm>
            <a:off x="301752" y="2633472"/>
            <a:ext cx="64008" cy="1755648"/>
          </a:xfrm>
          <a:prstGeom prst="rect">
            <a:avLst/>
          </a:prstGeom>
          <a:solidFill>
            <a:srgbClr val="2F7F6F"/>
          </a:solidFill>
          <a:ln w="12700">
            <a:solidFill>
              <a:srgbClr val="2F7F6F"/>
            </a:solidFill>
            <a:prstDash val="solid"/>
          </a:ln>
        </p:spPr>
      </p:sp>
      <p:sp>
        <p:nvSpPr>
          <p:cNvPr id="17" name="Shape 15"/>
          <p:cNvSpPr/>
          <p:nvPr/>
        </p:nvSpPr>
        <p:spPr>
          <a:xfrm>
            <a:off x="466344" y="2633472"/>
            <a:ext cx="201168" cy="201168"/>
          </a:xfrm>
          <a:prstGeom prst="roundRect">
            <a:avLst>
              <a:gd name="adj" fmla="val 18182"/>
            </a:avLst>
          </a:prstGeom>
          <a:solidFill>
            <a:srgbClr val="1A4043"/>
          </a:solidFill>
          <a:ln w="12700">
            <a:solidFill>
              <a:srgbClr val="1A4043"/>
            </a:solidFill>
            <a:prstDash val="solid"/>
          </a:ln>
        </p:spPr>
      </p:sp>
      <p:sp>
        <p:nvSpPr>
          <p:cNvPr id="18" name="Text 16"/>
          <p:cNvSpPr txBox="1"/>
          <p:nvPr/>
        </p:nvSpPr>
        <p:spPr>
          <a:xfrm>
            <a:off x="466344" y="263347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T</a:t>
            </a:r>
            <a:endParaRPr lang="en-US" sz="900" dirty="0"/>
          </a:p>
        </p:txBody>
      </p:sp>
      <p:sp>
        <p:nvSpPr>
          <p:cNvPr id="19" name="Text 17"/>
          <p:cNvSpPr txBox="1"/>
          <p:nvPr/>
        </p:nvSpPr>
        <p:spPr>
          <a:xfrm>
            <a:off x="466344" y="2862072"/>
            <a:ext cx="3904488" cy="150876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Talk show: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Programa de televisión en el que varios invitados hablan sobre un tema de actualidad o brindan testimonios personales (los invitados no son especialistas en el tema).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Telehogares: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Hogares en los cuales reside de forma permanente al menos una persona y cuentan por lo menos con un aparato de televisión.</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Telenovelas: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Historias o novelas producidas para la televisión, transmitidas en episodios diarios y consecutivos. Narran una historia ficticia –aunque puede estar basada en hechos reales— de contenido melodramático, sin que se excluyan otros géneros, y cada capítulo cuenta con los elementos inicio, desarrollo, clímax y, al término, una situación de suspenso que puede ser coincidente con el clímax.</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Televisión por protocolo de Internet (IPTV, por sus siglas en inglés Internet Protocol Television):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La televisión sobre el protocolo IP o IPTV es una tecnología que permite que los servicios de televisión sean emitidos a través de la banda ancha de una red de paquete de datos privados mediante el uso del protocolo de Internet.</a:t>
            </a:r>
            <a:endParaRPr lang="en-US" sz="630" dirty="0"/>
          </a:p>
        </p:txBody>
      </p:sp>
      <p:sp>
        <p:nvSpPr>
          <p:cNvPr id="20" name="Shape 18"/>
          <p:cNvSpPr/>
          <p:nvPr/>
        </p:nvSpPr>
        <p:spPr>
          <a:xfrm>
            <a:off x="4663440" y="566928"/>
            <a:ext cx="4178808" cy="1481328"/>
          </a:xfrm>
          <a:prstGeom prst="roundRect">
            <a:avLst>
              <a:gd name="adj" fmla="val 3704"/>
            </a:avLst>
          </a:prstGeom>
          <a:solidFill>
            <a:srgbClr val="F6FAF9"/>
          </a:solidFill>
          <a:ln w="9525">
            <a:solidFill>
              <a:srgbClr val="C9DAD6"/>
            </a:solidFill>
            <a:prstDash val="solid"/>
          </a:ln>
        </p:spPr>
      </p:sp>
      <p:sp>
        <p:nvSpPr>
          <p:cNvPr id="21" name="Shape 19"/>
          <p:cNvSpPr/>
          <p:nvPr/>
        </p:nvSpPr>
        <p:spPr>
          <a:xfrm>
            <a:off x="4663440" y="640080"/>
            <a:ext cx="64008" cy="1335024"/>
          </a:xfrm>
          <a:prstGeom prst="rect">
            <a:avLst/>
          </a:prstGeom>
          <a:solidFill>
            <a:srgbClr val="2F7F6F"/>
          </a:solidFill>
          <a:ln w="12700">
            <a:solidFill>
              <a:srgbClr val="2F7F6F"/>
            </a:solidFill>
            <a:prstDash val="solid"/>
          </a:ln>
        </p:spPr>
      </p:sp>
      <p:sp>
        <p:nvSpPr>
          <p:cNvPr id="22" name="Shape 20"/>
          <p:cNvSpPr/>
          <p:nvPr/>
        </p:nvSpPr>
        <p:spPr>
          <a:xfrm>
            <a:off x="4828032" y="640080"/>
            <a:ext cx="201168" cy="201168"/>
          </a:xfrm>
          <a:prstGeom prst="roundRect">
            <a:avLst>
              <a:gd name="adj" fmla="val 18182"/>
            </a:avLst>
          </a:prstGeom>
          <a:solidFill>
            <a:srgbClr val="1A4043"/>
          </a:solidFill>
          <a:ln w="12700">
            <a:solidFill>
              <a:srgbClr val="1A4043"/>
            </a:solidFill>
            <a:prstDash val="solid"/>
          </a:ln>
        </p:spPr>
      </p:sp>
      <p:sp>
        <p:nvSpPr>
          <p:cNvPr id="23" name="Text 21"/>
          <p:cNvSpPr txBox="1"/>
          <p:nvPr/>
        </p:nvSpPr>
        <p:spPr>
          <a:xfrm>
            <a:off x="4828032" y="6400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U</a:t>
            </a:r>
            <a:endParaRPr lang="en-US" sz="900" dirty="0"/>
          </a:p>
        </p:txBody>
      </p:sp>
      <p:sp>
        <p:nvSpPr>
          <p:cNvPr id="24" name="Text 22"/>
          <p:cNvSpPr txBox="1"/>
          <p:nvPr/>
        </p:nvSpPr>
        <p:spPr>
          <a:xfrm>
            <a:off x="4828032" y="868680"/>
            <a:ext cx="3904488" cy="100584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Unidades Económicas (UE):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Son las unidades estadísticas sobre las cuales se recopilan datos, se dedican principalmente a un tipo de actividad de manera permanente en construcciones e instalaciones fijas, combinando acciones y recursos bajo el control de una sola entidad propietaria o controladora, para llevar a cabo producción de bienes y servicios, sea con fines mercantiles o no. Se definen por sector de acuerdo con la disponibilidad de registros contables y la necesidad de obtener información con el mayor nivel de precisión analítica.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Universo: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Conjunto de individuos o elementos que tienen una o más características en común y que se someten a un estudio estadístico. En este caso conformado por los individuos capaces de recibir señales de audio y video asociado (televisión) o radio.</a:t>
            </a:r>
            <a:endParaRPr lang="en-US" sz="630" dirty="0"/>
          </a:p>
        </p:txBody>
      </p:sp>
      <p:sp>
        <p:nvSpPr>
          <p:cNvPr id="25" name="Shape 23"/>
          <p:cNvSpPr/>
          <p:nvPr/>
        </p:nvSpPr>
        <p:spPr>
          <a:xfrm>
            <a:off x="4663440" y="2121408"/>
            <a:ext cx="4178808" cy="2340864"/>
          </a:xfrm>
          <a:prstGeom prst="roundRect">
            <a:avLst>
              <a:gd name="adj" fmla="val 2344"/>
            </a:avLst>
          </a:prstGeom>
          <a:solidFill>
            <a:srgbClr val="F6FAF9"/>
          </a:solidFill>
          <a:ln w="9525">
            <a:solidFill>
              <a:srgbClr val="C9DAD6"/>
            </a:solidFill>
            <a:prstDash val="solid"/>
          </a:ln>
        </p:spPr>
      </p:sp>
      <p:sp>
        <p:nvSpPr>
          <p:cNvPr id="26" name="Shape 24"/>
          <p:cNvSpPr/>
          <p:nvPr/>
        </p:nvSpPr>
        <p:spPr>
          <a:xfrm>
            <a:off x="4663440" y="2194560"/>
            <a:ext cx="64008" cy="2194560"/>
          </a:xfrm>
          <a:prstGeom prst="rect">
            <a:avLst/>
          </a:prstGeom>
          <a:solidFill>
            <a:srgbClr val="2F7F6F"/>
          </a:solidFill>
          <a:ln w="12700">
            <a:solidFill>
              <a:srgbClr val="2F7F6F"/>
            </a:solidFill>
            <a:prstDash val="solid"/>
          </a:ln>
        </p:spPr>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846320" y="2212848"/>
          <a:ext cx="3813048" cy="914400"/>
        </p:xfrm>
        <a:graphic>
          <a:graphicData uri="http://schemas.openxmlformats.org/drawingml/2006/table">
            <a:tbl>
              <a:tblPr/>
              <a:tblGrid>
                <a:gridCol w="841248"/>
                <a:gridCol w="1216152"/>
                <a:gridCol w="841248"/>
                <a:gridCol w="914400"/>
              </a:tblGrid>
              <a:tr h="164592">
                <a:tc gridSpan="2">
                  <a:txBody>
                    <a:bodyPr/>
                    <a:lstStyle/>
                    <a:p>
                      <a:pPr algn="ctr" indent="0" marL="0">
                        <a:buNone/>
                      </a:pPr>
                      <a:r>
                        <a:rPr lang="en-US" sz="600" b="1" dirty="0">
                          <a:solidFill>
                            <a:srgbClr val="FFFFFF"/>
                          </a:solidFill>
                          <a:latin typeface="DejaVu Sans" pitchFamily="34" charset="0"/>
                          <a:ea typeface="DejaVu Sans" pitchFamily="34" charset="-122"/>
                          <a:cs typeface="DejaVu Sans" pitchFamily="34" charset="-120"/>
                        </a:rPr>
                        <a:t>Televisión</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1A4043"/>
                    </a:solidFill>
                  </a:tcPr>
                </a:tc>
                <a:tc hMerge="1">
                  <a:tcPr/>
                </a:tc>
                <a:tc gridSpan="2">
                  <a:txBody>
                    <a:bodyPr/>
                    <a:lstStyle/>
                    <a:p>
                      <a:pPr algn="ctr" indent="0" marL="0">
                        <a:buNone/>
                      </a:pPr>
                      <a:r>
                        <a:rPr lang="en-US" sz="600" b="1" dirty="0">
                          <a:solidFill>
                            <a:srgbClr val="FFFFFF"/>
                          </a:solidFill>
                          <a:latin typeface="DejaVu Sans" pitchFamily="34" charset="0"/>
                          <a:ea typeface="DejaVu Sans" pitchFamily="34" charset="-122"/>
                          <a:cs typeface="DejaVu Sans" pitchFamily="34" charset="-120"/>
                        </a:rPr>
                        <a:t>Radio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1A4043"/>
                    </a:solidFill>
                  </a:tcPr>
                </a:tc>
                <a:tc hMerge="1">
                  <a:tcPr/>
                </a:tc>
              </a:tr>
              <a:tr h="457200">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Especificaciones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Personas de 4 o más años que cuenten con un televisor funcional en el hogar. Se incluyen a los usuarios visitantes en el hogar (</a:t>
                      </a:r>
                      <a:pPr algn="ctr" indent="0" marL="0">
                        <a:buNone/>
                      </a:pPr>
                      <a:r>
                        <a:rPr lang="en-US" sz="600" i="1" dirty="0">
                          <a:solidFill>
                            <a:srgbClr val="24383A"/>
                          </a:solidFill>
                          <a:latin typeface="DejaVu Sans" pitchFamily="34" charset="0"/>
                          <a:ea typeface="DejaVu Sans" pitchFamily="34" charset="-122"/>
                          <a:cs typeface="DejaVu Sans" pitchFamily="34" charset="-120"/>
                        </a:rPr>
                        <a:t>Guest Viewers</a:t>
                      </a:r>
                      <a:pPr algn="ctr" indent="0" marL="0">
                        <a:buNone/>
                      </a:pPr>
                      <a:r>
                        <a:rPr lang="en-US" sz="600" dirty="0">
                          <a:solidFill>
                            <a:srgbClr val="24383A"/>
                          </a:solidFill>
                          <a:latin typeface="DejaVu Sans" pitchFamily="34" charset="0"/>
                          <a:ea typeface="DejaVu Sans" pitchFamily="34" charset="-122"/>
                          <a:cs typeface="DejaVu Sans" pitchFamily="34" charset="-120"/>
                        </a:rPr>
                        <a:t>).</a:t>
                      </a:r>
                      <a:pPr algn="ctr" indent="0" marL="0">
                        <a:buNone/>
                      </a:pPr>
                      <a:r>
                        <a:rPr lang="en-US" sz="600" baseline="30000" dirty="0">
                          <a:solidFill>
                            <a:srgbClr val="24383A"/>
                          </a:solidFill>
                          <a:latin typeface="DejaVu Sans" pitchFamily="34" charset="0"/>
                          <a:ea typeface="DejaVu Sans" pitchFamily="34" charset="-122"/>
                          <a:cs typeface="DejaVu Sans" pitchFamily="34" charset="-120"/>
                        </a:rPr>
                        <a:t>12</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Especificaciones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Personas de 8 años en adelante.</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274320">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Cobertura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28 ciudades que comprende el estudio de Nielsen IBOPE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Cobertura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Ciudad de México, Guadalajara y 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gridSpan="2">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Universo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EAF3F1"/>
                    </a:solidFill>
                  </a:tcPr>
                </a:tc>
                <a:tc hMerge="1">
                  <a:tcPr/>
                </a:tc>
                <a:tc rowSpan="2" gridSpan="2">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Universos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EAF3F1"/>
                    </a:solidFill>
                  </a:tcPr>
                </a:tc>
                <a:tc rowSpan="2" hMerge="1">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28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58,151,356</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gridSpan="2" vMerge="1">
                  <a:tcPr/>
                </a:tc>
                <a:tc vMerge="1" hMerge="1">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Ciudad de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20,258,180</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Total 3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27,325,688</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Guadalajara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4,840,117</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Ciudad de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18,224,996</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4,819,593</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Guadalajara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4,640,377</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25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28,233,465</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4,460,315</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bl>
          </a:graphicData>
        </a:graphic>
      </p:graphicFrame>
      <p:sp>
        <p:nvSpPr>
          <p:cNvPr id="28" name="Text 25"/>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12 </a:t>
            </a:r>
            <a:pPr indent="0" marL="0">
              <a:buNone/>
            </a:pPr>
            <a:r>
              <a:rPr lang="en-US" sz="520" dirty="0">
                <a:solidFill>
                  <a:srgbClr val="24383A"/>
                </a:solidFill>
                <a:latin typeface="DejaVu Sans" pitchFamily="34" charset="0"/>
                <a:ea typeface="DejaVu Sans" pitchFamily="34" charset="-122"/>
                <a:cs typeface="DejaVu Sans" pitchFamily="34" charset="-120"/>
              </a:rPr>
              <a:t>El Universo de TV corresponde al promedio de los universos del estudio de Nielsen IBOPE México para el periodo de julio de 2023 a junio de 2024, obtenido a través de la evaluación del </a:t>
            </a:r>
            <a:pPr indent="0" marL="0">
              <a:buNone/>
            </a:pPr>
            <a:r>
              <a:rPr lang="en-US" sz="520" i="1" dirty="0">
                <a:solidFill>
                  <a:srgbClr val="24383A"/>
                </a:solidFill>
                <a:latin typeface="DejaVu Sans" pitchFamily="34" charset="0"/>
                <a:ea typeface="DejaVu Sans" pitchFamily="34" charset="-122"/>
                <a:cs typeface="DejaVu Sans" pitchFamily="34" charset="-120"/>
              </a:rPr>
              <a:t>target</a:t>
            </a:r>
            <a:pPr indent="0" marL="0">
              <a:buNone/>
            </a:pPr>
            <a:r>
              <a:rPr lang="en-US" sz="520" dirty="0">
                <a:solidFill>
                  <a:srgbClr val="24383A"/>
                </a:solidFill>
                <a:latin typeface="DejaVu Sans" pitchFamily="34" charset="0"/>
                <a:ea typeface="DejaVu Sans" pitchFamily="34" charset="-122"/>
                <a:cs typeface="DejaVu Sans" pitchFamily="34" charset="-120"/>
              </a:rPr>
              <a:t> en el periodo.</a:t>
            </a:r>
            <a:endParaRPr lang="en-US" sz="520" dirty="0"/>
          </a:p>
        </p:txBody>
      </p:sp>
      <p:pic>
        <p:nvPicPr>
          <p:cNvPr id="29" name="ANUARIO_BARRA_FONDO"/>
          <p:cNvPicPr>
            <a:picLocks noChangeAspect="1"/>
          </p:cNvPicPr>
          <p:nvPr/>
        </p:nvPicPr>
        <p:blipFill>
          <a:blip r:embed="rId2"/>
          <a:stretch/>
        </p:blipFill>
        <p:spPr>
          <a:xfrm>
            <a:off x="3378" y="0"/>
            <a:ext cx="9136888" cy="456844"/>
          </a:xfrm>
          <a:prstGeom prst="rect">
            <a:avLst/>
          </a:prstGeom>
        </p:spPr>
      </p:pic>
      <p:sp>
        <p:nvSpPr>
          <p:cNvPr id="30"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31" name="ANUARIO_BARRA_QR"/>
          <p:cNvPicPr>
            <a:picLocks noChangeAspect="1"/>
          </p:cNvPicPr>
          <p:nvPr/>
        </p:nvPicPr>
        <p:blipFill>
          <a:blip r:embed="rId3"/>
          <a:stretch/>
        </p:blipFill>
        <p:spPr>
          <a:xfrm>
            <a:off x="7810564" y="75961"/>
            <a:ext cx="304559" cy="304559"/>
          </a:xfrm>
          <a:prstGeom prst="rect">
            <a:avLst/>
          </a:prstGeom>
        </p:spPr>
      </p:pic>
      <p:pic>
        <p:nvPicPr>
          <p:cNvPr id="32" name="ANUARIO_BARRA_CRT"/>
          <p:cNvPicPr>
            <a:picLocks noChangeAspect="1"/>
          </p:cNvPicPr>
          <p:nvPr/>
        </p:nvPicPr>
        <p:blipFill>
          <a:blip r:embed="rId4"/>
          <a:stretch/>
        </p:blipFill>
        <p:spPr>
          <a:xfrm>
            <a:off x="8294782" y="75961"/>
            <a:ext cx="542115" cy="304559"/>
          </a:xfrm>
          <a:prstGeom prst="rect">
            <a:avLst/>
          </a:prstGeom>
        </p:spPr>
      </p:pic>
      <p:sp>
        <p:nvSpPr>
          <p:cNvPr id="33"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34"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35" name="ANUARIO_BARRA_URL">
            <a:hlinkClick r:id="rId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5.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D000D7C9-1CEB-4CC6-B246-76144B59C2CD}"/>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7028AC88-2A2A-4B3D-8F77-C69F2027F3A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125</a:t>
            </a:r>
          </a:p>
        </p:txBody>
      </p:sp>
      <p:sp>
        <p:nvSpPr>
          <p:cNvPr id="9" name="ANUARIO_EDICION">
            <a:extLst xmlns:a="http://schemas.openxmlformats.org/drawingml/2006/main">
              <a:ext uri="{FF2B5EF4-FFF2-40B4-BE49-F238E27FC236}">
                <a16:creationId xmlns:a16="http://schemas.microsoft.com/office/drawing/2014/main" id="{E2611950-2BC8-40FC-A842-19AE88EBB177}"/>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6_DESIGN_2026">
            <a:extLst xmlns:a="http://schemas.openxmlformats.org/drawingml/2006/main">
              <a:ext uri="{FF2B5EF4-FFF2-40B4-BE49-F238E27FC236}">
                <a16:creationId xmlns:a16="http://schemas.microsoft.com/office/drawing/2014/main" id="{45DA7B79-82F2-4175-8358-B5E5CBEF28A8}"/>
              </a:ext>
            </a:extLst>
          </p:cNvPr>
          <p:cNvSpPr>
            <a:spLocks xmlns:a="http://schemas.openxmlformats.org/drawingml/2006/main" noGrp="1"/>
          </p:cNvSpPr>
          <p:nvPr/>
        </p:nvSpPr>
        <p:spPr>
          <a:xfrm xmlns:a="http://schemas.openxmlformats.org/drawingml/2006/main">
            <a:off x="301752" y="566928"/>
            <a:ext cx="8540496" cy="2761488"/>
          </a:xfrm>
          <a:prstGeom xmlns:a="http://schemas.openxmlformats.org/drawingml/2006/main" prst="roundRect">
            <a:avLst>
              <a:gd name="adj" fmla="val 1987"/>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02EFE0E9-B2A0-4D2E-9F20-CED96A7C4B52}"/>
              </a:ext>
            </a:extLst>
          </p:cNvPr>
          <p:cNvSpPr>
            <a:spLocks xmlns:a="http://schemas.openxmlformats.org/drawingml/2006/main" noGrp="1"/>
          </p:cNvSpPr>
          <p:nvPr/>
        </p:nvSpPr>
        <p:spPr>
          <a:xfrm xmlns:a="http://schemas.openxmlformats.org/drawingml/2006/main">
            <a:off x="301752" y="640080"/>
            <a:ext cx="64008" cy="261518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80BD47A4-8567-488D-97A5-56610111DC68}"/>
              </a:ext>
            </a:extLst>
          </p:cNvPr>
          <p:cNvSpPr>
            <a:spLocks xmlns:a="http://schemas.openxmlformats.org/drawingml/2006/main" noGrp="1"/>
          </p:cNvSpPr>
          <p:nvPr/>
        </p:nvSpPr>
        <p:spPr>
          <a:xfrm xmlns:a="http://schemas.openxmlformats.org/drawingml/2006/main">
            <a:off x="466344" y="658368"/>
            <a:ext cx="8220456"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Servicios de telecomunicaciones</a:t>
            </a:r>
          </a:p>
        </p:txBody>
      </p:sp>
      <p:sp>
        <p:nvSpPr>
          <p:cNvPr id="13" name="ANUARIO_SERVICIOS_0_0">
            <a:extLst xmlns:a="http://schemas.openxmlformats.org/drawingml/2006/main">
              <a:ext uri="{FF2B5EF4-FFF2-40B4-BE49-F238E27FC236}">
                <a16:creationId xmlns:a16="http://schemas.microsoft.com/office/drawing/2014/main" id="{BF855166-325D-43F0-8A6E-71F4F5721CC1}"/>
              </a:ext>
            </a:extLst>
          </p:cNvPr>
          <p:cNvSpPr>
            <a:spLocks xmlns:a="http://schemas.openxmlformats.org/drawingml/2006/main" noGrp="1"/>
          </p:cNvSpPr>
          <p:nvPr/>
        </p:nvSpPr>
        <p:spPr>
          <a:xfrm xmlns:a="http://schemas.openxmlformats.org/drawingml/2006/main">
            <a:off x="466344" y="9784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indicadores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mostrados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presente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Anuario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Estadístico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fueron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elaborados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trimestral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proporcionada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operadores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p>
        </p:txBody>
      </p:sp>
      <p:sp>
        <p:nvSpPr>
          <p:cNvPr id="14" name="ANUARIO_SERVICIOS_0_1">
            <a:extLst xmlns:a="http://schemas.openxmlformats.org/drawingml/2006/main">
              <a:ext uri="{FF2B5EF4-FFF2-40B4-BE49-F238E27FC236}">
                <a16:creationId xmlns:a16="http://schemas.microsoft.com/office/drawing/2014/main" id="{A311D9FD-ED6F-422F-AEEC-ACA7DD65C5D9}"/>
              </a:ext>
            </a:extLst>
          </p:cNvPr>
          <p:cNvSpPr>
            <a:spLocks xmlns:a="http://schemas.openxmlformats.org/drawingml/2006/main" noGrp="1"/>
          </p:cNvSpPr>
          <p:nvPr/>
        </p:nvSpPr>
        <p:spPr>
          <a:xfrm xmlns:a="http://schemas.openxmlformats.org/drawingml/2006/main">
            <a:off x="466344" y="10850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CRT,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revisada,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procesada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analizada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Dirección General de Planeación</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su</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publicación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Banco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p>
        </p:txBody>
      </p:sp>
      <p:sp>
        <p:nvSpPr>
          <p:cNvPr id="15" name="ANUARIO_SERVICIOS_0_2">
            <a:extLst xmlns:a="http://schemas.openxmlformats.org/drawingml/2006/main">
              <a:ext uri="{FF2B5EF4-FFF2-40B4-BE49-F238E27FC236}">
                <a16:creationId xmlns:a16="http://schemas.microsoft.com/office/drawing/2014/main" id="{4CED58EA-7AA8-47DF-9666-57F0C3B55979}"/>
              </a:ext>
            </a:extLst>
          </p:cNvPr>
          <p:cNvSpPr>
            <a:spLocks xmlns:a="http://schemas.openxmlformats.org/drawingml/2006/main" noGrp="1"/>
          </p:cNvSpPr>
          <p:nvPr/>
        </p:nvSpPr>
        <p:spPr>
          <a:xfrm xmlns:a="http://schemas.openxmlformats.org/drawingml/2006/main">
            <a:off x="466344" y="11917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(BIT).</a:t>
            </a:r>
          </a:p>
        </p:txBody>
      </p:sp>
      <p:sp>
        <p:nvSpPr>
          <p:cNvPr id="16" name="ANUARIO_SERVICIOS_0_3">
            <a:extLst xmlns:a="http://schemas.openxmlformats.org/drawingml/2006/main">
              <a:ext uri="{FF2B5EF4-FFF2-40B4-BE49-F238E27FC236}">
                <a16:creationId xmlns:a16="http://schemas.microsoft.com/office/drawing/2014/main" id="{6415C3C9-3E24-4E57-82E6-70D75B388AFD}"/>
              </a:ext>
            </a:extLst>
          </p:cNvPr>
          <p:cNvSpPr>
            <a:spLocks xmlns:a="http://schemas.openxmlformats.org/drawingml/2006/main" noGrp="1"/>
          </p:cNvSpPr>
          <p:nvPr/>
        </p:nvSpPr>
        <p:spPr>
          <a:xfrm xmlns:a="http://schemas.openxmlformats.org/drawingml/2006/main">
            <a:off x="466344" y="13238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Debido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naturaleza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telefonía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cuentan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p>
        </p:txBody>
      </p:sp>
      <p:sp>
        <p:nvSpPr>
          <p:cNvPr id="17" name="ANUARIO_SERVICIOS_0_4">
            <a:extLst xmlns:a="http://schemas.openxmlformats.org/drawingml/2006/main">
              <a:ext uri="{FF2B5EF4-FFF2-40B4-BE49-F238E27FC236}">
                <a16:creationId xmlns:a16="http://schemas.microsoft.com/office/drawing/2014/main" id="{F2C4E3DF-A827-4AB7-A7BE-379BC910E524}"/>
              </a:ext>
            </a:extLst>
          </p:cNvPr>
          <p:cNvSpPr>
            <a:spLocks xmlns:a="http://schemas.openxmlformats.org/drawingml/2006/main" noGrp="1"/>
          </p:cNvSpPr>
          <p:nvPr/>
        </p:nvSpPr>
        <p:spPr>
          <a:xfrm xmlns:a="http://schemas.openxmlformats.org/drawingml/2006/main">
            <a:off x="466344" y="143052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desagregación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obtener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indicadores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100</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habitantes,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obtuvo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ENDUTIH</a:t>
            </a:r>
            <a:r>
              <a:rPr sz="750" b="0" i="0">
                <a:solidFill>
                  <a:srgbClr val="24383A"/>
                </a:solidFill>
                <a:latin typeface="DejaVu Sans"/>
                <a:ea typeface="DejaVu Sans"/>
                <a:cs typeface="DejaVu Sans"/>
              </a:rPr>
              <a:t> </a:t>
            </a:r>
          </a:p>
        </p:txBody>
      </p:sp>
      <p:sp>
        <p:nvSpPr>
          <p:cNvPr id="18" name="ANUARIO_SERVICIOS_0_5">
            <a:extLst xmlns:a="http://schemas.openxmlformats.org/drawingml/2006/main">
              <a:ext uri="{FF2B5EF4-FFF2-40B4-BE49-F238E27FC236}">
                <a16:creationId xmlns:a16="http://schemas.microsoft.com/office/drawing/2014/main" id="{BA569680-900A-49B7-8471-9AD928305BBB}"/>
              </a:ext>
            </a:extLst>
          </p:cNvPr>
          <p:cNvSpPr>
            <a:spLocks xmlns:a="http://schemas.openxmlformats.org/drawingml/2006/main" noGrp="1"/>
          </p:cNvSpPr>
          <p:nvPr/>
        </p:nvSpPr>
        <p:spPr>
          <a:xfrm xmlns:a="http://schemas.openxmlformats.org/drawingml/2006/main">
            <a:off x="466344" y="15372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2025</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tomaron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siguientes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supuestos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acuerdo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tipo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p>
        </p:txBody>
      </p:sp>
      <p:sp>
        <p:nvSpPr>
          <p:cNvPr id="19" name="ANUARIO_SERVICIOS_0_6">
            <a:extLst xmlns:a="http://schemas.openxmlformats.org/drawingml/2006/main">
              <a:ext uri="{FF2B5EF4-FFF2-40B4-BE49-F238E27FC236}">
                <a16:creationId xmlns:a16="http://schemas.microsoft.com/office/drawing/2014/main" id="{A7FE5E3C-7382-46B8-B387-45E93CD7BF1C}"/>
              </a:ext>
            </a:extLst>
          </p:cNvPr>
          <p:cNvSpPr>
            <a:spLocks xmlns:a="http://schemas.openxmlformats.org/drawingml/2006/main" noGrp="1"/>
          </p:cNvSpPr>
          <p:nvPr/>
        </p:nvSpPr>
        <p:spPr>
          <a:xfrm xmlns:a="http://schemas.openxmlformats.org/drawingml/2006/main">
            <a:off x="466344" y="16692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a:t>
            </a:r>
            <a:r>
              <a:rPr sz="750" b="0" i="0">
                <a:solidFill>
                  <a:srgbClr val="24383A"/>
                </a:solidFill>
                <a:latin typeface="DejaVu Sans"/>
                <a:ea typeface="DejaVu Sans"/>
                <a:cs typeface="DejaVu Sans"/>
              </a:rPr>
              <a:t> </a:t>
            </a:r>
            <a:r>
              <a:rPr sz="750" b="1" i="0">
                <a:solidFill>
                  <a:srgbClr val="2F7F6F"/>
                </a:solidFill>
                <a:latin typeface="DejaVu Sans"/>
                <a:ea typeface="DejaVu Sans"/>
                <a:cs typeface="DejaVu Sans"/>
              </a:rPr>
              <a:t>Servicio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móvil</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de</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telefonía.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usuarios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6</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años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más,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residente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p>
        </p:txBody>
      </p:sp>
      <p:sp>
        <p:nvSpPr>
          <p:cNvPr id="20" name="ANUARIO_SERVICIOS_0_7">
            <a:extLst xmlns:a="http://schemas.openxmlformats.org/drawingml/2006/main">
              <a:ext uri="{FF2B5EF4-FFF2-40B4-BE49-F238E27FC236}">
                <a16:creationId xmlns:a16="http://schemas.microsoft.com/office/drawing/2014/main" id="{00E1ED43-1FE2-4213-A7C7-9987FB43F6C0}"/>
              </a:ext>
            </a:extLst>
          </p:cNvPr>
          <p:cNvSpPr>
            <a:spLocks xmlns:a="http://schemas.openxmlformats.org/drawingml/2006/main" noGrp="1"/>
          </p:cNvSpPr>
          <p:nvPr/>
        </p:nvSpPr>
        <p:spPr>
          <a:xfrm xmlns:a="http://schemas.openxmlformats.org/drawingml/2006/main">
            <a:off x="466344" y="17759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respondió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contar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teléfono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celular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haberlo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usado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últimos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meses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previos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levantamiento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encuesta.</a:t>
            </a:r>
            <a:r>
              <a:rPr sz="750" b="0" i="0">
                <a:solidFill>
                  <a:srgbClr val="24383A"/>
                </a:solidFill>
                <a:latin typeface="DejaVu Sans"/>
                <a:ea typeface="DejaVu Sans"/>
                <a:cs typeface="DejaVu Sans"/>
              </a:rPr>
              <a:t> </a:t>
            </a:r>
          </a:p>
        </p:txBody>
      </p:sp>
      <p:sp>
        <p:nvSpPr>
          <p:cNvPr id="21" name="ANUARIO_SERVICIOS_0_8">
            <a:extLst xmlns:a="http://schemas.openxmlformats.org/drawingml/2006/main">
              <a:ext uri="{FF2B5EF4-FFF2-40B4-BE49-F238E27FC236}">
                <a16:creationId xmlns:a16="http://schemas.microsoft.com/office/drawing/2014/main" id="{02F400AF-E5E6-4E45-A414-243547CE3122}"/>
              </a:ext>
            </a:extLst>
          </p:cNvPr>
          <p:cNvSpPr>
            <a:spLocks xmlns:a="http://schemas.openxmlformats.org/drawingml/2006/main" noGrp="1"/>
          </p:cNvSpPr>
          <p:nvPr/>
        </p:nvSpPr>
        <p:spPr>
          <a:xfrm xmlns:a="http://schemas.openxmlformats.org/drawingml/2006/main">
            <a:off x="466344" y="19080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a:t>
            </a:r>
            <a:r>
              <a:rPr sz="750" b="0" i="0">
                <a:solidFill>
                  <a:srgbClr val="24383A"/>
                </a:solidFill>
                <a:latin typeface="DejaVu Sans"/>
                <a:ea typeface="DejaVu Sans"/>
                <a:cs typeface="DejaVu Sans"/>
              </a:rPr>
              <a:t> </a:t>
            </a:r>
            <a:r>
              <a:rPr sz="750" b="1" i="0">
                <a:solidFill>
                  <a:srgbClr val="2F7F6F"/>
                </a:solidFill>
                <a:latin typeface="DejaVu Sans"/>
                <a:ea typeface="DejaVu Sans"/>
                <a:cs typeface="DejaVu Sans"/>
              </a:rPr>
              <a:t>Servicio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móvil</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de</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acceso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a</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usuarios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6</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años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más,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residente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p>
        </p:txBody>
      </p:sp>
      <p:sp>
        <p:nvSpPr>
          <p:cNvPr id="22" name="ANUARIO_SERVICIOS_0_9">
            <a:extLst xmlns:a="http://schemas.openxmlformats.org/drawingml/2006/main">
              <a:ext uri="{FF2B5EF4-FFF2-40B4-BE49-F238E27FC236}">
                <a16:creationId xmlns:a16="http://schemas.microsoft.com/office/drawing/2014/main" id="{15C6B5E9-8F30-49F1-8529-21AF3DDBC27E}"/>
              </a:ext>
            </a:extLst>
          </p:cNvPr>
          <p:cNvSpPr>
            <a:spLocks xmlns:a="http://schemas.openxmlformats.org/drawingml/2006/main" noGrp="1"/>
          </p:cNvSpPr>
          <p:nvPr/>
        </p:nvSpPr>
        <p:spPr>
          <a:xfrm xmlns:a="http://schemas.openxmlformats.org/drawingml/2006/main">
            <a:off x="466344" y="201472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respondió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haberse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conectado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mediante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celular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(conexión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datos)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través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teléfono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inteligente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t>
            </a:r>
            <a:r>
              <a:rPr sz="750" b="0" i="1">
                <a:solidFill>
                  <a:srgbClr val="24383A"/>
                </a:solidFill>
                <a:latin typeface="DejaVu Sans"/>
                <a:ea typeface="DejaVu Sans"/>
                <a:cs typeface="DejaVu Sans"/>
              </a:rPr>
              <a:t>Smartphone</a:t>
            </a:r>
            <a:r>
              <a:rPr sz="750" b="0" i="0">
                <a:solidFill>
                  <a:srgbClr val="24383A"/>
                </a:solidFill>
                <a:latin typeface="DejaVu Sans"/>
                <a:ea typeface="DejaVu Sans"/>
                <a:cs typeface="DejaVu Sans"/>
              </a:rPr>
              <a:t>).</a:t>
            </a:r>
          </a:p>
        </p:txBody>
      </p:sp>
      <p:sp>
        <p:nvSpPr>
          <p:cNvPr id="23" name="ANUARIO_SERVICIOS_0_10">
            <a:extLst xmlns:a="http://schemas.openxmlformats.org/drawingml/2006/main">
              <a:ext uri="{FF2B5EF4-FFF2-40B4-BE49-F238E27FC236}">
                <a16:creationId xmlns:a16="http://schemas.microsoft.com/office/drawing/2014/main" id="{F78A210E-7B50-45ED-BCE0-888B2E5D871B}"/>
              </a:ext>
            </a:extLst>
          </p:cNvPr>
          <p:cNvSpPr>
            <a:spLocks xmlns:a="http://schemas.openxmlformats.org/drawingml/2006/main" noGrp="1"/>
          </p:cNvSpPr>
          <p:nvPr/>
        </p:nvSpPr>
        <p:spPr>
          <a:xfrm xmlns:a="http://schemas.openxmlformats.org/drawingml/2006/main">
            <a:off x="466344" y="21468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habitantes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obtienen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partir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propias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datos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ENDUTIH</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2025</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p>
        </p:txBody>
      </p:sp>
      <p:sp>
        <p:nvSpPr>
          <p:cNvPr id="24" name="ANUARIO_SERVICIOS_0_11">
            <a:extLst xmlns:a="http://schemas.openxmlformats.org/drawingml/2006/main">
              <a:ext uri="{FF2B5EF4-FFF2-40B4-BE49-F238E27FC236}">
                <a16:creationId xmlns:a16="http://schemas.microsoft.com/office/drawing/2014/main" id="{1505C603-D43E-40E3-8BEF-FFABB064E585}"/>
              </a:ext>
            </a:extLst>
          </p:cNvPr>
          <p:cNvSpPr>
            <a:spLocks xmlns:a="http://schemas.openxmlformats.org/drawingml/2006/main" noGrp="1"/>
          </p:cNvSpPr>
          <p:nvPr/>
        </p:nvSpPr>
        <p:spPr>
          <a:xfrm xmlns:a="http://schemas.openxmlformats.org/drawingml/2006/main">
            <a:off x="466344" y="22534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Censo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Vivienda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2020.</a:t>
            </a:r>
          </a:p>
        </p:txBody>
      </p:sp>
      <p:sp>
        <p:nvSpPr>
          <p:cNvPr id="25" name="ANUARIO_SERVICIOS_0_12">
            <a:extLst xmlns:a="http://schemas.openxmlformats.org/drawingml/2006/main">
              <a:ext uri="{FF2B5EF4-FFF2-40B4-BE49-F238E27FC236}">
                <a16:creationId xmlns:a16="http://schemas.microsoft.com/office/drawing/2014/main" id="{E4056BF2-115C-49A8-96A7-F456386ADAAB}"/>
              </a:ext>
            </a:extLst>
          </p:cNvPr>
          <p:cNvSpPr>
            <a:spLocks xmlns:a="http://schemas.openxmlformats.org/drawingml/2006/main" noGrp="1"/>
          </p:cNvSpPr>
          <p:nvPr/>
        </p:nvSpPr>
        <p:spPr>
          <a:xfrm xmlns:a="http://schemas.openxmlformats.org/drawingml/2006/main">
            <a:off x="466344" y="23855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2)</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accesos/líneas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100</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calculan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dividiendo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Asimismo,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unidades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económicas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obtuvo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p>
        </p:txBody>
      </p:sp>
      <p:sp>
        <p:nvSpPr>
          <p:cNvPr id="26" name="ANUARIO_SERVICIOS_0_13">
            <a:extLst xmlns:a="http://schemas.openxmlformats.org/drawingml/2006/main">
              <a:ext uri="{FF2B5EF4-FFF2-40B4-BE49-F238E27FC236}">
                <a16:creationId xmlns:a16="http://schemas.microsoft.com/office/drawing/2014/main" id="{0C396390-6CB5-461C-883C-0ECDF888DE0D}"/>
              </a:ext>
            </a:extLst>
          </p:cNvPr>
          <p:cNvSpPr>
            <a:spLocks xmlns:a="http://schemas.openxmlformats.org/drawingml/2006/main" noGrp="1"/>
          </p:cNvSpPr>
          <p:nvPr/>
        </p:nvSpPr>
        <p:spPr>
          <a:xfrm xmlns:a="http://schemas.openxmlformats.org/drawingml/2006/main">
            <a:off x="466344" y="24922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DENUE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INEGI.</a:t>
            </a:r>
          </a:p>
        </p:txBody>
      </p:sp>
      <p:sp>
        <p:nvSpPr>
          <p:cNvPr id="27" name="ANUARIO_ANEXO_P126_DESIGN_2026">
            <a:extLst xmlns:a="http://schemas.openxmlformats.org/drawingml/2006/main">
              <a:ext uri="{FF2B5EF4-FFF2-40B4-BE49-F238E27FC236}">
                <a16:creationId xmlns:a16="http://schemas.microsoft.com/office/drawing/2014/main" id="{1BD79560-6A2D-4383-AB1B-60A4DA3C6216}"/>
              </a:ext>
            </a:extLst>
          </p:cNvPr>
          <p:cNvSpPr>
            <a:spLocks xmlns:a="http://schemas.openxmlformats.org/drawingml/2006/main" noGrp="1"/>
          </p:cNvSpPr>
          <p:nvPr/>
        </p:nvSpPr>
        <p:spPr>
          <a:xfrm xmlns:a="http://schemas.openxmlformats.org/drawingml/2006/main">
            <a:off x="301752" y="3419856"/>
            <a:ext cx="8540496" cy="1042416"/>
          </a:xfrm>
          <a:prstGeom xmlns:a="http://schemas.openxmlformats.org/drawingml/2006/main" prst="roundRect">
            <a:avLst>
              <a:gd name="adj" fmla="val 5263"/>
            </a:avLst>
          </a:prstGeom>
          <a:solidFill xmlns:a="http://schemas.openxmlformats.org/drawingml/2006/main">
            <a:srgbClr val="F6FAF9"/>
          </a:solidFill>
          <a:ln xmlns:a="http://schemas.openxmlformats.org/drawingml/2006/main" w="9525">
            <a:solidFill>
              <a:srgbClr val="C9DAD6"/>
            </a:solidFill>
          </a:ln>
        </p:spPr>
      </p:sp>
      <p:sp>
        <p:nvSpPr>
          <p:cNvPr id="28" name="ANUARIO_ACENTO">
            <a:extLst xmlns:a="http://schemas.openxmlformats.org/drawingml/2006/main">
              <a:ext uri="{FF2B5EF4-FFF2-40B4-BE49-F238E27FC236}">
                <a16:creationId xmlns:a16="http://schemas.microsoft.com/office/drawing/2014/main" id="{7151CB42-86C7-4263-BB38-A1F3FE523877}"/>
              </a:ext>
            </a:extLst>
          </p:cNvPr>
          <p:cNvSpPr>
            <a:spLocks xmlns:a="http://schemas.openxmlformats.org/drawingml/2006/main" noGrp="1"/>
          </p:cNvSpPr>
          <p:nvPr/>
        </p:nvSpPr>
        <p:spPr>
          <a:xfrm xmlns:a="http://schemas.openxmlformats.org/drawingml/2006/main">
            <a:off x="301752" y="3493008"/>
            <a:ext cx="64008" cy="89611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9" name="ANUARIO_SECCION">
            <a:extLst xmlns:a="http://schemas.openxmlformats.org/drawingml/2006/main">
              <a:ext uri="{FF2B5EF4-FFF2-40B4-BE49-F238E27FC236}">
                <a16:creationId xmlns:a16="http://schemas.microsoft.com/office/drawing/2014/main" id="{4DF54AB0-6BAA-44C6-B815-7578C13D3D15}"/>
              </a:ext>
            </a:extLst>
          </p:cNvPr>
          <p:cNvSpPr>
            <a:spLocks xmlns:a="http://schemas.openxmlformats.org/drawingml/2006/main" noGrp="1"/>
          </p:cNvSpPr>
          <p:nvPr/>
        </p:nvSpPr>
        <p:spPr>
          <a:xfrm xmlns:a="http://schemas.openxmlformats.org/drawingml/2006/main">
            <a:off x="466344" y="3511296"/>
            <a:ext cx="8220456"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Índices de precios</a:t>
            </a:r>
          </a:p>
        </p:txBody>
      </p:sp>
      <p:sp>
        <p:nvSpPr>
          <p:cNvPr id="30" name="ANUARIO_SERVICIOS_1_0">
            <a:extLst xmlns:a="http://schemas.openxmlformats.org/drawingml/2006/main">
              <a:ext uri="{FF2B5EF4-FFF2-40B4-BE49-F238E27FC236}">
                <a16:creationId xmlns:a16="http://schemas.microsoft.com/office/drawing/2014/main" id="{C877D3FE-21DC-4B30-9845-346EED1DA9F5}"/>
              </a:ext>
            </a:extLst>
          </p:cNvPr>
          <p:cNvSpPr>
            <a:spLocks xmlns:a="http://schemas.openxmlformats.org/drawingml/2006/main" noGrp="1"/>
          </p:cNvSpPr>
          <p:nvPr/>
        </p:nvSpPr>
        <p:spPr>
          <a:xfrm xmlns:a="http://schemas.openxmlformats.org/drawingml/2006/main">
            <a:off x="466344" y="383133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INEGI</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construye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INPC</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utilizando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variaciones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canasta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consumo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mexicanos.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Dichos</a:t>
            </a:r>
            <a:r>
              <a:rPr sz="750" b="0" i="0">
                <a:solidFill>
                  <a:srgbClr val="24383A"/>
                </a:solidFill>
                <a:latin typeface="DejaVu Sans"/>
                <a:ea typeface="DejaVu Sans"/>
                <a:cs typeface="DejaVu Sans"/>
              </a:rPr>
              <a:t> </a:t>
            </a:r>
          </a:p>
        </p:txBody>
      </p:sp>
      <p:sp>
        <p:nvSpPr>
          <p:cNvPr id="31" name="ANUARIO_SERVICIOS_1_1">
            <a:extLst xmlns:a="http://schemas.openxmlformats.org/drawingml/2006/main">
              <a:ext uri="{FF2B5EF4-FFF2-40B4-BE49-F238E27FC236}">
                <a16:creationId xmlns:a16="http://schemas.microsoft.com/office/drawing/2014/main" id="{30FF3B14-DD49-450D-8FD6-DE17F1583EA2}"/>
              </a:ext>
            </a:extLst>
          </p:cNvPr>
          <p:cNvSpPr>
            <a:spLocks xmlns:a="http://schemas.openxmlformats.org/drawingml/2006/main" noGrp="1"/>
          </p:cNvSpPr>
          <p:nvPr/>
        </p:nvSpPr>
        <p:spPr>
          <a:xfrm xmlns:a="http://schemas.openxmlformats.org/drawingml/2006/main">
            <a:off x="466344" y="393801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pueden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representarse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medio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Clasificación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Consumo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Individual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Finalidades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(CCIF),</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doce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divisiones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desagregan</a:t>
            </a:r>
            <a:r>
              <a:rPr sz="750" b="0" i="0">
                <a:solidFill>
                  <a:srgbClr val="24383A"/>
                </a:solidFill>
                <a:latin typeface="DejaVu Sans"/>
                <a:ea typeface="DejaVu Sans"/>
                <a:cs typeface="DejaVu Sans"/>
              </a:rPr>
              <a:t> </a:t>
            </a:r>
          </a:p>
        </p:txBody>
      </p:sp>
      <p:sp>
        <p:nvSpPr>
          <p:cNvPr id="32" name="ANUARIO_SERVICIOS_1_2">
            <a:extLst xmlns:a="http://schemas.openxmlformats.org/drawingml/2006/main">
              <a:ext uri="{FF2B5EF4-FFF2-40B4-BE49-F238E27FC236}">
                <a16:creationId xmlns:a16="http://schemas.microsoft.com/office/drawing/2014/main" id="{DE260164-016C-46CC-BDDC-B318B540F921}"/>
              </a:ext>
            </a:extLst>
          </p:cNvPr>
          <p:cNvSpPr>
            <a:spLocks xmlns:a="http://schemas.openxmlformats.org/drawingml/2006/main" noGrp="1"/>
          </p:cNvSpPr>
          <p:nvPr/>
        </p:nvSpPr>
        <p:spPr>
          <a:xfrm xmlns:a="http://schemas.openxmlformats.org/drawingml/2006/main">
            <a:off x="466344" y="404469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Grupos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Clases,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categorías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finalidad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compuestos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genéricos.</a:t>
            </a:r>
          </a:p>
        </p:txBody>
      </p:sp>
      <p:pic>
        <p:nvPicPr>
          <p:cNvPr id="3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3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36"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3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3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III. METODOLOGÍAS</a:t>
            </a:r>
          </a:p>
        </p:txBody>
      </p:sp>
      <p:sp>
        <p:nvSpPr>
          <p:cNvPr id="3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0"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013393704"/>
      </p:ext>
    </p:extLst>
  </p:cSld>
</p:sld>
</file>

<file path=ppt/slides/slide126.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CBA38C09-5D64-4566-97B7-FF303ECF9F7F}"/>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C8A6A9CD-0DBF-4217-A574-41C32221DDA4}"/>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126</a:t>
            </a:r>
          </a:p>
        </p:txBody>
      </p:sp>
      <p:sp>
        <p:nvSpPr>
          <p:cNvPr id="9" name="ANUARIO_EDICION">
            <a:extLst xmlns:a="http://schemas.openxmlformats.org/drawingml/2006/main">
              <a:ext uri="{FF2B5EF4-FFF2-40B4-BE49-F238E27FC236}">
                <a16:creationId xmlns:a16="http://schemas.microsoft.com/office/drawing/2014/main" id="{DCF2ABCE-BBA7-4CFB-B5BA-1B4B69AADBE6}"/>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7_DESIGN_2026">
            <a:extLst xmlns:a="http://schemas.openxmlformats.org/drawingml/2006/main">
              <a:ext uri="{FF2B5EF4-FFF2-40B4-BE49-F238E27FC236}">
                <a16:creationId xmlns:a16="http://schemas.microsoft.com/office/drawing/2014/main" id="{31F7A381-0BB7-46B2-A096-7A816FEB78AE}"/>
              </a:ext>
            </a:extLst>
          </p:cNvPr>
          <p:cNvSpPr>
            <a:spLocks xmlns:a="http://schemas.openxmlformats.org/drawingml/2006/main" noGrp="1"/>
          </p:cNvSpPr>
          <p:nvPr/>
        </p:nvSpPr>
        <p:spPr>
          <a:xfrm xmlns:a="http://schemas.openxmlformats.org/drawingml/2006/main">
            <a:off x="301752" y="566928"/>
            <a:ext cx="4178808" cy="2121408"/>
          </a:xfrm>
          <a:prstGeom xmlns:a="http://schemas.openxmlformats.org/drawingml/2006/main" prst="roundRect">
            <a:avLst>
              <a:gd name="adj" fmla="val 2586"/>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2D6F240D-2EF2-4036-9F44-DE45AA50AF43}"/>
              </a:ext>
            </a:extLst>
          </p:cNvPr>
          <p:cNvSpPr>
            <a:spLocks xmlns:a="http://schemas.openxmlformats.org/drawingml/2006/main" noGrp="1"/>
          </p:cNvSpPr>
          <p:nvPr/>
        </p:nvSpPr>
        <p:spPr>
          <a:xfrm xmlns:a="http://schemas.openxmlformats.org/drawingml/2006/main">
            <a:off x="301752" y="640080"/>
            <a:ext cx="64008" cy="197510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9A2D8AAB-29E9-4A97-AF60-32A7E7875F98}"/>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650" b="1">
                <a:solidFill>
                  <a:srgbClr val="2F7F6F"/>
                </a:solidFill>
                <a:latin typeface="DejaVu Sans"/>
                <a:ea typeface="DejaVu Sans"/>
                <a:cs typeface="DejaVu Sans"/>
              </a:rPr>
              <a:t>Clasificación del Consumo Individual por Finalidades (CCIF)</a:t>
            </a:r>
          </a:p>
        </p:txBody>
      </p:sp>
      <p:graphicFrame>
        <p:nvGraphicFramePr>
          <p:cNvPr id="65" name=""/>
          <p:cNvGraphicFramePr/>
          <p:nvPr/>
        </p:nvGraphicFramePr>
        <p:xfrm>
          <a:off xmlns:a="http://schemas.openxmlformats.org/drawingml/2006/main" x="466344" y="960120"/>
          <a:ext xmlns:a="http://schemas.openxmlformats.org/drawingml/2006/main" cx="3794760" cy="1435608"/>
        </p:xfrm>
        <a:graphic xmlns:a="http://schemas.openxmlformats.org/drawingml/2006/main">
          <a:graphicData uri="http://schemas.openxmlformats.org/drawingml/2006/table">
            <a:tbl>
              <a:tblPr firstRow="0" bandRow="0"/>
              <a:tblGrid>
                <a:gridCol w="3008376"/>
                <a:gridCol w="786384"/>
              </a:tblGrid>
              <a:tr h="110431">
                <a:tc>
                  <a:txBody>
                    <a:bodyPr lIns="38100" tIns="19050" rIns="38100" bIns="19050" wrap="square">
                      <a:noAutofit/>
                    </a:bodyPr>
                    <a:lstStyle/>
                    <a:p>
                      <a:pPr algn="l"/>
                      <a:r>
                        <a:rPr sz="580" b="1">
                          <a:solidFill>
                            <a:srgbClr val="FFFFFF"/>
                          </a:solidFill>
                          <a:latin typeface="DejaVu Sans"/>
                          <a:ea typeface="DejaVu Sans"/>
                          <a:cs typeface="DejaVu Sans"/>
                        </a:rPr>
                        <a:t>División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580" b="1">
                          <a:solidFill>
                            <a:srgbClr val="FFFFFF"/>
                          </a:solidFill>
                          <a:latin typeface="DejaVu Sans"/>
                          <a:ea typeface="DejaVu Sans"/>
                          <a:cs typeface="DejaVu Sans"/>
                        </a:rPr>
                        <a:t>Ponderador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Alimentos y bebidas no alcohólicas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25.77%</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Bebidas alcohólicas y tabaco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2.69%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Prendas de vestir y calzado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4.78%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Vivienda, agua, electricidad, gas y otros combustibles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19.64%</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Muebles, artículos para el hogar y para su conservación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4.53%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Salud</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3.08%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Transporte</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13.76%</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Comunicaciones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3.13%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Recreación y cultura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4.87%</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Educación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3.54%</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Restaurantes y hoteles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9.52%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Bienes y servicios diversos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4.69%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bl>
          </a:graphicData>
        </a:graphic>
      </p:graphicFrame>
      <p:sp>
        <p:nvSpPr>
          <p:cNvPr id="14" name="ANUARIO_FUENTE_INPC_0">
            <a:extLst xmlns:a="http://schemas.openxmlformats.org/drawingml/2006/main">
              <a:ext uri="{FF2B5EF4-FFF2-40B4-BE49-F238E27FC236}">
                <a16:creationId xmlns:a16="http://schemas.microsoft.com/office/drawing/2014/main" id="{D43A7B03-E93E-48D7-B429-656759A88FC8}"/>
              </a:ext>
            </a:extLst>
          </p:cNvPr>
          <p:cNvSpPr>
            <a:spLocks xmlns:a="http://schemas.openxmlformats.org/drawingml/2006/main" noGrp="1"/>
          </p:cNvSpPr>
          <p:nvPr/>
        </p:nvSpPr>
        <p:spPr>
          <a:xfrm xmlns:a="http://schemas.openxmlformats.org/drawingml/2006/main">
            <a:off x="466344" y="2468880"/>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1" i="0">
                <a:solidFill>
                  <a:srgbClr val="2F7F6F"/>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Índice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Nacional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Precios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Consumidor,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Documento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metodológico.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Base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segunda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quincena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julio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p>
        </p:txBody>
      </p:sp>
      <p:sp>
        <p:nvSpPr>
          <p:cNvPr id="15" name="ANUARIO_FUENTE_INPC_1">
            <a:extLst xmlns:a="http://schemas.openxmlformats.org/drawingml/2006/main">
              <a:ext uri="{FF2B5EF4-FFF2-40B4-BE49-F238E27FC236}">
                <a16:creationId xmlns:a16="http://schemas.microsoft.com/office/drawing/2014/main" id="{1D40A6A1-1B5E-410C-8A1B-3D9FCC6E29D0}"/>
              </a:ext>
            </a:extLst>
          </p:cNvPr>
          <p:cNvSpPr>
            <a:spLocks xmlns:a="http://schemas.openxmlformats.org/drawingml/2006/main" noGrp="1"/>
          </p:cNvSpPr>
          <p:nvPr/>
        </p:nvSpPr>
        <p:spPr>
          <a:xfrm xmlns:a="http://schemas.openxmlformats.org/drawingml/2006/main">
            <a:off x="466344" y="2542845"/>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2018,</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p>
        </p:txBody>
      </p:sp>
      <p:sp>
        <p:nvSpPr>
          <p:cNvPr id="16" name="ANUARIO_ANEXO_P127_DESIGN_2026">
            <a:extLst xmlns:a="http://schemas.openxmlformats.org/drawingml/2006/main">
              <a:ext uri="{FF2B5EF4-FFF2-40B4-BE49-F238E27FC236}">
                <a16:creationId xmlns:a16="http://schemas.microsoft.com/office/drawing/2014/main" id="{401CFD2A-6580-418A-B55E-B865980BFE82}"/>
              </a:ext>
            </a:extLst>
          </p:cNvPr>
          <p:cNvSpPr>
            <a:spLocks xmlns:a="http://schemas.openxmlformats.org/drawingml/2006/main" noGrp="1"/>
          </p:cNvSpPr>
          <p:nvPr/>
        </p:nvSpPr>
        <p:spPr>
          <a:xfrm xmlns:a="http://schemas.openxmlformats.org/drawingml/2006/main">
            <a:off x="301752" y="2779776"/>
            <a:ext cx="4178808" cy="1682496"/>
          </a:xfrm>
          <a:prstGeom xmlns:a="http://schemas.openxmlformats.org/drawingml/2006/main" prst="roundRect">
            <a:avLst>
              <a:gd name="adj" fmla="val 3261"/>
            </a:avLst>
          </a:prstGeom>
          <a:solidFill xmlns:a="http://schemas.openxmlformats.org/drawingml/2006/main">
            <a:srgbClr val="F6FAF9"/>
          </a:solidFill>
          <a:ln xmlns:a="http://schemas.openxmlformats.org/drawingml/2006/main" w="9525">
            <a:solidFill>
              <a:srgbClr val="C9DAD6"/>
            </a:solidFill>
          </a:ln>
        </p:spPr>
      </p:sp>
      <p:sp>
        <p:nvSpPr>
          <p:cNvPr id="17" name="ANUARIO_ACENTO">
            <a:extLst xmlns:a="http://schemas.openxmlformats.org/drawingml/2006/main">
              <a:ext uri="{FF2B5EF4-FFF2-40B4-BE49-F238E27FC236}">
                <a16:creationId xmlns:a16="http://schemas.microsoft.com/office/drawing/2014/main" id="{5EE6C27E-4748-4FC1-9ED2-769BE943C82E}"/>
              </a:ext>
            </a:extLst>
          </p:cNvPr>
          <p:cNvSpPr>
            <a:spLocks xmlns:a="http://schemas.openxmlformats.org/drawingml/2006/main" noGrp="1"/>
          </p:cNvSpPr>
          <p:nvPr/>
        </p:nvSpPr>
        <p:spPr>
          <a:xfrm xmlns:a="http://schemas.openxmlformats.org/drawingml/2006/main">
            <a:off x="301752" y="2852928"/>
            <a:ext cx="64008" cy="153619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8" name="ANUARIO_SECCION">
            <a:extLst xmlns:a="http://schemas.openxmlformats.org/drawingml/2006/main">
              <a:ext uri="{FF2B5EF4-FFF2-40B4-BE49-F238E27FC236}">
                <a16:creationId xmlns:a16="http://schemas.microsoft.com/office/drawing/2014/main" id="{39B3E12E-FE84-4C5F-8033-38B7693F1D33}"/>
              </a:ext>
            </a:extLst>
          </p:cNvPr>
          <p:cNvSpPr>
            <a:spLocks xmlns:a="http://schemas.openxmlformats.org/drawingml/2006/main" noGrp="1"/>
          </p:cNvSpPr>
          <p:nvPr/>
        </p:nvSpPr>
        <p:spPr>
          <a:xfrm xmlns:a="http://schemas.openxmlformats.org/drawingml/2006/main">
            <a:off x="466344" y="2871216"/>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Ponderadores de la división Comunicaciones del INPC</a:t>
            </a:r>
          </a:p>
        </p:txBody>
      </p:sp>
      <p:graphicFrame>
        <p:nvGraphicFramePr>
          <p:cNvPr id="71" name=""/>
          <p:cNvGraphicFramePr/>
          <p:nvPr/>
        </p:nvGraphicFramePr>
        <p:xfrm>
          <a:off xmlns:a="http://schemas.openxmlformats.org/drawingml/2006/main" x="466344" y="3172968"/>
          <a:ext xmlns:a="http://schemas.openxmlformats.org/drawingml/2006/main" cx="3794760" cy="941832"/>
        </p:xfrm>
        <a:graphic xmlns:a="http://schemas.openxmlformats.org/drawingml/2006/main">
          <a:graphicData uri="http://schemas.openxmlformats.org/drawingml/2006/table">
            <a:tbl>
              <a:tblPr firstRow="0" bandRow="0"/>
              <a:tblGrid>
                <a:gridCol w="3008376"/>
                <a:gridCol w="786384"/>
              </a:tblGrid>
              <a:tr h="117729">
                <a:tc>
                  <a:txBody>
                    <a:bodyPr lIns="38100" tIns="19050" rIns="38100" bIns="19050" wrap="square">
                      <a:noAutofit/>
                    </a:bodyPr>
                    <a:lstStyle/>
                    <a:p>
                      <a:pPr algn="l"/>
                      <a:r>
                        <a:rPr sz="580" b="1">
                          <a:solidFill>
                            <a:srgbClr val="FFFFFF"/>
                          </a:solidFill>
                          <a:latin typeface="DejaVu Sans"/>
                          <a:ea typeface="DejaVu Sans"/>
                          <a:cs typeface="DejaVu Sans"/>
                        </a:rPr>
                        <a:t>Concepto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580" b="1">
                          <a:solidFill>
                            <a:srgbClr val="FFFFFF"/>
                          </a:solidFill>
                          <a:latin typeface="DejaVu Sans"/>
                          <a:ea typeface="DejaVu Sans"/>
                          <a:cs typeface="DejaVu Sans"/>
                        </a:rPr>
                        <a:t>Ponderador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Comunicaciones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3.13%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telefonía móvil</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1.28%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Paquetes de Internet, telefonía y televisión de paga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1.09%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Equipo terminal de comunicación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0.35%</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telefonía fija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0.28%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Internet</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0.12%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Paquetería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0.02%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bl>
          </a:graphicData>
        </a:graphic>
      </p:graphicFrame>
      <p:sp>
        <p:nvSpPr>
          <p:cNvPr id="20" name="ANUARIO_FUENTE_COM_0">
            <a:extLst xmlns:a="http://schemas.openxmlformats.org/drawingml/2006/main">
              <a:ext uri="{FF2B5EF4-FFF2-40B4-BE49-F238E27FC236}">
                <a16:creationId xmlns:a16="http://schemas.microsoft.com/office/drawing/2014/main" id="{9C8104C5-B47C-41A9-8AE0-FD6707792AAA}"/>
              </a:ext>
            </a:extLst>
          </p:cNvPr>
          <p:cNvSpPr>
            <a:spLocks xmlns:a="http://schemas.openxmlformats.org/drawingml/2006/main" noGrp="1"/>
          </p:cNvSpPr>
          <p:nvPr/>
        </p:nvSpPr>
        <p:spPr>
          <a:xfrm xmlns:a="http://schemas.openxmlformats.org/drawingml/2006/main">
            <a:off x="466344" y="4169664"/>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1" i="0">
                <a:solidFill>
                  <a:srgbClr val="2F7F6F"/>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Ponderadores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INPC,</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Objeto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Gasto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Nacional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Genérico.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Segunda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quincena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julio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2018=100,</a:t>
            </a:r>
            <a:r>
              <a:rPr sz="520" b="0" i="0">
                <a:solidFill>
                  <a:srgbClr val="24383A"/>
                </a:solidFill>
                <a:latin typeface="DejaVu Sans"/>
                <a:ea typeface="DejaVu Sans"/>
                <a:cs typeface="DejaVu Sans"/>
              </a:rPr>
              <a:t> </a:t>
            </a:r>
          </a:p>
        </p:txBody>
      </p:sp>
      <p:sp>
        <p:nvSpPr>
          <p:cNvPr id="21" name="ANUARIO_FUENTE_COM_1">
            <a:extLst xmlns:a="http://schemas.openxmlformats.org/drawingml/2006/main">
              <a:ext uri="{FF2B5EF4-FFF2-40B4-BE49-F238E27FC236}">
                <a16:creationId xmlns:a16="http://schemas.microsoft.com/office/drawing/2014/main" id="{B80100D2-0301-462B-BF98-09816C131E65}"/>
              </a:ext>
            </a:extLst>
          </p:cNvPr>
          <p:cNvSpPr>
            <a:spLocks xmlns:a="http://schemas.openxmlformats.org/drawingml/2006/main" noGrp="1"/>
          </p:cNvSpPr>
          <p:nvPr/>
        </p:nvSpPr>
        <p:spPr>
          <a:xfrm xmlns:a="http://schemas.openxmlformats.org/drawingml/2006/main">
            <a:off x="466344" y="4243629"/>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Disponible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en: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https://www.inegi.org.mx/programas/inpc/2018/</a:t>
            </a:r>
            <a:r>
              <a:rPr sz="520" b="0" i="0">
                <a:solidFill>
                  <a:srgbClr val="24383A"/>
                </a:solidFill>
                <a:latin typeface="DejaVu Sans"/>
                <a:ea typeface="DejaVu Sans"/>
                <a:cs typeface="DejaVu Sans"/>
              </a:rPr>
              <a:t>.</a:t>
            </a:r>
          </a:p>
        </p:txBody>
      </p:sp>
      <p:sp>
        <p:nvSpPr>
          <p:cNvPr id="22" name="ANUARIO_ANEXO_P127_DESIGN_2026">
            <a:extLst xmlns:a="http://schemas.openxmlformats.org/drawingml/2006/main">
              <a:ext uri="{FF2B5EF4-FFF2-40B4-BE49-F238E27FC236}">
                <a16:creationId xmlns:a16="http://schemas.microsoft.com/office/drawing/2014/main" id="{B60B7500-36C4-4523-BA92-2D48103E4A12}"/>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23" name="ANUARIO_ACENTO">
            <a:extLst xmlns:a="http://schemas.openxmlformats.org/drawingml/2006/main">
              <a:ext uri="{FF2B5EF4-FFF2-40B4-BE49-F238E27FC236}">
                <a16:creationId xmlns:a16="http://schemas.microsoft.com/office/drawing/2014/main" id="{1F5A2265-EC3A-42FD-9695-EC131807CF8F}"/>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4" name="ANUARIO_SECCION">
            <a:extLst xmlns:a="http://schemas.openxmlformats.org/drawingml/2006/main">
              <a:ext uri="{FF2B5EF4-FFF2-40B4-BE49-F238E27FC236}">
                <a16:creationId xmlns:a16="http://schemas.microsoft.com/office/drawing/2014/main" id="{1782B35E-E3C7-4202-B250-5602EE58FD07}"/>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Ingreso y gasto de los hogares</a:t>
            </a:r>
          </a:p>
        </p:txBody>
      </p:sp>
      <p:sp>
        <p:nvSpPr>
          <p:cNvPr id="25" name="ANUARIO_INGRESOGASTO_0">
            <a:extLst xmlns:a="http://schemas.openxmlformats.org/drawingml/2006/main">
              <a:ext uri="{FF2B5EF4-FFF2-40B4-BE49-F238E27FC236}">
                <a16:creationId xmlns:a16="http://schemas.microsoft.com/office/drawing/2014/main" id="{306828B9-CD90-4187-848B-A59AE40F62BA}"/>
              </a:ext>
            </a:extLst>
          </p:cNvPr>
          <p:cNvSpPr>
            <a:spLocks xmlns:a="http://schemas.openxmlformats.org/drawingml/2006/main" noGrp="1"/>
          </p:cNvSpPr>
          <p:nvPr/>
        </p:nvSpPr>
        <p:spPr>
          <a:xfrm xmlns:a="http://schemas.openxmlformats.org/drawingml/2006/main">
            <a:off x="4828032" y="100584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información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mostrada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Anuario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refiere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p>
        </p:txBody>
      </p:sp>
      <p:sp>
        <p:nvSpPr>
          <p:cNvPr id="26" name="ANUARIO_INGRESOGASTO_1">
            <a:extLst xmlns:a="http://schemas.openxmlformats.org/drawingml/2006/main">
              <a:ext uri="{FF2B5EF4-FFF2-40B4-BE49-F238E27FC236}">
                <a16:creationId xmlns:a16="http://schemas.microsoft.com/office/drawing/2014/main" id="{9401DF79-85EE-45A8-9180-B5D8F33945B2}"/>
              </a:ext>
            </a:extLst>
          </p:cNvPr>
          <p:cNvSpPr>
            <a:spLocks xmlns:a="http://schemas.openxmlformats.org/drawingml/2006/main" noGrp="1"/>
          </p:cNvSpPr>
          <p:nvPr/>
        </p:nvSpPr>
        <p:spPr>
          <a:xfrm xmlns:a="http://schemas.openxmlformats.org/drawingml/2006/main">
            <a:off x="4828032" y="109687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obtuvo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información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p>
        </p:txBody>
      </p:sp>
      <p:sp>
        <p:nvSpPr>
          <p:cNvPr id="27" name="ANUARIO_INGRESOGASTO_2">
            <a:extLst xmlns:a="http://schemas.openxmlformats.org/drawingml/2006/main">
              <a:ext uri="{FF2B5EF4-FFF2-40B4-BE49-F238E27FC236}">
                <a16:creationId xmlns:a16="http://schemas.microsoft.com/office/drawing/2014/main" id="{197CE8B5-5EDB-4269-A659-EEA8986FB732}"/>
              </a:ext>
            </a:extLst>
          </p:cNvPr>
          <p:cNvSpPr>
            <a:spLocks xmlns:a="http://schemas.openxmlformats.org/drawingml/2006/main" noGrp="1"/>
          </p:cNvSpPr>
          <p:nvPr/>
        </p:nvSpPr>
        <p:spPr>
          <a:xfrm xmlns:a="http://schemas.openxmlformats.org/drawingml/2006/main">
            <a:off x="4828032" y="1187907"/>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ENIGH</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2024</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publica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INEGI.</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metodología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siguiente:</a:t>
            </a:r>
          </a:p>
        </p:txBody>
      </p:sp>
      <p:sp>
        <p:nvSpPr>
          <p:cNvPr id="28" name="ANUARIO_INGRESOGASTO_3">
            <a:extLst xmlns:a="http://schemas.openxmlformats.org/drawingml/2006/main">
              <a:ext uri="{FF2B5EF4-FFF2-40B4-BE49-F238E27FC236}">
                <a16:creationId xmlns:a16="http://schemas.microsoft.com/office/drawing/2014/main" id="{4AE3B3F7-138D-4C90-8419-3A0E246CA6BA}"/>
              </a:ext>
            </a:extLst>
          </p:cNvPr>
          <p:cNvSpPr>
            <a:spLocks xmlns:a="http://schemas.openxmlformats.org/drawingml/2006/main" noGrp="1"/>
          </p:cNvSpPr>
          <p:nvPr/>
        </p:nvSpPr>
        <p:spPr>
          <a:xfrm xmlns:a="http://schemas.openxmlformats.org/drawingml/2006/main">
            <a:off x="4828032" y="1304341"/>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1.</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primera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instancia,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clasifican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deciles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acuerdo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su</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p>
        </p:txBody>
      </p:sp>
      <p:sp>
        <p:nvSpPr>
          <p:cNvPr id="29" name="ANUARIO_INGRESOGASTO_4">
            <a:extLst xmlns:a="http://schemas.openxmlformats.org/drawingml/2006/main">
              <a:ext uri="{FF2B5EF4-FFF2-40B4-BE49-F238E27FC236}">
                <a16:creationId xmlns:a16="http://schemas.microsoft.com/office/drawing/2014/main" id="{573DDF90-A475-4C2E-8C44-6E48110B097A}"/>
              </a:ext>
            </a:extLst>
          </p:cNvPr>
          <p:cNvSpPr>
            <a:spLocks xmlns:a="http://schemas.openxmlformats.org/drawingml/2006/main" noGrp="1"/>
          </p:cNvSpPr>
          <p:nvPr/>
        </p:nvSpPr>
        <p:spPr>
          <a:xfrm xmlns:a="http://schemas.openxmlformats.org/drawingml/2006/main">
            <a:off x="4828032" y="139537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trimestral.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corriente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encuentra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tablas</a:t>
            </a:r>
            <a:r>
              <a:rPr sz="640" b="0" i="0">
                <a:solidFill>
                  <a:srgbClr val="24383A"/>
                </a:solidFill>
                <a:latin typeface="DejaVu Sans"/>
                <a:ea typeface="DejaVu Sans"/>
                <a:cs typeface="DejaVu Sans"/>
              </a:rPr>
              <a:t> </a:t>
            </a:r>
          </a:p>
        </p:txBody>
      </p:sp>
      <p:sp>
        <p:nvSpPr>
          <p:cNvPr id="30" name="ANUARIO_INGRESOGASTO_5">
            <a:extLst xmlns:a="http://schemas.openxmlformats.org/drawingml/2006/main">
              <a:ext uri="{FF2B5EF4-FFF2-40B4-BE49-F238E27FC236}">
                <a16:creationId xmlns:a16="http://schemas.microsoft.com/office/drawing/2014/main" id="{FB35DA7E-3393-4E10-8A96-3229E16BC591}"/>
              </a:ext>
            </a:extLst>
          </p:cNvPr>
          <p:cNvSpPr>
            <a:spLocks xmlns:a="http://schemas.openxmlformats.org/drawingml/2006/main" noGrp="1"/>
          </p:cNvSpPr>
          <p:nvPr/>
        </p:nvSpPr>
        <p:spPr>
          <a:xfrm xmlns:a="http://schemas.openxmlformats.org/drawingml/2006/main">
            <a:off x="4828032" y="148640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disponibles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encuesta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llamada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CONCENTRADOHOGAR.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deciles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calculan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p>
        </p:txBody>
      </p:sp>
      <p:sp>
        <p:nvSpPr>
          <p:cNvPr id="31" name="ANUARIO_INGRESOGASTO_6">
            <a:extLst xmlns:a="http://schemas.openxmlformats.org/drawingml/2006/main">
              <a:ext uri="{FF2B5EF4-FFF2-40B4-BE49-F238E27FC236}">
                <a16:creationId xmlns:a16="http://schemas.microsoft.com/office/drawing/2014/main" id="{EFEAFF3A-894F-4151-B108-EB9D0A0FBCDE}"/>
              </a:ext>
            </a:extLst>
          </p:cNvPr>
          <p:cNvSpPr>
            <a:spLocks xmlns:a="http://schemas.openxmlformats.org/drawingml/2006/main" noGrp="1"/>
          </p:cNvSpPr>
          <p:nvPr/>
        </p:nvSpPr>
        <p:spPr>
          <a:xfrm xmlns:a="http://schemas.openxmlformats.org/drawingml/2006/main">
            <a:off x="4828032" y="157744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acuerdo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esté</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considerando,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nivel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nacional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una</a:t>
            </a:r>
            <a:r>
              <a:rPr sz="640" b="0" i="0">
                <a:solidFill>
                  <a:srgbClr val="24383A"/>
                </a:solidFill>
                <a:latin typeface="DejaVu Sans"/>
                <a:ea typeface="DejaVu Sans"/>
                <a:cs typeface="DejaVu Sans"/>
              </a:rPr>
              <a:t> </a:t>
            </a:r>
          </a:p>
        </p:txBody>
      </p:sp>
      <p:sp>
        <p:nvSpPr>
          <p:cNvPr id="32" name="ANUARIO_INGRESOGASTO_7">
            <a:extLst xmlns:a="http://schemas.openxmlformats.org/drawingml/2006/main">
              <a:ext uri="{FF2B5EF4-FFF2-40B4-BE49-F238E27FC236}">
                <a16:creationId xmlns:a16="http://schemas.microsoft.com/office/drawing/2014/main" id="{822896DF-0BA6-4A21-8AFB-EE8BA9FF647D}"/>
              </a:ext>
            </a:extLst>
          </p:cNvPr>
          <p:cNvSpPr>
            <a:spLocks xmlns:a="http://schemas.openxmlformats.org/drawingml/2006/main" noGrp="1"/>
          </p:cNvSpPr>
          <p:nvPr/>
        </p:nvSpPr>
        <p:spPr>
          <a:xfrm xmlns:a="http://schemas.openxmlformats.org/drawingml/2006/main">
            <a:off x="4828032" y="1668475"/>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entidades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federativas.</a:t>
            </a:r>
          </a:p>
        </p:txBody>
      </p:sp>
      <p:sp>
        <p:nvSpPr>
          <p:cNvPr id="33" name="ANUARIO_INGRESOGASTO_8">
            <a:extLst xmlns:a="http://schemas.openxmlformats.org/drawingml/2006/main">
              <a:ext uri="{FF2B5EF4-FFF2-40B4-BE49-F238E27FC236}">
                <a16:creationId xmlns:a16="http://schemas.microsoft.com/office/drawing/2014/main" id="{3430B251-658A-4E9D-9FA6-98EC24C85356}"/>
              </a:ext>
            </a:extLst>
          </p:cNvPr>
          <p:cNvSpPr>
            <a:spLocks xmlns:a="http://schemas.openxmlformats.org/drawingml/2006/main" noGrp="1"/>
          </p:cNvSpPr>
          <p:nvPr/>
        </p:nvSpPr>
        <p:spPr>
          <a:xfrm xmlns:a="http://schemas.openxmlformats.org/drawingml/2006/main">
            <a:off x="4828032" y="1784909"/>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2.</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figuras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mostradas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tanto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nacional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como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estatal,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definen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dos</a:t>
            </a:r>
            <a:r>
              <a:rPr sz="640" b="0" i="0">
                <a:solidFill>
                  <a:srgbClr val="24383A"/>
                </a:solidFill>
                <a:latin typeface="DejaVu Sans"/>
                <a:ea typeface="DejaVu Sans"/>
                <a:cs typeface="DejaVu Sans"/>
              </a:rPr>
              <a:t> </a:t>
            </a:r>
          </a:p>
        </p:txBody>
      </p:sp>
      <p:sp>
        <p:nvSpPr>
          <p:cNvPr id="34" name="ANUARIO_INGRESOGASTO_9">
            <a:extLst xmlns:a="http://schemas.openxmlformats.org/drawingml/2006/main">
              <a:ext uri="{FF2B5EF4-FFF2-40B4-BE49-F238E27FC236}">
                <a16:creationId xmlns:a16="http://schemas.microsoft.com/office/drawing/2014/main" id="{5AB85AC6-7376-49F6-B064-257203DCE43F}"/>
              </a:ext>
            </a:extLst>
          </p:cNvPr>
          <p:cNvSpPr>
            <a:spLocks xmlns:a="http://schemas.openxmlformats.org/drawingml/2006/main" noGrp="1"/>
          </p:cNvSpPr>
          <p:nvPr/>
        </p:nvSpPr>
        <p:spPr>
          <a:xfrm xmlns:a="http://schemas.openxmlformats.org/drawingml/2006/main">
            <a:off x="4828032" y="187594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universos: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disponen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p>
        </p:txBody>
      </p:sp>
      <p:sp>
        <p:nvSpPr>
          <p:cNvPr id="35" name="ANUARIO_INGRESOGASTO_10">
            <a:extLst xmlns:a="http://schemas.openxmlformats.org/drawingml/2006/main">
              <a:ext uri="{FF2B5EF4-FFF2-40B4-BE49-F238E27FC236}">
                <a16:creationId xmlns:a16="http://schemas.microsoft.com/office/drawing/2014/main" id="{4994AB3D-64AE-41AB-84DE-24C8C0B275CB}"/>
              </a:ext>
            </a:extLst>
          </p:cNvPr>
          <p:cNvSpPr>
            <a:spLocks xmlns:a="http://schemas.openxmlformats.org/drawingml/2006/main" noGrp="1"/>
          </p:cNvSpPr>
          <p:nvPr/>
        </p:nvSpPr>
        <p:spPr>
          <a:xfrm xmlns:a="http://schemas.openxmlformats.org/drawingml/2006/main">
            <a:off x="4828032" y="196697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disponen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p>
        </p:txBody>
      </p:sp>
      <p:sp>
        <p:nvSpPr>
          <p:cNvPr id="36" name="ANUARIO_INGRESOGASTO_11">
            <a:extLst xmlns:a="http://schemas.openxmlformats.org/drawingml/2006/main">
              <a:ext uri="{FF2B5EF4-FFF2-40B4-BE49-F238E27FC236}">
                <a16:creationId xmlns:a16="http://schemas.microsoft.com/office/drawing/2014/main" id="{5B63A228-E74C-47B1-A302-4EDF6AA93387}"/>
              </a:ext>
            </a:extLst>
          </p:cNvPr>
          <p:cNvSpPr>
            <a:spLocks xmlns:a="http://schemas.openxmlformats.org/drawingml/2006/main" noGrp="1"/>
          </p:cNvSpPr>
          <p:nvPr/>
        </p:nvSpPr>
        <p:spPr>
          <a:xfrm xmlns:a="http://schemas.openxmlformats.org/drawingml/2006/main">
            <a:off x="4828032" y="205801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t>
            </a:r>
          </a:p>
        </p:txBody>
      </p:sp>
      <p:sp>
        <p:nvSpPr>
          <p:cNvPr id="37" name="ANUARIO_INGRESOGASTO_12">
            <a:extLst xmlns:a="http://schemas.openxmlformats.org/drawingml/2006/main">
              <a:ext uri="{FF2B5EF4-FFF2-40B4-BE49-F238E27FC236}">
                <a16:creationId xmlns:a16="http://schemas.microsoft.com/office/drawing/2014/main" id="{A7D11A55-AE3E-45C5-B0A8-01AFC13F6C75}"/>
              </a:ext>
            </a:extLst>
          </p:cNvPr>
          <p:cNvSpPr>
            <a:spLocks xmlns:a="http://schemas.openxmlformats.org/drawingml/2006/main" noGrp="1"/>
          </p:cNvSpPr>
          <p:nvPr/>
        </p:nvSpPr>
        <p:spPr>
          <a:xfrm xmlns:a="http://schemas.openxmlformats.org/drawingml/2006/main">
            <a:off x="4828032" y="2174443"/>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3.</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estima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trimestral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p>
        </p:txBody>
      </p:sp>
      <p:sp>
        <p:nvSpPr>
          <p:cNvPr id="38" name="ANUARIO_INGRESOGASTO_13">
            <a:extLst xmlns:a="http://schemas.openxmlformats.org/drawingml/2006/main">
              <a:ext uri="{FF2B5EF4-FFF2-40B4-BE49-F238E27FC236}">
                <a16:creationId xmlns:a16="http://schemas.microsoft.com/office/drawing/2014/main" id="{86A44643-09DB-409A-8690-7B8FDCBF4C85}"/>
              </a:ext>
            </a:extLst>
          </p:cNvPr>
          <p:cNvSpPr>
            <a:spLocks xmlns:a="http://schemas.openxmlformats.org/drawingml/2006/main" noGrp="1"/>
          </p:cNvSpPr>
          <p:nvPr/>
        </p:nvSpPr>
        <p:spPr>
          <a:xfrm xmlns:a="http://schemas.openxmlformats.org/drawingml/2006/main">
            <a:off x="4828032" y="2265477"/>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considerando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siguientes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conceptos,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p>
        </p:txBody>
      </p:sp>
      <p:sp>
        <p:nvSpPr>
          <p:cNvPr id="39" name="ANUARIO_INGRESOGASTO_14">
            <a:extLst xmlns:a="http://schemas.openxmlformats.org/drawingml/2006/main">
              <a:ext uri="{FF2B5EF4-FFF2-40B4-BE49-F238E27FC236}">
                <a16:creationId xmlns:a16="http://schemas.microsoft.com/office/drawing/2014/main" id="{8D7EB7BC-4031-43FA-AB9A-B15B56DF479A}"/>
              </a:ext>
            </a:extLst>
          </p:cNvPr>
          <p:cNvSpPr>
            <a:spLocks xmlns:a="http://schemas.openxmlformats.org/drawingml/2006/main" noGrp="1"/>
          </p:cNvSpPr>
          <p:nvPr/>
        </p:nvSpPr>
        <p:spPr>
          <a:xfrm xmlns:a="http://schemas.openxmlformats.org/drawingml/2006/main">
            <a:off x="4828032" y="235651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tabla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GASTOSHOGAR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encuesta:</a:t>
            </a:r>
          </a:p>
        </p:txBody>
      </p:sp>
      <p:sp>
        <p:nvSpPr>
          <p:cNvPr id="40" name="ANUARIO_INGRESOGASTO_15">
            <a:extLst xmlns:a="http://schemas.openxmlformats.org/drawingml/2006/main">
              <a:ext uri="{FF2B5EF4-FFF2-40B4-BE49-F238E27FC236}">
                <a16:creationId xmlns:a16="http://schemas.microsoft.com/office/drawing/2014/main" id="{CB842B0B-2AC0-4063-9996-105BB0771E30}"/>
              </a:ext>
            </a:extLst>
          </p:cNvPr>
          <p:cNvSpPr>
            <a:spLocks xmlns:a="http://schemas.openxmlformats.org/drawingml/2006/main" noGrp="1"/>
          </p:cNvSpPr>
          <p:nvPr/>
        </p:nvSpPr>
        <p:spPr>
          <a:xfrm xmlns:a="http://schemas.openxmlformats.org/drawingml/2006/main">
            <a:off x="4828032" y="247294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p>
        </p:txBody>
      </p:sp>
      <p:sp>
        <p:nvSpPr>
          <p:cNvPr id="41" name="ANUARIO_INGRESOGASTO_16">
            <a:extLst xmlns:a="http://schemas.openxmlformats.org/drawingml/2006/main">
              <a:ext uri="{FF2B5EF4-FFF2-40B4-BE49-F238E27FC236}">
                <a16:creationId xmlns:a16="http://schemas.microsoft.com/office/drawing/2014/main" id="{5303C755-FC46-4E9C-9110-058AA9F1EEE7}"/>
              </a:ext>
            </a:extLst>
          </p:cNvPr>
          <p:cNvSpPr>
            <a:spLocks xmlns:a="http://schemas.openxmlformats.org/drawingml/2006/main" noGrp="1"/>
          </p:cNvSpPr>
          <p:nvPr/>
        </p:nvSpPr>
        <p:spPr>
          <a:xfrm xmlns:a="http://schemas.openxmlformats.org/drawingml/2006/main">
            <a:off x="4828032" y="258937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R005:</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Larga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distancia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línea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particular</a:t>
            </a:r>
          </a:p>
        </p:txBody>
      </p:sp>
      <p:sp>
        <p:nvSpPr>
          <p:cNvPr id="42" name="ANUARIO_INGRESOGASTO_17">
            <a:extLst xmlns:a="http://schemas.openxmlformats.org/drawingml/2006/main">
              <a:ext uri="{FF2B5EF4-FFF2-40B4-BE49-F238E27FC236}">
                <a16:creationId xmlns:a16="http://schemas.microsoft.com/office/drawing/2014/main" id="{11E00626-76D9-472F-B4D3-F59767E75FA3}"/>
              </a:ext>
            </a:extLst>
          </p:cNvPr>
          <p:cNvSpPr>
            <a:spLocks xmlns:a="http://schemas.openxmlformats.org/drawingml/2006/main" noGrp="1"/>
          </p:cNvSpPr>
          <p:nvPr/>
        </p:nvSpPr>
        <p:spPr>
          <a:xfrm xmlns:a="http://schemas.openxmlformats.org/drawingml/2006/main">
            <a:off x="4828032" y="2705811"/>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R006:</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Llamadas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locales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línea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particular</a:t>
            </a:r>
          </a:p>
        </p:txBody>
      </p:sp>
      <p:sp>
        <p:nvSpPr>
          <p:cNvPr id="43" name="ANUARIO_INGRESOGASTO_18">
            <a:extLst xmlns:a="http://schemas.openxmlformats.org/drawingml/2006/main">
              <a:ext uri="{FF2B5EF4-FFF2-40B4-BE49-F238E27FC236}">
                <a16:creationId xmlns:a16="http://schemas.microsoft.com/office/drawing/2014/main" id="{3B6FDC96-6720-4E93-929C-1C5D1DC6F3B6}"/>
              </a:ext>
            </a:extLst>
          </p:cNvPr>
          <p:cNvSpPr>
            <a:spLocks xmlns:a="http://schemas.openxmlformats.org/drawingml/2006/main" noGrp="1"/>
          </p:cNvSpPr>
          <p:nvPr/>
        </p:nvSpPr>
        <p:spPr>
          <a:xfrm xmlns:a="http://schemas.openxmlformats.org/drawingml/2006/main">
            <a:off x="4828032" y="2822245"/>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R008:</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p>
        </p:txBody>
      </p:sp>
      <p:sp>
        <p:nvSpPr>
          <p:cNvPr id="44" name="ANUARIO_INGRESOGASTO_19">
            <a:extLst xmlns:a="http://schemas.openxmlformats.org/drawingml/2006/main">
              <a:ext uri="{FF2B5EF4-FFF2-40B4-BE49-F238E27FC236}">
                <a16:creationId xmlns:a16="http://schemas.microsoft.com/office/drawing/2014/main" id="{A8E4A517-5212-4E1E-BB44-3E196BD7CC1E}"/>
              </a:ext>
            </a:extLst>
          </p:cNvPr>
          <p:cNvSpPr>
            <a:spLocks xmlns:a="http://schemas.openxmlformats.org/drawingml/2006/main" noGrp="1"/>
          </p:cNvSpPr>
          <p:nvPr/>
        </p:nvSpPr>
        <p:spPr>
          <a:xfrm xmlns:a="http://schemas.openxmlformats.org/drawingml/2006/main">
            <a:off x="4828032" y="293867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R009:</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Televisión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paga</a:t>
            </a:r>
          </a:p>
        </p:txBody>
      </p:sp>
      <p:sp>
        <p:nvSpPr>
          <p:cNvPr id="45" name="ANUARIO_INGRESOGASTO_20">
            <a:extLst xmlns:a="http://schemas.openxmlformats.org/drawingml/2006/main">
              <a:ext uri="{FF2B5EF4-FFF2-40B4-BE49-F238E27FC236}">
                <a16:creationId xmlns:a16="http://schemas.microsoft.com/office/drawing/2014/main" id="{D65C97CD-36FB-4B44-ABB8-A01672980011}"/>
              </a:ext>
            </a:extLst>
          </p:cNvPr>
          <p:cNvSpPr>
            <a:spLocks xmlns:a="http://schemas.openxmlformats.org/drawingml/2006/main" noGrp="1"/>
          </p:cNvSpPr>
          <p:nvPr/>
        </p:nvSpPr>
        <p:spPr>
          <a:xfrm xmlns:a="http://schemas.openxmlformats.org/drawingml/2006/main">
            <a:off x="4828032" y="305511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R010:</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Paquete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p>
        </p:txBody>
      </p:sp>
      <p:sp>
        <p:nvSpPr>
          <p:cNvPr id="46" name="ANUARIO_INGRESOGASTO_21">
            <a:extLst xmlns:a="http://schemas.openxmlformats.org/drawingml/2006/main">
              <a:ext uri="{FF2B5EF4-FFF2-40B4-BE49-F238E27FC236}">
                <a16:creationId xmlns:a16="http://schemas.microsoft.com/office/drawing/2014/main" id="{13CD507D-4348-40F0-9F7D-B307579BD631}"/>
              </a:ext>
            </a:extLst>
          </p:cNvPr>
          <p:cNvSpPr>
            <a:spLocks xmlns:a="http://schemas.openxmlformats.org/drawingml/2006/main" noGrp="1"/>
          </p:cNvSpPr>
          <p:nvPr/>
        </p:nvSpPr>
        <p:spPr>
          <a:xfrm xmlns:a="http://schemas.openxmlformats.org/drawingml/2006/main">
            <a:off x="4828032" y="317154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R011:</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Paquete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televisión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paga</a:t>
            </a:r>
            <a:r>
              <a:rPr sz="640" b="0" i="0">
                <a:solidFill>
                  <a:srgbClr val="24383A"/>
                </a:solidFill>
                <a:latin typeface="DejaVu Sans"/>
                <a:ea typeface="DejaVu Sans"/>
                <a:cs typeface="DejaVu Sans"/>
              </a:rPr>
              <a:t> </a:t>
            </a:r>
          </a:p>
        </p:txBody>
      </p:sp>
      <p:sp>
        <p:nvSpPr>
          <p:cNvPr id="47" name="ANUARIO_INGRESOGASTO_22">
            <a:extLst xmlns:a="http://schemas.openxmlformats.org/drawingml/2006/main">
              <a:ext uri="{FF2B5EF4-FFF2-40B4-BE49-F238E27FC236}">
                <a16:creationId xmlns:a16="http://schemas.microsoft.com/office/drawing/2014/main" id="{E5F86568-600E-47EF-9A90-0002389AE167}"/>
              </a:ext>
            </a:extLst>
          </p:cNvPr>
          <p:cNvSpPr>
            <a:spLocks xmlns:a="http://schemas.openxmlformats.org/drawingml/2006/main" noGrp="1"/>
          </p:cNvSpPr>
          <p:nvPr/>
        </p:nvSpPr>
        <p:spPr>
          <a:xfrm xmlns:a="http://schemas.openxmlformats.org/drawingml/2006/main">
            <a:off x="4828032" y="3287979"/>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t>
            </a:r>
          </a:p>
        </p:txBody>
      </p:sp>
      <p:sp>
        <p:nvSpPr>
          <p:cNvPr id="48" name="ANUARIO_INGRESOGASTO_23">
            <a:extLst xmlns:a="http://schemas.openxmlformats.org/drawingml/2006/main">
              <a:ext uri="{FF2B5EF4-FFF2-40B4-BE49-F238E27FC236}">
                <a16:creationId xmlns:a16="http://schemas.microsoft.com/office/drawing/2014/main" id="{BCD60557-15D4-4CCF-82DC-81730CD534D0}"/>
              </a:ext>
            </a:extLst>
          </p:cNvPr>
          <p:cNvSpPr>
            <a:spLocks xmlns:a="http://schemas.openxmlformats.org/drawingml/2006/main" noGrp="1"/>
          </p:cNvSpPr>
          <p:nvPr/>
        </p:nvSpPr>
        <p:spPr>
          <a:xfrm xmlns:a="http://schemas.openxmlformats.org/drawingml/2006/main">
            <a:off x="4828032" y="3404413"/>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F003:</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Compra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tarjetas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por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celular</a:t>
            </a:r>
          </a:p>
        </p:txBody>
      </p:sp>
      <p:sp>
        <p:nvSpPr>
          <p:cNvPr id="49" name="ANUARIO_INGRESOGASTO_24">
            <a:extLst xmlns:a="http://schemas.openxmlformats.org/drawingml/2006/main">
              <a:ext uri="{FF2B5EF4-FFF2-40B4-BE49-F238E27FC236}">
                <a16:creationId xmlns:a16="http://schemas.microsoft.com/office/drawing/2014/main" id="{0536F298-E53C-454C-A3BB-6AEBBAC2AD99}"/>
              </a:ext>
            </a:extLst>
          </p:cNvPr>
          <p:cNvSpPr>
            <a:spLocks xmlns:a="http://schemas.openxmlformats.org/drawingml/2006/main" noGrp="1"/>
          </p:cNvSpPr>
          <p:nvPr/>
        </p:nvSpPr>
        <p:spPr>
          <a:xfrm xmlns:a="http://schemas.openxmlformats.org/drawingml/2006/main">
            <a:off x="4828032" y="352084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R007:</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celulares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(plan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mensual)</a:t>
            </a:r>
          </a:p>
        </p:txBody>
      </p:sp>
      <p:sp>
        <p:nvSpPr>
          <p:cNvPr id="50" name="ANUARIO_PONDERADOR_NOTA_0">
            <a:extLst xmlns:a="http://schemas.openxmlformats.org/drawingml/2006/main">
              <a:ext uri="{FF2B5EF4-FFF2-40B4-BE49-F238E27FC236}">
                <a16:creationId xmlns:a16="http://schemas.microsoft.com/office/drawing/2014/main" id="{B52DF570-A28F-4FC2-9BE2-A41D2B52917E}"/>
              </a:ext>
            </a:extLst>
          </p:cNvPr>
          <p:cNvSpPr>
            <a:spLocks xmlns:a="http://schemas.openxmlformats.org/drawingml/2006/main" noGrp="1"/>
          </p:cNvSpPr>
          <p:nvPr/>
        </p:nvSpPr>
        <p:spPr>
          <a:xfrm xmlns:a="http://schemas.openxmlformats.org/drawingml/2006/main">
            <a:off x="301752" y="4544568"/>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La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división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&lt;&lt;Comunicaciones&gt;&gt;</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representa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3.13%</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ponderación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INPC</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general.</a:t>
            </a:r>
            <a:r>
              <a:rPr sz="630" b="0" i="0">
                <a:solidFill>
                  <a:srgbClr val="24383A"/>
                </a:solidFill>
                <a:latin typeface="DejaVu Sans"/>
                <a:ea typeface="DejaVu Sans"/>
                <a:cs typeface="DejaVu Sans"/>
              </a:rPr>
              <a:t> </a:t>
            </a:r>
          </a:p>
        </p:txBody>
      </p:sp>
      <p:sp>
        <p:nvSpPr>
          <p:cNvPr id="51" name="ANUARIO_PONDERADOR_NOTA_1">
            <a:extLst xmlns:a="http://schemas.openxmlformats.org/drawingml/2006/main">
              <a:ext uri="{FF2B5EF4-FFF2-40B4-BE49-F238E27FC236}">
                <a16:creationId xmlns:a16="http://schemas.microsoft.com/office/drawing/2014/main" id="{3123494D-A2F8-47D5-B0A1-9AF0B2E95D07}"/>
              </a:ext>
            </a:extLst>
          </p:cNvPr>
          <p:cNvSpPr>
            <a:spLocks xmlns:a="http://schemas.openxmlformats.org/drawingml/2006/main" noGrp="1"/>
          </p:cNvSpPr>
          <p:nvPr/>
        </p:nvSpPr>
        <p:spPr>
          <a:xfrm xmlns:a="http://schemas.openxmlformats.org/drawingml/2006/main">
            <a:off x="301752" y="4634179"/>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Dicha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división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incluye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seis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conceptos,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los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cuales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el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servicio</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telefonía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móvil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representa</a:t>
            </a:r>
            <a:r>
              <a:rPr sz="630" b="0" i="0">
                <a:solidFill>
                  <a:srgbClr val="24383A"/>
                </a:solidFill>
                <a:latin typeface="DejaVu Sans"/>
                <a:ea typeface="DejaVu Sans"/>
                <a:cs typeface="DejaVu Sans"/>
              </a:rPr>
              <a:t> </a:t>
            </a:r>
          </a:p>
        </p:txBody>
      </p:sp>
      <p:sp>
        <p:nvSpPr>
          <p:cNvPr id="52" name="ANUARIO_PONDERADOR_NOTA_2">
            <a:extLst xmlns:a="http://schemas.openxmlformats.org/drawingml/2006/main">
              <a:ext uri="{FF2B5EF4-FFF2-40B4-BE49-F238E27FC236}">
                <a16:creationId xmlns:a16="http://schemas.microsoft.com/office/drawing/2014/main" id="{56409FF6-26EA-4E04-A569-97B0759872D1}"/>
              </a:ext>
            </a:extLst>
          </p:cNvPr>
          <p:cNvSpPr>
            <a:spLocks xmlns:a="http://schemas.openxmlformats.org/drawingml/2006/main" noGrp="1"/>
          </p:cNvSpPr>
          <p:nvPr/>
        </p:nvSpPr>
        <p:spPr>
          <a:xfrm xmlns:a="http://schemas.openxmlformats.org/drawingml/2006/main">
            <a:off x="301752" y="4723790"/>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1.28%.</a:t>
            </a:r>
          </a:p>
        </p:txBody>
      </p:sp>
      <p:pic>
        <p:nvPicPr>
          <p:cNvPr id="72"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3"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4"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5"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6"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III. METODOLOGÍAS</a:t>
            </a:r>
          </a:p>
        </p:txBody>
      </p:sp>
      <p:sp>
        <p:nvSpPr>
          <p:cNvPr id="77"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78"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416992631"/>
      </p:ext>
    </p:extLst>
  </p:cSld>
</p:sld>
</file>

<file path=ppt/slides/slide127.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B7EE5BDD-DAB9-4CC5-BD5A-1DB7EE71A183}"/>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C2C8DBA9-9D43-4124-81CC-A53EE8B3117D}"/>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127</a:t>
            </a:r>
          </a:p>
        </p:txBody>
      </p:sp>
      <p:sp>
        <p:nvSpPr>
          <p:cNvPr id="9" name="ANUARIO_EDICION">
            <a:extLst xmlns:a="http://schemas.openxmlformats.org/drawingml/2006/main">
              <a:ext uri="{FF2B5EF4-FFF2-40B4-BE49-F238E27FC236}">
                <a16:creationId xmlns:a16="http://schemas.microsoft.com/office/drawing/2014/main" id="{1684152A-4141-4683-8C70-81D1FD27DFD5}"/>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8_DESIGN_2026">
            <a:extLst xmlns:a="http://schemas.openxmlformats.org/drawingml/2006/main">
              <a:ext uri="{FF2B5EF4-FFF2-40B4-BE49-F238E27FC236}">
                <a16:creationId xmlns:a16="http://schemas.microsoft.com/office/drawing/2014/main" id="{3F0852C7-62A1-4944-AE3B-0A6A6730C0B8}"/>
              </a:ext>
            </a:extLst>
          </p:cNvPr>
          <p:cNvSpPr>
            <a:spLocks xmlns:a="http://schemas.openxmlformats.org/drawingml/2006/main" noGrp="1"/>
          </p:cNvSpPr>
          <p:nvPr/>
        </p:nvSpPr>
        <p:spPr>
          <a:xfrm xmlns:a="http://schemas.openxmlformats.org/drawingml/2006/main">
            <a:off x="301752" y="566928"/>
            <a:ext cx="4178808" cy="1901952"/>
          </a:xfrm>
          <a:prstGeom xmlns:a="http://schemas.openxmlformats.org/drawingml/2006/main" prst="roundRect">
            <a:avLst>
              <a:gd name="adj" fmla="val 2885"/>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991B6EA7-51D0-461C-BB04-4EE0DE7C0B66}"/>
              </a:ext>
            </a:extLst>
          </p:cNvPr>
          <p:cNvSpPr>
            <a:spLocks xmlns:a="http://schemas.openxmlformats.org/drawingml/2006/main" noGrp="1"/>
          </p:cNvSpPr>
          <p:nvPr/>
        </p:nvSpPr>
        <p:spPr>
          <a:xfrm xmlns:a="http://schemas.openxmlformats.org/drawingml/2006/main">
            <a:off x="301752" y="640080"/>
            <a:ext cx="64008" cy="1755648"/>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51C1A20F-5214-4F75-9B88-B95AB212BA4E}"/>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Gasto e ingreso · continuación</a:t>
            </a:r>
          </a:p>
        </p:txBody>
      </p:sp>
      <p:sp>
        <p:nvSpPr>
          <p:cNvPr id="13" name="ANUARIO_CONTENIDO_0_0_0">
            <a:extLst xmlns:a="http://schemas.openxmlformats.org/drawingml/2006/main">
              <a:ext uri="{FF2B5EF4-FFF2-40B4-BE49-F238E27FC236}">
                <a16:creationId xmlns:a16="http://schemas.microsoft.com/office/drawing/2014/main" id="{F94856A3-E00A-4B20-9585-E3003E6CD683}"/>
              </a:ext>
            </a:extLst>
          </p:cNvPr>
          <p:cNvSpPr>
            <a:spLocks xmlns:a="http://schemas.openxmlformats.org/drawingml/2006/main" noGrp="1"/>
          </p:cNvSpPr>
          <p:nvPr/>
        </p:nvSpPr>
        <p:spPr>
          <a:xfrm xmlns:a="http://schemas.openxmlformats.org/drawingml/2006/main">
            <a:off x="466344"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1" i="0">
                <a:solidFill>
                  <a:srgbClr val="2F7F6F"/>
                </a:solidFill>
                <a:latin typeface="DejaVu Sans"/>
                <a:ea typeface="DejaVu Sans"/>
                <a:cs typeface="DejaVu Sans"/>
              </a:rPr>
              <a:t>4.</a:t>
            </a:r>
            <a:r>
              <a:rPr sz="730" b="1" i="0">
                <a:solidFill>
                  <a:srgbClr val="2F7F6F"/>
                </a:solidFill>
                <a:latin typeface="DejaVu Sans"/>
                <a:ea typeface="DejaVu Sans"/>
                <a:cs typeface="DejaVu Sans"/>
              </a:rPr>
              <a:t> </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obtener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según</a:t>
            </a:r>
            <a:r>
              <a:rPr sz="73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B91E1A41-0D9F-4CD9-83DF-37B02151976E}"/>
              </a:ext>
            </a:extLst>
          </p:cNvPr>
          <p:cNvSpPr>
            <a:spLocks xmlns:a="http://schemas.openxmlformats.org/drawingml/2006/main" noGrp="1"/>
          </p:cNvSpPr>
          <p:nvPr/>
        </p:nvSpPr>
        <p:spPr>
          <a:xfrm xmlns:a="http://schemas.openxmlformats.org/drawingml/2006/main">
            <a:off x="466344"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sea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utilizan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listados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002A338B-BC70-41B4-8AD6-B5E8D61E7B0F}"/>
              </a:ext>
            </a:extLst>
          </p:cNvPr>
          <p:cNvSpPr>
            <a:spLocks xmlns:a="http://schemas.openxmlformats.org/drawingml/2006/main" noGrp="1"/>
          </p:cNvSpPr>
          <p:nvPr/>
        </p:nvSpPr>
        <p:spPr>
          <a:xfrm xmlns:a="http://schemas.openxmlformats.org/drawingml/2006/main">
            <a:off x="466344"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Posteriormente,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número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16" name="ANUARIO_CONTENIDO_0_0_3">
            <a:extLst xmlns:a="http://schemas.openxmlformats.org/drawingml/2006/main">
              <a:ext uri="{FF2B5EF4-FFF2-40B4-BE49-F238E27FC236}">
                <a16:creationId xmlns:a16="http://schemas.microsoft.com/office/drawing/2014/main" id="{5BA85A07-4120-4E0E-A30E-2352909FA1B1}"/>
              </a:ext>
            </a:extLst>
          </p:cNvPr>
          <p:cNvSpPr>
            <a:spLocks xmlns:a="http://schemas.openxmlformats.org/drawingml/2006/main" noGrp="1"/>
          </p:cNvSpPr>
          <p:nvPr/>
        </p:nvSpPr>
        <p:spPr>
          <a:xfrm xmlns:a="http://schemas.openxmlformats.org/drawingml/2006/main">
            <a:off x="466344" y="13173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analizados.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manera,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17" name="ANUARIO_CONTENIDO_0_0_4">
            <a:extLst xmlns:a="http://schemas.openxmlformats.org/drawingml/2006/main">
              <a:ext uri="{FF2B5EF4-FFF2-40B4-BE49-F238E27FC236}">
                <a16:creationId xmlns:a16="http://schemas.microsoft.com/office/drawing/2014/main" id="{006A5B5B-9FDB-4473-A7F7-7635C003ADA9}"/>
              </a:ext>
            </a:extLst>
          </p:cNvPr>
          <p:cNvSpPr>
            <a:spLocks xmlns:a="http://schemas.openxmlformats.org/drawingml/2006/main" noGrp="1"/>
          </p:cNvSpPr>
          <p:nvPr/>
        </p:nvSpPr>
        <p:spPr>
          <a:xfrm xmlns:a="http://schemas.openxmlformats.org/drawingml/2006/main">
            <a:off x="466344" y="14211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mostrado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figuras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Anuario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representa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a:t>
            </a:r>
            <a:r>
              <a:rPr sz="73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5F45ABE7-F995-43D4-91A0-731D2A542FFA}"/>
              </a:ext>
            </a:extLst>
          </p:cNvPr>
          <p:cNvSpPr>
            <a:spLocks xmlns:a="http://schemas.openxmlformats.org/drawingml/2006/main" noGrp="1"/>
          </p:cNvSpPr>
          <p:nvPr/>
        </p:nvSpPr>
        <p:spPr>
          <a:xfrm xmlns:a="http://schemas.openxmlformats.org/drawingml/2006/main">
            <a:off x="466344" y="15250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tuvieron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19" name="ANUARIO_CONTENIDO_0_0_6">
            <a:extLst xmlns:a="http://schemas.openxmlformats.org/drawingml/2006/main">
              <a:ext uri="{FF2B5EF4-FFF2-40B4-BE49-F238E27FC236}">
                <a16:creationId xmlns:a16="http://schemas.microsoft.com/office/drawing/2014/main" id="{49E5B130-1FA9-4FD1-99C4-28B2471775D3}"/>
              </a:ext>
            </a:extLst>
          </p:cNvPr>
          <p:cNvSpPr>
            <a:spLocks xmlns:a="http://schemas.openxmlformats.org/drawingml/2006/main" noGrp="1"/>
          </p:cNvSpPr>
          <p:nvPr/>
        </p:nvSpPr>
        <p:spPr>
          <a:xfrm xmlns:a="http://schemas.openxmlformats.org/drawingml/2006/main">
            <a:off x="466344" y="16288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disponían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gastaban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p>
        </p:txBody>
      </p:sp>
      <p:sp>
        <p:nvSpPr>
          <p:cNvPr id="20" name="ANUARIO_CONTENIDO_0_0_7">
            <a:extLst xmlns:a="http://schemas.openxmlformats.org/drawingml/2006/main">
              <a:ext uri="{FF2B5EF4-FFF2-40B4-BE49-F238E27FC236}">
                <a16:creationId xmlns:a16="http://schemas.microsoft.com/office/drawing/2014/main" id="{62D2ACA9-19E8-4574-BACE-F7F048160C31}"/>
              </a:ext>
            </a:extLst>
          </p:cNvPr>
          <p:cNvSpPr>
            <a:spLocks xmlns:a="http://schemas.openxmlformats.org/drawingml/2006/main" noGrp="1"/>
          </p:cNvSpPr>
          <p:nvPr/>
        </p:nvSpPr>
        <p:spPr>
          <a:xfrm xmlns:a="http://schemas.openxmlformats.org/drawingml/2006/main">
            <a:off x="466344" y="17580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1" i="0">
                <a:solidFill>
                  <a:srgbClr val="2F7F6F"/>
                </a:solidFill>
                <a:latin typeface="DejaVu Sans"/>
                <a:ea typeface="DejaVu Sans"/>
                <a:cs typeface="DejaVu Sans"/>
              </a:rPr>
              <a:t>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porcentaje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respecto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decil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9A72C06F-CBCE-4B4A-8B57-24A2F8AA1F15}"/>
              </a:ext>
            </a:extLst>
          </p:cNvPr>
          <p:cNvSpPr>
            <a:spLocks xmlns:a="http://schemas.openxmlformats.org/drawingml/2006/main" noGrp="1"/>
          </p:cNvSpPr>
          <p:nvPr/>
        </p:nvSpPr>
        <p:spPr>
          <a:xfrm xmlns:a="http://schemas.openxmlformats.org/drawingml/2006/main">
            <a:off x="466344" y="18619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9A7C4046-73A4-4C24-B2D6-EA348042C298}"/>
              </a:ext>
            </a:extLst>
          </p:cNvPr>
          <p:cNvSpPr>
            <a:spLocks xmlns:a="http://schemas.openxmlformats.org/drawingml/2006/main" noGrp="1"/>
          </p:cNvSpPr>
          <p:nvPr/>
        </p:nvSpPr>
        <p:spPr>
          <a:xfrm xmlns:a="http://schemas.openxmlformats.org/drawingml/2006/main">
            <a:off x="466344" y="19657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explican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p>
        </p:txBody>
      </p:sp>
      <p:sp>
        <p:nvSpPr>
          <p:cNvPr id="23" name="ANUARIO_CONTENIDO_0_0_10">
            <a:extLst xmlns:a="http://schemas.openxmlformats.org/drawingml/2006/main">
              <a:ext uri="{FF2B5EF4-FFF2-40B4-BE49-F238E27FC236}">
                <a16:creationId xmlns:a16="http://schemas.microsoft.com/office/drawing/2014/main" id="{C4FEDBE7-2632-4236-98E2-53EE73B4965A}"/>
              </a:ext>
            </a:extLst>
          </p:cNvPr>
          <p:cNvSpPr>
            <a:spLocks xmlns:a="http://schemas.openxmlformats.org/drawingml/2006/main" noGrp="1"/>
          </p:cNvSpPr>
          <p:nvPr/>
        </p:nvSpPr>
        <p:spPr>
          <a:xfrm xmlns:a="http://schemas.openxmlformats.org/drawingml/2006/main">
            <a:off x="466344" y="20695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dispusieron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dichos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p>
        </p:txBody>
      </p:sp>
      <p:sp>
        <p:nvSpPr>
          <p:cNvPr id="24" name="ANUARIO_ANEXO_P128_DESIGN_2026">
            <a:extLst xmlns:a="http://schemas.openxmlformats.org/drawingml/2006/main">
              <a:ext uri="{FF2B5EF4-FFF2-40B4-BE49-F238E27FC236}">
                <a16:creationId xmlns:a16="http://schemas.microsoft.com/office/drawing/2014/main" id="{FB4B121B-C2B0-4F22-B2DD-3986F57FCF21}"/>
              </a:ext>
            </a:extLst>
          </p:cNvPr>
          <p:cNvSpPr>
            <a:spLocks xmlns:a="http://schemas.openxmlformats.org/drawingml/2006/main" noGrp="1"/>
          </p:cNvSpPr>
          <p:nvPr/>
        </p:nvSpPr>
        <p:spPr>
          <a:xfrm xmlns:a="http://schemas.openxmlformats.org/drawingml/2006/main">
            <a:off x="301752" y="2560320"/>
            <a:ext cx="4178808" cy="1901952"/>
          </a:xfrm>
          <a:prstGeom xmlns:a="http://schemas.openxmlformats.org/drawingml/2006/main" prst="roundRect">
            <a:avLst>
              <a:gd name="adj" fmla="val 2885"/>
            </a:avLst>
          </a:prstGeom>
          <a:solidFill xmlns:a="http://schemas.openxmlformats.org/drawingml/2006/main">
            <a:srgbClr val="F6FAF9"/>
          </a:solidFill>
          <a:ln xmlns:a="http://schemas.openxmlformats.org/drawingml/2006/main" w="9525">
            <a:solidFill>
              <a:srgbClr val="C9DAD6"/>
            </a:solidFill>
          </a:ln>
        </p:spPr>
      </p:sp>
      <p:sp>
        <p:nvSpPr>
          <p:cNvPr id="25" name="ANUARIO_ACENTO">
            <a:extLst xmlns:a="http://schemas.openxmlformats.org/drawingml/2006/main">
              <a:ext uri="{FF2B5EF4-FFF2-40B4-BE49-F238E27FC236}">
                <a16:creationId xmlns:a16="http://schemas.microsoft.com/office/drawing/2014/main" id="{9DFD51AF-F9EB-4957-B692-02C1A87A446A}"/>
              </a:ext>
            </a:extLst>
          </p:cNvPr>
          <p:cNvSpPr>
            <a:spLocks xmlns:a="http://schemas.openxmlformats.org/drawingml/2006/main" noGrp="1"/>
          </p:cNvSpPr>
          <p:nvPr/>
        </p:nvSpPr>
        <p:spPr>
          <a:xfrm xmlns:a="http://schemas.openxmlformats.org/drawingml/2006/main">
            <a:off x="301752" y="2633472"/>
            <a:ext cx="64008" cy="1755648"/>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6" name="ANUARIO_SECCION">
            <a:extLst xmlns:a="http://schemas.openxmlformats.org/drawingml/2006/main">
              <a:ext uri="{FF2B5EF4-FFF2-40B4-BE49-F238E27FC236}">
                <a16:creationId xmlns:a16="http://schemas.microsoft.com/office/drawing/2014/main" id="{8F0F17E4-9E4B-4C51-BA20-EF3A9948BEE3}"/>
              </a:ext>
            </a:extLst>
          </p:cNvPr>
          <p:cNvSpPr>
            <a:spLocks xmlns:a="http://schemas.openxmlformats.org/drawingml/2006/main" noGrp="1"/>
          </p:cNvSpPr>
          <p:nvPr/>
        </p:nvSpPr>
        <p:spPr>
          <a:xfrm xmlns:a="http://schemas.openxmlformats.org/drawingml/2006/main">
            <a:off x="466344" y="2651760"/>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ENDUTIH 2025 · metodología¹³</a:t>
            </a:r>
          </a:p>
        </p:txBody>
      </p:sp>
      <p:sp>
        <p:nvSpPr>
          <p:cNvPr id="27" name="ANUARIO_CONTENIDO_0_1_0">
            <a:extLst xmlns:a="http://schemas.openxmlformats.org/drawingml/2006/main">
              <a:ext uri="{FF2B5EF4-FFF2-40B4-BE49-F238E27FC236}">
                <a16:creationId xmlns:a16="http://schemas.microsoft.com/office/drawing/2014/main" id="{C22E41BE-3FDC-44D7-B1AD-594B7A69717C}"/>
              </a:ext>
            </a:extLst>
          </p:cNvPr>
          <p:cNvSpPr>
            <a:spLocks xmlns:a="http://schemas.openxmlformats.org/drawingml/2006/main" noGrp="1"/>
          </p:cNvSpPr>
          <p:nvPr/>
        </p:nvSpPr>
        <p:spPr>
          <a:xfrm xmlns:a="http://schemas.openxmlformats.org/drawingml/2006/main">
            <a:off x="466344" y="299923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ENDUTIH</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finalidad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obtener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disponibilidad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28" name="ANUARIO_CONTENIDO_0_1_1">
            <a:extLst xmlns:a="http://schemas.openxmlformats.org/drawingml/2006/main">
              <a:ext uri="{FF2B5EF4-FFF2-40B4-BE49-F238E27FC236}">
                <a16:creationId xmlns:a16="http://schemas.microsoft.com/office/drawing/2014/main" id="{DF2B112F-AE99-4D18-8DFD-33A3BB85681D}"/>
              </a:ext>
            </a:extLst>
          </p:cNvPr>
          <p:cNvSpPr>
            <a:spLocks xmlns:a="http://schemas.openxmlformats.org/drawingml/2006/main" noGrp="1"/>
          </p:cNvSpPr>
          <p:nvPr/>
        </p:nvSpPr>
        <p:spPr>
          <a:xfrm xmlns:a="http://schemas.openxmlformats.org/drawingml/2006/main">
            <a:off x="466344" y="310306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tecnologías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a:t>
            </a:r>
            <a:r>
              <a:rPr sz="730" b="0" i="0">
                <a:solidFill>
                  <a:srgbClr val="24383A"/>
                </a:solidFill>
                <a:latin typeface="DejaVu Sans"/>
                <a:ea typeface="DejaVu Sans"/>
                <a:cs typeface="DejaVu Sans"/>
              </a:rPr>
              <a:t> </a:t>
            </a:r>
          </a:p>
        </p:txBody>
      </p:sp>
      <p:sp>
        <p:nvSpPr>
          <p:cNvPr id="29" name="ANUARIO_CONTENIDO_0_1_2">
            <a:extLst xmlns:a="http://schemas.openxmlformats.org/drawingml/2006/main">
              <a:ext uri="{FF2B5EF4-FFF2-40B4-BE49-F238E27FC236}">
                <a16:creationId xmlns:a16="http://schemas.microsoft.com/office/drawing/2014/main" id="{3015A1CC-A9DC-40DD-8502-78EE86989164}"/>
              </a:ext>
            </a:extLst>
          </p:cNvPr>
          <p:cNvSpPr>
            <a:spLocks xmlns:a="http://schemas.openxmlformats.org/drawingml/2006/main" noGrp="1"/>
          </p:cNvSpPr>
          <p:nvPr/>
        </p:nvSpPr>
        <p:spPr>
          <a:xfrm xmlns:a="http://schemas.openxmlformats.org/drawingml/2006/main">
            <a:off x="466344" y="320690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utilización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individuos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más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30" name="ANUARIO_CONTENIDO_0_1_3">
            <a:extLst xmlns:a="http://schemas.openxmlformats.org/drawingml/2006/main">
              <a:ext uri="{FF2B5EF4-FFF2-40B4-BE49-F238E27FC236}">
                <a16:creationId xmlns:a16="http://schemas.microsoft.com/office/drawing/2014/main" id="{45062051-96B1-4270-9567-2A783DD1E7C5}"/>
              </a:ext>
            </a:extLst>
          </p:cNvPr>
          <p:cNvSpPr>
            <a:spLocks xmlns:a="http://schemas.openxmlformats.org/drawingml/2006/main" noGrp="1"/>
          </p:cNvSpPr>
          <p:nvPr/>
        </p:nvSpPr>
        <p:spPr>
          <a:xfrm xmlns:a="http://schemas.openxmlformats.org/drawingml/2006/main">
            <a:off x="466344" y="33107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resultados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ENDUTIH,</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factores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31" name="ANUARIO_CONTENIDO_0_1_4">
            <a:extLst xmlns:a="http://schemas.openxmlformats.org/drawingml/2006/main">
              <a:ext uri="{FF2B5EF4-FFF2-40B4-BE49-F238E27FC236}">
                <a16:creationId xmlns:a16="http://schemas.microsoft.com/office/drawing/2014/main" id="{FF4982B3-5B85-4CF5-A752-566B53DA7009}"/>
              </a:ext>
            </a:extLst>
          </p:cNvPr>
          <p:cNvSpPr>
            <a:spLocks xmlns:a="http://schemas.openxmlformats.org/drawingml/2006/main" noGrp="1"/>
          </p:cNvSpPr>
          <p:nvPr/>
        </p:nvSpPr>
        <p:spPr>
          <a:xfrm xmlns:a="http://schemas.openxmlformats.org/drawingml/2006/main">
            <a:off x="466344" y="341457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expansión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cifras</a:t>
            </a:r>
            <a:r>
              <a:rPr sz="730" b="0" i="0">
                <a:solidFill>
                  <a:srgbClr val="24383A"/>
                </a:solidFill>
                <a:latin typeface="DejaVu Sans"/>
                <a:ea typeface="DejaVu Sans"/>
                <a:cs typeface="DejaVu Sans"/>
              </a:rPr>
              <a:t> </a:t>
            </a:r>
          </a:p>
        </p:txBody>
      </p:sp>
      <p:sp>
        <p:nvSpPr>
          <p:cNvPr id="32" name="ANUARIO_CONTENIDO_0_1_5">
            <a:extLst xmlns:a="http://schemas.openxmlformats.org/drawingml/2006/main">
              <a:ext uri="{FF2B5EF4-FFF2-40B4-BE49-F238E27FC236}">
                <a16:creationId xmlns:a16="http://schemas.microsoft.com/office/drawing/2014/main" id="{DDEAA855-64B2-47D1-A7BA-FB02CF82B552}"/>
              </a:ext>
            </a:extLst>
          </p:cNvPr>
          <p:cNvSpPr>
            <a:spLocks xmlns:a="http://schemas.openxmlformats.org/drawingml/2006/main" noGrp="1"/>
          </p:cNvSpPr>
          <p:nvPr/>
        </p:nvSpPr>
        <p:spPr>
          <a:xfrm xmlns:a="http://schemas.openxmlformats.org/drawingml/2006/main">
            <a:off x="466344" y="351840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proyecciones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venían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utilizando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Ahora,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33" name="ANUARIO_CONTENIDO_0_1_6">
            <a:extLst xmlns:a="http://schemas.openxmlformats.org/drawingml/2006/main">
              <a:ext uri="{FF2B5EF4-FFF2-40B4-BE49-F238E27FC236}">
                <a16:creationId xmlns:a16="http://schemas.microsoft.com/office/drawing/2014/main" id="{211DE168-0FCF-4F45-AFA6-400EF65EEA76}"/>
              </a:ext>
            </a:extLst>
          </p:cNvPr>
          <p:cNvSpPr>
            <a:spLocks xmlns:a="http://schemas.openxmlformats.org/drawingml/2006/main" noGrp="1"/>
          </p:cNvSpPr>
          <p:nvPr/>
        </p:nvSpPr>
        <p:spPr>
          <a:xfrm xmlns:a="http://schemas.openxmlformats.org/drawingml/2006/main">
            <a:off x="466344" y="362224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generando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propia</a:t>
            </a:r>
            <a:r>
              <a:rPr sz="730" b="0" i="0">
                <a:solidFill>
                  <a:srgbClr val="24383A"/>
                </a:solidFill>
                <a:latin typeface="DejaVu Sans"/>
                <a:ea typeface="DejaVu Sans"/>
                <a:cs typeface="DejaVu Sans"/>
              </a:rPr>
              <a:t> </a:t>
            </a:r>
          </a:p>
        </p:txBody>
      </p:sp>
      <p:sp>
        <p:nvSpPr>
          <p:cNvPr id="34" name="ANUARIO_CONTENIDO_0_1_7">
            <a:extLst xmlns:a="http://schemas.openxmlformats.org/drawingml/2006/main">
              <a:ext uri="{FF2B5EF4-FFF2-40B4-BE49-F238E27FC236}">
                <a16:creationId xmlns:a16="http://schemas.microsoft.com/office/drawing/2014/main" id="{16F04FA5-CBBC-4917-A140-961F37B6190D}"/>
              </a:ext>
            </a:extLst>
          </p:cNvPr>
          <p:cNvSpPr>
            <a:spLocks xmlns:a="http://schemas.openxmlformats.org/drawingml/2006/main" noGrp="1"/>
          </p:cNvSpPr>
          <p:nvPr/>
        </p:nvSpPr>
        <p:spPr>
          <a:xfrm xmlns:a="http://schemas.openxmlformats.org/drawingml/2006/main">
            <a:off x="466344" y="372607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Muestra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Maestra.</a:t>
            </a:r>
          </a:p>
        </p:txBody>
      </p:sp>
      <p:sp>
        <p:nvSpPr>
          <p:cNvPr id="35" name="ANUARIO_CONTENIDO_0_1_8">
            <a:extLst xmlns:a="http://schemas.openxmlformats.org/drawingml/2006/main">
              <a:ext uri="{FF2B5EF4-FFF2-40B4-BE49-F238E27FC236}">
                <a16:creationId xmlns:a16="http://schemas.microsoft.com/office/drawing/2014/main" id="{13FBD5B0-EE6C-4FD4-8CF2-7FCE8CF06075}"/>
              </a:ext>
            </a:extLst>
          </p:cNvPr>
          <p:cNvSpPr>
            <a:spLocks xmlns:a="http://schemas.openxmlformats.org/drawingml/2006/main" noGrp="1"/>
          </p:cNvSpPr>
          <p:nvPr/>
        </p:nvSpPr>
        <p:spPr>
          <a:xfrm xmlns:a="http://schemas.openxmlformats.org/drawingml/2006/main">
            <a:off x="466344" y="385531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eventos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36" name="ANUARIO_CONTENIDO_0_1_9">
            <a:extLst xmlns:a="http://schemas.openxmlformats.org/drawingml/2006/main">
              <a:ext uri="{FF2B5EF4-FFF2-40B4-BE49-F238E27FC236}">
                <a16:creationId xmlns:a16="http://schemas.microsoft.com/office/drawing/2014/main" id="{2C4ACF18-F52E-435C-BB6A-3C868B68B41B}"/>
              </a:ext>
            </a:extLst>
          </p:cNvPr>
          <p:cNvSpPr>
            <a:spLocks xmlns:a="http://schemas.openxmlformats.org/drawingml/2006/main" noGrp="1"/>
          </p:cNvSpPr>
          <p:nvPr/>
        </p:nvSpPr>
        <p:spPr>
          <a:xfrm xmlns:a="http://schemas.openxmlformats.org/drawingml/2006/main">
            <a:off x="466344" y="395914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4</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eventos</a:t>
            </a:r>
            <a:r>
              <a:rPr sz="730" b="0" i="0">
                <a:solidFill>
                  <a:srgbClr val="24383A"/>
                </a:solidFill>
                <a:latin typeface="DejaVu Sans"/>
                <a:ea typeface="DejaVu Sans"/>
                <a:cs typeface="DejaVu Sans"/>
              </a:rPr>
              <a:t> </a:t>
            </a:r>
          </a:p>
        </p:txBody>
      </p:sp>
      <p:sp>
        <p:nvSpPr>
          <p:cNvPr id="37" name="ANUARIO_CONTENIDO_0_1_10">
            <a:extLst xmlns:a="http://schemas.openxmlformats.org/drawingml/2006/main">
              <a:ext uri="{FF2B5EF4-FFF2-40B4-BE49-F238E27FC236}">
                <a16:creationId xmlns:a16="http://schemas.microsoft.com/office/drawing/2014/main" id="{60BE6DB8-CDAC-4CEC-B3BF-C21240293F82}"/>
              </a:ext>
            </a:extLst>
          </p:cNvPr>
          <p:cNvSpPr>
            <a:spLocks xmlns:a="http://schemas.openxmlformats.org/drawingml/2006/main" noGrp="1"/>
          </p:cNvSpPr>
          <p:nvPr/>
        </p:nvSpPr>
        <p:spPr>
          <a:xfrm xmlns:a="http://schemas.openxmlformats.org/drawingml/2006/main">
            <a:off x="466344" y="406298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2015-2016</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30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noviembre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r>
              <a:rPr sz="730" b="0" i="0">
                <a:solidFill>
                  <a:srgbClr val="24383A"/>
                </a:solidFill>
                <a:latin typeface="DejaVu Sans"/>
                <a:ea typeface="DejaVu Sans"/>
                <a:cs typeface="DejaVu Sans"/>
              </a:rPr>
              <a:t> </a:t>
            </a:r>
          </a:p>
        </p:txBody>
      </p:sp>
      <p:sp>
        <p:nvSpPr>
          <p:cNvPr id="38" name="ANUARIO_ANEXO_P128_DESIGN_2026">
            <a:extLst xmlns:a="http://schemas.openxmlformats.org/drawingml/2006/main">
              <a:ext uri="{FF2B5EF4-FFF2-40B4-BE49-F238E27FC236}">
                <a16:creationId xmlns:a16="http://schemas.microsoft.com/office/drawing/2014/main" id="{4C8EA383-9F2D-4D43-A3EB-B4C50361B118}"/>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39" name="ANUARIO_ACENTO">
            <a:extLst xmlns:a="http://schemas.openxmlformats.org/drawingml/2006/main">
              <a:ext uri="{FF2B5EF4-FFF2-40B4-BE49-F238E27FC236}">
                <a16:creationId xmlns:a16="http://schemas.microsoft.com/office/drawing/2014/main" id="{BF6387ED-BB45-4C42-AF05-F78A68D0C0C8}"/>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0" name="ANUARIO_SECCION">
            <a:extLst xmlns:a="http://schemas.openxmlformats.org/drawingml/2006/main">
              <a:ext uri="{FF2B5EF4-FFF2-40B4-BE49-F238E27FC236}">
                <a16:creationId xmlns:a16="http://schemas.microsoft.com/office/drawing/2014/main" id="{DBD58DBC-A66F-4AEA-A96B-0504C16F43BE}"/>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Consumo de radio y televisión</a:t>
            </a:r>
          </a:p>
        </p:txBody>
      </p:sp>
      <p:sp>
        <p:nvSpPr>
          <p:cNvPr id="41" name="ANUARIO_CONTENIDO_1_0_0">
            <a:extLst xmlns:a="http://schemas.openxmlformats.org/drawingml/2006/main">
              <a:ext uri="{FF2B5EF4-FFF2-40B4-BE49-F238E27FC236}">
                <a16:creationId xmlns:a16="http://schemas.microsoft.com/office/drawing/2014/main" id="{7060990B-7519-4FDA-AEF7-41D0B8D1E1B1}"/>
              </a:ext>
            </a:extLst>
          </p:cNvPr>
          <p:cNvSpPr>
            <a:spLocks xmlns:a="http://schemas.openxmlformats.org/drawingml/2006/main" noGrp="1"/>
          </p:cNvSpPr>
          <p:nvPr/>
        </p:nvSpPr>
        <p:spPr>
          <a:xfrm xmlns:a="http://schemas.openxmlformats.org/drawingml/2006/main">
            <a:off x="4828032"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compilados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p>
        </p:txBody>
      </p:sp>
      <p:sp>
        <p:nvSpPr>
          <p:cNvPr id="42" name="ANUARIO_CONTENIDO_1_0_1">
            <a:extLst xmlns:a="http://schemas.openxmlformats.org/drawingml/2006/main">
              <a:ext uri="{FF2B5EF4-FFF2-40B4-BE49-F238E27FC236}">
                <a16:creationId xmlns:a16="http://schemas.microsoft.com/office/drawing/2014/main" id="{85983D2A-881C-49B0-8184-1AE13B86123C}"/>
              </a:ext>
            </a:extLst>
          </p:cNvPr>
          <p:cNvSpPr>
            <a:spLocks xmlns:a="http://schemas.openxmlformats.org/drawingml/2006/main" noGrp="1"/>
          </p:cNvSpPr>
          <p:nvPr/>
        </p:nvSpPr>
        <p:spPr>
          <a:xfrm xmlns:a="http://schemas.openxmlformats.org/drawingml/2006/main">
            <a:off x="4828032"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través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dispositivos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llamados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“people</a:t>
            </a:r>
            <a:r>
              <a:rPr sz="730" b="0" i="0">
                <a:solidFill>
                  <a:srgbClr val="24383A"/>
                </a:solidFill>
                <a:latin typeface="DejaVu Sans"/>
                <a:ea typeface="DejaVu Sans"/>
                <a:cs typeface="DejaVu Sans"/>
              </a:rPr>
              <a:t> </a:t>
            </a:r>
          </a:p>
        </p:txBody>
      </p:sp>
      <p:sp>
        <p:nvSpPr>
          <p:cNvPr id="43" name="ANUARIO_CONTENIDO_1_0_2">
            <a:extLst xmlns:a="http://schemas.openxmlformats.org/drawingml/2006/main">
              <a:ext uri="{FF2B5EF4-FFF2-40B4-BE49-F238E27FC236}">
                <a16:creationId xmlns:a16="http://schemas.microsoft.com/office/drawing/2014/main" id="{41D1B34B-317F-425F-8DA5-138A31FB7BFC}"/>
              </a:ext>
            </a:extLst>
          </p:cNvPr>
          <p:cNvSpPr>
            <a:spLocks xmlns:a="http://schemas.openxmlformats.org/drawingml/2006/main" noGrp="1"/>
          </p:cNvSpPr>
          <p:nvPr/>
        </p:nvSpPr>
        <p:spPr>
          <a:xfrm xmlns:a="http://schemas.openxmlformats.org/drawingml/2006/main">
            <a:off x="4828032"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meter”,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mismos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permiten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recopilación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electrónico.</a:t>
            </a:r>
          </a:p>
        </p:txBody>
      </p:sp>
      <p:sp>
        <p:nvSpPr>
          <p:cNvPr id="44" name="ANUARIO_CONTENIDO_1_0_3">
            <a:extLst xmlns:a="http://schemas.openxmlformats.org/drawingml/2006/main">
              <a:ext uri="{FF2B5EF4-FFF2-40B4-BE49-F238E27FC236}">
                <a16:creationId xmlns:a16="http://schemas.microsoft.com/office/drawing/2014/main" id="{79714E8D-1593-4C3F-BB00-90AFE80BAFA2}"/>
              </a:ext>
            </a:extLst>
          </p:cNvPr>
          <p:cNvSpPr>
            <a:spLocks xmlns:a="http://schemas.openxmlformats.org/drawingml/2006/main" noGrp="1"/>
          </p:cNvSpPr>
          <p:nvPr/>
        </p:nvSpPr>
        <p:spPr>
          <a:xfrm xmlns:a="http://schemas.openxmlformats.org/drawingml/2006/main">
            <a:off x="4828032" y="13427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mediciones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agrupadas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cinco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rubros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p>
        </p:txBody>
      </p:sp>
      <p:sp>
        <p:nvSpPr>
          <p:cNvPr id="45" name="ANUARIO_CONTENIDO_1_0_4">
            <a:extLst xmlns:a="http://schemas.openxmlformats.org/drawingml/2006/main">
              <a:ext uri="{FF2B5EF4-FFF2-40B4-BE49-F238E27FC236}">
                <a16:creationId xmlns:a16="http://schemas.microsoft.com/office/drawing/2014/main" id="{22FF0411-9AAC-4F5F-A8CB-B800192B2F6C}"/>
              </a:ext>
            </a:extLst>
          </p:cNvPr>
          <p:cNvSpPr>
            <a:spLocks xmlns:a="http://schemas.openxmlformats.org/drawingml/2006/main" noGrp="1"/>
          </p:cNvSpPr>
          <p:nvPr/>
        </p:nvSpPr>
        <p:spPr>
          <a:xfrm xmlns:a="http://schemas.openxmlformats.org/drawingml/2006/main">
            <a:off x="4828032"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AMCM</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Monterrey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p>
        </p:txBody>
      </p:sp>
      <p:sp>
        <p:nvSpPr>
          <p:cNvPr id="46" name="ANUARIO_CONTENIDO_1_0_5">
            <a:extLst xmlns:a="http://schemas.openxmlformats.org/drawingml/2006/main">
              <a:ext uri="{FF2B5EF4-FFF2-40B4-BE49-F238E27FC236}">
                <a16:creationId xmlns:a16="http://schemas.microsoft.com/office/drawing/2014/main" id="{1412F00B-5E04-4D92-98BA-9209496BA144}"/>
              </a:ext>
            </a:extLst>
          </p:cNvPr>
          <p:cNvSpPr>
            <a:spLocks xmlns:a="http://schemas.openxmlformats.org/drawingml/2006/main" noGrp="1"/>
          </p:cNvSpPr>
          <p:nvPr/>
        </p:nvSpPr>
        <p:spPr>
          <a:xfrm xmlns:a="http://schemas.openxmlformats.org/drawingml/2006/main">
            <a:off x="4828032"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Monterrey),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Guadalajara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47" name="ANUARIO_CONTENIDO_1_0_6">
            <a:extLst xmlns:a="http://schemas.openxmlformats.org/drawingml/2006/main">
              <a:ext uri="{FF2B5EF4-FFF2-40B4-BE49-F238E27FC236}">
                <a16:creationId xmlns:a16="http://schemas.microsoft.com/office/drawing/2014/main" id="{4D69ED56-BCBB-4433-849D-DDCA07E290E9}"/>
              </a:ext>
            </a:extLst>
          </p:cNvPr>
          <p:cNvSpPr>
            <a:spLocks xmlns:a="http://schemas.openxmlformats.org/drawingml/2006/main" noGrp="1"/>
          </p:cNvSpPr>
          <p:nvPr/>
        </p:nvSpPr>
        <p:spPr>
          <a:xfrm xmlns:a="http://schemas.openxmlformats.org/drawingml/2006/main">
            <a:off x="4828032" y="16542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Guadalajara);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anteriores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p>
        </p:txBody>
      </p:sp>
      <p:sp>
        <p:nvSpPr>
          <p:cNvPr id="48" name="ANUARIO_CONTENIDO_1_0_7">
            <a:extLst xmlns:a="http://schemas.openxmlformats.org/drawingml/2006/main">
              <a:ext uri="{FF2B5EF4-FFF2-40B4-BE49-F238E27FC236}">
                <a16:creationId xmlns:a16="http://schemas.microsoft.com/office/drawing/2014/main" id="{1E9E9AB2-5BE7-43EF-888A-BA4838C02B88}"/>
              </a:ext>
            </a:extLst>
          </p:cNvPr>
          <p:cNvSpPr>
            <a:spLocks xmlns:a="http://schemas.openxmlformats.org/drawingml/2006/main" noGrp="1"/>
          </p:cNvSpPr>
          <p:nvPr/>
        </p:nvSpPr>
        <p:spPr>
          <a:xfrm xmlns:a="http://schemas.openxmlformats.org/drawingml/2006/main">
            <a:off x="4828032" y="17580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indicativos,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además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conglomerado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interior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república</a:t>
            </a:r>
            <a:r>
              <a:rPr sz="730" b="0" i="0">
                <a:solidFill>
                  <a:srgbClr val="24383A"/>
                </a:solidFill>
                <a:latin typeface="DejaVu Sans"/>
                <a:ea typeface="DejaVu Sans"/>
                <a:cs typeface="DejaVu Sans"/>
              </a:rPr>
              <a:t> </a:t>
            </a:r>
          </a:p>
        </p:txBody>
      </p:sp>
      <p:sp>
        <p:nvSpPr>
          <p:cNvPr id="49" name="ANUARIO_CONTENIDO_1_0_8">
            <a:extLst xmlns:a="http://schemas.openxmlformats.org/drawingml/2006/main">
              <a:ext uri="{FF2B5EF4-FFF2-40B4-BE49-F238E27FC236}">
                <a16:creationId xmlns:a16="http://schemas.microsoft.com/office/drawing/2014/main" id="{07AEBFEC-11D3-49EE-A16E-75A5F2203D03}"/>
              </a:ext>
            </a:extLst>
          </p:cNvPr>
          <p:cNvSpPr>
            <a:spLocks xmlns:a="http://schemas.openxmlformats.org/drawingml/2006/main" noGrp="1"/>
          </p:cNvSpPr>
          <p:nvPr/>
        </p:nvSpPr>
        <p:spPr>
          <a:xfrm xmlns:a="http://schemas.openxmlformats.org/drawingml/2006/main">
            <a:off x="4828032" y="18619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conjunto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estudio.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nivel</a:t>
            </a:r>
            <a:r>
              <a:rPr sz="730" b="0" i="0">
                <a:solidFill>
                  <a:srgbClr val="24383A"/>
                </a:solidFill>
                <a:latin typeface="DejaVu Sans"/>
                <a:ea typeface="DejaVu Sans"/>
                <a:cs typeface="DejaVu Sans"/>
              </a:rPr>
              <a:t> </a:t>
            </a:r>
          </a:p>
        </p:txBody>
      </p:sp>
      <p:sp>
        <p:nvSpPr>
          <p:cNvPr id="50" name="ANUARIO_CONTENIDO_1_0_9">
            <a:extLst xmlns:a="http://schemas.openxmlformats.org/drawingml/2006/main">
              <a:ext uri="{FF2B5EF4-FFF2-40B4-BE49-F238E27FC236}">
                <a16:creationId xmlns:a16="http://schemas.microsoft.com/office/drawing/2014/main" id="{F6042E21-525E-4E72-9DF5-3A114121B577}"/>
              </a:ext>
            </a:extLst>
          </p:cNvPr>
          <p:cNvSpPr>
            <a:spLocks xmlns:a="http://schemas.openxmlformats.org/drawingml/2006/main" noGrp="1"/>
          </p:cNvSpPr>
          <p:nvPr/>
        </p:nvSpPr>
        <p:spPr>
          <a:xfrm xmlns:a="http://schemas.openxmlformats.org/drawingml/2006/main">
            <a:off x="4828032" y="19657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evaluados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p>
        </p:txBody>
      </p:sp>
      <p:sp>
        <p:nvSpPr>
          <p:cNvPr id="51" name="ANUARIO_CONTENIDO_1_0_10">
            <a:extLst xmlns:a="http://schemas.openxmlformats.org/drawingml/2006/main">
              <a:ext uri="{FF2B5EF4-FFF2-40B4-BE49-F238E27FC236}">
                <a16:creationId xmlns:a16="http://schemas.microsoft.com/office/drawing/2014/main" id="{459F3BFA-0E24-4134-B943-D3B8CA74F3A7}"/>
              </a:ext>
            </a:extLst>
          </p:cNvPr>
          <p:cNvSpPr>
            <a:spLocks xmlns:a="http://schemas.openxmlformats.org/drawingml/2006/main" noGrp="1"/>
          </p:cNvSpPr>
          <p:nvPr/>
        </p:nvSpPr>
        <p:spPr>
          <a:xfrm xmlns:a="http://schemas.openxmlformats.org/drawingml/2006/main">
            <a:off x="4828032" y="20949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referirse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Universo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mayores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4</a:t>
            </a:r>
            <a:r>
              <a:rPr sz="730" b="0" i="0">
                <a:solidFill>
                  <a:srgbClr val="24383A"/>
                </a:solidFill>
                <a:latin typeface="DejaVu Sans"/>
                <a:ea typeface="DejaVu Sans"/>
                <a:cs typeface="DejaVu Sans"/>
              </a:rPr>
              <a:t> </a:t>
            </a:r>
          </a:p>
        </p:txBody>
      </p:sp>
      <p:sp>
        <p:nvSpPr>
          <p:cNvPr id="52" name="ANUARIO_CONTENIDO_1_0_11">
            <a:extLst xmlns:a="http://schemas.openxmlformats.org/drawingml/2006/main">
              <a:ext uri="{FF2B5EF4-FFF2-40B4-BE49-F238E27FC236}">
                <a16:creationId xmlns:a16="http://schemas.microsoft.com/office/drawing/2014/main" id="{904FE1D3-6289-42DC-BD0C-27777B6271B3}"/>
              </a:ext>
            </a:extLst>
          </p:cNvPr>
          <p:cNvSpPr>
            <a:spLocks xmlns:a="http://schemas.openxmlformats.org/drawingml/2006/main" noGrp="1"/>
          </p:cNvSpPr>
          <p:nvPr/>
        </p:nvSpPr>
        <p:spPr>
          <a:xfrm xmlns:a="http://schemas.openxmlformats.org/drawingml/2006/main">
            <a:off x="4828032" y="21988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tengan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acceso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funcionando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niveles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3" name="ANUARIO_CONTENIDO_1_0_12">
            <a:extLst xmlns:a="http://schemas.openxmlformats.org/drawingml/2006/main">
              <a:ext uri="{FF2B5EF4-FFF2-40B4-BE49-F238E27FC236}">
                <a16:creationId xmlns:a16="http://schemas.microsoft.com/office/drawing/2014/main" id="{48466C9B-E02B-4916-855C-D14B6AF780B5}"/>
              </a:ext>
            </a:extLst>
          </p:cNvPr>
          <p:cNvSpPr>
            <a:spLocks xmlns:a="http://schemas.openxmlformats.org/drawingml/2006/main" noGrp="1"/>
          </p:cNvSpPr>
          <p:nvPr/>
        </p:nvSpPr>
        <p:spPr>
          <a:xfrm xmlns:a="http://schemas.openxmlformats.org/drawingml/2006/main">
            <a:off x="4828032" y="23026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audiencia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reportados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p>
        </p:txBody>
      </p:sp>
      <p:sp>
        <p:nvSpPr>
          <p:cNvPr id="54" name="ANUARIO_CONTENIDO_1_0_13">
            <a:extLst xmlns:a="http://schemas.openxmlformats.org/drawingml/2006/main">
              <a:ext uri="{FF2B5EF4-FFF2-40B4-BE49-F238E27FC236}">
                <a16:creationId xmlns:a16="http://schemas.microsoft.com/office/drawing/2014/main" id="{61F24B7A-06B7-4772-92D9-7393148E3501}"/>
              </a:ext>
            </a:extLst>
          </p:cNvPr>
          <p:cNvSpPr>
            <a:spLocks xmlns:a="http://schemas.openxmlformats.org/drawingml/2006/main" noGrp="1"/>
          </p:cNvSpPr>
          <p:nvPr/>
        </p:nvSpPr>
        <p:spPr>
          <a:xfrm xmlns:a="http://schemas.openxmlformats.org/drawingml/2006/main">
            <a:off x="4828032" y="24064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funciona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acceso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algún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tipo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contenido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través</a:t>
            </a:r>
            <a:r>
              <a:rPr sz="730" b="0" i="0">
                <a:solidFill>
                  <a:srgbClr val="24383A"/>
                </a:solidFill>
                <a:latin typeface="DejaVu Sans"/>
                <a:ea typeface="DejaVu Sans"/>
                <a:cs typeface="DejaVu Sans"/>
              </a:rPr>
              <a:t> </a:t>
            </a:r>
          </a:p>
        </p:txBody>
      </p:sp>
      <p:sp>
        <p:nvSpPr>
          <p:cNvPr id="55" name="ANUARIO_CONTENIDO_1_0_14">
            <a:extLst xmlns:a="http://schemas.openxmlformats.org/drawingml/2006/main">
              <a:ext uri="{FF2B5EF4-FFF2-40B4-BE49-F238E27FC236}">
                <a16:creationId xmlns:a16="http://schemas.microsoft.com/office/drawing/2014/main" id="{7562D141-7F85-49DA-A565-416A273047FC}"/>
              </a:ext>
            </a:extLst>
          </p:cNvPr>
          <p:cNvSpPr>
            <a:spLocks xmlns:a="http://schemas.openxmlformats.org/drawingml/2006/main" noGrp="1"/>
          </p:cNvSpPr>
          <p:nvPr/>
        </p:nvSpPr>
        <p:spPr>
          <a:xfrm xmlns:a="http://schemas.openxmlformats.org/drawingml/2006/main">
            <a:off x="4828032" y="25103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mismo,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independientemente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forma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reciban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señal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(señal</a:t>
            </a:r>
            <a:r>
              <a:rPr sz="730" b="0" i="0">
                <a:solidFill>
                  <a:srgbClr val="24383A"/>
                </a:solidFill>
                <a:latin typeface="DejaVu Sans"/>
                <a:ea typeface="DejaVu Sans"/>
                <a:cs typeface="DejaVu Sans"/>
              </a:rPr>
              <a:t> </a:t>
            </a:r>
          </a:p>
        </p:txBody>
      </p:sp>
      <p:sp>
        <p:nvSpPr>
          <p:cNvPr id="56" name="ANUARIO_CONTENIDO_1_0_15">
            <a:extLst xmlns:a="http://schemas.openxmlformats.org/drawingml/2006/main">
              <a:ext uri="{FF2B5EF4-FFF2-40B4-BE49-F238E27FC236}">
                <a16:creationId xmlns:a16="http://schemas.microsoft.com/office/drawing/2014/main" id="{642481D9-8409-4384-BE1D-3371D19002D7}"/>
              </a:ext>
            </a:extLst>
          </p:cNvPr>
          <p:cNvSpPr>
            <a:spLocks xmlns:a="http://schemas.openxmlformats.org/drawingml/2006/main" noGrp="1"/>
          </p:cNvSpPr>
          <p:nvPr/>
        </p:nvSpPr>
        <p:spPr>
          <a:xfrm xmlns:a="http://schemas.openxmlformats.org/drawingml/2006/main">
            <a:off x="4828032" y="26141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abierta,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restringida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otros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dispositivos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conectados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incluyen</a:t>
            </a:r>
            <a:r>
              <a:rPr sz="730" b="0" i="0">
                <a:solidFill>
                  <a:srgbClr val="24383A"/>
                </a:solidFill>
                <a:latin typeface="DejaVu Sans"/>
                <a:ea typeface="DejaVu Sans"/>
                <a:cs typeface="DejaVu Sans"/>
              </a:rPr>
              <a:t> </a:t>
            </a:r>
          </a:p>
        </p:txBody>
      </p:sp>
      <p:sp>
        <p:nvSpPr>
          <p:cNvPr id="57" name="ANUARIO_CONTENIDO_1_0_16">
            <a:extLst xmlns:a="http://schemas.openxmlformats.org/drawingml/2006/main">
              <a:ext uri="{FF2B5EF4-FFF2-40B4-BE49-F238E27FC236}">
                <a16:creationId xmlns:a16="http://schemas.microsoft.com/office/drawing/2014/main" id="{23806E99-CA5C-40D7-9E40-CFC2FA2C2C9D}"/>
              </a:ext>
            </a:extLst>
          </p:cNvPr>
          <p:cNvSpPr>
            <a:spLocks xmlns:a="http://schemas.openxmlformats.org/drawingml/2006/main" noGrp="1"/>
          </p:cNvSpPr>
          <p:nvPr/>
        </p:nvSpPr>
        <p:spPr>
          <a:xfrm xmlns:a="http://schemas.openxmlformats.org/drawingml/2006/main">
            <a:off x="4828032" y="27180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invitados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(Guests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Viewers).</a:t>
            </a:r>
            <a:r>
              <a:rPr sz="730" b="0" i="0">
                <a:solidFill>
                  <a:srgbClr val="24383A"/>
                </a:solidFill>
                <a:latin typeface="DejaVu Sans"/>
                <a:ea typeface="DejaVu Sans"/>
                <a:cs typeface="DejaVu Sans"/>
              </a:rPr>
              <a:t> </a:t>
            </a:r>
          </a:p>
        </p:txBody>
      </p:sp>
      <p:sp>
        <p:nvSpPr>
          <p:cNvPr id="58" name="ANUARIO_CONTENIDO_1_0_17">
            <a:extLst xmlns:a="http://schemas.openxmlformats.org/drawingml/2006/main">
              <a:ext uri="{FF2B5EF4-FFF2-40B4-BE49-F238E27FC236}">
                <a16:creationId xmlns:a16="http://schemas.microsoft.com/office/drawing/2014/main" id="{EAB5F81B-42CD-4F25-AFCA-6EA2EC5791A3}"/>
              </a:ext>
            </a:extLst>
          </p:cNvPr>
          <p:cNvSpPr>
            <a:spLocks xmlns:a="http://schemas.openxmlformats.org/drawingml/2006/main" noGrp="1"/>
          </p:cNvSpPr>
          <p:nvPr/>
        </p:nvSpPr>
        <p:spPr>
          <a:xfrm xmlns:a="http://schemas.openxmlformats.org/drawingml/2006/main">
            <a:off x="4828032" y="28472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Cuando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habla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acuerdo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análisis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definido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p>
        </p:txBody>
      </p:sp>
      <p:sp>
        <p:nvSpPr>
          <p:cNvPr id="59" name="ANUARIO_CONTENIDO_1_0_18">
            <a:extLst xmlns:a="http://schemas.openxmlformats.org/drawingml/2006/main">
              <a:ext uri="{FF2B5EF4-FFF2-40B4-BE49-F238E27FC236}">
                <a16:creationId xmlns:a16="http://schemas.microsoft.com/office/drawing/2014/main" id="{2114B3BC-6B81-49E8-BD72-75C70EB0F8C3}"/>
              </a:ext>
            </a:extLst>
          </p:cNvPr>
          <p:cNvSpPr>
            <a:spLocks xmlns:a="http://schemas.openxmlformats.org/drawingml/2006/main" noGrp="1"/>
          </p:cNvSpPr>
          <p:nvPr/>
        </p:nvSpPr>
        <p:spPr>
          <a:xfrm xmlns:a="http://schemas.openxmlformats.org/drawingml/2006/main">
            <a:off x="4828032" y="29510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Azteca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Estrellas,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Imagen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Azteca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NU9VE,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p>
        </p:txBody>
      </p:sp>
      <p:sp>
        <p:nvSpPr>
          <p:cNvPr id="60" name="ANUARIO_CONTENIDO_1_0_19">
            <a:extLst xmlns:a="http://schemas.openxmlformats.org/drawingml/2006/main">
              <a:ext uri="{FF2B5EF4-FFF2-40B4-BE49-F238E27FC236}">
                <a16:creationId xmlns:a16="http://schemas.microsoft.com/office/drawing/2014/main" id="{3D5F5B44-706B-4639-B56B-DA44D5E7BC20}"/>
              </a:ext>
            </a:extLst>
          </p:cNvPr>
          <p:cNvSpPr>
            <a:spLocks xmlns:a="http://schemas.openxmlformats.org/drawingml/2006/main" noGrp="1"/>
          </p:cNvSpPr>
          <p:nvPr/>
        </p:nvSpPr>
        <p:spPr>
          <a:xfrm xmlns:a="http://schemas.openxmlformats.org/drawingml/2006/main">
            <a:off x="4828032" y="30549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ADN40.</a:t>
            </a:r>
          </a:p>
        </p:txBody>
      </p:sp>
      <p:sp>
        <p:nvSpPr>
          <p:cNvPr id="61" name="ANUARIO_CONTENIDO_1_0_20">
            <a:extLst xmlns:a="http://schemas.openxmlformats.org/drawingml/2006/main">
              <a:ext uri="{FF2B5EF4-FFF2-40B4-BE49-F238E27FC236}">
                <a16:creationId xmlns:a16="http://schemas.microsoft.com/office/drawing/2014/main" id="{2C6BE62C-6146-4CED-854E-6FAA71002F2C}"/>
              </a:ext>
            </a:extLst>
          </p:cNvPr>
          <p:cNvSpPr>
            <a:spLocks xmlns:a="http://schemas.openxmlformats.org/drawingml/2006/main" noGrp="1"/>
          </p:cNvSpPr>
          <p:nvPr/>
        </p:nvSpPr>
        <p:spPr>
          <a:xfrm xmlns:a="http://schemas.openxmlformats.org/drawingml/2006/main">
            <a:off x="4828032" y="318414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análisis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interpretación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realizado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responsabilidad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p>
        </p:txBody>
      </p:sp>
      <p:sp>
        <p:nvSpPr>
          <p:cNvPr id="62" name="ANUARIO_CONTENIDO_1_0_21">
            <a:extLst xmlns:a="http://schemas.openxmlformats.org/drawingml/2006/main">
              <a:ext uri="{FF2B5EF4-FFF2-40B4-BE49-F238E27FC236}">
                <a16:creationId xmlns:a16="http://schemas.microsoft.com/office/drawing/2014/main" id="{8F9C1971-F451-48B9-95AC-5D65A12C23A6}"/>
              </a:ext>
            </a:extLst>
          </p:cNvPr>
          <p:cNvSpPr>
            <a:spLocks xmlns:a="http://schemas.openxmlformats.org/drawingml/2006/main" noGrp="1"/>
          </p:cNvSpPr>
          <p:nvPr/>
        </p:nvSpPr>
        <p:spPr>
          <a:xfrm xmlns:a="http://schemas.openxmlformats.org/drawingml/2006/main">
            <a:off x="4828032" y="328797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p>
        </p:txBody>
      </p:sp>
      <p:sp>
        <p:nvSpPr>
          <p:cNvPr id="63" name="ANUARIO_CONTENIDO_1_0_22">
            <a:extLst xmlns:a="http://schemas.openxmlformats.org/drawingml/2006/main">
              <a:ext uri="{FF2B5EF4-FFF2-40B4-BE49-F238E27FC236}">
                <a16:creationId xmlns:a16="http://schemas.microsoft.com/office/drawing/2014/main" id="{ABC72B5D-2582-4D19-9107-33167B98819D}"/>
              </a:ext>
            </a:extLst>
          </p:cNvPr>
          <p:cNvSpPr>
            <a:spLocks xmlns:a="http://schemas.openxmlformats.org/drawingml/2006/main" noGrp="1"/>
          </p:cNvSpPr>
          <p:nvPr/>
        </p:nvSpPr>
        <p:spPr>
          <a:xfrm xmlns:a="http://schemas.openxmlformats.org/drawingml/2006/main">
            <a:off x="4828032" y="339181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contractuales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licenciamiento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64" name="ANUARIO_CONTENIDO_1_0_23">
            <a:extLst xmlns:a="http://schemas.openxmlformats.org/drawingml/2006/main">
              <a:ext uri="{FF2B5EF4-FFF2-40B4-BE49-F238E27FC236}">
                <a16:creationId xmlns:a16="http://schemas.microsoft.com/office/drawing/2014/main" id="{F78B2079-BA79-446A-8533-326CA342A64D}"/>
              </a:ext>
            </a:extLst>
          </p:cNvPr>
          <p:cNvSpPr>
            <a:spLocks xmlns:a="http://schemas.openxmlformats.org/drawingml/2006/main" noGrp="1"/>
          </p:cNvSpPr>
          <p:nvPr/>
        </p:nvSpPr>
        <p:spPr>
          <a:xfrm xmlns:a="http://schemas.openxmlformats.org/drawingml/2006/main">
            <a:off x="4828032" y="349565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validado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65" name="ANUARIO_CONTENIDO_1_0_24">
            <a:extLst xmlns:a="http://schemas.openxmlformats.org/drawingml/2006/main">
              <a:ext uri="{FF2B5EF4-FFF2-40B4-BE49-F238E27FC236}">
                <a16:creationId xmlns:a16="http://schemas.microsoft.com/office/drawing/2014/main" id="{C79E92AE-CA9D-4854-83C5-FF22ADB342AD}"/>
              </a:ext>
            </a:extLst>
          </p:cNvPr>
          <p:cNvSpPr>
            <a:spLocks xmlns:a="http://schemas.openxmlformats.org/drawingml/2006/main" noGrp="1"/>
          </p:cNvSpPr>
          <p:nvPr/>
        </p:nvSpPr>
        <p:spPr>
          <a:xfrm xmlns:a="http://schemas.openxmlformats.org/drawingml/2006/main">
            <a:off x="4828032" y="359948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contenida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mencionado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reporte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concuerda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p>
        </p:txBody>
      </p:sp>
      <p:sp>
        <p:nvSpPr>
          <p:cNvPr id="66" name="ANUARIO_CONTENIDO_1_0_25">
            <a:extLst xmlns:a="http://schemas.openxmlformats.org/drawingml/2006/main">
              <a:ext uri="{FF2B5EF4-FFF2-40B4-BE49-F238E27FC236}">
                <a16:creationId xmlns:a16="http://schemas.microsoft.com/office/drawing/2014/main" id="{49EC8DFD-B141-476A-BCC4-969DF918F7E7}"/>
              </a:ext>
            </a:extLst>
          </p:cNvPr>
          <p:cNvSpPr>
            <a:spLocks xmlns:a="http://schemas.openxmlformats.org/drawingml/2006/main" noGrp="1"/>
          </p:cNvSpPr>
          <p:nvPr/>
        </p:nvSpPr>
        <p:spPr>
          <a:xfrm xmlns:a="http://schemas.openxmlformats.org/drawingml/2006/main">
            <a:off x="4828032" y="370332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aquellas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licenciadas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p>
        </p:txBody>
      </p:sp>
      <p:sp>
        <p:nvSpPr>
          <p:cNvPr id="67" name="ANUARIO_NOTAS_0">
            <a:extLst xmlns:a="http://schemas.openxmlformats.org/drawingml/2006/main">
              <a:ext uri="{FF2B5EF4-FFF2-40B4-BE49-F238E27FC236}">
                <a16:creationId xmlns:a16="http://schemas.microsoft.com/office/drawing/2014/main" id="{F7A1C7C8-6016-4FE1-8BCF-22326259EE3E}"/>
              </a:ext>
            </a:extLst>
          </p:cNvPr>
          <p:cNvSpPr>
            <a:spLocks xmlns:a="http://schemas.openxmlformats.org/drawingml/2006/main" noGrp="1"/>
          </p:cNvSpPr>
          <p:nvPr/>
        </p:nvSpPr>
        <p:spPr>
          <a:xfrm xmlns:a="http://schemas.openxmlformats.org/drawingml/2006/main">
            <a:off x="301752" y="4544568"/>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13</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https://www.inegi.org.mx/programas/endutih/2025/</a:t>
            </a:r>
            <a:r>
              <a:rPr sz="520" b="0" i="0">
                <a:solidFill>
                  <a:srgbClr val="24383A"/>
                </a:solidFill>
                <a:latin typeface="DejaVu Sans"/>
                <a:ea typeface="DejaVu Sans"/>
                <a:cs typeface="DejaVu Sans"/>
              </a:rPr>
              <a:t>.</a:t>
            </a:r>
          </a:p>
        </p:txBody>
      </p:sp>
      <p:pic>
        <p:nvPicPr>
          <p:cNvPr id="69"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0"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1"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2"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3"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III. METODOLOGÍAS</a:t>
            </a:r>
          </a:p>
        </p:txBody>
      </p:sp>
      <p:sp>
        <p:nvSpPr>
          <p:cNvPr id="74"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75"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6249289"/>
      </p:ext>
    </p:extLst>
  </p:cSld>
</p:sld>
</file>

<file path=ppt/slides/slide128.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8CC7D224-1ED2-475B-BB86-58B28F1A7609}"/>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93958AFB-6B78-429E-BF97-29D6E2C34000}"/>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128</a:t>
            </a:r>
          </a:p>
        </p:txBody>
      </p:sp>
      <p:sp>
        <p:nvSpPr>
          <p:cNvPr id="9" name="ANUARIO_EDICION">
            <a:extLst xmlns:a="http://schemas.openxmlformats.org/drawingml/2006/main">
              <a:ext uri="{FF2B5EF4-FFF2-40B4-BE49-F238E27FC236}">
                <a16:creationId xmlns:a16="http://schemas.microsoft.com/office/drawing/2014/main" id="{69CF3E38-1D58-4EFF-9970-6886B6DD0523}"/>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9_DESIGN_2026">
            <a:extLst xmlns:a="http://schemas.openxmlformats.org/drawingml/2006/main">
              <a:ext uri="{FF2B5EF4-FFF2-40B4-BE49-F238E27FC236}">
                <a16:creationId xmlns:a16="http://schemas.microsoft.com/office/drawing/2014/main" id="{EC135B2E-DF10-4094-8614-68430AD00437}"/>
              </a:ext>
            </a:extLst>
          </p:cNvPr>
          <p:cNvSpPr>
            <a:spLocks xmlns:a="http://schemas.openxmlformats.org/drawingml/2006/main" noGrp="1"/>
          </p:cNvSpPr>
          <p:nvPr/>
        </p:nvSpPr>
        <p:spPr>
          <a:xfrm xmlns:a="http://schemas.openxmlformats.org/drawingml/2006/main">
            <a:off x="301752"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A63BD975-DC4A-4CD2-A102-8A48E96C7C70}"/>
              </a:ext>
            </a:extLst>
          </p:cNvPr>
          <p:cNvSpPr>
            <a:spLocks xmlns:a="http://schemas.openxmlformats.org/drawingml/2006/main" noGrp="1"/>
          </p:cNvSpPr>
          <p:nvPr/>
        </p:nvSpPr>
        <p:spPr>
          <a:xfrm xmlns:a="http://schemas.openxmlformats.org/drawingml/2006/main">
            <a:off x="301752"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1677E7A2-F632-4A38-B65D-119107F01266}"/>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ENOE · población de 15 años y más¹⁴</a:t>
            </a:r>
          </a:p>
        </p:txBody>
      </p:sp>
      <p:sp>
        <p:nvSpPr>
          <p:cNvPr id="13" name="ANUARIO_CONTENIDO_0_0_0">
            <a:extLst xmlns:a="http://schemas.openxmlformats.org/drawingml/2006/main">
              <a:ext uri="{FF2B5EF4-FFF2-40B4-BE49-F238E27FC236}">
                <a16:creationId xmlns:a16="http://schemas.microsoft.com/office/drawing/2014/main" id="{400618FF-0F46-429C-ADC8-9033389E68B3}"/>
              </a:ext>
            </a:extLst>
          </p:cNvPr>
          <p:cNvSpPr>
            <a:spLocks xmlns:a="http://schemas.openxmlformats.org/drawingml/2006/main" noGrp="1"/>
          </p:cNvSpPr>
          <p:nvPr/>
        </p:nvSpPr>
        <p:spPr>
          <a:xfrm xmlns:a="http://schemas.openxmlformats.org/drawingml/2006/main">
            <a:off x="466344"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principal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mercado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laboral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mexicano</a:t>
            </a:r>
            <a:r>
              <a:rPr sz="73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4FAE9CD7-EFD6-49F7-A86C-7ED3034163A8}"/>
              </a:ext>
            </a:extLst>
          </p:cNvPr>
          <p:cNvSpPr>
            <a:spLocks xmlns:a="http://schemas.openxmlformats.org/drawingml/2006/main" noGrp="1"/>
          </p:cNvSpPr>
          <p:nvPr/>
        </p:nvSpPr>
        <p:spPr>
          <a:xfrm xmlns:a="http://schemas.openxmlformats.org/drawingml/2006/main">
            <a:off x="466344"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fuerza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ocupación,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9FDC84C6-422E-4BEA-877E-A41420DF8AB6}"/>
              </a:ext>
            </a:extLst>
          </p:cNvPr>
          <p:cNvSpPr>
            <a:spLocks xmlns:a="http://schemas.openxmlformats.org/drawingml/2006/main" noGrp="1"/>
          </p:cNvSpPr>
          <p:nvPr/>
        </p:nvSpPr>
        <p:spPr>
          <a:xfrm xmlns:a="http://schemas.openxmlformats.org/drawingml/2006/main">
            <a:off x="466344"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laboral,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subocupación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desocupación.</a:t>
            </a:r>
            <a:r>
              <a:rPr sz="730" b="0" i="0">
                <a:solidFill>
                  <a:srgbClr val="24383A"/>
                </a:solidFill>
                <a:latin typeface="DejaVu Sans"/>
                <a:ea typeface="DejaVu Sans"/>
                <a:cs typeface="DejaVu Sans"/>
              </a:rPr>
              <a:t> </a:t>
            </a:r>
          </a:p>
        </p:txBody>
      </p:sp>
      <p:sp>
        <p:nvSpPr>
          <p:cNvPr id="16" name="ANUARIO_CONTENIDO_0_0_3">
            <a:extLst xmlns:a="http://schemas.openxmlformats.org/drawingml/2006/main">
              <a:ext uri="{FF2B5EF4-FFF2-40B4-BE49-F238E27FC236}">
                <a16:creationId xmlns:a16="http://schemas.microsoft.com/office/drawing/2014/main" id="{F69202CE-6948-4B81-B6B6-5DC6A2D2DE78}"/>
              </a:ext>
            </a:extLst>
          </p:cNvPr>
          <p:cNvSpPr>
            <a:spLocks xmlns:a="http://schemas.openxmlformats.org/drawingml/2006/main" noGrp="1"/>
          </p:cNvSpPr>
          <p:nvPr/>
        </p:nvSpPr>
        <p:spPr>
          <a:xfrm xmlns:a="http://schemas.openxmlformats.org/drawingml/2006/main">
            <a:off x="466344" y="13427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enero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levantamiento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p>
        </p:txBody>
      </p:sp>
      <p:sp>
        <p:nvSpPr>
          <p:cNvPr id="17" name="ANUARIO_CONTENIDO_0_0_4">
            <a:extLst xmlns:a="http://schemas.openxmlformats.org/drawingml/2006/main">
              <a:ext uri="{FF2B5EF4-FFF2-40B4-BE49-F238E27FC236}">
                <a16:creationId xmlns:a16="http://schemas.microsoft.com/office/drawing/2014/main" id="{B3081422-DBAD-44C8-8B0A-692F008FF90F}"/>
              </a:ext>
            </a:extLst>
          </p:cNvPr>
          <p:cNvSpPr>
            <a:spLocks xmlns:a="http://schemas.openxmlformats.org/drawingml/2006/main" noGrp="1"/>
          </p:cNvSpPr>
          <p:nvPr/>
        </p:nvSpPr>
        <p:spPr>
          <a:xfrm xmlns:a="http://schemas.openxmlformats.org/drawingml/2006/main">
            <a:off x="466344"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Interés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incorporando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preguntas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migración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33CA109F-7BCE-4FFE-9361-10C8D242E582}"/>
              </a:ext>
            </a:extLst>
          </p:cNvPr>
          <p:cNvSpPr>
            <a:spLocks xmlns:a="http://schemas.openxmlformats.org/drawingml/2006/main" noGrp="1"/>
          </p:cNvSpPr>
          <p:nvPr/>
        </p:nvSpPr>
        <p:spPr>
          <a:xfrm xmlns:a="http://schemas.openxmlformats.org/drawingml/2006/main">
            <a:off x="466344"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entrevistas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telefónicas.</a:t>
            </a:r>
          </a:p>
        </p:txBody>
      </p:sp>
      <p:sp>
        <p:nvSpPr>
          <p:cNvPr id="19" name="ANUARIO_CONTENIDO_0_0_6">
            <a:extLst xmlns:a="http://schemas.openxmlformats.org/drawingml/2006/main">
              <a:ext uri="{FF2B5EF4-FFF2-40B4-BE49-F238E27FC236}">
                <a16:creationId xmlns:a16="http://schemas.microsoft.com/office/drawing/2014/main" id="{E460F737-A934-4725-AD28-95120E2F9EAD}"/>
              </a:ext>
            </a:extLst>
          </p:cNvPr>
          <p:cNvSpPr>
            <a:spLocks xmlns:a="http://schemas.openxmlformats.org/drawingml/2006/main" noGrp="1"/>
          </p:cNvSpPr>
          <p:nvPr/>
        </p:nvSpPr>
        <p:spPr>
          <a:xfrm xmlns:a="http://schemas.openxmlformats.org/drawingml/2006/main">
            <a:off x="466344" y="16796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periodo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suspensión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levantamiento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p>
        </p:txBody>
      </p:sp>
      <p:sp>
        <p:nvSpPr>
          <p:cNvPr id="20" name="ANUARIO_CONTENIDO_0_0_7">
            <a:extLst xmlns:a="http://schemas.openxmlformats.org/drawingml/2006/main">
              <a:ext uri="{FF2B5EF4-FFF2-40B4-BE49-F238E27FC236}">
                <a16:creationId xmlns:a16="http://schemas.microsoft.com/office/drawing/2014/main" id="{965022A3-628D-4CF8-B805-10C0815A8E8F}"/>
              </a:ext>
            </a:extLst>
          </p:cNvPr>
          <p:cNvSpPr>
            <a:spLocks xmlns:a="http://schemas.openxmlformats.org/drawingml/2006/main" noGrp="1"/>
          </p:cNvSpPr>
          <p:nvPr/>
        </p:nvSpPr>
        <p:spPr>
          <a:xfrm xmlns:a="http://schemas.openxmlformats.org/drawingml/2006/main">
            <a:off x="466344" y="17834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abril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debido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contingencia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sanitaria,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consultar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10F3F3B5-AE23-4BA0-8C7B-23FDD90B9588}"/>
              </a:ext>
            </a:extLst>
          </p:cNvPr>
          <p:cNvSpPr>
            <a:spLocks xmlns:a="http://schemas.openxmlformats.org/drawingml/2006/main" noGrp="1"/>
          </p:cNvSpPr>
          <p:nvPr/>
        </p:nvSpPr>
        <p:spPr>
          <a:xfrm xmlns:a="http://schemas.openxmlformats.org/drawingml/2006/main">
            <a:off x="466344" y="18873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ETOE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abril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junio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así</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resultados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Edición</a:t>
            </a:r>
            <a:r>
              <a:rPr sz="73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C8376C47-210A-457C-88BA-1C4DA2CEAFA4}"/>
              </a:ext>
            </a:extLst>
          </p:cNvPr>
          <p:cNvSpPr>
            <a:spLocks xmlns:a="http://schemas.openxmlformats.org/drawingml/2006/main" noGrp="1"/>
          </p:cNvSpPr>
          <p:nvPr/>
        </p:nvSpPr>
        <p:spPr>
          <a:xfrm xmlns:a="http://schemas.openxmlformats.org/drawingml/2006/main">
            <a:off x="466344" y="19911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(ENOEN)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periodo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diciembre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p>
        </p:txBody>
      </p:sp>
      <p:sp>
        <p:nvSpPr>
          <p:cNvPr id="23" name="ANUARIO_CONTENIDO_0_0_10">
            <a:extLst xmlns:a="http://schemas.openxmlformats.org/drawingml/2006/main">
              <a:ext uri="{FF2B5EF4-FFF2-40B4-BE49-F238E27FC236}">
                <a16:creationId xmlns:a16="http://schemas.microsoft.com/office/drawing/2014/main" id="{20E7AD1F-F848-4E31-83BF-991350591BAE}"/>
              </a:ext>
            </a:extLst>
          </p:cNvPr>
          <p:cNvSpPr>
            <a:spLocks xmlns:a="http://schemas.openxmlformats.org/drawingml/2006/main" noGrp="1"/>
          </p:cNvSpPr>
          <p:nvPr/>
        </p:nvSpPr>
        <p:spPr>
          <a:xfrm xmlns:a="http://schemas.openxmlformats.org/drawingml/2006/main">
            <a:off x="466344" y="21203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primer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mayo</a:t>
            </a:r>
            <a:r>
              <a:rPr sz="730" b="0" i="0">
                <a:solidFill>
                  <a:srgbClr val="24383A"/>
                </a:solidFill>
                <a:latin typeface="DejaVu Sans"/>
                <a:ea typeface="DejaVu Sans"/>
                <a:cs typeface="DejaVu Sans"/>
              </a:rPr>
              <a:t> </a:t>
            </a:r>
          </a:p>
        </p:txBody>
      </p:sp>
      <p:sp>
        <p:nvSpPr>
          <p:cNvPr id="24" name="ANUARIO_CONTENIDO_0_0_11">
            <a:extLst xmlns:a="http://schemas.openxmlformats.org/drawingml/2006/main">
              <a:ext uri="{FF2B5EF4-FFF2-40B4-BE49-F238E27FC236}">
                <a16:creationId xmlns:a16="http://schemas.microsoft.com/office/drawing/2014/main" id="{086F91D4-A001-4C7F-B874-E7AEEB73B99C}"/>
              </a:ext>
            </a:extLst>
          </p:cNvPr>
          <p:cNvSpPr>
            <a:spLocks xmlns:a="http://schemas.openxmlformats.org/drawingml/2006/main" noGrp="1"/>
          </p:cNvSpPr>
          <p:nvPr/>
        </p:nvSpPr>
        <p:spPr>
          <a:xfrm xmlns:a="http://schemas.openxmlformats.org/drawingml/2006/main">
            <a:off x="466344" y="22242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factores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expansión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5" name="ANUARIO_CONTENIDO_0_0_12">
            <a:extLst xmlns:a="http://schemas.openxmlformats.org/drawingml/2006/main">
              <a:ext uri="{FF2B5EF4-FFF2-40B4-BE49-F238E27FC236}">
                <a16:creationId xmlns:a16="http://schemas.microsoft.com/office/drawing/2014/main" id="{E4263B40-C6F7-4BDA-A7D3-CBD74EBFE3E1}"/>
              </a:ext>
            </a:extLst>
          </p:cNvPr>
          <p:cNvSpPr>
            <a:spLocks xmlns:a="http://schemas.openxmlformats.org/drawingml/2006/main" noGrp="1"/>
          </p:cNvSpPr>
          <p:nvPr/>
        </p:nvSpPr>
        <p:spPr>
          <a:xfrm xmlns:a="http://schemas.openxmlformats.org/drawingml/2006/main">
            <a:off x="466344" y="23280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cifras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proyecciones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venían</a:t>
            </a:r>
            <a:r>
              <a:rPr sz="730" b="0" i="0">
                <a:solidFill>
                  <a:srgbClr val="24383A"/>
                </a:solidFill>
                <a:latin typeface="DejaVu Sans"/>
                <a:ea typeface="DejaVu Sans"/>
                <a:cs typeface="DejaVu Sans"/>
              </a:rPr>
              <a:t> </a:t>
            </a:r>
          </a:p>
        </p:txBody>
      </p:sp>
      <p:sp>
        <p:nvSpPr>
          <p:cNvPr id="26" name="ANUARIO_CONTENIDO_0_0_13">
            <a:extLst xmlns:a="http://schemas.openxmlformats.org/drawingml/2006/main">
              <a:ext uri="{FF2B5EF4-FFF2-40B4-BE49-F238E27FC236}">
                <a16:creationId xmlns:a16="http://schemas.microsoft.com/office/drawing/2014/main" id="{D3032BC0-6126-4C52-8D87-7E9BACDFC9DE}"/>
              </a:ext>
            </a:extLst>
          </p:cNvPr>
          <p:cNvSpPr>
            <a:spLocks xmlns:a="http://schemas.openxmlformats.org/drawingml/2006/main" noGrp="1"/>
          </p:cNvSpPr>
          <p:nvPr/>
        </p:nvSpPr>
        <p:spPr>
          <a:xfrm xmlns:a="http://schemas.openxmlformats.org/drawingml/2006/main">
            <a:off x="466344" y="24318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utilizando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Ahora,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generando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7" name="ANUARIO_CONTENIDO_0_0_14">
            <a:extLst xmlns:a="http://schemas.openxmlformats.org/drawingml/2006/main">
              <a:ext uri="{FF2B5EF4-FFF2-40B4-BE49-F238E27FC236}">
                <a16:creationId xmlns:a16="http://schemas.microsoft.com/office/drawing/2014/main" id="{1F42FE44-3B31-40DA-B641-0CDCB44B82E4}"/>
              </a:ext>
            </a:extLst>
          </p:cNvPr>
          <p:cNvSpPr>
            <a:spLocks xmlns:a="http://schemas.openxmlformats.org/drawingml/2006/main" noGrp="1"/>
          </p:cNvSpPr>
          <p:nvPr/>
        </p:nvSpPr>
        <p:spPr>
          <a:xfrm xmlns:a="http://schemas.openxmlformats.org/drawingml/2006/main">
            <a:off x="466344" y="25357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federativa,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propia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p>
        </p:txBody>
      </p:sp>
      <p:sp>
        <p:nvSpPr>
          <p:cNvPr id="28" name="ANUARIO_CONTENIDO_0_0_15">
            <a:extLst xmlns:a="http://schemas.openxmlformats.org/drawingml/2006/main">
              <a:ext uri="{FF2B5EF4-FFF2-40B4-BE49-F238E27FC236}">
                <a16:creationId xmlns:a16="http://schemas.microsoft.com/office/drawing/2014/main" id="{9315EAF7-A05A-44F3-9416-3505F2B2C102}"/>
              </a:ext>
            </a:extLst>
          </p:cNvPr>
          <p:cNvSpPr>
            <a:spLocks xmlns:a="http://schemas.openxmlformats.org/drawingml/2006/main" noGrp="1"/>
          </p:cNvSpPr>
          <p:nvPr/>
        </p:nvSpPr>
        <p:spPr>
          <a:xfrm xmlns:a="http://schemas.openxmlformats.org/drawingml/2006/main">
            <a:off x="466344" y="26395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Muestreo.</a:t>
            </a:r>
          </a:p>
        </p:txBody>
      </p:sp>
      <p:sp>
        <p:nvSpPr>
          <p:cNvPr id="29" name="ANUARIO_CONTENIDO_0_0_16">
            <a:extLst xmlns:a="http://schemas.openxmlformats.org/drawingml/2006/main">
              <a:ext uri="{FF2B5EF4-FFF2-40B4-BE49-F238E27FC236}">
                <a16:creationId xmlns:a16="http://schemas.microsoft.com/office/drawing/2014/main" id="{8F4F22A9-4C96-48A3-A74E-8ECFA35BF716}"/>
              </a:ext>
            </a:extLst>
          </p:cNvPr>
          <p:cNvSpPr>
            <a:spLocks xmlns:a="http://schemas.openxmlformats.org/drawingml/2006/main" noGrp="1"/>
          </p:cNvSpPr>
          <p:nvPr/>
        </p:nvSpPr>
        <p:spPr>
          <a:xfrm xmlns:a="http://schemas.openxmlformats.org/drawingml/2006/main">
            <a:off x="466344" y="27688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finalidad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serie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histórica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N</a:t>
            </a:r>
            <a:r>
              <a:rPr sz="730" b="0" i="0">
                <a:solidFill>
                  <a:srgbClr val="24383A"/>
                </a:solidFill>
                <a:latin typeface="DejaVu Sans"/>
                <a:ea typeface="DejaVu Sans"/>
                <a:cs typeface="DejaVu Sans"/>
              </a:rPr>
              <a:t> </a:t>
            </a:r>
          </a:p>
        </p:txBody>
      </p:sp>
      <p:sp>
        <p:nvSpPr>
          <p:cNvPr id="30" name="ANUARIO_CONTENIDO_0_0_17">
            <a:extLst xmlns:a="http://schemas.openxmlformats.org/drawingml/2006/main">
              <a:ext uri="{FF2B5EF4-FFF2-40B4-BE49-F238E27FC236}">
                <a16:creationId xmlns:a16="http://schemas.microsoft.com/office/drawing/2014/main" id="{26866388-F335-4726-84E0-7B4539B75B4A}"/>
              </a:ext>
            </a:extLst>
          </p:cNvPr>
          <p:cNvSpPr>
            <a:spLocks xmlns:a="http://schemas.openxmlformats.org/drawingml/2006/main" noGrp="1"/>
          </p:cNvSpPr>
          <p:nvPr/>
        </p:nvSpPr>
        <p:spPr>
          <a:xfrm xmlns:a="http://schemas.openxmlformats.org/drawingml/2006/main">
            <a:off x="466344" y="28726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2005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hasta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llevará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p>
        </p:txBody>
      </p:sp>
      <p:sp>
        <p:nvSpPr>
          <p:cNvPr id="31" name="ANUARIO_CONTENIDO_0_0_18">
            <a:extLst xmlns:a="http://schemas.openxmlformats.org/drawingml/2006/main">
              <a:ext uri="{FF2B5EF4-FFF2-40B4-BE49-F238E27FC236}">
                <a16:creationId xmlns:a16="http://schemas.microsoft.com/office/drawing/2014/main" id="{FF71DC9A-2F0A-456A-A4F7-2B35DAA221C4}"/>
              </a:ext>
            </a:extLst>
          </p:cNvPr>
          <p:cNvSpPr>
            <a:spLocks xmlns:a="http://schemas.openxmlformats.org/drawingml/2006/main" noGrp="1"/>
          </p:cNvSpPr>
          <p:nvPr/>
        </p:nvSpPr>
        <p:spPr>
          <a:xfrm xmlns:a="http://schemas.openxmlformats.org/drawingml/2006/main">
            <a:off x="466344" y="29764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cabo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esquema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divulgación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permitirá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reemplazar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forma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paulatina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32" name="ANUARIO_CONTENIDO_0_0_19">
            <a:extLst xmlns:a="http://schemas.openxmlformats.org/drawingml/2006/main">
              <a:ext uri="{FF2B5EF4-FFF2-40B4-BE49-F238E27FC236}">
                <a16:creationId xmlns:a16="http://schemas.microsoft.com/office/drawing/2014/main" id="{6BD93000-D182-44EB-9821-D18B6A362CBB}"/>
              </a:ext>
            </a:extLst>
          </p:cNvPr>
          <p:cNvSpPr>
            <a:spLocks xmlns:a="http://schemas.openxmlformats.org/drawingml/2006/main" noGrp="1"/>
          </p:cNvSpPr>
          <p:nvPr/>
        </p:nvSpPr>
        <p:spPr>
          <a:xfrm xmlns:a="http://schemas.openxmlformats.org/drawingml/2006/main">
            <a:off x="466344" y="30803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productos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publicados.</a:t>
            </a:r>
            <a:r>
              <a:rPr sz="730" b="0" i="0">
                <a:solidFill>
                  <a:srgbClr val="24383A"/>
                </a:solidFill>
                <a:latin typeface="DejaVu Sans"/>
                <a:ea typeface="DejaVu Sans"/>
                <a:cs typeface="DejaVu Sans"/>
              </a:rPr>
              <a:t> </a:t>
            </a:r>
          </a:p>
        </p:txBody>
      </p:sp>
      <p:sp>
        <p:nvSpPr>
          <p:cNvPr id="33" name="ANUARIO_ANEXO_P129_DESIGN_2026">
            <a:extLst xmlns:a="http://schemas.openxmlformats.org/drawingml/2006/main">
              <a:ext uri="{FF2B5EF4-FFF2-40B4-BE49-F238E27FC236}">
                <a16:creationId xmlns:a16="http://schemas.microsoft.com/office/drawing/2014/main" id="{BCA5FBA7-35D3-4323-A2AF-ABD208EA4986}"/>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34" name="ANUARIO_ACENTO">
            <a:extLst xmlns:a="http://schemas.openxmlformats.org/drawingml/2006/main">
              <a:ext uri="{FF2B5EF4-FFF2-40B4-BE49-F238E27FC236}">
                <a16:creationId xmlns:a16="http://schemas.microsoft.com/office/drawing/2014/main" id="{ACCEF537-552F-4E7B-9B1E-D17E5EC9905F}"/>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35" name="ANUARIO_SECCION">
            <a:extLst xmlns:a="http://schemas.openxmlformats.org/drawingml/2006/main">
              <a:ext uri="{FF2B5EF4-FFF2-40B4-BE49-F238E27FC236}">
                <a16:creationId xmlns:a16="http://schemas.microsoft.com/office/drawing/2014/main" id="{56FF1480-97D9-47B5-86A9-85CD5F5D0500}"/>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PIB · metodología¹⁵</a:t>
            </a:r>
          </a:p>
        </p:txBody>
      </p:sp>
      <p:sp>
        <p:nvSpPr>
          <p:cNvPr id="36" name="ANUARIO_CONTENIDO_1_0_0">
            <a:extLst xmlns:a="http://schemas.openxmlformats.org/drawingml/2006/main">
              <a:ext uri="{FF2B5EF4-FFF2-40B4-BE49-F238E27FC236}">
                <a16:creationId xmlns:a16="http://schemas.microsoft.com/office/drawing/2014/main" id="{5E810A21-DA51-46C0-901A-718C94F1C1ED}"/>
              </a:ext>
            </a:extLst>
          </p:cNvPr>
          <p:cNvSpPr>
            <a:spLocks xmlns:a="http://schemas.openxmlformats.org/drawingml/2006/main" noGrp="1"/>
          </p:cNvSpPr>
          <p:nvPr/>
        </p:nvSpPr>
        <p:spPr>
          <a:xfrm xmlns:a="http://schemas.openxmlformats.org/drawingml/2006/main">
            <a:off x="4828032"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Producto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Interno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Bruto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principal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indicador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p>
        </p:txBody>
      </p:sp>
      <p:sp>
        <p:nvSpPr>
          <p:cNvPr id="37" name="ANUARIO_CONTENIDO_1_0_1">
            <a:extLst xmlns:a="http://schemas.openxmlformats.org/drawingml/2006/main">
              <a:ext uri="{FF2B5EF4-FFF2-40B4-BE49-F238E27FC236}">
                <a16:creationId xmlns:a16="http://schemas.microsoft.com/office/drawing/2014/main" id="{5616EB59-2557-4271-A15D-90BBA6A31A66}"/>
              </a:ext>
            </a:extLst>
          </p:cNvPr>
          <p:cNvSpPr>
            <a:spLocks xmlns:a="http://schemas.openxmlformats.org/drawingml/2006/main" noGrp="1"/>
          </p:cNvSpPr>
          <p:nvPr/>
        </p:nvSpPr>
        <p:spPr>
          <a:xfrm xmlns:a="http://schemas.openxmlformats.org/drawingml/2006/main">
            <a:off x="4828032"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puede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(eliminando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efectos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38" name="ANUARIO_CONTENIDO_1_0_2">
            <a:extLst xmlns:a="http://schemas.openxmlformats.org/drawingml/2006/main">
              <a:ext uri="{FF2B5EF4-FFF2-40B4-BE49-F238E27FC236}">
                <a16:creationId xmlns:a16="http://schemas.microsoft.com/office/drawing/2014/main" id="{183A4D77-142A-4ECC-8A17-8FF9B6068537}"/>
              </a:ext>
            </a:extLst>
          </p:cNvPr>
          <p:cNvSpPr>
            <a:spLocks xmlns:a="http://schemas.openxmlformats.org/drawingml/2006/main" noGrp="1"/>
          </p:cNvSpPr>
          <p:nvPr/>
        </p:nvSpPr>
        <p:spPr>
          <a:xfrm xmlns:a="http://schemas.openxmlformats.org/drawingml/2006/main">
            <a:off x="4828032"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precios)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corrientes.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indicador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puede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calcular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p>
        </p:txBody>
      </p:sp>
      <p:sp>
        <p:nvSpPr>
          <p:cNvPr id="39" name="ANUARIO_CONTENIDO_1_0_3">
            <a:extLst xmlns:a="http://schemas.openxmlformats.org/drawingml/2006/main">
              <a:ext uri="{FF2B5EF4-FFF2-40B4-BE49-F238E27FC236}">
                <a16:creationId xmlns:a16="http://schemas.microsoft.com/office/drawing/2014/main" id="{0FBB072A-FFFA-4DEC-82F0-559DDC30605C}"/>
              </a:ext>
            </a:extLst>
          </p:cNvPr>
          <p:cNvSpPr>
            <a:spLocks xmlns:a="http://schemas.openxmlformats.org/drawingml/2006/main" noGrp="1"/>
          </p:cNvSpPr>
          <p:nvPr/>
        </p:nvSpPr>
        <p:spPr>
          <a:xfrm xmlns:a="http://schemas.openxmlformats.org/drawingml/2006/main">
            <a:off x="4828032" y="13173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métodos: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producción,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p>
        </p:txBody>
      </p:sp>
      <p:sp>
        <p:nvSpPr>
          <p:cNvPr id="40" name="ANUARIO_CONTENIDO_1_0_4">
            <a:extLst xmlns:a="http://schemas.openxmlformats.org/drawingml/2006/main">
              <a:ext uri="{FF2B5EF4-FFF2-40B4-BE49-F238E27FC236}">
                <a16:creationId xmlns:a16="http://schemas.microsoft.com/office/drawing/2014/main" id="{044EE613-A773-401E-8A4B-CDDEB22050E9}"/>
              </a:ext>
            </a:extLst>
          </p:cNvPr>
          <p:cNvSpPr>
            <a:spLocks xmlns:a="http://schemas.openxmlformats.org/drawingml/2006/main" noGrp="1"/>
          </p:cNvSpPr>
          <p:nvPr/>
        </p:nvSpPr>
        <p:spPr>
          <a:xfrm xmlns:a="http://schemas.openxmlformats.org/drawingml/2006/main">
            <a:off x="4828032"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corto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plazo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oportuna,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completa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p>
        </p:txBody>
      </p:sp>
      <p:sp>
        <p:nvSpPr>
          <p:cNvPr id="41" name="ANUARIO_CONTENIDO_1_0_5">
            <a:extLst xmlns:a="http://schemas.openxmlformats.org/drawingml/2006/main">
              <a:ext uri="{FF2B5EF4-FFF2-40B4-BE49-F238E27FC236}">
                <a16:creationId xmlns:a16="http://schemas.microsoft.com/office/drawing/2014/main" id="{9F02D3D0-08AE-4EB4-9DAF-0C64BAB8EDBA}"/>
              </a:ext>
            </a:extLst>
          </p:cNvPr>
          <p:cNvSpPr>
            <a:spLocks xmlns:a="http://schemas.openxmlformats.org/drawingml/2006/main" noGrp="1"/>
          </p:cNvSpPr>
          <p:nvPr/>
        </p:nvSpPr>
        <p:spPr>
          <a:xfrm xmlns:a="http://schemas.openxmlformats.org/drawingml/2006/main">
            <a:off x="4828032"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coherente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evolución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económicas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p>
        </p:txBody>
      </p:sp>
      <p:sp>
        <p:nvSpPr>
          <p:cNvPr id="42" name="ANUARIO_CONTENIDO_1_0_6">
            <a:extLst xmlns:a="http://schemas.openxmlformats.org/drawingml/2006/main">
              <a:ext uri="{FF2B5EF4-FFF2-40B4-BE49-F238E27FC236}">
                <a16:creationId xmlns:a16="http://schemas.microsoft.com/office/drawing/2014/main" id="{3D5A47F9-7DBD-43AA-BFEA-805490EA685C}"/>
              </a:ext>
            </a:extLst>
          </p:cNvPr>
          <p:cNvSpPr>
            <a:spLocks xmlns:a="http://schemas.openxmlformats.org/drawingml/2006/main" noGrp="1"/>
          </p:cNvSpPr>
          <p:nvPr/>
        </p:nvSpPr>
        <p:spPr>
          <a:xfrm xmlns:a="http://schemas.openxmlformats.org/drawingml/2006/main">
            <a:off x="4828032" y="16542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proporcionando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apoyar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decisiones.</a:t>
            </a:r>
          </a:p>
        </p:txBody>
      </p:sp>
      <p:sp>
        <p:nvSpPr>
          <p:cNvPr id="43" name="ANUARIO_CONTENIDO_1_0_7">
            <a:extLst xmlns:a="http://schemas.openxmlformats.org/drawingml/2006/main">
              <a:ext uri="{FF2B5EF4-FFF2-40B4-BE49-F238E27FC236}">
                <a16:creationId xmlns:a16="http://schemas.microsoft.com/office/drawing/2014/main" id="{CA196D61-8156-4E22-8D8B-5909318016AC}"/>
              </a:ext>
            </a:extLst>
          </p:cNvPr>
          <p:cNvSpPr>
            <a:spLocks xmlns:a="http://schemas.openxmlformats.org/drawingml/2006/main" noGrp="1"/>
          </p:cNvSpPr>
          <p:nvPr/>
        </p:nvSpPr>
        <p:spPr>
          <a:xfrm xmlns:a="http://schemas.openxmlformats.org/drawingml/2006/main">
            <a:off x="4828032" y="17834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29</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agosto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Instituto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Geografía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p>
        </p:txBody>
      </p:sp>
      <p:sp>
        <p:nvSpPr>
          <p:cNvPr id="44" name="ANUARIO_CONTENIDO_1_0_8">
            <a:extLst xmlns:a="http://schemas.openxmlformats.org/drawingml/2006/main">
              <a:ext uri="{FF2B5EF4-FFF2-40B4-BE49-F238E27FC236}">
                <a16:creationId xmlns:a16="http://schemas.microsoft.com/office/drawing/2014/main" id="{527DC507-1CC6-4745-8982-9FE9A1C4A4E2}"/>
              </a:ext>
            </a:extLst>
          </p:cNvPr>
          <p:cNvSpPr>
            <a:spLocks xmlns:a="http://schemas.openxmlformats.org/drawingml/2006/main" noGrp="1"/>
          </p:cNvSpPr>
          <p:nvPr/>
        </p:nvSpPr>
        <p:spPr>
          <a:xfrm xmlns:a="http://schemas.openxmlformats.org/drawingml/2006/main">
            <a:off x="4828032" y="18873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presentó</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Sistema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(SCNM),</a:t>
            </a:r>
            <a:r>
              <a:rPr sz="730" b="0" i="0">
                <a:solidFill>
                  <a:srgbClr val="24383A"/>
                </a:solidFill>
                <a:latin typeface="DejaVu Sans"/>
                <a:ea typeface="DejaVu Sans"/>
                <a:cs typeface="DejaVu Sans"/>
              </a:rPr>
              <a:t> </a:t>
            </a:r>
          </a:p>
        </p:txBody>
      </p:sp>
      <p:sp>
        <p:nvSpPr>
          <p:cNvPr id="45" name="ANUARIO_CONTENIDO_1_0_9">
            <a:extLst xmlns:a="http://schemas.openxmlformats.org/drawingml/2006/main">
              <a:ext uri="{FF2B5EF4-FFF2-40B4-BE49-F238E27FC236}">
                <a16:creationId xmlns:a16="http://schemas.microsoft.com/office/drawing/2014/main" id="{F50AA142-CA42-48EB-8E9E-AF79166540DE}"/>
              </a:ext>
            </a:extLst>
          </p:cNvPr>
          <p:cNvSpPr>
            <a:spLocks xmlns:a="http://schemas.openxmlformats.org/drawingml/2006/main" noGrp="1"/>
          </p:cNvSpPr>
          <p:nvPr/>
        </p:nvSpPr>
        <p:spPr>
          <a:xfrm xmlns:a="http://schemas.openxmlformats.org/drawingml/2006/main">
            <a:off x="4828032" y="19911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tendría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modificaciones.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anterior,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p>
        </p:txBody>
      </p:sp>
      <p:sp>
        <p:nvSpPr>
          <p:cNvPr id="46" name="ANUARIO_CONTENIDO_1_0_10">
            <a:extLst xmlns:a="http://schemas.openxmlformats.org/drawingml/2006/main">
              <a:ext uri="{FF2B5EF4-FFF2-40B4-BE49-F238E27FC236}">
                <a16:creationId xmlns:a16="http://schemas.microsoft.com/office/drawing/2014/main" id="{80E4609A-2C11-415E-92AE-2DE595BA9BE6}"/>
              </a:ext>
            </a:extLst>
          </p:cNvPr>
          <p:cNvSpPr>
            <a:spLocks xmlns:a="http://schemas.openxmlformats.org/drawingml/2006/main" noGrp="1"/>
          </p:cNvSpPr>
          <p:nvPr/>
        </p:nvSpPr>
        <p:spPr>
          <a:xfrm xmlns:a="http://schemas.openxmlformats.org/drawingml/2006/main">
            <a:off x="4828032" y="20949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función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Lineamientos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Ciclo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p>
        </p:txBody>
      </p:sp>
      <p:sp>
        <p:nvSpPr>
          <p:cNvPr id="47" name="ANUARIO_CONTENIDO_1_0_11">
            <a:extLst xmlns:a="http://schemas.openxmlformats.org/drawingml/2006/main">
              <a:ext uri="{FF2B5EF4-FFF2-40B4-BE49-F238E27FC236}">
                <a16:creationId xmlns:a16="http://schemas.microsoft.com/office/drawing/2014/main" id="{2BAEE7D1-C341-4C30-ADEA-3188191B5DC3}"/>
              </a:ext>
            </a:extLst>
          </p:cNvPr>
          <p:cNvSpPr>
            <a:spLocks xmlns:a="http://schemas.openxmlformats.org/drawingml/2006/main" noGrp="1"/>
          </p:cNvSpPr>
          <p:nvPr/>
        </p:nvSpPr>
        <p:spPr>
          <a:xfrm xmlns:a="http://schemas.openxmlformats.org/drawingml/2006/main">
            <a:off x="4828032" y="21988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clave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integración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conceptual</a:t>
            </a:r>
            <a:r>
              <a:rPr sz="730" b="0" i="0">
                <a:solidFill>
                  <a:srgbClr val="24383A"/>
                </a:solidFill>
                <a:latin typeface="DejaVu Sans"/>
                <a:ea typeface="DejaVu Sans"/>
                <a:cs typeface="DejaVu Sans"/>
              </a:rPr>
              <a:t> </a:t>
            </a:r>
          </a:p>
        </p:txBody>
      </p:sp>
      <p:sp>
        <p:nvSpPr>
          <p:cNvPr id="48" name="ANUARIO_CONTENIDO_1_0_12">
            <a:extLst xmlns:a="http://schemas.openxmlformats.org/drawingml/2006/main">
              <a:ext uri="{FF2B5EF4-FFF2-40B4-BE49-F238E27FC236}">
                <a16:creationId xmlns:a16="http://schemas.microsoft.com/office/drawing/2014/main" id="{E8021DC2-3E79-4D6D-A0C7-3E9243D74EF2}"/>
              </a:ext>
            </a:extLst>
          </p:cNvPr>
          <p:cNvSpPr>
            <a:spLocks xmlns:a="http://schemas.openxmlformats.org/drawingml/2006/main" noGrp="1"/>
          </p:cNvSpPr>
          <p:nvPr/>
        </p:nvSpPr>
        <p:spPr>
          <a:xfrm xmlns:a="http://schemas.openxmlformats.org/drawingml/2006/main">
            <a:off x="4828032" y="23026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adopción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adaptación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teórico-contable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p>
        </p:txBody>
      </p:sp>
      <p:sp>
        <p:nvSpPr>
          <p:cNvPr id="49" name="ANUARIO_CONTENIDO_1_0_13">
            <a:extLst xmlns:a="http://schemas.openxmlformats.org/drawingml/2006/main">
              <a:ext uri="{FF2B5EF4-FFF2-40B4-BE49-F238E27FC236}">
                <a16:creationId xmlns:a16="http://schemas.microsoft.com/office/drawing/2014/main" id="{FCBC120A-F96B-4090-A6F5-47734348E579}"/>
              </a:ext>
            </a:extLst>
          </p:cNvPr>
          <p:cNvSpPr>
            <a:spLocks xmlns:a="http://schemas.openxmlformats.org/drawingml/2006/main" noGrp="1"/>
          </p:cNvSpPr>
          <p:nvPr/>
        </p:nvSpPr>
        <p:spPr>
          <a:xfrm xmlns:a="http://schemas.openxmlformats.org/drawingml/2006/main">
            <a:off x="4828032" y="24064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versiones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Sistema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aprobado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0" name="ANUARIO_CONTENIDO_1_0_14">
            <a:extLst xmlns:a="http://schemas.openxmlformats.org/drawingml/2006/main">
              <a:ext uri="{FF2B5EF4-FFF2-40B4-BE49-F238E27FC236}">
                <a16:creationId xmlns:a16="http://schemas.microsoft.com/office/drawing/2014/main" id="{5B98C8CB-ED32-47FE-94A8-E811D321494B}"/>
              </a:ext>
            </a:extLst>
          </p:cNvPr>
          <p:cNvSpPr>
            <a:spLocks xmlns:a="http://schemas.openxmlformats.org/drawingml/2006/main" noGrp="1"/>
          </p:cNvSpPr>
          <p:nvPr/>
        </p:nvSpPr>
        <p:spPr>
          <a:xfrm xmlns:a="http://schemas.openxmlformats.org/drawingml/2006/main">
            <a:off x="4828032" y="25103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Unidas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1968,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1993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2008,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algunos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aspectos</a:t>
            </a:r>
            <a:r>
              <a:rPr sz="730" b="0" i="0">
                <a:solidFill>
                  <a:srgbClr val="24383A"/>
                </a:solidFill>
                <a:latin typeface="DejaVu Sans"/>
                <a:ea typeface="DejaVu Sans"/>
                <a:cs typeface="DejaVu Sans"/>
              </a:rPr>
              <a:t> </a:t>
            </a:r>
          </a:p>
        </p:txBody>
      </p:sp>
      <p:sp>
        <p:nvSpPr>
          <p:cNvPr id="51" name="ANUARIO_CONTENIDO_1_0_15">
            <a:extLst xmlns:a="http://schemas.openxmlformats.org/drawingml/2006/main">
              <a:ext uri="{FF2B5EF4-FFF2-40B4-BE49-F238E27FC236}">
                <a16:creationId xmlns:a16="http://schemas.microsoft.com/office/drawing/2014/main" id="{8B5F3C73-E4A7-46F6-916A-8BAA0CBA1CD2}"/>
              </a:ext>
            </a:extLst>
          </p:cNvPr>
          <p:cNvSpPr>
            <a:spLocks xmlns:a="http://schemas.openxmlformats.org/drawingml/2006/main" noGrp="1"/>
          </p:cNvSpPr>
          <p:nvPr/>
        </p:nvSpPr>
        <p:spPr>
          <a:xfrm xmlns:a="http://schemas.openxmlformats.org/drawingml/2006/main">
            <a:off x="4828032" y="26141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2025.</a:t>
            </a:r>
          </a:p>
        </p:txBody>
      </p:sp>
      <p:sp>
        <p:nvSpPr>
          <p:cNvPr id="52" name="ANUARIO_CONTENIDO_1_0_16">
            <a:extLst xmlns:a="http://schemas.openxmlformats.org/drawingml/2006/main">
              <a:ext uri="{FF2B5EF4-FFF2-40B4-BE49-F238E27FC236}">
                <a16:creationId xmlns:a16="http://schemas.microsoft.com/office/drawing/2014/main" id="{E1A2A129-A501-41A8-94CE-36B1A610F205}"/>
              </a:ext>
            </a:extLst>
          </p:cNvPr>
          <p:cNvSpPr>
            <a:spLocks xmlns:a="http://schemas.openxmlformats.org/drawingml/2006/main" noGrp="1"/>
          </p:cNvSpPr>
          <p:nvPr/>
        </p:nvSpPr>
        <p:spPr>
          <a:xfrm xmlns:a="http://schemas.openxmlformats.org/drawingml/2006/main">
            <a:off x="4828032" y="27434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cobertura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geográfica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alcanza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representatividad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3" name="ANUARIO_CONTENIDO_1_0_17">
            <a:extLst xmlns:a="http://schemas.openxmlformats.org/drawingml/2006/main">
              <a:ext uri="{FF2B5EF4-FFF2-40B4-BE49-F238E27FC236}">
                <a16:creationId xmlns:a16="http://schemas.microsoft.com/office/drawing/2014/main" id="{75189FBF-906D-4EB4-BE3C-1A30D929A110}"/>
              </a:ext>
            </a:extLst>
          </p:cNvPr>
          <p:cNvSpPr>
            <a:spLocks xmlns:a="http://schemas.openxmlformats.org/drawingml/2006/main" noGrp="1"/>
          </p:cNvSpPr>
          <p:nvPr/>
        </p:nvSpPr>
        <p:spPr>
          <a:xfrm xmlns:a="http://schemas.openxmlformats.org/drawingml/2006/main">
            <a:off x="4828032" y="28472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97.7%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valor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agregado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bruto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p>
        </p:txBody>
      </p:sp>
      <p:sp>
        <p:nvSpPr>
          <p:cNvPr id="54" name="ANUARIO_CONTENIDO_1_0_18">
            <a:extLst xmlns:a="http://schemas.openxmlformats.org/drawingml/2006/main">
              <a:ext uri="{FF2B5EF4-FFF2-40B4-BE49-F238E27FC236}">
                <a16:creationId xmlns:a16="http://schemas.microsoft.com/office/drawing/2014/main" id="{9E1E0B30-AE08-4B4F-8D69-CFD6FC8031FF}"/>
              </a:ext>
            </a:extLst>
          </p:cNvPr>
          <p:cNvSpPr>
            <a:spLocks xmlns:a="http://schemas.openxmlformats.org/drawingml/2006/main" noGrp="1"/>
          </p:cNvSpPr>
          <p:nvPr/>
        </p:nvSpPr>
        <p:spPr>
          <a:xfrm xmlns:a="http://schemas.openxmlformats.org/drawingml/2006/main">
            <a:off x="4828032" y="29510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subsectores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ramas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industrias</a:t>
            </a:r>
            <a:r>
              <a:rPr sz="730" b="0" i="0">
                <a:solidFill>
                  <a:srgbClr val="24383A"/>
                </a:solidFill>
                <a:latin typeface="DejaVu Sans"/>
                <a:ea typeface="DejaVu Sans"/>
                <a:cs typeface="DejaVu Sans"/>
              </a:rPr>
              <a:t> </a:t>
            </a:r>
          </a:p>
        </p:txBody>
      </p:sp>
      <p:sp>
        <p:nvSpPr>
          <p:cNvPr id="55" name="ANUARIO_CONTENIDO_1_0_19">
            <a:extLst xmlns:a="http://schemas.openxmlformats.org/drawingml/2006/main">
              <a:ext uri="{FF2B5EF4-FFF2-40B4-BE49-F238E27FC236}">
                <a16:creationId xmlns:a16="http://schemas.microsoft.com/office/drawing/2014/main" id="{3C08AA2D-4CF4-4F85-A85D-A6364D5F855C}"/>
              </a:ext>
            </a:extLst>
          </p:cNvPr>
          <p:cNvSpPr>
            <a:spLocks xmlns:a="http://schemas.openxmlformats.org/drawingml/2006/main" noGrp="1"/>
          </p:cNvSpPr>
          <p:nvPr/>
        </p:nvSpPr>
        <p:spPr>
          <a:xfrm xmlns:a="http://schemas.openxmlformats.org/drawingml/2006/main">
            <a:off x="4828032" y="30549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manufactureras.</a:t>
            </a:r>
            <a:r>
              <a:rPr sz="730" b="0" i="0">
                <a:solidFill>
                  <a:srgbClr val="24383A"/>
                </a:solidFill>
                <a:latin typeface="DejaVu Sans"/>
                <a:ea typeface="DejaVu Sans"/>
                <a:cs typeface="DejaVu Sans"/>
              </a:rPr>
              <a:t> </a:t>
            </a:r>
          </a:p>
        </p:txBody>
      </p:sp>
      <p:sp>
        <p:nvSpPr>
          <p:cNvPr id="56" name="ANUARIO_NOTAS_0">
            <a:extLst xmlns:a="http://schemas.openxmlformats.org/drawingml/2006/main">
              <a:ext uri="{FF2B5EF4-FFF2-40B4-BE49-F238E27FC236}">
                <a16:creationId xmlns:a16="http://schemas.microsoft.com/office/drawing/2014/main" id="{F050ADB1-1BFC-4646-BE24-A7F07771D4AB}"/>
              </a:ext>
            </a:extLst>
          </p:cNvPr>
          <p:cNvSpPr>
            <a:spLocks xmlns:a="http://schemas.openxmlformats.org/drawingml/2006/main" noGrp="1"/>
          </p:cNvSpPr>
          <p:nvPr/>
        </p:nvSpPr>
        <p:spPr>
          <a:xfrm xmlns:a="http://schemas.openxmlformats.org/drawingml/2006/main">
            <a:off x="301752" y="4544568"/>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14</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https://www.inegi.org.mx/programas/enoe/15ymas/</a:t>
            </a:r>
            <a:r>
              <a:rPr sz="520" b="0" i="0">
                <a:solidFill>
                  <a:srgbClr val="24383A"/>
                </a:solidFill>
                <a:latin typeface="DejaVu Sans"/>
                <a:ea typeface="DejaVu Sans"/>
                <a:cs typeface="DejaVu Sans"/>
              </a:rPr>
              <a: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15</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p>
        </p:txBody>
      </p:sp>
      <p:sp>
        <p:nvSpPr>
          <p:cNvPr id="57" name="ANUARIO_NOTAS_1">
            <a:extLst xmlns:a="http://schemas.openxmlformats.org/drawingml/2006/main">
              <a:ext uri="{FF2B5EF4-FFF2-40B4-BE49-F238E27FC236}">
                <a16:creationId xmlns:a16="http://schemas.microsoft.com/office/drawing/2014/main" id="{4257E342-4227-4A73-8A8C-E964CD609C43}"/>
              </a:ext>
            </a:extLst>
          </p:cNvPr>
          <p:cNvSpPr>
            <a:spLocks xmlns:a="http://schemas.openxmlformats.org/drawingml/2006/main" noGrp="1"/>
          </p:cNvSpPr>
          <p:nvPr/>
        </p:nvSpPr>
        <p:spPr>
          <a:xfrm xmlns:a="http://schemas.openxmlformats.org/drawingml/2006/main">
            <a:off x="301752" y="4618533"/>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https://www.inegi.org.mx/contenidos/programas/pib/2018/doc/guia_cab2018.pdf</a:t>
            </a:r>
            <a:r>
              <a:rPr sz="520" b="0" i="0">
                <a:solidFill>
                  <a:srgbClr val="24383A"/>
                </a:solidFill>
                <a:latin typeface="DejaVu Sans"/>
                <a:ea typeface="DejaVu Sans"/>
                <a:cs typeface="DejaVu Sans"/>
              </a:rPr>
              <a:t>.</a:t>
            </a:r>
            <a:r>
              <a:rPr sz="520" b="0" i="0">
                <a:solidFill>
                  <a:srgbClr val="24383A"/>
                </a:solidFill>
                <a:latin typeface="DejaVu Sans"/>
                <a:ea typeface="DejaVu Sans"/>
                <a:cs typeface="DejaVu Sans"/>
              </a:rPr>
              <a:t> </a:t>
            </a:r>
          </a:p>
        </p:txBody>
      </p:sp>
      <p:pic>
        <p:nvPicPr>
          <p:cNvPr id="59"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60"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61"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62"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3"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III. METODOLOGÍAS</a:t>
            </a:r>
          </a:p>
        </p:txBody>
      </p:sp>
      <p:sp>
        <p:nvSpPr>
          <p:cNvPr id="64"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65"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840071913"/>
      </p:ext>
    </p:extLst>
  </p:cSld>
</p:sld>
</file>

<file path=ppt/slides/slide129.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8D367F9A-30C1-46DD-BB53-D1EF987AA176}"/>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8D9D43BA-91BF-4482-8A43-D9A2FA349DDA}"/>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129</a:t>
            </a:r>
          </a:p>
        </p:txBody>
      </p:sp>
      <p:sp>
        <p:nvSpPr>
          <p:cNvPr id="9" name="ANUARIO_EDICION">
            <a:extLst xmlns:a="http://schemas.openxmlformats.org/drawingml/2006/main">
              <a:ext uri="{FF2B5EF4-FFF2-40B4-BE49-F238E27FC236}">
                <a16:creationId xmlns:a16="http://schemas.microsoft.com/office/drawing/2014/main" id="{9435A382-43CE-42A5-94C4-FADA97A0D5CD}"/>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METODOS_INTRO">
            <a:extLst xmlns:a="http://schemas.openxmlformats.org/drawingml/2006/main">
              <a:ext uri="{FF2B5EF4-FFF2-40B4-BE49-F238E27FC236}">
                <a16:creationId xmlns:a16="http://schemas.microsoft.com/office/drawing/2014/main" id="{66799505-B803-47E7-AE35-4E85A774DF25}"/>
              </a:ext>
            </a:extLst>
          </p:cNvPr>
          <p:cNvSpPr>
            <a:spLocks xmlns:a="http://schemas.openxmlformats.org/drawingml/2006/main" noGrp="1"/>
          </p:cNvSpPr>
          <p:nvPr/>
        </p:nvSpPr>
        <p:spPr>
          <a:xfrm xmlns:a="http://schemas.openxmlformats.org/drawingml/2006/main">
            <a:off x="301752" y="594360"/>
            <a:ext cx="8540496"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a:solidFill>
                  <a:srgbClr val="24383A"/>
                </a:solidFill>
                <a:latin typeface="DejaVu Sans"/>
                <a:ea typeface="DejaVu Sans"/>
                <a:cs typeface="DejaVu Sans"/>
              </a:rPr>
              <a:t>Para obtener los indicadores mostrados en el documento se utilizaron los siguientes métodos de cálculo:</a:t>
            </a:r>
          </a:p>
        </p:txBody>
      </p:sp>
      <p:sp>
        <p:nvSpPr>
          <p:cNvPr id="11" name="ANUARIO_ANEXO_P130_DESIGN_2026">
            <a:extLst xmlns:a="http://schemas.openxmlformats.org/drawingml/2006/main">
              <a:ext uri="{FF2B5EF4-FFF2-40B4-BE49-F238E27FC236}">
                <a16:creationId xmlns:a16="http://schemas.microsoft.com/office/drawing/2014/main" id="{0785A41D-B74C-4A74-94BD-193EAF8C8A29}"/>
              </a:ext>
            </a:extLst>
          </p:cNvPr>
          <p:cNvSpPr>
            <a:spLocks xmlns:a="http://schemas.openxmlformats.org/drawingml/2006/main" noGrp="1"/>
          </p:cNvSpPr>
          <p:nvPr/>
        </p:nvSpPr>
        <p:spPr>
          <a:xfrm xmlns:a="http://schemas.openxmlformats.org/drawingml/2006/main">
            <a:off x="301752" y="932688"/>
            <a:ext cx="4178808" cy="3529584"/>
          </a:xfrm>
          <a:prstGeom xmlns:a="http://schemas.openxmlformats.org/drawingml/2006/main" prst="roundRect">
            <a:avLst>
              <a:gd name="adj" fmla="val 1554"/>
            </a:avLst>
          </a:prstGeom>
          <a:solidFill xmlns:a="http://schemas.openxmlformats.org/drawingml/2006/main">
            <a:srgbClr val="F6FAF9"/>
          </a:solidFill>
          <a:ln xmlns:a="http://schemas.openxmlformats.org/drawingml/2006/main" w="9525">
            <a:solidFill>
              <a:srgbClr val="C9DAD6"/>
            </a:solidFill>
          </a:ln>
        </p:spPr>
      </p:sp>
      <p:sp>
        <p:nvSpPr>
          <p:cNvPr id="12" name="ANUARIO_ACENTO">
            <a:extLst xmlns:a="http://schemas.openxmlformats.org/drawingml/2006/main">
              <a:ext uri="{FF2B5EF4-FFF2-40B4-BE49-F238E27FC236}">
                <a16:creationId xmlns:a16="http://schemas.microsoft.com/office/drawing/2014/main" id="{CB458468-29D3-4E6C-8EF4-67FC3CF48101}"/>
              </a:ext>
            </a:extLst>
          </p:cNvPr>
          <p:cNvSpPr>
            <a:spLocks xmlns:a="http://schemas.openxmlformats.org/drawingml/2006/main" noGrp="1"/>
          </p:cNvSpPr>
          <p:nvPr/>
        </p:nvSpPr>
        <p:spPr>
          <a:xfrm xmlns:a="http://schemas.openxmlformats.org/drawingml/2006/main">
            <a:off x="301752" y="1005840"/>
            <a:ext cx="64008" cy="338328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3" name="ANUARIO_SECCION">
            <a:extLst xmlns:a="http://schemas.openxmlformats.org/drawingml/2006/main">
              <a:ext uri="{FF2B5EF4-FFF2-40B4-BE49-F238E27FC236}">
                <a16:creationId xmlns:a16="http://schemas.microsoft.com/office/drawing/2014/main" id="{F57B89C4-EC53-4B25-969F-FAE093CE173D}"/>
              </a:ext>
            </a:extLst>
          </p:cNvPr>
          <p:cNvSpPr>
            <a:spLocks xmlns:a="http://schemas.openxmlformats.org/drawingml/2006/main" noGrp="1"/>
          </p:cNvSpPr>
          <p:nvPr/>
        </p:nvSpPr>
        <p:spPr>
          <a:xfrm xmlns:a="http://schemas.openxmlformats.org/drawingml/2006/main">
            <a:off x="466344" y="102412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Concentración y penetración</a:t>
            </a:r>
          </a:p>
        </p:txBody>
      </p:sp>
      <p:graphicFrame>
        <p:nvGraphicFramePr>
          <p:cNvPr id="33" name=""/>
          <p:cNvGraphicFramePr/>
          <p:nvPr/>
        </p:nvGraphicFramePr>
        <p:xfrm>
          <a:off xmlns:a="http://schemas.openxmlformats.org/drawingml/2006/main" x="466344" y="1362456"/>
          <a:ext xmlns:a="http://schemas.openxmlformats.org/drawingml/2006/main" cx="3794760" cy="2880360"/>
        </p:xfrm>
        <a:graphic xmlns:a="http://schemas.openxmlformats.org/drawingml/2006/main">
          <a:graphicData uri="http://schemas.openxmlformats.org/drawingml/2006/table">
            <a:tbl>
              <a:tblPr firstRow="0" bandRow="0"/>
              <a:tblGrid>
                <a:gridCol w="1435608"/>
                <a:gridCol w="2359152"/>
              </a:tblGrid>
              <a:tr h="480060">
                <a:tc>
                  <a:txBody>
                    <a:bodyPr lIns="38100" tIns="19050" rIns="38100" bIns="19050" wrap="square">
                      <a:noAutofit/>
                    </a:bodyPr>
                    <a:lstStyle/>
                    <a:p>
                      <a:pPr algn="l"/>
                      <a:r>
                        <a:rPr sz="630" b="1">
                          <a:solidFill>
                            <a:srgbClr val="FFFFFF"/>
                          </a:solidFill>
                          <a:latin typeface="DejaVu Sans"/>
                          <a:ea typeface="DejaVu Sans"/>
                          <a:cs typeface="DejaVu Sans"/>
                        </a:rPr>
                        <a:t>Indicador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630" b="1">
                          <a:solidFill>
                            <a:srgbClr val="FFFFFF"/>
                          </a:solidFill>
                          <a:latin typeface="DejaVu Sans"/>
                          <a:ea typeface="DejaVu Sans"/>
                          <a:cs typeface="DejaVu Sans"/>
                        </a:rPr>
                        <a:t>Método de cálculo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Índice de Herfindahl-Hirschman (IHH)</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(participación de mercado de cada grupo económico × 100)²</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o accesos residenciales por cada 100 hogares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Accesos o líneas residenciales ÷ hogares de ENDUTIH del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o accesos no residenciales por cada 100 UE</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Accesos o líneas no residenciales ÷ unidades económicas de DENUE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móviles de telefonía por cada 100 habitantes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Líneas del servicio móvil de telefonía ÷ población compatible con 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de Internet móvil por cada 100 habitantes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Líneas del servicio móvil de Internet ÷ población compatible con 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bl>
          </a:graphicData>
        </a:graphic>
      </p:graphicFrame>
      <p:sp>
        <p:nvSpPr>
          <p:cNvPr id="15" name="ANUARIO_ANEXO_P130_DESIGN_2026">
            <a:extLst xmlns:a="http://schemas.openxmlformats.org/drawingml/2006/main">
              <a:ext uri="{FF2B5EF4-FFF2-40B4-BE49-F238E27FC236}">
                <a16:creationId xmlns:a16="http://schemas.microsoft.com/office/drawing/2014/main" id="{B2F0BCB9-AFD5-442A-A71B-B2436FD338AD}"/>
              </a:ext>
            </a:extLst>
          </p:cNvPr>
          <p:cNvSpPr>
            <a:spLocks xmlns:a="http://schemas.openxmlformats.org/drawingml/2006/main" noGrp="1"/>
          </p:cNvSpPr>
          <p:nvPr/>
        </p:nvSpPr>
        <p:spPr>
          <a:xfrm xmlns:a="http://schemas.openxmlformats.org/drawingml/2006/main">
            <a:off x="4663440" y="932688"/>
            <a:ext cx="4178808" cy="3529584"/>
          </a:xfrm>
          <a:prstGeom xmlns:a="http://schemas.openxmlformats.org/drawingml/2006/main" prst="roundRect">
            <a:avLst>
              <a:gd name="adj" fmla="val 1554"/>
            </a:avLst>
          </a:prstGeom>
          <a:solidFill xmlns:a="http://schemas.openxmlformats.org/drawingml/2006/main">
            <a:srgbClr val="F6FAF9"/>
          </a:solidFill>
          <a:ln xmlns:a="http://schemas.openxmlformats.org/drawingml/2006/main" w="9525">
            <a:solidFill>
              <a:srgbClr val="C9DAD6"/>
            </a:solidFill>
          </a:ln>
        </p:spPr>
      </p:sp>
      <p:sp>
        <p:nvSpPr>
          <p:cNvPr id="16" name="ANUARIO_ACENTO">
            <a:extLst xmlns:a="http://schemas.openxmlformats.org/drawingml/2006/main">
              <a:ext uri="{FF2B5EF4-FFF2-40B4-BE49-F238E27FC236}">
                <a16:creationId xmlns:a16="http://schemas.microsoft.com/office/drawing/2014/main" id="{AE73D338-AF54-4E3A-8BCA-9FBF0DCD65E0}"/>
              </a:ext>
            </a:extLst>
          </p:cNvPr>
          <p:cNvSpPr>
            <a:spLocks xmlns:a="http://schemas.openxmlformats.org/drawingml/2006/main" noGrp="1"/>
          </p:cNvSpPr>
          <p:nvPr/>
        </p:nvSpPr>
        <p:spPr>
          <a:xfrm xmlns:a="http://schemas.openxmlformats.org/drawingml/2006/main">
            <a:off x="4663440" y="1005840"/>
            <a:ext cx="64008" cy="338328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7" name="ANUARIO_SECCION">
            <a:extLst xmlns:a="http://schemas.openxmlformats.org/drawingml/2006/main">
              <a:ext uri="{FF2B5EF4-FFF2-40B4-BE49-F238E27FC236}">
                <a16:creationId xmlns:a16="http://schemas.microsoft.com/office/drawing/2014/main" id="{18260187-E5FE-45F2-8C87-D458AFEE2C70}"/>
              </a:ext>
            </a:extLst>
          </p:cNvPr>
          <p:cNvSpPr>
            <a:spLocks xmlns:a="http://schemas.openxmlformats.org/drawingml/2006/main" noGrp="1"/>
          </p:cNvSpPr>
          <p:nvPr/>
        </p:nvSpPr>
        <p:spPr>
          <a:xfrm xmlns:a="http://schemas.openxmlformats.org/drawingml/2006/main">
            <a:off x="4828032" y="102412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Uso de servicios y utilidad</a:t>
            </a:r>
          </a:p>
        </p:txBody>
      </p:sp>
      <p:graphicFrame>
        <p:nvGraphicFramePr>
          <p:cNvPr id="37" name=""/>
          <p:cNvGraphicFramePr/>
          <p:nvPr/>
        </p:nvGraphicFramePr>
        <p:xfrm>
          <a:off xmlns:a="http://schemas.openxmlformats.org/drawingml/2006/main" x="4828032" y="1362456"/>
          <a:ext xmlns:a="http://schemas.openxmlformats.org/drawingml/2006/main" cx="3794760" cy="2880360"/>
        </p:xfrm>
        <a:graphic xmlns:a="http://schemas.openxmlformats.org/drawingml/2006/main">
          <a:graphicData uri="http://schemas.openxmlformats.org/drawingml/2006/table">
            <a:tbl>
              <a:tblPr firstRow="0" bandRow="0"/>
              <a:tblGrid>
                <a:gridCol w="1435608"/>
                <a:gridCol w="2359152"/>
              </a:tblGrid>
              <a:tr h="576072">
                <a:tc>
                  <a:txBody>
                    <a:bodyPr lIns="38100" tIns="19050" rIns="38100" bIns="19050" wrap="square">
                      <a:noAutofit/>
                    </a:bodyPr>
                    <a:lstStyle/>
                    <a:p>
                      <a:pPr algn="l"/>
                      <a:r>
                        <a:rPr sz="630" b="1">
                          <a:solidFill>
                            <a:srgbClr val="FFFFFF"/>
                          </a:solidFill>
                          <a:latin typeface="DejaVu Sans"/>
                          <a:ea typeface="DejaVu Sans"/>
                          <a:cs typeface="DejaVu Sans"/>
                        </a:rPr>
                        <a:t>Indicador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630" b="1">
                          <a:solidFill>
                            <a:srgbClr val="FFFFFF"/>
                          </a:solidFill>
                          <a:latin typeface="DejaVu Sans"/>
                          <a:ea typeface="DejaVu Sans"/>
                          <a:cs typeface="DejaVu Sans"/>
                        </a:rPr>
                        <a:t>Método de cálculo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Minutos de uso promedio mensual (MOU)</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(minutos mensuales ÷ líneas del servicio de telefonía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Tráfico mensual promedio de Internet móvil</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(GB mensuales ÷ líneas de Internet móvil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Mensajes de texto promedio (SMS)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(SMS enviados por mes ÷ líneas móviles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Margen de utilidad</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Ingresos brutos − egresos operativos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bl>
          </a:graphicData>
        </a:graphic>
      </p:graphicFrame>
      <p:sp>
        <p:nvSpPr>
          <p:cNvPr id="19" name="ANUARIO_METODOS_NOTA">
            <a:extLst xmlns:a="http://schemas.openxmlformats.org/drawingml/2006/main">
              <a:ext uri="{FF2B5EF4-FFF2-40B4-BE49-F238E27FC236}">
                <a16:creationId xmlns:a16="http://schemas.microsoft.com/office/drawing/2014/main" id="{9068D59E-96F3-42AF-9A8C-F484245A97B5}"/>
              </a:ext>
            </a:extLst>
          </p:cNvPr>
          <p:cNvSpPr>
            <a:spLocks xmlns:a="http://schemas.openxmlformats.org/drawingml/2006/main" noGrp="1"/>
          </p:cNvSpPr>
          <p:nvPr/>
        </p:nvSpPr>
        <p:spPr>
          <a:xfrm xmlns:a="http://schemas.openxmlformats.org/drawingml/2006/main">
            <a:off x="301752" y="4553712"/>
            <a:ext cx="8540496"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 b="0">
                <a:solidFill>
                  <a:srgbClr val="24383A"/>
                </a:solidFill>
                <a:latin typeface="DejaVu Sans"/>
                <a:ea typeface="DejaVu Sans"/>
                <a:cs typeface="DejaVu Sans"/>
              </a:defRPr>
            </a:pPr>
            <a:r>
              <a:rPr sz="570" b="0">
                <a:solidFill>
                  <a:srgbClr val="24383A"/>
                </a:solidFill>
                <a:latin typeface="DejaVu Sans"/>
                <a:ea typeface="DejaVu Sans"/>
                <a:cs typeface="DejaVu Sans"/>
              </a:rPr>
              <a:t>Nota: hogares y población corresponden a la ENDUTIH del corte de cada figura; las UE provienen del DENUE. Las figuras identifican fuente y periodo.</a:t>
            </a:r>
          </a:p>
        </p:txBody>
      </p:sp>
      <p:pic>
        <p:nvPicPr>
          <p:cNvPr id="38"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39"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40"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41"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42"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IV. MÉTODOS DE CÁLCULO</a:t>
            </a:r>
          </a:p>
        </p:txBody>
      </p:sp>
      <p:sp>
        <p:nvSpPr>
          <p:cNvPr id="43"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4"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380278910"/>
      </p:ext>
    </p:extLst>
  </p:cSld>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374136"/>
            <a:ext cx="7315200" cy="713232"/>
          </a:xfrm>
          <a:prstGeom prst="rect">
            <a:avLst/>
          </a:prstGeom>
          <a:noFill/>
        </p:spPr>
        <p:txBody>
          <a:bodyPr wrap="square" lIns="0" rIns="0" tIns="0" bIns="0">
            <a:spAutoFit/>
          </a:bodyPr>
          <a:lstStyle/>
          <a:p>
            <a:pPr algn="ctr">
              <a:spcBef>
                <a:spcPts val="0"/>
              </a:spcBef>
              <a:spcAft>
                <a:spcPts val="0"/>
              </a:spcAft>
            </a:pPr>
            <a:r>
              <a:rPr sz="720" b="1">
                <a:solidFill>
                  <a:srgbClr val="EFF7F3"/>
                </a:solidFill>
                <a:latin typeface="Noto Sans"/>
              </a:rPr>
              <a:t>Comisión Reguladora de Telecomunicaciones · www.gob.mx/crt</a:t>
            </a:r>
          </a:p>
          <a:p>
            <a:pPr algn="ctr">
              <a:spcBef>
                <a:spcPts val="0"/>
              </a:spcBef>
              <a:spcAft>
                <a:spcPts val="0"/>
              </a:spcAft>
            </a:pPr>
            <a:r>
              <a:rPr sz="665" b="0">
                <a:solidFill>
                  <a:srgbClr val="EFF7F3"/>
                </a:solidFill>
                <a:latin typeface="Noto Sans"/>
              </a:rPr>
              <a:t>Av. Insurgentes Sur 1143, Col. Nochebuena, Benito Juárez, C.P. 03720, Ciudad de México · Tel. 55 5015 4000</a:t>
            </a:r>
          </a:p>
          <a:p>
            <a:pPr algn="ctr">
              <a:spcBef>
                <a:spcPts val="0"/>
              </a:spcBef>
              <a:spcAft>
                <a:spcPts val="0"/>
              </a:spcAft>
            </a:pPr>
            <a:r>
              <a:rPr sz="665" b="0">
                <a:solidFill>
                  <a:srgbClr val="EFF7F3"/>
                </a:solidFill>
                <a:latin typeface="Noto Sans"/>
              </a:rPr>
              <a:t>Banco de Información de Telecomunicaciones: https://bit.crt.gob.mx/BitWebApp/</a:t>
            </a:r>
          </a:p>
        </p:txBody>
      </p:sp>
    </p:spTree>
  </p:cSld>
  <p:clrMapOvr>
    <a:masterClrMapping/>
  </p:clrMapOvr>
</p:sld>
</file>

<file path=ppt/theme/s9_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s121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s125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