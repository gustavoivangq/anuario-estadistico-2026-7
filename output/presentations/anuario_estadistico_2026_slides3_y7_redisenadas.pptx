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Lst>
  <p:notesMasterIdLst>
    <p:notesMasterId r:id="rId13"/>
  </p:notesMasterIdLst>
  <p:sldIdLst>
    <p:sldId id="259" r:id="rId5"/>
    <p:sldId id="260" r:id="rId6"/>
    <p:sldId id="386" r:id="rId12"/>
    <p:sldId id="387" r:id="rId11"/>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7.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1" Type="http://schemas.openxmlformats.org/officeDocument/2006/relationships/slide" Target="slides/slide61.xml"/><Relationship Id="rId92" Type="http://schemas.openxmlformats.org/officeDocument/2006/relationships/slide" Target="slides/slide62.xml"/><Relationship Id="rId93" Type="http://schemas.openxmlformats.org/officeDocument/2006/relationships/slide" Target="slides/slide63.xml"/><Relationship Id="rId94" Type="http://schemas.openxmlformats.org/officeDocument/2006/relationships/slide" Target="slides/slide64.xml"/><Relationship Id="rId95" Type="http://schemas.openxmlformats.org/officeDocument/2006/relationships/slide" Target="slides/slide65.xml"/><Relationship Id="rId96" Type="http://schemas.openxmlformats.org/officeDocument/2006/relationships/slide" Target="slides/slide66.xml"/><Relationship Id="rId97" Type="http://schemas.openxmlformats.org/officeDocument/2006/relationships/slide" Target="slides/slide67.xml"/><Relationship Id="rId98" Type="http://schemas.openxmlformats.org/officeDocument/2006/relationships/slide" Target="slides/slide68.xml"/><Relationship Id="rId99" Type="http://schemas.openxmlformats.org/officeDocument/2006/relationships/slide" Target="slides/slide69.xml"/><Relationship Id="rId100" Type="http://schemas.openxmlformats.org/officeDocument/2006/relationships/slide" Target="slides/slide70.xml"/><Relationship Id="rId101"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3" Type="http://schemas.openxmlformats.org/officeDocument/2006/relationships/slide" Target="slides/slide101.xml"/><Relationship Id="rId135" Type="http://schemas.openxmlformats.org/officeDocument/2006/relationships/slide" Target="slides/slide102.xml"/><Relationship Id="rId136" Type="http://schemas.openxmlformats.org/officeDocument/2006/relationships/slide" Target="slides/slide103.xml"/><Relationship Id="rId137" Type="http://schemas.openxmlformats.org/officeDocument/2006/relationships/slide" Target="slides/slide104.xml"/><Relationship Id="rId138" Type="http://schemas.openxmlformats.org/officeDocument/2006/relationships/slide" Target="slides/slide105.xml"/><Relationship Id="rId139" Type="http://schemas.openxmlformats.org/officeDocument/2006/relationships/slide" Target="slides/slide106.xml"/><Relationship Id="rId140" Type="http://schemas.openxmlformats.org/officeDocument/2006/relationships/slide" Target="slides/slide107.xml"/><Relationship Id="rId141" Type="http://schemas.openxmlformats.org/officeDocument/2006/relationships/slide" Target="slides/slide108.xml"/><Relationship Id="rId142" Type="http://schemas.openxmlformats.org/officeDocument/2006/relationships/slide" Target="slides/slide109.xml"/><Relationship Id="rId143" Type="http://schemas.openxmlformats.org/officeDocument/2006/relationships/slide" Target="slides/slide110.xml"/><Relationship Id="rId144" Type="http://schemas.openxmlformats.org/officeDocument/2006/relationships/slide" Target="slides/slide111.xml"/><Relationship Id="rId145" Type="http://schemas.openxmlformats.org/officeDocument/2006/relationships/slide" Target="slides/slide112.xml"/><Relationship Id="rId146" Type="http://schemas.openxmlformats.org/officeDocument/2006/relationships/slide" Target="slides/slide113.xml"/><Relationship Id="rId147" Type="http://schemas.openxmlformats.org/officeDocument/2006/relationships/slide" Target="slides/slide114.xml"/><Relationship Id="rId148" Type="http://schemas.openxmlformats.org/officeDocument/2006/relationships/slide" Target="slides/slide115.xml"/><Relationship Id="rId151" Type="http://schemas.openxmlformats.org/officeDocument/2006/relationships/slide" Target="slides/slide10.xml"/><Relationship Id="rId152" Type="http://schemas.openxmlformats.org/officeDocument/2006/relationships/slide" Target="slides/slide81.xml"/><Relationship Id="rId153" Type="http://schemas.openxmlformats.org/officeDocument/2006/relationships/slide" Target="slides/slide116.xml"/><Relationship Id="rId154" Type="http://schemas.openxmlformats.org/officeDocument/2006/relationships/slide" Target="slides/slide117.xml"/><Relationship Id="rId155" Type="http://schemas.openxmlformats.org/officeDocument/2006/relationships/slide" Target="slides/slide118.xml"/><Relationship Id="rId156" Type="http://schemas.openxmlformats.org/officeDocument/2006/relationships/slide" Target="slides/slide119.xml"/><Relationship Id="rId157" Type="http://schemas.openxmlformats.org/officeDocument/2006/relationships/slide" Target="slides/slide120.xml"/><Relationship Id="rId158" Type="http://schemas.openxmlformats.org/officeDocument/2006/relationships/slide" Target="slides/slide121.xml"/><Relationship Id="rId159" Type="http://schemas.openxmlformats.org/officeDocument/2006/relationships/slide" Target="slides/slide122.xml"/><Relationship Id="rId160" Type="http://schemas.openxmlformats.org/officeDocument/2006/relationships/slide" Target="slides/slide123.xml"/><Relationship Id="rId161" Type="http://schemas.openxmlformats.org/officeDocument/2006/relationships/slide" Target="slides/slide124.xml"/><Relationship Id="rId162" Type="http://schemas.openxmlformats.org/officeDocument/2006/relationships/slide" Target="slides/slide125.xml"/><Relationship Id="rId163" Type="http://schemas.openxmlformats.org/officeDocument/2006/relationships/slide" Target="slides/slide126.xml"/><Relationship Id="rId164" Type="http://schemas.openxmlformats.org/officeDocument/2006/relationships/slide" Target="slides/slide127.xml"/><Relationship Id="rId165" Type="http://schemas.openxmlformats.org/officeDocument/2006/relationships/slide" Target="slides/slide128.xml"/><Relationship Id="rId166" Type="http://schemas.openxmlformats.org/officeDocument/2006/relationships/slide" Target="slides/slide129.xml"/><Relationship Id="rId167" Type="http://schemas.openxmlformats.org/officeDocument/2006/relationships/slide" Target="slides/slide130.xml"/><Relationship Id="rId168" Type="http://schemas.openxmlformats.org/officeDocument/2006/relationships/slide" Target="slides/slide1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s>
</file>

<file path=ppt/slides/_rels/slide3.xml.rels><?xml version='1.0' encoding='UTF-8' standalone='yes'?>
<Relationships xmlns="http://schemas.openxmlformats.org/package/2006/relationships"><Relationship Type="http://schemas.openxmlformats.org/officeDocument/2006/relationships/slideLayout" Target="../slideLayouts/slideLayout5.xml" Id="R75873b9008704f5e"/><Relationship Type="http://schemas.openxmlformats.org/officeDocument/2006/relationships/image" Target="../media/slide3_diseno_image.png" Id="R7dd46c82ccd34f7d"/><Relationship Type="http://schemas.openxmlformats.org/officeDocument/2006/relationships/image" Target="../media/slide3_diseno_image2.png" Id="Rbccc84560eec49cf"/><Relationship Type="http://schemas.openxmlformats.org/officeDocument/2006/relationships/image" Target="../media/slide3_diseno_image3.png" Id="R6d4963d98410402b"/><Relationship Type="http://schemas.openxmlformats.org/officeDocument/2006/relationships/image" Target="../media/slide3_diseno_image4.png" Id="Rcb20aff7f10a4f9b"/><Relationship Type="http://schemas.openxmlformats.org/officeDocument/2006/relationships/hyperlink" Target="https://bit.crt.gob.mx/BitWebApp/" TargetMode="External" Id="R5b60e0be82104cba"/></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7.xml.rels><?xml version='1.0' encoding='UTF-8' standalone='yes'?>
<Relationships xmlns="http://schemas.openxmlformats.org/package/2006/relationships"><Relationship Type="http://schemas.openxmlformats.org/officeDocument/2006/relationships/slideLayout" Target="../slideLayouts/slideLayout5.xml" Id="Ra94795058d6343e6"/><Relationship Type="http://schemas.openxmlformats.org/officeDocument/2006/relationships/image" Target="../media/slide7_diseno_image.png" Id="Ra2f113fc51c24590"/><Relationship Type="http://schemas.openxmlformats.org/officeDocument/2006/relationships/image" Target="../media/slide7_diseno_image2.png" Id="R5124f4555e354735"/><Relationship Type="http://schemas.openxmlformats.org/officeDocument/2006/relationships/image" Target="../media/slide7_diseno_image3.png" Id="R055272988eb84dce"/><Relationship Type="http://schemas.openxmlformats.org/officeDocument/2006/relationships/image" Target="../media/slide7_diseno_image4.png" Id="R9648ba0efd3e4fb5"/><Relationship Type="http://schemas.openxmlformats.org/officeDocument/2006/relationships/hyperlink" Target="https://bit.crt.gob.mx/BitWebApp/" TargetMode="External" Id="R44fd49cd4a32425c"/></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 Id="rId3" Type="http://schemas.openxmlformats.org/officeDocument/2006/relationships/image" Target="../media/anuario_figure_c_3.svg"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app/mapa/denue/default"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 TargetMode="External"/><Relationship Id="rId3" Type="http://schemas.openxmlformats.org/officeDocument/2006/relationships/hyperlink" Target="https://www.inegi.org.mx/programas/enoe/15ymas/" TargetMode="External"/><Relationship Id="rId4" Type="http://schemas.openxmlformats.org/officeDocument/2006/relationships/hyperlink" Target="https://www.dof.gob"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inpc/2018/"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oe/15ymas/" TargetMode="External"/><Relationship Id="rId3" Type="http://schemas.openxmlformats.org/officeDocument/2006/relationships/hyperlink" Target="https://www.inegi.org.mx/contenidos/programas/pib/2018/doc/guia_cab2018.pdf"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5</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7</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9</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11</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13</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14</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15</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16</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17</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19</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21</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21</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24</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31</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39</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46</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46</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47</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48</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49</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55</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61</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61</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62</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63</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64</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65</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68</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69</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71</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72</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72</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73</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74</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75</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80</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81</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86</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87</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98</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99</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100</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101</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102</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102</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103</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104</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105</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106</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107</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108</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109</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110</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111</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112</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113</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114</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115</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116</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117</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121</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126</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127</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128</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129</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129</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130 </a:t>
            </a:r>
          </a:p>
        </p:txBody>
      </p:sp>
      <p:sp>
        <p:nvSpPr>
          <p:cNvPr id="33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3"/>
              </a:rPr>
              <a:t>BIT CRT: https://bit.crt.gob.mx/BitWebApp/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7dd46c82ccd34f7d"/>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LEGALES_QR_FONDO">
            <a:extLst xmlns:a="http://schemas.openxmlformats.org/drawingml/2006/main">
              <a:ext uri="{FF2B5EF4-FFF2-40B4-BE49-F238E27FC236}">
                <a16:creationId xmlns:a16="http://schemas.microsoft.com/office/drawing/2014/main" id="{C4B88A73-ECC8-4C47-BA34-4A7B036DD40F}"/>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6d4963d98410402b"/>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cb20aff7f10a4f9b"/>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9200" y="609600"/>
            <a:ext cx="3098800" cy="2717800"/>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9200" y="685800"/>
            <a:ext cx="38100" cy="256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9200" y="3429000"/>
            <a:ext cx="3098800" cy="1447800"/>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9200" y="3505200"/>
            <a:ext cx="38100" cy="129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5689600" y="609600"/>
            <a:ext cx="3149600" cy="787400"/>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5689600" y="685800"/>
            <a:ext cx="38100" cy="635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600" y="1498600"/>
            <a:ext cx="3149600" cy="1041400"/>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600" y="1574800"/>
            <a:ext cx="38100" cy="889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600" y="2641600"/>
            <a:ext cx="3149600" cy="223520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600" y="2717800"/>
            <a:ext cx="38100" cy="2082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8" name="LEGALES_TEXTO_1">
            <a:extLst xmlns:a="http://schemas.openxmlformats.org/drawingml/2006/main">
              <a:ext uri="{FF2B5EF4-FFF2-40B4-BE49-F238E27FC236}">
                <a16:creationId xmlns:a16="http://schemas.microsoft.com/office/drawing/2014/main" id="{3B88C635-96AB-46C0-8C01-B9220EFB73FA}"/>
              </a:ext>
            </a:extLst>
          </p:cNvPr>
          <p:cNvSpPr>
            <a:spLocks xmlns:a="http://schemas.openxmlformats.org/drawingml/2006/main" noGrp="1"/>
          </p:cNvSpPr>
          <p:nvPr/>
        </p:nvSpPr>
        <p:spPr>
          <a:xfrm xmlns:a="http://schemas.openxmlformats.org/drawingml/2006/main">
            <a:off x="304914" y="127480"/>
            <a:ext cx="18923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088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a:t>
            </a:r>
          </a:p>
        </p:txBody>
      </p:sp>
      <p:sp>
        <p:nvSpPr>
          <p:cNvPr id="21" name="LEGALES_TEXTO_3">
            <a:extLst xmlns:a="http://schemas.openxmlformats.org/drawingml/2006/main">
              <a:ext uri="{FF2B5EF4-FFF2-40B4-BE49-F238E27FC236}">
                <a16:creationId xmlns:a16="http://schemas.microsoft.com/office/drawing/2014/main" id="{7C95A3E1-F2B9-4282-AA7E-94A7213E4235}"/>
              </a:ext>
            </a:extLst>
          </p:cNvPr>
          <p:cNvSpPr>
            <a:spLocks xmlns:a="http://schemas.openxmlformats.org/drawingml/2006/main" noGrp="1"/>
          </p:cNvSpPr>
          <p:nvPr/>
        </p:nvSpPr>
        <p:spPr>
          <a:xfrm xmlns:a="http://schemas.openxmlformats.org/drawingml/2006/main">
            <a:off x="482765" y="1230037"/>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los artículos 15, fracción 50 y 177, </a:t>
            </a:r>
          </a:p>
        </p:txBody>
      </p:sp>
      <p:sp>
        <p:nvSpPr>
          <p:cNvPr id="22" name="LEGALES_TEXTO_4">
            <a:extLst xmlns:a="http://schemas.openxmlformats.org/drawingml/2006/main">
              <a:ext uri="{FF2B5EF4-FFF2-40B4-BE49-F238E27FC236}">
                <a16:creationId xmlns:a16="http://schemas.microsoft.com/office/drawing/2014/main" id="{608F814F-C881-4504-AFE1-DC45DA630969}"/>
              </a:ext>
            </a:extLst>
          </p:cNvPr>
          <p:cNvSpPr>
            <a:spLocks xmlns:a="http://schemas.openxmlformats.org/drawingml/2006/main" noGrp="1"/>
          </p:cNvSpPr>
          <p:nvPr/>
        </p:nvSpPr>
        <p:spPr>
          <a:xfrm xmlns:a="http://schemas.openxmlformats.org/drawingml/2006/main">
            <a:off x="482765" y="134920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fracción XVIII, de la Ley Federal de </a:t>
            </a:r>
          </a:p>
        </p:txBody>
      </p:sp>
      <p:sp>
        <p:nvSpPr>
          <p:cNvPr id="23" name="LEGALES_TEXTO_5">
            <a:extLst xmlns:a="http://schemas.openxmlformats.org/drawingml/2006/main">
              <a:ext uri="{FF2B5EF4-FFF2-40B4-BE49-F238E27FC236}">
                <a16:creationId xmlns:a16="http://schemas.microsoft.com/office/drawing/2014/main" id="{8C2F3215-FEE1-4428-979C-88AA05FCDC2F}"/>
              </a:ext>
            </a:extLst>
          </p:cNvPr>
          <p:cNvSpPr>
            <a:spLocks xmlns:a="http://schemas.openxmlformats.org/drawingml/2006/main" noGrp="1"/>
          </p:cNvSpPr>
          <p:nvPr/>
        </p:nvSpPr>
        <p:spPr>
          <a:xfrm xmlns:a="http://schemas.openxmlformats.org/drawingml/2006/main">
            <a:off x="482765" y="146836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y Radiodifusión, </a:t>
            </a:r>
          </a:p>
        </p:txBody>
      </p:sp>
      <p:sp>
        <p:nvSpPr>
          <p:cNvPr id="24" name="LEGALES_TEXTO_6">
            <a:extLst xmlns:a="http://schemas.openxmlformats.org/drawingml/2006/main">
              <a:ext uri="{FF2B5EF4-FFF2-40B4-BE49-F238E27FC236}">
                <a16:creationId xmlns:a16="http://schemas.microsoft.com/office/drawing/2014/main" id="{CB5BA0CB-A125-41BE-A854-407E1F4FE992}"/>
              </a:ext>
            </a:extLst>
          </p:cNvPr>
          <p:cNvSpPr>
            <a:spLocks xmlns:a="http://schemas.openxmlformats.org/drawingml/2006/main" noGrp="1"/>
          </p:cNvSpPr>
          <p:nvPr/>
        </p:nvSpPr>
        <p:spPr>
          <a:xfrm xmlns:a="http://schemas.openxmlformats.org/drawingml/2006/main">
            <a:off x="482765" y="158751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así como por el artículo 73, fracción </a:t>
            </a:r>
          </a:p>
        </p:txBody>
      </p:sp>
      <p:sp>
        <p:nvSpPr>
          <p:cNvPr id="25" name="LEGALES_TEXTO_7">
            <a:extLst xmlns:a="http://schemas.openxmlformats.org/drawingml/2006/main">
              <a:ext uri="{FF2B5EF4-FFF2-40B4-BE49-F238E27FC236}">
                <a16:creationId xmlns:a16="http://schemas.microsoft.com/office/drawing/2014/main" id="{6D8185FB-7965-45B1-9207-F8C763DE6F36}"/>
              </a:ext>
            </a:extLst>
          </p:cNvPr>
          <p:cNvSpPr>
            <a:spLocks xmlns:a="http://schemas.openxmlformats.org/drawingml/2006/main" noGrp="1"/>
          </p:cNvSpPr>
          <p:nvPr/>
        </p:nvSpPr>
        <p:spPr>
          <a:xfrm xmlns:a="http://schemas.openxmlformats.org/drawingml/2006/main">
            <a:off x="482765" y="170668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VIII, del Estatuto Orgánico del </a:t>
            </a:r>
          </a:p>
        </p:txBody>
      </p:sp>
      <p:sp>
        <p:nvSpPr>
          <p:cNvPr id="26" name="LEGALES_TEXTO_8">
            <a:extLst xmlns:a="http://schemas.openxmlformats.org/drawingml/2006/main">
              <a:ext uri="{FF2B5EF4-FFF2-40B4-BE49-F238E27FC236}">
                <a16:creationId xmlns:a16="http://schemas.microsoft.com/office/drawing/2014/main" id="{62E27B9A-D08F-4CCB-ACF9-08C33CC7EDC7}"/>
              </a:ext>
            </a:extLst>
          </p:cNvPr>
          <p:cNvSpPr>
            <a:spLocks xmlns:a="http://schemas.openxmlformats.org/drawingml/2006/main" noGrp="1"/>
          </p:cNvSpPr>
          <p:nvPr/>
        </p:nvSpPr>
        <p:spPr>
          <a:xfrm xmlns:a="http://schemas.openxmlformats.org/drawingml/2006/main">
            <a:off x="482765" y="182584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27" name="LEGALES_TEXTO_9">
            <a:extLst xmlns:a="http://schemas.openxmlformats.org/drawingml/2006/main">
              <a:ext uri="{FF2B5EF4-FFF2-40B4-BE49-F238E27FC236}">
                <a16:creationId xmlns:a16="http://schemas.microsoft.com/office/drawing/2014/main" id="{3524738D-2B40-4AB5-BE5F-CA2647E491A1}"/>
              </a:ext>
            </a:extLst>
          </p:cNvPr>
          <p:cNvSpPr>
            <a:spLocks xmlns:a="http://schemas.openxmlformats.org/drawingml/2006/main" noGrp="1"/>
          </p:cNvSpPr>
          <p:nvPr/>
        </p:nvSpPr>
        <p:spPr>
          <a:xfrm xmlns:a="http://schemas.openxmlformats.org/drawingml/2006/main">
            <a:off x="482765" y="194499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la Dirección </a:t>
            </a:r>
          </a:p>
        </p:txBody>
      </p:sp>
      <p:sp>
        <p:nvSpPr>
          <p:cNvPr id="28" name="LEGALES_TEXTO_10">
            <a:extLst xmlns:a="http://schemas.openxmlformats.org/drawingml/2006/main">
              <a:ext uri="{FF2B5EF4-FFF2-40B4-BE49-F238E27FC236}">
                <a16:creationId xmlns:a16="http://schemas.microsoft.com/office/drawing/2014/main" id="{61CF7D80-DB0E-4A65-AE4C-75F95171836C}"/>
              </a:ext>
            </a:extLst>
          </p:cNvPr>
          <p:cNvSpPr>
            <a:spLocks xmlns:a="http://schemas.openxmlformats.org/drawingml/2006/main" noGrp="1"/>
          </p:cNvSpPr>
          <p:nvPr/>
        </p:nvSpPr>
        <p:spPr>
          <a:xfrm xmlns:a="http://schemas.openxmlformats.org/drawingml/2006/main">
            <a:off x="482765" y="206416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General Adjunta de Estadística y </a:t>
            </a:r>
          </a:p>
        </p:txBody>
      </p:sp>
      <p:sp>
        <p:nvSpPr>
          <p:cNvPr id="29" name="LEGALES_TEXTO_11">
            <a:extLst xmlns:a="http://schemas.openxmlformats.org/drawingml/2006/main">
              <a:ext uri="{FF2B5EF4-FFF2-40B4-BE49-F238E27FC236}">
                <a16:creationId xmlns:a16="http://schemas.microsoft.com/office/drawing/2014/main" id="{D0D36BEC-91CA-4455-972E-9B13658CBC42}"/>
              </a:ext>
            </a:extLst>
          </p:cNvPr>
          <p:cNvSpPr>
            <a:spLocks xmlns:a="http://schemas.openxmlformats.org/drawingml/2006/main" noGrp="1"/>
          </p:cNvSpPr>
          <p:nvPr/>
        </p:nvSpPr>
        <p:spPr>
          <a:xfrm xmlns:a="http://schemas.openxmlformats.org/drawingml/2006/main">
            <a:off x="482765" y="218332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Análisis de Indicadores, adscrita a la </a:t>
            </a:r>
          </a:p>
        </p:txBody>
      </p:sp>
      <p:sp>
        <p:nvSpPr>
          <p:cNvPr id="30" name="LEGALES_TEXTO_12">
            <a:extLst xmlns:a="http://schemas.openxmlformats.org/drawingml/2006/main">
              <a:ext uri="{FF2B5EF4-FFF2-40B4-BE49-F238E27FC236}">
                <a16:creationId xmlns:a16="http://schemas.microsoft.com/office/drawing/2014/main" id="{2358C160-D046-4567-AB6C-095880E78A39}"/>
              </a:ext>
            </a:extLst>
          </p:cNvPr>
          <p:cNvSpPr>
            <a:spLocks xmlns:a="http://schemas.openxmlformats.org/drawingml/2006/main" noGrp="1"/>
          </p:cNvSpPr>
          <p:nvPr/>
        </p:nvSpPr>
        <p:spPr>
          <a:xfrm xmlns:a="http://schemas.openxmlformats.org/drawingml/2006/main">
            <a:off x="482765" y="230247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Coordinación General de Planeación </a:t>
            </a:r>
          </a:p>
        </p:txBody>
      </p:sp>
      <p:sp>
        <p:nvSpPr>
          <p:cNvPr id="31" name="LEGALES_TEXTO_13">
            <a:extLst xmlns:a="http://schemas.openxmlformats.org/drawingml/2006/main">
              <a:ext uri="{FF2B5EF4-FFF2-40B4-BE49-F238E27FC236}">
                <a16:creationId xmlns:a16="http://schemas.microsoft.com/office/drawing/2014/main" id="{23B81FDA-1DFC-4D9B-82D7-7F1BC9F9DD41}"/>
              </a:ext>
            </a:extLst>
          </p:cNvPr>
          <p:cNvSpPr>
            <a:spLocks xmlns:a="http://schemas.openxmlformats.org/drawingml/2006/main" noGrp="1"/>
          </p:cNvSpPr>
          <p:nvPr/>
        </p:nvSpPr>
        <p:spPr>
          <a:xfrm xmlns:a="http://schemas.openxmlformats.org/drawingml/2006/main">
            <a:off x="482765" y="242164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Estratégica (CGPE), publica el </a:t>
            </a:r>
          </a:p>
        </p:txBody>
      </p:sp>
      <p:sp>
        <p:nvSpPr>
          <p:cNvPr id="32" name="LEGALES_TEXTO_14">
            <a:extLst xmlns:a="http://schemas.openxmlformats.org/drawingml/2006/main">
              <a:ext uri="{FF2B5EF4-FFF2-40B4-BE49-F238E27FC236}">
                <a16:creationId xmlns:a16="http://schemas.microsoft.com/office/drawing/2014/main" id="{20ED492E-F4FE-4A93-83FB-3087E5084471}"/>
              </a:ext>
            </a:extLst>
          </p:cNvPr>
          <p:cNvSpPr>
            <a:spLocks xmlns:a="http://schemas.openxmlformats.org/drawingml/2006/main" noGrp="1"/>
          </p:cNvSpPr>
          <p:nvPr/>
        </p:nvSpPr>
        <p:spPr>
          <a:xfrm xmlns:a="http://schemas.openxmlformats.org/drawingml/2006/main">
            <a:off x="482765" y="254080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presente Anuario Estadístico 2024, el </a:t>
            </a:r>
          </a:p>
        </p:txBody>
      </p:sp>
      <p:sp>
        <p:nvSpPr>
          <p:cNvPr id="33" name="LEGALES_TEXTO_15">
            <a:extLst xmlns:a="http://schemas.openxmlformats.org/drawingml/2006/main">
              <a:ext uri="{FF2B5EF4-FFF2-40B4-BE49-F238E27FC236}">
                <a16:creationId xmlns:a16="http://schemas.microsoft.com/office/drawing/2014/main" id="{F33E4D73-86E0-4F09-A10C-0132FB26D445}"/>
              </a:ext>
            </a:extLst>
          </p:cNvPr>
          <p:cNvSpPr>
            <a:spLocks xmlns:a="http://schemas.openxmlformats.org/drawingml/2006/main" noGrp="1"/>
          </p:cNvSpPr>
          <p:nvPr/>
        </p:nvSpPr>
        <p:spPr>
          <a:xfrm xmlns:a="http://schemas.openxmlformats.org/drawingml/2006/main">
            <a:off x="482765" y="265995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cual se elaboró con datos del </a:t>
            </a:r>
          </a:p>
        </p:txBody>
      </p:sp>
      <p:sp>
        <p:nvSpPr>
          <p:cNvPr id="34" name="LEGALES_TEXTO_16">
            <a:extLst xmlns:a="http://schemas.openxmlformats.org/drawingml/2006/main">
              <a:ext uri="{FF2B5EF4-FFF2-40B4-BE49-F238E27FC236}">
                <a16:creationId xmlns:a16="http://schemas.microsoft.com/office/drawing/2014/main" id="{F9D06E99-7010-4076-8203-70FA32B74942}"/>
              </a:ext>
            </a:extLst>
          </p:cNvPr>
          <p:cNvSpPr>
            <a:spLocks xmlns:a="http://schemas.openxmlformats.org/drawingml/2006/main" noGrp="1"/>
          </p:cNvSpPr>
          <p:nvPr/>
        </p:nvSpPr>
        <p:spPr>
          <a:xfrm xmlns:a="http://schemas.openxmlformats.org/drawingml/2006/main">
            <a:off x="482765" y="277912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35" name="LEGALES_TEXTO_17">
            <a:extLst xmlns:a="http://schemas.openxmlformats.org/drawingml/2006/main">
              <a:ext uri="{FF2B5EF4-FFF2-40B4-BE49-F238E27FC236}">
                <a16:creationId xmlns:a16="http://schemas.microsoft.com/office/drawing/2014/main" id="{BF17EFBA-F848-49D9-B9AA-F0E5BB07E0BD}"/>
              </a:ext>
            </a:extLst>
          </p:cNvPr>
          <p:cNvSpPr>
            <a:spLocks xmlns:a="http://schemas.openxmlformats.org/drawingml/2006/main" noGrp="1"/>
          </p:cNvSpPr>
          <p:nvPr/>
        </p:nvSpPr>
        <p:spPr>
          <a:xfrm xmlns:a="http://schemas.openxmlformats.org/drawingml/2006/main">
            <a:off x="482765" y="289828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(IFT), aquella </a:t>
            </a:r>
          </a:p>
        </p:txBody>
      </p:sp>
      <p:sp>
        <p:nvSpPr>
          <p:cNvPr id="36" name="LEGALES_TEXTO_18">
            <a:extLst xmlns:a="http://schemas.openxmlformats.org/drawingml/2006/main">
              <a:ext uri="{FF2B5EF4-FFF2-40B4-BE49-F238E27FC236}">
                <a16:creationId xmlns:a16="http://schemas.microsoft.com/office/drawing/2014/main" id="{D60473B6-DF71-4811-9F86-1B16BB568C1A}"/>
              </a:ext>
            </a:extLst>
          </p:cNvPr>
          <p:cNvSpPr>
            <a:spLocks xmlns:a="http://schemas.openxmlformats.org/drawingml/2006/main" noGrp="1"/>
          </p:cNvSpPr>
          <p:nvPr/>
        </p:nvSpPr>
        <p:spPr>
          <a:xfrm xmlns:a="http://schemas.openxmlformats.org/drawingml/2006/main">
            <a:off x="482765" y="301743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proporcionada por los operadores del </a:t>
            </a:r>
          </a:p>
        </p:txBody>
      </p:sp>
      <p:sp>
        <p:nvSpPr>
          <p:cNvPr id="37" name="LEGALES_TEXTO_19">
            <a:extLst xmlns:a="http://schemas.openxmlformats.org/drawingml/2006/main">
              <a:ext uri="{FF2B5EF4-FFF2-40B4-BE49-F238E27FC236}">
                <a16:creationId xmlns:a16="http://schemas.microsoft.com/office/drawing/2014/main" id="{5D599E04-EB91-43E2-BEEA-0C80BF2974AC}"/>
              </a:ext>
            </a:extLst>
          </p:cNvPr>
          <p:cNvSpPr>
            <a:spLocks xmlns:a="http://schemas.openxmlformats.org/drawingml/2006/main" noGrp="1"/>
          </p:cNvSpPr>
          <p:nvPr/>
        </p:nvSpPr>
        <p:spPr>
          <a:xfrm xmlns:a="http://schemas.openxmlformats.org/drawingml/2006/main">
            <a:off x="482765" y="313659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sector de telecomunicaciones y la </a:t>
            </a:r>
          </a:p>
        </p:txBody>
      </p:sp>
      <p:sp>
        <p:nvSpPr>
          <p:cNvPr id="38" name="LEGALES_TEXTO_20">
            <a:extLst xmlns:a="http://schemas.openxmlformats.org/drawingml/2006/main">
              <a:ext uri="{FF2B5EF4-FFF2-40B4-BE49-F238E27FC236}">
                <a16:creationId xmlns:a16="http://schemas.microsoft.com/office/drawing/2014/main" id="{15B85156-1120-46B3-B771-212B046E1854}"/>
              </a:ext>
            </a:extLst>
          </p:cNvPr>
          <p:cNvSpPr>
            <a:spLocks xmlns:a="http://schemas.openxmlformats.org/drawingml/2006/main" noGrp="1"/>
          </p:cNvSpPr>
          <p:nvPr/>
        </p:nvSpPr>
        <p:spPr>
          <a:xfrm xmlns:a="http://schemas.openxmlformats.org/drawingml/2006/main">
            <a:off x="482765" y="325576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publicada por el Instituto Nacional de </a:t>
            </a:r>
          </a:p>
        </p:txBody>
      </p:sp>
      <p:sp>
        <p:nvSpPr>
          <p:cNvPr id="39" name="LEGALES_TEXTO_21">
            <a:extLst xmlns:a="http://schemas.openxmlformats.org/drawingml/2006/main">
              <a:ext uri="{FF2B5EF4-FFF2-40B4-BE49-F238E27FC236}">
                <a16:creationId xmlns:a16="http://schemas.microsoft.com/office/drawing/2014/main" id="{EDEAA6A3-0DF3-4485-BE64-7F04E77F2703}"/>
              </a:ext>
            </a:extLst>
          </p:cNvPr>
          <p:cNvSpPr>
            <a:spLocks xmlns:a="http://schemas.openxmlformats.org/drawingml/2006/main" noGrp="1"/>
          </p:cNvSpPr>
          <p:nvPr/>
        </p:nvSpPr>
        <p:spPr>
          <a:xfrm xmlns:a="http://schemas.openxmlformats.org/drawingml/2006/main">
            <a:off x="482765" y="337491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Estadística y Geografía (INEGI), la </a:t>
            </a:r>
          </a:p>
        </p:txBody>
      </p:sp>
      <p:sp>
        <p:nvSpPr>
          <p:cNvPr id="40" name="LEGALES_TEXTO_22">
            <a:extLst xmlns:a="http://schemas.openxmlformats.org/drawingml/2006/main">
              <a:ext uri="{FF2B5EF4-FFF2-40B4-BE49-F238E27FC236}">
                <a16:creationId xmlns:a16="http://schemas.microsoft.com/office/drawing/2014/main" id="{CD70AAB7-A1C7-454D-B038-F69586AA3480}"/>
              </a:ext>
            </a:extLst>
          </p:cNvPr>
          <p:cNvSpPr>
            <a:spLocks xmlns:a="http://schemas.openxmlformats.org/drawingml/2006/main" noGrp="1"/>
          </p:cNvSpPr>
          <p:nvPr/>
        </p:nvSpPr>
        <p:spPr>
          <a:xfrm xmlns:a="http://schemas.openxmlformats.org/drawingml/2006/main">
            <a:off x="482765" y="349407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Secretaría de Economía (SE) y el </a:t>
            </a:r>
          </a:p>
        </p:txBody>
      </p:sp>
      <p:sp>
        <p:nvSpPr>
          <p:cNvPr id="41" name="LEGALES_TEXTO_23">
            <a:extLst xmlns:a="http://schemas.openxmlformats.org/drawingml/2006/main">
              <a:ext uri="{FF2B5EF4-FFF2-40B4-BE49-F238E27FC236}">
                <a16:creationId xmlns:a16="http://schemas.microsoft.com/office/drawing/2014/main" id="{4D858354-283D-4490-9549-B41DF334F802}"/>
              </a:ext>
            </a:extLst>
          </p:cNvPr>
          <p:cNvSpPr>
            <a:spLocks xmlns:a="http://schemas.openxmlformats.org/drawingml/2006/main" noGrp="1"/>
          </p:cNvSpPr>
          <p:nvPr/>
        </p:nvSpPr>
        <p:spPr>
          <a:xfrm xmlns:a="http://schemas.openxmlformats.org/drawingml/2006/main">
            <a:off x="482765" y="361324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Consejo Nacional de Población </a:t>
            </a:r>
          </a:p>
        </p:txBody>
      </p:sp>
      <p:sp>
        <p:nvSpPr>
          <p:cNvPr id="42" name="LEGALES_TEXTO_24">
            <a:extLst xmlns:a="http://schemas.openxmlformats.org/drawingml/2006/main">
              <a:ext uri="{FF2B5EF4-FFF2-40B4-BE49-F238E27FC236}">
                <a16:creationId xmlns:a16="http://schemas.microsoft.com/office/drawing/2014/main" id="{E4F68D72-C97D-460A-A204-04A5F0FA0154}"/>
              </a:ext>
            </a:extLst>
          </p:cNvPr>
          <p:cNvSpPr>
            <a:spLocks xmlns:a="http://schemas.openxmlformats.org/drawingml/2006/main" noGrp="1"/>
          </p:cNvSpPr>
          <p:nvPr/>
        </p:nvSpPr>
        <p:spPr>
          <a:xfrm xmlns:a="http://schemas.openxmlformats.org/drawingml/2006/main">
            <a:off x="482765" y="373239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(CONAPO). La información reportada </a:t>
            </a:r>
          </a:p>
        </p:txBody>
      </p:sp>
      <p:sp>
        <p:nvSpPr>
          <p:cNvPr id="43" name="LEGALES_TEXTO_25">
            <a:extLst xmlns:a="http://schemas.openxmlformats.org/drawingml/2006/main">
              <a:ext uri="{FF2B5EF4-FFF2-40B4-BE49-F238E27FC236}">
                <a16:creationId xmlns:a16="http://schemas.microsoft.com/office/drawing/2014/main" id="{57027F96-4EE3-4F8A-BD88-89E7FBBEEFFA}"/>
              </a:ext>
            </a:extLst>
          </p:cNvPr>
          <p:cNvSpPr>
            <a:spLocks xmlns:a="http://schemas.openxmlformats.org/drawingml/2006/main" noGrp="1"/>
          </p:cNvSpPr>
          <p:nvPr/>
        </p:nvSpPr>
        <p:spPr>
          <a:xfrm xmlns:a="http://schemas.openxmlformats.org/drawingml/2006/main">
            <a:off x="482765" y="385155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está sujeta a revisiones y a </a:t>
            </a:r>
          </a:p>
        </p:txBody>
      </p:sp>
      <p:sp>
        <p:nvSpPr>
          <p:cNvPr id="44" name="LEGALES_TEXTO_26">
            <a:extLst xmlns:a="http://schemas.openxmlformats.org/drawingml/2006/main">
              <a:ext uri="{FF2B5EF4-FFF2-40B4-BE49-F238E27FC236}">
                <a16:creationId xmlns:a16="http://schemas.microsoft.com/office/drawing/2014/main" id="{6ED7E1AC-7BF4-4033-97DF-A8855D0E5EF1}"/>
              </a:ext>
            </a:extLst>
          </p:cNvPr>
          <p:cNvSpPr>
            <a:spLocks xmlns:a="http://schemas.openxmlformats.org/drawingml/2006/main" noGrp="1"/>
          </p:cNvSpPr>
          <p:nvPr/>
        </p:nvSpPr>
        <p:spPr>
          <a:xfrm xmlns:a="http://schemas.openxmlformats.org/drawingml/2006/main">
            <a:off x="482765" y="3970722"/>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modificaciones derivadas de cambios </a:t>
            </a:r>
          </a:p>
        </p:txBody>
      </p:sp>
      <p:sp>
        <p:nvSpPr>
          <p:cNvPr id="45" name="LEGALES_TEXTO_27">
            <a:extLst xmlns:a="http://schemas.openxmlformats.org/drawingml/2006/main">
              <a:ext uri="{FF2B5EF4-FFF2-40B4-BE49-F238E27FC236}">
                <a16:creationId xmlns:a16="http://schemas.microsoft.com/office/drawing/2014/main" id="{A25CEC14-2BD4-40CC-94CF-15154A1A141C}"/>
              </a:ext>
            </a:extLst>
          </p:cNvPr>
          <p:cNvSpPr>
            <a:spLocks xmlns:a="http://schemas.openxmlformats.org/drawingml/2006/main" noGrp="1"/>
          </p:cNvSpPr>
          <p:nvPr/>
        </p:nvSpPr>
        <p:spPr>
          <a:xfrm xmlns:a="http://schemas.openxmlformats.org/drawingml/2006/main">
            <a:off x="482765" y="408987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que realizan los operadores a las </a:t>
            </a:r>
          </a:p>
        </p:txBody>
      </p:sp>
      <p:sp>
        <p:nvSpPr>
          <p:cNvPr id="46" name="LEGALES_TEXTO_28">
            <a:extLst xmlns:a="http://schemas.openxmlformats.org/drawingml/2006/main">
              <a:ext uri="{FF2B5EF4-FFF2-40B4-BE49-F238E27FC236}">
                <a16:creationId xmlns:a16="http://schemas.microsoft.com/office/drawing/2014/main" id="{08837145-28D9-45EF-8138-656AC7A5370A}"/>
              </a:ext>
            </a:extLst>
          </p:cNvPr>
          <p:cNvSpPr>
            <a:spLocks xmlns:a="http://schemas.openxmlformats.org/drawingml/2006/main" noGrp="1"/>
          </p:cNvSpPr>
          <p:nvPr/>
        </p:nvSpPr>
        <p:spPr>
          <a:xfrm xmlns:a="http://schemas.openxmlformats.org/drawingml/2006/main">
            <a:off x="482765" y="420903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cifras previamente reportadas.</a:t>
            </a:r>
          </a:p>
        </p:txBody>
      </p:sp>
      <p:sp>
        <p:nvSpPr>
          <p:cNvPr id="47" name="LEGALES_TEXTO_29">
            <a:extLst xmlns:a="http://schemas.openxmlformats.org/drawingml/2006/main">
              <a:ext uri="{FF2B5EF4-FFF2-40B4-BE49-F238E27FC236}">
                <a16:creationId xmlns:a16="http://schemas.microsoft.com/office/drawing/2014/main" id="{19D75855-7EC8-4D95-8186-0105303345CF}"/>
              </a:ext>
            </a:extLst>
          </p:cNvPr>
          <p:cNvSpPr>
            <a:spLocks xmlns:a="http://schemas.openxmlformats.org/drawingml/2006/main" noGrp="1"/>
          </p:cNvSpPr>
          <p:nvPr/>
        </p:nvSpPr>
        <p:spPr>
          <a:xfrm xmlns:a="http://schemas.openxmlformats.org/drawingml/2006/main">
            <a:off x="5501157" y="135999"/>
            <a:ext cx="2323874"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8" name="LEGALES_TEXTO_30">
            <a:extLst xmlns:a="http://schemas.openxmlformats.org/drawingml/2006/main">
              <a:ext uri="{FF2B5EF4-FFF2-40B4-BE49-F238E27FC236}">
                <a16:creationId xmlns:a16="http://schemas.microsoft.com/office/drawing/2014/main" id="{AE048434-059E-43A2-80C3-21948358811C}"/>
              </a:ext>
            </a:extLst>
            <a:hlinkClick xmlns:r="http://schemas.openxmlformats.org/officeDocument/2006/relationships" xmlns:a="http://schemas.openxmlformats.org/drawingml/2006/main" r:id="R5b60e0be82104cba"/>
          </p:cNvPr>
          <p:cNvSpPr>
            <a:spLocks xmlns:a="http://schemas.openxmlformats.org/drawingml/2006/main" noGrp="1"/>
          </p:cNvSpPr>
          <p:nvPr/>
        </p:nvSpPr>
        <p:spPr>
          <a:xfrm xmlns:a="http://schemas.openxmlformats.org/drawingml/2006/main">
            <a:off x="5924880" y="225645"/>
            <a:ext cx="1896883"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rPr>
              <a:t>BIT CRT · bit.crt.gob.mx/BitWebApp</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Usuarios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“Usuarios de servicios de Telecomunicaciones”</a:t>
            </a:r>
            <a:r>
              <a:rPr sz="600" b="0" i="0">
                <a:solidFill>
                  <a:srgbClr val="26312F"/>
                </a:solidFill>
                <a:latin typeface="Noto Sans"/>
                <a:ea typeface="Noto Sans"/>
                <a:cs typeface="Noto Sans"/>
              </a:rPr>
              <a:t> se </a:t>
            </a:r>
          </a:p>
        </p:txBody>
      </p:sp>
      <p:sp>
        <p:nvSpPr>
          <p:cNvPr id="51" name="LEGALES_TEXTO_33">
            <a:extLst xmlns:a="http://schemas.openxmlformats.org/drawingml/2006/main">
              <a:ext uri="{FF2B5EF4-FFF2-40B4-BE49-F238E27FC236}">
                <a16:creationId xmlns:a16="http://schemas.microsoft.com/office/drawing/2014/main" id="{6FD85C88-57CE-4351-9F93-47D4ACFA2F46}"/>
              </a:ext>
            </a:extLst>
          </p:cNvPr>
          <p:cNvSpPr>
            <a:spLocks xmlns:a="http://schemas.openxmlformats.org/drawingml/2006/main" noGrp="1"/>
          </p:cNvSpPr>
          <p:nvPr/>
        </p:nvSpPr>
        <p:spPr>
          <a:xfrm xmlns:a="http://schemas.openxmlformats.org/drawingml/2006/main">
            <a:off x="2616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realizó con base en la información proporcionada por la Coordinación </a:t>
            </a:r>
          </a:p>
        </p:txBody>
      </p:sp>
      <p:sp>
        <p:nvSpPr>
          <p:cNvPr id="52" name="LEGALES_TEXTO_34">
            <a:extLst xmlns:a="http://schemas.openxmlformats.org/drawingml/2006/main">
              <a:ext uri="{FF2B5EF4-FFF2-40B4-BE49-F238E27FC236}">
                <a16:creationId xmlns:a16="http://schemas.microsoft.com/office/drawing/2014/main" id="{AEC40161-D7FE-4B43-BEEC-9C9B88D5A23B}"/>
              </a:ext>
            </a:extLst>
          </p:cNvPr>
          <p:cNvSpPr>
            <a:spLocks xmlns:a="http://schemas.openxmlformats.org/drawingml/2006/main" noGrp="1"/>
          </p:cNvSpPr>
          <p:nvPr/>
        </p:nvSpPr>
        <p:spPr>
          <a:xfrm xmlns:a="http://schemas.openxmlformats.org/drawingml/2006/main">
            <a:off x="2616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General de Política del Usuario (CGPU) del IFT, de acuerdo con la </a:t>
            </a:r>
          </a:p>
        </p:txBody>
      </p:sp>
      <p:sp>
        <p:nvSpPr>
          <p:cNvPr id="53" name="LEGALES_TEXTO_35">
            <a:extLst xmlns:a="http://schemas.openxmlformats.org/drawingml/2006/main">
              <a:ext uri="{FF2B5EF4-FFF2-40B4-BE49-F238E27FC236}">
                <a16:creationId xmlns:a16="http://schemas.microsoft.com/office/drawing/2014/main" id="{467B3509-F21B-483F-B360-7D5D4E8D967E}"/>
              </a:ext>
            </a:extLst>
          </p:cNvPr>
          <p:cNvSpPr>
            <a:spLocks xmlns:a="http://schemas.openxmlformats.org/drawingml/2006/main" noGrp="1"/>
          </p:cNvSpPr>
          <p:nvPr/>
        </p:nvSpPr>
        <p:spPr>
          <a:xfrm xmlns:a="http://schemas.openxmlformats.org/drawingml/2006/main">
            <a:off x="2616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 los siguientes documentos: “Tercera Encuesta 2023, </a:t>
            </a:r>
          </a:p>
        </p:txBody>
      </p:sp>
      <p:sp>
        <p:nvSpPr>
          <p:cNvPr id="54" name="LEGALES_TEXTO_36">
            <a:extLst xmlns:a="http://schemas.openxmlformats.org/drawingml/2006/main">
              <a:ext uri="{FF2B5EF4-FFF2-40B4-BE49-F238E27FC236}">
                <a16:creationId xmlns:a16="http://schemas.microsoft.com/office/drawing/2014/main" id="{1C8BC33B-86ED-4FD0-A052-56178FCEE798}"/>
              </a:ext>
            </a:extLst>
          </p:cNvPr>
          <p:cNvSpPr>
            <a:spLocks xmlns:a="http://schemas.openxmlformats.org/drawingml/2006/main" noGrp="1"/>
          </p:cNvSpPr>
          <p:nvPr/>
        </p:nvSpPr>
        <p:spPr>
          <a:xfrm xmlns:a="http://schemas.openxmlformats.org/drawingml/2006/main">
            <a:off x="2616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Usuarios de Servicios de Telecomunicaciones, de donde se obtuvieron los </a:t>
            </a:r>
          </a:p>
        </p:txBody>
      </p:sp>
      <p:sp>
        <p:nvSpPr>
          <p:cNvPr id="55" name="LEGALES_TEXTO_37">
            <a:extLst xmlns:a="http://schemas.openxmlformats.org/drawingml/2006/main">
              <a:ext uri="{FF2B5EF4-FFF2-40B4-BE49-F238E27FC236}">
                <a16:creationId xmlns:a16="http://schemas.microsoft.com/office/drawing/2014/main" id="{1A634FFD-37AA-4936-918C-6AC34A101ED4}"/>
              </a:ext>
            </a:extLst>
          </p:cNvPr>
          <p:cNvSpPr>
            <a:spLocks xmlns:a="http://schemas.openxmlformats.org/drawingml/2006/main" noGrp="1"/>
          </p:cNvSpPr>
          <p:nvPr/>
        </p:nvSpPr>
        <p:spPr>
          <a:xfrm xmlns:a="http://schemas.openxmlformats.org/drawingml/2006/main">
            <a:off x="2616175" y="13663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niveles de satisfacción que tienen las personas usuarias de los servicios </a:t>
            </a:r>
          </a:p>
        </p:txBody>
      </p:sp>
      <p:sp>
        <p:nvSpPr>
          <p:cNvPr id="56" name="LEGALES_TEXTO_38">
            <a:extLst xmlns:a="http://schemas.openxmlformats.org/drawingml/2006/main">
              <a:ext uri="{FF2B5EF4-FFF2-40B4-BE49-F238E27FC236}">
                <a16:creationId xmlns:a16="http://schemas.microsoft.com/office/drawing/2014/main" id="{239C74DE-A202-4DE6-B42A-96E30DDB9D5F}"/>
              </a:ext>
            </a:extLst>
          </p:cNvPr>
          <p:cNvSpPr>
            <a:spLocks xmlns:a="http://schemas.openxmlformats.org/drawingml/2006/main" noGrp="1"/>
          </p:cNvSpPr>
          <p:nvPr/>
        </p:nvSpPr>
        <p:spPr>
          <a:xfrm xmlns:a="http://schemas.openxmlformats.org/drawingml/2006/main">
            <a:off x="2616175" y="14668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de Internet fijo, Telefonía fija, Televisión de paga y </a:t>
            </a:r>
          </a:p>
        </p:txBody>
      </p:sp>
      <p:sp>
        <p:nvSpPr>
          <p:cNvPr id="57" name="LEGALES_TEXTO_39">
            <a:extLst xmlns:a="http://schemas.openxmlformats.org/drawingml/2006/main">
              <a:ext uri="{FF2B5EF4-FFF2-40B4-BE49-F238E27FC236}">
                <a16:creationId xmlns:a16="http://schemas.microsoft.com/office/drawing/2014/main" id="{3E17EF72-3C22-484D-B66D-E027FFD3EE38}"/>
              </a:ext>
            </a:extLst>
          </p:cNvPr>
          <p:cNvSpPr>
            <a:spLocks xmlns:a="http://schemas.openxmlformats.org/drawingml/2006/main" noGrp="1"/>
          </p:cNvSpPr>
          <p:nvPr/>
        </p:nvSpPr>
        <p:spPr>
          <a:xfrm xmlns:a="http://schemas.openxmlformats.org/drawingml/2006/main">
            <a:off x="2616175" y="15672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móvil; “Cuarta Encuesta 2023, Usuarios de Servicios de </a:t>
            </a:r>
          </a:p>
        </p:txBody>
      </p:sp>
      <p:sp>
        <p:nvSpPr>
          <p:cNvPr id="58" name="LEGALES_TEXTO_40">
            <a:extLst xmlns:a="http://schemas.openxmlformats.org/drawingml/2006/main">
              <a:ext uri="{FF2B5EF4-FFF2-40B4-BE49-F238E27FC236}">
                <a16:creationId xmlns:a16="http://schemas.microsoft.com/office/drawing/2014/main" id="{F52DAF0F-C49D-400E-83B9-CC261BA2321A}"/>
              </a:ext>
            </a:extLst>
          </p:cNvPr>
          <p:cNvSpPr>
            <a:spLocks xmlns:a="http://schemas.openxmlformats.org/drawingml/2006/main" noGrp="1"/>
          </p:cNvSpPr>
          <p:nvPr/>
        </p:nvSpPr>
        <p:spPr>
          <a:xfrm xmlns:a="http://schemas.openxmlformats.org/drawingml/2006/main">
            <a:off x="2616175" y="16677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(Micro, pequeñas y medianas empresas)”, de la que </a:t>
            </a:r>
          </a:p>
        </p:txBody>
      </p:sp>
      <p:sp>
        <p:nvSpPr>
          <p:cNvPr id="59" name="LEGALES_TEXTO_41">
            <a:extLst xmlns:a="http://schemas.openxmlformats.org/drawingml/2006/main">
              <a:ext uri="{FF2B5EF4-FFF2-40B4-BE49-F238E27FC236}">
                <a16:creationId xmlns:a16="http://schemas.microsoft.com/office/drawing/2014/main" id="{5F9C9DFE-8175-4657-8FAC-E29E1271EAE9}"/>
              </a:ext>
            </a:extLst>
          </p:cNvPr>
          <p:cNvSpPr>
            <a:spLocks xmlns:a="http://schemas.openxmlformats.org/drawingml/2006/main" noGrp="1"/>
          </p:cNvSpPr>
          <p:nvPr/>
        </p:nvSpPr>
        <p:spPr>
          <a:xfrm xmlns:a="http://schemas.openxmlformats.org/drawingml/2006/main">
            <a:off x="2616175" y="17681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 obtienen los niveles de satisfacción que tienen las empresas de los </a:t>
            </a:r>
          </a:p>
        </p:txBody>
      </p:sp>
      <p:sp>
        <p:nvSpPr>
          <p:cNvPr id="60" name="LEGALES_TEXTO_42">
            <a:extLst xmlns:a="http://schemas.openxmlformats.org/drawingml/2006/main">
              <a:ext uri="{FF2B5EF4-FFF2-40B4-BE49-F238E27FC236}">
                <a16:creationId xmlns:a16="http://schemas.microsoft.com/office/drawing/2014/main" id="{D64939D4-3226-4154-81CE-D9610B3EA348}"/>
              </a:ext>
            </a:extLst>
          </p:cNvPr>
          <p:cNvSpPr>
            <a:spLocks xmlns:a="http://schemas.openxmlformats.org/drawingml/2006/main" noGrp="1"/>
          </p:cNvSpPr>
          <p:nvPr/>
        </p:nvSpPr>
        <p:spPr>
          <a:xfrm xmlns:a="http://schemas.openxmlformats.org/drawingml/2006/main">
            <a:off x="2616175" y="186857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servicios de telecomunicaciones de Internet fijo, Telefonía fija, Televisión </a:t>
            </a:r>
          </a:p>
        </p:txBody>
      </p:sp>
      <p:sp>
        <p:nvSpPr>
          <p:cNvPr id="61" name="LEGALES_TEXTO_43">
            <a:extLst xmlns:a="http://schemas.openxmlformats.org/drawingml/2006/main">
              <a:ext uri="{FF2B5EF4-FFF2-40B4-BE49-F238E27FC236}">
                <a16:creationId xmlns:a16="http://schemas.microsoft.com/office/drawing/2014/main" id="{0A6E23C9-C2D6-4FCC-8969-0988501211F5}"/>
              </a:ext>
            </a:extLst>
          </p:cNvPr>
          <p:cNvSpPr>
            <a:spLocks xmlns:a="http://schemas.openxmlformats.org/drawingml/2006/main" noGrp="1"/>
          </p:cNvSpPr>
          <p:nvPr/>
        </p:nvSpPr>
        <p:spPr>
          <a:xfrm xmlns:a="http://schemas.openxmlformats.org/drawingml/2006/main">
            <a:off x="2616175" y="19690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paga y Telefonía móvil, los dispositivos que utilizan para realizar sus </a:t>
            </a:r>
          </a:p>
        </p:txBody>
      </p:sp>
      <p:sp>
        <p:nvSpPr>
          <p:cNvPr id="62" name="LEGALES_TEXTO_44">
            <a:extLst xmlns:a="http://schemas.openxmlformats.org/drawingml/2006/main">
              <a:ext uri="{FF2B5EF4-FFF2-40B4-BE49-F238E27FC236}">
                <a16:creationId xmlns:a16="http://schemas.microsoft.com/office/drawing/2014/main" id="{ED22C625-4DCE-473F-87CE-6A0EFB54E322}"/>
              </a:ext>
            </a:extLst>
          </p:cNvPr>
          <p:cNvSpPr>
            <a:spLocks xmlns:a="http://schemas.openxmlformats.org/drawingml/2006/main" noGrp="1"/>
          </p:cNvSpPr>
          <p:nvPr/>
        </p:nvSpPr>
        <p:spPr>
          <a:xfrm xmlns:a="http://schemas.openxmlformats.org/drawingml/2006/main">
            <a:off x="2616175" y="206946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actividades, los servicios de telecomunicaciones contratados por las </a:t>
            </a:r>
          </a:p>
        </p:txBody>
      </p:sp>
      <p:sp>
        <p:nvSpPr>
          <p:cNvPr id="63" name="LEGALES_TEXTO_45">
            <a:extLst xmlns:a="http://schemas.openxmlformats.org/drawingml/2006/main">
              <a:ext uri="{FF2B5EF4-FFF2-40B4-BE49-F238E27FC236}">
                <a16:creationId xmlns:a16="http://schemas.microsoft.com/office/drawing/2014/main" id="{6499F7CC-06AD-46DE-B79C-54581704A8EC}"/>
              </a:ext>
            </a:extLst>
          </p:cNvPr>
          <p:cNvSpPr>
            <a:spLocks xmlns:a="http://schemas.openxmlformats.org/drawingml/2006/main" noGrp="1"/>
          </p:cNvSpPr>
          <p:nvPr/>
        </p:nvSpPr>
        <p:spPr>
          <a:xfrm xmlns:a="http://schemas.openxmlformats.org/drawingml/2006/main">
            <a:off x="2616175" y="21698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y los beneficios que perciben de los servicios de </a:t>
            </a:r>
          </a:p>
        </p:txBody>
      </p:sp>
      <p:sp>
        <p:nvSpPr>
          <p:cNvPr id="64" name="LEGALES_TEXTO_46">
            <a:extLst xmlns:a="http://schemas.openxmlformats.org/drawingml/2006/main">
              <a:ext uri="{FF2B5EF4-FFF2-40B4-BE49-F238E27FC236}">
                <a16:creationId xmlns:a16="http://schemas.microsoft.com/office/drawing/2014/main" id="{7292D786-0D04-46B0-8687-68E90782C0FD}"/>
              </a:ext>
            </a:extLst>
          </p:cNvPr>
          <p:cNvSpPr>
            <a:spLocks xmlns:a="http://schemas.openxmlformats.org/drawingml/2006/main" noGrp="1"/>
          </p:cNvSpPr>
          <p:nvPr/>
        </p:nvSpPr>
        <p:spPr>
          <a:xfrm xmlns:a="http://schemas.openxmlformats.org/drawingml/2006/main">
            <a:off x="2616175" y="227034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“Contratación, percepción y uso del Internet fijo y </a:t>
            </a:r>
          </a:p>
        </p:txBody>
      </p:sp>
      <p:sp>
        <p:nvSpPr>
          <p:cNvPr id="65" name="LEGALES_TEXTO_47">
            <a:extLst xmlns:a="http://schemas.openxmlformats.org/drawingml/2006/main">
              <a:ext uri="{FF2B5EF4-FFF2-40B4-BE49-F238E27FC236}">
                <a16:creationId xmlns:a16="http://schemas.microsoft.com/office/drawing/2014/main" id="{20264679-6DF8-42F5-9ABD-E3A2AF1E320D}"/>
              </a:ext>
            </a:extLst>
          </p:cNvPr>
          <p:cNvSpPr>
            <a:spLocks xmlns:a="http://schemas.openxmlformats.org/drawingml/2006/main" noGrp="1"/>
          </p:cNvSpPr>
          <p:nvPr/>
        </p:nvSpPr>
        <p:spPr>
          <a:xfrm xmlns:a="http://schemas.openxmlformats.org/drawingml/2006/main">
            <a:off x="2616175" y="237078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fija en las micro, pequeñas y medianas empresas (MiPymes) </a:t>
            </a:r>
          </a:p>
        </p:txBody>
      </p:sp>
      <p:sp>
        <p:nvSpPr>
          <p:cNvPr id="66" name="LEGALES_TEXTO_48">
            <a:extLst xmlns:a="http://schemas.openxmlformats.org/drawingml/2006/main">
              <a:ext uri="{FF2B5EF4-FFF2-40B4-BE49-F238E27FC236}">
                <a16:creationId xmlns:a16="http://schemas.microsoft.com/office/drawing/2014/main" id="{A42396E9-8F8F-4DE5-BA66-BA2A14A7C37D}"/>
              </a:ext>
            </a:extLst>
          </p:cNvPr>
          <p:cNvSpPr>
            <a:spLocks xmlns:a="http://schemas.openxmlformats.org/drawingml/2006/main" noGrp="1"/>
          </p:cNvSpPr>
          <p:nvPr/>
        </p:nvSpPr>
        <p:spPr>
          <a:xfrm xmlns:a="http://schemas.openxmlformats.org/drawingml/2006/main">
            <a:off x="2616175" y="247121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realizar actividades de importación y/o exportación”, del cual se </a:t>
            </a:r>
          </a:p>
        </p:txBody>
      </p:sp>
      <p:sp>
        <p:nvSpPr>
          <p:cNvPr id="67" name="LEGALES_TEXTO_49">
            <a:extLst xmlns:a="http://schemas.openxmlformats.org/drawingml/2006/main">
              <a:ext uri="{FF2B5EF4-FFF2-40B4-BE49-F238E27FC236}">
                <a16:creationId xmlns:a16="http://schemas.microsoft.com/office/drawing/2014/main" id="{272D65AD-0B0E-4CF2-AAE1-7CA49172901A}"/>
              </a:ext>
            </a:extLst>
          </p:cNvPr>
          <p:cNvSpPr>
            <a:spLocks xmlns:a="http://schemas.openxmlformats.org/drawingml/2006/main" noGrp="1"/>
          </p:cNvSpPr>
          <p:nvPr/>
        </p:nvSpPr>
        <p:spPr>
          <a:xfrm xmlns:a="http://schemas.openxmlformats.org/drawingml/2006/main">
            <a:off x="2616175" y="257166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obtuvo información de los servicios que consideran más importantes las </a:t>
            </a:r>
          </a:p>
        </p:txBody>
      </p:sp>
      <p:sp>
        <p:nvSpPr>
          <p:cNvPr id="68" name="LEGALES_TEXTO_50">
            <a:extLst xmlns:a="http://schemas.openxmlformats.org/drawingml/2006/main">
              <a:ext uri="{FF2B5EF4-FFF2-40B4-BE49-F238E27FC236}">
                <a16:creationId xmlns:a16="http://schemas.microsoft.com/office/drawing/2014/main" id="{A7B45028-B284-4E9D-974E-7FB2FBE636C1}"/>
              </a:ext>
            </a:extLst>
          </p:cNvPr>
          <p:cNvSpPr>
            <a:spLocks xmlns:a="http://schemas.openxmlformats.org/drawingml/2006/main" noGrp="1"/>
          </p:cNvSpPr>
          <p:nvPr/>
        </p:nvSpPr>
        <p:spPr>
          <a:xfrm xmlns:a="http://schemas.openxmlformats.org/drawingml/2006/main">
            <a:off x="2616175" y="267210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para realizar sus actividades de importación y/o exportación; y </a:t>
            </a:r>
          </a:p>
        </p:txBody>
      </p:sp>
      <p:sp>
        <p:nvSpPr>
          <p:cNvPr id="69" name="LEGALES_TEXTO_51">
            <a:extLst xmlns:a="http://schemas.openxmlformats.org/drawingml/2006/main">
              <a:ext uri="{FF2B5EF4-FFF2-40B4-BE49-F238E27FC236}">
                <a16:creationId xmlns:a16="http://schemas.microsoft.com/office/drawing/2014/main" id="{FC95FC02-0B6E-43B1-85CB-2F92154B8F07}"/>
              </a:ext>
            </a:extLst>
          </p:cNvPr>
          <p:cNvSpPr>
            <a:spLocks xmlns:a="http://schemas.openxmlformats.org/drawingml/2006/main" noGrp="1"/>
          </p:cNvSpPr>
          <p:nvPr/>
        </p:nvSpPr>
        <p:spPr>
          <a:xfrm xmlns:a="http://schemas.openxmlformats.org/drawingml/2006/main">
            <a:off x="2616175" y="27725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finalmente, </a:t>
            </a:r>
            <a:r>
              <a:rPr sz="600" b="1" i="0">
                <a:solidFill>
                  <a:srgbClr val="1F6F66"/>
                </a:solidFill>
                <a:latin typeface="Noto Sans"/>
                <a:ea typeface="Noto Sans"/>
                <a:cs typeface="Noto Sans"/>
              </a:rPr>
              <a:t>“Conocimiento y percepción sobre la Inteligencia </a:t>
            </a:r>
          </a:p>
        </p:txBody>
      </p:sp>
      <p:sp>
        <p:nvSpPr>
          <p:cNvPr id="70" name="LEGALES_TEXTO_52">
            <a:extLst xmlns:a="http://schemas.openxmlformats.org/drawingml/2006/main">
              <a:ext uri="{FF2B5EF4-FFF2-40B4-BE49-F238E27FC236}">
                <a16:creationId xmlns:a16="http://schemas.microsoft.com/office/drawing/2014/main" id="{80EC98BA-85D8-4AFD-BD32-1F24B52DA682}"/>
              </a:ext>
            </a:extLst>
          </p:cNvPr>
          <p:cNvSpPr>
            <a:spLocks xmlns:a="http://schemas.openxmlformats.org/drawingml/2006/main" noGrp="1"/>
          </p:cNvSpPr>
          <p:nvPr/>
        </p:nvSpPr>
        <p:spPr>
          <a:xfrm xmlns:a="http://schemas.openxmlformats.org/drawingml/2006/main">
            <a:off x="2616175" y="28729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Artificial (IA) y ChatGPT 2023”</a:t>
            </a:r>
            <a:r>
              <a:rPr sz="600" b="0" i="0">
                <a:solidFill>
                  <a:srgbClr val="26312F"/>
                </a:solidFill>
                <a:latin typeface="Noto Sans"/>
                <a:ea typeface="Noto Sans"/>
                <a:cs typeface="Noto Sans"/>
              </a:rPr>
              <a:t> para los principales hallazgos de la </a:t>
            </a:r>
          </a:p>
        </p:txBody>
      </p:sp>
      <p:sp>
        <p:nvSpPr>
          <p:cNvPr id="71" name="LEGALES_TEXTO_53">
            <a:extLst xmlns:a="http://schemas.openxmlformats.org/drawingml/2006/main">
              <a:ext uri="{FF2B5EF4-FFF2-40B4-BE49-F238E27FC236}">
                <a16:creationId xmlns:a16="http://schemas.microsoft.com/office/drawing/2014/main" id="{93CB2EEA-4357-4963-859F-4F13546BAE08}"/>
              </a:ext>
            </a:extLst>
          </p:cNvPr>
          <p:cNvSpPr>
            <a:spLocks xmlns:a="http://schemas.openxmlformats.org/drawingml/2006/main" noGrp="1"/>
          </p:cNvSpPr>
          <p:nvPr/>
        </p:nvSpPr>
        <p:spPr>
          <a:xfrm xmlns:a="http://schemas.openxmlformats.org/drawingml/2006/main">
            <a:off x="2616175" y="297342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Inteligencia Artificial (IA) y ChatGPT.</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352002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368570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a:t>
            </a:r>
            <a:r>
              <a:rPr sz="600" b="1" i="0">
                <a:solidFill>
                  <a:srgbClr val="1F6F66"/>
                </a:solidFill>
                <a:latin typeface="Noto Sans"/>
                <a:ea typeface="Noto Sans"/>
                <a:cs typeface="Noto Sans"/>
              </a:rPr>
              <a:t>“Tecnologías de la Información y Comunicación </a:t>
            </a:r>
          </a:p>
        </p:txBody>
      </p:sp>
      <p:sp>
        <p:nvSpPr>
          <p:cNvPr id="74" name="LEGALES_TEXTO_56">
            <a:extLst xmlns:a="http://schemas.openxmlformats.org/drawingml/2006/main">
              <a:ext uri="{FF2B5EF4-FFF2-40B4-BE49-F238E27FC236}">
                <a16:creationId xmlns:a16="http://schemas.microsoft.com/office/drawing/2014/main" id="{C58A70E0-D0BB-46E2-B798-D08C91B82CD3}"/>
              </a:ext>
            </a:extLst>
          </p:cNvPr>
          <p:cNvSpPr>
            <a:spLocks xmlns:a="http://schemas.openxmlformats.org/drawingml/2006/main" noGrp="1"/>
          </p:cNvSpPr>
          <p:nvPr/>
        </p:nvSpPr>
        <p:spPr>
          <a:xfrm xmlns:a="http://schemas.openxmlformats.org/drawingml/2006/main">
            <a:off x="2616175" y="37861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(TIC)”</a:t>
            </a:r>
            <a:r>
              <a:rPr sz="600" b="0" i="0">
                <a:solidFill>
                  <a:srgbClr val="26312F"/>
                </a:solidFill>
                <a:latin typeface="Noto Sans"/>
                <a:ea typeface="Noto Sans"/>
                <a:cs typeface="Noto Sans"/>
              </a:rPr>
              <a:t> se utilizó información de la </a:t>
            </a:r>
            <a:r>
              <a:rPr sz="600" b="1" i="0">
                <a:solidFill>
                  <a:srgbClr val="1F6F66"/>
                </a:solidFill>
                <a:latin typeface="Noto Sans"/>
                <a:ea typeface="Noto Sans"/>
                <a:cs typeface="Noto Sans"/>
              </a:rPr>
              <a:t>“Encuesta Nacional sobre </a:t>
            </a:r>
          </a:p>
        </p:txBody>
      </p:sp>
      <p:sp>
        <p:nvSpPr>
          <p:cNvPr id="75" name="LEGALES_TEXTO_57">
            <a:extLst xmlns:a="http://schemas.openxmlformats.org/drawingml/2006/main">
              <a:ext uri="{FF2B5EF4-FFF2-40B4-BE49-F238E27FC236}">
                <a16:creationId xmlns:a16="http://schemas.microsoft.com/office/drawing/2014/main" id="{874BA817-93AA-461A-96E0-21ABAFE93118}"/>
              </a:ext>
            </a:extLst>
          </p:cNvPr>
          <p:cNvSpPr>
            <a:spLocks xmlns:a="http://schemas.openxmlformats.org/drawingml/2006/main" noGrp="1"/>
          </p:cNvSpPr>
          <p:nvPr/>
        </p:nvSpPr>
        <p:spPr>
          <a:xfrm xmlns:a="http://schemas.openxmlformats.org/drawingml/2006/main">
            <a:off x="2616175" y="38865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Disponibilidad y Uso de Tecnologías de la Información en los </a:t>
            </a:r>
          </a:p>
        </p:txBody>
      </p:sp>
      <p:sp>
        <p:nvSpPr>
          <p:cNvPr id="76" name="LEGALES_TEXTO_58">
            <a:extLst xmlns:a="http://schemas.openxmlformats.org/drawingml/2006/main">
              <a:ext uri="{FF2B5EF4-FFF2-40B4-BE49-F238E27FC236}">
                <a16:creationId xmlns:a16="http://schemas.microsoft.com/office/drawing/2014/main" id="{54259248-885B-444B-97AD-5D72EE24BC05}"/>
              </a:ext>
            </a:extLst>
          </p:cNvPr>
          <p:cNvSpPr>
            <a:spLocks xmlns:a="http://schemas.openxmlformats.org/drawingml/2006/main" noGrp="1"/>
          </p:cNvSpPr>
          <p:nvPr/>
        </p:nvSpPr>
        <p:spPr>
          <a:xfrm xmlns:a="http://schemas.openxmlformats.org/drawingml/2006/main">
            <a:off x="2616175" y="39870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Hogares (ENDUTIH) 2023”</a:t>
            </a:r>
            <a:r>
              <a:rPr sz="600" b="0" i="0">
                <a:solidFill>
                  <a:srgbClr val="26312F"/>
                </a:solidFill>
                <a:latin typeface="Noto Sans"/>
                <a:ea typeface="Noto Sans"/>
                <a:cs typeface="Noto Sans"/>
              </a:rPr>
              <a:t> para obtener la disponibilidad de las TIC en </a:t>
            </a:r>
          </a:p>
        </p:txBody>
      </p:sp>
      <p:sp>
        <p:nvSpPr>
          <p:cNvPr id="77" name="LEGALES_TEXTO_59">
            <a:extLst xmlns:a="http://schemas.openxmlformats.org/drawingml/2006/main">
              <a:ext uri="{FF2B5EF4-FFF2-40B4-BE49-F238E27FC236}">
                <a16:creationId xmlns:a16="http://schemas.microsoft.com/office/drawing/2014/main" id="{63783503-A25A-4874-A398-D7F5A75D0539}"/>
              </a:ext>
            </a:extLst>
          </p:cNvPr>
          <p:cNvSpPr>
            <a:spLocks xmlns:a="http://schemas.openxmlformats.org/drawingml/2006/main" noGrp="1"/>
          </p:cNvSpPr>
          <p:nvPr/>
        </p:nvSpPr>
        <p:spPr>
          <a:xfrm xmlns:a="http://schemas.openxmlformats.org/drawingml/2006/main">
            <a:off x="2616175" y="4087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los hogares, el uso de </a:t>
            </a:r>
            <a:r>
              <a:rPr sz="600" b="0" i="1">
                <a:solidFill>
                  <a:srgbClr val="26312F"/>
                </a:solidFill>
                <a:latin typeface="Noto Sans"/>
                <a:ea typeface="Noto Sans"/>
                <a:cs typeface="Noto Sans"/>
              </a:rPr>
              <a:t>Smartphone</a:t>
            </a:r>
            <a:r>
              <a:rPr sz="600" b="0" i="0">
                <a:solidFill>
                  <a:srgbClr val="26312F"/>
                </a:solidFill>
                <a:latin typeface="Noto Sans"/>
                <a:ea typeface="Noto Sans"/>
                <a:cs typeface="Noto Sans"/>
              </a:rPr>
              <a:t> e Internet por grupos de edad, el </a:t>
            </a:r>
          </a:p>
        </p:txBody>
      </p:sp>
      <p:sp>
        <p:nvSpPr>
          <p:cNvPr id="78" name="LEGALES_TEXTO_60">
            <a:extLst xmlns:a="http://schemas.openxmlformats.org/drawingml/2006/main">
              <a:ext uri="{FF2B5EF4-FFF2-40B4-BE49-F238E27FC236}">
                <a16:creationId xmlns:a16="http://schemas.microsoft.com/office/drawing/2014/main" id="{89CAA21E-26B7-41C7-930C-C208CF22536D}"/>
              </a:ext>
            </a:extLst>
          </p:cNvPr>
          <p:cNvSpPr>
            <a:spLocks xmlns:a="http://schemas.openxmlformats.org/drawingml/2006/main" noGrp="1"/>
          </p:cNvSpPr>
          <p:nvPr/>
        </p:nvSpPr>
        <p:spPr>
          <a:xfrm xmlns:a="http://schemas.openxmlformats.org/drawingml/2006/main">
            <a:off x="2616175" y="41879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porcentaje de horas promedio de uso de Internet por grupos de edad y el </a:t>
            </a:r>
          </a:p>
        </p:txBody>
      </p:sp>
      <p:sp>
        <p:nvSpPr>
          <p:cNvPr id="79" name="LEGALES_TEXTO_61">
            <a:extLst xmlns:a="http://schemas.openxmlformats.org/drawingml/2006/main">
              <a:ext uri="{FF2B5EF4-FFF2-40B4-BE49-F238E27FC236}">
                <a16:creationId xmlns:a16="http://schemas.microsoft.com/office/drawing/2014/main" id="{402944B1-8F18-452B-A2CB-203ECD6301A8}"/>
              </a:ext>
            </a:extLst>
          </p:cNvPr>
          <p:cNvSpPr>
            <a:spLocks xmlns:a="http://schemas.openxmlformats.org/drawingml/2006/main" noGrp="1"/>
          </p:cNvSpPr>
          <p:nvPr/>
        </p:nvSpPr>
        <p:spPr>
          <a:xfrm xmlns:a="http://schemas.openxmlformats.org/drawingml/2006/main">
            <a:off x="2616175" y="42883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uso de dispositivos inteligentes conectados a Internet; para los efectos de </a:t>
            </a:r>
          </a:p>
        </p:txBody>
      </p:sp>
      <p:sp>
        <p:nvSpPr>
          <p:cNvPr id="80" name="LEGALES_TEXTO_62">
            <a:extLst xmlns:a="http://schemas.openxmlformats.org/drawingml/2006/main">
              <a:ext uri="{FF2B5EF4-FFF2-40B4-BE49-F238E27FC236}">
                <a16:creationId xmlns:a16="http://schemas.microsoft.com/office/drawing/2014/main" id="{015CBCF2-2A54-4EAC-806D-8D5654BF4EDD}"/>
              </a:ext>
            </a:extLst>
          </p:cNvPr>
          <p:cNvSpPr>
            <a:spLocks xmlns:a="http://schemas.openxmlformats.org/drawingml/2006/main" noGrp="1"/>
          </p:cNvSpPr>
          <p:nvPr/>
        </p:nvSpPr>
        <p:spPr>
          <a:xfrm xmlns:a="http://schemas.openxmlformats.org/drawingml/2006/main">
            <a:off x="2616175" y="438877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desconfianza en Internet sobre las actividades en línea de los usuarios </a:t>
            </a:r>
          </a:p>
        </p:txBody>
      </p:sp>
      <p:sp>
        <p:nvSpPr>
          <p:cNvPr id="81" name="LEGALES_TEXTO_63">
            <a:extLst xmlns:a="http://schemas.openxmlformats.org/drawingml/2006/main">
              <a:ext uri="{FF2B5EF4-FFF2-40B4-BE49-F238E27FC236}">
                <a16:creationId xmlns:a16="http://schemas.microsoft.com/office/drawing/2014/main" id="{174D32EB-2058-4884-9DFA-FE5FD0D8FA1F}"/>
              </a:ext>
            </a:extLst>
          </p:cNvPr>
          <p:cNvSpPr>
            <a:spLocks xmlns:a="http://schemas.openxmlformats.org/drawingml/2006/main" noGrp="1"/>
          </p:cNvSpPr>
          <p:nvPr/>
        </p:nvSpPr>
        <p:spPr>
          <a:xfrm xmlns:a="http://schemas.openxmlformats.org/drawingml/2006/main">
            <a:off x="2616175" y="44892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y la percepción o grado de desconfianza que tienen las personas al hacer </a:t>
            </a:r>
          </a:p>
        </p:txBody>
      </p:sp>
      <p:sp>
        <p:nvSpPr>
          <p:cNvPr id="82" name="LEGALES_TEXTO_64">
            <a:extLst xmlns:a="http://schemas.openxmlformats.org/drawingml/2006/main">
              <a:ext uri="{FF2B5EF4-FFF2-40B4-BE49-F238E27FC236}">
                <a16:creationId xmlns:a16="http://schemas.microsoft.com/office/drawing/2014/main" id="{B6D9C307-668A-4F2B-9909-6B2F3D234587}"/>
              </a:ext>
            </a:extLst>
          </p:cNvPr>
          <p:cNvSpPr>
            <a:spLocks xmlns:a="http://schemas.openxmlformats.org/drawingml/2006/main" noGrp="1"/>
          </p:cNvSpPr>
          <p:nvPr/>
        </p:nvSpPr>
        <p:spPr>
          <a:xfrm xmlns:a="http://schemas.openxmlformats.org/drawingml/2006/main">
            <a:off x="2616175" y="45896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uso del Internet se consultó la Encuesta de Confianza Servicio de </a:t>
            </a:r>
          </a:p>
        </p:txBody>
      </p:sp>
      <p:sp>
        <p:nvSpPr>
          <p:cNvPr id="83" name="LEGALES_TEXTO_65">
            <a:extLst xmlns:a="http://schemas.openxmlformats.org/drawingml/2006/main">
              <a:ext uri="{FF2B5EF4-FFF2-40B4-BE49-F238E27FC236}">
                <a16:creationId xmlns:a16="http://schemas.microsoft.com/office/drawing/2014/main" id="{553CD496-F665-44C3-A9E2-19ACC4BC5B65}"/>
              </a:ext>
            </a:extLst>
          </p:cNvPr>
          <p:cNvSpPr>
            <a:spLocks xmlns:a="http://schemas.openxmlformats.org/drawingml/2006/main" noGrp="1"/>
          </p:cNvSpPr>
          <p:nvPr/>
        </p:nvSpPr>
        <p:spPr>
          <a:xfrm xmlns:a="http://schemas.openxmlformats.org/drawingml/2006/main">
            <a:off x="2616175" y="46900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Internet (ECSI) 2024 del IFT.</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5842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5842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“Indicadores con perspectiva de género”</a:t>
            </a:r>
            <a:r>
              <a:rPr sz="600" b="0" i="0">
                <a:solidFill>
                  <a:srgbClr val="26312F"/>
                </a:solidFill>
                <a:latin typeface="Noto Sans"/>
                <a:ea typeface="Noto Sans"/>
                <a:cs typeface="Noto Sans"/>
              </a:rPr>
              <a:t> se realizó </a:t>
            </a:r>
          </a:p>
        </p:txBody>
      </p:sp>
      <p:sp>
        <p:nvSpPr>
          <p:cNvPr id="86" name="LEGALES_TEXTO_68">
            <a:extLst xmlns:a="http://schemas.openxmlformats.org/drawingml/2006/main">
              <a:ext uri="{FF2B5EF4-FFF2-40B4-BE49-F238E27FC236}">
                <a16:creationId xmlns:a16="http://schemas.microsoft.com/office/drawing/2014/main" id="{44036247-F94D-46A0-B27D-F819A9F85F2D}"/>
              </a:ext>
            </a:extLst>
          </p:cNvPr>
          <p:cNvSpPr>
            <a:spLocks xmlns:a="http://schemas.openxmlformats.org/drawingml/2006/main" noGrp="1"/>
          </p:cNvSpPr>
          <p:nvPr/>
        </p:nvSpPr>
        <p:spPr>
          <a:xfrm xmlns:a="http://schemas.openxmlformats.org/drawingml/2006/main">
            <a:off x="5842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con información obtenida de la </a:t>
            </a:r>
            <a:r>
              <a:rPr sz="600" b="1" i="0">
                <a:solidFill>
                  <a:srgbClr val="1F6F66"/>
                </a:solidFill>
                <a:latin typeface="Noto Sans"/>
                <a:ea typeface="Noto Sans"/>
                <a:cs typeface="Noto Sans"/>
              </a:rPr>
              <a:t>“ENDUTIH 2023”</a:t>
            </a:r>
            <a:r>
              <a:rPr sz="600" b="0" i="0">
                <a:solidFill>
                  <a:srgbClr val="26312F"/>
                </a:solidFill>
                <a:latin typeface="Noto Sans"/>
                <a:ea typeface="Noto Sans"/>
                <a:cs typeface="Noto Sans"/>
              </a:rPr>
              <a:t>, la </a:t>
            </a:r>
            <a:r>
              <a:rPr sz="600" b="1" i="0">
                <a:solidFill>
                  <a:srgbClr val="1F6F66"/>
                </a:solidFill>
                <a:latin typeface="Noto Sans"/>
                <a:ea typeface="Noto Sans"/>
                <a:cs typeface="Noto Sans"/>
              </a:rPr>
              <a:t>“Encuesta </a:t>
            </a:r>
          </a:p>
        </p:txBody>
      </p:sp>
      <p:sp>
        <p:nvSpPr>
          <p:cNvPr id="87" name="LEGALES_TEXTO_69">
            <a:extLst xmlns:a="http://schemas.openxmlformats.org/drawingml/2006/main">
              <a:ext uri="{FF2B5EF4-FFF2-40B4-BE49-F238E27FC236}">
                <a16:creationId xmlns:a16="http://schemas.microsoft.com/office/drawing/2014/main" id="{18E797FC-7C07-4216-98B4-B52984A311E7}"/>
              </a:ext>
            </a:extLst>
          </p:cNvPr>
          <p:cNvSpPr>
            <a:spLocks xmlns:a="http://schemas.openxmlformats.org/drawingml/2006/main" noGrp="1"/>
          </p:cNvSpPr>
          <p:nvPr/>
        </p:nvSpPr>
        <p:spPr>
          <a:xfrm xmlns:a="http://schemas.openxmlformats.org/drawingml/2006/main">
            <a:off x="5842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Nacional de Ocupación y Empleo (ENOE) 2024”</a:t>
            </a:r>
            <a:r>
              <a:rPr sz="600" b="0" i="0">
                <a:solidFill>
                  <a:srgbClr val="26312F"/>
                </a:solidFill>
                <a:latin typeface="Noto Sans"/>
                <a:ea typeface="Noto Sans"/>
                <a:cs typeface="Noto Sans"/>
              </a:rPr>
              <a:t> y el Módulo sobre </a:t>
            </a:r>
          </a:p>
        </p:txBody>
      </p:sp>
      <p:sp>
        <p:nvSpPr>
          <p:cNvPr id="88" name="LEGALES_TEXTO_70">
            <a:extLst xmlns:a="http://schemas.openxmlformats.org/drawingml/2006/main">
              <a:ext uri="{FF2B5EF4-FFF2-40B4-BE49-F238E27FC236}">
                <a16:creationId xmlns:a16="http://schemas.microsoft.com/office/drawing/2014/main" id="{A3C6FA5F-01B5-44AB-AE30-55796084AB69}"/>
              </a:ext>
            </a:extLst>
          </p:cNvPr>
          <p:cNvSpPr>
            <a:spLocks xmlns:a="http://schemas.openxmlformats.org/drawingml/2006/main" noGrp="1"/>
          </p:cNvSpPr>
          <p:nvPr/>
        </p:nvSpPr>
        <p:spPr>
          <a:xfrm xmlns:a="http://schemas.openxmlformats.org/drawingml/2006/main">
            <a:off x="5842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Ciberacoso (MOCIBA) 2023 del INEGI, así como de la Tercera Encuesta </a:t>
            </a:r>
          </a:p>
        </p:txBody>
      </p:sp>
      <p:sp>
        <p:nvSpPr>
          <p:cNvPr id="89" name="LEGALES_TEXTO_71">
            <a:extLst xmlns:a="http://schemas.openxmlformats.org/drawingml/2006/main">
              <a:ext uri="{FF2B5EF4-FFF2-40B4-BE49-F238E27FC236}">
                <a16:creationId xmlns:a16="http://schemas.microsoft.com/office/drawing/2014/main" id="{7C467844-57DD-44AD-B89E-DC6D75A7BDAF}"/>
              </a:ext>
            </a:extLst>
          </p:cNvPr>
          <p:cNvSpPr>
            <a:spLocks xmlns:a="http://schemas.openxmlformats.org/drawingml/2006/main" noGrp="1"/>
          </p:cNvSpPr>
          <p:nvPr/>
        </p:nvSpPr>
        <p:spPr>
          <a:xfrm xmlns:a="http://schemas.openxmlformats.org/drawingml/2006/main">
            <a:off x="5842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2023, Usuarios de Servicios de Telecomunicaciones de CGPU .</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1581228"/>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17472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“Panorama de Consumo de Televisión y Radio”</a:t>
            </a:r>
            <a:r>
              <a:rPr sz="600" b="0" i="0">
                <a:solidFill>
                  <a:srgbClr val="26312F"/>
                </a:solidFill>
                <a:latin typeface="Noto Sans"/>
                <a:ea typeface="Noto Sans"/>
                <a:cs typeface="Noto Sans"/>
              </a:rPr>
              <a:t> fue </a:t>
            </a:r>
          </a:p>
        </p:txBody>
      </p:sp>
      <p:sp>
        <p:nvSpPr>
          <p:cNvPr id="92" name="LEGALES_TEXTO_74">
            <a:extLst xmlns:a="http://schemas.openxmlformats.org/drawingml/2006/main">
              <a:ext uri="{FF2B5EF4-FFF2-40B4-BE49-F238E27FC236}">
                <a16:creationId xmlns:a16="http://schemas.microsoft.com/office/drawing/2014/main" id="{156F81B9-A05A-47C3-9363-5D5943BA8B41}"/>
              </a:ext>
            </a:extLst>
          </p:cNvPr>
          <p:cNvSpPr>
            <a:spLocks xmlns:a="http://schemas.openxmlformats.org/drawingml/2006/main" noGrp="1"/>
          </p:cNvSpPr>
          <p:nvPr/>
        </p:nvSpPr>
        <p:spPr>
          <a:xfrm xmlns:a="http://schemas.openxmlformats.org/drawingml/2006/main">
            <a:off x="5842175" y="184769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generada por la Unidad de Medios y Contenidos Audiovisuales del </a:t>
            </a:r>
          </a:p>
        </p:txBody>
      </p:sp>
      <p:sp>
        <p:nvSpPr>
          <p:cNvPr id="93" name="LEGALES_TEXTO_75">
            <a:extLst xmlns:a="http://schemas.openxmlformats.org/drawingml/2006/main">
              <a:ext uri="{FF2B5EF4-FFF2-40B4-BE49-F238E27FC236}">
                <a16:creationId xmlns:a16="http://schemas.microsoft.com/office/drawing/2014/main" id="{B9710AFD-3D44-4C42-A664-1C6E2FE9B5AD}"/>
              </a:ext>
            </a:extLst>
          </p:cNvPr>
          <p:cNvSpPr>
            <a:spLocks xmlns:a="http://schemas.openxmlformats.org/drawingml/2006/main" noGrp="1"/>
          </p:cNvSpPr>
          <p:nvPr/>
        </p:nvSpPr>
        <p:spPr>
          <a:xfrm xmlns:a="http://schemas.openxmlformats.org/drawingml/2006/main">
            <a:off x="5842175" y="194814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Federal de Telecomunicaciones, a partir de datos recopilados a </a:t>
            </a:r>
          </a:p>
        </p:txBody>
      </p:sp>
      <p:sp>
        <p:nvSpPr>
          <p:cNvPr id="94" name="LEGALES_TEXTO_76">
            <a:extLst xmlns:a="http://schemas.openxmlformats.org/drawingml/2006/main">
              <a:ext uri="{FF2B5EF4-FFF2-40B4-BE49-F238E27FC236}">
                <a16:creationId xmlns:a16="http://schemas.microsoft.com/office/drawing/2014/main" id="{629CF789-2DE9-4EAE-9AAE-CD1573B535CB}"/>
              </a:ext>
            </a:extLst>
          </p:cNvPr>
          <p:cNvSpPr>
            <a:spLocks xmlns:a="http://schemas.openxmlformats.org/drawingml/2006/main" noGrp="1"/>
          </p:cNvSpPr>
          <p:nvPr/>
        </p:nvSpPr>
        <p:spPr>
          <a:xfrm xmlns:a="http://schemas.openxmlformats.org/drawingml/2006/main">
            <a:off x="5842175" y="204858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través de muestreo por la empresa Nielsen IBOPE México S.A. de C.V. </a:t>
            </a:r>
          </a:p>
        </p:txBody>
      </p:sp>
      <p:sp>
        <p:nvSpPr>
          <p:cNvPr id="95" name="LEGALES_TEXTO_77">
            <a:extLst xmlns:a="http://schemas.openxmlformats.org/drawingml/2006/main">
              <a:ext uri="{FF2B5EF4-FFF2-40B4-BE49-F238E27FC236}">
                <a16:creationId xmlns:a16="http://schemas.microsoft.com/office/drawing/2014/main" id="{D2CF7B25-53B2-4110-B8FC-BBA164B3BE85}"/>
              </a:ext>
            </a:extLst>
          </p:cNvPr>
          <p:cNvSpPr>
            <a:spLocks xmlns:a="http://schemas.openxmlformats.org/drawingml/2006/main" noGrp="1"/>
          </p:cNvSpPr>
          <p:nvPr/>
        </p:nvSpPr>
        <p:spPr>
          <a:xfrm xmlns:a="http://schemas.openxmlformats.org/drawingml/2006/main">
            <a:off x="5842175" y="214901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e Investigación de Mercados INRA, por lo cual la </a:t>
            </a:r>
          </a:p>
        </p:txBody>
      </p:sp>
      <p:sp>
        <p:nvSpPr>
          <p:cNvPr id="96" name="LEGALES_TEXTO_78">
            <a:extLst xmlns:a="http://schemas.openxmlformats.org/drawingml/2006/main">
              <a:ext uri="{FF2B5EF4-FFF2-40B4-BE49-F238E27FC236}">
                <a16:creationId xmlns:a16="http://schemas.microsoft.com/office/drawing/2014/main" id="{B9000ACF-949B-4FE7-856B-FA85A9EF6351}"/>
              </a:ext>
            </a:extLst>
          </p:cNvPr>
          <p:cNvSpPr>
            <a:spLocks xmlns:a="http://schemas.openxmlformats.org/drawingml/2006/main" noGrp="1"/>
          </p:cNvSpPr>
          <p:nvPr/>
        </p:nvSpPr>
        <p:spPr>
          <a:xfrm xmlns:a="http://schemas.openxmlformats.org/drawingml/2006/main">
            <a:off x="5842175" y="224946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información presentada debe ser considerada como estimaciones. Se le </a:t>
            </a:r>
          </a:p>
        </p:txBody>
      </p:sp>
      <p:sp>
        <p:nvSpPr>
          <p:cNvPr id="97" name="LEGALES_TEXTO_79">
            <a:extLst xmlns:a="http://schemas.openxmlformats.org/drawingml/2006/main">
              <a:ext uri="{FF2B5EF4-FFF2-40B4-BE49-F238E27FC236}">
                <a16:creationId xmlns:a16="http://schemas.microsoft.com/office/drawing/2014/main" id="{7CCE6EA6-CDF9-4AE4-B481-792D32123FE2}"/>
              </a:ext>
            </a:extLst>
          </p:cNvPr>
          <p:cNvSpPr>
            <a:spLocks xmlns:a="http://schemas.openxmlformats.org/drawingml/2006/main" noGrp="1"/>
          </p:cNvSpPr>
          <p:nvPr/>
        </p:nvSpPr>
        <p:spPr>
          <a:xfrm xmlns:a="http://schemas.openxmlformats.org/drawingml/2006/main">
            <a:off x="5842175" y="234990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recomienda al lector consultar el Anexo: Definiciones para su mejor </a:t>
            </a:r>
          </a:p>
        </p:txBody>
      </p:sp>
      <p:sp>
        <p:nvSpPr>
          <p:cNvPr id="98" name="LEGALES_TEXTO_80">
            <a:extLst xmlns:a="http://schemas.openxmlformats.org/drawingml/2006/main">
              <a:ext uri="{FF2B5EF4-FFF2-40B4-BE49-F238E27FC236}">
                <a16:creationId xmlns:a16="http://schemas.microsoft.com/office/drawing/2014/main" id="{07F3746D-D964-49E2-9C37-B094463B0F14}"/>
              </a:ext>
            </a:extLst>
          </p:cNvPr>
          <p:cNvSpPr>
            <a:spLocks xmlns:a="http://schemas.openxmlformats.org/drawingml/2006/main" noGrp="1"/>
          </p:cNvSpPr>
          <p:nvPr/>
        </p:nvSpPr>
        <p:spPr>
          <a:xfrm xmlns:a="http://schemas.openxmlformats.org/drawingml/2006/main">
            <a:off x="5842175" y="245033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724952"/>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8908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que contiene el presente reporte en cuanto a su análisis e </a:t>
            </a:r>
          </a:p>
        </p:txBody>
      </p:sp>
      <p:sp>
        <p:nvSpPr>
          <p:cNvPr id="101" name="LEGALES_TEXTO_83">
            <a:extLst xmlns:a="http://schemas.openxmlformats.org/drawingml/2006/main">
              <a:ext uri="{FF2B5EF4-FFF2-40B4-BE49-F238E27FC236}">
                <a16:creationId xmlns:a16="http://schemas.microsoft.com/office/drawing/2014/main" id="{DE77F7C0-8FCA-49D6-8B07-2EB34C313662}"/>
              </a:ext>
            </a:extLst>
          </p:cNvPr>
          <p:cNvSpPr>
            <a:spLocks xmlns:a="http://schemas.openxmlformats.org/drawingml/2006/main" noGrp="1"/>
          </p:cNvSpPr>
          <p:nvPr/>
        </p:nvSpPr>
        <p:spPr>
          <a:xfrm xmlns:a="http://schemas.openxmlformats.org/drawingml/2006/main">
            <a:off x="5842175" y="29897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 fue realizada bajo la responsabilidad del Instituto Federal </a:t>
            </a:r>
          </a:p>
        </p:txBody>
      </p:sp>
      <p:sp>
        <p:nvSpPr>
          <p:cNvPr id="102" name="LEGALES_TEXTO_84">
            <a:extLst xmlns:a="http://schemas.openxmlformats.org/drawingml/2006/main">
              <a:ext uri="{FF2B5EF4-FFF2-40B4-BE49-F238E27FC236}">
                <a16:creationId xmlns:a16="http://schemas.microsoft.com/office/drawing/2014/main" id="{E47B8FD3-F41A-474A-8078-1EEDE80EA698}"/>
              </a:ext>
            </a:extLst>
          </p:cNvPr>
          <p:cNvSpPr>
            <a:spLocks xmlns:a="http://schemas.openxmlformats.org/drawingml/2006/main" noGrp="1"/>
          </p:cNvSpPr>
          <p:nvPr/>
        </p:nvSpPr>
        <p:spPr>
          <a:xfrm xmlns:a="http://schemas.openxmlformats.org/drawingml/2006/main">
            <a:off x="5842175" y="30887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(IFT) con información de audiencias propiedad de </a:t>
            </a:r>
          </a:p>
        </p:txBody>
      </p:sp>
      <p:sp>
        <p:nvSpPr>
          <p:cNvPr id="103" name="LEGALES_TEXTO_85">
            <a:extLst xmlns:a="http://schemas.openxmlformats.org/drawingml/2006/main">
              <a:ext uri="{FF2B5EF4-FFF2-40B4-BE49-F238E27FC236}">
                <a16:creationId xmlns:a16="http://schemas.microsoft.com/office/drawing/2014/main" id="{2600AE3C-89A2-4429-B1F7-63CD6E20515D}"/>
              </a:ext>
            </a:extLst>
          </p:cNvPr>
          <p:cNvSpPr>
            <a:spLocks xmlns:a="http://schemas.openxmlformats.org/drawingml/2006/main" noGrp="1"/>
          </p:cNvSpPr>
          <p:nvPr/>
        </p:nvSpPr>
        <p:spPr>
          <a:xfrm xmlns:a="http://schemas.openxmlformats.org/drawingml/2006/main">
            <a:off x="5842175" y="31876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 Bajo los términos contractuales del </a:t>
            </a:r>
          </a:p>
        </p:txBody>
      </p:sp>
      <p:sp>
        <p:nvSpPr>
          <p:cNvPr id="104" name="LEGALES_TEXTO_86">
            <a:extLst xmlns:a="http://schemas.openxmlformats.org/drawingml/2006/main">
              <a:ext uri="{FF2B5EF4-FFF2-40B4-BE49-F238E27FC236}">
                <a16:creationId xmlns:a16="http://schemas.microsoft.com/office/drawing/2014/main" id="{6D381704-7446-4964-AE66-5460B39FA41E}"/>
              </a:ext>
            </a:extLst>
          </p:cNvPr>
          <p:cNvSpPr>
            <a:spLocks xmlns:a="http://schemas.openxmlformats.org/drawingml/2006/main" noGrp="1"/>
          </p:cNvSpPr>
          <p:nvPr/>
        </p:nvSpPr>
        <p:spPr>
          <a:xfrm xmlns:a="http://schemas.openxmlformats.org/drawingml/2006/main">
            <a:off x="5842175" y="32865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licenciamiento de las Bases de datos de audiencias de televisión, Nielsen </a:t>
            </a:r>
          </a:p>
        </p:txBody>
      </p:sp>
      <p:sp>
        <p:nvSpPr>
          <p:cNvPr id="105" name="LEGALES_TEXTO_87">
            <a:extLst xmlns:a="http://schemas.openxmlformats.org/drawingml/2006/main">
              <a:ext uri="{FF2B5EF4-FFF2-40B4-BE49-F238E27FC236}">
                <a16:creationId xmlns:a16="http://schemas.microsoft.com/office/drawing/2014/main" id="{D33530D2-EDEA-4610-9529-09441555AFA5}"/>
              </a:ext>
            </a:extLst>
          </p:cNvPr>
          <p:cNvSpPr>
            <a:spLocks xmlns:a="http://schemas.openxmlformats.org/drawingml/2006/main" noGrp="1"/>
          </p:cNvSpPr>
          <p:nvPr/>
        </p:nvSpPr>
        <p:spPr>
          <a:xfrm xmlns:a="http://schemas.openxmlformats.org/drawingml/2006/main">
            <a:off x="5842175" y="33855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IBOPE México, S.A. De C.V. ha validado al IFT que la información </a:t>
            </a:r>
          </a:p>
        </p:txBody>
      </p:sp>
      <p:sp>
        <p:nvSpPr>
          <p:cNvPr id="106" name="LEGALES_TEXTO_88">
            <a:extLst xmlns:a="http://schemas.openxmlformats.org/drawingml/2006/main">
              <a:ext uri="{FF2B5EF4-FFF2-40B4-BE49-F238E27FC236}">
                <a16:creationId xmlns:a16="http://schemas.microsoft.com/office/drawing/2014/main" id="{6E9D6700-BF1F-4066-9D50-0680827F7226}"/>
              </a:ext>
            </a:extLst>
          </p:cNvPr>
          <p:cNvSpPr>
            <a:spLocks xmlns:a="http://schemas.openxmlformats.org/drawingml/2006/main" noGrp="1"/>
          </p:cNvSpPr>
          <p:nvPr/>
        </p:nvSpPr>
        <p:spPr>
          <a:xfrm xmlns:a="http://schemas.openxmlformats.org/drawingml/2006/main">
            <a:off x="5842175" y="3484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estadística de audiencias de televisión contenida en el mencionado </a:t>
            </a:r>
          </a:p>
        </p:txBody>
      </p:sp>
      <p:sp>
        <p:nvSpPr>
          <p:cNvPr id="107" name="LEGALES_TEXTO_89">
            <a:extLst xmlns:a="http://schemas.openxmlformats.org/drawingml/2006/main">
              <a:ext uri="{FF2B5EF4-FFF2-40B4-BE49-F238E27FC236}">
                <a16:creationId xmlns:a16="http://schemas.microsoft.com/office/drawing/2014/main" id="{78A4BF30-D981-4932-8ED5-DC4863B7E0B4}"/>
              </a:ext>
            </a:extLst>
          </p:cNvPr>
          <p:cNvSpPr>
            <a:spLocks xmlns:a="http://schemas.openxmlformats.org/drawingml/2006/main" noGrp="1"/>
          </p:cNvSpPr>
          <p:nvPr/>
        </p:nvSpPr>
        <p:spPr>
          <a:xfrm xmlns:a="http://schemas.openxmlformats.org/drawingml/2006/main">
            <a:off x="5842175" y="35833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reporte concuerda con aquellas bases de datos licenciadas al IFT por </a:t>
            </a:r>
          </a:p>
        </p:txBody>
      </p:sp>
      <p:sp>
        <p:nvSpPr>
          <p:cNvPr id="108" name="LEGALES_TEXTO_90">
            <a:extLst xmlns:a="http://schemas.openxmlformats.org/drawingml/2006/main">
              <a:ext uri="{FF2B5EF4-FFF2-40B4-BE49-F238E27FC236}">
                <a16:creationId xmlns:a16="http://schemas.microsoft.com/office/drawing/2014/main" id="{72EC4A6F-3ED2-4E58-AFD0-DE94CCF8589D}"/>
              </a:ext>
            </a:extLst>
          </p:cNvPr>
          <p:cNvSpPr>
            <a:spLocks xmlns:a="http://schemas.openxmlformats.org/drawingml/2006/main" noGrp="1"/>
          </p:cNvSpPr>
          <p:nvPr/>
        </p:nvSpPr>
        <p:spPr>
          <a:xfrm xmlns:a="http://schemas.openxmlformats.org/drawingml/2006/main">
            <a:off x="5842175" y="368233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a:t>
            </a:r>
          </a:p>
        </p:txBody>
      </p:sp>
      <p:sp>
        <p:nvSpPr>
          <p:cNvPr id="109" name="LEGALES_TEXTO_91">
            <a:extLst xmlns:a="http://schemas.openxmlformats.org/drawingml/2006/main">
              <a:ext uri="{FF2B5EF4-FFF2-40B4-BE49-F238E27FC236}">
                <a16:creationId xmlns:a16="http://schemas.microsoft.com/office/drawing/2014/main" id="{3F2B4ADB-6731-4B15-8BCF-82CACFDA0026}"/>
              </a:ext>
            </a:extLst>
          </p:cNvPr>
          <p:cNvSpPr>
            <a:spLocks xmlns:a="http://schemas.openxmlformats.org/drawingml/2006/main" noGrp="1"/>
          </p:cNvSpPr>
          <p:nvPr/>
        </p:nvSpPr>
        <p:spPr>
          <a:xfrm xmlns:a="http://schemas.openxmlformats.org/drawingml/2006/main">
            <a:off x="5842175" y="38312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Instituto Federal de Telecomunicaciones recuerda al lector que al </a:t>
            </a:r>
          </a:p>
        </p:txBody>
      </p:sp>
      <p:sp>
        <p:nvSpPr>
          <p:cNvPr id="110" name="LEGALES_TEXTO_92">
            <a:extLst xmlns:a="http://schemas.openxmlformats.org/drawingml/2006/main">
              <a:ext uri="{FF2B5EF4-FFF2-40B4-BE49-F238E27FC236}">
                <a16:creationId xmlns:a16="http://schemas.microsoft.com/office/drawing/2014/main" id="{5288253F-5212-4F87-89BF-7C8921D8BEEC}"/>
              </a:ext>
            </a:extLst>
          </p:cNvPr>
          <p:cNvSpPr>
            <a:spLocks xmlns:a="http://schemas.openxmlformats.org/drawingml/2006/main" noGrp="1"/>
          </p:cNvSpPr>
          <p:nvPr/>
        </p:nvSpPr>
        <p:spPr>
          <a:xfrm xmlns:a="http://schemas.openxmlformats.org/drawingml/2006/main">
            <a:off x="5842175" y="393019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momento de realizar análisis de la información contenida en la presente </a:t>
            </a:r>
          </a:p>
        </p:txBody>
      </p:sp>
      <p:sp>
        <p:nvSpPr>
          <p:cNvPr id="111" name="LEGALES_TEXTO_93">
            <a:extLst xmlns:a="http://schemas.openxmlformats.org/drawingml/2006/main">
              <a:ext uri="{FF2B5EF4-FFF2-40B4-BE49-F238E27FC236}">
                <a16:creationId xmlns:a16="http://schemas.microsoft.com/office/drawing/2014/main" id="{345A5E08-26AF-4BD5-9C20-3E0213E58B83}"/>
              </a:ext>
            </a:extLst>
          </p:cNvPr>
          <p:cNvSpPr>
            <a:spLocks xmlns:a="http://schemas.openxmlformats.org/drawingml/2006/main" noGrp="1"/>
          </p:cNvSpPr>
          <p:nvPr/>
        </p:nvSpPr>
        <p:spPr>
          <a:xfrm xmlns:a="http://schemas.openxmlformats.org/drawingml/2006/main">
            <a:off x="5842175" y="402911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debe tomar en cuenta la existencia de distintos factores de </a:t>
            </a:r>
          </a:p>
        </p:txBody>
      </p:sp>
      <p:sp>
        <p:nvSpPr>
          <p:cNvPr id="112" name="LEGALES_TEXTO_94">
            <a:extLst xmlns:a="http://schemas.openxmlformats.org/drawingml/2006/main">
              <a:ext uri="{FF2B5EF4-FFF2-40B4-BE49-F238E27FC236}">
                <a16:creationId xmlns:a16="http://schemas.microsoft.com/office/drawing/2014/main" id="{121D9F6A-D871-4639-B011-EDDF2D8B29C1}"/>
              </a:ext>
            </a:extLst>
          </p:cNvPr>
          <p:cNvSpPr>
            <a:spLocks xmlns:a="http://schemas.openxmlformats.org/drawingml/2006/main" noGrp="1"/>
          </p:cNvSpPr>
          <p:nvPr/>
        </p:nvSpPr>
        <p:spPr>
          <a:xfrm xmlns:a="http://schemas.openxmlformats.org/drawingml/2006/main">
            <a:off x="5842175" y="41280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cambio en el mercado televisivo, así como en el estudio de medición de </a:t>
            </a:r>
          </a:p>
        </p:txBody>
      </p:sp>
      <p:sp>
        <p:nvSpPr>
          <p:cNvPr id="113" name="LEGALES_TEXTO_95">
            <a:extLst xmlns:a="http://schemas.openxmlformats.org/drawingml/2006/main">
              <a:ext uri="{FF2B5EF4-FFF2-40B4-BE49-F238E27FC236}">
                <a16:creationId xmlns:a16="http://schemas.microsoft.com/office/drawing/2014/main" id="{8434DF72-DFAD-4AE4-96A9-4821245C8516}"/>
              </a:ext>
            </a:extLst>
          </p:cNvPr>
          <p:cNvSpPr>
            <a:spLocks xmlns:a="http://schemas.openxmlformats.org/drawingml/2006/main" noGrp="1"/>
          </p:cNvSpPr>
          <p:nvPr/>
        </p:nvSpPr>
        <p:spPr>
          <a:xfrm xmlns:a="http://schemas.openxmlformats.org/drawingml/2006/main">
            <a:off x="5842175" y="42269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audiencias de Nielsen IBOPE México, para las conclusiones que se </a:t>
            </a:r>
          </a:p>
        </p:txBody>
      </p:sp>
      <p:sp>
        <p:nvSpPr>
          <p:cNvPr id="114" name="LEGALES_TEXTO_96">
            <a:extLst xmlns:a="http://schemas.openxmlformats.org/drawingml/2006/main">
              <a:ext uri="{FF2B5EF4-FFF2-40B4-BE49-F238E27FC236}">
                <a16:creationId xmlns:a16="http://schemas.microsoft.com/office/drawing/2014/main" id="{529DBD6F-2A47-4BD2-A5F0-B06022B47494}"/>
              </a:ext>
            </a:extLst>
          </p:cNvPr>
          <p:cNvSpPr>
            <a:spLocks xmlns:a="http://schemas.openxmlformats.org/drawingml/2006/main" noGrp="1"/>
          </p:cNvSpPr>
          <p:nvPr/>
        </p:nvSpPr>
        <p:spPr>
          <a:xfrm xmlns:a="http://schemas.openxmlformats.org/drawingml/2006/main">
            <a:off x="5842175" y="43259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formulen con la información reportada en los documentos que emita el </a:t>
            </a:r>
          </a:p>
        </p:txBody>
      </p:sp>
      <p:sp>
        <p:nvSpPr>
          <p:cNvPr id="115" name="LEGALES_TEXTO_97">
            <a:extLst xmlns:a="http://schemas.openxmlformats.org/drawingml/2006/main">
              <a:ext uri="{FF2B5EF4-FFF2-40B4-BE49-F238E27FC236}">
                <a16:creationId xmlns:a16="http://schemas.microsoft.com/office/drawing/2014/main" id="{F978ADF3-A783-4EE0-8C9D-A8A89471E346}"/>
              </a:ext>
            </a:extLst>
          </p:cNvPr>
          <p:cNvSpPr>
            <a:spLocks xmlns:a="http://schemas.openxmlformats.org/drawingml/2006/main" noGrp="1"/>
          </p:cNvSpPr>
          <p:nvPr/>
        </p:nvSpPr>
        <p:spPr>
          <a:xfrm xmlns:a="http://schemas.openxmlformats.org/drawingml/2006/main">
            <a:off x="5842175" y="44248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por distintos periodos. El Instituto Federal de </a:t>
            </a:r>
          </a:p>
        </p:txBody>
      </p:sp>
      <p:sp>
        <p:nvSpPr>
          <p:cNvPr id="116" name="LEGALES_TEXTO_98">
            <a:extLst xmlns:a="http://schemas.openxmlformats.org/drawingml/2006/main">
              <a:ext uri="{FF2B5EF4-FFF2-40B4-BE49-F238E27FC236}">
                <a16:creationId xmlns:a16="http://schemas.microsoft.com/office/drawing/2014/main" id="{852B498E-F1A1-41F3-9B39-504CEE4B7610}"/>
              </a:ext>
            </a:extLst>
          </p:cNvPr>
          <p:cNvSpPr>
            <a:spLocks xmlns:a="http://schemas.openxmlformats.org/drawingml/2006/main" noGrp="1"/>
          </p:cNvSpPr>
          <p:nvPr/>
        </p:nvSpPr>
        <p:spPr>
          <a:xfrm xmlns:a="http://schemas.openxmlformats.org/drawingml/2006/main">
            <a:off x="5842175" y="45237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derivado de su relación comercial con Nielsen IBOPE </a:t>
            </a:r>
          </a:p>
        </p:txBody>
      </p:sp>
      <p:sp>
        <p:nvSpPr>
          <p:cNvPr id="117" name="LEGALES_TEXTO_99">
            <a:extLst xmlns:a="http://schemas.openxmlformats.org/drawingml/2006/main">
              <a:ext uri="{FF2B5EF4-FFF2-40B4-BE49-F238E27FC236}">
                <a16:creationId xmlns:a16="http://schemas.microsoft.com/office/drawing/2014/main" id="{B58804A9-499F-43A9-8244-2F2FFA638CA6}"/>
              </a:ext>
            </a:extLst>
          </p:cNvPr>
          <p:cNvSpPr>
            <a:spLocks xmlns:a="http://schemas.openxmlformats.org/drawingml/2006/main" noGrp="1"/>
          </p:cNvSpPr>
          <p:nvPr/>
        </p:nvSpPr>
        <p:spPr>
          <a:xfrm xmlns:a="http://schemas.openxmlformats.org/drawingml/2006/main">
            <a:off x="5842175" y="46227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México, S.A. De C.V. no se hace responsable de la interpretación que </a:t>
            </a:r>
          </a:p>
        </p:txBody>
      </p:sp>
      <p:sp>
        <p:nvSpPr>
          <p:cNvPr id="118" name="LEGALES_TEXTO_100">
            <a:extLst xmlns:a="http://schemas.openxmlformats.org/drawingml/2006/main">
              <a:ext uri="{FF2B5EF4-FFF2-40B4-BE49-F238E27FC236}">
                <a16:creationId xmlns:a16="http://schemas.microsoft.com/office/drawing/2014/main" id="{462D49E8-51DE-40AF-B2E6-14D566BE9440}"/>
              </a:ext>
            </a:extLst>
          </p:cNvPr>
          <p:cNvSpPr>
            <a:spLocks xmlns:a="http://schemas.openxmlformats.org/drawingml/2006/main" noGrp="1"/>
          </p:cNvSpPr>
          <p:nvPr/>
        </p:nvSpPr>
        <p:spPr>
          <a:xfrm xmlns:a="http://schemas.openxmlformats.org/drawingml/2006/main">
            <a:off x="5842175" y="4721658"/>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terceras personas puedan hacer sobre los datos publicados.</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1569216563"/>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LEGALE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LEGALES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a:t>
            </a:r>
          </a:p>
        </p:txBody>
      </p:sp>
      <p:sp>
        <p:nvSpPr>
          <p:cNvPr id="222" name="ANUARIO_REFERENCIA_2024_P4_L001"/>
          <p:cNvSpPr txBox="1"/>
          <p:nvPr/>
        </p:nvSpPr>
        <p:spPr>
          <a:xfrm>
            <a:off x="2709365" y="947629"/>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Adicional a estas consideraciones, es importante mencionar que el año 2016 se identifica como un periodo de adaptación para los hogares frente a </a:t>
            </a:r>
          </a:p>
        </p:txBody>
      </p:sp>
      <p:sp>
        <p:nvSpPr>
          <p:cNvPr id="223" name="ANUARIO_REFERENCIA_2024_P4_L002"/>
          <p:cNvSpPr txBox="1"/>
          <p:nvPr/>
        </p:nvSpPr>
        <p:spPr>
          <a:xfrm>
            <a:off x="2709365" y="1050181"/>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los cambios presentados por el apagón analógico; por lo cual no podrá ser comparado con el total de los años anteriores, ni realizar comparaciones </a:t>
            </a:r>
          </a:p>
        </p:txBody>
      </p:sp>
      <p:sp>
        <p:nvSpPr>
          <p:cNvPr id="224" name="ANUARIO_REFERENCIA_2024_P4_L003"/>
          <p:cNvSpPr txBox="1"/>
          <p:nvPr/>
        </p:nvSpPr>
        <p:spPr>
          <a:xfrm>
            <a:off x="2709365" y="1152732"/>
            <a:ext cx="42383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lineales.</a:t>
            </a:r>
          </a:p>
        </p:txBody>
      </p:sp>
      <p:sp>
        <p:nvSpPr>
          <p:cNvPr id="225" name="ANUARIO_REFERENCIA_2024_P4_L004"/>
          <p:cNvSpPr txBox="1"/>
          <p:nvPr/>
        </p:nvSpPr>
        <p:spPr>
          <a:xfrm>
            <a:off x="2709365" y="1357836"/>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También es importante considerar que en los análisis realizados a partir del 2017 y 2018 las Bases de Datos que contienen información de audiencias </a:t>
            </a:r>
          </a:p>
        </p:txBody>
      </p:sp>
      <p:sp>
        <p:nvSpPr>
          <p:cNvPr id="226" name="ANUARIO_REFERENCIA_2024_P4_L005"/>
          <p:cNvSpPr txBox="1"/>
          <p:nvPr/>
        </p:nvSpPr>
        <p:spPr>
          <a:xfrm>
            <a:off x="2709365" y="1460388"/>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televisión, son un producto nuevo mediante el cual Nielsen IBOPE compila su información y que son distintas de aquellas que hasta el año </a:t>
            </a:r>
          </a:p>
        </p:txBody>
      </p:sp>
      <p:sp>
        <p:nvSpPr>
          <p:cNvPr id="227" name="ANUARIO_REFERENCIA_2024_P4_L006"/>
          <p:cNvSpPr txBox="1"/>
          <p:nvPr/>
        </p:nvSpPr>
        <p:spPr>
          <a:xfrm>
            <a:off x="2709365" y="1562939"/>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2016 pudo haber licenciado al IFT, esto ya que a partir del 1 de enero de 2017 se cuenta con nuevos elementos para su definición y asignación, </a:t>
            </a:r>
          </a:p>
        </p:txBody>
      </p:sp>
      <p:sp>
        <p:nvSpPr>
          <p:cNvPr id="228" name="ANUARIO_REFERENCIA_2024_P4_L007"/>
          <p:cNvSpPr txBox="1"/>
          <p:nvPr/>
        </p:nvSpPr>
        <p:spPr>
          <a:xfrm>
            <a:off x="2709365" y="1665491"/>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como son los aspectos tecnológicos y de definición de hogares; por lo cual no podrá ser comparado con el total de los años anteriores, ni realizar </a:t>
            </a:r>
          </a:p>
        </p:txBody>
      </p:sp>
      <p:sp>
        <p:nvSpPr>
          <p:cNvPr id="229" name="ANUARIO_REFERENCIA_2024_P4_L008"/>
          <p:cNvSpPr txBox="1"/>
          <p:nvPr/>
        </p:nvSpPr>
        <p:spPr>
          <a:xfrm>
            <a:off x="2709365" y="1768043"/>
            <a:ext cx="107320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comparaciones lineales.</a:t>
            </a:r>
          </a:p>
        </p:txBody>
      </p:sp>
      <p:sp>
        <p:nvSpPr>
          <p:cNvPr id="230" name="ANUARIO_REFERENCIA_2024_P4_L009"/>
          <p:cNvSpPr txBox="1"/>
          <p:nvPr/>
        </p:nvSpPr>
        <p:spPr>
          <a:xfrm>
            <a:off x="2709365" y="1973146"/>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lector puede consultar las recomendaciones respecto al uso de la información propiedad de Nielsen IBOPE México, S.A. De C.V. contenidas en </a:t>
            </a:r>
          </a:p>
        </p:txBody>
      </p:sp>
      <p:sp>
        <p:nvSpPr>
          <p:cNvPr id="231" name="ANUARIO_REFERENCIA_2024_P4_L010"/>
          <p:cNvSpPr txBox="1"/>
          <p:nvPr/>
        </p:nvSpPr>
        <p:spPr>
          <a:xfrm>
            <a:off x="2709365" y="2075698"/>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“Guía para el uso de datos de audiencia Nielsen IBOPE México” que puede descargar descargar en </a:t>
            </a:r>
            <a:r>
              <a:rPr sz="688" b="0" i="0">
                <a:solidFill>
                  <a:srgbClr val="0563C1"/>
                </a:solidFill>
                <a:latin typeface="Noto Sans"/>
              </a:rPr>
              <a:t>https://www.nielsenibope.com/wp-content/</a:t>
            </a:r>
          </a:p>
        </p:txBody>
      </p:sp>
      <p:sp>
        <p:nvSpPr>
          <p:cNvPr id="232" name="ANUARIO_REFERENCIA_2024_P4_L011"/>
          <p:cNvSpPr txBox="1"/>
          <p:nvPr/>
        </p:nvSpPr>
        <p:spPr>
          <a:xfrm>
            <a:off x="2709365" y="2178249"/>
            <a:ext cx="3098689"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uploads/sites/14/2020/08/Gui%CC%81a-de-uso-de-datos-NIM-2020.pdf</a:t>
            </a:r>
            <a:r>
              <a:rPr sz="688" b="0" i="0">
                <a:solidFill>
                  <a:srgbClr val="1C2829"/>
                </a:solidFill>
                <a:latin typeface="Noto Sans"/>
              </a:rPr>
              <a:t>.</a:t>
            </a:r>
          </a:p>
        </p:txBody>
      </p:sp>
      <p:sp>
        <p:nvSpPr>
          <p:cNvPr id="233"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GLOSARIO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GLOSARIO</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a:t>
            </a:r>
          </a:p>
        </p:txBody>
      </p:sp>
      <p:sp>
        <p:nvSpPr>
          <p:cNvPr id="225" name="ANUARIO_REFERENCIA_2024_P5_L001"/>
          <p:cNvSpPr txBox="1"/>
          <p:nvPr/>
        </p:nvSpPr>
        <p:spPr>
          <a:xfrm>
            <a:off x="576455" y="810820"/>
            <a:ext cx="2661490" cy="202014"/>
          </a:xfrm>
          <a:prstGeom prst="rect">
            <a:avLst/>
          </a:prstGeom>
          <a:noFill/>
        </p:spPr>
        <p:txBody>
          <a:bodyPr wrap="none" anchor="t" lIns="0" rIns="0" tIns="0" bIns="0">
            <a:noAutofit/>
          </a:bodyPr>
          <a:lstStyle/>
          <a:p>
            <a:pPr>
              <a:spcBef>
                <a:spcPts val="0"/>
              </a:spcBef>
              <a:spcAft>
                <a:spcPts val="0"/>
              </a:spcAft>
            </a:pPr>
            <a:r>
              <a:rPr sz="1274" b="1" i="0">
                <a:solidFill>
                  <a:srgbClr val="484979"/>
                </a:solidFill>
                <a:latin typeface="Noto Sans"/>
              </a:rPr>
              <a:t>Siglas y Acrónimos utilizados</a:t>
            </a:r>
          </a:p>
        </p:txBody>
      </p:sp>
      <p:sp>
        <p:nvSpPr>
          <p:cNvPr id="226" name="ANUARIO_REFERENCIA_2024_P5_L002"/>
          <p:cNvSpPr txBox="1"/>
          <p:nvPr/>
        </p:nvSpPr>
        <p:spPr>
          <a:xfrm>
            <a:off x="495988" y="1445987"/>
            <a:ext cx="38836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ARPU:</a:t>
            </a:r>
            <a:r>
              <a:rPr sz="784" b="0" i="0">
                <a:solidFill>
                  <a:srgbClr val="1C2829"/>
                </a:solidFill>
                <a:latin typeface="Noto Sans"/>
              </a:rPr>
              <a:t> Ingreso promedio por suscriptor (</a:t>
            </a:r>
            <a:r>
              <a:rPr sz="784" b="0" i="1">
                <a:solidFill>
                  <a:srgbClr val="1C2829"/>
                </a:solidFill>
                <a:latin typeface="Noto Sans"/>
              </a:rPr>
              <a:t>Average Revenue per User</a:t>
            </a:r>
            <a:r>
              <a:rPr sz="784" b="0" i="0">
                <a:solidFill>
                  <a:srgbClr val="1C2829"/>
                </a:solidFill>
                <a:latin typeface="Noto Sans"/>
              </a:rPr>
              <a:t>, por </a:t>
            </a:r>
          </a:p>
        </p:txBody>
      </p:sp>
      <p:sp>
        <p:nvSpPr>
          <p:cNvPr id="227" name="ANUARIO_REFERENCIA_2024_P5_L003"/>
          <p:cNvSpPr txBox="1"/>
          <p:nvPr/>
        </p:nvSpPr>
        <p:spPr>
          <a:xfrm>
            <a:off x="495988" y="1561446"/>
            <a:ext cx="1461640"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sus siglas en inglés ARPU)</a:t>
            </a:r>
          </a:p>
        </p:txBody>
      </p:sp>
      <p:sp>
        <p:nvSpPr>
          <p:cNvPr id="228" name="ANUARIO_REFERENCIA_2024_P5_L004"/>
          <p:cNvSpPr txBox="1"/>
          <p:nvPr/>
        </p:nvSpPr>
        <p:spPr>
          <a:xfrm>
            <a:off x="495988" y="1779209"/>
            <a:ext cx="388362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BARD DE GOOGLE:</a:t>
            </a:r>
            <a:r>
              <a:rPr sz="784" b="0" i="0">
                <a:solidFill>
                  <a:srgbClr val="1C2829"/>
                </a:solidFill>
                <a:latin typeface="Noto Sans"/>
              </a:rPr>
              <a:t> Modelo de lenguaje de Inteligencia Artificial (IA) </a:t>
            </a:r>
          </a:p>
        </p:txBody>
      </p:sp>
      <p:sp>
        <p:nvSpPr>
          <p:cNvPr id="229" name="ANUARIO_REFERENCIA_2024_P5_L005"/>
          <p:cNvSpPr txBox="1"/>
          <p:nvPr/>
        </p:nvSpPr>
        <p:spPr>
          <a:xfrm>
            <a:off x="495988" y="1894668"/>
            <a:ext cx="3193281"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de búsqueda sobre la misma página de Internet de Google</a:t>
            </a:r>
          </a:p>
        </p:txBody>
      </p:sp>
      <p:sp>
        <p:nvSpPr>
          <p:cNvPr id="230" name="ANUARIO_REFERENCIA_2024_P5_L006"/>
          <p:cNvSpPr txBox="1"/>
          <p:nvPr/>
        </p:nvSpPr>
        <p:spPr>
          <a:xfrm>
            <a:off x="495988" y="2112432"/>
            <a:ext cx="385691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BEAUTIFUL.AI:</a:t>
            </a:r>
            <a:r>
              <a:rPr sz="784" b="0" i="0">
                <a:solidFill>
                  <a:srgbClr val="1C2829"/>
                </a:solidFill>
                <a:latin typeface="Noto Sans"/>
              </a:rPr>
              <a:t> Herramienta de presentación con Inteligencia Artificial</a:t>
            </a:r>
          </a:p>
        </p:txBody>
      </p:sp>
      <p:sp>
        <p:nvSpPr>
          <p:cNvPr id="231" name="ANUARIO_REFERENCIA_2024_P5_L007"/>
          <p:cNvSpPr txBox="1"/>
          <p:nvPr/>
        </p:nvSpPr>
        <p:spPr>
          <a:xfrm>
            <a:off x="495988" y="2330859"/>
            <a:ext cx="277192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BIT:</a:t>
            </a:r>
            <a:r>
              <a:rPr sz="784" b="0" i="0">
                <a:solidFill>
                  <a:srgbClr val="1C2829"/>
                </a:solidFill>
                <a:latin typeface="Noto Sans"/>
              </a:rPr>
              <a:t> Banco de Información de Telecomunicaciones</a:t>
            </a:r>
          </a:p>
        </p:txBody>
      </p:sp>
      <p:sp>
        <p:nvSpPr>
          <p:cNvPr id="232" name="ANUARIO_REFERENCIA_2024_P5_L008"/>
          <p:cNvSpPr txBox="1"/>
          <p:nvPr/>
        </p:nvSpPr>
        <p:spPr>
          <a:xfrm>
            <a:off x="495988" y="2549286"/>
            <a:ext cx="38838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BRAND24:</a:t>
            </a:r>
            <a:r>
              <a:rPr sz="784" b="0" i="0">
                <a:solidFill>
                  <a:srgbClr val="1C2829"/>
                </a:solidFill>
                <a:latin typeface="Noto Sans"/>
              </a:rPr>
              <a:t> Software para monitorear e identificar los eventos </a:t>
            </a:r>
          </a:p>
        </p:txBody>
      </p:sp>
      <p:sp>
        <p:nvSpPr>
          <p:cNvPr id="233" name="ANUARIO_REFERENCIA_2024_P5_L009"/>
          <p:cNvSpPr txBox="1"/>
          <p:nvPr/>
        </p:nvSpPr>
        <p:spPr>
          <a:xfrm>
            <a:off x="495988" y="2664744"/>
            <a:ext cx="1956734"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relacionados con tus redes sociales</a:t>
            </a:r>
          </a:p>
        </p:txBody>
      </p:sp>
      <p:sp>
        <p:nvSpPr>
          <p:cNvPr id="234" name="ANUARIO_REFERENCIA_2024_P5_L010"/>
          <p:cNvSpPr txBox="1"/>
          <p:nvPr/>
        </p:nvSpPr>
        <p:spPr>
          <a:xfrm>
            <a:off x="495988" y="2882508"/>
            <a:ext cx="325847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CANVA:</a:t>
            </a:r>
            <a:r>
              <a:rPr sz="784" b="0" i="0">
                <a:solidFill>
                  <a:srgbClr val="1C2829"/>
                </a:solidFill>
                <a:latin typeface="Noto Sans"/>
              </a:rPr>
              <a:t> Web de diseño gráfico y composición de imágenes</a:t>
            </a:r>
          </a:p>
        </p:txBody>
      </p:sp>
      <p:sp>
        <p:nvSpPr>
          <p:cNvPr id="235" name="ANUARIO_REFERENCIA_2024_P5_L011"/>
          <p:cNvSpPr txBox="1"/>
          <p:nvPr/>
        </p:nvSpPr>
        <p:spPr>
          <a:xfrm>
            <a:off x="495988" y="3100935"/>
            <a:ext cx="233397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CONAPO:</a:t>
            </a:r>
            <a:r>
              <a:rPr sz="784" b="0" i="0">
                <a:solidFill>
                  <a:srgbClr val="1C2829"/>
                </a:solidFill>
                <a:latin typeface="Noto Sans"/>
              </a:rPr>
              <a:t> Consejo Nacional de Población</a:t>
            </a:r>
          </a:p>
        </p:txBody>
      </p:sp>
      <p:sp>
        <p:nvSpPr>
          <p:cNvPr id="236" name="ANUARIO_REFERENCIA_2024_P5_L012"/>
          <p:cNvSpPr txBox="1"/>
          <p:nvPr/>
        </p:nvSpPr>
        <p:spPr>
          <a:xfrm>
            <a:off x="495988" y="3319362"/>
            <a:ext cx="306535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CGPE:</a:t>
            </a:r>
            <a:r>
              <a:rPr sz="784" b="0" i="0">
                <a:solidFill>
                  <a:srgbClr val="1C2829"/>
                </a:solidFill>
                <a:latin typeface="Noto Sans"/>
              </a:rPr>
              <a:t> Coordinación General de Planeación Estratégica </a:t>
            </a:r>
          </a:p>
        </p:txBody>
      </p:sp>
      <p:sp>
        <p:nvSpPr>
          <p:cNvPr id="237" name="ANUARIO_REFERENCIA_2024_P5_L013"/>
          <p:cNvSpPr txBox="1"/>
          <p:nvPr/>
        </p:nvSpPr>
        <p:spPr>
          <a:xfrm>
            <a:off x="495988" y="3537789"/>
            <a:ext cx="287143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CGPU:</a:t>
            </a:r>
            <a:r>
              <a:rPr sz="784" b="0" i="0">
                <a:solidFill>
                  <a:srgbClr val="1C2829"/>
                </a:solidFill>
                <a:latin typeface="Noto Sans"/>
              </a:rPr>
              <a:t> Coordinación General de Política del Usuario</a:t>
            </a:r>
          </a:p>
        </p:txBody>
      </p:sp>
      <p:sp>
        <p:nvSpPr>
          <p:cNvPr id="238" name="ANUARIO_REFERENCIA_2024_P5_L014"/>
          <p:cNvSpPr txBox="1"/>
          <p:nvPr/>
        </p:nvSpPr>
        <p:spPr>
          <a:xfrm>
            <a:off x="495988" y="3756216"/>
            <a:ext cx="388364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CHATGPT:</a:t>
            </a:r>
            <a:r>
              <a:rPr sz="784" b="0" i="0">
                <a:solidFill>
                  <a:srgbClr val="1C2829"/>
                </a:solidFill>
                <a:latin typeface="Noto Sans"/>
              </a:rPr>
              <a:t> Transformador generativo pre-entrenado (</a:t>
            </a:r>
            <a:r>
              <a:rPr sz="784" b="0" i="1">
                <a:solidFill>
                  <a:srgbClr val="1C2829"/>
                </a:solidFill>
                <a:latin typeface="Noto Sans"/>
              </a:rPr>
              <a:t>Chat Generative </a:t>
            </a:r>
          </a:p>
        </p:txBody>
      </p:sp>
      <p:sp>
        <p:nvSpPr>
          <p:cNvPr id="239" name="ANUARIO_REFERENCIA_2024_P5_L015"/>
          <p:cNvSpPr txBox="1"/>
          <p:nvPr/>
        </p:nvSpPr>
        <p:spPr>
          <a:xfrm>
            <a:off x="495988" y="3871675"/>
            <a:ext cx="2653941" cy="136808"/>
          </a:xfrm>
          <a:prstGeom prst="rect">
            <a:avLst/>
          </a:prstGeom>
          <a:noFill/>
        </p:spPr>
        <p:txBody>
          <a:bodyPr wrap="none" anchor="t" lIns="0" rIns="0" tIns="0" bIns="0">
            <a:noAutofit/>
          </a:bodyPr>
          <a:lstStyle/>
          <a:p>
            <a:pPr>
              <a:spcBef>
                <a:spcPts val="0"/>
              </a:spcBef>
              <a:spcAft>
                <a:spcPts val="0"/>
              </a:spcAft>
            </a:pPr>
            <a:r>
              <a:rPr sz="784" b="0" i="1">
                <a:solidFill>
                  <a:srgbClr val="1C2829"/>
                </a:solidFill>
                <a:latin typeface="Noto Sans"/>
              </a:rPr>
              <a:t>Pre-Trained</a:t>
            </a:r>
            <a:r>
              <a:rPr sz="784" b="0" i="0">
                <a:solidFill>
                  <a:srgbClr val="1C2829"/>
                </a:solidFill>
                <a:latin typeface="Noto Sans"/>
              </a:rPr>
              <a:t> Transformer por sus siglas en inglés)</a:t>
            </a:r>
          </a:p>
        </p:txBody>
      </p:sp>
      <p:sp>
        <p:nvSpPr>
          <p:cNvPr id="240" name="ANUARIO_REFERENCIA_2024_P5_L016"/>
          <p:cNvSpPr txBox="1"/>
          <p:nvPr/>
        </p:nvSpPr>
        <p:spPr>
          <a:xfrm>
            <a:off x="495988" y="4089438"/>
            <a:ext cx="357027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DENUE:</a:t>
            </a:r>
            <a:r>
              <a:rPr sz="784" b="0" i="0">
                <a:solidFill>
                  <a:srgbClr val="1C2829"/>
                </a:solidFill>
                <a:latin typeface="Noto Sans"/>
              </a:rPr>
              <a:t> Directorio Estadístico Nacional de Unidades Económicas</a:t>
            </a:r>
          </a:p>
        </p:txBody>
      </p:sp>
      <p:sp>
        <p:nvSpPr>
          <p:cNvPr id="241" name="ANUARIO_REFERENCIA_2024_P5_L017"/>
          <p:cNvSpPr txBox="1"/>
          <p:nvPr/>
        </p:nvSpPr>
        <p:spPr>
          <a:xfrm>
            <a:off x="495988" y="4307865"/>
            <a:ext cx="388374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DSL:</a:t>
            </a:r>
            <a:r>
              <a:rPr sz="784" b="0" i="0">
                <a:solidFill>
                  <a:srgbClr val="1C2829"/>
                </a:solidFill>
                <a:latin typeface="Noto Sans"/>
              </a:rPr>
              <a:t> Línea de suscripción digital (</a:t>
            </a:r>
            <a:r>
              <a:rPr sz="784" b="0" i="1">
                <a:solidFill>
                  <a:srgbClr val="1C2829"/>
                </a:solidFill>
                <a:latin typeface="Noto Sans"/>
              </a:rPr>
              <a:t>Digital Suscriber Line</a:t>
            </a:r>
            <a:r>
              <a:rPr sz="784" b="0" i="0">
                <a:solidFill>
                  <a:srgbClr val="1C2829"/>
                </a:solidFill>
                <a:latin typeface="Noto Sans"/>
              </a:rPr>
              <a:t>, por sus siglas </a:t>
            </a:r>
          </a:p>
        </p:txBody>
      </p:sp>
      <p:sp>
        <p:nvSpPr>
          <p:cNvPr id="242" name="ANUARIO_REFERENCIA_2024_P5_L018"/>
          <p:cNvSpPr txBox="1"/>
          <p:nvPr/>
        </p:nvSpPr>
        <p:spPr>
          <a:xfrm>
            <a:off x="495988" y="4423324"/>
            <a:ext cx="850570"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en inglés DSL)</a:t>
            </a:r>
          </a:p>
        </p:txBody>
      </p:sp>
      <p:sp>
        <p:nvSpPr>
          <p:cNvPr id="243" name="ANUARIO_REFERENCIA_2024_P5_L019"/>
          <p:cNvSpPr txBox="1"/>
          <p:nvPr/>
        </p:nvSpPr>
        <p:spPr>
          <a:xfrm>
            <a:off x="4664092" y="1445987"/>
            <a:ext cx="388363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ENDUTIH:</a:t>
            </a:r>
            <a:r>
              <a:rPr sz="784" b="0" i="0">
                <a:solidFill>
                  <a:srgbClr val="1C2829"/>
                </a:solidFill>
                <a:latin typeface="Noto Sans"/>
              </a:rPr>
              <a:t> Encuesta Nacional sobre Disponibilidad y Uso de Tecnologías </a:t>
            </a:r>
          </a:p>
        </p:txBody>
      </p:sp>
      <p:sp>
        <p:nvSpPr>
          <p:cNvPr id="244" name="ANUARIO_REFERENCIA_2024_P5_L020"/>
          <p:cNvSpPr txBox="1"/>
          <p:nvPr/>
        </p:nvSpPr>
        <p:spPr>
          <a:xfrm>
            <a:off x="4664092" y="1562190"/>
            <a:ext cx="1843673"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de la Información en los Hogares</a:t>
            </a:r>
          </a:p>
        </p:txBody>
      </p:sp>
      <p:sp>
        <p:nvSpPr>
          <p:cNvPr id="245" name="ANUARIO_REFERENCIA_2024_P5_L021"/>
          <p:cNvSpPr txBox="1"/>
          <p:nvPr/>
        </p:nvSpPr>
        <p:spPr>
          <a:xfrm>
            <a:off x="4664092" y="1780698"/>
            <a:ext cx="345767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ENIGH:</a:t>
            </a:r>
            <a:r>
              <a:rPr sz="784" b="0" i="0">
                <a:solidFill>
                  <a:srgbClr val="1C2829"/>
                </a:solidFill>
                <a:latin typeface="Noto Sans"/>
              </a:rPr>
              <a:t> Encuesta Nacional de Ingresos y Gastos de los Hogares</a:t>
            </a:r>
          </a:p>
        </p:txBody>
      </p:sp>
      <p:sp>
        <p:nvSpPr>
          <p:cNvPr id="246" name="ANUARIO_REFERENCIA_2024_P5_L022"/>
          <p:cNvSpPr txBox="1"/>
          <p:nvPr/>
        </p:nvSpPr>
        <p:spPr>
          <a:xfrm>
            <a:off x="4664092" y="1999869"/>
            <a:ext cx="2764101"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ENOE:</a:t>
            </a:r>
            <a:r>
              <a:rPr sz="784" b="0" i="0">
                <a:solidFill>
                  <a:srgbClr val="1C2829"/>
                </a:solidFill>
                <a:latin typeface="Noto Sans"/>
              </a:rPr>
              <a:t> Encuesta Nacional de Ocupación y Empleo</a:t>
            </a:r>
          </a:p>
        </p:txBody>
      </p:sp>
      <p:sp>
        <p:nvSpPr>
          <p:cNvPr id="247" name="ANUARIO_REFERENCIA_2024_P5_L023"/>
          <p:cNvSpPr txBox="1"/>
          <p:nvPr/>
        </p:nvSpPr>
        <p:spPr>
          <a:xfrm>
            <a:off x="4664092" y="2219041"/>
            <a:ext cx="137469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IA:</a:t>
            </a:r>
            <a:r>
              <a:rPr sz="784" b="0" i="0">
                <a:solidFill>
                  <a:srgbClr val="1C2829"/>
                </a:solidFill>
                <a:latin typeface="Noto Sans"/>
              </a:rPr>
              <a:t> Inteligencia Artificial</a:t>
            </a:r>
          </a:p>
        </p:txBody>
      </p:sp>
      <p:sp>
        <p:nvSpPr>
          <p:cNvPr id="248" name="ANUARIO_REFERENCIA_2024_P5_L024"/>
          <p:cNvSpPr txBox="1"/>
          <p:nvPr/>
        </p:nvSpPr>
        <p:spPr>
          <a:xfrm>
            <a:off x="4664092" y="2438212"/>
            <a:ext cx="388322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IA BING:</a:t>
            </a:r>
            <a:r>
              <a:rPr sz="784" b="0" i="0">
                <a:solidFill>
                  <a:srgbClr val="1C2829"/>
                </a:solidFill>
                <a:latin typeface="Noto Sans"/>
              </a:rPr>
              <a:t> Modelo de lenguaje de Inteligencia Artificial (IA) de búsqueda </a:t>
            </a:r>
          </a:p>
        </p:txBody>
      </p:sp>
      <p:sp>
        <p:nvSpPr>
          <p:cNvPr id="249" name="ANUARIO_REFERENCIA_2024_P5_L025"/>
          <p:cNvSpPr txBox="1"/>
          <p:nvPr/>
        </p:nvSpPr>
        <p:spPr>
          <a:xfrm>
            <a:off x="4664092" y="2554414"/>
            <a:ext cx="2604092"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sobre la misma página de Internet de Microsoft</a:t>
            </a:r>
          </a:p>
        </p:txBody>
      </p:sp>
      <p:sp>
        <p:nvSpPr>
          <p:cNvPr id="250" name="ANUARIO_REFERENCIA_2024_P5_L026"/>
          <p:cNvSpPr txBox="1"/>
          <p:nvPr/>
        </p:nvSpPr>
        <p:spPr>
          <a:xfrm>
            <a:off x="4664092" y="2772922"/>
            <a:ext cx="181920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IED:</a:t>
            </a:r>
            <a:r>
              <a:rPr sz="784" b="0" i="0">
                <a:solidFill>
                  <a:srgbClr val="1C2829"/>
                </a:solidFill>
                <a:latin typeface="Noto Sans"/>
              </a:rPr>
              <a:t> Inversión Extranjera Directa</a:t>
            </a:r>
          </a:p>
        </p:txBody>
      </p:sp>
      <p:sp>
        <p:nvSpPr>
          <p:cNvPr id="251" name="ANUARIO_REFERENCIA_2024_P5_L027"/>
          <p:cNvSpPr txBox="1"/>
          <p:nvPr/>
        </p:nvSpPr>
        <p:spPr>
          <a:xfrm>
            <a:off x="4664092" y="2992094"/>
            <a:ext cx="246224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IFT:</a:t>
            </a:r>
            <a:r>
              <a:rPr sz="784" b="0" i="0">
                <a:solidFill>
                  <a:srgbClr val="1C2829"/>
                </a:solidFill>
                <a:latin typeface="Noto Sans"/>
              </a:rPr>
              <a:t> Instituto Federal de Telecomunicaciones</a:t>
            </a:r>
          </a:p>
        </p:txBody>
      </p:sp>
      <p:sp>
        <p:nvSpPr>
          <p:cNvPr id="252" name="ANUARIO_REFERENCIA_2024_P5_L028"/>
          <p:cNvSpPr txBox="1"/>
          <p:nvPr/>
        </p:nvSpPr>
        <p:spPr>
          <a:xfrm>
            <a:off x="4664092" y="3211265"/>
            <a:ext cx="207576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IHH:</a:t>
            </a:r>
            <a:r>
              <a:rPr sz="784" b="0" i="0">
                <a:solidFill>
                  <a:srgbClr val="1C2829"/>
                </a:solidFill>
                <a:latin typeface="Noto Sans"/>
              </a:rPr>
              <a:t> Índice de Herfindahl-Hirschman</a:t>
            </a:r>
          </a:p>
        </p:txBody>
      </p:sp>
      <p:sp>
        <p:nvSpPr>
          <p:cNvPr id="253" name="ANUARIO_REFERENCIA_2024_P5_L029"/>
          <p:cNvSpPr txBox="1"/>
          <p:nvPr/>
        </p:nvSpPr>
        <p:spPr>
          <a:xfrm>
            <a:off x="4664092" y="3430436"/>
            <a:ext cx="388364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IMT:</a:t>
            </a:r>
            <a:r>
              <a:rPr sz="784" b="0" i="0">
                <a:solidFill>
                  <a:srgbClr val="1C2829"/>
                </a:solidFill>
                <a:latin typeface="Noto Sans"/>
              </a:rPr>
              <a:t> Telecomunicaciones Móviles Internacionales (</a:t>
            </a:r>
            <a:r>
              <a:rPr sz="784" b="0" i="1">
                <a:solidFill>
                  <a:srgbClr val="1C2829"/>
                </a:solidFill>
                <a:latin typeface="Noto Sans"/>
              </a:rPr>
              <a:t>International Mobile </a:t>
            </a:r>
          </a:p>
        </p:txBody>
      </p:sp>
      <p:sp>
        <p:nvSpPr>
          <p:cNvPr id="254" name="ANUARIO_REFERENCIA_2024_P5_L030"/>
          <p:cNvSpPr txBox="1"/>
          <p:nvPr/>
        </p:nvSpPr>
        <p:spPr>
          <a:xfrm>
            <a:off x="4664092" y="3546639"/>
            <a:ext cx="2741267" cy="136808"/>
          </a:xfrm>
          <a:prstGeom prst="rect">
            <a:avLst/>
          </a:prstGeom>
          <a:noFill/>
        </p:spPr>
        <p:txBody>
          <a:bodyPr wrap="none" anchor="t" lIns="0" rIns="0" tIns="0" bIns="0">
            <a:noAutofit/>
          </a:bodyPr>
          <a:lstStyle/>
          <a:p>
            <a:pPr>
              <a:spcBef>
                <a:spcPts val="0"/>
              </a:spcBef>
              <a:spcAft>
                <a:spcPts val="0"/>
              </a:spcAft>
            </a:pPr>
            <a:r>
              <a:rPr sz="784" b="0" i="1">
                <a:solidFill>
                  <a:srgbClr val="1C2829"/>
                </a:solidFill>
                <a:latin typeface="Noto Sans"/>
              </a:rPr>
              <a:t>Telecommunications</a:t>
            </a:r>
            <a:r>
              <a:rPr sz="784" b="0" i="0">
                <a:solidFill>
                  <a:srgbClr val="1C2829"/>
                </a:solidFill>
                <a:latin typeface="Noto Sans"/>
              </a:rPr>
              <a:t>, por sus siglas en inglés IMT)</a:t>
            </a:r>
          </a:p>
        </p:txBody>
      </p:sp>
      <p:sp>
        <p:nvSpPr>
          <p:cNvPr id="255" name="ANUARIO_REFERENCIA_2024_P5_L031"/>
          <p:cNvSpPr txBox="1"/>
          <p:nvPr/>
        </p:nvSpPr>
        <p:spPr>
          <a:xfrm>
            <a:off x="4664092" y="3765146"/>
            <a:ext cx="283489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INEGI:</a:t>
            </a:r>
            <a:r>
              <a:rPr sz="784" b="0" i="0">
                <a:solidFill>
                  <a:srgbClr val="1C2829"/>
                </a:solidFill>
                <a:latin typeface="Noto Sans"/>
              </a:rPr>
              <a:t> Instituto Nacional de Estadística y Geografía</a:t>
            </a:r>
          </a:p>
        </p:txBody>
      </p:sp>
      <p:sp>
        <p:nvSpPr>
          <p:cNvPr id="256" name="ANUARIO_REFERENCIA_2024_P5_L032"/>
          <p:cNvSpPr txBox="1"/>
          <p:nvPr/>
        </p:nvSpPr>
        <p:spPr>
          <a:xfrm>
            <a:off x="4664092" y="3984318"/>
            <a:ext cx="264974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INPC:</a:t>
            </a:r>
            <a:r>
              <a:rPr sz="784" b="0" i="0">
                <a:solidFill>
                  <a:srgbClr val="1C2829"/>
                </a:solidFill>
                <a:latin typeface="Noto Sans"/>
              </a:rPr>
              <a:t> Índice Nacional de Precios al Consumidor</a:t>
            </a:r>
          </a:p>
        </p:txBody>
      </p:sp>
      <p:sp>
        <p:nvSpPr>
          <p:cNvPr id="257" name="ANUARIO_REFERENCIA_2024_P5_L033"/>
          <p:cNvSpPr txBox="1"/>
          <p:nvPr/>
        </p:nvSpPr>
        <p:spPr>
          <a:xfrm>
            <a:off x="4664092" y="4203489"/>
            <a:ext cx="195778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IGS:</a:t>
            </a:r>
            <a:r>
              <a:rPr sz="784" b="0" i="0">
                <a:solidFill>
                  <a:srgbClr val="1C2829"/>
                </a:solidFill>
                <a:latin typeface="Noto Sans"/>
              </a:rPr>
              <a:t> Índice General de Satisfacción</a:t>
            </a:r>
          </a:p>
        </p:txBody>
      </p:sp>
      <p:sp>
        <p:nvSpPr>
          <p:cNvPr id="258" name="ANUARIO_REFERENCIA_2024_P5_L034"/>
          <p:cNvSpPr txBox="1"/>
          <p:nvPr/>
        </p:nvSpPr>
        <p:spPr>
          <a:xfrm>
            <a:off x="4664092" y="4422660"/>
            <a:ext cx="317655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JASPER:</a:t>
            </a:r>
            <a:r>
              <a:rPr sz="784" b="0" i="0">
                <a:solidFill>
                  <a:srgbClr val="1C2829"/>
                </a:solidFill>
                <a:latin typeface="Noto Sans"/>
              </a:rPr>
              <a:t> Biblioteca de creación de informes escrita en Java</a:t>
            </a:r>
          </a:p>
        </p:txBody>
      </p:sp>
      <p:sp>
        <p:nvSpPr>
          <p:cNvPr id="259"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GLOSARIO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GLOSARIO</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a:t>
            </a:r>
          </a:p>
        </p:txBody>
      </p:sp>
      <p:sp>
        <p:nvSpPr>
          <p:cNvPr id="225" name="ANUARIO_REFERENCIA_2024_P6_L001"/>
          <p:cNvSpPr txBox="1"/>
          <p:nvPr/>
        </p:nvSpPr>
        <p:spPr>
          <a:xfrm>
            <a:off x="495988" y="821287"/>
            <a:ext cx="270041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MiPymes:</a:t>
            </a:r>
            <a:r>
              <a:rPr sz="784" b="0" i="0">
                <a:solidFill>
                  <a:srgbClr val="1C2829"/>
                </a:solidFill>
                <a:latin typeface="Noto Sans"/>
              </a:rPr>
              <a:t> Micro, pequeñas y medianas empresas</a:t>
            </a:r>
          </a:p>
        </p:txBody>
      </p:sp>
      <p:sp>
        <p:nvSpPr>
          <p:cNvPr id="226" name="ANUARIO_REFERENCIA_2024_P6_L002"/>
          <p:cNvSpPr txBox="1"/>
          <p:nvPr/>
        </p:nvSpPr>
        <p:spPr>
          <a:xfrm>
            <a:off x="495988" y="1028733"/>
            <a:ext cx="388394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ManyChat:</a:t>
            </a:r>
            <a:r>
              <a:rPr sz="784" b="0" i="0">
                <a:solidFill>
                  <a:srgbClr val="1C2829"/>
                </a:solidFill>
                <a:latin typeface="Noto Sans"/>
              </a:rPr>
              <a:t> Plataforma de automatización de mensajes y chatbots para </a:t>
            </a:r>
          </a:p>
        </p:txBody>
      </p:sp>
      <p:sp>
        <p:nvSpPr>
          <p:cNvPr id="227" name="ANUARIO_REFERENCIA_2024_P6_L003"/>
          <p:cNvSpPr txBox="1"/>
          <p:nvPr/>
        </p:nvSpPr>
        <p:spPr>
          <a:xfrm>
            <a:off x="495988" y="1133209"/>
            <a:ext cx="2483533"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Facebook Messenger, Instagram y WhatsApp</a:t>
            </a:r>
          </a:p>
        </p:txBody>
      </p:sp>
      <p:sp>
        <p:nvSpPr>
          <p:cNvPr id="228" name="ANUARIO_REFERENCIA_2024_P6_L004"/>
          <p:cNvSpPr txBox="1"/>
          <p:nvPr/>
        </p:nvSpPr>
        <p:spPr>
          <a:xfrm>
            <a:off x="495988" y="1339991"/>
            <a:ext cx="3883734"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IoT:</a:t>
            </a:r>
            <a:r>
              <a:rPr sz="784" b="0" i="0">
                <a:solidFill>
                  <a:srgbClr val="1C2829"/>
                </a:solidFill>
                <a:latin typeface="Noto Sans"/>
              </a:rPr>
              <a:t> Internet de las Cosas (</a:t>
            </a:r>
            <a:r>
              <a:rPr sz="784" b="0" i="1">
                <a:solidFill>
                  <a:srgbClr val="1C2829"/>
                </a:solidFill>
                <a:latin typeface="Noto Sans"/>
              </a:rPr>
              <a:t>Internet of Things</a:t>
            </a:r>
            <a:r>
              <a:rPr sz="784" b="0" i="0">
                <a:solidFill>
                  <a:srgbClr val="1C2829"/>
                </a:solidFill>
                <a:latin typeface="Noto Sans"/>
              </a:rPr>
              <a:t>, por sus siglas en inglés </a:t>
            </a:r>
          </a:p>
        </p:txBody>
      </p:sp>
      <p:sp>
        <p:nvSpPr>
          <p:cNvPr id="229" name="ANUARIO_REFERENCIA_2024_P6_L005"/>
          <p:cNvSpPr txBox="1"/>
          <p:nvPr/>
        </p:nvSpPr>
        <p:spPr>
          <a:xfrm>
            <a:off x="495988" y="1444467"/>
            <a:ext cx="302585"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IoT)</a:t>
            </a:r>
          </a:p>
        </p:txBody>
      </p:sp>
      <p:sp>
        <p:nvSpPr>
          <p:cNvPr id="230" name="ANUARIO_REFERENCIA_2024_P6_L006"/>
          <p:cNvSpPr txBox="1"/>
          <p:nvPr/>
        </p:nvSpPr>
        <p:spPr>
          <a:xfrm>
            <a:off x="495988" y="1651250"/>
            <a:ext cx="25309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IPCOM:</a:t>
            </a:r>
            <a:r>
              <a:rPr sz="784" b="0" i="0">
                <a:solidFill>
                  <a:srgbClr val="1C2829"/>
                </a:solidFill>
                <a:latin typeface="Noto Sans"/>
              </a:rPr>
              <a:t> Índice de Precios de Comunicaciones</a:t>
            </a:r>
          </a:p>
        </p:txBody>
      </p:sp>
      <p:sp>
        <p:nvSpPr>
          <p:cNvPr id="231" name="ANUARIO_REFERENCIA_2024_P6_L007"/>
          <p:cNvSpPr txBox="1"/>
          <p:nvPr/>
        </p:nvSpPr>
        <p:spPr>
          <a:xfrm>
            <a:off x="495988" y="1858696"/>
            <a:ext cx="388363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IPTV:</a:t>
            </a:r>
            <a:r>
              <a:rPr sz="784" b="0" i="0">
                <a:solidFill>
                  <a:srgbClr val="1C2829"/>
                </a:solidFill>
                <a:latin typeface="Noto Sans"/>
              </a:rPr>
              <a:t> Televisión por protocolo de Internet (</a:t>
            </a:r>
            <a:r>
              <a:rPr sz="784" b="0" i="1">
                <a:solidFill>
                  <a:srgbClr val="1C2829"/>
                </a:solidFill>
                <a:latin typeface="Noto Sans"/>
              </a:rPr>
              <a:t>Internet Protocol Television</a:t>
            </a:r>
            <a:r>
              <a:rPr sz="784" b="0" i="0">
                <a:solidFill>
                  <a:srgbClr val="1C2829"/>
                </a:solidFill>
                <a:latin typeface="Noto Sans"/>
              </a:rPr>
              <a:t>, </a:t>
            </a:r>
          </a:p>
        </p:txBody>
      </p:sp>
      <p:sp>
        <p:nvSpPr>
          <p:cNvPr id="232" name="ANUARIO_REFERENCIA_2024_P6_L008"/>
          <p:cNvSpPr txBox="1"/>
          <p:nvPr/>
        </p:nvSpPr>
        <p:spPr>
          <a:xfrm>
            <a:off x="495988" y="1963172"/>
            <a:ext cx="1615552"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por sus siglas en inglés IPTV)</a:t>
            </a:r>
          </a:p>
        </p:txBody>
      </p:sp>
      <p:sp>
        <p:nvSpPr>
          <p:cNvPr id="233" name="ANUARIO_REFERENCIA_2024_P6_L009"/>
          <p:cNvSpPr txBox="1"/>
          <p:nvPr/>
        </p:nvSpPr>
        <p:spPr>
          <a:xfrm>
            <a:off x="495988" y="2169954"/>
            <a:ext cx="315419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LFTR:</a:t>
            </a:r>
            <a:r>
              <a:rPr sz="784" b="0" i="0">
                <a:solidFill>
                  <a:srgbClr val="1C2829"/>
                </a:solidFill>
                <a:latin typeface="Noto Sans"/>
              </a:rPr>
              <a:t> Ley Federal de Telecomunicaciones y Radiodifusión</a:t>
            </a:r>
          </a:p>
        </p:txBody>
      </p:sp>
      <p:sp>
        <p:nvSpPr>
          <p:cNvPr id="234" name="ANUARIO_REFERENCIA_2024_P6_L010"/>
          <p:cNvSpPr txBox="1"/>
          <p:nvPr/>
        </p:nvSpPr>
        <p:spPr>
          <a:xfrm>
            <a:off x="495988" y="2377400"/>
            <a:ext cx="86684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MB:</a:t>
            </a:r>
            <a:r>
              <a:rPr sz="784" b="0" i="0">
                <a:solidFill>
                  <a:srgbClr val="1C2829"/>
                </a:solidFill>
                <a:latin typeface="Noto Sans"/>
              </a:rPr>
              <a:t> Megabyte</a:t>
            </a:r>
          </a:p>
        </p:txBody>
      </p:sp>
      <p:sp>
        <p:nvSpPr>
          <p:cNvPr id="235" name="ANUARIO_REFERENCIA_2024_P6_L011"/>
          <p:cNvSpPr txBox="1"/>
          <p:nvPr/>
        </p:nvSpPr>
        <p:spPr>
          <a:xfrm>
            <a:off x="495988" y="2584845"/>
            <a:ext cx="987271"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MHz:</a:t>
            </a:r>
            <a:r>
              <a:rPr sz="784" b="0" i="0">
                <a:solidFill>
                  <a:srgbClr val="1C2829"/>
                </a:solidFill>
                <a:latin typeface="Noto Sans"/>
              </a:rPr>
              <a:t> Megahertz</a:t>
            </a:r>
          </a:p>
        </p:txBody>
      </p:sp>
      <p:sp>
        <p:nvSpPr>
          <p:cNvPr id="236" name="ANUARIO_REFERENCIA_2024_P6_L012"/>
          <p:cNvSpPr txBox="1"/>
          <p:nvPr/>
        </p:nvSpPr>
        <p:spPr>
          <a:xfrm>
            <a:off x="495988" y="2792290"/>
            <a:ext cx="200800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MOCIBA:</a:t>
            </a:r>
            <a:r>
              <a:rPr sz="784" b="0" i="0">
                <a:solidFill>
                  <a:srgbClr val="1C2829"/>
                </a:solidFill>
                <a:latin typeface="Noto Sans"/>
              </a:rPr>
              <a:t> Módulo sobre Ciberacoso</a:t>
            </a:r>
          </a:p>
        </p:txBody>
      </p:sp>
      <p:sp>
        <p:nvSpPr>
          <p:cNvPr id="237" name="ANUARIO_REFERENCIA_2024_P6_L013"/>
          <p:cNvSpPr txBox="1"/>
          <p:nvPr/>
        </p:nvSpPr>
        <p:spPr>
          <a:xfrm>
            <a:off x="495988" y="2999735"/>
            <a:ext cx="374501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MOU:</a:t>
            </a:r>
            <a:r>
              <a:rPr sz="784" b="0" i="0">
                <a:solidFill>
                  <a:srgbClr val="1C2829"/>
                </a:solidFill>
                <a:latin typeface="Noto Sans"/>
              </a:rPr>
              <a:t> Minutos de uso (</a:t>
            </a:r>
            <a:r>
              <a:rPr sz="784" b="0" i="1">
                <a:solidFill>
                  <a:srgbClr val="1C2829"/>
                </a:solidFill>
                <a:latin typeface="Noto Sans"/>
              </a:rPr>
              <a:t>Minutes of Use</a:t>
            </a:r>
            <a:r>
              <a:rPr sz="784" b="0" i="0">
                <a:solidFill>
                  <a:srgbClr val="1C2829"/>
                </a:solidFill>
                <a:latin typeface="Noto Sans"/>
              </a:rPr>
              <a:t>, por sus siglas en inglés MOU)</a:t>
            </a:r>
          </a:p>
        </p:txBody>
      </p:sp>
      <p:sp>
        <p:nvSpPr>
          <p:cNvPr id="238" name="ANUARIO_REFERENCIA_2024_P6_L014"/>
          <p:cNvSpPr txBox="1"/>
          <p:nvPr/>
        </p:nvSpPr>
        <p:spPr>
          <a:xfrm>
            <a:off x="495988" y="3207181"/>
            <a:ext cx="165722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OMV:</a:t>
            </a:r>
            <a:r>
              <a:rPr sz="784" b="0" i="0">
                <a:solidFill>
                  <a:srgbClr val="1C2829"/>
                </a:solidFill>
                <a:latin typeface="Noto Sans"/>
              </a:rPr>
              <a:t> Operador Móvil Virtual</a:t>
            </a:r>
          </a:p>
        </p:txBody>
      </p:sp>
      <p:sp>
        <p:nvSpPr>
          <p:cNvPr id="239" name="ANUARIO_REFERENCIA_2024_P6_L015"/>
          <p:cNvSpPr txBox="1"/>
          <p:nvPr/>
        </p:nvSpPr>
        <p:spPr>
          <a:xfrm>
            <a:off x="495988" y="3414626"/>
            <a:ext cx="264258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OTT:</a:t>
            </a:r>
            <a:r>
              <a:rPr sz="784" b="0" i="1">
                <a:solidFill>
                  <a:srgbClr val="1C2829"/>
                </a:solidFill>
                <a:latin typeface="Noto Sans"/>
              </a:rPr>
              <a:t>Over the Top</a:t>
            </a:r>
            <a:r>
              <a:rPr sz="784" b="0" i="0">
                <a:solidFill>
                  <a:srgbClr val="1C2829"/>
                </a:solidFill>
                <a:latin typeface="Noto Sans"/>
              </a:rPr>
              <a:t> (por sus siglas en inglés OTT)</a:t>
            </a:r>
          </a:p>
        </p:txBody>
      </p:sp>
      <p:sp>
        <p:nvSpPr>
          <p:cNvPr id="240" name="ANUARIO_REFERENCIA_2024_P6_L016"/>
          <p:cNvSpPr txBox="1"/>
          <p:nvPr/>
        </p:nvSpPr>
        <p:spPr>
          <a:xfrm>
            <a:off x="495988" y="3622072"/>
            <a:ext cx="156382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PIB:</a:t>
            </a:r>
            <a:r>
              <a:rPr sz="784" b="0" i="0">
                <a:solidFill>
                  <a:srgbClr val="1C2829"/>
                </a:solidFill>
                <a:latin typeface="Noto Sans"/>
              </a:rPr>
              <a:t> Producto Interno Bruto</a:t>
            </a:r>
          </a:p>
        </p:txBody>
      </p:sp>
      <p:sp>
        <p:nvSpPr>
          <p:cNvPr id="241" name="ANUARIO_REFERENCIA_2024_P6_L017"/>
          <p:cNvSpPr txBox="1"/>
          <p:nvPr/>
        </p:nvSpPr>
        <p:spPr>
          <a:xfrm>
            <a:off x="4664092" y="821287"/>
            <a:ext cx="388353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PICTORY:</a:t>
            </a:r>
            <a:r>
              <a:rPr sz="784" b="0" i="0">
                <a:solidFill>
                  <a:srgbClr val="1C2829"/>
                </a:solidFill>
                <a:latin typeface="Noto Sans"/>
              </a:rPr>
              <a:t> Plataforma en línea para la creación y edición de imágenes y </a:t>
            </a:r>
          </a:p>
        </p:txBody>
      </p:sp>
      <p:sp>
        <p:nvSpPr>
          <p:cNvPr id="242" name="ANUARIO_REFERENCIA_2024_P6_L018"/>
          <p:cNvSpPr txBox="1"/>
          <p:nvPr/>
        </p:nvSpPr>
        <p:spPr>
          <a:xfrm>
            <a:off x="4664092" y="925764"/>
            <a:ext cx="2008472"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vídeos con Inteligencia Artificial (IA)</a:t>
            </a:r>
          </a:p>
        </p:txBody>
      </p:sp>
      <p:sp>
        <p:nvSpPr>
          <p:cNvPr id="243" name="ANUARIO_REFERENCIA_2024_P6_L019"/>
          <p:cNvSpPr txBox="1"/>
          <p:nvPr/>
        </p:nvSpPr>
        <p:spPr>
          <a:xfrm>
            <a:off x="4664092" y="1132545"/>
            <a:ext cx="3501334"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SCIAN:</a:t>
            </a:r>
            <a:r>
              <a:rPr sz="784" b="0" i="0">
                <a:solidFill>
                  <a:srgbClr val="1C2829"/>
                </a:solidFill>
                <a:latin typeface="Noto Sans"/>
              </a:rPr>
              <a:t> Sistema de Clasificación Industrial de América del Norte</a:t>
            </a:r>
          </a:p>
        </p:txBody>
      </p:sp>
      <p:sp>
        <p:nvSpPr>
          <p:cNvPr id="244" name="ANUARIO_REFERENCIA_2024_P6_L020"/>
          <p:cNvSpPr txBox="1"/>
          <p:nvPr/>
        </p:nvSpPr>
        <p:spPr>
          <a:xfrm>
            <a:off x="4664092" y="1339991"/>
            <a:ext cx="157389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SE:</a:t>
            </a:r>
            <a:r>
              <a:rPr sz="784" b="0" i="0">
                <a:solidFill>
                  <a:srgbClr val="1C2829"/>
                </a:solidFill>
                <a:latin typeface="Noto Sans"/>
              </a:rPr>
              <a:t> Secretaría de Economía </a:t>
            </a:r>
          </a:p>
        </p:txBody>
      </p:sp>
      <p:sp>
        <p:nvSpPr>
          <p:cNvPr id="245" name="ANUARIO_REFERENCIA_2024_P6_L021"/>
          <p:cNvSpPr txBox="1"/>
          <p:nvPr/>
        </p:nvSpPr>
        <p:spPr>
          <a:xfrm>
            <a:off x="4664092" y="1547436"/>
            <a:ext cx="388327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SYNTHESIA:</a:t>
            </a:r>
            <a:r>
              <a:rPr sz="784" b="0" i="0">
                <a:solidFill>
                  <a:srgbClr val="1C2829"/>
                </a:solidFill>
                <a:latin typeface="Noto Sans"/>
              </a:rPr>
              <a:t> Plataforma de creación de videos con personas sintéticas </a:t>
            </a:r>
          </a:p>
        </p:txBody>
      </p:sp>
      <p:sp>
        <p:nvSpPr>
          <p:cNvPr id="246" name="ANUARIO_REFERENCIA_2024_P6_L022"/>
          <p:cNvSpPr txBox="1"/>
          <p:nvPr/>
        </p:nvSpPr>
        <p:spPr>
          <a:xfrm>
            <a:off x="4664092" y="1651913"/>
            <a:ext cx="1639669"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con Inteligencia Artificial (IA)</a:t>
            </a:r>
          </a:p>
        </p:txBody>
      </p:sp>
      <p:sp>
        <p:nvSpPr>
          <p:cNvPr id="247" name="ANUARIO_REFERENCIA_2024_P6_L023"/>
          <p:cNvSpPr txBox="1"/>
          <p:nvPr/>
        </p:nvSpPr>
        <p:spPr>
          <a:xfrm>
            <a:off x="4664092" y="1858696"/>
            <a:ext cx="388373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SMS:</a:t>
            </a:r>
            <a:r>
              <a:rPr sz="784" b="0" i="0">
                <a:solidFill>
                  <a:srgbClr val="1C2829"/>
                </a:solidFill>
                <a:latin typeface="Noto Sans"/>
              </a:rPr>
              <a:t> Servicio de Mensaje de Texto (</a:t>
            </a:r>
            <a:r>
              <a:rPr sz="784" b="0" i="1">
                <a:solidFill>
                  <a:srgbClr val="1C2829"/>
                </a:solidFill>
                <a:latin typeface="Noto Sans"/>
              </a:rPr>
              <a:t>Short Message Service</a:t>
            </a:r>
            <a:r>
              <a:rPr sz="784" b="0" i="0">
                <a:solidFill>
                  <a:srgbClr val="1C2829"/>
                </a:solidFill>
                <a:latin typeface="Noto Sans"/>
              </a:rPr>
              <a:t>, por sus </a:t>
            </a:r>
          </a:p>
        </p:txBody>
      </p:sp>
      <p:sp>
        <p:nvSpPr>
          <p:cNvPr id="248" name="ANUARIO_REFERENCIA_2024_P6_L024"/>
          <p:cNvSpPr txBox="1"/>
          <p:nvPr/>
        </p:nvSpPr>
        <p:spPr>
          <a:xfrm>
            <a:off x="4664092" y="1963172"/>
            <a:ext cx="1194680"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siglas en inglés SMS)</a:t>
            </a:r>
          </a:p>
        </p:txBody>
      </p:sp>
      <p:sp>
        <p:nvSpPr>
          <p:cNvPr id="249" name="ANUARIO_REFERENCIA_2024_P6_L025"/>
          <p:cNvSpPr txBox="1"/>
          <p:nvPr/>
        </p:nvSpPr>
        <p:spPr>
          <a:xfrm>
            <a:off x="4664092" y="2169954"/>
            <a:ext cx="1811614"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TCA:</a:t>
            </a:r>
            <a:r>
              <a:rPr sz="784" b="0" i="0">
                <a:solidFill>
                  <a:srgbClr val="1C2829"/>
                </a:solidFill>
                <a:latin typeface="Noto Sans"/>
              </a:rPr>
              <a:t> Tasa de Crecimiento Anual</a:t>
            </a:r>
          </a:p>
        </p:txBody>
      </p:sp>
      <p:sp>
        <p:nvSpPr>
          <p:cNvPr id="250" name="ANUARIO_REFERENCIA_2024_P6_L026"/>
          <p:cNvSpPr txBox="1"/>
          <p:nvPr/>
        </p:nvSpPr>
        <p:spPr>
          <a:xfrm>
            <a:off x="4664092" y="2377400"/>
            <a:ext cx="17768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TDT:</a:t>
            </a:r>
            <a:r>
              <a:rPr sz="784" b="0" i="0">
                <a:solidFill>
                  <a:srgbClr val="1C2829"/>
                </a:solidFill>
                <a:latin typeface="Noto Sans"/>
              </a:rPr>
              <a:t> Televisión Digital Terrestre</a:t>
            </a:r>
          </a:p>
        </p:txBody>
      </p:sp>
      <p:sp>
        <p:nvSpPr>
          <p:cNvPr id="251" name="ANUARIO_REFERENCIA_2024_P6_L027"/>
          <p:cNvSpPr txBox="1"/>
          <p:nvPr/>
        </p:nvSpPr>
        <p:spPr>
          <a:xfrm>
            <a:off x="4664092" y="2584845"/>
            <a:ext cx="282987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TIC:</a:t>
            </a:r>
            <a:r>
              <a:rPr sz="784" b="0" i="0">
                <a:solidFill>
                  <a:srgbClr val="1C2829"/>
                </a:solidFill>
                <a:latin typeface="Noto Sans"/>
              </a:rPr>
              <a:t> Tecnologías de la Información y Comunicación</a:t>
            </a:r>
          </a:p>
        </p:txBody>
      </p:sp>
      <p:sp>
        <p:nvSpPr>
          <p:cNvPr id="252" name="ANUARIO_REFERENCIA_2024_P6_L028"/>
          <p:cNvSpPr txBox="1"/>
          <p:nvPr/>
        </p:nvSpPr>
        <p:spPr>
          <a:xfrm>
            <a:off x="4664092" y="2792290"/>
            <a:ext cx="228960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TyR:</a:t>
            </a:r>
            <a:r>
              <a:rPr sz="784" b="0" i="0">
                <a:solidFill>
                  <a:srgbClr val="1C2829"/>
                </a:solidFill>
                <a:latin typeface="Noto Sans"/>
              </a:rPr>
              <a:t> Telecomunicaciones y Radiodifusión</a:t>
            </a:r>
          </a:p>
        </p:txBody>
      </p:sp>
      <p:sp>
        <p:nvSpPr>
          <p:cNvPr id="253" name="ANUARIO_REFERENCIA_2024_P6_L029"/>
          <p:cNvSpPr txBox="1"/>
          <p:nvPr/>
        </p:nvSpPr>
        <p:spPr>
          <a:xfrm>
            <a:off x="4664092" y="2999735"/>
            <a:ext cx="1479211"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UE:</a:t>
            </a:r>
            <a:r>
              <a:rPr sz="784" b="0" i="0">
                <a:solidFill>
                  <a:srgbClr val="1C2829"/>
                </a:solidFill>
                <a:latin typeface="Noto Sans"/>
              </a:rPr>
              <a:t> Unidades Económicas</a:t>
            </a:r>
          </a:p>
        </p:txBody>
      </p:sp>
      <p:sp>
        <p:nvSpPr>
          <p:cNvPr id="254" name="ANUARIO_REFERENCIA_2024_P6_L030"/>
          <p:cNvSpPr txBox="1"/>
          <p:nvPr/>
        </p:nvSpPr>
        <p:spPr>
          <a:xfrm>
            <a:off x="4664092" y="3207181"/>
            <a:ext cx="224957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UER: </a:t>
            </a:r>
            <a:r>
              <a:rPr sz="784" b="0" i="0">
                <a:solidFill>
                  <a:srgbClr val="1C2829"/>
                </a:solidFill>
                <a:latin typeface="Noto Sans"/>
              </a:rPr>
              <a:t>Unidad de Espectro Radioeléctrico </a:t>
            </a:r>
          </a:p>
        </p:txBody>
      </p:sp>
      <p:sp>
        <p:nvSpPr>
          <p:cNvPr id="255" name="ANUARIO_REFERENCIA_2024_P6_L031"/>
          <p:cNvSpPr txBox="1"/>
          <p:nvPr/>
        </p:nvSpPr>
        <p:spPr>
          <a:xfrm>
            <a:off x="4664092" y="3414626"/>
            <a:ext cx="226608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UCS:</a:t>
            </a:r>
            <a:r>
              <a:rPr sz="784" b="0" i="0">
                <a:solidFill>
                  <a:srgbClr val="1C2829"/>
                </a:solidFill>
                <a:latin typeface="Noto Sans"/>
              </a:rPr>
              <a:t> Unidad de Concesiones y Servicios </a:t>
            </a:r>
          </a:p>
        </p:txBody>
      </p:sp>
      <p:sp>
        <p:nvSpPr>
          <p:cNvPr id="256" name="ANUARIO_REFERENCIA_2024_P6_L032"/>
          <p:cNvSpPr txBox="1"/>
          <p:nvPr/>
        </p:nvSpPr>
        <p:spPr>
          <a:xfrm>
            <a:off x="4664092" y="3622072"/>
            <a:ext cx="300144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UMCA:</a:t>
            </a:r>
            <a:r>
              <a:rPr sz="784" b="0" i="0">
                <a:solidFill>
                  <a:srgbClr val="1C2829"/>
                </a:solidFill>
                <a:latin typeface="Noto Sans"/>
              </a:rPr>
              <a:t> Unidad de Medios y Contenidos Audiovisuales </a:t>
            </a:r>
          </a:p>
        </p:txBody>
      </p:sp>
      <p:sp>
        <p:nvSpPr>
          <p:cNvPr id="257"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718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2024 </a:t>
            </a:r>
          </a:p>
        </p:txBody>
      </p:sp>
      <p:sp>
        <p:nvSpPr>
          <p:cNvPr id="31" name="INTRO_TEXTO_5">
            <a:extLst xmlns:a="http://schemas.openxmlformats.org/drawingml/2006/main">
              <a:ext uri="{FF2B5EF4-FFF2-40B4-BE49-F238E27FC236}">
                <a16:creationId xmlns:a16="http://schemas.microsoft.com/office/drawing/2014/main" id="{6BD90689-F106-4D78-96B9-D99D17C93A77}"/>
              </a:ext>
            </a:extLst>
          </p:cNvPr>
          <p:cNvSpPr>
            <a:spLocks xmlns:a="http://schemas.openxmlformats.org/drawingml/2006/main" noGrp="1"/>
          </p:cNvSpPr>
          <p:nvPr/>
        </p:nvSpPr>
        <p:spPr>
          <a:xfrm xmlns:a="http://schemas.openxmlformats.org/drawingml/2006/main">
            <a:off x="482765" y="125147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presenta los principales </a:t>
            </a:r>
          </a:p>
        </p:txBody>
      </p:sp>
      <p:sp>
        <p:nvSpPr>
          <p:cNvPr id="32" name="INTRO_TEXTO_6">
            <a:extLst xmlns:a="http://schemas.openxmlformats.org/drawingml/2006/main">
              <a:ext uri="{FF2B5EF4-FFF2-40B4-BE49-F238E27FC236}">
                <a16:creationId xmlns:a16="http://schemas.microsoft.com/office/drawing/2014/main" id="{211F8CC9-11CC-4601-BE7C-63563AFEAD06}"/>
              </a:ext>
            </a:extLst>
          </p:cNvPr>
          <p:cNvSpPr>
            <a:spLocks xmlns:a="http://schemas.openxmlformats.org/drawingml/2006/main" noGrp="1"/>
          </p:cNvSpPr>
          <p:nvPr/>
        </p:nvSpPr>
        <p:spPr>
          <a:xfrm xmlns:a="http://schemas.openxmlformats.org/drawingml/2006/main">
            <a:off x="482765" y="138575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con los cuales el </a:t>
            </a:r>
          </a:p>
        </p:txBody>
      </p:sp>
      <p:sp>
        <p:nvSpPr>
          <p:cNvPr id="33" name="INTRO_TEXTO_7">
            <a:extLst xmlns:a="http://schemas.openxmlformats.org/drawingml/2006/main">
              <a:ext uri="{FF2B5EF4-FFF2-40B4-BE49-F238E27FC236}">
                <a16:creationId xmlns:a16="http://schemas.microsoft.com/office/drawing/2014/main" id="{536C90CD-CA37-4F83-940E-848F8B2BA1DE}"/>
              </a:ext>
            </a:extLst>
          </p:cNvPr>
          <p:cNvSpPr>
            <a:spLocks xmlns:a="http://schemas.openxmlformats.org/drawingml/2006/main" noGrp="1"/>
          </p:cNvSpPr>
          <p:nvPr/>
        </p:nvSpPr>
        <p:spPr>
          <a:xfrm xmlns:a="http://schemas.openxmlformats.org/drawingml/2006/main">
            <a:off x="482765" y="152002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Instituto Federal de </a:t>
            </a:r>
          </a:p>
        </p:txBody>
      </p:sp>
      <p:sp>
        <p:nvSpPr>
          <p:cNvPr id="34" name="INTRO_TEXTO_8">
            <a:extLst xmlns:a="http://schemas.openxmlformats.org/drawingml/2006/main">
              <a:ext uri="{FF2B5EF4-FFF2-40B4-BE49-F238E27FC236}">
                <a16:creationId xmlns:a16="http://schemas.microsoft.com/office/drawing/2014/main" id="{FD42C724-83B2-4138-BABA-7BD8C01261C1}"/>
              </a:ext>
            </a:extLst>
          </p:cNvPr>
          <p:cNvSpPr>
            <a:spLocks xmlns:a="http://schemas.openxmlformats.org/drawingml/2006/main" noGrp="1"/>
          </p:cNvSpPr>
          <p:nvPr/>
        </p:nvSpPr>
        <p:spPr>
          <a:xfrm xmlns:a="http://schemas.openxmlformats.org/drawingml/2006/main">
            <a:off x="482765" y="165430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(IFT) </a:t>
            </a:r>
          </a:p>
        </p:txBody>
      </p:sp>
      <p:sp>
        <p:nvSpPr>
          <p:cNvPr id="35" name="INTRO_TEXTO_9">
            <a:extLst xmlns:a="http://schemas.openxmlformats.org/drawingml/2006/main">
              <a:ext uri="{FF2B5EF4-FFF2-40B4-BE49-F238E27FC236}">
                <a16:creationId xmlns:a16="http://schemas.microsoft.com/office/drawing/2014/main" id="{DF84B6F4-7CED-4BB0-B780-5E6268BF34C9}"/>
              </a:ext>
            </a:extLst>
          </p:cNvPr>
          <p:cNvSpPr>
            <a:spLocks xmlns:a="http://schemas.openxmlformats.org/drawingml/2006/main" noGrp="1"/>
          </p:cNvSpPr>
          <p:nvPr/>
        </p:nvSpPr>
        <p:spPr>
          <a:xfrm xmlns:a="http://schemas.openxmlformats.org/drawingml/2006/main">
            <a:off x="482765" y="178858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monitorea la evolución de los </a:t>
            </a:r>
          </a:p>
        </p:txBody>
      </p:sp>
      <p:sp>
        <p:nvSpPr>
          <p:cNvPr id="36" name="INTRO_TEXTO_10">
            <a:extLst xmlns:a="http://schemas.openxmlformats.org/drawingml/2006/main">
              <a:ext uri="{FF2B5EF4-FFF2-40B4-BE49-F238E27FC236}">
                <a16:creationId xmlns:a16="http://schemas.microsoft.com/office/drawing/2014/main" id="{C03417EB-44CA-4D79-BB58-F8B351A2FC07}"/>
              </a:ext>
            </a:extLst>
          </p:cNvPr>
          <p:cNvSpPr>
            <a:spLocks xmlns:a="http://schemas.openxmlformats.org/drawingml/2006/main" noGrp="1"/>
          </p:cNvSpPr>
          <p:nvPr/>
        </p:nvSpPr>
        <p:spPr>
          <a:xfrm xmlns:a="http://schemas.openxmlformats.org/drawingml/2006/main">
            <a:off x="482765" y="192287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sectores de las </a:t>
            </a:r>
          </a:p>
        </p:txBody>
      </p:sp>
      <p:sp>
        <p:nvSpPr>
          <p:cNvPr id="37" name="INTRO_TEXTO_11">
            <a:extLst xmlns:a="http://schemas.openxmlformats.org/drawingml/2006/main">
              <a:ext uri="{FF2B5EF4-FFF2-40B4-BE49-F238E27FC236}">
                <a16:creationId xmlns:a16="http://schemas.microsoft.com/office/drawing/2014/main" id="{2AFDC85B-F3D3-4D87-BC6C-8D59FBBF7F2B}"/>
              </a:ext>
            </a:extLst>
          </p:cNvPr>
          <p:cNvSpPr>
            <a:spLocks xmlns:a="http://schemas.openxmlformats.org/drawingml/2006/main" noGrp="1"/>
          </p:cNvSpPr>
          <p:nvPr/>
        </p:nvSpPr>
        <p:spPr>
          <a:xfrm xmlns:a="http://schemas.openxmlformats.org/drawingml/2006/main">
            <a:off x="482765" y="205714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la </a:t>
            </a:r>
          </a:p>
        </p:txBody>
      </p:sp>
      <p:sp>
        <p:nvSpPr>
          <p:cNvPr id="38" name="INTRO_TEXTO_12">
            <a:extLst xmlns:a="http://schemas.openxmlformats.org/drawingml/2006/main">
              <a:ext uri="{FF2B5EF4-FFF2-40B4-BE49-F238E27FC236}">
                <a16:creationId xmlns:a16="http://schemas.microsoft.com/office/drawing/2014/main" id="{DAC77413-34AF-4358-B218-0DE67E23F091}"/>
              </a:ext>
            </a:extLst>
          </p:cNvPr>
          <p:cNvSpPr>
            <a:spLocks xmlns:a="http://schemas.openxmlformats.org/drawingml/2006/main" noGrp="1"/>
          </p:cNvSpPr>
          <p:nvPr/>
        </p:nvSpPr>
        <p:spPr>
          <a:xfrm xmlns:a="http://schemas.openxmlformats.org/drawingml/2006/main">
            <a:off x="482765" y="219142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 (TyR) a nivel </a:t>
            </a:r>
          </a:p>
        </p:txBody>
      </p:sp>
      <p:sp>
        <p:nvSpPr>
          <p:cNvPr id="39" name="INTRO_TEXTO_13">
            <a:extLst xmlns:a="http://schemas.openxmlformats.org/drawingml/2006/main">
              <a:ext uri="{FF2B5EF4-FFF2-40B4-BE49-F238E27FC236}">
                <a16:creationId xmlns:a16="http://schemas.microsoft.com/office/drawing/2014/main" id="{2880C6F5-850C-4338-9989-F687515D82C2}"/>
              </a:ext>
            </a:extLst>
          </p:cNvPr>
          <p:cNvSpPr>
            <a:spLocks xmlns:a="http://schemas.openxmlformats.org/drawingml/2006/main" noGrp="1"/>
          </p:cNvSpPr>
          <p:nvPr/>
        </p:nvSpPr>
        <p:spPr>
          <a:xfrm xmlns:a="http://schemas.openxmlformats.org/drawingml/2006/main">
            <a:off x="482765" y="232570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nacional y para algunos </a:t>
            </a:r>
          </a:p>
        </p:txBody>
      </p:sp>
      <p:sp>
        <p:nvSpPr>
          <p:cNvPr id="40" name="INTRO_TEXTO_14">
            <a:extLst xmlns:a="http://schemas.openxmlformats.org/drawingml/2006/main">
              <a:ext uri="{FF2B5EF4-FFF2-40B4-BE49-F238E27FC236}">
                <a16:creationId xmlns:a16="http://schemas.microsoft.com/office/drawing/2014/main" id="{C2812C43-6634-42CD-A078-9F68137E8AEE}"/>
              </a:ext>
            </a:extLst>
          </p:cNvPr>
          <p:cNvSpPr>
            <a:spLocks xmlns:a="http://schemas.openxmlformats.org/drawingml/2006/main" noGrp="1"/>
          </p:cNvSpPr>
          <p:nvPr/>
        </p:nvSpPr>
        <p:spPr>
          <a:xfrm xmlns:a="http://schemas.openxmlformats.org/drawingml/2006/main">
            <a:off x="482765" y="245999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a nivel entidad </a:t>
            </a:r>
          </a:p>
        </p:txBody>
      </p:sp>
      <p:sp>
        <p:nvSpPr>
          <p:cNvPr id="41" name="INTRO_TEXTO_15">
            <a:extLst xmlns:a="http://schemas.openxmlformats.org/drawingml/2006/main">
              <a:ext uri="{FF2B5EF4-FFF2-40B4-BE49-F238E27FC236}">
                <a16:creationId xmlns:a16="http://schemas.microsoft.com/office/drawing/2014/main" id="{9764DC29-6C4D-4758-8F65-EC118DCDDC92}"/>
              </a:ext>
            </a:extLst>
          </p:cNvPr>
          <p:cNvSpPr>
            <a:spLocks xmlns:a="http://schemas.openxmlformats.org/drawingml/2006/main" noGrp="1"/>
          </p:cNvSpPr>
          <p:nvPr/>
        </p:nvSpPr>
        <p:spPr>
          <a:xfrm xmlns:a="http://schemas.openxmlformats.org/drawingml/2006/main">
            <a:off x="482765" y="259426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federativa. Con ello el IFT, a </a:t>
            </a:r>
          </a:p>
        </p:txBody>
      </p:sp>
      <p:sp>
        <p:nvSpPr>
          <p:cNvPr id="42" name="INTRO_TEXTO_16">
            <a:extLst xmlns:a="http://schemas.openxmlformats.org/drawingml/2006/main">
              <a:ext uri="{FF2B5EF4-FFF2-40B4-BE49-F238E27FC236}">
                <a16:creationId xmlns:a16="http://schemas.microsoft.com/office/drawing/2014/main" id="{E2EAF48C-37E7-4F90-84EB-E956FE5CF668}"/>
              </a:ext>
            </a:extLst>
          </p:cNvPr>
          <p:cNvSpPr>
            <a:spLocks xmlns:a="http://schemas.openxmlformats.org/drawingml/2006/main" noGrp="1"/>
          </p:cNvSpPr>
          <p:nvPr/>
        </p:nvSpPr>
        <p:spPr>
          <a:xfrm xmlns:a="http://schemas.openxmlformats.org/drawingml/2006/main">
            <a:off x="482765" y="2728546"/>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través de la Coordinación General </a:t>
            </a:r>
          </a:p>
        </p:txBody>
      </p:sp>
      <p:sp>
        <p:nvSpPr>
          <p:cNvPr id="43" name="INTRO_TEXTO_17">
            <a:extLst xmlns:a="http://schemas.openxmlformats.org/drawingml/2006/main">
              <a:ext uri="{FF2B5EF4-FFF2-40B4-BE49-F238E27FC236}">
                <a16:creationId xmlns:a16="http://schemas.microsoft.com/office/drawing/2014/main" id="{3E981804-BA50-4EEE-A4F7-85252A027F37}"/>
              </a:ext>
            </a:extLst>
          </p:cNvPr>
          <p:cNvSpPr>
            <a:spLocks xmlns:a="http://schemas.openxmlformats.org/drawingml/2006/main" noGrp="1"/>
          </p:cNvSpPr>
          <p:nvPr/>
        </p:nvSpPr>
        <p:spPr>
          <a:xfrm xmlns:a="http://schemas.openxmlformats.org/drawingml/2006/main">
            <a:off x="482765" y="286282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Planeación Estratégica </a:t>
            </a:r>
          </a:p>
        </p:txBody>
      </p:sp>
      <p:sp>
        <p:nvSpPr>
          <p:cNvPr id="44" name="INTRO_TEXTO_18">
            <a:extLst xmlns:a="http://schemas.openxmlformats.org/drawingml/2006/main">
              <a:ext uri="{FF2B5EF4-FFF2-40B4-BE49-F238E27FC236}">
                <a16:creationId xmlns:a16="http://schemas.microsoft.com/office/drawing/2014/main" id="{66D1E505-90C1-4F64-A9CE-D99EB71B192F}"/>
              </a:ext>
            </a:extLst>
          </p:cNvPr>
          <p:cNvSpPr>
            <a:spLocks xmlns:a="http://schemas.openxmlformats.org/drawingml/2006/main" noGrp="1"/>
          </p:cNvSpPr>
          <p:nvPr/>
        </p:nvSpPr>
        <p:spPr>
          <a:xfrm xmlns:a="http://schemas.openxmlformats.org/drawingml/2006/main">
            <a:off x="482765" y="299711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proporciona información puntual y </a:t>
            </a:r>
          </a:p>
        </p:txBody>
      </p:sp>
      <p:sp>
        <p:nvSpPr>
          <p:cNvPr id="45" name="INTRO_TEXTO_19">
            <a:extLst xmlns:a="http://schemas.openxmlformats.org/drawingml/2006/main">
              <a:ext uri="{FF2B5EF4-FFF2-40B4-BE49-F238E27FC236}">
                <a16:creationId xmlns:a16="http://schemas.microsoft.com/office/drawing/2014/main" id="{F6B19A7F-2D2C-4130-86A5-26B32DB7B22D}"/>
              </a:ext>
            </a:extLst>
          </p:cNvPr>
          <p:cNvSpPr>
            <a:spLocks xmlns:a="http://schemas.openxmlformats.org/drawingml/2006/main" noGrp="1"/>
          </p:cNvSpPr>
          <p:nvPr/>
        </p:nvSpPr>
        <p:spPr>
          <a:xfrm xmlns:a="http://schemas.openxmlformats.org/drawingml/2006/main">
            <a:off x="482765" y="313139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confiable a los diferentes actores </a:t>
            </a:r>
          </a:p>
        </p:txBody>
      </p:sp>
      <p:sp>
        <p:nvSpPr>
          <p:cNvPr id="46" name="INTRO_TEXTO_20">
            <a:extLst xmlns:a="http://schemas.openxmlformats.org/drawingml/2006/main">
              <a:ext uri="{FF2B5EF4-FFF2-40B4-BE49-F238E27FC236}">
                <a16:creationId xmlns:a16="http://schemas.microsoft.com/office/drawing/2014/main" id="{A9ED9EF3-5D71-4FFB-9CC0-BE7CE00E2680}"/>
              </a:ext>
            </a:extLst>
          </p:cNvPr>
          <p:cNvSpPr>
            <a:spLocks xmlns:a="http://schemas.openxmlformats.org/drawingml/2006/main" noGrp="1"/>
          </p:cNvSpPr>
          <p:nvPr/>
        </p:nvSpPr>
        <p:spPr>
          <a:xfrm xmlns:a="http://schemas.openxmlformats.org/drawingml/2006/main">
            <a:off x="482765" y="326566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públicos y privados que participan </a:t>
            </a:r>
          </a:p>
        </p:txBody>
      </p:sp>
      <p:sp>
        <p:nvSpPr>
          <p:cNvPr id="47" name="INTRO_TEXTO_21">
            <a:extLst xmlns:a="http://schemas.openxmlformats.org/drawingml/2006/main">
              <a:ext uri="{FF2B5EF4-FFF2-40B4-BE49-F238E27FC236}">
                <a16:creationId xmlns:a16="http://schemas.microsoft.com/office/drawing/2014/main" id="{79C4BC74-A88B-4B2A-A278-31CF769F5866}"/>
              </a:ext>
            </a:extLst>
          </p:cNvPr>
          <p:cNvSpPr>
            <a:spLocks xmlns:a="http://schemas.openxmlformats.org/drawingml/2006/main" noGrp="1"/>
          </p:cNvSpPr>
          <p:nvPr/>
        </p:nvSpPr>
        <p:spPr>
          <a:xfrm xmlns:a="http://schemas.openxmlformats.org/drawingml/2006/main">
            <a:off x="482765" y="339994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en dichos sectores para </a:t>
            </a:r>
          </a:p>
        </p:txBody>
      </p:sp>
      <p:sp>
        <p:nvSpPr>
          <p:cNvPr id="48" name="INTRO_TEXTO_22">
            <a:extLst xmlns:a="http://schemas.openxmlformats.org/drawingml/2006/main">
              <a:ext uri="{FF2B5EF4-FFF2-40B4-BE49-F238E27FC236}">
                <a16:creationId xmlns:a16="http://schemas.microsoft.com/office/drawing/2014/main" id="{9F6A05EB-15F4-4E1F-B076-CC3F5D455BAA}"/>
              </a:ext>
            </a:extLst>
          </p:cNvPr>
          <p:cNvSpPr>
            <a:spLocks xmlns:a="http://schemas.openxmlformats.org/drawingml/2006/main" noGrp="1"/>
          </p:cNvSpPr>
          <p:nvPr/>
        </p:nvSpPr>
        <p:spPr>
          <a:xfrm xmlns:a="http://schemas.openxmlformats.org/drawingml/2006/main">
            <a:off x="482765" y="353422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robustecer la toma de decisiones, </a:t>
            </a:r>
          </a:p>
        </p:txBody>
      </p:sp>
      <p:sp>
        <p:nvSpPr>
          <p:cNvPr id="49" name="INTRO_TEXTO_23">
            <a:extLst xmlns:a="http://schemas.openxmlformats.org/drawingml/2006/main">
              <a:ext uri="{FF2B5EF4-FFF2-40B4-BE49-F238E27FC236}">
                <a16:creationId xmlns:a16="http://schemas.microsoft.com/office/drawing/2014/main" id="{A144D5CB-03AA-44AE-BADE-E4153C392037}"/>
              </a:ext>
            </a:extLst>
          </p:cNvPr>
          <p:cNvSpPr>
            <a:spLocks xmlns:a="http://schemas.openxmlformats.org/drawingml/2006/main" noGrp="1"/>
          </p:cNvSpPr>
          <p:nvPr/>
        </p:nvSpPr>
        <p:spPr>
          <a:xfrm xmlns:a="http://schemas.openxmlformats.org/drawingml/2006/main">
            <a:off x="482765" y="366851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diseño de nuevas políticas </a:t>
            </a:r>
          </a:p>
        </p:txBody>
      </p:sp>
      <p:sp>
        <p:nvSpPr>
          <p:cNvPr id="50" name="INTRO_TEXTO_24">
            <a:extLst xmlns:a="http://schemas.openxmlformats.org/drawingml/2006/main">
              <a:ext uri="{FF2B5EF4-FFF2-40B4-BE49-F238E27FC236}">
                <a16:creationId xmlns:a16="http://schemas.microsoft.com/office/drawing/2014/main" id="{DFED4B78-00CC-4EF5-94BF-A8C00373ED06}"/>
              </a:ext>
            </a:extLst>
          </p:cNvPr>
          <p:cNvSpPr>
            <a:spLocks xmlns:a="http://schemas.openxmlformats.org/drawingml/2006/main" noGrp="1"/>
          </p:cNvSpPr>
          <p:nvPr/>
        </p:nvSpPr>
        <p:spPr>
          <a:xfrm xmlns:a="http://schemas.openxmlformats.org/drawingml/2006/main">
            <a:off x="482765" y="380278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públicas y regulatorias con el fin </a:t>
            </a:r>
          </a:p>
        </p:txBody>
      </p:sp>
      <p:sp>
        <p:nvSpPr>
          <p:cNvPr id="51" name="INTRO_TEXTO_25">
            <a:extLst xmlns:a="http://schemas.openxmlformats.org/drawingml/2006/main">
              <a:ext uri="{FF2B5EF4-FFF2-40B4-BE49-F238E27FC236}">
                <a16:creationId xmlns:a16="http://schemas.microsoft.com/office/drawing/2014/main" id="{74F91674-2B7A-4779-BEF9-675E54A872D7}"/>
              </a:ext>
            </a:extLst>
          </p:cNvPr>
          <p:cNvSpPr>
            <a:spLocks xmlns:a="http://schemas.openxmlformats.org/drawingml/2006/main" noGrp="1"/>
          </p:cNvSpPr>
          <p:nvPr/>
        </p:nvSpPr>
        <p:spPr>
          <a:xfrm xmlns:a="http://schemas.openxmlformats.org/drawingml/2006/main">
            <a:off x="482765" y="393706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mejorar y garantizar la calidad </a:t>
            </a:r>
          </a:p>
        </p:txBody>
      </p:sp>
      <p:sp>
        <p:nvSpPr>
          <p:cNvPr id="52" name="INTRO_TEXTO_26">
            <a:extLst xmlns:a="http://schemas.openxmlformats.org/drawingml/2006/main">
              <a:ext uri="{FF2B5EF4-FFF2-40B4-BE49-F238E27FC236}">
                <a16:creationId xmlns:a16="http://schemas.microsoft.com/office/drawing/2014/main" id="{F9B0123F-B07D-4A91-8EEE-10AE48E5B72F}"/>
              </a:ext>
            </a:extLst>
          </p:cNvPr>
          <p:cNvSpPr>
            <a:spLocks xmlns:a="http://schemas.openxmlformats.org/drawingml/2006/main" noGrp="1"/>
          </p:cNvSpPr>
          <p:nvPr/>
        </p:nvSpPr>
        <p:spPr>
          <a:xfrm xmlns:a="http://schemas.openxmlformats.org/drawingml/2006/main">
            <a:off x="482765" y="407134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los servicios de </a:t>
            </a:r>
          </a:p>
        </p:txBody>
      </p:sp>
      <p:sp>
        <p:nvSpPr>
          <p:cNvPr id="53" name="INTRO_TEXTO_27">
            <a:extLst xmlns:a="http://schemas.openxmlformats.org/drawingml/2006/main">
              <a:ext uri="{FF2B5EF4-FFF2-40B4-BE49-F238E27FC236}">
                <a16:creationId xmlns:a16="http://schemas.microsoft.com/office/drawing/2014/main" id="{C28A19A7-B4B7-4753-B6CA-93635324508A}"/>
              </a:ext>
            </a:extLst>
          </p:cNvPr>
          <p:cNvSpPr>
            <a:spLocks xmlns:a="http://schemas.openxmlformats.org/drawingml/2006/main" noGrp="1"/>
          </p:cNvSpPr>
          <p:nvPr/>
        </p:nvSpPr>
        <p:spPr>
          <a:xfrm xmlns:a="http://schemas.openxmlformats.org/drawingml/2006/main">
            <a:off x="482765" y="420563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a:t>
            </a:r>
          </a:p>
        </p:txBody>
      </p:sp>
      <p:sp>
        <p:nvSpPr>
          <p:cNvPr id="54" name="INTRO_TEXTO_28">
            <a:extLst xmlns:a="http://schemas.openxmlformats.org/drawingml/2006/main">
              <a:ext uri="{FF2B5EF4-FFF2-40B4-BE49-F238E27FC236}">
                <a16:creationId xmlns:a16="http://schemas.microsoft.com/office/drawing/2014/main" id="{BBAE18BD-1B28-49D9-B073-764D41076BC0}"/>
              </a:ext>
            </a:extLst>
          </p:cNvPr>
          <p:cNvSpPr>
            <a:spLocks xmlns:a="http://schemas.openxmlformats.org/drawingml/2006/main" noGrp="1"/>
          </p:cNvSpPr>
          <p:nvPr/>
        </p:nvSpPr>
        <p:spPr>
          <a:xfrm xmlns:a="http://schemas.openxmlformats.org/drawingml/2006/main">
            <a:off x="482765" y="433990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7</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INTRO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INTRODUCCIÓN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a:t>
            </a:r>
          </a:p>
        </p:txBody>
      </p:sp>
      <p:sp>
        <p:nvSpPr>
          <p:cNvPr id="222" name="ANUARIO_REFERENCIA_2024_P8_L001"/>
          <p:cNvSpPr txBox="1"/>
          <p:nvPr/>
        </p:nvSpPr>
        <p:spPr>
          <a:xfrm>
            <a:off x="442093" y="3201048"/>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En los anexos se encuentran tablas en las que se resumen los indicadores presentados por entidad federativa (Anexo I), definiciones de conceptos utilizados (Anexo II), metodologías (Anexo III) y los </a:t>
            </a:r>
          </a:p>
        </p:txBody>
      </p:sp>
      <p:sp>
        <p:nvSpPr>
          <p:cNvPr id="223" name="ANUARIO_REFERENCIA_2024_P8_L002"/>
          <p:cNvSpPr txBox="1"/>
          <p:nvPr/>
        </p:nvSpPr>
        <p:spPr>
          <a:xfrm>
            <a:off x="442093" y="3303600"/>
            <a:ext cx="198115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métodos de cálculo de indicadores (Anexo IV).</a:t>
            </a:r>
          </a:p>
        </p:txBody>
      </p:sp>
      <p:sp>
        <p:nvSpPr>
          <p:cNvPr id="224" name="ANUARIO_REFERENCIA_2024_P8_L003"/>
          <p:cNvSpPr txBox="1"/>
          <p:nvPr/>
        </p:nvSpPr>
        <p:spPr>
          <a:xfrm>
            <a:off x="442093" y="3508703"/>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información presentada proviene de distintas fuentes, tales como: los datos reportados por los operadores del sector de telecomunicaciones al IFT, y que a la fecha de esta publicación se encuentran </a:t>
            </a:r>
          </a:p>
        </p:txBody>
      </p:sp>
      <p:sp>
        <p:nvSpPr>
          <p:cNvPr id="225" name="ANUARIO_REFERENCIA_2024_P8_L004"/>
          <p:cNvSpPr txBox="1"/>
          <p:nvPr/>
        </p:nvSpPr>
        <p:spPr>
          <a:xfrm>
            <a:off x="442093" y="3611255"/>
            <a:ext cx="4753555"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sujetos a revisión; datos del Instituto Nacional de Estadística y Geografía (INEGI) y la Secretaría de Economía (SE). </a:t>
            </a:r>
          </a:p>
        </p:txBody>
      </p:sp>
      <p:sp>
        <p:nvSpPr>
          <p:cNvPr id="226" name="ANUARIO_REFERENCIA_2024_P8_L005"/>
          <p:cNvSpPr txBox="1"/>
          <p:nvPr/>
        </p:nvSpPr>
        <p:spPr>
          <a:xfrm>
            <a:off x="442093" y="3816358"/>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Esta edición del Anuario Estadístico es el noveno volumen elaborado por la Coordinación General de Planeación Estratégica (CGPE) del IFT. Para su elaboración, se contó con el apoyo de la Coordinación </a:t>
            </a:r>
          </a:p>
        </p:txBody>
      </p:sp>
      <p:sp>
        <p:nvSpPr>
          <p:cNvPr id="227" name="ANUARIO_REFERENCIA_2024_P8_L006"/>
          <p:cNvSpPr txBox="1"/>
          <p:nvPr/>
        </p:nvSpPr>
        <p:spPr>
          <a:xfrm>
            <a:off x="442093" y="3918910"/>
            <a:ext cx="8083212"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General de Política del Usuario (CGPU), la Unidad de Espectro Radioeléctrico (UER), la Unidad de Concesiones y Servicios (UCS) y la Unidad de Medios y Contenidos Audiovisuales (UMCA) del IFT. </a:t>
            </a:r>
          </a:p>
        </p:txBody>
      </p:sp>
      <p:sp>
        <p:nvSpPr>
          <p:cNvPr id="228" name="ANUARIO_REFERENCIA_2024_P8_L007"/>
          <p:cNvSpPr txBox="1"/>
          <p:nvPr/>
        </p:nvSpPr>
        <p:spPr>
          <a:xfrm>
            <a:off x="442093" y="4124013"/>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Cabe mencionar que el lector puede complementar el análisis de este documento con su versión interactiva, disponible en el Banco de Información de Telecomunicaciones (BIT) en el siguiente enlace: </a:t>
            </a:r>
          </a:p>
        </p:txBody>
      </p:sp>
      <p:sp>
        <p:nvSpPr>
          <p:cNvPr id="229" name="ANUARIO_REFERENCIA_2024_P8_L008"/>
          <p:cNvSpPr txBox="1"/>
          <p:nvPr/>
        </p:nvSpPr>
        <p:spPr>
          <a:xfrm>
            <a:off x="442093" y="4226565"/>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https://bit.ift.org.mx/BitWebApp/</a:t>
            </a:r>
            <a:r>
              <a:rPr sz="688" b="0" i="0">
                <a:solidFill>
                  <a:srgbClr val="1C2829"/>
                </a:solidFill>
                <a:latin typeface="Noto Sans"/>
              </a:rPr>
              <a:t> o consultar </a:t>
            </a:r>
            <a:r>
              <a:rPr sz="688" b="0" i="0">
                <a:solidFill>
                  <a:srgbClr val="0563C1"/>
                </a:solidFill>
                <a:latin typeface="Noto Sans"/>
              </a:rPr>
              <a:t>https://www.ift.org.mx/</a:t>
            </a:r>
            <a:r>
              <a:rPr sz="688" b="0" i="0">
                <a:solidFill>
                  <a:srgbClr val="1C2829"/>
                </a:solidFill>
                <a:latin typeface="Noto Sans"/>
              </a:rPr>
              <a:t> -&gt; Estadísticas Banco de Información de Telecomunicaciones (BIT). Además, puede consultar y descargar información de los sectores </a:t>
            </a:r>
          </a:p>
        </p:txBody>
      </p:sp>
      <p:sp>
        <p:nvSpPr>
          <p:cNvPr id="230" name="ANUARIO_REFERENCIA_2024_P8_L009"/>
          <p:cNvSpPr txBox="1"/>
          <p:nvPr/>
        </p:nvSpPr>
        <p:spPr>
          <a:xfrm>
            <a:off x="442093" y="4329117"/>
            <a:ext cx="829042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regulados por el IFT, con actualización trimestral a partir de 2013. Y puede consultar el portal del BIT estatal en </a:t>
            </a:r>
            <a:r>
              <a:rPr sz="688" b="0" i="0">
                <a:solidFill>
                  <a:srgbClr val="0563C1"/>
                </a:solidFill>
                <a:latin typeface="Noto Sans"/>
              </a:rPr>
              <a:t>https://bitestatal.ift.org.mx/#/</a:t>
            </a:r>
            <a:r>
              <a:rPr sz="688" b="0" i="0">
                <a:solidFill>
                  <a:srgbClr val="1C2829"/>
                </a:solidFill>
                <a:latin typeface="Noto Sans"/>
              </a:rPr>
              <a:t> que contiene la información estadística por entidad federativa. </a:t>
            </a:r>
          </a:p>
        </p:txBody>
      </p:sp>
      <p:sp>
        <p:nvSpPr>
          <p:cNvPr id="231" name="ANUARIO_REFERENCIA_2024_P8_L010"/>
          <p:cNvSpPr txBox="1"/>
          <p:nvPr/>
        </p:nvSpPr>
        <p:spPr>
          <a:xfrm>
            <a:off x="970049" y="864374"/>
            <a:ext cx="1217276"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5.</a:t>
            </a:r>
            <a:r>
              <a:rPr sz="688" b="1" i="0">
                <a:solidFill>
                  <a:srgbClr val="3E2777"/>
                </a:solidFill>
                <a:latin typeface="Noto Sans"/>
              </a:rPr>
              <a:t>Usuarios de Servicios de</a:t>
            </a:r>
          </a:p>
        </p:txBody>
      </p:sp>
      <p:sp>
        <p:nvSpPr>
          <p:cNvPr id="232" name="ANUARIO_REFERENCIA_2024_P8_L011"/>
          <p:cNvSpPr txBox="1"/>
          <p:nvPr/>
        </p:nvSpPr>
        <p:spPr>
          <a:xfrm>
            <a:off x="1082742" y="966926"/>
            <a:ext cx="962687"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Telecomunicaciones:</a:t>
            </a:r>
          </a:p>
        </p:txBody>
      </p:sp>
      <p:sp>
        <p:nvSpPr>
          <p:cNvPr id="233" name="ANUARIO_REFERENCIA_2024_P8_L012"/>
          <p:cNvSpPr txBox="1"/>
          <p:nvPr/>
        </p:nvSpPr>
        <p:spPr>
          <a:xfrm>
            <a:off x="970049" y="1447719"/>
            <a:ext cx="1373153"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6.</a:t>
            </a:r>
            <a:r>
              <a:rPr sz="688" b="1" i="0">
                <a:solidFill>
                  <a:srgbClr val="3E2777"/>
                </a:solidFill>
                <a:latin typeface="Noto Sans"/>
              </a:rPr>
              <a:t>Indicadores con Perspectiva</a:t>
            </a:r>
          </a:p>
        </p:txBody>
      </p:sp>
      <p:sp>
        <p:nvSpPr>
          <p:cNvPr id="234" name="ANUARIO_REFERENCIA_2024_P8_L013"/>
          <p:cNvSpPr txBox="1"/>
          <p:nvPr/>
        </p:nvSpPr>
        <p:spPr>
          <a:xfrm>
            <a:off x="1082742" y="1550271"/>
            <a:ext cx="553745"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de Género:</a:t>
            </a:r>
          </a:p>
        </p:txBody>
      </p:sp>
      <p:sp>
        <p:nvSpPr>
          <p:cNvPr id="235" name="ANUARIO_REFERENCIA_2024_P8_L014"/>
          <p:cNvSpPr txBox="1"/>
          <p:nvPr/>
        </p:nvSpPr>
        <p:spPr>
          <a:xfrm>
            <a:off x="970049" y="2116062"/>
            <a:ext cx="1443835"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7.</a:t>
            </a:r>
            <a:r>
              <a:rPr sz="688" b="1" i="0">
                <a:solidFill>
                  <a:srgbClr val="3E2777"/>
                </a:solidFill>
                <a:latin typeface="Noto Sans"/>
              </a:rPr>
              <a:t>Indicadores de Radiodifusión:</a:t>
            </a:r>
          </a:p>
        </p:txBody>
      </p:sp>
      <p:sp>
        <p:nvSpPr>
          <p:cNvPr id="236" name="ANUARIO_REFERENCIA_2024_P8_L015"/>
          <p:cNvSpPr txBox="1"/>
          <p:nvPr/>
        </p:nvSpPr>
        <p:spPr>
          <a:xfrm>
            <a:off x="970049" y="2566733"/>
            <a:ext cx="1066095"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8.</a:t>
            </a:r>
            <a:r>
              <a:rPr sz="688" b="1" i="0">
                <a:solidFill>
                  <a:srgbClr val="3E2777"/>
                </a:solidFill>
                <a:latin typeface="Noto Sans"/>
              </a:rPr>
              <a:t>Consumo de Radio y</a:t>
            </a:r>
          </a:p>
        </p:txBody>
      </p:sp>
      <p:sp>
        <p:nvSpPr>
          <p:cNvPr id="237" name="ANUARIO_REFERENCIA_2024_P8_L016"/>
          <p:cNvSpPr txBox="1"/>
          <p:nvPr/>
        </p:nvSpPr>
        <p:spPr>
          <a:xfrm>
            <a:off x="1082742" y="2669284"/>
            <a:ext cx="529232" cy="137322"/>
          </a:xfrm>
          <a:prstGeom prst="rect">
            <a:avLst/>
          </a:prstGeom>
          <a:noFill/>
        </p:spPr>
        <p:txBody>
          <a:bodyPr wrap="none" anchor="t" lIns="0" rIns="0" tIns="0" bIns="0">
            <a:noAutofit/>
          </a:bodyPr>
          <a:lstStyle/>
          <a:p>
            <a:pPr>
              <a:spcBef>
                <a:spcPts val="0"/>
              </a:spcBef>
              <a:spcAft>
                <a:spcPts val="0"/>
              </a:spcAft>
            </a:pPr>
            <a:r>
              <a:rPr sz="688" b="1" i="0">
                <a:solidFill>
                  <a:srgbClr val="3E2777"/>
                </a:solidFill>
                <a:latin typeface="Noto Sans"/>
              </a:rPr>
              <a:t>Televisión:</a:t>
            </a:r>
          </a:p>
        </p:txBody>
      </p:sp>
      <p:sp>
        <p:nvSpPr>
          <p:cNvPr id="238" name="ANUARIO_REFERENCIA_2024_P8_L017"/>
          <p:cNvSpPr txBox="1"/>
          <p:nvPr/>
        </p:nvSpPr>
        <p:spPr>
          <a:xfrm>
            <a:off x="2562864" y="773291"/>
            <a:ext cx="6164520"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Comprende los niveles de satisfacción de las personas usuarias y de las MiPymes sobre los servicios de telecomunicaciones de Internet fijo, telefonía </a:t>
            </a:r>
          </a:p>
        </p:txBody>
      </p:sp>
      <p:sp>
        <p:nvSpPr>
          <p:cNvPr id="239" name="ANUARIO_REFERENCIA_2024_P8_L018"/>
          <p:cNvSpPr txBox="1"/>
          <p:nvPr/>
        </p:nvSpPr>
        <p:spPr>
          <a:xfrm>
            <a:off x="2562864" y="875843"/>
            <a:ext cx="6165790"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fija, televisión de paga y telefonía móvil; los beneficios de contar con Internet fijo y/o telefonía fija, los beneficios de vender a través de Internet </a:t>
            </a:r>
          </a:p>
        </p:txBody>
      </p:sp>
      <p:sp>
        <p:nvSpPr>
          <p:cNvPr id="240" name="ANUARIO_REFERENCIA_2024_P8_L019"/>
          <p:cNvSpPr txBox="1"/>
          <p:nvPr/>
        </p:nvSpPr>
        <p:spPr>
          <a:xfrm>
            <a:off x="2562864" y="978395"/>
            <a:ext cx="6165653"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fijo, los dispositivos que utilizan las MiPymes para realizar sus actividades, las ventajas de contar con aplicación móvil; el uso de los servicios de </a:t>
            </a:r>
          </a:p>
        </p:txBody>
      </p:sp>
      <p:sp>
        <p:nvSpPr>
          <p:cNvPr id="241" name="ANUARIO_REFERENCIA_2024_P8_L020"/>
          <p:cNvSpPr txBox="1"/>
          <p:nvPr/>
        </p:nvSpPr>
        <p:spPr>
          <a:xfrm>
            <a:off x="2562864" y="1080946"/>
            <a:ext cx="616506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telecomunicaciones para realizar actividades de importación y/o exportación, así como también el uso y conocimiento de la Inteligencia Artificial (IA) </a:t>
            </a:r>
          </a:p>
        </p:txBody>
      </p:sp>
      <p:sp>
        <p:nvSpPr>
          <p:cNvPr id="242" name="ANUARIO_REFERENCIA_2024_P8_L021"/>
          <p:cNvSpPr txBox="1"/>
          <p:nvPr/>
        </p:nvSpPr>
        <p:spPr>
          <a:xfrm>
            <a:off x="2562864" y="1183498"/>
            <a:ext cx="69799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y del ChatGPT.</a:t>
            </a:r>
          </a:p>
        </p:txBody>
      </p:sp>
      <p:sp>
        <p:nvSpPr>
          <p:cNvPr id="243" name="ANUARIO_REFERENCIA_2024_P8_L022"/>
          <p:cNvSpPr txBox="1"/>
          <p:nvPr/>
        </p:nvSpPr>
        <p:spPr>
          <a:xfrm>
            <a:off x="2562864" y="1356605"/>
            <a:ext cx="6164995"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Incluye información desagregada por sexo referente a: las actividades realizadas mediante un teléfono celular inteligente (</a:t>
            </a:r>
            <a:r>
              <a:rPr sz="688" b="0" i="1">
                <a:solidFill>
                  <a:srgbClr val="1C2829"/>
                </a:solidFill>
                <a:latin typeface="Noto Sans"/>
              </a:rPr>
              <a:t>Smartphone</a:t>
            </a:r>
            <a:r>
              <a:rPr sz="688" b="0" i="0">
                <a:solidFill>
                  <a:srgbClr val="1C2829"/>
                </a:solidFill>
                <a:latin typeface="Noto Sans"/>
              </a:rPr>
              <a:t>), Internet, </a:t>
            </a:r>
          </a:p>
        </p:txBody>
      </p:sp>
      <p:sp>
        <p:nvSpPr>
          <p:cNvPr id="244" name="ANUARIO_REFERENCIA_2024_P8_L023"/>
          <p:cNvSpPr txBox="1"/>
          <p:nvPr/>
        </p:nvSpPr>
        <p:spPr>
          <a:xfrm>
            <a:off x="2562864" y="1459157"/>
            <a:ext cx="616497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computadora y sobre el uso de redes sociales, el total de personas empleadas en los sectores de telecomunicaciones y radiodifusión; información </a:t>
            </a:r>
          </a:p>
        </p:txBody>
      </p:sp>
      <p:sp>
        <p:nvSpPr>
          <p:cNvPr id="245" name="ANUARIO_REFERENCIA_2024_P8_L024"/>
          <p:cNvSpPr txBox="1"/>
          <p:nvPr/>
        </p:nvSpPr>
        <p:spPr>
          <a:xfrm>
            <a:off x="2562864" y="1561709"/>
            <a:ext cx="616523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sobre el ciberacoso, usuarios con mayor riesgo de ser víctimas de violencia digital a través de Internet, teléfono móvil, de manera general, con </a:t>
            </a:r>
          </a:p>
        </p:txBody>
      </p:sp>
      <p:sp>
        <p:nvSpPr>
          <p:cNvPr id="246" name="ANUARIO_REFERENCIA_2024_P8_L025"/>
          <p:cNvSpPr txBox="1"/>
          <p:nvPr/>
        </p:nvSpPr>
        <p:spPr>
          <a:xfrm>
            <a:off x="2562864" y="1664260"/>
            <a:ext cx="6164437"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desagregación por sexo, las medias de protección que toman las personas usuarias ante la violencia digital, acciones realizadas por los usuarios para </a:t>
            </a:r>
          </a:p>
        </p:txBody>
      </p:sp>
      <p:sp>
        <p:nvSpPr>
          <p:cNvPr id="247" name="ANUARIO_REFERENCIA_2024_P8_L026"/>
          <p:cNvSpPr txBox="1"/>
          <p:nvPr/>
        </p:nvSpPr>
        <p:spPr>
          <a:xfrm>
            <a:off x="2562864" y="1766812"/>
            <a:ext cx="256579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protegerse o prevenir la violencia digital a través de Internet.</a:t>
            </a:r>
          </a:p>
        </p:txBody>
      </p:sp>
      <p:sp>
        <p:nvSpPr>
          <p:cNvPr id="248" name="ANUARIO_REFERENCIA_2024_P8_L027"/>
          <p:cNvSpPr txBox="1"/>
          <p:nvPr/>
        </p:nvSpPr>
        <p:spPr>
          <a:xfrm>
            <a:off x="2562864" y="2104412"/>
            <a:ext cx="3909716"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Expone información relativa a las concesiones otorgadas de radiodifusión para AM, FM y TDT.</a:t>
            </a:r>
          </a:p>
        </p:txBody>
      </p:sp>
      <p:sp>
        <p:nvSpPr>
          <p:cNvPr id="249" name="ANUARIO_REFERENCIA_2024_P8_L028"/>
          <p:cNvSpPr txBox="1"/>
          <p:nvPr/>
        </p:nvSpPr>
        <p:spPr>
          <a:xfrm>
            <a:off x="2562864" y="2624308"/>
            <a:ext cx="589175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Comprende información sobre el nivel de exposición a la televisión y radio de la población, con desagregación por sexo y ciudad seleccionada.</a:t>
            </a:r>
          </a:p>
        </p:txBody>
      </p:sp>
      <p:sp>
        <p:nvSpPr>
          <p:cNvPr id="250"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a:t>
            </a:r>
          </a:p>
        </p:txBody>
      </p:sp>
      <p:sp>
        <p:nvSpPr>
          <p:cNvPr id="227" name="ANUARIO_REFERENCIA_2024_P9_L001"/>
          <p:cNvSpPr txBox="1"/>
          <p:nvPr/>
        </p:nvSpPr>
        <p:spPr>
          <a:xfrm>
            <a:off x="414572" y="880944"/>
            <a:ext cx="1699589"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ECONÓMICOS</a:t>
            </a:r>
          </a:p>
        </p:txBody>
      </p:sp>
      <p:sp>
        <p:nvSpPr>
          <p:cNvPr id="228" name="ANUARIO_REFERENCIA_2024_P9_L002"/>
          <p:cNvSpPr txBox="1"/>
          <p:nvPr/>
        </p:nvSpPr>
        <p:spPr>
          <a:xfrm>
            <a:off x="414572" y="2734668"/>
            <a:ext cx="167941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ESPECTRO RADIOELÉCTRICO</a:t>
            </a:r>
          </a:p>
        </p:txBody>
      </p:sp>
      <p:sp>
        <p:nvSpPr>
          <p:cNvPr id="229" name="ANUARIO_REFERENCIA_2024_P9_L003"/>
          <p:cNvSpPr txBox="1"/>
          <p:nvPr/>
        </p:nvSpPr>
        <p:spPr>
          <a:xfrm>
            <a:off x="4608465" y="615362"/>
            <a:ext cx="273724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MÓVILES DE TELECOMUNICACIONES</a:t>
            </a:r>
          </a:p>
        </p:txBody>
      </p:sp>
      <p:sp>
        <p:nvSpPr>
          <p:cNvPr id="230" name="ANUARIO_REFERENCIA_2024_P9_L004"/>
          <p:cNvSpPr txBox="1"/>
          <p:nvPr/>
        </p:nvSpPr>
        <p:spPr>
          <a:xfrm>
            <a:off x="414572" y="3698229"/>
            <a:ext cx="11767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diciembre de 2023.</a:t>
            </a:r>
          </a:p>
        </p:txBody>
      </p:sp>
      <p:sp>
        <p:nvSpPr>
          <p:cNvPr id="231" name="ANUARIO_REFERENCIA_2024_P9_L005"/>
          <p:cNvSpPr txBox="1"/>
          <p:nvPr/>
        </p:nvSpPr>
        <p:spPr>
          <a:xfrm>
            <a:off x="432631" y="3884559"/>
            <a:ext cx="2042043"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CONSUMO DE RADIO Y TELEVISIÓN</a:t>
            </a:r>
          </a:p>
        </p:txBody>
      </p:sp>
      <p:sp>
        <p:nvSpPr>
          <p:cNvPr id="232" name="ANUARIO_REFERENCIA_2024_P9_L006"/>
          <p:cNvSpPr txBox="1"/>
          <p:nvPr/>
        </p:nvSpPr>
        <p:spPr>
          <a:xfrm>
            <a:off x="433022" y="4277571"/>
            <a:ext cx="263522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proporción de personas que escucharon la radio alcanzó su máximo </a:t>
            </a:r>
          </a:p>
        </p:txBody>
      </p:sp>
      <p:sp>
        <p:nvSpPr>
          <p:cNvPr id="233" name="ANUARIO_REFERENCIA_2024_P9_L007"/>
          <p:cNvSpPr txBox="1"/>
          <p:nvPr/>
        </p:nvSpPr>
        <p:spPr>
          <a:xfrm>
            <a:off x="433022" y="4359284"/>
            <a:ext cx="124827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entre las </a:t>
            </a:r>
            <a:r>
              <a:rPr sz="688" b="1" i="0">
                <a:solidFill>
                  <a:srgbClr val="1C2829"/>
                </a:solidFill>
                <a:latin typeface="Noto Sans"/>
              </a:rPr>
              <a:t>9 y 10 de la mañana</a:t>
            </a:r>
            <a:r>
              <a:rPr sz="602" b="0" i="0">
                <a:solidFill>
                  <a:srgbClr val="1C2829"/>
                </a:solidFill>
                <a:latin typeface="Noto Sans"/>
              </a:rPr>
              <a:t>.</a:t>
            </a:r>
          </a:p>
        </p:txBody>
      </p:sp>
      <p:sp>
        <p:nvSpPr>
          <p:cNvPr id="234" name="ANUARIO_REFERENCIA_2024_P9_L008"/>
          <p:cNvSpPr txBox="1"/>
          <p:nvPr/>
        </p:nvSpPr>
        <p:spPr>
          <a:xfrm>
            <a:off x="433022" y="4129602"/>
            <a:ext cx="903825"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Escucharon la radio</a:t>
            </a:r>
          </a:p>
        </p:txBody>
      </p:sp>
      <p:sp>
        <p:nvSpPr>
          <p:cNvPr id="235" name="ANUARIO_REFERENCIA_2024_P9_L009"/>
          <p:cNvSpPr txBox="1"/>
          <p:nvPr/>
        </p:nvSpPr>
        <p:spPr>
          <a:xfrm>
            <a:off x="2840005" y="3042630"/>
            <a:ext cx="1534005"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774" b="1" i="0">
                <a:solidFill>
                  <a:srgbClr val="1C2829"/>
                </a:solidFill>
                <a:latin typeface="Noto Sans"/>
              </a:rPr>
              <a:t>21.7%</a:t>
            </a:r>
            <a:r>
              <a:rPr sz="602" b="0" i="0">
                <a:solidFill>
                  <a:srgbClr val="1C2829"/>
                </a:solidFill>
                <a:latin typeface="Noto Sans"/>
              </a:rPr>
              <a:t> del espectro radioeléctrico es</a:t>
            </a:r>
          </a:p>
        </p:txBody>
      </p:sp>
      <p:sp>
        <p:nvSpPr>
          <p:cNvPr id="236" name="ANUARIO_REFERENCIA_2024_P9_L010"/>
          <p:cNvSpPr txBox="1"/>
          <p:nvPr/>
        </p:nvSpPr>
        <p:spPr>
          <a:xfrm>
            <a:off x="2840007" y="3145182"/>
            <a:ext cx="1465037"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asignado a la banda de </a:t>
            </a:r>
            <a:r>
              <a:rPr sz="774" b="1" i="0">
                <a:solidFill>
                  <a:srgbClr val="1C2829"/>
                </a:solidFill>
                <a:latin typeface="Noto Sans"/>
              </a:rPr>
              <a:t>2,500 MHz</a:t>
            </a:r>
            <a:r>
              <a:rPr sz="602" b="0" i="0">
                <a:solidFill>
                  <a:srgbClr val="1C2829"/>
                </a:solidFill>
                <a:latin typeface="Noto Sans"/>
              </a:rPr>
              <a:t>.</a:t>
            </a:r>
          </a:p>
        </p:txBody>
      </p:sp>
      <p:sp>
        <p:nvSpPr>
          <p:cNvPr id="237" name="ANUARIO_REFERENCIA_2024_P9_L011"/>
          <p:cNvSpPr txBox="1"/>
          <p:nvPr/>
        </p:nvSpPr>
        <p:spPr>
          <a:xfrm>
            <a:off x="4741980" y="4285737"/>
            <a:ext cx="265130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Por su parte, el mayor porcentaje de personas viendo la televisión se </a:t>
            </a:r>
          </a:p>
        </p:txBody>
      </p:sp>
      <p:sp>
        <p:nvSpPr>
          <p:cNvPr id="238" name="ANUARIO_REFERENCIA_2024_P9_L012"/>
          <p:cNvSpPr txBox="1"/>
          <p:nvPr/>
        </p:nvSpPr>
        <p:spPr>
          <a:xfrm>
            <a:off x="4741980" y="4367423"/>
            <a:ext cx="1463850"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alcanzó entre las </a:t>
            </a:r>
            <a:r>
              <a:rPr sz="688" b="1" i="0">
                <a:solidFill>
                  <a:srgbClr val="1C2829"/>
                </a:solidFill>
                <a:latin typeface="Noto Sans"/>
              </a:rPr>
              <a:t>9 y 10 de la noche</a:t>
            </a:r>
            <a:r>
              <a:rPr sz="602" b="0" i="0">
                <a:solidFill>
                  <a:srgbClr val="1C2829"/>
                </a:solidFill>
                <a:latin typeface="Noto Sans"/>
              </a:rPr>
              <a:t>.</a:t>
            </a:r>
          </a:p>
        </p:txBody>
      </p:sp>
      <p:sp>
        <p:nvSpPr>
          <p:cNvPr id="239" name="ANUARIO_REFERENCIA_2024_P9_L013"/>
          <p:cNvSpPr txBox="1"/>
          <p:nvPr/>
        </p:nvSpPr>
        <p:spPr>
          <a:xfrm>
            <a:off x="4741963" y="4129602"/>
            <a:ext cx="893387"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Vieron la televisión</a:t>
            </a:r>
          </a:p>
        </p:txBody>
      </p:sp>
      <p:sp>
        <p:nvSpPr>
          <p:cNvPr id="240" name="ANUARIO_REFERENCIA_2024_P9_L014"/>
          <p:cNvSpPr txBox="1"/>
          <p:nvPr/>
        </p:nvSpPr>
        <p:spPr>
          <a:xfrm>
            <a:off x="432631" y="4601059"/>
            <a:ext cx="674581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El consumo de radio se obtuvo de la base de datos de INRA a través de </a:t>
            </a:r>
            <a:r>
              <a:rPr sz="430" b="0" i="1">
                <a:solidFill>
                  <a:srgbClr val="1C2829"/>
                </a:solidFill>
                <a:latin typeface="Noto Sans"/>
              </a:rPr>
              <a:t>software</a:t>
            </a:r>
            <a:r>
              <a:rPr sz="430" b="0" i="0">
                <a:solidFill>
                  <a:srgbClr val="1C2829"/>
                </a:solidFill>
                <a:latin typeface="Noto Sans"/>
              </a:rPr>
              <a:t> INRAM. El consumo de televisión se obtuvo de la base de datos de Audiencias-</a:t>
            </a:r>
            <a:r>
              <a:rPr sz="430" b="0" i="1">
                <a:solidFill>
                  <a:srgbClr val="1C2829"/>
                </a:solidFill>
                <a:latin typeface="Noto Sans"/>
              </a:rPr>
              <a:t>Ratings</a:t>
            </a:r>
            <a:r>
              <a:rPr sz="430" b="0" i="0">
                <a:solidFill>
                  <a:srgbClr val="1C2829"/>
                </a:solidFill>
                <a:latin typeface="Noto Sans"/>
              </a:rPr>
              <a:t> TV de Nielsen IBOPE, </a:t>
            </a:r>
            <a:r>
              <a:rPr sz="430" b="0" i="1">
                <a:solidFill>
                  <a:srgbClr val="1C2829"/>
                </a:solidFill>
                <a:latin typeface="Noto Sans"/>
              </a:rPr>
              <a:t>software</a:t>
            </a:r>
            <a:r>
              <a:rPr sz="430" b="0" i="0">
                <a:solidFill>
                  <a:srgbClr val="1C2829"/>
                </a:solidFill>
                <a:latin typeface="Noto Sans"/>
              </a:rPr>
              <a:t> de explotación MSS TV. Datos de julio 2023 a junio 2024.</a:t>
            </a:r>
          </a:p>
        </p:txBody>
      </p:sp>
      <p:sp>
        <p:nvSpPr>
          <p:cNvPr id="241" name="ANUARIO_REFERENCIA_2024_P9_L015"/>
          <p:cNvSpPr txBox="1"/>
          <p:nvPr/>
        </p:nvSpPr>
        <p:spPr>
          <a:xfrm>
            <a:off x="487823" y="1132333"/>
            <a:ext cx="286529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En 2023, los ingresos de las empresas del sector de telecomunicaciones sumaron </a:t>
            </a:r>
          </a:p>
        </p:txBody>
      </p:sp>
      <p:sp>
        <p:nvSpPr>
          <p:cNvPr id="242" name="ANUARIO_REFERENCIA_2024_P9_L016"/>
          <p:cNvSpPr txBox="1"/>
          <p:nvPr/>
        </p:nvSpPr>
        <p:spPr>
          <a:xfrm>
            <a:off x="420206" y="1204180"/>
            <a:ext cx="2914577" cy="149916"/>
          </a:xfrm>
          <a:prstGeom prst="rect">
            <a:avLst/>
          </a:prstGeom>
          <a:noFill/>
        </p:spPr>
        <p:txBody>
          <a:bodyPr wrap="none" anchor="t" lIns="0" rIns="0" tIns="0" bIns="0">
            <a:noAutofit/>
          </a:bodyPr>
          <a:lstStyle/>
          <a:p>
            <a:pPr>
              <a:spcBef>
                <a:spcPts val="0"/>
              </a:spcBef>
              <a:spcAft>
                <a:spcPts val="0"/>
              </a:spcAft>
            </a:pPr>
            <a:r>
              <a:rPr sz="681" b="1" i="0">
                <a:solidFill>
                  <a:srgbClr val="1C2829"/>
                </a:solidFill>
                <a:latin typeface="Noto Sans"/>
              </a:rPr>
              <a:t>$603 mil millones de pesos</a:t>
            </a:r>
            <a:r>
              <a:rPr sz="596" b="0" i="0">
                <a:solidFill>
                  <a:srgbClr val="1C2829"/>
                </a:solidFill>
                <a:latin typeface="Noto Sans"/>
              </a:rPr>
              <a:t>. Lo que representó un crecimiento anual del</a:t>
            </a:r>
            <a:r>
              <a:rPr sz="681" b="1" i="0">
                <a:solidFill>
                  <a:srgbClr val="1C2829"/>
                </a:solidFill>
                <a:latin typeface="Noto Sans"/>
              </a:rPr>
              <a:t>6.8%</a:t>
            </a:r>
            <a:r>
              <a:rPr sz="596" b="0" i="0">
                <a:solidFill>
                  <a:srgbClr val="1C2829"/>
                </a:solidFill>
                <a:latin typeface="Noto Sans"/>
              </a:rPr>
              <a:t>.</a:t>
            </a:r>
          </a:p>
        </p:txBody>
      </p:sp>
      <p:sp>
        <p:nvSpPr>
          <p:cNvPr id="243" name="ANUARIO_REFERENCIA_2024_P9_L017"/>
          <p:cNvSpPr txBox="1"/>
          <p:nvPr/>
        </p:nvSpPr>
        <p:spPr>
          <a:xfrm>
            <a:off x="420212" y="1342406"/>
            <a:ext cx="189825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2023.  </a:t>
            </a:r>
          </a:p>
        </p:txBody>
      </p:sp>
      <p:sp>
        <p:nvSpPr>
          <p:cNvPr id="244" name="ANUARIO_REFERENCIA_2024_P9_L018"/>
          <p:cNvSpPr txBox="1"/>
          <p:nvPr/>
        </p:nvSpPr>
        <p:spPr>
          <a:xfrm>
            <a:off x="488588" y="1523751"/>
            <a:ext cx="2866764" cy="137322"/>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En junio de 2024, el PIB de telecomunicaciones y radiodifusión (TyR) fue de </a:t>
            </a:r>
            <a:r>
              <a:rPr sz="681" b="1" i="0">
                <a:solidFill>
                  <a:srgbClr val="1C2829"/>
                </a:solidFill>
                <a:latin typeface="Noto Sans"/>
              </a:rPr>
              <a:t>$404 </a:t>
            </a:r>
          </a:p>
        </p:txBody>
      </p:sp>
      <p:sp>
        <p:nvSpPr>
          <p:cNvPr id="245" name="ANUARIO_REFERENCIA_2024_P9_L019"/>
          <p:cNvSpPr txBox="1"/>
          <p:nvPr/>
        </p:nvSpPr>
        <p:spPr>
          <a:xfrm>
            <a:off x="420972" y="1616048"/>
            <a:ext cx="2796888"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mil millones de pesos</a:t>
            </a:r>
            <a:r>
              <a:rPr sz="602" b="0" i="0">
                <a:solidFill>
                  <a:srgbClr val="1C2829"/>
                </a:solidFill>
                <a:latin typeface="Noto Sans"/>
              </a:rPr>
              <a:t>, lo que representó un crecimiento anual de </a:t>
            </a:r>
            <a:r>
              <a:rPr sz="688" b="1" i="0">
                <a:solidFill>
                  <a:srgbClr val="1C2829"/>
                </a:solidFill>
                <a:latin typeface="Noto Sans"/>
              </a:rPr>
              <a:t>0.4%</a:t>
            </a:r>
            <a:r>
              <a:rPr sz="602" b="0" i="0">
                <a:solidFill>
                  <a:srgbClr val="1C2829"/>
                </a:solidFill>
                <a:latin typeface="Noto Sans"/>
              </a:rPr>
              <a:t>.</a:t>
            </a:r>
          </a:p>
        </p:txBody>
      </p:sp>
      <p:sp>
        <p:nvSpPr>
          <p:cNvPr id="246" name="ANUARIO_REFERENCIA_2024_P9_L020"/>
          <p:cNvSpPr txBox="1"/>
          <p:nvPr/>
        </p:nvSpPr>
        <p:spPr>
          <a:xfrm>
            <a:off x="420212" y="1742127"/>
            <a:ext cx="136014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junio de 2024, del INEGI.  </a:t>
            </a:r>
          </a:p>
        </p:txBody>
      </p:sp>
      <p:sp>
        <p:nvSpPr>
          <p:cNvPr id="247" name="ANUARIO_REFERENCIA_2024_P9_L021"/>
          <p:cNvSpPr txBox="1"/>
          <p:nvPr/>
        </p:nvSpPr>
        <p:spPr>
          <a:xfrm>
            <a:off x="1188917" y="1923470"/>
            <a:ext cx="3212746"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junio de 2024, el </a:t>
            </a:r>
            <a:r>
              <a:rPr sz="688" b="1" i="0">
                <a:solidFill>
                  <a:srgbClr val="1C2829"/>
                </a:solidFill>
                <a:latin typeface="Noto Sans"/>
              </a:rPr>
              <a:t>82%</a:t>
            </a:r>
            <a:r>
              <a:rPr sz="602" b="0" i="0">
                <a:solidFill>
                  <a:srgbClr val="1C2829"/>
                </a:solidFill>
                <a:latin typeface="Noto Sans"/>
              </a:rPr>
              <a:t> de los empleos pertenecieron al sector de telecomunicaciones </a:t>
            </a:r>
          </a:p>
        </p:txBody>
      </p:sp>
      <p:sp>
        <p:nvSpPr>
          <p:cNvPr id="248" name="ANUARIO_REFERENCIA_2024_P9_L022"/>
          <p:cNvSpPr txBox="1"/>
          <p:nvPr/>
        </p:nvSpPr>
        <p:spPr>
          <a:xfrm>
            <a:off x="1121308" y="2015767"/>
            <a:ext cx="110398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y el </a:t>
            </a:r>
            <a:r>
              <a:rPr sz="688" b="1" i="0">
                <a:solidFill>
                  <a:srgbClr val="1C2829"/>
                </a:solidFill>
                <a:latin typeface="Noto Sans"/>
              </a:rPr>
              <a:t>18%</a:t>
            </a:r>
            <a:r>
              <a:rPr sz="602" b="0" i="0">
                <a:solidFill>
                  <a:srgbClr val="1C2829"/>
                </a:solidFill>
                <a:latin typeface="Noto Sans"/>
              </a:rPr>
              <a:t> al de radiodifusión.</a:t>
            </a:r>
          </a:p>
        </p:txBody>
      </p:sp>
      <p:sp>
        <p:nvSpPr>
          <p:cNvPr id="249" name="ANUARIO_REFERENCIA_2024_P9_L023"/>
          <p:cNvSpPr txBox="1"/>
          <p:nvPr/>
        </p:nvSpPr>
        <p:spPr>
          <a:xfrm>
            <a:off x="1122022" y="2136365"/>
            <a:ext cx="156817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junio de 2024 de la ENOE- INEGI.  </a:t>
            </a:r>
          </a:p>
        </p:txBody>
      </p:sp>
      <p:sp>
        <p:nvSpPr>
          <p:cNvPr id="250" name="ANUARIO_REFERENCIA_2024_P9_L024"/>
          <p:cNvSpPr txBox="1"/>
          <p:nvPr/>
        </p:nvSpPr>
        <p:spPr>
          <a:xfrm>
            <a:off x="1188917" y="2319529"/>
            <a:ext cx="321324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De junio de 2013 a julio de 2024, los precios de comunicaciones en su conjunto </a:t>
            </a:r>
          </a:p>
        </p:txBody>
      </p:sp>
      <p:sp>
        <p:nvSpPr>
          <p:cNvPr id="251" name="ANUARIO_REFERENCIA_2024_P9_L025"/>
          <p:cNvSpPr txBox="1"/>
          <p:nvPr/>
        </p:nvSpPr>
        <p:spPr>
          <a:xfrm>
            <a:off x="1121312" y="2401242"/>
            <a:ext cx="2621327"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disminuyeron </a:t>
            </a:r>
            <a:r>
              <a:rPr sz="688" b="1" i="0">
                <a:solidFill>
                  <a:srgbClr val="1C2829"/>
                </a:solidFill>
                <a:latin typeface="Noto Sans"/>
              </a:rPr>
              <a:t>49.3%</a:t>
            </a:r>
            <a:r>
              <a:rPr sz="602" b="0" i="0">
                <a:solidFill>
                  <a:srgbClr val="1C2829"/>
                </a:solidFill>
                <a:latin typeface="Noto Sans"/>
              </a:rPr>
              <a:t>, mientras que la inflación general fue de </a:t>
            </a:r>
            <a:r>
              <a:rPr sz="688" b="1" i="0">
                <a:solidFill>
                  <a:srgbClr val="1C2829"/>
                </a:solidFill>
                <a:latin typeface="Noto Sans"/>
              </a:rPr>
              <a:t>66.6%</a:t>
            </a:r>
            <a:r>
              <a:rPr sz="602" b="0" i="0">
                <a:solidFill>
                  <a:srgbClr val="1C2829"/>
                </a:solidFill>
                <a:latin typeface="Noto Sans"/>
              </a:rPr>
              <a:t>.</a:t>
            </a:r>
          </a:p>
        </p:txBody>
      </p:sp>
      <p:sp>
        <p:nvSpPr>
          <p:cNvPr id="252" name="ANUARIO_REFERENCIA_2024_P9_L026"/>
          <p:cNvSpPr txBox="1"/>
          <p:nvPr/>
        </p:nvSpPr>
        <p:spPr>
          <a:xfrm>
            <a:off x="1121300" y="2523768"/>
            <a:ext cx="13021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julio de 2024, del INEGI.</a:t>
            </a:r>
          </a:p>
        </p:txBody>
      </p:sp>
      <p:sp>
        <p:nvSpPr>
          <p:cNvPr id="253" name="ANUARIO_REFERENCIA_2024_P9_L027"/>
          <p:cNvSpPr txBox="1"/>
          <p:nvPr/>
        </p:nvSpPr>
        <p:spPr>
          <a:xfrm>
            <a:off x="456304" y="3022002"/>
            <a:ext cx="152899"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0Hz</a:t>
            </a:r>
          </a:p>
        </p:txBody>
      </p:sp>
      <p:sp>
        <p:nvSpPr>
          <p:cNvPr id="254" name="ANUARIO_REFERENCIA_2024_P9_L028"/>
          <p:cNvSpPr txBox="1"/>
          <p:nvPr/>
        </p:nvSpPr>
        <p:spPr>
          <a:xfrm>
            <a:off x="717483" y="3022002"/>
            <a:ext cx="170956"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50Hz</a:t>
            </a:r>
          </a:p>
        </p:txBody>
      </p:sp>
      <p:sp>
        <p:nvSpPr>
          <p:cNvPr id="255" name="ANUARIO_REFERENCIA_2024_P9_L029"/>
          <p:cNvSpPr txBox="1"/>
          <p:nvPr/>
        </p:nvSpPr>
        <p:spPr>
          <a:xfrm>
            <a:off x="960804" y="3022002"/>
            <a:ext cx="169797"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3KHz</a:t>
            </a:r>
          </a:p>
        </p:txBody>
      </p:sp>
      <p:sp>
        <p:nvSpPr>
          <p:cNvPr id="256" name="ANUARIO_REFERENCIA_2024_P9_L030"/>
          <p:cNvSpPr txBox="1"/>
          <p:nvPr/>
        </p:nvSpPr>
        <p:spPr>
          <a:xfrm>
            <a:off x="1605286" y="3022002"/>
            <a:ext cx="216778"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300GHz</a:t>
            </a:r>
          </a:p>
        </p:txBody>
      </p:sp>
      <p:sp>
        <p:nvSpPr>
          <p:cNvPr id="257" name="ANUARIO_REFERENCIA_2024_P9_L031"/>
          <p:cNvSpPr txBox="1"/>
          <p:nvPr/>
        </p:nvSpPr>
        <p:spPr>
          <a:xfrm>
            <a:off x="1225925" y="3022002"/>
            <a:ext cx="330990"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Radiofrecuencia</a:t>
            </a:r>
          </a:p>
        </p:txBody>
      </p:sp>
      <p:sp>
        <p:nvSpPr>
          <p:cNvPr id="258" name="ANUARIO_REFERENCIA_2024_P9_L032"/>
          <p:cNvSpPr txBox="1"/>
          <p:nvPr/>
        </p:nvSpPr>
        <p:spPr>
          <a:xfrm>
            <a:off x="1984382" y="3022002"/>
            <a:ext cx="238380"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3,000THz</a:t>
            </a:r>
          </a:p>
        </p:txBody>
      </p:sp>
      <p:sp>
        <p:nvSpPr>
          <p:cNvPr id="259" name="ANUARIO_REFERENCIA_2024_P9_L033"/>
          <p:cNvSpPr txBox="1"/>
          <p:nvPr/>
        </p:nvSpPr>
        <p:spPr>
          <a:xfrm>
            <a:off x="2509920" y="3022002"/>
            <a:ext cx="188715"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30EHz</a:t>
            </a:r>
          </a:p>
        </p:txBody>
      </p:sp>
      <p:sp>
        <p:nvSpPr>
          <p:cNvPr id="260" name="ANUARIO_REFERENCIA_2024_P9_L034"/>
          <p:cNvSpPr txBox="1"/>
          <p:nvPr/>
        </p:nvSpPr>
        <p:spPr>
          <a:xfrm>
            <a:off x="5334798" y="815147"/>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diciembre de 2023, se tuvieron </a:t>
            </a:r>
            <a:r>
              <a:rPr sz="688" b="1" i="0">
                <a:solidFill>
                  <a:srgbClr val="1C2829"/>
                </a:solidFill>
                <a:latin typeface="Noto Sans"/>
              </a:rPr>
              <a:t>110 líneas</a:t>
            </a:r>
            <a:r>
              <a:rPr sz="602" b="0" i="0">
                <a:solidFill>
                  <a:srgbClr val="1C2829"/>
                </a:solidFill>
                <a:latin typeface="Noto Sans"/>
              </a:rPr>
              <a:t> del servicio móvil de telefonía por cada 100 </a:t>
            </a:r>
          </a:p>
        </p:txBody>
      </p:sp>
      <p:sp>
        <p:nvSpPr>
          <p:cNvPr id="261" name="ANUARIO_REFERENCIA_2024_P9_L035"/>
          <p:cNvSpPr txBox="1"/>
          <p:nvPr/>
        </p:nvSpPr>
        <p:spPr>
          <a:xfrm>
            <a:off x="5334815" y="918047"/>
            <a:ext cx="48831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habitantes.</a:t>
            </a:r>
          </a:p>
        </p:txBody>
      </p:sp>
      <p:sp>
        <p:nvSpPr>
          <p:cNvPr id="262" name="ANUARIO_REFERENCIA_2024_P9_L036"/>
          <p:cNvSpPr txBox="1"/>
          <p:nvPr/>
        </p:nvSpPr>
        <p:spPr>
          <a:xfrm>
            <a:off x="5334798" y="1034829"/>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proyecciones de población del CONAPO y del </a:t>
            </a:r>
          </a:p>
        </p:txBody>
      </p:sp>
      <p:sp>
        <p:nvSpPr>
          <p:cNvPr id="263" name="ANUARIO_REFERENCIA_2024_P9_L037"/>
          <p:cNvSpPr txBox="1"/>
          <p:nvPr/>
        </p:nvSpPr>
        <p:spPr>
          <a:xfrm>
            <a:off x="5334798" y="1096360"/>
            <a:ext cx="39441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INEGI 2023.</a:t>
            </a:r>
          </a:p>
        </p:txBody>
      </p:sp>
      <p:sp>
        <p:nvSpPr>
          <p:cNvPr id="264" name="ANUARIO_REFERENCIA_2024_P9_L038"/>
          <p:cNvSpPr txBox="1"/>
          <p:nvPr/>
        </p:nvSpPr>
        <p:spPr>
          <a:xfrm>
            <a:off x="5334798" y="1329144"/>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el </a:t>
            </a:r>
            <a:r>
              <a:rPr sz="688" b="1" i="0">
                <a:solidFill>
                  <a:srgbClr val="1C2829"/>
                </a:solidFill>
                <a:latin typeface="Noto Sans"/>
              </a:rPr>
              <a:t>29.6%</a:t>
            </a:r>
            <a:r>
              <a:rPr sz="602" b="0" i="0">
                <a:solidFill>
                  <a:srgbClr val="1C2829"/>
                </a:solidFill>
                <a:latin typeface="Noto Sans"/>
              </a:rPr>
              <a:t> de las MiPymes contrató el servicio de telefonía móvil y el </a:t>
            </a:r>
            <a:r>
              <a:rPr sz="688" b="1" i="0">
                <a:solidFill>
                  <a:srgbClr val="1C2829"/>
                </a:solidFill>
                <a:latin typeface="Noto Sans"/>
              </a:rPr>
              <a:t>19.6%</a:t>
            </a:r>
            <a:r>
              <a:rPr sz="602" b="0" i="0">
                <a:solidFill>
                  <a:srgbClr val="1C2829"/>
                </a:solidFill>
                <a:latin typeface="Noto Sans"/>
              </a:rPr>
              <a:t> contrató </a:t>
            </a:r>
          </a:p>
        </p:txBody>
      </p:sp>
      <p:sp>
        <p:nvSpPr>
          <p:cNvPr id="265" name="ANUARIO_REFERENCIA_2024_P9_L039"/>
          <p:cNvSpPr txBox="1"/>
          <p:nvPr/>
        </p:nvSpPr>
        <p:spPr>
          <a:xfrm>
            <a:off x="5334800" y="1426876"/>
            <a:ext cx="339771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conexión a Internet por datos móviles (telefonía móvil). Ambos servicios les permiten tener </a:t>
            </a:r>
          </a:p>
        </p:txBody>
      </p:sp>
      <p:sp>
        <p:nvSpPr>
          <p:cNvPr id="266" name="ANUARIO_REFERENCIA_2024_P9_L040"/>
          <p:cNvSpPr txBox="1"/>
          <p:nvPr/>
        </p:nvSpPr>
        <p:spPr>
          <a:xfrm>
            <a:off x="5334800" y="1514024"/>
            <a:ext cx="1513407"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diferentes beneficios para sus negocios.</a:t>
            </a:r>
          </a:p>
        </p:txBody>
      </p:sp>
      <p:sp>
        <p:nvSpPr>
          <p:cNvPr id="267" name="ANUARIO_REFERENCIA_2024_P9_L041"/>
          <p:cNvSpPr txBox="1"/>
          <p:nvPr/>
        </p:nvSpPr>
        <p:spPr>
          <a:xfrm>
            <a:off x="5334798" y="1630920"/>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68" name="ANUARIO_REFERENCIA_2024_P9_L042"/>
          <p:cNvSpPr txBox="1"/>
          <p:nvPr/>
        </p:nvSpPr>
        <p:spPr>
          <a:xfrm>
            <a:off x="5334798" y="1692451"/>
            <a:ext cx="303122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a:t>
            </a:r>
            <a:r>
              <a:rPr sz="430" b="0" i="0">
                <a:solidFill>
                  <a:srgbClr val="1C2829"/>
                </a:solidFill>
                <a:latin typeface="Noto Sans"/>
              </a:rPr>
              <a:t>s. </a:t>
            </a:r>
          </a:p>
        </p:txBody>
      </p:sp>
      <p:sp>
        <p:nvSpPr>
          <p:cNvPr id="269" name="ANUARIO_REFERENCIA_2024_P9_L043"/>
          <p:cNvSpPr txBox="1"/>
          <p:nvPr/>
        </p:nvSpPr>
        <p:spPr>
          <a:xfrm>
            <a:off x="3312399" y="4395959"/>
            <a:ext cx="356716"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8.5%</a:t>
            </a:r>
          </a:p>
        </p:txBody>
      </p:sp>
      <p:sp>
        <p:nvSpPr>
          <p:cNvPr id="270" name="ANUARIO_REFERENCIA_2024_P9_L044"/>
          <p:cNvSpPr txBox="1"/>
          <p:nvPr/>
        </p:nvSpPr>
        <p:spPr>
          <a:xfrm>
            <a:off x="3850351" y="4395959"/>
            <a:ext cx="447155"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11.09%</a:t>
            </a:r>
          </a:p>
        </p:txBody>
      </p:sp>
      <p:sp>
        <p:nvSpPr>
          <p:cNvPr id="271" name="ANUARIO_REFERENCIA_2024_P9_L045"/>
          <p:cNvSpPr txBox="1"/>
          <p:nvPr/>
        </p:nvSpPr>
        <p:spPr>
          <a:xfrm>
            <a:off x="5334798" y="1956658"/>
            <a:ext cx="3397721" cy="137322"/>
          </a:xfrm>
          <a:prstGeom prst="rect">
            <a:avLst/>
          </a:prstGeom>
          <a:noFill/>
        </p:spPr>
        <p:txBody>
          <a:bodyPr wrap="none" anchor="t" lIns="0" rIns="0" tIns="0" bIns="0">
            <a:noAutofit/>
          </a:bodyPr>
          <a:lstStyle/>
          <a:p>
            <a:pPr>
              <a:spcBef>
                <a:spcPts val="0"/>
              </a:spcBef>
              <a:spcAft>
                <a:spcPts val="0"/>
              </a:spcAft>
            </a:pPr>
            <a:r>
              <a:rPr sz="587" b="0" i="0">
                <a:solidFill>
                  <a:srgbClr val="1C2829"/>
                </a:solidFill>
                <a:latin typeface="Noto Sans"/>
              </a:rPr>
              <a:t>La Ciudad de México fue la entidad federativa con el </a:t>
            </a:r>
            <a:r>
              <a:rPr sz="688" b="1" i="0">
                <a:solidFill>
                  <a:srgbClr val="1C2829"/>
                </a:solidFill>
                <a:latin typeface="Noto Sans"/>
              </a:rPr>
              <a:t>mayor número de líneas del servicio </a:t>
            </a:r>
          </a:p>
        </p:txBody>
      </p:sp>
      <p:sp>
        <p:nvSpPr>
          <p:cNvPr id="272" name="ANUARIO_REFERENCIA_2024_P9_L046"/>
          <p:cNvSpPr txBox="1"/>
          <p:nvPr/>
        </p:nvSpPr>
        <p:spPr>
          <a:xfrm>
            <a:off x="5334841" y="2048954"/>
            <a:ext cx="156110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móvil </a:t>
            </a:r>
            <a:r>
              <a:rPr sz="587" b="0" i="0">
                <a:solidFill>
                  <a:srgbClr val="1C2829"/>
                </a:solidFill>
                <a:latin typeface="Noto Sans"/>
              </a:rPr>
              <a:t>de telefonía por cada 100 habitantes.</a:t>
            </a:r>
          </a:p>
        </p:txBody>
      </p:sp>
      <p:sp>
        <p:nvSpPr>
          <p:cNvPr id="273" name="ANUARIO_REFERENCIA_2024_P9_L047"/>
          <p:cNvSpPr txBox="1"/>
          <p:nvPr/>
        </p:nvSpPr>
        <p:spPr>
          <a:xfrm>
            <a:off x="5334798" y="2161430"/>
            <a:ext cx="282527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y de la ENDUTIH 2023.</a:t>
            </a:r>
          </a:p>
        </p:txBody>
      </p:sp>
      <p:sp>
        <p:nvSpPr>
          <p:cNvPr id="274" name="ANUARIO_REFERENCIA_2024_P9_L048"/>
          <p:cNvSpPr txBox="1"/>
          <p:nvPr/>
        </p:nvSpPr>
        <p:spPr>
          <a:xfrm>
            <a:off x="5334798" y="2453176"/>
            <a:ext cx="3139033"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servicio móvil de acceso a Internet se tuvieron </a:t>
            </a:r>
            <a:r>
              <a:rPr sz="688" b="1" i="0">
                <a:solidFill>
                  <a:srgbClr val="1C2829"/>
                </a:solidFill>
                <a:latin typeface="Noto Sans"/>
              </a:rPr>
              <a:t>96 líneas</a:t>
            </a:r>
            <a:r>
              <a:rPr sz="602" b="0" i="0">
                <a:solidFill>
                  <a:srgbClr val="1C2829"/>
                </a:solidFill>
                <a:latin typeface="Noto Sans"/>
              </a:rPr>
              <a:t>por cada 100 habitantes.</a:t>
            </a:r>
          </a:p>
        </p:txBody>
      </p:sp>
      <p:sp>
        <p:nvSpPr>
          <p:cNvPr id="275" name="ANUARIO_REFERENCIA_2024_P9_L049"/>
          <p:cNvSpPr txBox="1"/>
          <p:nvPr/>
        </p:nvSpPr>
        <p:spPr>
          <a:xfrm>
            <a:off x="5334798" y="2580415"/>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proyecciones de población del CONAPO y del </a:t>
            </a:r>
          </a:p>
        </p:txBody>
      </p:sp>
      <p:sp>
        <p:nvSpPr>
          <p:cNvPr id="276" name="ANUARIO_REFERENCIA_2024_P9_L050"/>
          <p:cNvSpPr txBox="1"/>
          <p:nvPr/>
        </p:nvSpPr>
        <p:spPr>
          <a:xfrm>
            <a:off x="5334798" y="2641946"/>
            <a:ext cx="38140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INEGI 2023</a:t>
            </a:r>
          </a:p>
        </p:txBody>
      </p:sp>
      <p:sp>
        <p:nvSpPr>
          <p:cNvPr id="277" name="ANUARIO_REFERENCIA_2024_P9_L051"/>
          <p:cNvSpPr txBox="1"/>
          <p:nvPr/>
        </p:nvSpPr>
        <p:spPr>
          <a:xfrm>
            <a:off x="5334798" y="2912554"/>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Chiapas fue la entidad federativa con el </a:t>
            </a:r>
            <a:r>
              <a:rPr sz="688" b="1" i="0">
                <a:solidFill>
                  <a:srgbClr val="1C2829"/>
                </a:solidFill>
                <a:latin typeface="Noto Sans"/>
              </a:rPr>
              <a:t>menor número líneas del servicio móvil</a:t>
            </a:r>
            <a:r>
              <a:rPr sz="602" b="0" i="0">
                <a:solidFill>
                  <a:srgbClr val="1C2829"/>
                </a:solidFill>
                <a:latin typeface="Noto Sans"/>
              </a:rPr>
              <a:t> de acceso </a:t>
            </a:r>
          </a:p>
        </p:txBody>
      </p:sp>
      <p:sp>
        <p:nvSpPr>
          <p:cNvPr id="278" name="ANUARIO_REFERENCIA_2024_P9_L052"/>
          <p:cNvSpPr txBox="1"/>
          <p:nvPr/>
        </p:nvSpPr>
        <p:spPr>
          <a:xfrm>
            <a:off x="5334790" y="3015454"/>
            <a:ext cx="130255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Internet por cada 100 habitantes.</a:t>
            </a:r>
          </a:p>
        </p:txBody>
      </p:sp>
      <p:sp>
        <p:nvSpPr>
          <p:cNvPr id="279" name="ANUARIO_REFERENCIA_2024_P9_L053"/>
          <p:cNvSpPr txBox="1"/>
          <p:nvPr/>
        </p:nvSpPr>
        <p:spPr>
          <a:xfrm>
            <a:off x="5334798" y="3118921"/>
            <a:ext cx="282527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y de la ENDUTIH 2023.</a:t>
            </a:r>
          </a:p>
        </p:txBody>
      </p:sp>
      <p:sp>
        <p:nvSpPr>
          <p:cNvPr id="280" name="ANUARIO_REFERENCIA_2024_P9_L054"/>
          <p:cNvSpPr txBox="1"/>
          <p:nvPr/>
        </p:nvSpPr>
        <p:spPr>
          <a:xfrm>
            <a:off x="5334798" y="3386212"/>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62.7%</a:t>
            </a:r>
            <a:r>
              <a:rPr sz="602" b="0" i="0">
                <a:solidFill>
                  <a:srgbClr val="1C2829"/>
                </a:solidFill>
                <a:latin typeface="Noto Sans"/>
              </a:rPr>
              <a:t> de las MiPymes señaló que contar con una aplicación móvil para su empresa o </a:t>
            </a:r>
          </a:p>
        </p:txBody>
      </p:sp>
      <p:sp>
        <p:nvSpPr>
          <p:cNvPr id="281" name="ANUARIO_REFERENCIA_2024_P9_L055"/>
          <p:cNvSpPr txBox="1"/>
          <p:nvPr/>
        </p:nvSpPr>
        <p:spPr>
          <a:xfrm>
            <a:off x="5334787" y="3483944"/>
            <a:ext cx="28296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negocio tiene como beneficio que el contacto con los clientes es más rápido.</a:t>
            </a:r>
          </a:p>
        </p:txBody>
      </p:sp>
      <p:sp>
        <p:nvSpPr>
          <p:cNvPr id="282" name="ANUARIO_REFERENCIA_2024_P9_L056"/>
          <p:cNvSpPr txBox="1"/>
          <p:nvPr/>
        </p:nvSpPr>
        <p:spPr>
          <a:xfrm>
            <a:off x="5334798" y="3590499"/>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83" name="ANUARIO_REFERENCIA_2024_P9_L057"/>
          <p:cNvSpPr txBox="1"/>
          <p:nvPr/>
        </p:nvSpPr>
        <p:spPr>
          <a:xfrm>
            <a:off x="5334798" y="3652030"/>
            <a:ext cx="303126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84" name="ANUARIO_REFERENCIA_2024_P9_L058"/>
          <p:cNvSpPr txBox="1"/>
          <p:nvPr/>
        </p:nvSpPr>
        <p:spPr>
          <a:xfrm>
            <a:off x="5334798" y="3713561"/>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85" name="ANUARIO_REFERENCIA_2024_P9_L059"/>
          <p:cNvSpPr txBox="1"/>
          <p:nvPr/>
        </p:nvSpPr>
        <p:spPr>
          <a:xfrm>
            <a:off x="7563964" y="4395954"/>
            <a:ext cx="467696"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16.46%</a:t>
            </a:r>
          </a:p>
        </p:txBody>
      </p:sp>
      <p:sp>
        <p:nvSpPr>
          <p:cNvPr id="286" name="ANUARIO_REFERENCIA_2024_P9_L060"/>
          <p:cNvSpPr txBox="1"/>
          <p:nvPr/>
        </p:nvSpPr>
        <p:spPr>
          <a:xfrm>
            <a:off x="8153934" y="4395954"/>
            <a:ext cx="454124"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14.95%</a:t>
            </a:r>
          </a:p>
        </p:txBody>
      </p:sp>
      <p:sp>
        <p:nvSpPr>
          <p:cNvPr id="287" name="ANUARIO_REFERENCIA_2024_P9_L061"/>
          <p:cNvSpPr txBox="1"/>
          <p:nvPr/>
        </p:nvSpPr>
        <p:spPr>
          <a:xfrm>
            <a:off x="3308734" y="3931724"/>
            <a:ext cx="364040"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Mujeres</a:t>
            </a:r>
          </a:p>
        </p:txBody>
      </p:sp>
      <p:sp>
        <p:nvSpPr>
          <p:cNvPr id="288" name="ANUARIO_REFERENCIA_2024_P9_L062"/>
          <p:cNvSpPr txBox="1"/>
          <p:nvPr/>
        </p:nvSpPr>
        <p:spPr>
          <a:xfrm>
            <a:off x="3872759" y="3931724"/>
            <a:ext cx="402389"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Hombres</a:t>
            </a:r>
          </a:p>
        </p:txBody>
      </p:sp>
      <p:sp>
        <p:nvSpPr>
          <p:cNvPr id="289" name="ANUARIO_REFERENCIA_2024_P9_L063"/>
          <p:cNvSpPr txBox="1"/>
          <p:nvPr/>
        </p:nvSpPr>
        <p:spPr>
          <a:xfrm>
            <a:off x="7615785" y="3931724"/>
            <a:ext cx="364042"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Mujeres</a:t>
            </a:r>
          </a:p>
        </p:txBody>
      </p:sp>
      <p:sp>
        <p:nvSpPr>
          <p:cNvPr id="290" name="ANUARIO_REFERENCIA_2024_P9_L064"/>
          <p:cNvSpPr txBox="1"/>
          <p:nvPr/>
        </p:nvSpPr>
        <p:spPr>
          <a:xfrm>
            <a:off x="8179811" y="3931724"/>
            <a:ext cx="402390"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Hombres</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3"/>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F_OVERVIEW"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spTree>
  </p:cSld>
  <p:clrMapOvr>
    <a:masterClrMapping/>
  </p:clrMapOvr>
</p:sld>
</file>

<file path=ppt/slides/slide10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NACIONAL</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2" name="ANUARIO_HISTORICAL_H_11" descr="h_1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2" name="ANUARIO_HISTORICAL_H_12" descr="h_1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2" name="ANUARIO_HISTORICAL_H_13" descr="h_1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pic>
        <p:nvPicPr>
          <p:cNvPr id="222" name="ANUARIO_HISTORICAL_H_14" descr="h_1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HERRAMIENTAS"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HERRAMIENTAS IFT</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120</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121</a:t>
            </a:r>
          </a:p>
        </p:txBody>
      </p:sp>
      <p:sp>
        <p:nvSpPr>
          <p:cNvPr id="225" name="ANUARIO_ANEXO_P121_L001"/>
          <p:cNvSpPr txBox="1"/>
          <p:nvPr/>
        </p:nvSpPr>
        <p:spPr>
          <a:xfrm>
            <a:off x="589682" y="653801"/>
            <a:ext cx="1858873"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 DEFINICIONES</a:t>
            </a:r>
          </a:p>
        </p:txBody>
      </p:sp>
      <p:sp>
        <p:nvSpPr>
          <p:cNvPr id="226" name="ANUARIO_ANEXO_P121_L002"/>
          <p:cNvSpPr txBox="1"/>
          <p:nvPr/>
        </p:nvSpPr>
        <p:spPr>
          <a:xfrm>
            <a:off x="528422" y="1521200"/>
            <a:ext cx="18115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a:t>
            </a:r>
          </a:p>
        </p:txBody>
      </p:sp>
      <p:sp>
        <p:nvSpPr>
          <p:cNvPr id="227" name="ANUARIO_ANEXO_P121_L003"/>
          <p:cNvSpPr txBox="1"/>
          <p:nvPr/>
        </p:nvSpPr>
        <p:spPr>
          <a:xfrm>
            <a:off x="528422" y="1734804"/>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Acceso:</a:t>
            </a:r>
            <a:r>
              <a:rPr sz="640" b="0" i="0">
                <a:solidFill>
                  <a:srgbClr val="1F3031"/>
                </a:solidFill>
                <a:latin typeface="Noto Sans"/>
              </a:rPr>
              <a:t> El conjunto de canales físicos de una Red Pública de Telecomunicaciones, que conecta el </a:t>
            </a:r>
          </a:p>
        </p:txBody>
      </p:sp>
      <p:sp>
        <p:nvSpPr>
          <p:cNvPr id="228" name="ANUARIO_ANEXO_P121_L004"/>
          <p:cNvSpPr txBox="1"/>
          <p:nvPr/>
        </p:nvSpPr>
        <p:spPr>
          <a:xfrm>
            <a:off x="528422" y="184229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Equipo Terminal en la ubicación del usuario con la instalación del Operador desde la cual se presta </a:t>
            </a:r>
          </a:p>
        </p:txBody>
      </p:sp>
      <p:sp>
        <p:nvSpPr>
          <p:cNvPr id="229" name="ANUARIO_ANEXO_P121_L005"/>
          <p:cNvSpPr txBox="1"/>
          <p:nvPr/>
        </p:nvSpPr>
        <p:spPr>
          <a:xfrm>
            <a:off x="528422" y="1949091"/>
            <a:ext cx="41283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servicio al usuario. En el caso de Redes de Acceso Fijo alámbrico se le suele llamar históricamente </a:t>
            </a:r>
          </a:p>
        </p:txBody>
      </p:sp>
      <p:sp>
        <p:nvSpPr>
          <p:cNvPr id="230" name="ANUARIO_ANEXO_P121_L006"/>
          <p:cNvSpPr txBox="1"/>
          <p:nvPr/>
        </p:nvSpPr>
        <p:spPr>
          <a:xfrm>
            <a:off x="528422" y="2055893"/>
            <a:ext cx="30287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bucle local, y en Servicios de Transporte de Voz se le conoce como línea.</a:t>
            </a:r>
          </a:p>
        </p:txBody>
      </p:sp>
      <p:sp>
        <p:nvSpPr>
          <p:cNvPr id="231" name="ANUARIO_ANEXO_P121_L007"/>
          <p:cNvSpPr txBox="1"/>
          <p:nvPr/>
        </p:nvSpPr>
        <p:spPr>
          <a:xfrm>
            <a:off x="528422" y="2268814"/>
            <a:ext cx="1838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t>
            </a:r>
          </a:p>
        </p:txBody>
      </p:sp>
      <p:sp>
        <p:nvSpPr>
          <p:cNvPr id="232" name="ANUARIO_ANEXO_P121_L008"/>
          <p:cNvSpPr txBox="1"/>
          <p:nvPr/>
        </p:nvSpPr>
        <p:spPr>
          <a:xfrm>
            <a:off x="528422" y="2482418"/>
            <a:ext cx="412768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Caricaturas:</a:t>
            </a:r>
            <a:r>
              <a:rPr sz="640" b="0" i="0">
                <a:solidFill>
                  <a:srgbClr val="1F3031"/>
                </a:solidFill>
                <a:latin typeface="Noto Sans"/>
              </a:rPr>
              <a:t> Son todos los programas que están hechos con alguna de las siguientes técnicas: dibujos </a:t>
            </a:r>
          </a:p>
        </p:txBody>
      </p:sp>
      <p:sp>
        <p:nvSpPr>
          <p:cNvPr id="233" name="ANUARIO_ANEXO_P121_L009"/>
          <p:cNvSpPr txBox="1"/>
          <p:nvPr/>
        </p:nvSpPr>
        <p:spPr>
          <a:xfrm>
            <a:off x="528422" y="2589903"/>
            <a:ext cx="41282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animados, plastilina, arcilla (</a:t>
            </a:r>
            <a:r>
              <a:rPr sz="640" b="0" i="1">
                <a:solidFill>
                  <a:srgbClr val="1F3031"/>
                </a:solidFill>
                <a:latin typeface="Noto Sans"/>
              </a:rPr>
              <a:t>stop motion</a:t>
            </a:r>
            <a:r>
              <a:rPr sz="640" b="0" i="0">
                <a:solidFill>
                  <a:srgbClr val="1F3031"/>
                </a:solidFill>
                <a:latin typeface="Noto Sans"/>
              </a:rPr>
              <a:t>), animación vectorial y de tercera dimensión. No deben </a:t>
            </a:r>
          </a:p>
        </p:txBody>
      </p:sp>
      <p:sp>
        <p:nvSpPr>
          <p:cNvPr id="234" name="ANUARIO_ANEXO_P121_L010"/>
          <p:cNvSpPr txBox="1"/>
          <p:nvPr/>
        </p:nvSpPr>
        <p:spPr>
          <a:xfrm>
            <a:off x="528422" y="2696705"/>
            <a:ext cx="272072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considerarse dentro de este género los cortometrajes animados.</a:t>
            </a:r>
          </a:p>
        </p:txBody>
      </p:sp>
      <p:sp>
        <p:nvSpPr>
          <p:cNvPr id="235" name="ANUARIO_ANEXO_P121_L011"/>
          <p:cNvSpPr txBox="1"/>
          <p:nvPr/>
        </p:nvSpPr>
        <p:spPr>
          <a:xfrm>
            <a:off x="528422" y="2909625"/>
            <a:ext cx="412778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Cómico:</a:t>
            </a:r>
            <a:r>
              <a:rPr sz="640" b="0" i="0">
                <a:solidFill>
                  <a:srgbClr val="1F3031"/>
                </a:solidFill>
                <a:latin typeface="Noto Sans"/>
              </a:rPr>
              <a:t> Programa cuyo contenido está enfocado al esparcimiento de la audiencia, al manejar </a:t>
            </a:r>
          </a:p>
        </p:txBody>
      </p:sp>
      <p:sp>
        <p:nvSpPr>
          <p:cNvPr id="236" name="ANUARIO_ANEXO_P121_L012"/>
          <p:cNvSpPr txBox="1"/>
          <p:nvPr/>
        </p:nvSpPr>
        <p:spPr>
          <a:xfrm>
            <a:off x="528422" y="3017111"/>
            <a:ext cx="37222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cuadros cómicos, chistes, cuentos y cualquier otro elemento que intente provocar la risa. </a:t>
            </a:r>
          </a:p>
        </p:txBody>
      </p:sp>
      <p:sp>
        <p:nvSpPr>
          <p:cNvPr id="237" name="ANUARIO_ANEXO_P121_L013"/>
          <p:cNvSpPr txBox="1"/>
          <p:nvPr/>
        </p:nvSpPr>
        <p:spPr>
          <a:xfrm>
            <a:off x="528422" y="3230031"/>
            <a:ext cx="412796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Concurso:</a:t>
            </a:r>
            <a:r>
              <a:rPr sz="640" b="0" i="0">
                <a:solidFill>
                  <a:srgbClr val="1F3031"/>
                </a:solidFill>
                <a:latin typeface="Noto Sans"/>
              </a:rPr>
              <a:t> Formato de programa en el que los participantes realizan una serie de actividades en </a:t>
            </a:r>
          </a:p>
        </p:txBody>
      </p:sp>
      <p:sp>
        <p:nvSpPr>
          <p:cNvPr id="238" name="ANUARIO_ANEXO_P121_L014"/>
          <p:cNvSpPr txBox="1"/>
          <p:nvPr/>
        </p:nvSpPr>
        <p:spPr>
          <a:xfrm>
            <a:off x="528422" y="3337517"/>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busca de superar a sus rivales. Un concurso puede hacer competir tanto a individuos, como a grupos </a:t>
            </a:r>
          </a:p>
        </p:txBody>
      </p:sp>
      <p:sp>
        <p:nvSpPr>
          <p:cNvPr id="239" name="ANUARIO_ANEXO_P121_L015"/>
          <p:cNvSpPr txBox="1"/>
          <p:nvPr/>
        </p:nvSpPr>
        <p:spPr>
          <a:xfrm>
            <a:off x="528422" y="3444318"/>
            <a:ext cx="29960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y/o instituciones privadas o públicas, y pueden o no obtenerse premios.</a:t>
            </a:r>
          </a:p>
        </p:txBody>
      </p:sp>
      <p:sp>
        <p:nvSpPr>
          <p:cNvPr id="240" name="ANUARIO_ANEXO_P121_L016"/>
          <p:cNvSpPr txBox="1"/>
          <p:nvPr/>
        </p:nvSpPr>
        <p:spPr>
          <a:xfrm>
            <a:off x="528422" y="3657239"/>
            <a:ext cx="412823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Cultural:</a:t>
            </a:r>
            <a:r>
              <a:rPr sz="640" b="0" i="0">
                <a:solidFill>
                  <a:srgbClr val="1F3031"/>
                </a:solidFill>
                <a:latin typeface="Noto Sans"/>
              </a:rPr>
              <a:t> Programación que presenta las formas y expresiones de una sociedad. Su contenido </a:t>
            </a:r>
          </a:p>
        </p:txBody>
      </p:sp>
      <p:sp>
        <p:nvSpPr>
          <p:cNvPr id="241" name="ANUARIO_ANEXO_P121_L017"/>
          <p:cNvSpPr txBox="1"/>
          <p:nvPr/>
        </p:nvSpPr>
        <p:spPr>
          <a:xfrm>
            <a:off x="528422" y="3764724"/>
            <a:ext cx="412803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 referente a los siguientes temas artísticos: arquitectura, danza, escultura, literatura, ópera, </a:t>
            </a:r>
          </a:p>
        </p:txBody>
      </p:sp>
      <p:sp>
        <p:nvSpPr>
          <p:cNvPr id="242" name="ANUARIO_ANEXO_P121_L018"/>
          <p:cNvSpPr txBox="1"/>
          <p:nvPr/>
        </p:nvSpPr>
        <p:spPr>
          <a:xfrm>
            <a:off x="528422" y="3871526"/>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pintura, teatro, museos, exposiciones; sociales: académicos, científicos, históricos, gastronómicos, </a:t>
            </a:r>
          </a:p>
        </p:txBody>
      </p:sp>
      <p:sp>
        <p:nvSpPr>
          <p:cNvPr id="243" name="ANUARIO_ANEXO_P121_L019"/>
          <p:cNvSpPr txBox="1"/>
          <p:nvPr/>
        </p:nvSpPr>
        <p:spPr>
          <a:xfrm>
            <a:off x="528422" y="3978328"/>
            <a:ext cx="41281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etnográficos, ciencias naturales; y simbólicos: biografías, entrevista de semblanza a personajes </a:t>
            </a:r>
          </a:p>
        </p:txBody>
      </p:sp>
      <p:sp>
        <p:nvSpPr>
          <p:cNvPr id="244" name="ANUARIO_ANEXO_P121_L020"/>
          <p:cNvSpPr txBox="1"/>
          <p:nvPr/>
        </p:nvSpPr>
        <p:spPr>
          <a:xfrm>
            <a:off x="528422" y="4085130"/>
            <a:ext cx="169415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involucrados en la cultura, happenings.</a:t>
            </a:r>
          </a:p>
        </p:txBody>
      </p:sp>
      <p:sp>
        <p:nvSpPr>
          <p:cNvPr id="245" name="ANUARIO_ANEXO_P121_L021"/>
          <p:cNvSpPr txBox="1"/>
          <p:nvPr/>
        </p:nvSpPr>
        <p:spPr>
          <a:xfrm>
            <a:off x="4647535" y="1521200"/>
            <a:ext cx="1865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a:t>
            </a:r>
          </a:p>
        </p:txBody>
      </p:sp>
      <p:sp>
        <p:nvSpPr>
          <p:cNvPr id="246" name="ANUARIO_ANEXO_P121_L022"/>
          <p:cNvSpPr txBox="1"/>
          <p:nvPr/>
        </p:nvSpPr>
        <p:spPr>
          <a:xfrm>
            <a:off x="4647535" y="1734804"/>
            <a:ext cx="412788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Debate:</a:t>
            </a:r>
            <a:r>
              <a:rPr sz="640" b="0" i="0">
                <a:solidFill>
                  <a:srgbClr val="1F3031"/>
                </a:solidFill>
                <a:latin typeface="Noto Sans"/>
              </a:rPr>
              <a:t> Espacio argumentativo en el cual se emiten ideas antagónicas sobre un tema o temas </a:t>
            </a:r>
          </a:p>
        </p:txBody>
      </p:sp>
      <p:sp>
        <p:nvSpPr>
          <p:cNvPr id="247" name="ANUARIO_ANEXO_P121_L023"/>
          <p:cNvSpPr txBox="1"/>
          <p:nvPr/>
        </p:nvSpPr>
        <p:spPr>
          <a:xfrm>
            <a:off x="4647535" y="1842290"/>
            <a:ext cx="41277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específicos. Contempla un panel de especialistas y un moderador, quienes aportan puntos de vista </a:t>
            </a:r>
          </a:p>
        </p:txBody>
      </p:sp>
      <p:sp>
        <p:nvSpPr>
          <p:cNvPr id="248" name="ANUARIO_ANEXO_P121_L024"/>
          <p:cNvSpPr txBox="1"/>
          <p:nvPr/>
        </p:nvSpPr>
        <p:spPr>
          <a:xfrm>
            <a:off x="4647535" y="1949091"/>
            <a:ext cx="15008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desde su campo de conocimiento.</a:t>
            </a:r>
          </a:p>
        </p:txBody>
      </p:sp>
      <p:sp>
        <p:nvSpPr>
          <p:cNvPr id="249" name="ANUARIO_ANEXO_P121_L025"/>
          <p:cNvSpPr txBox="1"/>
          <p:nvPr/>
        </p:nvSpPr>
        <p:spPr>
          <a:xfrm>
            <a:off x="4647535" y="216201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Decil de ingreso:</a:t>
            </a:r>
            <a:r>
              <a:rPr sz="640" b="0" i="0">
                <a:solidFill>
                  <a:srgbClr val="1F3031"/>
                </a:solidFill>
                <a:latin typeface="Noto Sans"/>
              </a:rPr>
              <a:t> Los hogares pueden ser agrupados de acuerdo con los ingresos que perciben. </a:t>
            </a:r>
          </a:p>
        </p:txBody>
      </p:sp>
      <p:sp>
        <p:nvSpPr>
          <p:cNvPr id="250" name="ANUARIO_ANEXO_P121_L026"/>
          <p:cNvSpPr txBox="1"/>
          <p:nvPr/>
        </p:nvSpPr>
        <p:spPr>
          <a:xfrm>
            <a:off x="4647535" y="2269497"/>
            <a:ext cx="412853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Cuando se forman diez conjuntos del mismo tamaño, se les conoce como “deciles”, por lo que el </a:t>
            </a:r>
          </a:p>
        </p:txBody>
      </p:sp>
      <p:sp>
        <p:nvSpPr>
          <p:cNvPr id="251" name="ANUARIO_ANEXO_P121_L027"/>
          <p:cNvSpPr txBox="1"/>
          <p:nvPr/>
        </p:nvSpPr>
        <p:spPr>
          <a:xfrm>
            <a:off x="4647535" y="2376299"/>
            <a:ext cx="41279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primer decil está integrado por la décima parte de los hogares que tienen los menores ingresos, y </a:t>
            </a:r>
          </a:p>
        </p:txBody>
      </p:sp>
      <p:sp>
        <p:nvSpPr>
          <p:cNvPr id="252" name="ANUARIO_ANEXO_P121_L028"/>
          <p:cNvSpPr txBox="1"/>
          <p:nvPr/>
        </p:nvSpPr>
        <p:spPr>
          <a:xfrm>
            <a:off x="4647535" y="2483101"/>
            <a:ext cx="41277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de manera sucesiva, hasta llegar al último decil, que está compuesto por la décima parte de los </a:t>
            </a:r>
          </a:p>
        </p:txBody>
      </p:sp>
      <p:sp>
        <p:nvSpPr>
          <p:cNvPr id="253" name="ANUARIO_ANEXO_P121_L029"/>
          <p:cNvSpPr txBox="1"/>
          <p:nvPr/>
        </p:nvSpPr>
        <p:spPr>
          <a:xfrm>
            <a:off x="4647535" y="2589903"/>
            <a:ext cx="157841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hogares con los ingresos más altos</a:t>
            </a:r>
            <a:r>
              <a:rPr sz="373" b="0" i="0">
                <a:solidFill>
                  <a:srgbClr val="1F3031"/>
                </a:solidFill>
                <a:latin typeface="Noto Sans"/>
              </a:rPr>
              <a:t>11</a:t>
            </a:r>
            <a:r>
              <a:rPr sz="640" b="0" i="0">
                <a:solidFill>
                  <a:srgbClr val="1F3031"/>
                </a:solidFill>
                <a:latin typeface="Noto Sans"/>
              </a:rPr>
              <a:t>.</a:t>
            </a:r>
          </a:p>
        </p:txBody>
      </p:sp>
      <p:sp>
        <p:nvSpPr>
          <p:cNvPr id="254" name="ANUARIO_ANEXO_P121_L030"/>
          <p:cNvSpPr txBox="1"/>
          <p:nvPr/>
        </p:nvSpPr>
        <p:spPr>
          <a:xfrm>
            <a:off x="4647535" y="2802823"/>
            <a:ext cx="412815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Deportes:</a:t>
            </a:r>
            <a:r>
              <a:rPr sz="640" b="0" i="0">
                <a:solidFill>
                  <a:srgbClr val="1F3031"/>
                </a:solidFill>
                <a:latin typeface="Noto Sans"/>
              </a:rPr>
              <a:t> Transmisión de eventos deportivos, cultura física o programas de resumen deportivo, </a:t>
            </a:r>
          </a:p>
        </p:txBody>
      </p:sp>
      <p:sp>
        <p:nvSpPr>
          <p:cNvPr id="255" name="ANUARIO_ANEXO_P121_L031"/>
          <p:cNvSpPr txBox="1"/>
          <p:nvPr/>
        </p:nvSpPr>
        <p:spPr>
          <a:xfrm>
            <a:off x="4647535" y="2910309"/>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como resultados y/o comentarios relacionados con el deporte. En este género no se incluyen </a:t>
            </a:r>
          </a:p>
        </p:txBody>
      </p:sp>
      <p:sp>
        <p:nvSpPr>
          <p:cNvPr id="256" name="ANUARIO_ANEXO_P121_L032"/>
          <p:cNvSpPr txBox="1"/>
          <p:nvPr/>
        </p:nvSpPr>
        <p:spPr>
          <a:xfrm>
            <a:off x="4647535" y="3017111"/>
            <a:ext cx="35979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programas de reportaje que, en un capítulo en específico, aborden un tema deportivo.</a:t>
            </a:r>
          </a:p>
        </p:txBody>
      </p:sp>
      <p:sp>
        <p:nvSpPr>
          <p:cNvPr id="257" name="ANUARIO_ANEXO_P121_L033"/>
          <p:cNvSpPr txBox="1"/>
          <p:nvPr/>
        </p:nvSpPr>
        <p:spPr>
          <a:xfrm>
            <a:off x="4647535" y="3230031"/>
            <a:ext cx="412830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Directorio Estadístico Nacional de Unidades Económicas (DENUE):</a:t>
            </a:r>
            <a:r>
              <a:rPr sz="640" b="0" i="0">
                <a:solidFill>
                  <a:srgbClr val="1F3031"/>
                </a:solidFill>
                <a:latin typeface="Noto Sans"/>
              </a:rPr>
              <a:t> Herramienta interactiva del </a:t>
            </a:r>
          </a:p>
        </p:txBody>
      </p:sp>
      <p:sp>
        <p:nvSpPr>
          <p:cNvPr id="258" name="ANUARIO_ANEXO_P121_L034"/>
          <p:cNvSpPr txBox="1"/>
          <p:nvPr/>
        </p:nvSpPr>
        <p:spPr>
          <a:xfrm>
            <a:off x="4647536" y="3337517"/>
            <a:ext cx="41280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INEGI en la que se ofrecen los datos de identificación, ubicación, actividad económica y tamaño </a:t>
            </a:r>
          </a:p>
        </p:txBody>
      </p:sp>
      <p:sp>
        <p:nvSpPr>
          <p:cNvPr id="259" name="ANUARIO_ANEXO_P121_L035"/>
          <p:cNvSpPr txBox="1"/>
          <p:nvPr/>
        </p:nvSpPr>
        <p:spPr>
          <a:xfrm>
            <a:off x="4647536" y="3444318"/>
            <a:ext cx="41283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negocios activos en el territorio nacional, actualizados, fundamentalmente, en el segmento </a:t>
            </a:r>
          </a:p>
        </p:txBody>
      </p:sp>
      <p:sp>
        <p:nvSpPr>
          <p:cNvPr id="260" name="ANUARIO_ANEXO_P121_L036"/>
          <p:cNvSpPr txBox="1"/>
          <p:nvPr/>
        </p:nvSpPr>
        <p:spPr>
          <a:xfrm>
            <a:off x="4647536" y="3551120"/>
            <a:ext cx="410770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establecimientos grandes. Disponible en: </a:t>
            </a:r>
            <a:r>
              <a:rPr sz="640" b="0" i="0">
                <a:solidFill>
                  <a:srgbClr val="0563C1"/>
                </a:solidFill>
                <a:latin typeface="Noto Sans"/>
                <a:hlinkClick r:id="rId2"/>
              </a:rPr>
              <a:t>https://www.inegi.org.mx/app/mapa/denue/default.</a:t>
            </a:r>
          </a:p>
        </p:txBody>
      </p:sp>
      <p:sp>
        <p:nvSpPr>
          <p:cNvPr id="261" name="ANUARIO_ANEXO_P121_L037"/>
          <p:cNvSpPr txBox="1"/>
          <p:nvPr/>
        </p:nvSpPr>
        <p:spPr>
          <a:xfrm>
            <a:off x="4647536" y="3657922"/>
            <a:ext cx="319446"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aspx</a:t>
            </a:r>
            <a:r>
              <a:rPr sz="640" b="0" i="0">
                <a:solidFill>
                  <a:srgbClr val="1F3031"/>
                </a:solidFill>
                <a:latin typeface="Noto Sans"/>
              </a:rPr>
              <a:t>.</a:t>
            </a:r>
          </a:p>
        </p:txBody>
      </p:sp>
      <p:sp>
        <p:nvSpPr>
          <p:cNvPr id="262" name="ANUARIO_ANEXO_P121_L038"/>
          <p:cNvSpPr txBox="1"/>
          <p:nvPr/>
        </p:nvSpPr>
        <p:spPr>
          <a:xfrm>
            <a:off x="4647536" y="3870842"/>
            <a:ext cx="41280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Dramatizado Unitario:</a:t>
            </a:r>
            <a:r>
              <a:rPr sz="640" b="0" i="0">
                <a:solidFill>
                  <a:srgbClr val="1F3031"/>
                </a:solidFill>
                <a:latin typeface="Noto Sans"/>
              </a:rPr>
              <a:t> Programas de ficción en los que cada capítulo constituye una unidad narrativa </a:t>
            </a:r>
          </a:p>
        </p:txBody>
      </p:sp>
      <p:sp>
        <p:nvSpPr>
          <p:cNvPr id="263" name="ANUARIO_ANEXO_P121_L039"/>
          <p:cNvSpPr txBox="1"/>
          <p:nvPr/>
        </p:nvSpPr>
        <p:spPr>
          <a:xfrm>
            <a:off x="4647536" y="3978328"/>
            <a:ext cx="41279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independiente. En su contenido se manifiestan situaciones conflictivas y/o trágicas, y cada episodio </a:t>
            </a:r>
          </a:p>
        </p:txBody>
      </p:sp>
      <p:sp>
        <p:nvSpPr>
          <p:cNvPr id="264" name="ANUARIO_ANEXO_P121_L040"/>
          <p:cNvSpPr txBox="1"/>
          <p:nvPr/>
        </p:nvSpPr>
        <p:spPr>
          <a:xfrm>
            <a:off x="4647536" y="4085130"/>
            <a:ext cx="39672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tiene inicio, desarrollo y final. En muy pocas ocasiones puede extenderse a más de una emisión.</a:t>
            </a:r>
          </a:p>
        </p:txBody>
      </p:sp>
      <p:sp>
        <p:nvSpPr>
          <p:cNvPr id="265" name="ANUARIO_ANEXO_P121_L041"/>
          <p:cNvSpPr txBox="1"/>
          <p:nvPr/>
        </p:nvSpPr>
        <p:spPr>
          <a:xfrm>
            <a:off x="383625" y="4451011"/>
            <a:ext cx="8486054"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11</a:t>
            </a:r>
            <a:r>
              <a:rPr sz="480" b="0" i="0">
                <a:solidFill>
                  <a:srgbClr val="1F3031"/>
                </a:solidFill>
                <a:latin typeface="Noto Sans"/>
              </a:rPr>
              <a:t> Definición publicada el 26 de julio de 2023 por el Instituto Nacional de Estadística y Geografía (INEGI) el 26 de julio de 2023, pág. 11., en el cual se dan a conocer los resultados de la Encuesta Nacional de Ingresos y Gastos de los Hogares (ENIGH) 2020. Disponible en: </a:t>
            </a:r>
            <a:r>
              <a:rPr sz="480" b="0" i="0">
                <a:solidFill>
                  <a:srgbClr val="0563C1"/>
                </a:solidFill>
                <a:latin typeface="Noto Sans"/>
              </a:rPr>
              <a:t>Encuesta </a:t>
            </a:r>
          </a:p>
        </p:txBody>
      </p:sp>
      <p:sp>
        <p:nvSpPr>
          <p:cNvPr id="266" name="ANUARIO_ANEXO_P121_L042"/>
          <p:cNvSpPr txBox="1"/>
          <p:nvPr/>
        </p:nvSpPr>
        <p:spPr>
          <a:xfrm>
            <a:off x="383625" y="4527909"/>
            <a:ext cx="2519533" cy="118622"/>
          </a:xfrm>
          <a:prstGeom prst="rect">
            <a:avLst/>
          </a:prstGeom>
          <a:noFill/>
        </p:spPr>
        <p:txBody>
          <a:bodyPr wrap="none" lIns="0" rIns="0" tIns="0" bIns="0">
            <a:noAutofit/>
          </a:bodyPr>
          <a:lstStyle/>
          <a:p>
            <a:pPr>
              <a:spcBef>
                <a:spcPts val="0"/>
              </a:spcBef>
              <a:spcAft>
                <a:spcPts val="0"/>
              </a:spcAft>
            </a:pPr>
            <a:r>
              <a:rPr sz="480" b="0" i="0">
                <a:solidFill>
                  <a:srgbClr val="0563C1"/>
                </a:solidFill>
                <a:latin typeface="Noto Sans"/>
              </a:rPr>
              <a:t>Nacional de Ingresos y Gastos de los Hogares 2022. Presentación de resultados</a:t>
            </a:r>
            <a:r>
              <a:rPr sz="480" b="0" i="0">
                <a:solidFill>
                  <a:srgbClr val="1F3031"/>
                </a:solidFill>
                <a:latin typeface="Noto Sans"/>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122</a:t>
            </a:r>
          </a:p>
        </p:txBody>
      </p:sp>
      <p:sp>
        <p:nvSpPr>
          <p:cNvPr id="225" name="ANUARIO_ANEXO_P122_L001"/>
          <p:cNvSpPr txBox="1"/>
          <p:nvPr/>
        </p:nvSpPr>
        <p:spPr>
          <a:xfrm>
            <a:off x="528422" y="656471"/>
            <a:ext cx="1709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a:t>
            </a:r>
          </a:p>
        </p:txBody>
      </p:sp>
      <p:sp>
        <p:nvSpPr>
          <p:cNvPr id="226" name="ANUARIO_ANEXO_P122_L002"/>
          <p:cNvSpPr txBox="1"/>
          <p:nvPr/>
        </p:nvSpPr>
        <p:spPr>
          <a:xfrm>
            <a:off x="528422" y="850056"/>
            <a:ext cx="412854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Encendidos (tvr% o TRr%):</a:t>
            </a:r>
            <a:r>
              <a:rPr sz="640" b="0" i="0">
                <a:solidFill>
                  <a:srgbClr val="1F3031"/>
                </a:solidFill>
                <a:latin typeface="Noto Sans"/>
              </a:rPr>
              <a:t> Porcentaje de hogares o personas que tienen encendida la televisión o </a:t>
            </a:r>
          </a:p>
        </p:txBody>
      </p:sp>
      <p:sp>
        <p:nvSpPr>
          <p:cNvPr id="227" name="ANUARIO_ANEXO_P122_L003"/>
          <p:cNvSpPr txBox="1"/>
          <p:nvPr/>
        </p:nvSpPr>
        <p:spPr>
          <a:xfrm>
            <a:off x="528422" y="958882"/>
            <a:ext cx="28445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escucharon la radio en un momento dado sin importar el canal.</a:t>
            </a:r>
          </a:p>
        </p:txBody>
      </p:sp>
      <p:sp>
        <p:nvSpPr>
          <p:cNvPr id="228" name="ANUARIO_ANEXO_P122_L004"/>
          <p:cNvSpPr txBox="1"/>
          <p:nvPr/>
        </p:nvSpPr>
        <p:spPr>
          <a:xfrm>
            <a:off x="528422" y="1151784"/>
            <a:ext cx="41277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Disponibilidad y Uso de las Tecnologías de la Información en los Hogares </a:t>
            </a:r>
          </a:p>
        </p:txBody>
      </p:sp>
      <p:sp>
        <p:nvSpPr>
          <p:cNvPr id="229" name="ANUARIO_ANEXO_P122_L005"/>
          <p:cNvSpPr txBox="1"/>
          <p:nvPr/>
        </p:nvSpPr>
        <p:spPr>
          <a:xfrm>
            <a:off x="528422" y="1259926"/>
            <a:ext cx="41279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(ENDUTIH):</a:t>
            </a:r>
            <a:r>
              <a:rPr sz="640" b="0" i="0">
                <a:solidFill>
                  <a:srgbClr val="1F3031"/>
                </a:solidFill>
                <a:latin typeface="Noto Sans"/>
              </a:rPr>
              <a:t> Encuesta que tiene como objetivo generar información estadística que permita conocer </a:t>
            </a:r>
          </a:p>
        </p:txBody>
      </p:sp>
      <p:sp>
        <p:nvSpPr>
          <p:cNvPr id="230" name="ANUARIO_ANEXO_P122_L006"/>
          <p:cNvSpPr txBox="1"/>
          <p:nvPr/>
        </p:nvSpPr>
        <p:spPr>
          <a:xfrm>
            <a:off x="528422" y="1368753"/>
            <a:ext cx="412826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disponibilidad y el uso de las Tecnologías de la Información y la Comunicación en los hogares y </a:t>
            </a:r>
          </a:p>
        </p:txBody>
      </p:sp>
      <p:sp>
        <p:nvSpPr>
          <p:cNvPr id="231" name="ANUARIO_ANEXO_P122_L007"/>
          <p:cNvSpPr txBox="1"/>
          <p:nvPr/>
        </p:nvSpPr>
        <p:spPr>
          <a:xfrm>
            <a:off x="528422" y="1476895"/>
            <a:ext cx="410770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los individuos de seis años o más en México. Disponible en: </a:t>
            </a:r>
            <a:r>
              <a:rPr sz="640" b="0" i="0">
                <a:solidFill>
                  <a:srgbClr val="0563C1"/>
                </a:solidFill>
                <a:latin typeface="Noto Sans"/>
                <a:hlinkClick r:id="rId2"/>
              </a:rPr>
              <a:t>https://www.inegi.org.mx/programas/</a:t>
            </a:r>
          </a:p>
        </p:txBody>
      </p:sp>
      <p:sp>
        <p:nvSpPr>
          <p:cNvPr id="232" name="ANUARIO_ANEXO_P122_L008"/>
          <p:cNvSpPr txBox="1"/>
          <p:nvPr/>
        </p:nvSpPr>
        <p:spPr>
          <a:xfrm>
            <a:off x="528422" y="1585038"/>
            <a:ext cx="614465"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endutih/2025/</a:t>
            </a:r>
            <a:r>
              <a:rPr sz="640" b="0" i="0">
                <a:solidFill>
                  <a:srgbClr val="1F3031"/>
                </a:solidFill>
                <a:latin typeface="Noto Sans"/>
              </a:rPr>
              <a:t>.</a:t>
            </a:r>
          </a:p>
        </p:txBody>
      </p:sp>
      <p:sp>
        <p:nvSpPr>
          <p:cNvPr id="233" name="ANUARIO_ANEXO_P122_L009"/>
          <p:cNvSpPr txBox="1"/>
          <p:nvPr/>
        </p:nvSpPr>
        <p:spPr>
          <a:xfrm>
            <a:off x="528422" y="1777939"/>
            <a:ext cx="412808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Ingresos y Gastos de los Hogares (ENIGH):</a:t>
            </a:r>
            <a:r>
              <a:rPr sz="640" b="0" i="0">
                <a:solidFill>
                  <a:srgbClr val="1F3031"/>
                </a:solidFill>
                <a:latin typeface="Noto Sans"/>
              </a:rPr>
              <a:t> Encuesta cuyo objetivo es </a:t>
            </a:r>
          </a:p>
        </p:txBody>
      </p:sp>
      <p:sp>
        <p:nvSpPr>
          <p:cNvPr id="234" name="ANUARIO_ANEXO_P122_L010"/>
          <p:cNvSpPr txBox="1"/>
          <p:nvPr/>
        </p:nvSpPr>
        <p:spPr>
          <a:xfrm>
            <a:off x="528422" y="1886765"/>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proporcionar un panorama estadístico del comportamiento de los ingresos y gastos de los hogares </a:t>
            </a:r>
          </a:p>
        </p:txBody>
      </p:sp>
      <p:sp>
        <p:nvSpPr>
          <p:cNvPr id="235" name="ANUARIO_ANEXO_P122_L011"/>
          <p:cNvSpPr txBox="1"/>
          <p:nvPr/>
        </p:nvSpPr>
        <p:spPr>
          <a:xfrm>
            <a:off x="528422" y="1994908"/>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en cuanto a su monto, procedencia y distribución; adicionalmente, ofrece información sobre </a:t>
            </a:r>
          </a:p>
        </p:txBody>
      </p:sp>
      <p:sp>
        <p:nvSpPr>
          <p:cNvPr id="236" name="ANUARIO_ANEXO_P122_L012"/>
          <p:cNvSpPr txBox="1"/>
          <p:nvPr/>
        </p:nvSpPr>
        <p:spPr>
          <a:xfrm>
            <a:off x="528422" y="2103051"/>
            <a:ext cx="41281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características ocupacionales y sociodemográficas de los integrantes del hogar, así como las </a:t>
            </a:r>
          </a:p>
        </p:txBody>
      </p:sp>
      <p:sp>
        <p:nvSpPr>
          <p:cNvPr id="237" name="ANUARIO_ANEXO_P122_L013"/>
          <p:cNvSpPr txBox="1"/>
          <p:nvPr/>
        </p:nvSpPr>
        <p:spPr>
          <a:xfrm>
            <a:off x="528422" y="2211195"/>
            <a:ext cx="41077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características de la infraestructura de la vivienda y el equipamiento del hogar. Disponible en: </a:t>
            </a:r>
            <a:r>
              <a:rPr sz="640" b="0" i="0">
                <a:solidFill>
                  <a:srgbClr val="0563C1"/>
                </a:solidFill>
                <a:latin typeface="Noto Sans"/>
              </a:rPr>
              <a:t>https://</a:t>
            </a:r>
          </a:p>
        </p:txBody>
      </p:sp>
      <p:sp>
        <p:nvSpPr>
          <p:cNvPr id="238" name="ANUARIO_ANEXO_P122_L014"/>
          <p:cNvSpPr txBox="1"/>
          <p:nvPr/>
        </p:nvSpPr>
        <p:spPr>
          <a:xfrm>
            <a:off x="528422" y="2319337"/>
            <a:ext cx="1951037"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www.inegi.org.mx/programas/enigh/nc/2024/</a:t>
            </a:r>
            <a:r>
              <a:rPr sz="640" b="0" i="0">
                <a:solidFill>
                  <a:srgbClr val="1F3031"/>
                </a:solidFill>
                <a:latin typeface="Noto Sans"/>
              </a:rPr>
              <a:t>.</a:t>
            </a:r>
          </a:p>
        </p:txBody>
      </p:sp>
      <p:sp>
        <p:nvSpPr>
          <p:cNvPr id="239" name="ANUARIO_ANEXO_P122_L015"/>
          <p:cNvSpPr txBox="1"/>
          <p:nvPr/>
        </p:nvSpPr>
        <p:spPr>
          <a:xfrm>
            <a:off x="528422" y="2512238"/>
            <a:ext cx="412820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Ocupación y Empleo (ENOE):</a:t>
            </a:r>
            <a:r>
              <a:rPr sz="640" b="0" i="0">
                <a:solidFill>
                  <a:srgbClr val="1F3031"/>
                </a:solidFill>
                <a:latin typeface="Noto Sans"/>
              </a:rPr>
              <a:t> Encuesta con el objetivo de proporcionar </a:t>
            </a:r>
          </a:p>
        </p:txBody>
      </p:sp>
      <p:sp>
        <p:nvSpPr>
          <p:cNvPr id="240" name="ANUARIO_ANEXO_P122_L016"/>
          <p:cNvSpPr txBox="1"/>
          <p:nvPr/>
        </p:nvSpPr>
        <p:spPr>
          <a:xfrm>
            <a:off x="528422" y="2621064"/>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mercado laboral mexicano al ofrecer datos mensuales y trimestrales de la fuerza </a:t>
            </a:r>
          </a:p>
        </p:txBody>
      </p:sp>
      <p:sp>
        <p:nvSpPr>
          <p:cNvPr id="241" name="ANUARIO_ANEXO_P122_L017"/>
          <p:cNvSpPr txBox="1"/>
          <p:nvPr/>
        </p:nvSpPr>
        <p:spPr>
          <a:xfrm>
            <a:off x="528422" y="2729208"/>
            <a:ext cx="41278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trabajo, la ocupación, la informalidad laboral, la subocupación y la desocupación. Disponible en: </a:t>
            </a:r>
          </a:p>
        </p:txBody>
      </p:sp>
      <p:sp>
        <p:nvSpPr>
          <p:cNvPr id="242" name="ANUARIO_ANEXO_P122_L018"/>
          <p:cNvSpPr txBox="1"/>
          <p:nvPr/>
        </p:nvSpPr>
        <p:spPr>
          <a:xfrm>
            <a:off x="528422" y="2837351"/>
            <a:ext cx="2207390"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hlinkClick r:id="rId3"/>
              </a:rPr>
              <a:t>https://www.inegi.org.mx/programas/enoe/15ymas/</a:t>
            </a:r>
            <a:r>
              <a:rPr sz="640" b="0" i="0">
                <a:solidFill>
                  <a:srgbClr val="1F3031"/>
                </a:solidFill>
                <a:latin typeface="Noto Sans"/>
              </a:rPr>
              <a:t>. </a:t>
            </a:r>
          </a:p>
        </p:txBody>
      </p:sp>
      <p:sp>
        <p:nvSpPr>
          <p:cNvPr id="243" name="ANUARIO_ANEXO_P122_L019"/>
          <p:cNvSpPr txBox="1"/>
          <p:nvPr/>
        </p:nvSpPr>
        <p:spPr>
          <a:xfrm>
            <a:off x="528422" y="3030251"/>
            <a:ext cx="41286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Equipo terminal:</a:t>
            </a:r>
            <a:r>
              <a:rPr sz="640" b="0" i="0">
                <a:solidFill>
                  <a:srgbClr val="1F3031"/>
                </a:solidFill>
                <a:latin typeface="Noto Sans"/>
              </a:rPr>
              <a:t> Dispositivo que utiliza el usuario final para conectarse a una Red Pública de </a:t>
            </a:r>
          </a:p>
        </p:txBody>
      </p:sp>
      <p:sp>
        <p:nvSpPr>
          <p:cNvPr id="244" name="ANUARIO_ANEXO_P122_L020"/>
          <p:cNvSpPr txBox="1"/>
          <p:nvPr/>
        </p:nvSpPr>
        <p:spPr>
          <a:xfrm>
            <a:off x="528422" y="3139078"/>
            <a:ext cx="41281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con el propósito de obtener un Acceso y/o recibir uno o más servicios de </a:t>
            </a:r>
          </a:p>
        </p:txBody>
      </p:sp>
      <p:sp>
        <p:nvSpPr>
          <p:cNvPr id="245" name="ANUARIO_ANEXO_P122_L021"/>
          <p:cNvSpPr txBox="1"/>
          <p:nvPr/>
        </p:nvSpPr>
        <p:spPr>
          <a:xfrm>
            <a:off x="528422" y="3247221"/>
            <a:ext cx="93551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a:t>
            </a:r>
          </a:p>
        </p:txBody>
      </p:sp>
      <p:sp>
        <p:nvSpPr>
          <p:cNvPr id="246" name="ANUARIO_ANEXO_P122_L022"/>
          <p:cNvSpPr txBox="1"/>
          <p:nvPr/>
        </p:nvSpPr>
        <p:spPr>
          <a:xfrm>
            <a:off x="528422" y="3440121"/>
            <a:ext cx="18801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a:t>
            </a:r>
          </a:p>
        </p:txBody>
      </p:sp>
      <p:sp>
        <p:nvSpPr>
          <p:cNvPr id="247" name="ANUARIO_ANEXO_P122_L023"/>
          <p:cNvSpPr txBox="1"/>
          <p:nvPr/>
        </p:nvSpPr>
        <p:spPr>
          <a:xfrm>
            <a:off x="528422" y="3633706"/>
            <a:ext cx="412851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Género:</a:t>
            </a:r>
            <a:r>
              <a:rPr sz="640" b="0" i="0">
                <a:solidFill>
                  <a:srgbClr val="1F3031"/>
                </a:solidFill>
                <a:latin typeface="Noto Sans"/>
              </a:rPr>
              <a:t> El Género de Programa es una etiqueta que incluye como referencia Nielsen IBOPE en sus </a:t>
            </a:r>
          </a:p>
        </p:txBody>
      </p:sp>
      <p:sp>
        <p:nvSpPr>
          <p:cNvPr id="248" name="ANUARIO_ANEXO_P122_L024"/>
          <p:cNvSpPr txBox="1"/>
          <p:nvPr/>
        </p:nvSpPr>
        <p:spPr>
          <a:xfrm>
            <a:off x="528422" y="3742533"/>
            <a:ext cx="252932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bases de datos, con el propósito de clasificar los programas.</a:t>
            </a:r>
          </a:p>
        </p:txBody>
      </p:sp>
      <p:sp>
        <p:nvSpPr>
          <p:cNvPr id="249" name="ANUARIO_ANEXO_P122_L025"/>
          <p:cNvSpPr txBox="1"/>
          <p:nvPr/>
        </p:nvSpPr>
        <p:spPr>
          <a:xfrm>
            <a:off x="528422" y="3935433"/>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Gobierno:</a:t>
            </a:r>
            <a:r>
              <a:rPr sz="640" b="0" i="0">
                <a:solidFill>
                  <a:srgbClr val="1F3031"/>
                </a:solidFill>
                <a:latin typeface="Noto Sans"/>
              </a:rPr>
              <a:t> La LFTR ordena a los medios electrónicos de comunicación la transmisión gratuita diaria </a:t>
            </a:r>
          </a:p>
        </p:txBody>
      </p:sp>
      <p:sp>
        <p:nvSpPr>
          <p:cNvPr id="250" name="ANUARIO_ANEXO_P122_L026"/>
          <p:cNvSpPr txBox="1"/>
          <p:nvPr/>
        </p:nvSpPr>
        <p:spPr>
          <a:xfrm>
            <a:off x="528422" y="4044260"/>
            <a:ext cx="412827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duración de hasta 30 minutos continuos o discontinuos de programas dedicados a difundir </a:t>
            </a:r>
          </a:p>
        </p:txBody>
      </p:sp>
      <p:sp>
        <p:nvSpPr>
          <p:cNvPr id="251" name="ANUARIO_ANEXO_P122_L027"/>
          <p:cNvSpPr txBox="1"/>
          <p:nvPr/>
        </p:nvSpPr>
        <p:spPr>
          <a:xfrm>
            <a:off x="528422" y="4152403"/>
            <a:ext cx="41285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temas educativos, culturales y de orientación social. Todas las estaciones de radio y televisión en el </a:t>
            </a:r>
          </a:p>
        </p:txBody>
      </p:sp>
      <p:sp>
        <p:nvSpPr>
          <p:cNvPr id="252" name="ANUARIO_ANEXO_P122_L028"/>
          <p:cNvSpPr txBox="1"/>
          <p:nvPr/>
        </p:nvSpPr>
        <p:spPr>
          <a:xfrm>
            <a:off x="528422" y="4260546"/>
            <a:ext cx="41280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país estarán obligadas a encadenarse cuando se trate de transmitir informaciones de trascendencia </a:t>
            </a:r>
          </a:p>
        </p:txBody>
      </p:sp>
      <p:sp>
        <p:nvSpPr>
          <p:cNvPr id="253" name="ANUARIO_ANEXO_P122_L029"/>
          <p:cNvSpPr txBox="1"/>
          <p:nvPr/>
        </p:nvSpPr>
        <p:spPr>
          <a:xfrm>
            <a:off x="528422" y="4368689"/>
            <a:ext cx="23733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para la Nación, a juicio de la Secretaría de Gobernación.</a:t>
            </a:r>
          </a:p>
        </p:txBody>
      </p:sp>
      <p:sp>
        <p:nvSpPr>
          <p:cNvPr id="254" name="ANUARIO_ANEXO_P122_L030"/>
          <p:cNvSpPr txBox="1"/>
          <p:nvPr/>
        </p:nvSpPr>
        <p:spPr>
          <a:xfrm>
            <a:off x="4647536" y="656471"/>
            <a:ext cx="14622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a:t>
            </a:r>
          </a:p>
        </p:txBody>
      </p:sp>
      <p:sp>
        <p:nvSpPr>
          <p:cNvPr id="255" name="ANUARIO_ANEXO_P122_L031"/>
          <p:cNvSpPr txBox="1"/>
          <p:nvPr/>
        </p:nvSpPr>
        <p:spPr>
          <a:xfrm>
            <a:off x="4647536" y="873048"/>
            <a:ext cx="412816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Herfindahl- Hirschman (IHH):</a:t>
            </a:r>
            <a:r>
              <a:rPr sz="640" b="0" i="0">
                <a:solidFill>
                  <a:srgbClr val="1F3031"/>
                </a:solidFill>
                <a:latin typeface="Noto Sans"/>
              </a:rPr>
              <a:t> Este índice se calcula a partir de las participaciones de los </a:t>
            </a:r>
          </a:p>
        </p:txBody>
      </p:sp>
      <p:sp>
        <p:nvSpPr>
          <p:cNvPr id="256" name="ANUARIO_ANEXO_P122_L032"/>
          <p:cNvSpPr txBox="1"/>
          <p:nvPr/>
        </p:nvSpPr>
        <p:spPr>
          <a:xfrm>
            <a:off x="4647536" y="983506"/>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agentes económicos en los mercados relevantes y/o relacionados. El IHH aumenta cuando el número </a:t>
            </a:r>
          </a:p>
        </p:txBody>
      </p:sp>
      <p:sp>
        <p:nvSpPr>
          <p:cNvPr id="257" name="ANUARIO_ANEXO_P122_L033"/>
          <p:cNvSpPr txBox="1"/>
          <p:nvPr/>
        </p:nvSpPr>
        <p:spPr>
          <a:xfrm>
            <a:off x="4647536" y="1093282"/>
            <a:ext cx="41279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empresas disminuye. Esta característica implica que cualquier fusión o adquisición completa entre </a:t>
            </a:r>
          </a:p>
        </p:txBody>
      </p:sp>
      <p:sp>
        <p:nvSpPr>
          <p:cNvPr id="258" name="ANUARIO_ANEXO_P122_L034"/>
          <p:cNvSpPr txBox="1"/>
          <p:nvPr/>
        </p:nvSpPr>
        <p:spPr>
          <a:xfrm>
            <a:off x="4647536" y="1203056"/>
            <a:ext cx="41284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dos o más empresas se ve reflejada en un valor más alto del IHH. Entre más pequeño sea el número de </a:t>
            </a:r>
          </a:p>
        </p:txBody>
      </p:sp>
      <p:sp>
        <p:nvSpPr>
          <p:cNvPr id="259" name="ANUARIO_ANEXO_P122_L035"/>
          <p:cNvSpPr txBox="1"/>
          <p:nvPr/>
        </p:nvSpPr>
        <p:spPr>
          <a:xfrm>
            <a:off x="4647536" y="1312831"/>
            <a:ext cx="41263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participantes, es más probable que las variaciones en el número de participantes o de las participaciones, </a:t>
            </a:r>
          </a:p>
        </p:txBody>
      </p:sp>
      <p:sp>
        <p:nvSpPr>
          <p:cNvPr id="260" name="ANUARIO_ANEXO_P122_L036"/>
          <p:cNvSpPr txBox="1"/>
          <p:nvPr/>
        </p:nvSpPr>
        <p:spPr>
          <a:xfrm>
            <a:off x="4647536" y="1422606"/>
            <a:ext cx="41278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modifiquen las condiciones de competencia para el resto de los agentes económicos. Este indicador </a:t>
            </a:r>
          </a:p>
        </p:txBody>
      </p:sp>
      <p:sp>
        <p:nvSpPr>
          <p:cNvPr id="261" name="ANUARIO_ANEXO_P122_L037"/>
          <p:cNvSpPr txBox="1"/>
          <p:nvPr/>
        </p:nvSpPr>
        <p:spPr>
          <a:xfrm>
            <a:off x="4647536" y="1532381"/>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fue calculado conforme a la metodología establecida por el IFT en el ACUERDO MEDIANTE EL </a:t>
            </a:r>
          </a:p>
        </p:txBody>
      </p:sp>
      <p:sp>
        <p:nvSpPr>
          <p:cNvPr id="262" name="ANUARIO_ANEXO_P122_L038"/>
          <p:cNvSpPr txBox="1"/>
          <p:nvPr/>
        </p:nvSpPr>
        <p:spPr>
          <a:xfrm>
            <a:off x="4647536" y="1642156"/>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CUAL EL PLENO DEL INSTITUTO FEDERAL DE TELECOMUNICACIONES MODIFICA EL CRITERIO </a:t>
            </a:r>
          </a:p>
        </p:txBody>
      </p:sp>
      <p:sp>
        <p:nvSpPr>
          <p:cNvPr id="263" name="ANUARIO_ANEXO_P122_L039"/>
          <p:cNvSpPr txBox="1"/>
          <p:nvPr/>
        </p:nvSpPr>
        <p:spPr>
          <a:xfrm>
            <a:off x="4647536" y="1751930"/>
            <a:ext cx="41284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TÉCNICO PARA EL CÁLCULO Y APLICACIÓN DE UN ÍNDICE CUANTITATIVO A FIN DE DETERMINAR </a:t>
            </a:r>
          </a:p>
        </p:txBody>
      </p:sp>
      <p:sp>
        <p:nvSpPr>
          <p:cNvPr id="264" name="ANUARIO_ANEXO_P122_L040"/>
          <p:cNvSpPr txBox="1"/>
          <p:nvPr/>
        </p:nvSpPr>
        <p:spPr>
          <a:xfrm>
            <a:off x="4647536" y="1861705"/>
            <a:ext cx="41284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GRADO DE CONCENTRACIÓN EN LOS MERCADOS Y SERVICIOS CORRESPONDIENTES A LOS </a:t>
            </a:r>
          </a:p>
        </p:txBody>
      </p:sp>
      <p:sp>
        <p:nvSpPr>
          <p:cNvPr id="265" name="ANUARIO_ANEXO_P122_L041"/>
          <p:cNvSpPr txBox="1"/>
          <p:nvPr/>
        </p:nvSpPr>
        <p:spPr>
          <a:xfrm>
            <a:off x="4647536" y="1971480"/>
            <a:ext cx="41077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SECTORES DE TELECOMUNICACIONES Y RADIODIFUSIÓN. Disponible en: </a:t>
            </a:r>
            <a:r>
              <a:rPr sz="640" b="0" i="0">
                <a:solidFill>
                  <a:srgbClr val="0563C1"/>
                </a:solidFill>
                <a:latin typeface="Noto Sans"/>
                <a:hlinkClick r:id="rId4"/>
              </a:rPr>
              <a:t>https://www.dof.gob.</a:t>
            </a:r>
          </a:p>
        </p:txBody>
      </p:sp>
      <p:sp>
        <p:nvSpPr>
          <p:cNvPr id="266" name="ANUARIO_ANEXO_P122_L042"/>
          <p:cNvSpPr txBox="1"/>
          <p:nvPr/>
        </p:nvSpPr>
        <p:spPr>
          <a:xfrm>
            <a:off x="4647537" y="2081255"/>
            <a:ext cx="2992121"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mx/nota_detalle.php?codigo=5645045&amp;fecha=09/03/2022#gsc.tab=0</a:t>
            </a:r>
            <a:r>
              <a:rPr sz="640" b="0" i="0">
                <a:solidFill>
                  <a:srgbClr val="1F3031"/>
                </a:solidFill>
                <a:latin typeface="Noto Sans"/>
              </a:rPr>
              <a:t>.</a:t>
            </a:r>
          </a:p>
        </p:txBody>
      </p:sp>
      <p:sp>
        <p:nvSpPr>
          <p:cNvPr id="267" name="ANUARIO_ANEXO_P122_L043"/>
          <p:cNvSpPr txBox="1"/>
          <p:nvPr/>
        </p:nvSpPr>
        <p:spPr>
          <a:xfrm>
            <a:off x="4647537" y="2297148"/>
            <a:ext cx="41282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Nacional de Precios al Consumidor (INPC):</a:t>
            </a:r>
            <a:r>
              <a:rPr sz="640" b="0" i="0">
                <a:solidFill>
                  <a:srgbClr val="1F3031"/>
                </a:solidFill>
                <a:latin typeface="Noto Sans"/>
              </a:rPr>
              <a:t> Indicador económico cuya finalidad es la de medir </a:t>
            </a:r>
          </a:p>
        </p:txBody>
      </p:sp>
      <p:sp>
        <p:nvSpPr>
          <p:cNvPr id="268" name="ANUARIO_ANEXO_P122_L044"/>
          <p:cNvSpPr txBox="1"/>
          <p:nvPr/>
        </p:nvSpPr>
        <p:spPr>
          <a:xfrm>
            <a:off x="4647537" y="2407606"/>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través del tiempo la variación de los precios de una canasta fija de bienes y servicios representativa </a:t>
            </a:r>
          </a:p>
        </p:txBody>
      </p:sp>
      <p:sp>
        <p:nvSpPr>
          <p:cNvPr id="269" name="ANUARIO_ANEXO_P122_L045"/>
          <p:cNvSpPr txBox="1"/>
          <p:nvPr/>
        </p:nvSpPr>
        <p:spPr>
          <a:xfrm>
            <a:off x="4647537" y="2517381"/>
            <a:ext cx="41285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consumo de los hogares. El INPC se presenta en este estudio con precios en base diciembre de </a:t>
            </a:r>
          </a:p>
        </p:txBody>
      </p:sp>
      <p:sp>
        <p:nvSpPr>
          <p:cNvPr id="270" name="ANUARIO_ANEXO_P122_L046"/>
          <p:cNvSpPr txBox="1"/>
          <p:nvPr/>
        </p:nvSpPr>
        <p:spPr>
          <a:xfrm>
            <a:off x="4647537" y="2627156"/>
            <a:ext cx="41283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2013. Para más información sobre los ponderadores de los servicios de telecomunicaciones dentro </a:t>
            </a:r>
          </a:p>
        </p:txBody>
      </p:sp>
      <p:sp>
        <p:nvSpPr>
          <p:cNvPr id="271" name="ANUARIO_ANEXO_P122_L047"/>
          <p:cNvSpPr txBox="1"/>
          <p:nvPr/>
        </p:nvSpPr>
        <p:spPr>
          <a:xfrm>
            <a:off x="4647537" y="2736931"/>
            <a:ext cx="41282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INPC y los índices de los servicios que integran el Índice de Precios de Comunicaciones, consultar </a:t>
            </a:r>
          </a:p>
        </p:txBody>
      </p:sp>
      <p:sp>
        <p:nvSpPr>
          <p:cNvPr id="272" name="ANUARIO_ANEXO_P122_L048"/>
          <p:cNvSpPr txBox="1"/>
          <p:nvPr/>
        </p:nvSpPr>
        <p:spPr>
          <a:xfrm>
            <a:off x="4647537" y="2846705"/>
            <a:ext cx="10961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Anexo III. Metodologías.</a:t>
            </a:r>
          </a:p>
        </p:txBody>
      </p:sp>
      <p:sp>
        <p:nvSpPr>
          <p:cNvPr id="273" name="ANUARIO_ANEXO_P122_L049"/>
          <p:cNvSpPr txBox="1"/>
          <p:nvPr/>
        </p:nvSpPr>
        <p:spPr>
          <a:xfrm>
            <a:off x="4647537" y="3062598"/>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Infantil:</a:t>
            </a:r>
            <a:r>
              <a:rPr sz="640" b="0" i="0">
                <a:solidFill>
                  <a:srgbClr val="1F3031"/>
                </a:solidFill>
                <a:latin typeface="Noto Sans"/>
              </a:rPr>
              <a:t> Son programas enfocados directamente a los niños, aunque no excluyen a un auditorio </a:t>
            </a:r>
          </a:p>
        </p:txBody>
      </p:sp>
      <p:sp>
        <p:nvSpPr>
          <p:cNvPr id="274" name="ANUARIO_ANEXO_P122_L050"/>
          <p:cNvSpPr txBox="1"/>
          <p:nvPr/>
        </p:nvSpPr>
        <p:spPr>
          <a:xfrm>
            <a:off x="4647537" y="3173057"/>
            <a:ext cx="41284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adulto. Estas producciones generalmente no comprenden caricaturas, ya que su tendencia es </a:t>
            </a:r>
          </a:p>
        </p:txBody>
      </p:sp>
      <p:sp>
        <p:nvSpPr>
          <p:cNvPr id="275" name="ANUARIO_ANEXO_P122_L051"/>
          <p:cNvSpPr txBox="1"/>
          <p:nvPr/>
        </p:nvSpPr>
        <p:spPr>
          <a:xfrm>
            <a:off x="4647537" y="3282832"/>
            <a:ext cx="412859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didáctica y se estructuran a partir del uso de lenguaje sencillo, en función de la edad del auditorio </a:t>
            </a:r>
          </a:p>
        </p:txBody>
      </p:sp>
      <p:sp>
        <p:nvSpPr>
          <p:cNvPr id="276" name="ANUARIO_ANEXO_P122_L052"/>
          <p:cNvSpPr txBox="1"/>
          <p:nvPr/>
        </p:nvSpPr>
        <p:spPr>
          <a:xfrm>
            <a:off x="4647537" y="3392607"/>
            <a:ext cx="37486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objetivo. En ocasiones, la conducción recae en niños para lograr una mayor identificación.</a:t>
            </a:r>
          </a:p>
        </p:txBody>
      </p:sp>
      <p:sp>
        <p:nvSpPr>
          <p:cNvPr id="277" name="ANUARIO_ANEXO_P122_L053"/>
          <p:cNvSpPr txBox="1"/>
          <p:nvPr/>
        </p:nvSpPr>
        <p:spPr>
          <a:xfrm>
            <a:off x="4647537" y="3608500"/>
            <a:ext cx="41287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Ingresos:</a:t>
            </a:r>
            <a:r>
              <a:rPr sz="640" b="0" i="0">
                <a:solidFill>
                  <a:srgbClr val="1F3031"/>
                </a:solidFill>
                <a:latin typeface="Noto Sans"/>
              </a:rPr>
              <a:t> Es la suma de los ingresos en pesos corrientes recibidos por cada operador por la prestación </a:t>
            </a:r>
          </a:p>
        </p:txBody>
      </p:sp>
      <p:sp>
        <p:nvSpPr>
          <p:cNvPr id="278" name="ANUARIO_ANEXO_P122_L054"/>
          <p:cNvSpPr txBox="1"/>
          <p:nvPr/>
        </p:nvSpPr>
        <p:spPr>
          <a:xfrm>
            <a:off x="4647537" y="3718959"/>
            <a:ext cx="21551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servicios de telecomunicaciones. Comprenden:</a:t>
            </a:r>
          </a:p>
        </p:txBody>
      </p:sp>
      <p:sp>
        <p:nvSpPr>
          <p:cNvPr id="279" name="ANUARIO_ANEXO_P122_L055"/>
          <p:cNvSpPr txBox="1"/>
          <p:nvPr/>
        </p:nvSpPr>
        <p:spPr>
          <a:xfrm>
            <a:off x="4814610" y="3934851"/>
            <a:ext cx="275814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1. </a:t>
            </a:r>
            <a:r>
              <a:rPr sz="640" b="0" i="0">
                <a:solidFill>
                  <a:srgbClr val="1F3031"/>
                </a:solidFill>
                <a:latin typeface="Noto Sans"/>
              </a:rPr>
              <a:t>Ingresos por venta o renta de equipos de telecomunicaciones. </a:t>
            </a:r>
          </a:p>
        </p:txBody>
      </p:sp>
      <p:sp>
        <p:nvSpPr>
          <p:cNvPr id="280" name="ANUARIO_ANEXO_P122_L056"/>
          <p:cNvSpPr txBox="1"/>
          <p:nvPr/>
        </p:nvSpPr>
        <p:spPr>
          <a:xfrm>
            <a:off x="4814610" y="4151428"/>
            <a:ext cx="39613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2. </a:t>
            </a:r>
            <a:r>
              <a:rPr sz="640" b="0" i="0">
                <a:solidFill>
                  <a:srgbClr val="1F3031"/>
                </a:solidFill>
                <a:latin typeface="Noto Sans"/>
              </a:rPr>
              <a:t> Ingresos por instalación y mantenimiento para servicios considerados de telecomunicaciones. </a:t>
            </a:r>
          </a:p>
        </p:txBody>
      </p:sp>
      <p:sp>
        <p:nvSpPr>
          <p:cNvPr id="281" name="ANUARIO_ANEXO_P122_L057"/>
          <p:cNvSpPr txBox="1"/>
          <p:nvPr/>
        </p:nvSpPr>
        <p:spPr>
          <a:xfrm>
            <a:off x="4814610" y="4368005"/>
            <a:ext cx="311456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3. </a:t>
            </a:r>
            <a:r>
              <a:rPr sz="640" b="0" i="0">
                <a:solidFill>
                  <a:srgbClr val="1F3031"/>
                </a:solidFill>
                <a:latin typeface="Noto Sans"/>
              </a:rPr>
              <a:t> Ingresos por servicios considerados minoristas de telecomunicaciones.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123</a:t>
            </a:r>
          </a:p>
        </p:txBody>
      </p:sp>
      <p:sp>
        <p:nvSpPr>
          <p:cNvPr id="225" name="ANUARIO_ANEXO_P123_L001"/>
          <p:cNvSpPr txBox="1"/>
          <p:nvPr/>
        </p:nvSpPr>
        <p:spPr>
          <a:xfrm>
            <a:off x="695494" y="656471"/>
            <a:ext cx="312899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Ingresos por servicios considerados mayoristas de telecomunicaciones. </a:t>
            </a:r>
          </a:p>
        </p:txBody>
      </p:sp>
      <p:sp>
        <p:nvSpPr>
          <p:cNvPr id="226" name="ANUARIO_ANEXO_P123_L002"/>
          <p:cNvSpPr txBox="1"/>
          <p:nvPr/>
        </p:nvSpPr>
        <p:spPr>
          <a:xfrm>
            <a:off x="695494" y="874823"/>
            <a:ext cx="237730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 </a:t>
            </a:r>
            <a:r>
              <a:rPr sz="592" b="0" i="0">
                <a:solidFill>
                  <a:srgbClr val="1F3031"/>
                </a:solidFill>
                <a:latin typeface="Noto Sans"/>
              </a:rPr>
              <a:t> Ingresos minoristas por servicio </a:t>
            </a:r>
            <a:r>
              <a:rPr sz="592" b="0" i="1">
                <a:solidFill>
                  <a:srgbClr val="1F3031"/>
                </a:solidFill>
                <a:latin typeface="Noto Sans"/>
              </a:rPr>
              <a:t>Over The Top</a:t>
            </a:r>
            <a:r>
              <a:rPr sz="592" b="0" i="0">
                <a:solidFill>
                  <a:srgbClr val="1F3031"/>
                </a:solidFill>
                <a:latin typeface="Noto Sans"/>
              </a:rPr>
              <a:t> (OTT). </a:t>
            </a:r>
          </a:p>
        </p:txBody>
      </p:sp>
      <p:sp>
        <p:nvSpPr>
          <p:cNvPr id="227" name="ANUARIO_ANEXO_P123_L003"/>
          <p:cNvSpPr txBox="1"/>
          <p:nvPr/>
        </p:nvSpPr>
        <p:spPr>
          <a:xfrm>
            <a:off x="695494" y="1093174"/>
            <a:ext cx="241427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6. </a:t>
            </a:r>
            <a:r>
              <a:rPr sz="592" b="0" i="0">
                <a:solidFill>
                  <a:srgbClr val="1F3031"/>
                </a:solidFill>
                <a:latin typeface="Noto Sans"/>
              </a:rPr>
              <a:t> Ingresos mayoristas por servicios Over The Top (OTT).</a:t>
            </a:r>
          </a:p>
        </p:txBody>
      </p:sp>
      <p:sp>
        <p:nvSpPr>
          <p:cNvPr id="228" name="ANUARIO_ANEXO_P123_L004"/>
          <p:cNvSpPr txBox="1"/>
          <p:nvPr/>
        </p:nvSpPr>
        <p:spPr>
          <a:xfrm>
            <a:off x="695494" y="1311525"/>
            <a:ext cx="13606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7. </a:t>
            </a:r>
            <a:r>
              <a:rPr sz="592" b="0" i="0">
                <a:solidFill>
                  <a:srgbClr val="1F3031"/>
                </a:solidFill>
                <a:latin typeface="Noto Sans"/>
              </a:rPr>
              <a:t>Ingresos por otros servicios.</a:t>
            </a:r>
          </a:p>
        </p:txBody>
      </p:sp>
      <p:sp>
        <p:nvSpPr>
          <p:cNvPr id="229" name="ANUARIO_ANEXO_P123_L005"/>
          <p:cNvSpPr txBox="1"/>
          <p:nvPr/>
        </p:nvSpPr>
        <p:spPr>
          <a:xfrm>
            <a:off x="528422" y="1530559"/>
            <a:ext cx="41278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Todos los valores de los ingresos son considerados sin IVA ni ningún otro impuesto aplicable, y con </a:t>
            </a:r>
          </a:p>
        </p:txBody>
      </p:sp>
      <p:sp>
        <p:nvSpPr>
          <p:cNvPr id="230" name="ANUARIO_ANEXO_P123_L006"/>
          <p:cNvSpPr txBox="1"/>
          <p:nvPr/>
        </p:nvSpPr>
        <p:spPr>
          <a:xfrm>
            <a:off x="528422" y="1642109"/>
            <a:ext cx="404141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descuentos y bonificaciones tarifarias que se consideren en sus Planes Tarifarios ya aplicadas. </a:t>
            </a:r>
          </a:p>
        </p:txBody>
      </p:sp>
      <p:sp>
        <p:nvSpPr>
          <p:cNvPr id="231" name="ANUARIO_ANEXO_P123_L007"/>
          <p:cNvSpPr txBox="1"/>
          <p:nvPr/>
        </p:nvSpPr>
        <p:spPr>
          <a:xfrm>
            <a:off x="528422" y="1859776"/>
            <a:ext cx="412765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Ingreso corriente:</a:t>
            </a:r>
            <a:r>
              <a:rPr sz="592" b="0" i="0">
                <a:solidFill>
                  <a:srgbClr val="1F3031"/>
                </a:solidFill>
                <a:latin typeface="Noto Sans"/>
              </a:rPr>
              <a:t> Máximo de recursos al que un hogar puede acceder de manera regular y que </a:t>
            </a:r>
          </a:p>
        </p:txBody>
      </p:sp>
      <p:sp>
        <p:nvSpPr>
          <p:cNvPr id="232" name="ANUARIO_ANEXO_P123_L008"/>
          <p:cNvSpPr txBox="1"/>
          <p:nvPr/>
        </p:nvSpPr>
        <p:spPr>
          <a:xfrm>
            <a:off x="528422" y="1972009"/>
            <a:ext cx="41278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están disponibles para su consumo de bienes y servicios en un lapso dado, manteniendo inalterado </a:t>
            </a:r>
          </a:p>
        </p:txBody>
      </p:sp>
      <p:sp>
        <p:nvSpPr>
          <p:cNvPr id="233" name="ANUARIO_ANEXO_P123_L009"/>
          <p:cNvSpPr txBox="1"/>
          <p:nvPr/>
        </p:nvSpPr>
        <p:spPr>
          <a:xfrm>
            <a:off x="528422" y="2083558"/>
            <a:ext cx="10873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patrimonio del hogar.</a:t>
            </a:r>
          </a:p>
        </p:txBody>
      </p:sp>
      <p:sp>
        <p:nvSpPr>
          <p:cNvPr id="234" name="ANUARIO_ANEXO_P123_L010"/>
          <p:cNvSpPr txBox="1"/>
          <p:nvPr/>
        </p:nvSpPr>
        <p:spPr>
          <a:xfrm>
            <a:off x="528422" y="2301225"/>
            <a:ext cx="41284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Inversión privada en telecomunicaciones:</a:t>
            </a:r>
            <a:r>
              <a:rPr sz="592" b="0" i="0">
                <a:solidFill>
                  <a:srgbClr val="1F3031"/>
                </a:solidFill>
                <a:latin typeface="Noto Sans"/>
              </a:rPr>
              <a:t> Es la suma de la inversión en infraestructura en pesos </a:t>
            </a:r>
          </a:p>
        </p:txBody>
      </p:sp>
      <p:sp>
        <p:nvSpPr>
          <p:cNvPr id="235" name="ANUARIO_ANEXO_P123_L011"/>
          <p:cNvSpPr txBox="1"/>
          <p:nvPr/>
        </p:nvSpPr>
        <p:spPr>
          <a:xfrm>
            <a:off x="528422" y="2413458"/>
            <a:ext cx="41282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corrientes realizada por cada uno de los operadores de servicios de telecomunicaciones y comprende </a:t>
            </a:r>
          </a:p>
        </p:txBody>
      </p:sp>
      <p:sp>
        <p:nvSpPr>
          <p:cNvPr id="236" name="ANUARIO_ANEXO_P123_L012"/>
          <p:cNvSpPr txBox="1"/>
          <p:nvPr/>
        </p:nvSpPr>
        <p:spPr>
          <a:xfrm>
            <a:off x="528422" y="2525007"/>
            <a:ext cx="6312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 siguiente: </a:t>
            </a:r>
          </a:p>
        </p:txBody>
      </p:sp>
      <p:sp>
        <p:nvSpPr>
          <p:cNvPr id="237" name="ANUARIO_ANEXO_P123_L013"/>
          <p:cNvSpPr txBox="1"/>
          <p:nvPr/>
        </p:nvSpPr>
        <p:spPr>
          <a:xfrm>
            <a:off x="695494" y="2742675"/>
            <a:ext cx="39613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 </a:t>
            </a:r>
            <a:r>
              <a:rPr sz="592" b="0" i="0">
                <a:solidFill>
                  <a:srgbClr val="1F3031"/>
                </a:solidFill>
                <a:latin typeface="Noto Sans"/>
              </a:rPr>
              <a:t>Inversión bruta en servicios de telecomunicaciones realizada para la adquisición o mejora </a:t>
            </a:r>
          </a:p>
        </p:txBody>
      </p:sp>
      <p:sp>
        <p:nvSpPr>
          <p:cNvPr id="238" name="ANUARIO_ANEXO_P123_L014"/>
          <p:cNvSpPr txBox="1"/>
          <p:nvPr/>
        </p:nvSpPr>
        <p:spPr>
          <a:xfrm>
            <a:off x="806876" y="2854908"/>
            <a:ext cx="38494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infraestructura de telecomunicaciones en el territorio nacional. Incluye la inversión en las </a:t>
            </a:r>
          </a:p>
        </p:txBody>
      </p:sp>
      <p:sp>
        <p:nvSpPr>
          <p:cNvPr id="239" name="ANUARIO_ANEXO_P123_L015"/>
          <p:cNvSpPr txBox="1"/>
          <p:nvPr/>
        </p:nvSpPr>
        <p:spPr>
          <a:xfrm>
            <a:off x="806876" y="2966457"/>
            <a:ext cx="38501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instalaciones para la operación, así como las adiciones o modificaciones a las instalaciones </a:t>
            </a:r>
          </a:p>
        </p:txBody>
      </p:sp>
      <p:sp>
        <p:nvSpPr>
          <p:cNvPr id="240" name="ANUARIO_ANEXO_P123_L016"/>
          <p:cNvSpPr txBox="1"/>
          <p:nvPr/>
        </p:nvSpPr>
        <p:spPr>
          <a:xfrm>
            <a:off x="806876" y="3078006"/>
            <a:ext cx="3849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existentes cuya utilización se prevé para un amplio periodo, por ejemplo, equipos de </a:t>
            </a:r>
          </a:p>
        </p:txBody>
      </p:sp>
      <p:sp>
        <p:nvSpPr>
          <p:cNvPr id="241" name="ANUARIO_ANEXO_P123_L017"/>
          <p:cNvSpPr txBox="1"/>
          <p:nvPr/>
        </p:nvSpPr>
        <p:spPr>
          <a:xfrm>
            <a:off x="806876" y="3189555"/>
            <a:ext cx="384941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conmutación, de señalización, sincronización, transmisión, fuerza eléctrica y clima, entre </a:t>
            </a:r>
          </a:p>
        </p:txBody>
      </p:sp>
      <p:sp>
        <p:nvSpPr>
          <p:cNvPr id="242" name="ANUARIO_ANEXO_P123_L018"/>
          <p:cNvSpPr txBox="1"/>
          <p:nvPr/>
        </p:nvSpPr>
        <p:spPr>
          <a:xfrm>
            <a:off x="806876" y="3301105"/>
            <a:ext cx="37300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otros. </a:t>
            </a:r>
          </a:p>
        </p:txBody>
      </p:sp>
      <p:sp>
        <p:nvSpPr>
          <p:cNvPr id="243" name="ANUARIO_ANEXO_P123_L019"/>
          <p:cNvSpPr txBox="1"/>
          <p:nvPr/>
        </p:nvSpPr>
        <p:spPr>
          <a:xfrm>
            <a:off x="695494" y="3518771"/>
            <a:ext cx="396116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 </a:t>
            </a:r>
            <a:r>
              <a:rPr sz="592" b="0" i="0">
                <a:solidFill>
                  <a:srgbClr val="1F3031"/>
                </a:solidFill>
                <a:latin typeface="Noto Sans"/>
              </a:rPr>
              <a:t> Inversión bruta por concepto de compra de terrenos y/o edificios asociados al servicio de </a:t>
            </a:r>
          </a:p>
        </p:txBody>
      </p:sp>
      <p:sp>
        <p:nvSpPr>
          <p:cNvPr id="244" name="ANUARIO_ANEXO_P123_L020"/>
          <p:cNvSpPr txBox="1"/>
          <p:nvPr/>
        </p:nvSpPr>
        <p:spPr>
          <a:xfrm>
            <a:off x="806876" y="3631004"/>
            <a:ext cx="95645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telecomunicaciones.</a:t>
            </a:r>
          </a:p>
        </p:txBody>
      </p:sp>
      <p:sp>
        <p:nvSpPr>
          <p:cNvPr id="245" name="ANUARIO_ANEXO_P123_L021"/>
          <p:cNvSpPr txBox="1"/>
          <p:nvPr/>
        </p:nvSpPr>
        <p:spPr>
          <a:xfrm>
            <a:off x="528422" y="3848672"/>
            <a:ext cx="412798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Índice de Precios de Comunicaciones (IPCOM):</a:t>
            </a:r>
            <a:r>
              <a:rPr sz="592" b="0" i="0">
                <a:solidFill>
                  <a:srgbClr val="1F3031"/>
                </a:solidFill>
                <a:latin typeface="Noto Sans"/>
              </a:rPr>
              <a:t> Este índice integra los índices de precios de los </a:t>
            </a:r>
          </a:p>
        </p:txBody>
      </p:sp>
      <p:sp>
        <p:nvSpPr>
          <p:cNvPr id="246" name="ANUARIO_ANEXO_P123_L022"/>
          <p:cNvSpPr txBox="1"/>
          <p:nvPr/>
        </p:nvSpPr>
        <p:spPr>
          <a:xfrm>
            <a:off x="528422" y="3960905"/>
            <a:ext cx="41277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de telefonía móvil, telefonía fija, Internet, paquetes de telefonía, Internet y televisión de paga, </a:t>
            </a:r>
          </a:p>
        </p:txBody>
      </p:sp>
      <p:sp>
        <p:nvSpPr>
          <p:cNvPr id="247" name="ANUARIO_ANEXO_P123_L023"/>
          <p:cNvSpPr txBox="1"/>
          <p:nvPr/>
        </p:nvSpPr>
        <p:spPr>
          <a:xfrm>
            <a:off x="528422" y="4072454"/>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equipos terminales de comunicación y paquetería. Para más información sobre los ponderadores de </a:t>
            </a:r>
          </a:p>
        </p:txBody>
      </p:sp>
      <p:sp>
        <p:nvSpPr>
          <p:cNvPr id="248" name="ANUARIO_ANEXO_P123_L024"/>
          <p:cNvSpPr txBox="1"/>
          <p:nvPr/>
        </p:nvSpPr>
        <p:spPr>
          <a:xfrm>
            <a:off x="528422" y="4184003"/>
            <a:ext cx="364036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dentro del INPC consultar Anexo III. Metodologías.</a:t>
            </a:r>
          </a:p>
        </p:txBody>
      </p:sp>
      <p:sp>
        <p:nvSpPr>
          <p:cNvPr id="249" name="ANUARIO_ANEXO_P123_L025"/>
          <p:cNvSpPr txBox="1"/>
          <p:nvPr/>
        </p:nvSpPr>
        <p:spPr>
          <a:xfrm>
            <a:off x="4647536" y="656471"/>
            <a:ext cx="20129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a:t>
            </a:r>
          </a:p>
        </p:txBody>
      </p:sp>
      <p:sp>
        <p:nvSpPr>
          <p:cNvPr id="250" name="ANUARIO_ANEXO_P123_L026"/>
          <p:cNvSpPr txBox="1"/>
          <p:nvPr/>
        </p:nvSpPr>
        <p:spPr>
          <a:xfrm>
            <a:off x="4647536" y="884748"/>
            <a:ext cx="4128278" cy="146070"/>
          </a:xfrm>
          <a:prstGeom prst="rect">
            <a:avLst/>
          </a:prstGeom>
          <a:noFill/>
        </p:spPr>
        <p:txBody>
          <a:bodyPr wrap="none" lIns="0" rIns="0" tIns="0" bIns="0">
            <a:noAutofit/>
          </a:bodyPr>
          <a:lstStyle/>
          <a:p>
            <a:pPr>
              <a:spcBef>
                <a:spcPts val="0"/>
              </a:spcBef>
              <a:spcAft>
                <a:spcPts val="0"/>
              </a:spcAft>
            </a:pPr>
            <a:r>
              <a:rPr sz="592" b="1" i="1">
                <a:solidFill>
                  <a:srgbClr val="1F3031"/>
                </a:solidFill>
                <a:latin typeface="Noto Sans"/>
              </a:rPr>
              <a:t>Magazine</a:t>
            </a:r>
            <a:r>
              <a:rPr sz="592" b="1" i="0">
                <a:solidFill>
                  <a:srgbClr val="1F3031"/>
                </a:solidFill>
                <a:latin typeface="Noto Sans"/>
              </a:rPr>
              <a:t>:</a:t>
            </a:r>
            <a:r>
              <a:rPr sz="592" b="0" i="0">
                <a:solidFill>
                  <a:srgbClr val="1F3031"/>
                </a:solidFill>
                <a:latin typeface="Noto Sans"/>
              </a:rPr>
              <a:t> Programas cuya producción contiene diferentes cuadros, tales como variedades, </a:t>
            </a:r>
          </a:p>
        </p:txBody>
      </p:sp>
      <p:sp>
        <p:nvSpPr>
          <p:cNvPr id="251" name="ANUARIO_ANEXO_P123_L027"/>
          <p:cNvSpPr txBox="1"/>
          <p:nvPr/>
        </p:nvSpPr>
        <p:spPr>
          <a:xfrm>
            <a:off x="4647536" y="1006906"/>
            <a:ext cx="412847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entrevistas, reportajes, investigaciones y comentarios. Dentro de este género también se contemplan </a:t>
            </a:r>
          </a:p>
        </p:txBody>
      </p:sp>
      <p:sp>
        <p:nvSpPr>
          <p:cNvPr id="252" name="ANUARIO_ANEXO_P123_L028"/>
          <p:cNvSpPr txBox="1"/>
          <p:nvPr/>
        </p:nvSpPr>
        <p:spPr>
          <a:xfrm>
            <a:off x="4647536" y="1128380"/>
            <a:ext cx="412845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aquellos programas cuyas características no sean clasificables dentro de algún otro género, tales </a:t>
            </a:r>
          </a:p>
        </p:txBody>
      </p:sp>
      <p:sp>
        <p:nvSpPr>
          <p:cNvPr id="253" name="ANUARIO_ANEXO_P123_L029"/>
          <p:cNvSpPr txBox="1"/>
          <p:nvPr/>
        </p:nvSpPr>
        <p:spPr>
          <a:xfrm>
            <a:off x="4647536" y="1249854"/>
            <a:ext cx="33650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cobertura de eventos (exceptuando los religiosos, deportivos y culturales).</a:t>
            </a:r>
          </a:p>
        </p:txBody>
      </p:sp>
      <p:sp>
        <p:nvSpPr>
          <p:cNvPr id="254" name="ANUARIO_ANEXO_P123_L030"/>
          <p:cNvSpPr txBox="1"/>
          <p:nvPr/>
        </p:nvSpPr>
        <p:spPr>
          <a:xfrm>
            <a:off x="4647536" y="1477447"/>
            <a:ext cx="33028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Megabyte (MB):</a:t>
            </a:r>
            <a:r>
              <a:rPr sz="592" b="0" i="0">
                <a:solidFill>
                  <a:srgbClr val="1F3031"/>
                </a:solidFill>
                <a:latin typeface="Noto Sans"/>
              </a:rPr>
              <a:t> Es la unidad de medida de la transmisión de datos de Internet.</a:t>
            </a:r>
          </a:p>
        </p:txBody>
      </p:sp>
      <p:sp>
        <p:nvSpPr>
          <p:cNvPr id="255" name="ANUARIO_ANEXO_P123_L031"/>
          <p:cNvSpPr txBox="1"/>
          <p:nvPr/>
        </p:nvSpPr>
        <p:spPr>
          <a:xfrm>
            <a:off x="4647536" y="1705722"/>
            <a:ext cx="412816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Megabits (Mbps):</a:t>
            </a:r>
            <a:r>
              <a:rPr sz="592" b="0" i="0">
                <a:solidFill>
                  <a:srgbClr val="1F3031"/>
                </a:solidFill>
                <a:latin typeface="Noto Sans"/>
              </a:rPr>
              <a:t> Megabits por segundo es la medida de la velocidad de transmisión de datos de </a:t>
            </a:r>
          </a:p>
        </p:txBody>
      </p:sp>
      <p:sp>
        <p:nvSpPr>
          <p:cNvPr id="256" name="ANUARIO_ANEXO_P123_L032"/>
          <p:cNvSpPr txBox="1"/>
          <p:nvPr/>
        </p:nvSpPr>
        <p:spPr>
          <a:xfrm>
            <a:off x="4647536" y="1827880"/>
            <a:ext cx="656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banda ancha.</a:t>
            </a:r>
          </a:p>
        </p:txBody>
      </p:sp>
      <p:sp>
        <p:nvSpPr>
          <p:cNvPr id="257" name="ANUARIO_ANEXO_P123_L033"/>
          <p:cNvSpPr txBox="1"/>
          <p:nvPr/>
        </p:nvSpPr>
        <p:spPr>
          <a:xfrm>
            <a:off x="4647536" y="2055473"/>
            <a:ext cx="34097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Megahertz (MHz):</a:t>
            </a:r>
            <a:r>
              <a:rPr sz="592" b="0" i="0">
                <a:solidFill>
                  <a:srgbClr val="1F3031"/>
                </a:solidFill>
                <a:latin typeface="Noto Sans"/>
              </a:rPr>
              <a:t> Es la unidad de medida de la frecuencia y equivale a 106 Hertz.</a:t>
            </a:r>
          </a:p>
        </p:txBody>
      </p:sp>
      <p:sp>
        <p:nvSpPr>
          <p:cNvPr id="258" name="ANUARIO_ANEXO_P123_L034"/>
          <p:cNvSpPr txBox="1"/>
          <p:nvPr/>
        </p:nvSpPr>
        <p:spPr>
          <a:xfrm>
            <a:off x="4647536" y="2283749"/>
            <a:ext cx="412850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Mercadeo:</a:t>
            </a:r>
            <a:r>
              <a:rPr sz="592" b="0" i="0">
                <a:solidFill>
                  <a:srgbClr val="1F3031"/>
                </a:solidFill>
                <a:latin typeface="Noto Sans"/>
              </a:rPr>
              <a:t> Programa que promueve la venta de productos vía telefónica. Generalmente, en este </a:t>
            </a:r>
          </a:p>
        </p:txBody>
      </p:sp>
      <p:sp>
        <p:nvSpPr>
          <p:cNvPr id="259" name="ANUARIO_ANEXO_P123_L035"/>
          <p:cNvSpPr txBox="1"/>
          <p:nvPr/>
        </p:nvSpPr>
        <p:spPr>
          <a:xfrm>
            <a:off x="4647536" y="2405907"/>
            <a:ext cx="41285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tipo de programas se realizan demostraciones o explicaciones del funcionamiento del o de los </a:t>
            </a:r>
          </a:p>
        </p:txBody>
      </p:sp>
      <p:sp>
        <p:nvSpPr>
          <p:cNvPr id="260" name="ANUARIO_ANEXO_P123_L036"/>
          <p:cNvSpPr txBox="1"/>
          <p:nvPr/>
        </p:nvSpPr>
        <p:spPr>
          <a:xfrm>
            <a:off x="4647536" y="2527381"/>
            <a:ext cx="412849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artículos ofrecidos. También se encuentran dentro de esta categoría los programas pagados por </a:t>
            </a:r>
          </a:p>
        </p:txBody>
      </p:sp>
      <p:sp>
        <p:nvSpPr>
          <p:cNvPr id="261" name="ANUARIO_ANEXO_P123_L037"/>
          <p:cNvSpPr txBox="1"/>
          <p:nvPr/>
        </p:nvSpPr>
        <p:spPr>
          <a:xfrm>
            <a:off x="4647536" y="2648855"/>
            <a:ext cx="412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instituciones, asociaciones civiles o religiosas, en los cuales el tiempo aire es utilizado para la difusión </a:t>
            </a:r>
          </a:p>
        </p:txBody>
      </p:sp>
      <p:sp>
        <p:nvSpPr>
          <p:cNvPr id="262" name="ANUARIO_ANEXO_P123_L038"/>
          <p:cNvSpPr txBox="1"/>
          <p:nvPr/>
        </p:nvSpPr>
        <p:spPr>
          <a:xfrm>
            <a:off x="4647536" y="2770329"/>
            <a:ext cx="729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un mensaje.</a:t>
            </a:r>
          </a:p>
        </p:txBody>
      </p:sp>
      <p:sp>
        <p:nvSpPr>
          <p:cNvPr id="263" name="ANUARIO_ANEXO_P123_L039"/>
          <p:cNvSpPr txBox="1"/>
          <p:nvPr/>
        </p:nvSpPr>
        <p:spPr>
          <a:xfrm>
            <a:off x="4647536" y="2997922"/>
            <a:ext cx="412812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Musicales:</a:t>
            </a:r>
            <a:r>
              <a:rPr sz="592" b="0" i="0">
                <a:solidFill>
                  <a:srgbClr val="1F3031"/>
                </a:solidFill>
                <a:latin typeface="Noto Sans"/>
              </a:rPr>
              <a:t> Programas de corte musical, tales como videos, conciertos, presentaciones de cantantes </a:t>
            </a:r>
          </a:p>
        </p:txBody>
      </p:sp>
      <p:sp>
        <p:nvSpPr>
          <p:cNvPr id="264" name="ANUARIO_ANEXO_P123_L040"/>
          <p:cNvSpPr txBox="1"/>
          <p:nvPr/>
        </p:nvSpPr>
        <p:spPr>
          <a:xfrm>
            <a:off x="4647536" y="3120080"/>
            <a:ext cx="36704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grupos, que pueden incluir o no semblanzas o entrevistas con los artistas presentados.</a:t>
            </a:r>
          </a:p>
        </p:txBody>
      </p:sp>
      <p:sp>
        <p:nvSpPr>
          <p:cNvPr id="265" name="ANUARIO_ANEXO_P123_L041"/>
          <p:cNvSpPr txBox="1"/>
          <p:nvPr/>
        </p:nvSpPr>
        <p:spPr>
          <a:xfrm>
            <a:off x="4647536" y="3347673"/>
            <a:ext cx="189710"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a:t>
            </a:r>
          </a:p>
        </p:txBody>
      </p:sp>
      <p:sp>
        <p:nvSpPr>
          <p:cNvPr id="266" name="ANUARIO_ANEXO_P123_L042"/>
          <p:cNvSpPr txBox="1"/>
          <p:nvPr/>
        </p:nvSpPr>
        <p:spPr>
          <a:xfrm>
            <a:off x="4647536" y="3575948"/>
            <a:ext cx="412843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Noticieros:</a:t>
            </a:r>
            <a:r>
              <a:rPr sz="592" b="0" i="0">
                <a:solidFill>
                  <a:srgbClr val="1F3031"/>
                </a:solidFill>
                <a:latin typeface="Noto Sans"/>
              </a:rPr>
              <a:t> Programación basada en la actualidad informativa nacional e internacional, articulada </a:t>
            </a:r>
          </a:p>
        </p:txBody>
      </p:sp>
      <p:sp>
        <p:nvSpPr>
          <p:cNvPr id="267" name="ANUARIO_ANEXO_P123_L043"/>
          <p:cNvSpPr txBox="1"/>
          <p:nvPr/>
        </p:nvSpPr>
        <p:spPr>
          <a:xfrm>
            <a:off x="4647536" y="3698107"/>
            <a:ext cx="41280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 los géneros tradicionales del periodismo escrito, tales como la nota informativa, el reportaje, la </a:t>
            </a:r>
          </a:p>
        </p:txBody>
      </p:sp>
      <p:sp>
        <p:nvSpPr>
          <p:cNvPr id="268" name="ANUARIO_ANEXO_P123_L044"/>
          <p:cNvSpPr txBox="1"/>
          <p:nvPr/>
        </p:nvSpPr>
        <p:spPr>
          <a:xfrm>
            <a:off x="4647536" y="3819580"/>
            <a:ext cx="41284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 la editorial, entre otros. Generalmente se estructuran en bloques temáticos que buscan </a:t>
            </a:r>
          </a:p>
        </p:txBody>
      </p:sp>
      <p:sp>
        <p:nvSpPr>
          <p:cNvPr id="269" name="ANUARIO_ANEXO_P123_L045"/>
          <p:cNvSpPr txBox="1"/>
          <p:nvPr/>
        </p:nvSpPr>
        <p:spPr>
          <a:xfrm>
            <a:off x="4647536" y="3941055"/>
            <a:ext cx="412796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mantener el interés y eliminar los factores de distracción a los que está expuesto el televidente. </a:t>
            </a:r>
          </a:p>
        </p:txBody>
      </p:sp>
      <p:sp>
        <p:nvSpPr>
          <p:cNvPr id="270" name="ANUARIO_ANEXO_P123_L046"/>
          <p:cNvSpPr txBox="1"/>
          <p:nvPr/>
        </p:nvSpPr>
        <p:spPr>
          <a:xfrm>
            <a:off x="4647536" y="4062528"/>
            <a:ext cx="41280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Dentro de este género se contemplan también aquellos programas de carácter informativo, de </a:t>
            </a:r>
          </a:p>
        </p:txBody>
      </p:sp>
      <p:sp>
        <p:nvSpPr>
          <p:cNvPr id="271" name="ANUARIO_ANEXO_P123_L047"/>
          <p:cNvSpPr txBox="1"/>
          <p:nvPr/>
        </p:nvSpPr>
        <p:spPr>
          <a:xfrm>
            <a:off x="4647536" y="4184003"/>
            <a:ext cx="254053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análisis o reportajes especializados sobre temas específicos.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124</a:t>
            </a:r>
          </a:p>
        </p:txBody>
      </p:sp>
      <p:sp>
        <p:nvSpPr>
          <p:cNvPr id="225" name="ANUARIO_ANEXO_P124_L001"/>
          <p:cNvSpPr txBox="1"/>
          <p:nvPr/>
        </p:nvSpPr>
        <p:spPr>
          <a:xfrm>
            <a:off x="528422" y="656471"/>
            <a:ext cx="1938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a:t>
            </a:r>
          </a:p>
        </p:txBody>
      </p:sp>
      <p:sp>
        <p:nvSpPr>
          <p:cNvPr id="226" name="ANUARIO_ANEXO_P124_L002"/>
          <p:cNvSpPr txBox="1"/>
          <p:nvPr/>
        </p:nvSpPr>
        <p:spPr>
          <a:xfrm>
            <a:off x="528422" y="879387"/>
            <a:ext cx="412837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Operador de telecomunicaciones:</a:t>
            </a:r>
            <a:r>
              <a:rPr sz="640" b="0" i="0">
                <a:solidFill>
                  <a:srgbClr val="1F3031"/>
                </a:solidFill>
                <a:latin typeface="Noto Sans"/>
              </a:rPr>
              <a:t> Persona física o moral titular de una o varias concesiones, </a:t>
            </a:r>
          </a:p>
        </p:txBody>
      </p:sp>
      <p:sp>
        <p:nvSpPr>
          <p:cNvPr id="227" name="ANUARIO_ANEXO_P124_L003"/>
          <p:cNvSpPr txBox="1"/>
          <p:nvPr/>
        </p:nvSpPr>
        <p:spPr>
          <a:xfrm>
            <a:off x="528422" y="996183"/>
            <a:ext cx="41266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autorizaciones, permisos o asignaciones, que lo habilitan para explotar servicios de telecomunicaciones, </a:t>
            </a:r>
          </a:p>
        </p:txBody>
      </p:sp>
      <p:sp>
        <p:nvSpPr>
          <p:cNvPr id="228" name="ANUARIO_ANEXO_P124_L004"/>
          <p:cNvSpPr txBox="1"/>
          <p:nvPr/>
        </p:nvSpPr>
        <p:spPr>
          <a:xfrm>
            <a:off x="528422" y="1112296"/>
            <a:ext cx="2078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espectro radioeléctrico, y/o recursos orbitales.</a:t>
            </a:r>
          </a:p>
        </p:txBody>
      </p:sp>
      <p:sp>
        <p:nvSpPr>
          <p:cNvPr id="229" name="ANUARIO_ANEXO_P124_L005"/>
          <p:cNvSpPr txBox="1"/>
          <p:nvPr/>
        </p:nvSpPr>
        <p:spPr>
          <a:xfrm>
            <a:off x="528422" y="1334528"/>
            <a:ext cx="412851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Over the Top (OTT)</a:t>
            </a:r>
            <a:r>
              <a:rPr sz="640" b="1" i="0">
                <a:solidFill>
                  <a:srgbClr val="1F3031"/>
                </a:solidFill>
                <a:latin typeface="Noto Sans"/>
              </a:rPr>
              <a:t>:</a:t>
            </a:r>
            <a:r>
              <a:rPr sz="640" b="0" i="0">
                <a:solidFill>
                  <a:srgbClr val="1F3031"/>
                </a:solidFill>
                <a:latin typeface="Noto Sans"/>
              </a:rPr>
              <a:t> Se consideran servicios en línea que, según la Unión Internacional de </a:t>
            </a:r>
          </a:p>
        </p:txBody>
      </p:sp>
      <p:sp>
        <p:nvSpPr>
          <p:cNvPr id="230" name="ANUARIO_ANEXO_P124_L006"/>
          <p:cNvSpPr txBox="1"/>
          <p:nvPr/>
        </p:nvSpPr>
        <p:spPr>
          <a:xfrm>
            <a:off x="528422" y="1451324"/>
            <a:ext cx="41284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se pueden considerar sustitutos potenciales de los servicios tradicionales de </a:t>
            </a:r>
          </a:p>
        </p:txBody>
      </p:sp>
      <p:sp>
        <p:nvSpPr>
          <p:cNvPr id="231" name="ANUARIO_ANEXO_P124_L007"/>
          <p:cNvSpPr txBox="1"/>
          <p:nvPr/>
        </p:nvSpPr>
        <p:spPr>
          <a:xfrm>
            <a:off x="528422" y="1567438"/>
            <a:ext cx="20544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y de contenido audiovisual.</a:t>
            </a:r>
          </a:p>
        </p:txBody>
      </p:sp>
      <p:sp>
        <p:nvSpPr>
          <p:cNvPr id="232" name="ANUARIO_ANEXO_P124_L008"/>
          <p:cNvSpPr txBox="1"/>
          <p:nvPr/>
        </p:nvSpPr>
        <p:spPr>
          <a:xfrm>
            <a:off x="528422" y="1789669"/>
            <a:ext cx="17340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t>
            </a:r>
          </a:p>
        </p:txBody>
      </p:sp>
      <p:sp>
        <p:nvSpPr>
          <p:cNvPr id="233" name="ANUARIO_ANEXO_P124_L009"/>
          <p:cNvSpPr txBox="1"/>
          <p:nvPr/>
        </p:nvSpPr>
        <p:spPr>
          <a:xfrm>
            <a:off x="528422" y="2012584"/>
            <a:ext cx="412841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Partidos Políticos:</a:t>
            </a:r>
            <a:r>
              <a:rPr sz="640" b="0" i="0">
                <a:solidFill>
                  <a:srgbClr val="1F3031"/>
                </a:solidFill>
                <a:latin typeface="Noto Sans"/>
              </a:rPr>
              <a:t> Programa cuyo contenido es la presentación o difusión de los mensajes y/o </a:t>
            </a:r>
          </a:p>
        </p:txBody>
      </p:sp>
      <p:sp>
        <p:nvSpPr>
          <p:cNvPr id="234" name="ANUARIO_ANEXO_P124_L010"/>
          <p:cNvSpPr txBox="1"/>
          <p:nvPr/>
        </p:nvSpPr>
        <p:spPr>
          <a:xfrm>
            <a:off x="528422" y="2129381"/>
            <a:ext cx="41279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actividades de los diferentes partidos políticos registrados. Las identificaciones de la producción </a:t>
            </a:r>
          </a:p>
        </p:txBody>
      </p:sp>
      <p:sp>
        <p:nvSpPr>
          <p:cNvPr id="235" name="ANUARIO_ANEXO_P124_L011"/>
          <p:cNvSpPr txBox="1"/>
          <p:nvPr/>
        </p:nvSpPr>
        <p:spPr>
          <a:xfrm>
            <a:off x="528422" y="2245493"/>
            <a:ext cx="23246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pueden presentar a una o varias asociaciones políticas.</a:t>
            </a:r>
          </a:p>
        </p:txBody>
      </p:sp>
      <p:sp>
        <p:nvSpPr>
          <p:cNvPr id="236" name="ANUARIO_ANEXO_P124_L012"/>
          <p:cNvSpPr txBox="1"/>
          <p:nvPr/>
        </p:nvSpPr>
        <p:spPr>
          <a:xfrm>
            <a:off x="528422" y="2467725"/>
            <a:ext cx="41276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Películas:</a:t>
            </a:r>
            <a:r>
              <a:rPr sz="640" b="0" i="0">
                <a:solidFill>
                  <a:srgbClr val="1F3031"/>
                </a:solidFill>
                <a:latin typeface="Noto Sans"/>
              </a:rPr>
              <a:t> Producción genérica al nombre. Normalmente es realizada para el cine o, y se transmite </a:t>
            </a:r>
          </a:p>
        </p:txBody>
      </p:sp>
      <p:sp>
        <p:nvSpPr>
          <p:cNvPr id="237" name="ANUARIO_ANEXO_P124_L013"/>
          <p:cNvSpPr txBox="1"/>
          <p:nvPr/>
        </p:nvSpPr>
        <p:spPr>
          <a:xfrm>
            <a:off x="528422" y="2584522"/>
            <a:ext cx="41279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televisión. En este caso, se incluyen las producciones nacionales y extranjeras. En este género no </a:t>
            </a:r>
          </a:p>
        </p:txBody>
      </p:sp>
      <p:sp>
        <p:nvSpPr>
          <p:cNvPr id="238" name="ANUARIO_ANEXO_P124_L014"/>
          <p:cNvSpPr txBox="1"/>
          <p:nvPr/>
        </p:nvSpPr>
        <p:spPr>
          <a:xfrm>
            <a:off x="528422" y="2700635"/>
            <a:ext cx="355428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está contemplado el cine documental de carácter didáctico o que incluya entrevistas.</a:t>
            </a:r>
          </a:p>
        </p:txBody>
      </p:sp>
      <p:sp>
        <p:nvSpPr>
          <p:cNvPr id="239" name="ANUARIO_ANEXO_P124_L015"/>
          <p:cNvSpPr txBox="1"/>
          <p:nvPr/>
        </p:nvSpPr>
        <p:spPr>
          <a:xfrm>
            <a:off x="528422" y="2922866"/>
            <a:ext cx="41282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Producto Interno Bruto (PIB):</a:t>
            </a:r>
            <a:r>
              <a:rPr sz="640" b="0" i="0">
                <a:solidFill>
                  <a:srgbClr val="1F3031"/>
                </a:solidFill>
                <a:latin typeface="Noto Sans"/>
              </a:rPr>
              <a:t> Indica el valor de la producción de bienes y servicios de un país durante </a:t>
            </a:r>
          </a:p>
        </p:txBody>
      </p:sp>
      <p:sp>
        <p:nvSpPr>
          <p:cNvPr id="240" name="ANUARIO_ANEXO_P124_L016"/>
          <p:cNvSpPr txBox="1"/>
          <p:nvPr/>
        </p:nvSpPr>
        <p:spPr>
          <a:xfrm>
            <a:off x="528422" y="3039663"/>
            <a:ext cx="36184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 determinado periodo. En este documento se presenta a precios constantes de 2018.</a:t>
            </a:r>
          </a:p>
        </p:txBody>
      </p:sp>
      <p:sp>
        <p:nvSpPr>
          <p:cNvPr id="241" name="ANUARIO_ANEXO_P124_L017"/>
          <p:cNvSpPr txBox="1"/>
          <p:nvPr/>
        </p:nvSpPr>
        <p:spPr>
          <a:xfrm>
            <a:off x="528422" y="3261894"/>
            <a:ext cx="412837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controlado:</a:t>
            </a:r>
            <a:r>
              <a:rPr sz="640" b="0" i="0">
                <a:solidFill>
                  <a:srgbClr val="1F3031"/>
                </a:solidFill>
                <a:latin typeface="Noto Sans"/>
              </a:rPr>
              <a:t> Esquema de contratación mediante el cual el suscriptor paga servicios de </a:t>
            </a:r>
          </a:p>
        </p:txBody>
      </p:sp>
      <p:sp>
        <p:nvSpPr>
          <p:cNvPr id="242" name="ANUARIO_ANEXO_P124_L018"/>
          <p:cNvSpPr txBox="1"/>
          <p:nvPr/>
        </p:nvSpPr>
        <p:spPr>
          <a:xfrm>
            <a:off x="528422" y="3378691"/>
            <a:ext cx="39000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su utilización y no se permite recargas adicionales.</a:t>
            </a:r>
          </a:p>
        </p:txBody>
      </p:sp>
      <p:sp>
        <p:nvSpPr>
          <p:cNvPr id="243" name="ANUARIO_ANEXO_P124_L019"/>
          <p:cNvSpPr txBox="1"/>
          <p:nvPr/>
        </p:nvSpPr>
        <p:spPr>
          <a:xfrm>
            <a:off x="528422" y="360092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libre:</a:t>
            </a:r>
            <a:r>
              <a:rPr sz="640" b="0" i="0">
                <a:solidFill>
                  <a:srgbClr val="1F3031"/>
                </a:solidFill>
                <a:latin typeface="Noto Sans"/>
              </a:rPr>
              <a:t> Esquema de contratación mediante el cual el suscriptor paga servicios de </a:t>
            </a:r>
          </a:p>
        </p:txBody>
      </p:sp>
      <p:sp>
        <p:nvSpPr>
          <p:cNvPr id="244" name="ANUARIO_ANEXO_P124_L020"/>
          <p:cNvSpPr txBox="1"/>
          <p:nvPr/>
        </p:nvSpPr>
        <p:spPr>
          <a:xfrm>
            <a:off x="528422" y="3717719"/>
            <a:ext cx="41078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inicialmente de pospago, pero permite realizar recargas adicionales (prepago).</a:t>
            </a:r>
          </a:p>
        </p:txBody>
      </p:sp>
      <p:sp>
        <p:nvSpPr>
          <p:cNvPr id="245" name="ANUARIO_ANEXO_P124_L021"/>
          <p:cNvSpPr txBox="1"/>
          <p:nvPr/>
        </p:nvSpPr>
        <p:spPr>
          <a:xfrm>
            <a:off x="528422" y="3939950"/>
            <a:ext cx="412789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a:t>
            </a:r>
            <a:r>
              <a:rPr sz="640" b="0" i="0">
                <a:solidFill>
                  <a:srgbClr val="1F3031"/>
                </a:solidFill>
                <a:latin typeface="Noto Sans"/>
              </a:rPr>
              <a:t> Esquema de contratación mediante el cual el suscriptor paga servicios de </a:t>
            </a:r>
          </a:p>
        </p:txBody>
      </p:sp>
      <p:sp>
        <p:nvSpPr>
          <p:cNvPr id="246" name="ANUARIO_ANEXO_P124_L022"/>
          <p:cNvSpPr txBox="1"/>
          <p:nvPr/>
        </p:nvSpPr>
        <p:spPr>
          <a:xfrm>
            <a:off x="528422" y="4056747"/>
            <a:ext cx="30735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la utilización de los mismos. </a:t>
            </a:r>
          </a:p>
        </p:txBody>
      </p:sp>
      <p:sp>
        <p:nvSpPr>
          <p:cNvPr id="247" name="ANUARIO_ANEXO_P124_L023"/>
          <p:cNvSpPr txBox="1"/>
          <p:nvPr/>
        </p:nvSpPr>
        <p:spPr>
          <a:xfrm>
            <a:off x="528422" y="4278978"/>
            <a:ext cx="412825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Prepago:</a:t>
            </a:r>
            <a:r>
              <a:rPr sz="640" b="0" i="0">
                <a:solidFill>
                  <a:srgbClr val="1F3031"/>
                </a:solidFill>
                <a:latin typeface="Noto Sans"/>
              </a:rPr>
              <a:t> Esquema de contratación mediante el cual el suscriptor paga servicios de </a:t>
            </a:r>
          </a:p>
        </p:txBody>
      </p:sp>
      <p:sp>
        <p:nvSpPr>
          <p:cNvPr id="248" name="ANUARIO_ANEXO_P124_L024"/>
          <p:cNvSpPr txBox="1"/>
          <p:nvPr/>
        </p:nvSpPr>
        <p:spPr>
          <a:xfrm>
            <a:off x="528422" y="4395775"/>
            <a:ext cx="31278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anticipada a la utilización de los mismos. </a:t>
            </a:r>
          </a:p>
        </p:txBody>
      </p:sp>
      <p:sp>
        <p:nvSpPr>
          <p:cNvPr id="249" name="ANUARIO_ANEXO_P124_L025"/>
          <p:cNvSpPr txBox="1"/>
          <p:nvPr/>
        </p:nvSpPr>
        <p:spPr>
          <a:xfrm>
            <a:off x="4647536" y="656471"/>
            <a:ext cx="17643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a:t>
            </a:r>
          </a:p>
        </p:txBody>
      </p:sp>
      <p:sp>
        <p:nvSpPr>
          <p:cNvPr id="250" name="ANUARIO_ANEXO_P124_L026"/>
          <p:cNvSpPr txBox="1"/>
          <p:nvPr/>
        </p:nvSpPr>
        <p:spPr>
          <a:xfrm>
            <a:off x="4647536" y="870075"/>
            <a:ext cx="412789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Rating</a:t>
            </a:r>
            <a:r>
              <a:rPr sz="640" b="1" i="0">
                <a:solidFill>
                  <a:srgbClr val="1F3031"/>
                </a:solidFill>
                <a:latin typeface="Noto Sans"/>
              </a:rPr>
              <a:t> (rat%):</a:t>
            </a:r>
            <a:r>
              <a:rPr sz="640" b="0" i="0">
                <a:solidFill>
                  <a:srgbClr val="1F3031"/>
                </a:solidFill>
                <a:latin typeface="Noto Sans"/>
              </a:rPr>
              <a:t> Porcentaje de hogares o personas que estuvieron viendo la televisión en un canal/ </a:t>
            </a:r>
          </a:p>
        </p:txBody>
      </p:sp>
      <p:sp>
        <p:nvSpPr>
          <p:cNvPr id="251" name="ANUARIO_ANEXO_P124_L027"/>
          <p:cNvSpPr txBox="1"/>
          <p:nvPr/>
        </p:nvSpPr>
        <p:spPr>
          <a:xfrm>
            <a:off x="4647536" y="977561"/>
            <a:ext cx="20530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estación en un periodo de tiempo determinado.</a:t>
            </a:r>
          </a:p>
        </p:txBody>
      </p:sp>
      <p:sp>
        <p:nvSpPr>
          <p:cNvPr id="252" name="ANUARIO_ANEXO_P124_L028"/>
          <p:cNvSpPr txBox="1"/>
          <p:nvPr/>
        </p:nvSpPr>
        <p:spPr>
          <a:xfrm>
            <a:off x="4647536" y="1190481"/>
            <a:ext cx="4128573"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Reality Show</a:t>
            </a:r>
            <a:r>
              <a:rPr sz="640" b="1" i="0">
                <a:solidFill>
                  <a:srgbClr val="1F3031"/>
                </a:solidFill>
                <a:latin typeface="Noto Sans"/>
              </a:rPr>
              <a:t>:</a:t>
            </a:r>
            <a:r>
              <a:rPr sz="640" b="0" i="0">
                <a:solidFill>
                  <a:srgbClr val="1F3031"/>
                </a:solidFill>
                <a:latin typeface="Noto Sans"/>
              </a:rPr>
              <a:t> También conocidos como Televisión Real, es un género televisivo en donde un </a:t>
            </a:r>
          </a:p>
        </p:txBody>
      </p:sp>
      <p:sp>
        <p:nvSpPr>
          <p:cNvPr id="253" name="ANUARIO_ANEXO_P124_L029"/>
          <p:cNvSpPr txBox="1"/>
          <p:nvPr/>
        </p:nvSpPr>
        <p:spPr>
          <a:xfrm>
            <a:off x="4647536" y="1297966"/>
            <a:ext cx="41280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grupo de personas –comunes o famosas- permite que sus vidas sean grabadas durante un periodo </a:t>
            </a:r>
          </a:p>
        </p:txBody>
      </p:sp>
      <p:sp>
        <p:nvSpPr>
          <p:cNvPr id="254" name="ANUARIO_ANEXO_P124_L030"/>
          <p:cNvSpPr txBox="1"/>
          <p:nvPr/>
        </p:nvSpPr>
        <p:spPr>
          <a:xfrm>
            <a:off x="4647536" y="1404768"/>
            <a:ext cx="41279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determinado. Generalmente se encuentran en un sitio común, sin importar su locación, y pueden o </a:t>
            </a:r>
          </a:p>
        </p:txBody>
      </p:sp>
      <p:sp>
        <p:nvSpPr>
          <p:cNvPr id="255" name="ANUARIO_ANEXO_P124_L031"/>
          <p:cNvSpPr txBox="1"/>
          <p:nvPr/>
        </p:nvSpPr>
        <p:spPr>
          <a:xfrm>
            <a:off x="4647536" y="1511570"/>
            <a:ext cx="16087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no estar compitiendo por un premio.</a:t>
            </a:r>
          </a:p>
        </p:txBody>
      </p:sp>
      <p:sp>
        <p:nvSpPr>
          <p:cNvPr id="256" name="ANUARIO_ANEXO_P124_L032"/>
          <p:cNvSpPr txBox="1"/>
          <p:nvPr/>
        </p:nvSpPr>
        <p:spPr>
          <a:xfrm>
            <a:off x="4647536" y="1724491"/>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Religión:</a:t>
            </a:r>
            <a:r>
              <a:rPr sz="640" b="0" i="0">
                <a:solidFill>
                  <a:srgbClr val="1F3031"/>
                </a:solidFill>
                <a:latin typeface="Noto Sans"/>
              </a:rPr>
              <a:t> Programas de contenido estrictamente religioso, tales como misas, retiros y coberturas de </a:t>
            </a:r>
          </a:p>
        </p:txBody>
      </p:sp>
      <p:sp>
        <p:nvSpPr>
          <p:cNvPr id="257" name="ANUARIO_ANEXO_P124_L033"/>
          <p:cNvSpPr txBox="1"/>
          <p:nvPr/>
        </p:nvSpPr>
        <p:spPr>
          <a:xfrm>
            <a:off x="4647536" y="1831976"/>
            <a:ext cx="41282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visitas pastorales. En este género no están incluidos programas de reportaje que, en un capítulo en </a:t>
            </a:r>
          </a:p>
        </p:txBody>
      </p:sp>
      <p:sp>
        <p:nvSpPr>
          <p:cNvPr id="258" name="ANUARIO_ANEXO_P124_L034"/>
          <p:cNvSpPr txBox="1"/>
          <p:nvPr/>
        </p:nvSpPr>
        <p:spPr>
          <a:xfrm>
            <a:off x="4647536" y="1938778"/>
            <a:ext cx="16569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 aborden un tema religioso.</a:t>
            </a:r>
          </a:p>
        </p:txBody>
      </p:sp>
      <p:sp>
        <p:nvSpPr>
          <p:cNvPr id="259" name="ANUARIO_ANEXO_P124_L035"/>
          <p:cNvSpPr txBox="1"/>
          <p:nvPr/>
        </p:nvSpPr>
        <p:spPr>
          <a:xfrm>
            <a:off x="4647536" y="2151698"/>
            <a:ext cx="17055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a:t>
            </a:r>
          </a:p>
        </p:txBody>
      </p:sp>
      <p:sp>
        <p:nvSpPr>
          <p:cNvPr id="260" name="ANUARIO_ANEXO_P124_L036"/>
          <p:cNvSpPr txBox="1"/>
          <p:nvPr/>
        </p:nvSpPr>
        <p:spPr>
          <a:xfrm>
            <a:off x="4647536" y="2365302"/>
            <a:ext cx="412787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Series:</a:t>
            </a:r>
            <a:r>
              <a:rPr sz="640" b="0" i="0">
                <a:solidFill>
                  <a:srgbClr val="1F3031"/>
                </a:solidFill>
                <a:latin typeface="Noto Sans"/>
              </a:rPr>
              <a:t> Formato presentado en emisiones sucesivas, que individualmente mantienen una unidad </a:t>
            </a:r>
          </a:p>
        </p:txBody>
      </p:sp>
      <p:sp>
        <p:nvSpPr>
          <p:cNvPr id="261" name="ANUARIO_ANEXO_P124_L037"/>
          <p:cNvSpPr txBox="1"/>
          <p:nvPr/>
        </p:nvSpPr>
        <p:spPr>
          <a:xfrm>
            <a:off x="4647536" y="2472788"/>
            <a:ext cx="412849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argumental en sí misma, aunque presentan continuidad, al menos temática, entre los diferentes </a:t>
            </a:r>
          </a:p>
        </p:txBody>
      </p:sp>
      <p:sp>
        <p:nvSpPr>
          <p:cNvPr id="262" name="ANUARIO_ANEXO_P124_L038"/>
          <p:cNvSpPr txBox="1"/>
          <p:nvPr/>
        </p:nvSpPr>
        <p:spPr>
          <a:xfrm>
            <a:off x="4647536" y="2579590"/>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episodios que la integran. Incluye diferentes subgéneros, como la ficción, acción, suspenso, comedia, </a:t>
            </a:r>
          </a:p>
        </p:txBody>
      </p:sp>
      <p:sp>
        <p:nvSpPr>
          <p:cNvPr id="263" name="ANUARIO_ANEXO_P124_L039"/>
          <p:cNvSpPr txBox="1"/>
          <p:nvPr/>
        </p:nvSpPr>
        <p:spPr>
          <a:xfrm>
            <a:off x="4647536" y="2686392"/>
            <a:ext cx="41278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etcétera. Bajo este género se pueden encontrar tanto producciones nacionales como extranjeras. </a:t>
            </a:r>
          </a:p>
        </p:txBody>
      </p:sp>
      <p:sp>
        <p:nvSpPr>
          <p:cNvPr id="264" name="ANUARIO_ANEXO_P124_L040"/>
          <p:cNvSpPr txBox="1"/>
          <p:nvPr/>
        </p:nvSpPr>
        <p:spPr>
          <a:xfrm>
            <a:off x="4647536" y="2793193"/>
            <a:ext cx="22002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miniseries también se agrupan en este formato.</a:t>
            </a:r>
          </a:p>
        </p:txBody>
      </p:sp>
      <p:sp>
        <p:nvSpPr>
          <p:cNvPr id="265" name="ANUARIO_ANEXO_P124_L041"/>
          <p:cNvSpPr txBox="1"/>
          <p:nvPr/>
        </p:nvSpPr>
        <p:spPr>
          <a:xfrm>
            <a:off x="4647536" y="3006114"/>
            <a:ext cx="41282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de televisión restringida:</a:t>
            </a:r>
            <a:r>
              <a:rPr sz="640" b="0" i="0">
                <a:solidFill>
                  <a:srgbClr val="1F3031"/>
                </a:solidFill>
                <a:latin typeface="Noto Sans"/>
              </a:rPr>
              <a:t> Servicio de telecomunicaciones de audio, o de audio y video </a:t>
            </a:r>
          </a:p>
        </p:txBody>
      </p:sp>
      <p:sp>
        <p:nvSpPr>
          <p:cNvPr id="266" name="ANUARIO_ANEXO_P124_L042"/>
          <p:cNvSpPr txBox="1"/>
          <p:nvPr/>
        </p:nvSpPr>
        <p:spPr>
          <a:xfrm>
            <a:off x="4647536" y="3113600"/>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asociados, que se presta a suscriptores, a través de redes públicas de telecomunicaciones, mediante </a:t>
            </a:r>
          </a:p>
        </p:txBody>
      </p:sp>
      <p:sp>
        <p:nvSpPr>
          <p:cNvPr id="267" name="ANUARIO_ANEXO_P124_L043"/>
          <p:cNvSpPr txBox="1"/>
          <p:nvPr/>
        </p:nvSpPr>
        <p:spPr>
          <a:xfrm>
            <a:off x="4647536" y="3220401"/>
            <a:ext cx="41284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contrato y el pago periódico de una cantidad preestablecida. Este servicio se mide en número de </a:t>
            </a:r>
          </a:p>
        </p:txBody>
      </p:sp>
      <p:sp>
        <p:nvSpPr>
          <p:cNvPr id="268" name="ANUARIO_ANEXO_P124_L044"/>
          <p:cNvSpPr txBox="1"/>
          <p:nvPr/>
        </p:nvSpPr>
        <p:spPr>
          <a:xfrm>
            <a:off x="4647536" y="3327203"/>
            <a:ext cx="4572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accesos.</a:t>
            </a:r>
          </a:p>
        </p:txBody>
      </p:sp>
      <p:sp>
        <p:nvSpPr>
          <p:cNvPr id="269" name="ANUARIO_ANEXO_P124_L045"/>
          <p:cNvSpPr txBox="1"/>
          <p:nvPr/>
        </p:nvSpPr>
        <p:spPr>
          <a:xfrm>
            <a:off x="4647536" y="3540123"/>
            <a:ext cx="41282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acceso a Internet:</a:t>
            </a:r>
            <a:r>
              <a:rPr sz="640" b="0" i="0">
                <a:solidFill>
                  <a:srgbClr val="1F3031"/>
                </a:solidFill>
                <a:latin typeface="Noto Sans"/>
              </a:rPr>
              <a:t> Mediante este servicio un operador provee el acceso por el cual </a:t>
            </a:r>
          </a:p>
        </p:txBody>
      </p:sp>
      <p:sp>
        <p:nvSpPr>
          <p:cNvPr id="270" name="ANUARIO_ANEXO_P124_L046"/>
          <p:cNvSpPr txBox="1"/>
          <p:nvPr/>
        </p:nvSpPr>
        <p:spPr>
          <a:xfrm>
            <a:off x="4647536" y="3647609"/>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presta el servicio de transferencia de datos a través de equipos terminales que tienen una ubicación </a:t>
            </a:r>
          </a:p>
        </p:txBody>
      </p:sp>
      <p:sp>
        <p:nvSpPr>
          <p:cNvPr id="271" name="ANUARIO_ANEXO_P124_L047"/>
          <p:cNvSpPr txBox="1"/>
          <p:nvPr/>
        </p:nvSpPr>
        <p:spPr>
          <a:xfrm>
            <a:off x="4647536" y="3754411"/>
            <a:ext cx="29174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Este servicio se mide en número de accesos.</a:t>
            </a:r>
          </a:p>
        </p:txBody>
      </p:sp>
      <p:sp>
        <p:nvSpPr>
          <p:cNvPr id="272" name="ANUARIO_ANEXO_P124_L048"/>
          <p:cNvSpPr txBox="1"/>
          <p:nvPr/>
        </p:nvSpPr>
        <p:spPr>
          <a:xfrm>
            <a:off x="4647536" y="3967331"/>
            <a:ext cx="412814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telefonía:</a:t>
            </a:r>
            <a:r>
              <a:rPr sz="640" b="0" i="0">
                <a:solidFill>
                  <a:srgbClr val="1F3031"/>
                </a:solidFill>
                <a:latin typeface="Noto Sans"/>
              </a:rPr>
              <a:t> Mediante este servicio un operador provee el acceso por el cual presta el </a:t>
            </a:r>
          </a:p>
        </p:txBody>
      </p:sp>
      <p:sp>
        <p:nvSpPr>
          <p:cNvPr id="273" name="ANUARIO_ANEXO_P124_L049"/>
          <p:cNvSpPr txBox="1"/>
          <p:nvPr/>
        </p:nvSpPr>
        <p:spPr>
          <a:xfrm>
            <a:off x="4647536" y="4074817"/>
            <a:ext cx="4127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servicio de transporte de voz, a través de equipos terminales que tienen una ubicación geográfica </a:t>
            </a:r>
          </a:p>
        </p:txBody>
      </p:sp>
      <p:sp>
        <p:nvSpPr>
          <p:cNvPr id="274" name="ANUARIO_ANEXO_P124_L050"/>
          <p:cNvSpPr txBox="1"/>
          <p:nvPr/>
        </p:nvSpPr>
        <p:spPr>
          <a:xfrm>
            <a:off x="4647536" y="4181619"/>
            <a:ext cx="41279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permite, además de efectuar y recibir llamadas locales y/o de larga </a:t>
            </a:r>
          </a:p>
        </p:txBody>
      </p:sp>
      <p:sp>
        <p:nvSpPr>
          <p:cNvPr id="275" name="ANUARIO_ANEXO_P124_L051"/>
          <p:cNvSpPr txBox="1"/>
          <p:nvPr/>
        </p:nvSpPr>
        <p:spPr>
          <a:xfrm>
            <a:off x="4647536" y="4288421"/>
            <a:ext cx="41283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hacer uso de una serie de servicios adicionales tales como acceso a servicios </a:t>
            </a:r>
          </a:p>
        </p:txBody>
      </p:sp>
      <p:sp>
        <p:nvSpPr>
          <p:cNvPr id="276" name="ANUARIO_ANEXO_P124_L052"/>
          <p:cNvSpPr txBox="1"/>
          <p:nvPr/>
        </p:nvSpPr>
        <p:spPr>
          <a:xfrm>
            <a:off x="4647536" y="4395223"/>
            <a:ext cx="35891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emergencia o servicios suplementarios, entre otros. Este servicio se mide en líneas.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5"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125</a:t>
            </a:r>
          </a:p>
        </p:txBody>
      </p:sp>
      <p:sp>
        <p:nvSpPr>
          <p:cNvPr id="225" name="ANUARIO_TABLA_REFERENCIA_0"/>
          <p:cNvSpPr/>
          <p:nvPr/>
        </p:nvSpPr>
        <p:spPr>
          <a:xfrm>
            <a:off x="4648234" y="2112387"/>
            <a:ext cx="4129490" cy="2264360"/>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6" name="Connector 225"/>
          <p:cNvCxnSpPr/>
          <p:nvPr/>
        </p:nvCxnSpPr>
        <p:spPr>
          <a:xfrm>
            <a:off x="4648234" y="2265354"/>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648234" y="2960100"/>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648234" y="331708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648234" y="347002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648234" y="3624355"/>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48234" y="384623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48234" y="4068117"/>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648234" y="422244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4" name="ANUARIO_ANEXO_P125_L001"/>
          <p:cNvSpPr txBox="1"/>
          <p:nvPr/>
        </p:nvSpPr>
        <p:spPr>
          <a:xfrm>
            <a:off x="528422" y="656471"/>
            <a:ext cx="412829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a:t>
            </a:r>
            <a:r>
              <a:rPr sz="640" b="0" i="0">
                <a:solidFill>
                  <a:srgbClr val="1F3031"/>
                </a:solidFill>
                <a:latin typeface="Noto Sans"/>
              </a:rPr>
              <a:t> Servicio de telecomunicaciones para usuarios finales, que se puede prestar mientras </a:t>
            </a:r>
          </a:p>
        </p:txBody>
      </p:sp>
      <p:sp>
        <p:nvSpPr>
          <p:cNvPr id="235" name="ANUARIO_ANEXO_P125_L002"/>
          <p:cNvSpPr txBox="1"/>
          <p:nvPr/>
        </p:nvSpPr>
        <p:spPr>
          <a:xfrm>
            <a:off x="528422" y="765026"/>
            <a:ext cx="412832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Equipo Terminal se encuentra sin movilidad, o con movilidad limitada a un área geográfica </a:t>
            </a:r>
          </a:p>
        </p:txBody>
      </p:sp>
      <p:sp>
        <p:nvSpPr>
          <p:cNvPr id="236" name="ANUARIO_ANEXO_P125_L003"/>
          <p:cNvSpPr txBox="1"/>
          <p:nvPr/>
        </p:nvSpPr>
        <p:spPr>
          <a:xfrm>
            <a:off x="528422" y="872896"/>
            <a:ext cx="28959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por el Operador, independientemente de su Cobertura.</a:t>
            </a:r>
          </a:p>
        </p:txBody>
      </p:sp>
      <p:sp>
        <p:nvSpPr>
          <p:cNvPr id="237" name="ANUARIO_ANEXO_P125_L004"/>
          <p:cNvSpPr txBox="1"/>
          <p:nvPr/>
        </p:nvSpPr>
        <p:spPr>
          <a:xfrm>
            <a:off x="528422" y="1070864"/>
            <a:ext cx="412821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acceso a Internet:</a:t>
            </a:r>
            <a:r>
              <a:rPr sz="640" b="0" i="0">
                <a:solidFill>
                  <a:srgbClr val="1F3031"/>
                </a:solidFill>
                <a:latin typeface="Noto Sans"/>
              </a:rPr>
              <a:t> Este servicio permite enviar y recibir datos dentro del territorio </a:t>
            </a:r>
          </a:p>
        </p:txBody>
      </p:sp>
      <p:sp>
        <p:nvSpPr>
          <p:cNvPr id="238" name="ANUARIO_ANEXO_P125_L005"/>
          <p:cNvSpPr txBox="1"/>
          <p:nvPr/>
        </p:nvSpPr>
        <p:spPr>
          <a:xfrm>
            <a:off x="528422" y="1179418"/>
            <a:ext cx="412823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y/o en itinerancia, a través de equipos terminales que no tienen una ubicación geográfica </a:t>
            </a:r>
          </a:p>
        </p:txBody>
      </p:sp>
      <p:sp>
        <p:nvSpPr>
          <p:cNvPr id="239" name="ANUARIO_ANEXO_P125_L006"/>
          <p:cNvSpPr txBox="1"/>
          <p:nvPr/>
        </p:nvSpPr>
        <p:spPr>
          <a:xfrm>
            <a:off x="528422" y="1287288"/>
            <a:ext cx="19167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se mide en líneas.</a:t>
            </a:r>
          </a:p>
        </p:txBody>
      </p:sp>
      <p:sp>
        <p:nvSpPr>
          <p:cNvPr id="240" name="ANUARIO_ANEXO_P125_L007"/>
          <p:cNvSpPr txBox="1"/>
          <p:nvPr/>
        </p:nvSpPr>
        <p:spPr>
          <a:xfrm>
            <a:off x="528422" y="1485257"/>
            <a:ext cx="412794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telefonía:</a:t>
            </a:r>
            <a:r>
              <a:rPr sz="640" b="0" i="0">
                <a:solidFill>
                  <a:srgbClr val="1F3031"/>
                </a:solidFill>
                <a:latin typeface="Noto Sans"/>
              </a:rPr>
              <a:t> Este servicio permite efectuar y recibir llamadas locales, de larga </a:t>
            </a:r>
          </a:p>
        </p:txBody>
      </p:sp>
      <p:sp>
        <p:nvSpPr>
          <p:cNvPr id="241" name="ANUARIO_ANEXO_P125_L008"/>
          <p:cNvSpPr txBox="1"/>
          <p:nvPr/>
        </p:nvSpPr>
        <p:spPr>
          <a:xfrm>
            <a:off x="528422" y="159381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y/o de itinerancia a través de equipos terminales que no tienen una ubicación </a:t>
            </a:r>
          </a:p>
        </p:txBody>
      </p:sp>
      <p:sp>
        <p:nvSpPr>
          <p:cNvPr id="242" name="ANUARIO_ANEXO_P125_L009"/>
          <p:cNvSpPr txBox="1"/>
          <p:nvPr/>
        </p:nvSpPr>
        <p:spPr>
          <a:xfrm>
            <a:off x="528422" y="1701680"/>
            <a:ext cx="41285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además permite hacer uso de una serie de servicios adicionales tales como </a:t>
            </a:r>
          </a:p>
        </p:txBody>
      </p:sp>
      <p:sp>
        <p:nvSpPr>
          <p:cNvPr id="243" name="ANUARIO_ANEXO_P125_L010"/>
          <p:cNvSpPr txBox="1"/>
          <p:nvPr/>
        </p:nvSpPr>
        <p:spPr>
          <a:xfrm>
            <a:off x="528422" y="1809550"/>
            <a:ext cx="41280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 a servicios de emergencia o servicios suplementarios, entre otros. Este servicio se mide en </a:t>
            </a:r>
          </a:p>
        </p:txBody>
      </p:sp>
      <p:sp>
        <p:nvSpPr>
          <p:cNvPr id="244" name="ANUARIO_ANEXO_P125_L011"/>
          <p:cNvSpPr txBox="1"/>
          <p:nvPr/>
        </p:nvSpPr>
        <p:spPr>
          <a:xfrm>
            <a:off x="528422" y="1917420"/>
            <a:ext cx="37469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líneas.</a:t>
            </a:r>
          </a:p>
        </p:txBody>
      </p:sp>
      <p:sp>
        <p:nvSpPr>
          <p:cNvPr id="245" name="ANUARIO_ANEXO_P125_L012"/>
          <p:cNvSpPr txBox="1"/>
          <p:nvPr/>
        </p:nvSpPr>
        <p:spPr>
          <a:xfrm>
            <a:off x="528422" y="2115389"/>
            <a:ext cx="412815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a:t>
            </a:r>
            <a:r>
              <a:rPr sz="640" b="0" i="0">
                <a:solidFill>
                  <a:srgbClr val="1F3031"/>
                </a:solidFill>
                <a:latin typeface="Noto Sans"/>
              </a:rPr>
              <a:t> Servicio de telecomunicaciones para usuarios finales que se puede prestar en </a:t>
            </a:r>
          </a:p>
        </p:txBody>
      </p:sp>
      <p:sp>
        <p:nvSpPr>
          <p:cNvPr id="246" name="ANUARIO_ANEXO_P125_L013"/>
          <p:cNvSpPr txBox="1"/>
          <p:nvPr/>
        </p:nvSpPr>
        <p:spPr>
          <a:xfrm>
            <a:off x="528422" y="2223942"/>
            <a:ext cx="41276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movilidad mientras el Equipo Terminal se encuentre en cualquier área geográfica dentro de la </a:t>
            </a:r>
          </a:p>
        </p:txBody>
      </p:sp>
      <p:sp>
        <p:nvSpPr>
          <p:cNvPr id="247" name="ANUARIO_ANEXO_P125_L014"/>
          <p:cNvSpPr txBox="1"/>
          <p:nvPr/>
        </p:nvSpPr>
        <p:spPr>
          <a:xfrm>
            <a:off x="528422" y="2331813"/>
            <a:ext cx="113751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Cobertura del Operador. </a:t>
            </a:r>
          </a:p>
        </p:txBody>
      </p:sp>
      <p:sp>
        <p:nvSpPr>
          <p:cNvPr id="248" name="ANUARIO_ANEXO_P125_L015"/>
          <p:cNvSpPr txBox="1"/>
          <p:nvPr/>
        </p:nvSpPr>
        <p:spPr>
          <a:xfrm>
            <a:off x="528422" y="2529782"/>
            <a:ext cx="1719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a:t>
            </a:r>
          </a:p>
        </p:txBody>
      </p:sp>
      <p:sp>
        <p:nvSpPr>
          <p:cNvPr id="249" name="ANUARIO_ANEXO_P125_L016"/>
          <p:cNvSpPr txBox="1"/>
          <p:nvPr/>
        </p:nvSpPr>
        <p:spPr>
          <a:xfrm>
            <a:off x="528422" y="2728433"/>
            <a:ext cx="4127895"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Talk show</a:t>
            </a:r>
            <a:r>
              <a:rPr sz="640" b="1" i="0">
                <a:solidFill>
                  <a:srgbClr val="1F3031"/>
                </a:solidFill>
                <a:latin typeface="Noto Sans"/>
              </a:rPr>
              <a:t>:</a:t>
            </a:r>
            <a:r>
              <a:rPr sz="640" b="0" i="0">
                <a:solidFill>
                  <a:srgbClr val="1F3031"/>
                </a:solidFill>
                <a:latin typeface="Noto Sans"/>
              </a:rPr>
              <a:t> Programa de televisión en el que varios invitados hablan sobre un tema de actualidad o </a:t>
            </a:r>
          </a:p>
        </p:txBody>
      </p:sp>
      <p:sp>
        <p:nvSpPr>
          <p:cNvPr id="250" name="ANUARIO_ANEXO_P125_L017"/>
          <p:cNvSpPr txBox="1"/>
          <p:nvPr/>
        </p:nvSpPr>
        <p:spPr>
          <a:xfrm>
            <a:off x="528422" y="2836987"/>
            <a:ext cx="32696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brindan testimonios personales (los invitados no son especialistas en el tema).</a:t>
            </a:r>
          </a:p>
        </p:txBody>
      </p:sp>
      <p:sp>
        <p:nvSpPr>
          <p:cNvPr id="251" name="ANUARIO_ANEXO_P125_L018"/>
          <p:cNvSpPr txBox="1"/>
          <p:nvPr/>
        </p:nvSpPr>
        <p:spPr>
          <a:xfrm>
            <a:off x="528422" y="3034955"/>
            <a:ext cx="412822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Telehogares:</a:t>
            </a:r>
            <a:r>
              <a:rPr sz="640" b="0" i="0">
                <a:solidFill>
                  <a:srgbClr val="1F3031"/>
                </a:solidFill>
                <a:latin typeface="Noto Sans"/>
              </a:rPr>
              <a:t> Hogares en los cuales reside de forma permanente al menos una persona y cuentan </a:t>
            </a:r>
          </a:p>
        </p:txBody>
      </p:sp>
      <p:sp>
        <p:nvSpPr>
          <p:cNvPr id="252" name="ANUARIO_ANEXO_P125_L019"/>
          <p:cNvSpPr txBox="1"/>
          <p:nvPr/>
        </p:nvSpPr>
        <p:spPr>
          <a:xfrm>
            <a:off x="528422" y="3143509"/>
            <a:ext cx="18327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 menos con un aparato de televisión.</a:t>
            </a:r>
          </a:p>
        </p:txBody>
      </p:sp>
      <p:sp>
        <p:nvSpPr>
          <p:cNvPr id="253" name="ANUARIO_ANEXO_P125_L020"/>
          <p:cNvSpPr txBox="1"/>
          <p:nvPr/>
        </p:nvSpPr>
        <p:spPr>
          <a:xfrm>
            <a:off x="528422" y="3341477"/>
            <a:ext cx="412841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Telenovelas:</a:t>
            </a:r>
            <a:r>
              <a:rPr sz="640" b="0" i="0">
                <a:solidFill>
                  <a:srgbClr val="1F3031"/>
                </a:solidFill>
                <a:latin typeface="Noto Sans"/>
              </a:rPr>
              <a:t> Historias o novelas producidas para la televisión, transmitidas en episodios diarios </a:t>
            </a:r>
          </a:p>
        </p:txBody>
      </p:sp>
      <p:sp>
        <p:nvSpPr>
          <p:cNvPr id="254" name="ANUARIO_ANEXO_P125_L021"/>
          <p:cNvSpPr txBox="1"/>
          <p:nvPr/>
        </p:nvSpPr>
        <p:spPr>
          <a:xfrm>
            <a:off x="528422" y="3450031"/>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consecutivos. Narran una historia ficticia –aunque puede estar basada en hechos reales— </a:t>
            </a:r>
          </a:p>
        </p:txBody>
      </p:sp>
      <p:sp>
        <p:nvSpPr>
          <p:cNvPr id="255" name="ANUARIO_ANEXO_P125_L022"/>
          <p:cNvSpPr txBox="1"/>
          <p:nvPr/>
        </p:nvSpPr>
        <p:spPr>
          <a:xfrm>
            <a:off x="528422" y="3557901"/>
            <a:ext cx="412793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contenido melodramático, sin que se excluyan otros géneros, y cada capítulo cuenta con los </a:t>
            </a:r>
          </a:p>
        </p:txBody>
      </p:sp>
      <p:sp>
        <p:nvSpPr>
          <p:cNvPr id="256" name="ANUARIO_ANEXO_P125_L023"/>
          <p:cNvSpPr txBox="1"/>
          <p:nvPr/>
        </p:nvSpPr>
        <p:spPr>
          <a:xfrm>
            <a:off x="528422" y="3665772"/>
            <a:ext cx="41283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elementos inicio, desarrollo, clímax y, al término, una situación de suspenso que puede ser coincidente </a:t>
            </a:r>
          </a:p>
        </p:txBody>
      </p:sp>
      <p:sp>
        <p:nvSpPr>
          <p:cNvPr id="257" name="ANUARIO_ANEXO_P125_L024"/>
          <p:cNvSpPr txBox="1"/>
          <p:nvPr/>
        </p:nvSpPr>
        <p:spPr>
          <a:xfrm>
            <a:off x="528422" y="3773642"/>
            <a:ext cx="66757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el clímax.</a:t>
            </a:r>
          </a:p>
        </p:txBody>
      </p:sp>
      <p:sp>
        <p:nvSpPr>
          <p:cNvPr id="258" name="ANUARIO_ANEXO_P125_L025"/>
          <p:cNvSpPr txBox="1"/>
          <p:nvPr/>
        </p:nvSpPr>
        <p:spPr>
          <a:xfrm>
            <a:off x="528422" y="3971609"/>
            <a:ext cx="41281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Televisión por protocolo de Internet (IPTV, por sus siglas en inglés </a:t>
            </a:r>
            <a:r>
              <a:rPr sz="640" b="1" i="1">
                <a:solidFill>
                  <a:srgbClr val="1F3031"/>
                </a:solidFill>
                <a:latin typeface="Noto Sans"/>
              </a:rPr>
              <a:t>Internet Protocol Television</a:t>
            </a:r>
            <a:r>
              <a:rPr sz="640" b="1" i="0">
                <a:solidFill>
                  <a:srgbClr val="1F3031"/>
                </a:solidFill>
                <a:latin typeface="Noto Sans"/>
              </a:rPr>
              <a:t>):</a:t>
            </a:r>
            <a:r>
              <a:rPr sz="640" b="0" i="0">
                <a:solidFill>
                  <a:srgbClr val="1F3031"/>
                </a:solidFill>
                <a:latin typeface="Noto Sans"/>
              </a:rPr>
              <a:t> La </a:t>
            </a:r>
          </a:p>
        </p:txBody>
      </p:sp>
      <p:sp>
        <p:nvSpPr>
          <p:cNvPr id="259" name="ANUARIO_ANEXO_P125_L026"/>
          <p:cNvSpPr txBox="1"/>
          <p:nvPr/>
        </p:nvSpPr>
        <p:spPr>
          <a:xfrm>
            <a:off x="528422" y="4080164"/>
            <a:ext cx="41276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televisión sobre el protocolo IP o IPTV es una tecnología que permite que los servicios de televisión </a:t>
            </a:r>
          </a:p>
        </p:txBody>
      </p:sp>
      <p:sp>
        <p:nvSpPr>
          <p:cNvPr id="260" name="ANUARIO_ANEXO_P125_L027"/>
          <p:cNvSpPr txBox="1"/>
          <p:nvPr/>
        </p:nvSpPr>
        <p:spPr>
          <a:xfrm>
            <a:off x="528422" y="4188034"/>
            <a:ext cx="41284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sean emitidos a través de la banda ancha de una red de paquete de datos privados mediante el uso </a:t>
            </a:r>
          </a:p>
        </p:txBody>
      </p:sp>
      <p:sp>
        <p:nvSpPr>
          <p:cNvPr id="261" name="ANUARIO_ANEXO_P125_L028"/>
          <p:cNvSpPr txBox="1"/>
          <p:nvPr/>
        </p:nvSpPr>
        <p:spPr>
          <a:xfrm>
            <a:off x="528422" y="4295904"/>
            <a:ext cx="115845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protocolo de Internet.</a:t>
            </a:r>
          </a:p>
        </p:txBody>
      </p:sp>
      <p:sp>
        <p:nvSpPr>
          <p:cNvPr id="262" name="ANUARIO_ANEXO_P125_L029"/>
          <p:cNvSpPr txBox="1"/>
          <p:nvPr/>
        </p:nvSpPr>
        <p:spPr>
          <a:xfrm>
            <a:off x="4647536" y="656471"/>
            <a:ext cx="18489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a:t>
            </a:r>
          </a:p>
        </p:txBody>
      </p:sp>
      <p:sp>
        <p:nvSpPr>
          <p:cNvPr id="263" name="ANUARIO_ANEXO_P125_L030"/>
          <p:cNvSpPr txBox="1"/>
          <p:nvPr/>
        </p:nvSpPr>
        <p:spPr>
          <a:xfrm>
            <a:off x="4647536" y="877083"/>
            <a:ext cx="41282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Unidades Económicas (UE):</a:t>
            </a:r>
            <a:r>
              <a:rPr sz="640" b="0" i="0">
                <a:solidFill>
                  <a:srgbClr val="1F3031"/>
                </a:solidFill>
                <a:latin typeface="Noto Sans"/>
              </a:rPr>
              <a:t> Son las unidades estadísticas sobre las cuales se recopilan datos, </a:t>
            </a:r>
          </a:p>
        </p:txBody>
      </p:sp>
      <p:sp>
        <p:nvSpPr>
          <p:cNvPr id="264" name="ANUARIO_ANEXO_P125_L031"/>
          <p:cNvSpPr txBox="1"/>
          <p:nvPr/>
        </p:nvSpPr>
        <p:spPr>
          <a:xfrm>
            <a:off x="4647536" y="991575"/>
            <a:ext cx="412796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dedican principalmente a un tipo de actividad de manera permanente en construcciones e </a:t>
            </a:r>
          </a:p>
        </p:txBody>
      </p:sp>
      <p:sp>
        <p:nvSpPr>
          <p:cNvPr id="265" name="ANUARIO_ANEXO_P125_L032"/>
          <p:cNvSpPr txBox="1"/>
          <p:nvPr/>
        </p:nvSpPr>
        <p:spPr>
          <a:xfrm>
            <a:off x="4647536" y="1105384"/>
            <a:ext cx="41277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instalaciones fijas, combinando acciones y recursos bajo el control de una sola entidad propietaria o </a:t>
            </a:r>
          </a:p>
        </p:txBody>
      </p:sp>
      <p:sp>
        <p:nvSpPr>
          <p:cNvPr id="266" name="ANUARIO_ANEXO_P125_L033"/>
          <p:cNvSpPr txBox="1"/>
          <p:nvPr/>
        </p:nvSpPr>
        <p:spPr>
          <a:xfrm>
            <a:off x="4647536" y="1219193"/>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controladora, para llevar a cabo producción de bienes y servicios, sea con fines mercantiles o no. Se </a:t>
            </a:r>
          </a:p>
        </p:txBody>
      </p:sp>
      <p:sp>
        <p:nvSpPr>
          <p:cNvPr id="267" name="ANUARIO_ANEXO_P125_L034"/>
          <p:cNvSpPr txBox="1"/>
          <p:nvPr/>
        </p:nvSpPr>
        <p:spPr>
          <a:xfrm>
            <a:off x="4647536" y="1333002"/>
            <a:ext cx="412842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definen por sector de acuerdo con la disponibilidad de registros contables y la necesidad de obtener </a:t>
            </a:r>
          </a:p>
        </p:txBody>
      </p:sp>
      <p:sp>
        <p:nvSpPr>
          <p:cNvPr id="268" name="ANUARIO_ANEXO_P125_L035"/>
          <p:cNvSpPr txBox="1"/>
          <p:nvPr/>
        </p:nvSpPr>
        <p:spPr>
          <a:xfrm>
            <a:off x="4647536" y="1446811"/>
            <a:ext cx="22690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con el mayor nivel de precisión analítica.</a:t>
            </a:r>
          </a:p>
        </p:txBody>
      </p:sp>
      <p:sp>
        <p:nvSpPr>
          <p:cNvPr id="269" name="ANUARIO_ANEXO_P125_L036"/>
          <p:cNvSpPr txBox="1"/>
          <p:nvPr/>
        </p:nvSpPr>
        <p:spPr>
          <a:xfrm>
            <a:off x="4647536" y="1666738"/>
            <a:ext cx="412833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Universo:</a:t>
            </a:r>
            <a:r>
              <a:rPr sz="640" b="0" i="0">
                <a:solidFill>
                  <a:srgbClr val="1F3031"/>
                </a:solidFill>
                <a:latin typeface="Noto Sans"/>
              </a:rPr>
              <a:t> Conjunto de individuos o elementos que tienen una o más características en común y que </a:t>
            </a:r>
          </a:p>
        </p:txBody>
      </p:sp>
      <p:sp>
        <p:nvSpPr>
          <p:cNvPr id="270" name="ANUARIO_ANEXO_P125_L037"/>
          <p:cNvSpPr txBox="1"/>
          <p:nvPr/>
        </p:nvSpPr>
        <p:spPr>
          <a:xfrm>
            <a:off x="4647536" y="1781231"/>
            <a:ext cx="412778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someten a un estudio estadístico. En este caso conformado por los individuos capaces de recibir </a:t>
            </a:r>
          </a:p>
        </p:txBody>
      </p:sp>
      <p:sp>
        <p:nvSpPr>
          <p:cNvPr id="271" name="ANUARIO_ANEXO_P125_L038"/>
          <p:cNvSpPr txBox="1"/>
          <p:nvPr/>
        </p:nvSpPr>
        <p:spPr>
          <a:xfrm>
            <a:off x="4647536" y="1895040"/>
            <a:ext cx="22653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señales de audio y video asociado (televisión) o radio.</a:t>
            </a:r>
          </a:p>
        </p:txBody>
      </p:sp>
      <p:sp>
        <p:nvSpPr>
          <p:cNvPr id="272" name="ANUARIO_ANEXO_P125_L039"/>
          <p:cNvSpPr txBox="1"/>
          <p:nvPr/>
        </p:nvSpPr>
        <p:spPr>
          <a:xfrm>
            <a:off x="5502008" y="2145346"/>
            <a:ext cx="477989"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Televisión</a:t>
            </a:r>
          </a:p>
        </p:txBody>
      </p:sp>
      <p:sp>
        <p:nvSpPr>
          <p:cNvPr id="273" name="ANUARIO_ANEXO_P125_L040"/>
          <p:cNvSpPr txBox="1"/>
          <p:nvPr/>
        </p:nvSpPr>
        <p:spPr>
          <a:xfrm>
            <a:off x="7642940" y="2145346"/>
            <a:ext cx="326966"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Radio</a:t>
            </a:r>
          </a:p>
        </p:txBody>
      </p:sp>
      <p:sp>
        <p:nvSpPr>
          <p:cNvPr id="274" name="ANUARIO_ANEXO_P125_L041"/>
          <p:cNvSpPr txBox="1"/>
          <p:nvPr/>
        </p:nvSpPr>
        <p:spPr>
          <a:xfrm>
            <a:off x="4742180"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75" name="ANUARIO_ANEXO_P125_L042"/>
          <p:cNvSpPr txBox="1"/>
          <p:nvPr/>
        </p:nvSpPr>
        <p:spPr>
          <a:xfrm>
            <a:off x="5587522" y="2406381"/>
            <a:ext cx="111027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4 o más años que </a:t>
            </a:r>
          </a:p>
        </p:txBody>
      </p:sp>
      <p:sp>
        <p:nvSpPr>
          <p:cNvPr id="276" name="ANUARIO_ANEXO_P125_L043"/>
          <p:cNvSpPr txBox="1"/>
          <p:nvPr/>
        </p:nvSpPr>
        <p:spPr>
          <a:xfrm>
            <a:off x="5508681" y="2489686"/>
            <a:ext cx="126796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cuenten con un televisor funcional </a:t>
            </a:r>
          </a:p>
        </p:txBody>
      </p:sp>
      <p:sp>
        <p:nvSpPr>
          <p:cNvPr id="277" name="ANUARIO_ANEXO_P125_L044"/>
          <p:cNvSpPr txBox="1"/>
          <p:nvPr/>
        </p:nvSpPr>
        <p:spPr>
          <a:xfrm>
            <a:off x="5605982" y="2572992"/>
            <a:ext cx="107335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en el hogar. Se incluyen a los </a:t>
            </a:r>
          </a:p>
        </p:txBody>
      </p:sp>
      <p:sp>
        <p:nvSpPr>
          <p:cNvPr id="278" name="ANUARIO_ANEXO_P125_L045"/>
          <p:cNvSpPr txBox="1"/>
          <p:nvPr/>
        </p:nvSpPr>
        <p:spPr>
          <a:xfrm>
            <a:off x="5463182" y="2656159"/>
            <a:ext cx="1358952" cy="125078"/>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usuarios visitantes en el hogar (</a:t>
            </a:r>
            <a:r>
              <a:rPr sz="520" b="0" i="1">
                <a:solidFill>
                  <a:srgbClr val="1F3031"/>
                </a:solidFill>
                <a:latin typeface="Noto Sans"/>
              </a:rPr>
              <a:t>Guest </a:t>
            </a:r>
          </a:p>
        </p:txBody>
      </p:sp>
      <p:sp>
        <p:nvSpPr>
          <p:cNvPr id="279" name="ANUARIO_ANEXO_P125_L046"/>
          <p:cNvSpPr txBox="1"/>
          <p:nvPr/>
        </p:nvSpPr>
        <p:spPr>
          <a:xfrm>
            <a:off x="5910162" y="2739464"/>
            <a:ext cx="448346" cy="125078"/>
          </a:xfrm>
          <a:prstGeom prst="rect">
            <a:avLst/>
          </a:prstGeom>
          <a:noFill/>
        </p:spPr>
        <p:txBody>
          <a:bodyPr wrap="none" lIns="0" rIns="0" tIns="0" bIns="0">
            <a:noAutofit/>
          </a:bodyPr>
          <a:lstStyle/>
          <a:p>
            <a:pPr>
              <a:spcBef>
                <a:spcPts val="0"/>
              </a:spcBef>
              <a:spcAft>
                <a:spcPts val="0"/>
              </a:spcAft>
            </a:pPr>
            <a:r>
              <a:rPr sz="520" b="0" i="1">
                <a:solidFill>
                  <a:srgbClr val="1F3031"/>
                </a:solidFill>
                <a:latin typeface="Noto Sans"/>
              </a:rPr>
              <a:t>Viewers</a:t>
            </a:r>
            <a:r>
              <a:rPr sz="520" b="0" i="0">
                <a:solidFill>
                  <a:srgbClr val="1F3031"/>
                </a:solidFill>
                <a:latin typeface="Noto Sans"/>
              </a:rPr>
              <a:t>).</a:t>
            </a:r>
            <a:r>
              <a:rPr sz="303" b="0" i="0">
                <a:solidFill>
                  <a:srgbClr val="1F3031"/>
                </a:solidFill>
                <a:latin typeface="Noto Sans"/>
              </a:rPr>
              <a:t>12</a:t>
            </a:r>
          </a:p>
        </p:txBody>
      </p:sp>
      <p:sp>
        <p:nvSpPr>
          <p:cNvPr id="280" name="ANUARIO_ANEXO_P125_L047"/>
          <p:cNvSpPr txBox="1"/>
          <p:nvPr/>
        </p:nvSpPr>
        <p:spPr>
          <a:xfrm>
            <a:off x="6816691"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81" name="ANUARIO_ANEXO_P125_L048"/>
          <p:cNvSpPr txBox="1"/>
          <p:nvPr/>
        </p:nvSpPr>
        <p:spPr>
          <a:xfrm>
            <a:off x="7627455" y="2572992"/>
            <a:ext cx="1160303"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8 años en adelante.</a:t>
            </a:r>
          </a:p>
        </p:txBody>
      </p:sp>
      <p:sp>
        <p:nvSpPr>
          <p:cNvPr id="282" name="ANUARIO_ANEXO_P125_L049"/>
          <p:cNvSpPr txBox="1"/>
          <p:nvPr/>
        </p:nvSpPr>
        <p:spPr>
          <a:xfrm>
            <a:off x="4854878" y="3095056"/>
            <a:ext cx="492249"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3" name="ANUARIO_ANEXO_P125_L050"/>
          <p:cNvSpPr txBox="1"/>
          <p:nvPr/>
        </p:nvSpPr>
        <p:spPr>
          <a:xfrm>
            <a:off x="5575104" y="3057205"/>
            <a:ext cx="113511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 ciudades que comprende el </a:t>
            </a:r>
          </a:p>
        </p:txBody>
      </p:sp>
      <p:sp>
        <p:nvSpPr>
          <p:cNvPr id="284" name="ANUARIO_ANEXO_P125_L051"/>
          <p:cNvSpPr txBox="1"/>
          <p:nvPr/>
        </p:nvSpPr>
        <p:spPr>
          <a:xfrm>
            <a:off x="5529385" y="3140511"/>
            <a:ext cx="120989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estudio de Nielsen IBOPE México</a:t>
            </a:r>
          </a:p>
        </p:txBody>
      </p:sp>
      <p:sp>
        <p:nvSpPr>
          <p:cNvPr id="285" name="ANUARIO_ANEXO_P125_L052"/>
          <p:cNvSpPr txBox="1"/>
          <p:nvPr/>
        </p:nvSpPr>
        <p:spPr>
          <a:xfrm>
            <a:off x="6929390" y="3095056"/>
            <a:ext cx="492250"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6" name="ANUARIO_ANEXO_P125_L053"/>
          <p:cNvSpPr txBox="1"/>
          <p:nvPr/>
        </p:nvSpPr>
        <p:spPr>
          <a:xfrm>
            <a:off x="7612033" y="3057205"/>
            <a:ext cx="12077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Ciudad de México, Guadalajara y </a:t>
            </a:r>
          </a:p>
        </p:txBody>
      </p:sp>
      <p:sp>
        <p:nvSpPr>
          <p:cNvPr id="287" name="ANUARIO_ANEXO_P125_L054"/>
          <p:cNvSpPr txBox="1"/>
          <p:nvPr/>
        </p:nvSpPr>
        <p:spPr>
          <a:xfrm>
            <a:off x="7974705" y="3140511"/>
            <a:ext cx="46580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Monterrey</a:t>
            </a:r>
          </a:p>
        </p:txBody>
      </p:sp>
      <p:sp>
        <p:nvSpPr>
          <p:cNvPr id="288" name="ANUARIO_ANEXO_P125_L055"/>
          <p:cNvSpPr txBox="1"/>
          <p:nvPr/>
        </p:nvSpPr>
        <p:spPr>
          <a:xfrm>
            <a:off x="5520290" y="3350018"/>
            <a:ext cx="441422"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a:t>
            </a:r>
          </a:p>
        </p:txBody>
      </p:sp>
      <p:sp>
        <p:nvSpPr>
          <p:cNvPr id="289" name="ANUARIO_ANEXO_P125_L056"/>
          <p:cNvSpPr txBox="1"/>
          <p:nvPr/>
        </p:nvSpPr>
        <p:spPr>
          <a:xfrm>
            <a:off x="7568092" y="3427183"/>
            <a:ext cx="47666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Universos</a:t>
            </a:r>
          </a:p>
        </p:txBody>
      </p:sp>
      <p:sp>
        <p:nvSpPr>
          <p:cNvPr id="290" name="ANUARIO_ANEXO_P125_L057"/>
          <p:cNvSpPr txBox="1"/>
          <p:nvPr/>
        </p:nvSpPr>
        <p:spPr>
          <a:xfrm>
            <a:off x="4818937" y="3503652"/>
            <a:ext cx="564134"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28 Ciudades</a:t>
            </a:r>
          </a:p>
        </p:txBody>
      </p:sp>
      <p:sp>
        <p:nvSpPr>
          <p:cNvPr id="291" name="ANUARIO_ANEXO_P125_L058"/>
          <p:cNvSpPr txBox="1"/>
          <p:nvPr/>
        </p:nvSpPr>
        <p:spPr>
          <a:xfrm>
            <a:off x="5910449" y="3507455"/>
            <a:ext cx="44776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58,151,356</a:t>
            </a:r>
          </a:p>
        </p:txBody>
      </p:sp>
      <p:sp>
        <p:nvSpPr>
          <p:cNvPr id="292" name="ANUARIO_ANEXO_P125_L059"/>
          <p:cNvSpPr txBox="1"/>
          <p:nvPr/>
        </p:nvSpPr>
        <p:spPr>
          <a:xfrm>
            <a:off x="4717851" y="3691757"/>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3" name="ANUARIO_ANEXO_P125_L060"/>
          <p:cNvSpPr txBox="1"/>
          <p:nvPr/>
        </p:nvSpPr>
        <p:spPr>
          <a:xfrm>
            <a:off x="5899156" y="3695560"/>
            <a:ext cx="47035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20,258,180</a:t>
            </a:r>
          </a:p>
        </p:txBody>
      </p:sp>
      <p:sp>
        <p:nvSpPr>
          <p:cNvPr id="294" name="ANUARIO_ANEXO_P125_L061"/>
          <p:cNvSpPr txBox="1"/>
          <p:nvPr/>
        </p:nvSpPr>
        <p:spPr>
          <a:xfrm>
            <a:off x="6826865" y="3691757"/>
            <a:ext cx="697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Total 3 ciudades</a:t>
            </a:r>
          </a:p>
        </p:txBody>
      </p:sp>
      <p:sp>
        <p:nvSpPr>
          <p:cNvPr id="295" name="ANUARIO_ANEXO_P125_L062"/>
          <p:cNvSpPr txBox="1"/>
          <p:nvPr/>
        </p:nvSpPr>
        <p:spPr>
          <a:xfrm>
            <a:off x="7977713" y="3695560"/>
            <a:ext cx="45978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27,325,688</a:t>
            </a:r>
          </a:p>
        </p:txBody>
      </p:sp>
      <p:sp>
        <p:nvSpPr>
          <p:cNvPr id="296" name="ANUARIO_ANEXO_P125_L063"/>
          <p:cNvSpPr txBox="1"/>
          <p:nvPr/>
        </p:nvSpPr>
        <p:spPr>
          <a:xfrm>
            <a:off x="4825096" y="3913638"/>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297" name="ANUARIO_ANEXO_P125_L064"/>
          <p:cNvSpPr txBox="1"/>
          <p:nvPr/>
        </p:nvSpPr>
        <p:spPr>
          <a:xfrm>
            <a:off x="5931735" y="3917441"/>
            <a:ext cx="4051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4,840,117</a:t>
            </a:r>
          </a:p>
        </p:txBody>
      </p:sp>
      <p:sp>
        <p:nvSpPr>
          <p:cNvPr id="298" name="ANUARIO_ANEXO_P125_L065"/>
          <p:cNvSpPr txBox="1"/>
          <p:nvPr/>
        </p:nvSpPr>
        <p:spPr>
          <a:xfrm>
            <a:off x="6792363" y="3913638"/>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9" name="ANUARIO_ANEXO_P125_L066"/>
          <p:cNvSpPr txBox="1"/>
          <p:nvPr/>
        </p:nvSpPr>
        <p:spPr>
          <a:xfrm>
            <a:off x="7977675" y="3917441"/>
            <a:ext cx="45985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18,224,996</a:t>
            </a:r>
          </a:p>
        </p:txBody>
      </p:sp>
      <p:sp>
        <p:nvSpPr>
          <p:cNvPr id="300" name="ANUARIO_ANEXO_P125_L067"/>
          <p:cNvSpPr txBox="1"/>
          <p:nvPr/>
        </p:nvSpPr>
        <p:spPr>
          <a:xfrm>
            <a:off x="4849497" y="4101743"/>
            <a:ext cx="5030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1" name="ANUARIO_ANEXO_P125_L068"/>
          <p:cNvSpPr txBox="1"/>
          <p:nvPr/>
        </p:nvSpPr>
        <p:spPr>
          <a:xfrm>
            <a:off x="5925797" y="4105545"/>
            <a:ext cx="417072"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4,819,593</a:t>
            </a:r>
          </a:p>
        </p:txBody>
      </p:sp>
      <p:sp>
        <p:nvSpPr>
          <p:cNvPr id="302" name="ANUARIO_ANEXO_P125_L069"/>
          <p:cNvSpPr txBox="1"/>
          <p:nvPr/>
        </p:nvSpPr>
        <p:spPr>
          <a:xfrm>
            <a:off x="6899608" y="4101743"/>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303" name="ANUARIO_ANEXO_P125_L070"/>
          <p:cNvSpPr txBox="1"/>
          <p:nvPr/>
        </p:nvSpPr>
        <p:spPr>
          <a:xfrm>
            <a:off x="7989260" y="4105545"/>
            <a:ext cx="43669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4,640,377</a:t>
            </a:r>
          </a:p>
        </p:txBody>
      </p:sp>
      <p:sp>
        <p:nvSpPr>
          <p:cNvPr id="304" name="ANUARIO_ANEXO_P125_L071"/>
          <p:cNvSpPr txBox="1"/>
          <p:nvPr/>
        </p:nvSpPr>
        <p:spPr>
          <a:xfrm>
            <a:off x="4820067" y="4256072"/>
            <a:ext cx="56187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25 Ciudades</a:t>
            </a:r>
          </a:p>
        </p:txBody>
      </p:sp>
      <p:sp>
        <p:nvSpPr>
          <p:cNvPr id="305" name="ANUARIO_ANEXO_P125_L072"/>
          <p:cNvSpPr txBox="1"/>
          <p:nvPr/>
        </p:nvSpPr>
        <p:spPr>
          <a:xfrm>
            <a:off x="5897564" y="4259874"/>
            <a:ext cx="47354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28,233,465</a:t>
            </a:r>
          </a:p>
        </p:txBody>
      </p:sp>
      <p:sp>
        <p:nvSpPr>
          <p:cNvPr id="306" name="ANUARIO_ANEXO_P125_L073"/>
          <p:cNvSpPr txBox="1"/>
          <p:nvPr/>
        </p:nvSpPr>
        <p:spPr>
          <a:xfrm>
            <a:off x="6924009" y="4256072"/>
            <a:ext cx="503017"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7" name="ANUARIO_ANEXO_P125_L074"/>
          <p:cNvSpPr txBox="1"/>
          <p:nvPr/>
        </p:nvSpPr>
        <p:spPr>
          <a:xfrm>
            <a:off x="7991867" y="4259874"/>
            <a:ext cx="43147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4,460,315</a:t>
            </a:r>
          </a:p>
        </p:txBody>
      </p:sp>
      <p:sp>
        <p:nvSpPr>
          <p:cNvPr id="308" name="ANUARIO_ANEXO_P125_L075"/>
          <p:cNvSpPr txBox="1"/>
          <p:nvPr/>
        </p:nvSpPr>
        <p:spPr>
          <a:xfrm>
            <a:off x="383625" y="4527909"/>
            <a:ext cx="6321051"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12</a:t>
            </a:r>
            <a:r>
              <a:rPr sz="480" b="0" i="0">
                <a:solidFill>
                  <a:srgbClr val="1F3031"/>
                </a:solidFill>
                <a:latin typeface="Noto Sans"/>
              </a:rPr>
              <a:t> El Universo de TV corresponde al promedio de los universos del estudio de Nielsen IBOPE México para el periodo de julio de 2023 a junio de 2024, obtenido a través de la evaluación del </a:t>
            </a:r>
            <a:r>
              <a:rPr sz="480" b="0" i="1">
                <a:solidFill>
                  <a:srgbClr val="1F3031"/>
                </a:solidFill>
                <a:latin typeface="Noto Sans"/>
              </a:rPr>
              <a:t>target</a:t>
            </a:r>
            <a:r>
              <a:rPr sz="480" b="0" i="0">
                <a:solidFill>
                  <a:srgbClr val="1F3031"/>
                </a:solidFill>
                <a:latin typeface="Noto Sans"/>
              </a:rPr>
              <a:t> en el periodo.</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126</a:t>
            </a:r>
          </a:p>
        </p:txBody>
      </p:sp>
      <p:sp>
        <p:nvSpPr>
          <p:cNvPr id="222" name="ANUARIO_ANEXO_P126_L001"/>
          <p:cNvSpPr txBox="1"/>
          <p:nvPr/>
        </p:nvSpPr>
        <p:spPr>
          <a:xfrm>
            <a:off x="589682" y="653802"/>
            <a:ext cx="2064194"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III. METODOLOGÍAS</a:t>
            </a:r>
          </a:p>
        </p:txBody>
      </p:sp>
      <p:sp>
        <p:nvSpPr>
          <p:cNvPr id="223" name="ANUARIO_ANEXO_P126_L002"/>
          <p:cNvSpPr txBox="1"/>
          <p:nvPr/>
        </p:nvSpPr>
        <p:spPr>
          <a:xfrm>
            <a:off x="383625" y="1066161"/>
            <a:ext cx="3990354"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SOBRE INFORMACIÓN DE SERVICIOS DE TELECOMUNICACIONES</a:t>
            </a:r>
          </a:p>
        </p:txBody>
      </p:sp>
      <p:sp>
        <p:nvSpPr>
          <p:cNvPr id="224" name="ANUARIO_ANEXO_P126_L003"/>
          <p:cNvSpPr txBox="1"/>
          <p:nvPr/>
        </p:nvSpPr>
        <p:spPr>
          <a:xfrm>
            <a:off x="528422" y="1397086"/>
            <a:ext cx="824724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Los indicadores mostrados en el presente Anuario Estadístico fueron elaborados con la información trimestral proporcionada por los operadores de telecomunicaciones a la CRT, la cual es revisada, procesada </a:t>
            </a:r>
          </a:p>
        </p:txBody>
      </p:sp>
      <p:sp>
        <p:nvSpPr>
          <p:cNvPr id="225" name="ANUARIO_ANEXO_P126_L004"/>
          <p:cNvSpPr txBox="1"/>
          <p:nvPr/>
        </p:nvSpPr>
        <p:spPr>
          <a:xfrm>
            <a:off x="528422" y="1503888"/>
            <a:ext cx="593549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analizada por la Coordinación General de Planeación Estratégica para su publicación en el Banco de Información de Telecomunicaciones (BIT).</a:t>
            </a:r>
          </a:p>
        </p:txBody>
      </p:sp>
      <p:sp>
        <p:nvSpPr>
          <p:cNvPr id="226" name="ANUARIO_ANEXO_P126_L005"/>
          <p:cNvSpPr txBox="1"/>
          <p:nvPr/>
        </p:nvSpPr>
        <p:spPr>
          <a:xfrm>
            <a:off x="528422" y="1717491"/>
            <a:ext cx="82479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Debido a la naturaleza de los servicios de telecomunicaciones móviles, el número de líneas de los servicios móviles de telefonía y de acceso a Internet no cuentan con desagregación a nivel entidad </a:t>
            </a:r>
          </a:p>
        </p:txBody>
      </p:sp>
      <p:sp>
        <p:nvSpPr>
          <p:cNvPr id="227" name="ANUARIO_ANEXO_P126_L006"/>
          <p:cNvSpPr txBox="1"/>
          <p:nvPr/>
        </p:nvSpPr>
        <p:spPr>
          <a:xfrm>
            <a:off x="528422" y="1824293"/>
            <a:ext cx="82483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federativa, por lo que, para obtener los indicadores del número de líneas por cada 100 habitantes, se obtuvo información de la ENDUTIH 2025 y se tomaron los siguientes supuestos de acuerdo con el tipo </a:t>
            </a:r>
          </a:p>
        </p:txBody>
      </p:sp>
      <p:sp>
        <p:nvSpPr>
          <p:cNvPr id="228" name="ANUARIO_ANEXO_P126_L007"/>
          <p:cNvSpPr txBox="1"/>
          <p:nvPr/>
        </p:nvSpPr>
        <p:spPr>
          <a:xfrm>
            <a:off x="528422" y="1931095"/>
            <a:ext cx="5923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 </a:t>
            </a:r>
          </a:p>
        </p:txBody>
      </p:sp>
      <p:sp>
        <p:nvSpPr>
          <p:cNvPr id="229" name="ANUARIO_ANEXO_P126_L008"/>
          <p:cNvSpPr txBox="1"/>
          <p:nvPr/>
        </p:nvSpPr>
        <p:spPr>
          <a:xfrm>
            <a:off x="662080" y="2144016"/>
            <a:ext cx="8113861"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telefonía.</a:t>
            </a:r>
            <a:r>
              <a:rPr sz="640" b="0" i="0">
                <a:solidFill>
                  <a:srgbClr val="1F3031"/>
                </a:solidFill>
                <a:latin typeface="Noto Sans"/>
              </a:rPr>
              <a:t> Se elaboró una estimación del número de usuarios de este servicio con base en la población de 6 años o más, residente en cada entidad federativa, que respondió contar </a:t>
            </a:r>
          </a:p>
        </p:txBody>
      </p:sp>
      <p:sp>
        <p:nvSpPr>
          <p:cNvPr id="230" name="ANUARIO_ANEXO_P126_L009"/>
          <p:cNvSpPr txBox="1"/>
          <p:nvPr/>
        </p:nvSpPr>
        <p:spPr>
          <a:xfrm>
            <a:off x="717770" y="2251501"/>
            <a:ext cx="44113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un teléfono celular y haberlo usado en los últimos tres meses previos al levantamiento de la encuesta. </a:t>
            </a:r>
          </a:p>
        </p:txBody>
      </p:sp>
      <p:sp>
        <p:nvSpPr>
          <p:cNvPr id="231" name="ANUARIO_ANEXO_P126_L010"/>
          <p:cNvSpPr txBox="1"/>
          <p:nvPr/>
        </p:nvSpPr>
        <p:spPr>
          <a:xfrm>
            <a:off x="662080" y="2464421"/>
            <a:ext cx="8114496"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acceso a Internet.</a:t>
            </a:r>
            <a:r>
              <a:rPr sz="640" b="0" i="0">
                <a:solidFill>
                  <a:srgbClr val="1F3031"/>
                </a:solidFill>
                <a:latin typeface="Noto Sans"/>
              </a:rPr>
              <a:t> Se elaboró una estimación del número de usuarios de este servicio con base en la población de 6 años o más, residente en cada entidad federativa, que respondió </a:t>
            </a:r>
          </a:p>
        </p:txBody>
      </p:sp>
      <p:sp>
        <p:nvSpPr>
          <p:cNvPr id="232" name="ANUARIO_ANEXO_P126_L011"/>
          <p:cNvSpPr txBox="1"/>
          <p:nvPr/>
        </p:nvSpPr>
        <p:spPr>
          <a:xfrm>
            <a:off x="717770" y="2571907"/>
            <a:ext cx="523853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haberse conectado a Internet mediante red celular (conexión de datos) a través de un teléfono móvil inteligente (</a:t>
            </a:r>
            <a:r>
              <a:rPr sz="640" b="0" i="1">
                <a:solidFill>
                  <a:srgbClr val="1F3031"/>
                </a:solidFill>
                <a:latin typeface="Noto Sans"/>
              </a:rPr>
              <a:t>Smartphone</a:t>
            </a:r>
            <a:r>
              <a:rPr sz="640" b="0" i="0">
                <a:solidFill>
                  <a:srgbClr val="1F3031"/>
                </a:solidFill>
                <a:latin typeface="Noto Sans"/>
              </a:rPr>
              <a:t>).</a:t>
            </a:r>
          </a:p>
        </p:txBody>
      </p:sp>
      <p:sp>
        <p:nvSpPr>
          <p:cNvPr id="233" name="ANUARIO_ANEXO_P126_L012"/>
          <p:cNvSpPr txBox="1"/>
          <p:nvPr/>
        </p:nvSpPr>
        <p:spPr>
          <a:xfrm>
            <a:off x="528422" y="2785511"/>
            <a:ext cx="82465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número de hogares y el número de habitantes a nivel entidad federativa se obtienen a partir de estimaciones propias con base en los datos de la ENDUTIH 2025 y el Censo de Población </a:t>
            </a:r>
          </a:p>
        </p:txBody>
      </p:sp>
      <p:sp>
        <p:nvSpPr>
          <p:cNvPr id="234" name="ANUARIO_ANEXO_P126_L013"/>
          <p:cNvSpPr txBox="1"/>
          <p:nvPr/>
        </p:nvSpPr>
        <p:spPr>
          <a:xfrm>
            <a:off x="528422" y="2892313"/>
            <a:ext cx="77646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Vivienda 2020.</a:t>
            </a:r>
          </a:p>
        </p:txBody>
      </p:sp>
      <p:sp>
        <p:nvSpPr>
          <p:cNvPr id="235" name="ANUARIO_ANEXO_P126_L014"/>
          <p:cNvSpPr txBox="1"/>
          <p:nvPr/>
        </p:nvSpPr>
        <p:spPr>
          <a:xfrm>
            <a:off x="528422" y="3105917"/>
            <a:ext cx="75113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 Los accesos/líneas por cada 100 hogares se calculan dividiendo los accesos. Asimismo, el número de unidades económicas a nivel entidad federativa se obtuvo del DENUE del INEGI.</a:t>
            </a:r>
          </a:p>
        </p:txBody>
      </p:sp>
      <p:sp>
        <p:nvSpPr>
          <p:cNvPr id="236" name="ANUARIO_ANEXO_P126_L015"/>
          <p:cNvSpPr txBox="1"/>
          <p:nvPr/>
        </p:nvSpPr>
        <p:spPr>
          <a:xfrm>
            <a:off x="383625" y="3456547"/>
            <a:ext cx="1361211" cy="185415"/>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ÍNDICES DE PRECIOS</a:t>
            </a:r>
          </a:p>
        </p:txBody>
      </p:sp>
      <p:sp>
        <p:nvSpPr>
          <p:cNvPr id="237" name="ANUARIO_ANEXO_P126_L016"/>
          <p:cNvSpPr txBox="1"/>
          <p:nvPr/>
        </p:nvSpPr>
        <p:spPr>
          <a:xfrm>
            <a:off x="528422" y="3768089"/>
            <a:ext cx="824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INEGI construye el INPC utilizando las variaciones en los precios de los bienes y servicios de una canasta representativa del consumo de los hogares mexicanos. Dichos bienes y servicios pueden </a:t>
            </a:r>
          </a:p>
        </p:txBody>
      </p:sp>
      <p:sp>
        <p:nvSpPr>
          <p:cNvPr id="238" name="ANUARIO_ANEXO_P126_L017"/>
          <p:cNvSpPr txBox="1"/>
          <p:nvPr/>
        </p:nvSpPr>
        <p:spPr>
          <a:xfrm>
            <a:off x="528422" y="3874890"/>
            <a:ext cx="82476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representarse por medio de la Clasificación del Consumo Individual por Finalidades (CCIF), el cual consta de doce divisiones que se desagregan en Grupos y Clases, las cuales representan categorías de </a:t>
            </a:r>
          </a:p>
        </p:txBody>
      </p:sp>
      <p:sp>
        <p:nvSpPr>
          <p:cNvPr id="239" name="ANUARIO_ANEXO_P126_L018"/>
          <p:cNvSpPr txBox="1"/>
          <p:nvPr/>
        </p:nvSpPr>
        <p:spPr>
          <a:xfrm>
            <a:off x="528422" y="3981692"/>
            <a:ext cx="25719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finalidad de los bienes y servicios compuestos por genéricos.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127</a:t>
            </a:r>
          </a:p>
        </p:txBody>
      </p:sp>
      <p:sp>
        <p:nvSpPr>
          <p:cNvPr id="222" name="ANUARIO_TABLA_REFERENCIA_0"/>
          <p:cNvSpPr/>
          <p:nvPr/>
        </p:nvSpPr>
        <p:spPr>
          <a:xfrm>
            <a:off x="529117" y="675067"/>
            <a:ext cx="3986900" cy="1737448"/>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3" name="Connector 222"/>
          <p:cNvCxnSpPr/>
          <p:nvPr/>
        </p:nvCxnSpPr>
        <p:spPr>
          <a:xfrm>
            <a:off x="529117" y="8841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529117" y="1037132"/>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529117" y="114863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529117" y="126013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529117" y="137163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529117" y="148313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529117" y="159463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529117" y="170613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529117" y="1817640"/>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529117" y="192914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529117" y="20406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529117" y="215214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529117" y="226364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6" name="ANUARIO_TABLA_REFERENCIA_1"/>
          <p:cNvSpPr/>
          <p:nvPr/>
        </p:nvSpPr>
        <p:spPr>
          <a:xfrm>
            <a:off x="529117" y="3042279"/>
            <a:ext cx="3986900" cy="1179943"/>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7" name="Connector 236"/>
          <p:cNvCxnSpPr/>
          <p:nvPr/>
        </p:nvCxnSpPr>
        <p:spPr>
          <a:xfrm>
            <a:off x="529117" y="325140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29117" y="34043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29117" y="352118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29117" y="363802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9117" y="375486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9117" y="387170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29117" y="398854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29117" y="41053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45" name="ANUARIO_ANEXO_P127_L001"/>
          <p:cNvSpPr txBox="1"/>
          <p:nvPr/>
        </p:nvSpPr>
        <p:spPr>
          <a:xfrm>
            <a:off x="629361" y="753928"/>
            <a:ext cx="387345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1. </a:t>
            </a:r>
            <a:r>
              <a:rPr sz="592" b="0" i="0">
                <a:solidFill>
                  <a:srgbClr val="1F3031"/>
                </a:solidFill>
                <a:latin typeface="Noto Sans"/>
              </a:rPr>
              <a:t>Clasificación del Consumo Individual por Finalidades (CCIF), Ponderador por División</a:t>
            </a:r>
          </a:p>
        </p:txBody>
      </p:sp>
      <p:sp>
        <p:nvSpPr>
          <p:cNvPr id="246" name="ANUARIO_ANEXO_P127_L002"/>
          <p:cNvSpPr txBox="1"/>
          <p:nvPr/>
        </p:nvSpPr>
        <p:spPr>
          <a:xfrm>
            <a:off x="1962028" y="917143"/>
            <a:ext cx="412730"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División</a:t>
            </a:r>
          </a:p>
        </p:txBody>
      </p:sp>
      <p:sp>
        <p:nvSpPr>
          <p:cNvPr id="247" name="ANUARIO_ANEXO_P127_L003"/>
          <p:cNvSpPr txBox="1"/>
          <p:nvPr/>
        </p:nvSpPr>
        <p:spPr>
          <a:xfrm>
            <a:off x="3889474" y="917143"/>
            <a:ext cx="545275"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48" name="ANUARIO_ANEXO_P127_L004"/>
          <p:cNvSpPr txBox="1"/>
          <p:nvPr/>
        </p:nvSpPr>
        <p:spPr>
          <a:xfrm>
            <a:off x="1536400" y="1050495"/>
            <a:ext cx="12639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Alimentos y bebidas no alcohólicas</a:t>
            </a:r>
          </a:p>
        </p:txBody>
      </p:sp>
      <p:sp>
        <p:nvSpPr>
          <p:cNvPr id="249" name="ANUARIO_ANEXO_P127_L005"/>
          <p:cNvSpPr txBox="1"/>
          <p:nvPr/>
        </p:nvSpPr>
        <p:spPr>
          <a:xfrm>
            <a:off x="3983182" y="1050495"/>
            <a:ext cx="35785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25.77%</a:t>
            </a:r>
          </a:p>
        </p:txBody>
      </p:sp>
      <p:sp>
        <p:nvSpPr>
          <p:cNvPr id="250" name="ANUARIO_ANEXO_P127_L006"/>
          <p:cNvSpPr txBox="1"/>
          <p:nvPr/>
        </p:nvSpPr>
        <p:spPr>
          <a:xfrm>
            <a:off x="1641594" y="1161996"/>
            <a:ext cx="105358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Bebidas alcohólicas y tabaco</a:t>
            </a:r>
          </a:p>
        </p:txBody>
      </p:sp>
      <p:sp>
        <p:nvSpPr>
          <p:cNvPr id="251" name="ANUARIO_ANEXO_P127_L007"/>
          <p:cNvSpPr txBox="1"/>
          <p:nvPr/>
        </p:nvSpPr>
        <p:spPr>
          <a:xfrm>
            <a:off x="3998819" y="1161996"/>
            <a:ext cx="32658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2.69%</a:t>
            </a:r>
          </a:p>
        </p:txBody>
      </p:sp>
      <p:sp>
        <p:nvSpPr>
          <p:cNvPr id="252" name="ANUARIO_ANEXO_P127_L008"/>
          <p:cNvSpPr txBox="1"/>
          <p:nvPr/>
        </p:nvSpPr>
        <p:spPr>
          <a:xfrm>
            <a:off x="1670590" y="1273497"/>
            <a:ext cx="99560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Prendas de vestir y calzado</a:t>
            </a:r>
          </a:p>
        </p:txBody>
      </p:sp>
      <p:sp>
        <p:nvSpPr>
          <p:cNvPr id="253" name="ANUARIO_ANEXO_P127_L009"/>
          <p:cNvSpPr txBox="1"/>
          <p:nvPr/>
        </p:nvSpPr>
        <p:spPr>
          <a:xfrm>
            <a:off x="4000992" y="1273497"/>
            <a:ext cx="32223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4.78%</a:t>
            </a:r>
          </a:p>
        </p:txBody>
      </p:sp>
      <p:sp>
        <p:nvSpPr>
          <p:cNvPr id="254" name="ANUARIO_ANEXO_P127_L010"/>
          <p:cNvSpPr txBox="1"/>
          <p:nvPr/>
        </p:nvSpPr>
        <p:spPr>
          <a:xfrm>
            <a:off x="1238307" y="1384998"/>
            <a:ext cx="18601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Vivienda, agua, electricidad, gas y otros combustibles</a:t>
            </a:r>
          </a:p>
        </p:txBody>
      </p:sp>
      <p:sp>
        <p:nvSpPr>
          <p:cNvPr id="255" name="ANUARIO_ANEXO_P127_L011"/>
          <p:cNvSpPr txBox="1"/>
          <p:nvPr/>
        </p:nvSpPr>
        <p:spPr>
          <a:xfrm>
            <a:off x="3988647" y="1384998"/>
            <a:ext cx="3469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19.64%</a:t>
            </a:r>
          </a:p>
        </p:txBody>
      </p:sp>
      <p:sp>
        <p:nvSpPr>
          <p:cNvPr id="256" name="ANUARIO_ANEXO_P127_L012"/>
          <p:cNvSpPr txBox="1"/>
          <p:nvPr/>
        </p:nvSpPr>
        <p:spPr>
          <a:xfrm>
            <a:off x="1207900" y="1496498"/>
            <a:ext cx="192098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Muebles, artículos para el hogar y para su conservación</a:t>
            </a:r>
          </a:p>
        </p:txBody>
      </p:sp>
      <p:sp>
        <p:nvSpPr>
          <p:cNvPr id="257" name="ANUARIO_ANEXO_P127_L013"/>
          <p:cNvSpPr txBox="1"/>
          <p:nvPr/>
        </p:nvSpPr>
        <p:spPr>
          <a:xfrm>
            <a:off x="3999109" y="1496498"/>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4.53%</a:t>
            </a:r>
          </a:p>
        </p:txBody>
      </p:sp>
      <p:sp>
        <p:nvSpPr>
          <p:cNvPr id="258" name="ANUARIO_ANEXO_P127_L014"/>
          <p:cNvSpPr txBox="1"/>
          <p:nvPr/>
        </p:nvSpPr>
        <p:spPr>
          <a:xfrm>
            <a:off x="2017878" y="1607999"/>
            <a:ext cx="3010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Salud</a:t>
            </a:r>
          </a:p>
        </p:txBody>
      </p:sp>
      <p:sp>
        <p:nvSpPr>
          <p:cNvPr id="259" name="ANUARIO_ANEXO_P127_L015"/>
          <p:cNvSpPr txBox="1"/>
          <p:nvPr/>
        </p:nvSpPr>
        <p:spPr>
          <a:xfrm>
            <a:off x="3997625" y="1607999"/>
            <a:ext cx="32897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3.08%</a:t>
            </a:r>
          </a:p>
        </p:txBody>
      </p:sp>
      <p:sp>
        <p:nvSpPr>
          <p:cNvPr id="260" name="ANUARIO_ANEXO_P127_L016"/>
          <p:cNvSpPr txBox="1"/>
          <p:nvPr/>
        </p:nvSpPr>
        <p:spPr>
          <a:xfrm>
            <a:off x="1931725" y="1719500"/>
            <a:ext cx="4733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Transporte</a:t>
            </a:r>
          </a:p>
        </p:txBody>
      </p:sp>
      <p:sp>
        <p:nvSpPr>
          <p:cNvPr id="261" name="ANUARIO_ANEXO_P127_L017"/>
          <p:cNvSpPr txBox="1"/>
          <p:nvPr/>
        </p:nvSpPr>
        <p:spPr>
          <a:xfrm>
            <a:off x="3990603" y="1719500"/>
            <a:ext cx="3430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13.76%</a:t>
            </a:r>
          </a:p>
        </p:txBody>
      </p:sp>
      <p:sp>
        <p:nvSpPr>
          <p:cNvPr id="262" name="ANUARIO_ANEXO_P127_L018"/>
          <p:cNvSpPr txBox="1"/>
          <p:nvPr/>
        </p:nvSpPr>
        <p:spPr>
          <a:xfrm>
            <a:off x="1831274" y="1831001"/>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63" name="ANUARIO_ANEXO_P127_L019"/>
          <p:cNvSpPr txBox="1"/>
          <p:nvPr/>
        </p:nvSpPr>
        <p:spPr>
          <a:xfrm>
            <a:off x="4010367" y="1831001"/>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64" name="ANUARIO_ANEXO_P127_L020"/>
          <p:cNvSpPr txBox="1"/>
          <p:nvPr/>
        </p:nvSpPr>
        <p:spPr>
          <a:xfrm>
            <a:off x="1775528" y="1942502"/>
            <a:ext cx="78572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Recreación y cultura</a:t>
            </a:r>
          </a:p>
        </p:txBody>
      </p:sp>
      <p:sp>
        <p:nvSpPr>
          <p:cNvPr id="265" name="ANUARIO_ANEXO_P127_L021"/>
          <p:cNvSpPr txBox="1"/>
          <p:nvPr/>
        </p:nvSpPr>
        <p:spPr>
          <a:xfrm>
            <a:off x="4001571" y="1942502"/>
            <a:ext cx="32107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4.87%</a:t>
            </a:r>
          </a:p>
        </p:txBody>
      </p:sp>
      <p:sp>
        <p:nvSpPr>
          <p:cNvPr id="266" name="ANUARIO_ANEXO_P127_L022"/>
          <p:cNvSpPr txBox="1"/>
          <p:nvPr/>
        </p:nvSpPr>
        <p:spPr>
          <a:xfrm>
            <a:off x="1937553" y="2054002"/>
            <a:ext cx="4616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Educación</a:t>
            </a:r>
          </a:p>
        </p:txBody>
      </p:sp>
      <p:sp>
        <p:nvSpPr>
          <p:cNvPr id="267" name="ANUARIO_ANEXO_P127_L023"/>
          <p:cNvSpPr txBox="1"/>
          <p:nvPr/>
        </p:nvSpPr>
        <p:spPr>
          <a:xfrm>
            <a:off x="3999109" y="2054002"/>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3.54%</a:t>
            </a:r>
          </a:p>
        </p:txBody>
      </p:sp>
      <p:sp>
        <p:nvSpPr>
          <p:cNvPr id="268" name="ANUARIO_ANEXO_P127_L024"/>
          <p:cNvSpPr txBox="1"/>
          <p:nvPr/>
        </p:nvSpPr>
        <p:spPr>
          <a:xfrm>
            <a:off x="1739404" y="2165504"/>
            <a:ext cx="8579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Restaurantes y hoteles</a:t>
            </a:r>
          </a:p>
        </p:txBody>
      </p:sp>
      <p:sp>
        <p:nvSpPr>
          <p:cNvPr id="269" name="ANUARIO_ANEXO_P127_L025"/>
          <p:cNvSpPr txBox="1"/>
          <p:nvPr/>
        </p:nvSpPr>
        <p:spPr>
          <a:xfrm>
            <a:off x="4003054" y="2165504"/>
            <a:ext cx="3181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9.52%</a:t>
            </a:r>
          </a:p>
        </p:txBody>
      </p:sp>
      <p:sp>
        <p:nvSpPr>
          <p:cNvPr id="270" name="ANUARIO_ANEXO_P127_L026"/>
          <p:cNvSpPr txBox="1"/>
          <p:nvPr/>
        </p:nvSpPr>
        <p:spPr>
          <a:xfrm>
            <a:off x="1681449" y="2295695"/>
            <a:ext cx="9738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Bienes y servicios diversos</a:t>
            </a:r>
          </a:p>
        </p:txBody>
      </p:sp>
      <p:sp>
        <p:nvSpPr>
          <p:cNvPr id="271" name="ANUARIO_ANEXO_P127_L027"/>
          <p:cNvSpPr txBox="1"/>
          <p:nvPr/>
        </p:nvSpPr>
        <p:spPr>
          <a:xfrm>
            <a:off x="3998602" y="2295695"/>
            <a:ext cx="32701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4.69%</a:t>
            </a:r>
          </a:p>
        </p:txBody>
      </p:sp>
      <p:sp>
        <p:nvSpPr>
          <p:cNvPr id="272" name="ANUARIO_ANEXO_P127_L028"/>
          <p:cNvSpPr txBox="1"/>
          <p:nvPr/>
        </p:nvSpPr>
        <p:spPr>
          <a:xfrm>
            <a:off x="551394" y="2447630"/>
            <a:ext cx="3916450"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Índice Nacional de Precios al Consumidor, Documento metodológico. Base segunda quincena de julio de 2018, INEGI.</a:t>
            </a:r>
          </a:p>
        </p:txBody>
      </p:sp>
      <p:sp>
        <p:nvSpPr>
          <p:cNvPr id="273" name="ANUARIO_ANEXO_P127_L029"/>
          <p:cNvSpPr txBox="1"/>
          <p:nvPr/>
        </p:nvSpPr>
        <p:spPr>
          <a:xfrm>
            <a:off x="528422" y="2686869"/>
            <a:ext cx="412822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división de &lt;&lt;Comunicaciones&gt;&gt; representa 3.13% de la ponderación del INPC general. Dicha </a:t>
            </a:r>
          </a:p>
        </p:txBody>
      </p:sp>
      <p:sp>
        <p:nvSpPr>
          <p:cNvPr id="274" name="ANUARIO_ANEXO_P127_L030"/>
          <p:cNvSpPr txBox="1"/>
          <p:nvPr/>
        </p:nvSpPr>
        <p:spPr>
          <a:xfrm>
            <a:off x="528422" y="2812471"/>
            <a:ext cx="38267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división incluye seis conceptos, de los cuales el servicio de telefonía móvil representa 1.28%.</a:t>
            </a:r>
          </a:p>
        </p:txBody>
      </p:sp>
      <p:sp>
        <p:nvSpPr>
          <p:cNvPr id="275" name="ANUARIO_ANEXO_P127_L031"/>
          <p:cNvSpPr txBox="1"/>
          <p:nvPr/>
        </p:nvSpPr>
        <p:spPr>
          <a:xfrm>
            <a:off x="629361" y="3121141"/>
            <a:ext cx="287308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2.</a:t>
            </a:r>
            <a:r>
              <a:rPr sz="592" b="0" i="0">
                <a:solidFill>
                  <a:srgbClr val="1F3031"/>
                </a:solidFill>
                <a:latin typeface="Noto Sans"/>
              </a:rPr>
              <a:t> Ponderadores de la división &lt;&lt;Comunicaciones&gt;&gt; del INPC</a:t>
            </a:r>
          </a:p>
        </p:txBody>
      </p:sp>
      <p:sp>
        <p:nvSpPr>
          <p:cNvPr id="276" name="ANUARIO_ANEXO_P127_L032"/>
          <p:cNvSpPr txBox="1"/>
          <p:nvPr/>
        </p:nvSpPr>
        <p:spPr>
          <a:xfrm>
            <a:off x="1930917" y="3284355"/>
            <a:ext cx="474947"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Concepto</a:t>
            </a:r>
          </a:p>
        </p:txBody>
      </p:sp>
      <p:sp>
        <p:nvSpPr>
          <p:cNvPr id="277" name="ANUARIO_ANEXO_P127_L033"/>
          <p:cNvSpPr txBox="1"/>
          <p:nvPr/>
        </p:nvSpPr>
        <p:spPr>
          <a:xfrm>
            <a:off x="3888778" y="3284355"/>
            <a:ext cx="545275"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78" name="ANUARIO_ANEXO_P127_L034"/>
          <p:cNvSpPr txBox="1"/>
          <p:nvPr/>
        </p:nvSpPr>
        <p:spPr>
          <a:xfrm>
            <a:off x="1831274" y="3423048"/>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79" name="ANUARIO_ANEXO_P127_L035"/>
          <p:cNvSpPr txBox="1"/>
          <p:nvPr/>
        </p:nvSpPr>
        <p:spPr>
          <a:xfrm>
            <a:off x="4009670" y="3423048"/>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80" name="ANUARIO_ANEXO_P127_L036"/>
          <p:cNvSpPr txBox="1"/>
          <p:nvPr/>
        </p:nvSpPr>
        <p:spPr>
          <a:xfrm>
            <a:off x="1676453" y="3539889"/>
            <a:ext cx="9838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móvil</a:t>
            </a:r>
          </a:p>
        </p:txBody>
      </p:sp>
      <p:sp>
        <p:nvSpPr>
          <p:cNvPr id="281" name="ANUARIO_ANEXO_P127_L037"/>
          <p:cNvSpPr txBox="1"/>
          <p:nvPr/>
        </p:nvSpPr>
        <p:spPr>
          <a:xfrm>
            <a:off x="4004242" y="3539889"/>
            <a:ext cx="314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1.28%</a:t>
            </a:r>
          </a:p>
        </p:txBody>
      </p:sp>
      <p:sp>
        <p:nvSpPr>
          <p:cNvPr id="282" name="ANUARIO_ANEXO_P127_L038"/>
          <p:cNvSpPr txBox="1"/>
          <p:nvPr/>
        </p:nvSpPr>
        <p:spPr>
          <a:xfrm>
            <a:off x="1274614" y="3656730"/>
            <a:ext cx="178755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Paquetes de Internet, telefonía y televisión de paga</a:t>
            </a:r>
          </a:p>
        </p:txBody>
      </p:sp>
      <p:sp>
        <p:nvSpPr>
          <p:cNvPr id="283" name="ANUARIO_ANEXO_P127_L039"/>
          <p:cNvSpPr txBox="1"/>
          <p:nvPr/>
        </p:nvSpPr>
        <p:spPr>
          <a:xfrm>
            <a:off x="4002213" y="3656730"/>
            <a:ext cx="31840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1.09%</a:t>
            </a:r>
          </a:p>
        </p:txBody>
      </p:sp>
      <p:sp>
        <p:nvSpPr>
          <p:cNvPr id="284" name="ANUARIO_ANEXO_P127_L040"/>
          <p:cNvSpPr txBox="1"/>
          <p:nvPr/>
        </p:nvSpPr>
        <p:spPr>
          <a:xfrm>
            <a:off x="1556671" y="3773571"/>
            <a:ext cx="1223442"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Equipo terminal de comunicación</a:t>
            </a:r>
          </a:p>
        </p:txBody>
      </p:sp>
      <p:sp>
        <p:nvSpPr>
          <p:cNvPr id="285" name="ANUARIO_ANEXO_P127_L041"/>
          <p:cNvSpPr txBox="1"/>
          <p:nvPr/>
        </p:nvSpPr>
        <p:spPr>
          <a:xfrm>
            <a:off x="3995083" y="3773571"/>
            <a:ext cx="33265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0.35%</a:t>
            </a:r>
          </a:p>
        </p:txBody>
      </p:sp>
      <p:sp>
        <p:nvSpPr>
          <p:cNvPr id="286" name="ANUARIO_ANEXO_P127_L042"/>
          <p:cNvSpPr txBox="1"/>
          <p:nvPr/>
        </p:nvSpPr>
        <p:spPr>
          <a:xfrm>
            <a:off x="1716236" y="3890412"/>
            <a:ext cx="9043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fija</a:t>
            </a:r>
          </a:p>
        </p:txBody>
      </p:sp>
      <p:sp>
        <p:nvSpPr>
          <p:cNvPr id="287" name="ANUARIO_ANEXO_P127_L043"/>
          <p:cNvSpPr txBox="1"/>
          <p:nvPr/>
        </p:nvSpPr>
        <p:spPr>
          <a:xfrm>
            <a:off x="3994938" y="3890412"/>
            <a:ext cx="33294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0.28%</a:t>
            </a:r>
          </a:p>
        </p:txBody>
      </p:sp>
      <p:sp>
        <p:nvSpPr>
          <p:cNvPr id="288" name="ANUARIO_ANEXO_P127_L044"/>
          <p:cNvSpPr txBox="1"/>
          <p:nvPr/>
        </p:nvSpPr>
        <p:spPr>
          <a:xfrm>
            <a:off x="1787837" y="4007253"/>
            <a:ext cx="7611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Internet</a:t>
            </a:r>
          </a:p>
        </p:txBody>
      </p:sp>
      <p:sp>
        <p:nvSpPr>
          <p:cNvPr id="289" name="ANUARIO_ANEXO_P127_L045"/>
          <p:cNvSpPr txBox="1"/>
          <p:nvPr/>
        </p:nvSpPr>
        <p:spPr>
          <a:xfrm>
            <a:off x="4006738" y="4007253"/>
            <a:ext cx="30935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0.12%</a:t>
            </a:r>
          </a:p>
        </p:txBody>
      </p:sp>
      <p:sp>
        <p:nvSpPr>
          <p:cNvPr id="290" name="ANUARIO_ANEXO_P127_L046"/>
          <p:cNvSpPr txBox="1"/>
          <p:nvPr/>
        </p:nvSpPr>
        <p:spPr>
          <a:xfrm>
            <a:off x="1933028" y="4124093"/>
            <a:ext cx="47072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Paquetería</a:t>
            </a:r>
          </a:p>
        </p:txBody>
      </p:sp>
      <p:sp>
        <p:nvSpPr>
          <p:cNvPr id="291" name="ANUARIO_ANEXO_P127_L047"/>
          <p:cNvSpPr txBox="1"/>
          <p:nvPr/>
        </p:nvSpPr>
        <p:spPr>
          <a:xfrm>
            <a:off x="3996241" y="4124093"/>
            <a:ext cx="330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0.02%</a:t>
            </a:r>
          </a:p>
        </p:txBody>
      </p:sp>
      <p:sp>
        <p:nvSpPr>
          <p:cNvPr id="292" name="ANUARIO_ANEXO_P127_L048"/>
          <p:cNvSpPr txBox="1"/>
          <p:nvPr/>
        </p:nvSpPr>
        <p:spPr>
          <a:xfrm>
            <a:off x="551394" y="4262679"/>
            <a:ext cx="4075542"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Ponderadores del INPC, Por Objeto del Gasto Nacional por Genérico. Segunda quincena julio 2018=100, del INEGI. Disponible </a:t>
            </a:r>
          </a:p>
        </p:txBody>
      </p:sp>
      <p:sp>
        <p:nvSpPr>
          <p:cNvPr id="293" name="ANUARIO_ANEXO_P127_L049"/>
          <p:cNvSpPr txBox="1"/>
          <p:nvPr/>
        </p:nvSpPr>
        <p:spPr>
          <a:xfrm>
            <a:off x="551394" y="4340218"/>
            <a:ext cx="1678241" cy="118493"/>
          </a:xfrm>
          <a:prstGeom prst="rect">
            <a:avLst/>
          </a:prstGeom>
          <a:noFill/>
        </p:spPr>
        <p:txBody>
          <a:bodyPr wrap="none" lIns="0" rIns="0" tIns="0" bIns="0">
            <a:noAutofit/>
          </a:bodyPr>
          <a:lstStyle/>
          <a:p>
            <a:pPr>
              <a:spcBef>
                <a:spcPts val="0"/>
              </a:spcBef>
              <a:spcAft>
                <a:spcPts val="0"/>
              </a:spcAft>
            </a:pPr>
            <a:r>
              <a:rPr sz="444" b="0" i="0">
                <a:solidFill>
                  <a:srgbClr val="1F3031"/>
                </a:solidFill>
                <a:latin typeface="Noto Sans"/>
              </a:rPr>
              <a:t>en: </a:t>
            </a:r>
            <a:r>
              <a:rPr sz="444" b="0" i="0">
                <a:solidFill>
                  <a:srgbClr val="0563C1"/>
                </a:solidFill>
                <a:latin typeface="Noto Sans"/>
                <a:hlinkClick r:id="rId2"/>
              </a:rPr>
              <a:t>https://www.inegi.org.mx/programas/inpc/2018/</a:t>
            </a:r>
            <a:r>
              <a:rPr sz="444" b="0" i="0">
                <a:solidFill>
                  <a:srgbClr val="1F3031"/>
                </a:solidFill>
                <a:latin typeface="Noto Sans"/>
              </a:rPr>
              <a:t>.</a:t>
            </a:r>
          </a:p>
        </p:txBody>
      </p:sp>
      <p:sp>
        <p:nvSpPr>
          <p:cNvPr id="294" name="ANUARIO_ANEXO_P127_L050"/>
          <p:cNvSpPr txBox="1"/>
          <p:nvPr/>
        </p:nvSpPr>
        <p:spPr>
          <a:xfrm>
            <a:off x="4647536" y="649999"/>
            <a:ext cx="4098297"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SOBRE INFORMACIÓN DE INGRESO Y GASTO DE LOS HOGARES EN </a:t>
            </a:r>
          </a:p>
        </p:txBody>
      </p:sp>
      <p:sp>
        <p:nvSpPr>
          <p:cNvPr id="295" name="ANUARIO_ANEXO_P127_L051"/>
          <p:cNvSpPr txBox="1"/>
          <p:nvPr/>
        </p:nvSpPr>
        <p:spPr>
          <a:xfrm>
            <a:off x="4647536" y="792395"/>
            <a:ext cx="2578313"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TELECOMUNICACIONES FIJAS Y MÓVILES</a:t>
            </a:r>
          </a:p>
        </p:txBody>
      </p:sp>
      <p:sp>
        <p:nvSpPr>
          <p:cNvPr id="296" name="ANUARIO_ANEXO_P127_L052"/>
          <p:cNvSpPr txBox="1"/>
          <p:nvPr/>
        </p:nvSpPr>
        <p:spPr>
          <a:xfrm>
            <a:off x="4647536" y="1017562"/>
            <a:ext cx="412840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mostrada en el Anuario en lo que se refiere al gasto e ingreso de los hogares en </a:t>
            </a:r>
          </a:p>
        </p:txBody>
      </p:sp>
      <p:sp>
        <p:nvSpPr>
          <p:cNvPr id="297" name="ANUARIO_ANEXO_P127_L053"/>
          <p:cNvSpPr txBox="1"/>
          <p:nvPr/>
        </p:nvSpPr>
        <p:spPr>
          <a:xfrm>
            <a:off x="4647536" y="1125781"/>
            <a:ext cx="41281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se obtuvo con base en la información de la ENIGH 2024 que </a:t>
            </a:r>
          </a:p>
        </p:txBody>
      </p:sp>
      <p:sp>
        <p:nvSpPr>
          <p:cNvPr id="298" name="ANUARIO_ANEXO_P127_L054"/>
          <p:cNvSpPr txBox="1"/>
          <p:nvPr/>
        </p:nvSpPr>
        <p:spPr>
          <a:xfrm>
            <a:off x="4647536" y="1234000"/>
            <a:ext cx="242960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publica el INEGI. La metodología utilizada es la siguiente:</a:t>
            </a:r>
          </a:p>
        </p:txBody>
      </p:sp>
      <p:sp>
        <p:nvSpPr>
          <p:cNvPr id="299" name="ANUARIO_ANEXO_P127_L055"/>
          <p:cNvSpPr txBox="1"/>
          <p:nvPr/>
        </p:nvSpPr>
        <p:spPr>
          <a:xfrm>
            <a:off x="4814609" y="1448337"/>
            <a:ext cx="396070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a:t>
            </a:r>
            <a:r>
              <a:rPr sz="592" b="0" i="0">
                <a:solidFill>
                  <a:srgbClr val="1F3031"/>
                </a:solidFill>
                <a:latin typeface="Noto Sans"/>
              </a:rPr>
              <a:t>En primera instancia, se clasifican los hogares en deciles de acuerdo con su ingreso trimestral. </a:t>
            </a:r>
          </a:p>
        </p:txBody>
      </p:sp>
      <p:sp>
        <p:nvSpPr>
          <p:cNvPr id="300" name="ANUARIO_ANEXO_P127_L056"/>
          <p:cNvSpPr txBox="1"/>
          <p:nvPr/>
        </p:nvSpPr>
        <p:spPr>
          <a:xfrm>
            <a:off x="4925991" y="1557240"/>
            <a:ext cx="384976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esto se utiliza el ingreso corriente que se encuentra en una de las tablas disponibles </a:t>
            </a:r>
          </a:p>
        </p:txBody>
      </p:sp>
      <p:sp>
        <p:nvSpPr>
          <p:cNvPr id="301" name="ANUARIO_ANEXO_P127_L057"/>
          <p:cNvSpPr txBox="1"/>
          <p:nvPr/>
        </p:nvSpPr>
        <p:spPr>
          <a:xfrm>
            <a:off x="4925991" y="1665459"/>
            <a:ext cx="384968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encuesta llamada CONCENTRADOHOGAR. Los deciles se calculan de acuerdo con el </a:t>
            </a:r>
          </a:p>
        </p:txBody>
      </p:sp>
      <p:sp>
        <p:nvSpPr>
          <p:cNvPr id="302" name="ANUARIO_ANEXO_P127_L058"/>
          <p:cNvSpPr txBox="1"/>
          <p:nvPr/>
        </p:nvSpPr>
        <p:spPr>
          <a:xfrm>
            <a:off x="4925991" y="1773678"/>
            <a:ext cx="38498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universo que se esté considerando, ya sea a nivel nacional o para cada una de las entidades </a:t>
            </a:r>
          </a:p>
        </p:txBody>
      </p:sp>
      <p:sp>
        <p:nvSpPr>
          <p:cNvPr id="303" name="ANUARIO_ANEXO_P127_L059"/>
          <p:cNvSpPr txBox="1"/>
          <p:nvPr/>
        </p:nvSpPr>
        <p:spPr>
          <a:xfrm>
            <a:off x="4925991" y="1881897"/>
            <a:ext cx="58604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federativas.</a:t>
            </a:r>
          </a:p>
        </p:txBody>
      </p:sp>
      <p:sp>
        <p:nvSpPr>
          <p:cNvPr id="304" name="ANUARIO_ANEXO_P127_L060"/>
          <p:cNvSpPr txBox="1"/>
          <p:nvPr/>
        </p:nvSpPr>
        <p:spPr>
          <a:xfrm>
            <a:off x="4814609" y="2096234"/>
            <a:ext cx="39611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a:t>
            </a:r>
            <a:r>
              <a:rPr sz="592" b="0" i="0">
                <a:solidFill>
                  <a:srgbClr val="1F3031"/>
                </a:solidFill>
                <a:latin typeface="Noto Sans"/>
              </a:rPr>
              <a:t>  Para las figuras mostradas tanto en la parte nacional como la estatal, se definen dos universos: </a:t>
            </a:r>
          </a:p>
        </p:txBody>
      </p:sp>
      <p:sp>
        <p:nvSpPr>
          <p:cNvPr id="305" name="ANUARIO_ANEXO_P127_L061"/>
          <p:cNvSpPr txBox="1"/>
          <p:nvPr/>
        </p:nvSpPr>
        <p:spPr>
          <a:xfrm>
            <a:off x="4925991" y="2205137"/>
            <a:ext cx="384989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fijas (Universo A) y </a:t>
            </a:r>
          </a:p>
        </p:txBody>
      </p:sp>
      <p:sp>
        <p:nvSpPr>
          <p:cNvPr id="306" name="ANUARIO_ANEXO_P127_L062"/>
          <p:cNvSpPr txBox="1"/>
          <p:nvPr/>
        </p:nvSpPr>
        <p:spPr>
          <a:xfrm>
            <a:off x="4925991" y="2313356"/>
            <a:ext cx="38498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móviles (Universo </a:t>
            </a:r>
          </a:p>
        </p:txBody>
      </p:sp>
      <p:sp>
        <p:nvSpPr>
          <p:cNvPr id="307" name="ANUARIO_ANEXO_P127_L063"/>
          <p:cNvSpPr txBox="1"/>
          <p:nvPr/>
        </p:nvSpPr>
        <p:spPr>
          <a:xfrm>
            <a:off x="4925991" y="2421575"/>
            <a:ext cx="2234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t>
            </a:r>
          </a:p>
        </p:txBody>
      </p:sp>
      <p:sp>
        <p:nvSpPr>
          <p:cNvPr id="308" name="ANUARIO_ANEXO_P127_L064"/>
          <p:cNvSpPr txBox="1"/>
          <p:nvPr/>
        </p:nvSpPr>
        <p:spPr>
          <a:xfrm>
            <a:off x="4814609" y="2635913"/>
            <a:ext cx="396089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3.</a:t>
            </a:r>
            <a:r>
              <a:rPr sz="592" b="0" i="0">
                <a:solidFill>
                  <a:srgbClr val="1F3031"/>
                </a:solidFill>
                <a:latin typeface="Noto Sans"/>
              </a:rPr>
              <a:t>  Para estos universos se estima el gasto trimestral en los servicios de telecomunicaciones fijas </a:t>
            </a:r>
          </a:p>
        </p:txBody>
      </p:sp>
      <p:sp>
        <p:nvSpPr>
          <p:cNvPr id="309" name="ANUARIO_ANEXO_P127_L065"/>
          <p:cNvSpPr txBox="1"/>
          <p:nvPr/>
        </p:nvSpPr>
        <p:spPr>
          <a:xfrm>
            <a:off x="4925991" y="2744815"/>
            <a:ext cx="384998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móviles considerando los siguientes conceptos, utilizando la tabla GASTOSHOGAR de la </a:t>
            </a:r>
          </a:p>
        </p:txBody>
      </p:sp>
      <p:sp>
        <p:nvSpPr>
          <p:cNvPr id="310" name="ANUARIO_ANEXO_P127_L066"/>
          <p:cNvSpPr txBox="1"/>
          <p:nvPr/>
        </p:nvSpPr>
        <p:spPr>
          <a:xfrm>
            <a:off x="4925991" y="2853034"/>
            <a:ext cx="5081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encuesta:</a:t>
            </a:r>
          </a:p>
        </p:txBody>
      </p:sp>
      <p:sp>
        <p:nvSpPr>
          <p:cNvPr id="311" name="ANUARIO_ANEXO_P127_L067"/>
          <p:cNvSpPr txBox="1"/>
          <p:nvPr/>
        </p:nvSpPr>
        <p:spPr>
          <a:xfrm>
            <a:off x="4647536" y="3068055"/>
            <a:ext cx="185703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fijas (Universo A):</a:t>
            </a:r>
          </a:p>
        </p:txBody>
      </p:sp>
      <p:sp>
        <p:nvSpPr>
          <p:cNvPr id="312" name="ANUARIO_ANEXO_P127_L068"/>
          <p:cNvSpPr txBox="1"/>
          <p:nvPr/>
        </p:nvSpPr>
        <p:spPr>
          <a:xfrm>
            <a:off x="4781194" y="3283077"/>
            <a:ext cx="17950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R005: Larga distancia en línea particular</a:t>
            </a:r>
          </a:p>
        </p:txBody>
      </p:sp>
      <p:sp>
        <p:nvSpPr>
          <p:cNvPr id="313" name="ANUARIO_ANEXO_P127_L069"/>
          <p:cNvSpPr txBox="1"/>
          <p:nvPr/>
        </p:nvSpPr>
        <p:spPr>
          <a:xfrm>
            <a:off x="4781194" y="3391295"/>
            <a:ext cx="187163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R006: Llamadas locales de línea particular</a:t>
            </a:r>
          </a:p>
        </p:txBody>
      </p:sp>
      <p:sp>
        <p:nvSpPr>
          <p:cNvPr id="314" name="ANUARIO_ANEXO_P127_L070"/>
          <p:cNvSpPr txBox="1"/>
          <p:nvPr/>
        </p:nvSpPr>
        <p:spPr>
          <a:xfrm>
            <a:off x="4781194" y="3499514"/>
            <a:ext cx="765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R008: Internet</a:t>
            </a:r>
          </a:p>
        </p:txBody>
      </p:sp>
      <p:sp>
        <p:nvSpPr>
          <p:cNvPr id="315" name="ANUARIO_ANEXO_P127_L071"/>
          <p:cNvSpPr txBox="1"/>
          <p:nvPr/>
        </p:nvSpPr>
        <p:spPr>
          <a:xfrm>
            <a:off x="4781194" y="3607733"/>
            <a:ext cx="117778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R009: Televisión de paga</a:t>
            </a:r>
          </a:p>
        </p:txBody>
      </p:sp>
      <p:sp>
        <p:nvSpPr>
          <p:cNvPr id="316" name="ANUARIO_ANEXO_P127_L072"/>
          <p:cNvSpPr txBox="1"/>
          <p:nvPr/>
        </p:nvSpPr>
        <p:spPr>
          <a:xfrm>
            <a:off x="4781194" y="3715952"/>
            <a:ext cx="153029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R010: Paquete Internet y teléfono</a:t>
            </a:r>
          </a:p>
        </p:txBody>
      </p:sp>
      <p:sp>
        <p:nvSpPr>
          <p:cNvPr id="317" name="ANUARIO_ANEXO_P127_L073"/>
          <p:cNvSpPr txBox="1"/>
          <p:nvPr/>
        </p:nvSpPr>
        <p:spPr>
          <a:xfrm>
            <a:off x="4781194" y="3824171"/>
            <a:ext cx="2300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R011: Paquete Internet, teléfono y televisión de paga </a:t>
            </a:r>
          </a:p>
        </p:txBody>
      </p:sp>
      <p:sp>
        <p:nvSpPr>
          <p:cNvPr id="318" name="ANUARIO_ANEXO_P127_L074"/>
          <p:cNvSpPr txBox="1"/>
          <p:nvPr/>
        </p:nvSpPr>
        <p:spPr>
          <a:xfrm>
            <a:off x="4647536" y="4039192"/>
            <a:ext cx="199924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móviles (Universo B):</a:t>
            </a:r>
          </a:p>
        </p:txBody>
      </p:sp>
      <p:sp>
        <p:nvSpPr>
          <p:cNvPr id="319" name="ANUARIO_ANEXO_P127_L075"/>
          <p:cNvSpPr txBox="1"/>
          <p:nvPr/>
        </p:nvSpPr>
        <p:spPr>
          <a:xfrm>
            <a:off x="4781194" y="4254213"/>
            <a:ext cx="28627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F003: Compra de tarjetas y pago por el servicio de teléfono celular</a:t>
            </a:r>
          </a:p>
        </p:txBody>
      </p:sp>
      <p:sp>
        <p:nvSpPr>
          <p:cNvPr id="320" name="ANUARIO_ANEXO_P127_L076"/>
          <p:cNvSpPr txBox="1"/>
          <p:nvPr/>
        </p:nvSpPr>
        <p:spPr>
          <a:xfrm>
            <a:off x="4781194" y="4362433"/>
            <a:ext cx="18172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R007: Teléfonos celulares (plan mensual)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128</a:t>
            </a:r>
          </a:p>
        </p:txBody>
      </p:sp>
      <p:sp>
        <p:nvSpPr>
          <p:cNvPr id="222" name="ANUARIO_ANEXO_P128_L001"/>
          <p:cNvSpPr txBox="1"/>
          <p:nvPr/>
        </p:nvSpPr>
        <p:spPr>
          <a:xfrm>
            <a:off x="695494" y="656471"/>
            <a:ext cx="396126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Para obtener el gasto promedio en servicios fijos o en servicios móviles, según sea el caso, </a:t>
            </a:r>
          </a:p>
        </p:txBody>
      </p:sp>
      <p:sp>
        <p:nvSpPr>
          <p:cNvPr id="223" name="ANUARIO_ANEXO_P128_L002"/>
          <p:cNvSpPr txBox="1"/>
          <p:nvPr/>
        </p:nvSpPr>
        <p:spPr>
          <a:xfrm>
            <a:off x="806876" y="770873"/>
            <a:ext cx="38500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 utilizan los gastos listados en el paso tres y se dividen entre tres para que sean mensuales. </a:t>
            </a:r>
          </a:p>
        </p:txBody>
      </p:sp>
      <p:sp>
        <p:nvSpPr>
          <p:cNvPr id="224" name="ANUARIO_ANEXO_P128_L003"/>
          <p:cNvSpPr txBox="1"/>
          <p:nvPr/>
        </p:nvSpPr>
        <p:spPr>
          <a:xfrm>
            <a:off x="806876" y="884591"/>
            <a:ext cx="384969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Posteriormente, el gasto se divide entre el número de hogares que disponen y gastan en los </a:t>
            </a:r>
          </a:p>
        </p:txBody>
      </p:sp>
      <p:sp>
        <p:nvSpPr>
          <p:cNvPr id="225" name="ANUARIO_ANEXO_P128_L004"/>
          <p:cNvSpPr txBox="1"/>
          <p:nvPr/>
        </p:nvSpPr>
        <p:spPr>
          <a:xfrm>
            <a:off x="806876" y="998309"/>
            <a:ext cx="384940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analizados. De esta manera, el gasto mostrado en las figuras del Anuario representa </a:t>
            </a:r>
          </a:p>
        </p:txBody>
      </p:sp>
      <p:sp>
        <p:nvSpPr>
          <p:cNvPr id="226" name="ANUARIO_ANEXO_P128_L005"/>
          <p:cNvSpPr txBox="1"/>
          <p:nvPr/>
        </p:nvSpPr>
        <p:spPr>
          <a:xfrm>
            <a:off x="806876" y="1112027"/>
            <a:ext cx="385004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gasto promedio mensual en telecomunicaciones fijas o en telecomunicaciones móviles </a:t>
            </a:r>
          </a:p>
        </p:txBody>
      </p:sp>
      <p:sp>
        <p:nvSpPr>
          <p:cNvPr id="227" name="ANUARIO_ANEXO_P128_L006"/>
          <p:cNvSpPr txBox="1"/>
          <p:nvPr/>
        </p:nvSpPr>
        <p:spPr>
          <a:xfrm>
            <a:off x="806876" y="1225745"/>
            <a:ext cx="291584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que tuvieron los hogares que disponían y gastaban en estos servicios.</a:t>
            </a:r>
          </a:p>
        </p:txBody>
      </p:sp>
      <p:sp>
        <p:nvSpPr>
          <p:cNvPr id="228" name="ANUARIO_ANEXO_P128_L007"/>
          <p:cNvSpPr txBox="1"/>
          <p:nvPr/>
        </p:nvSpPr>
        <p:spPr>
          <a:xfrm>
            <a:off x="695494" y="1445582"/>
            <a:ext cx="396054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a:t>
            </a:r>
            <a:r>
              <a:rPr sz="592" b="0" i="0">
                <a:solidFill>
                  <a:srgbClr val="1F3031"/>
                </a:solidFill>
                <a:latin typeface="Noto Sans"/>
              </a:rPr>
              <a:t>  Para el porcentaje del gasto con respecto al ingreso, para cada decil de ingreso se toman los </a:t>
            </a:r>
          </a:p>
        </p:txBody>
      </p:sp>
      <p:sp>
        <p:nvSpPr>
          <p:cNvPr id="229" name="ANUARIO_ANEXO_P128_L008"/>
          <p:cNvSpPr txBox="1"/>
          <p:nvPr/>
        </p:nvSpPr>
        <p:spPr>
          <a:xfrm>
            <a:off x="806876" y="1559984"/>
            <a:ext cx="38500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gastos en telecomunicaciones fijas y móviles que se explican en el paso dos y se dividen entre </a:t>
            </a:r>
          </a:p>
        </p:txBody>
      </p:sp>
      <p:sp>
        <p:nvSpPr>
          <p:cNvPr id="230" name="ANUARIO_ANEXO_P128_L009"/>
          <p:cNvSpPr txBox="1"/>
          <p:nvPr/>
        </p:nvSpPr>
        <p:spPr>
          <a:xfrm>
            <a:off x="806876" y="1673702"/>
            <a:ext cx="324312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ingreso total de los hogares que dispusieron y gastaron en dichos servicios.</a:t>
            </a:r>
          </a:p>
        </p:txBody>
      </p:sp>
      <p:sp>
        <p:nvSpPr>
          <p:cNvPr id="231" name="ANUARIO_ANEXO_P128_L010"/>
          <p:cNvSpPr txBox="1"/>
          <p:nvPr/>
        </p:nvSpPr>
        <p:spPr>
          <a:xfrm>
            <a:off x="528422" y="1896891"/>
            <a:ext cx="3547076"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CONSUMO DE RADIO Y TELEVISIÓN, PARTICULARIDADES </a:t>
            </a:r>
          </a:p>
        </p:txBody>
      </p:sp>
      <p:sp>
        <p:nvSpPr>
          <p:cNvPr id="232" name="ANUARIO_ANEXO_P128_L011"/>
          <p:cNvSpPr txBox="1"/>
          <p:nvPr/>
        </p:nvSpPr>
        <p:spPr>
          <a:xfrm>
            <a:off x="528422" y="2044786"/>
            <a:ext cx="1217495"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METODOLÓGICAS</a:t>
            </a:r>
          </a:p>
        </p:txBody>
      </p:sp>
      <p:sp>
        <p:nvSpPr>
          <p:cNvPr id="233" name="ANUARIO_ANEXO_P128_L012"/>
          <p:cNvSpPr txBox="1"/>
          <p:nvPr/>
        </p:nvSpPr>
        <p:spPr>
          <a:xfrm>
            <a:off x="528422" y="2275452"/>
            <a:ext cx="41281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presentada toma como base los datos compilados por Nielsen IBOPE (Nielsen </a:t>
            </a:r>
          </a:p>
        </p:txBody>
      </p:sp>
      <p:sp>
        <p:nvSpPr>
          <p:cNvPr id="234" name="ANUARIO_ANEXO_P128_L013"/>
          <p:cNvSpPr txBox="1"/>
          <p:nvPr/>
        </p:nvSpPr>
        <p:spPr>
          <a:xfrm>
            <a:off x="528422" y="2389170"/>
            <a:ext cx="41281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IBOPE México S.A de C.V.), a través dispositivos llamados “people meter”, mismos que permiten la </a:t>
            </a:r>
          </a:p>
        </p:txBody>
      </p:sp>
      <p:sp>
        <p:nvSpPr>
          <p:cNvPr id="235" name="ANUARIO_ANEXO_P128_L014"/>
          <p:cNvSpPr txBox="1"/>
          <p:nvPr/>
        </p:nvSpPr>
        <p:spPr>
          <a:xfrm>
            <a:off x="528422" y="2502889"/>
            <a:ext cx="19280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recopilación de datos por medio electrónico.</a:t>
            </a:r>
          </a:p>
        </p:txBody>
      </p:sp>
      <p:sp>
        <p:nvSpPr>
          <p:cNvPr id="236" name="ANUARIO_ANEXO_P128_L015"/>
          <p:cNvSpPr txBox="1"/>
          <p:nvPr/>
        </p:nvSpPr>
        <p:spPr>
          <a:xfrm>
            <a:off x="528422" y="2723408"/>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Nielsen IBOPE tiene mediciones agrupadas en cinco rubros o dominios en México: AMCM (Área </a:t>
            </a:r>
          </a:p>
        </p:txBody>
      </p:sp>
      <p:sp>
        <p:nvSpPr>
          <p:cNvPr id="237" name="ANUARIO_ANEXO_P128_L016"/>
          <p:cNvSpPr txBox="1"/>
          <p:nvPr/>
        </p:nvSpPr>
        <p:spPr>
          <a:xfrm>
            <a:off x="528422" y="2837126"/>
            <a:ext cx="412780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Metropolitana de la Ciudad de México), Monterrey (Área Metropolitana de la Ciudad de Monterrey), </a:t>
            </a:r>
          </a:p>
        </p:txBody>
      </p:sp>
      <p:sp>
        <p:nvSpPr>
          <p:cNvPr id="238" name="ANUARIO_ANEXO_P128_L017"/>
          <p:cNvSpPr txBox="1"/>
          <p:nvPr/>
        </p:nvSpPr>
        <p:spPr>
          <a:xfrm>
            <a:off x="528422" y="2950845"/>
            <a:ext cx="41279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Guadalajara (Área Metropolitana de la Ciudad de Guadalajara); los dos anteriores considerados </a:t>
            </a:r>
          </a:p>
        </p:txBody>
      </p:sp>
      <p:sp>
        <p:nvSpPr>
          <p:cNvPr id="239" name="ANUARIO_ANEXO_P128_L018"/>
          <p:cNvSpPr txBox="1"/>
          <p:nvPr/>
        </p:nvSpPr>
        <p:spPr>
          <a:xfrm>
            <a:off x="528422" y="3064563"/>
            <a:ext cx="412768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dominios indicativos, además un conglomerado de 25 ciudades del interior de la república y </a:t>
            </a:r>
          </a:p>
        </p:txBody>
      </p:sp>
      <p:sp>
        <p:nvSpPr>
          <p:cNvPr id="240" name="ANUARIO_ANEXO_P128_L019"/>
          <p:cNvSpPr txBox="1"/>
          <p:nvPr/>
        </p:nvSpPr>
        <p:spPr>
          <a:xfrm>
            <a:off x="528422" y="3178281"/>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conjunto de las 28 ciudades del estudio. Los datos que se presentan a nivel país (28 ciudades) son </a:t>
            </a:r>
          </a:p>
        </p:txBody>
      </p:sp>
      <p:sp>
        <p:nvSpPr>
          <p:cNvPr id="241" name="ANUARIO_ANEXO_P128_L020"/>
          <p:cNvSpPr txBox="1"/>
          <p:nvPr/>
        </p:nvSpPr>
        <p:spPr>
          <a:xfrm>
            <a:off x="528422" y="3291999"/>
            <a:ext cx="23476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del total de los dominios evaluados por Nielsen IBOPE. </a:t>
            </a:r>
          </a:p>
        </p:txBody>
      </p:sp>
      <p:sp>
        <p:nvSpPr>
          <p:cNvPr id="242" name="ANUARIO_ANEXO_P128_L021"/>
          <p:cNvSpPr txBox="1"/>
          <p:nvPr/>
        </p:nvSpPr>
        <p:spPr>
          <a:xfrm>
            <a:off x="528422" y="3512519"/>
            <a:ext cx="412807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referirse al Universo de Personas se consideran las personas mayores de 4 años que tengan acceso </a:t>
            </a:r>
          </a:p>
        </p:txBody>
      </p:sp>
      <p:sp>
        <p:nvSpPr>
          <p:cNvPr id="243" name="ANUARIO_ANEXO_P128_L022"/>
          <p:cNvSpPr txBox="1"/>
          <p:nvPr/>
        </p:nvSpPr>
        <p:spPr>
          <a:xfrm>
            <a:off x="528422" y="3626237"/>
            <a:ext cx="179652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 una televisión funcionando en su hogar.</a:t>
            </a:r>
          </a:p>
        </p:txBody>
      </p:sp>
      <p:sp>
        <p:nvSpPr>
          <p:cNvPr id="244" name="ANUARIO_ANEXO_P128_L023"/>
          <p:cNvSpPr txBox="1"/>
          <p:nvPr/>
        </p:nvSpPr>
        <p:spPr>
          <a:xfrm>
            <a:off x="4647536" y="657155"/>
            <a:ext cx="41282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niveles de audiencia reportados son de las personas que cuentan con un televisor que funciona y </a:t>
            </a:r>
          </a:p>
        </p:txBody>
      </p:sp>
      <p:sp>
        <p:nvSpPr>
          <p:cNvPr id="245" name="ANUARIO_ANEXO_P128_L024"/>
          <p:cNvSpPr txBox="1"/>
          <p:nvPr/>
        </p:nvSpPr>
        <p:spPr>
          <a:xfrm>
            <a:off x="4647536" y="764151"/>
            <a:ext cx="41277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tiene acceso a ver algún tipo de contenido en canales de TV a través de del mismo, independientemente </a:t>
            </a:r>
          </a:p>
        </p:txBody>
      </p:sp>
      <p:sp>
        <p:nvSpPr>
          <p:cNvPr id="246" name="ANUARIO_ANEXO_P128_L025"/>
          <p:cNvSpPr txBox="1"/>
          <p:nvPr/>
        </p:nvSpPr>
        <p:spPr>
          <a:xfrm>
            <a:off x="4647536" y="871146"/>
            <a:ext cx="412842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forma en que reciban la señal (señal abierta, o restringida u otros dispositivos conectados a la </a:t>
            </a:r>
          </a:p>
        </p:txBody>
      </p:sp>
      <p:sp>
        <p:nvSpPr>
          <p:cNvPr id="247" name="ANUARIO_ANEXO_P128_L026"/>
          <p:cNvSpPr txBox="1"/>
          <p:nvPr/>
        </p:nvSpPr>
        <p:spPr>
          <a:xfrm>
            <a:off x="4647536" y="978142"/>
            <a:ext cx="240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TV) y se incluyen invitados en el hogar (Guests Viewers). </a:t>
            </a:r>
          </a:p>
        </p:txBody>
      </p:sp>
      <p:sp>
        <p:nvSpPr>
          <p:cNvPr id="248" name="ANUARIO_ANEXO_P128_L027"/>
          <p:cNvSpPr txBox="1"/>
          <p:nvPr/>
        </p:nvSpPr>
        <p:spPr>
          <a:xfrm>
            <a:off x="4647536" y="1191940"/>
            <a:ext cx="41284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Cuando se habla de canales nacionales de acuerdo al análisis definido por el IFT se consideran: </a:t>
            </a:r>
          </a:p>
        </p:txBody>
      </p:sp>
      <p:sp>
        <p:nvSpPr>
          <p:cNvPr id="249" name="ANUARIO_ANEXO_P128_L028"/>
          <p:cNvSpPr txBox="1"/>
          <p:nvPr/>
        </p:nvSpPr>
        <p:spPr>
          <a:xfrm>
            <a:off x="4647536" y="1298935"/>
            <a:ext cx="346571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Azteca Uno, Las Estrellas, Imagen TV, Canal 5, Azteca 7, NU9VE, A MAS + y ADN40.</a:t>
            </a:r>
          </a:p>
        </p:txBody>
      </p:sp>
      <p:sp>
        <p:nvSpPr>
          <p:cNvPr id="250" name="ANUARIO_ANEXO_P128_L029"/>
          <p:cNvSpPr txBox="1"/>
          <p:nvPr/>
        </p:nvSpPr>
        <p:spPr>
          <a:xfrm>
            <a:off x="4647536" y="1512733"/>
            <a:ext cx="412816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análisis e interpretación fue realizado bajo la responsabilidad del IFT, con información de </a:t>
            </a:r>
          </a:p>
        </p:txBody>
      </p:sp>
      <p:sp>
        <p:nvSpPr>
          <p:cNvPr id="251" name="ANUARIO_ANEXO_P128_L030"/>
          <p:cNvSpPr txBox="1"/>
          <p:nvPr/>
        </p:nvSpPr>
        <p:spPr>
          <a:xfrm>
            <a:off x="4647536" y="1619728"/>
            <a:ext cx="41279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audiencias de Nielsen IBOPE México bajo los términos contractuales de licenciamiento de las bases </a:t>
            </a:r>
          </a:p>
        </p:txBody>
      </p:sp>
      <p:sp>
        <p:nvSpPr>
          <p:cNvPr id="252" name="ANUARIO_ANEXO_P128_L031"/>
          <p:cNvSpPr txBox="1"/>
          <p:nvPr/>
        </p:nvSpPr>
        <p:spPr>
          <a:xfrm>
            <a:off x="4647536" y="1726723"/>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datos de audiencias de televisión, Nielsen IBOPE ha validado al IFT que la información estadística </a:t>
            </a:r>
          </a:p>
        </p:txBody>
      </p:sp>
      <p:sp>
        <p:nvSpPr>
          <p:cNvPr id="253" name="ANUARIO_ANEXO_P128_L032"/>
          <p:cNvSpPr txBox="1"/>
          <p:nvPr/>
        </p:nvSpPr>
        <p:spPr>
          <a:xfrm>
            <a:off x="4647536" y="1833719"/>
            <a:ext cx="412822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audiencias de televisión contenida en el mencionado reporte concuerda con aquellas licenciadas </a:t>
            </a:r>
          </a:p>
        </p:txBody>
      </p:sp>
      <p:sp>
        <p:nvSpPr>
          <p:cNvPr id="254" name="ANUARIO_ANEXO_P128_L033"/>
          <p:cNvSpPr txBox="1"/>
          <p:nvPr/>
        </p:nvSpPr>
        <p:spPr>
          <a:xfrm>
            <a:off x="4647536" y="1940714"/>
            <a:ext cx="11266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IFT por Nielsen IBOPE.</a:t>
            </a:r>
          </a:p>
        </p:txBody>
      </p:sp>
      <p:sp>
        <p:nvSpPr>
          <p:cNvPr id="255" name="ANUARIO_ANEXO_P128_L034"/>
          <p:cNvSpPr txBox="1"/>
          <p:nvPr/>
        </p:nvSpPr>
        <p:spPr>
          <a:xfrm>
            <a:off x="4647536" y="2157182"/>
            <a:ext cx="3526619"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ENCUESTA NACIONAL SOBRE DISPONIBILIDAD Y USO DE </a:t>
            </a:r>
          </a:p>
        </p:txBody>
      </p:sp>
      <p:sp>
        <p:nvSpPr>
          <p:cNvPr id="256" name="ANUARIO_ANEXO_P128_L035"/>
          <p:cNvSpPr txBox="1"/>
          <p:nvPr/>
        </p:nvSpPr>
        <p:spPr>
          <a:xfrm>
            <a:off x="4647536" y="2298355"/>
            <a:ext cx="4106260"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TECNOLOGÍAS DE LA INFORMACIÓN EN LOS HOGARES (ENDUTIH) </a:t>
            </a:r>
          </a:p>
        </p:txBody>
      </p:sp>
      <p:sp>
        <p:nvSpPr>
          <p:cNvPr id="257" name="ANUARIO_ANEXO_P128_L036"/>
          <p:cNvSpPr txBox="1"/>
          <p:nvPr/>
        </p:nvSpPr>
        <p:spPr>
          <a:xfrm>
            <a:off x="4647536" y="2439527"/>
            <a:ext cx="2852194"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2025, PARTICULARIDADES METODOLÓGICAS</a:t>
            </a:r>
            <a:r>
              <a:rPr sz="475" b="1" i="0">
                <a:solidFill>
                  <a:srgbClr val="484979"/>
                </a:solidFill>
                <a:latin typeface="Noto Sans"/>
              </a:rPr>
              <a:t>13</a:t>
            </a:r>
          </a:p>
        </p:txBody>
      </p:sp>
      <p:sp>
        <p:nvSpPr>
          <p:cNvPr id="258" name="ANUARIO_ANEXO_P128_L037"/>
          <p:cNvSpPr txBox="1"/>
          <p:nvPr/>
        </p:nvSpPr>
        <p:spPr>
          <a:xfrm>
            <a:off x="4647536" y="2663470"/>
            <a:ext cx="412838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ENDUTIH tiene como finalidad obtener información sobre la disponibilidad y el uso de las </a:t>
            </a:r>
          </a:p>
        </p:txBody>
      </p:sp>
      <p:sp>
        <p:nvSpPr>
          <p:cNvPr id="259" name="ANUARIO_ANEXO_P128_L038"/>
          <p:cNvSpPr txBox="1"/>
          <p:nvPr/>
        </p:nvSpPr>
        <p:spPr>
          <a:xfrm>
            <a:off x="4647536" y="2770466"/>
            <a:ext cx="412816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tecnologías de información y comunicaciones en los hogares y su utilización por los individuos de </a:t>
            </a:r>
          </a:p>
        </p:txBody>
      </p:sp>
      <p:sp>
        <p:nvSpPr>
          <p:cNvPr id="260" name="ANUARIO_ANEXO_P128_L039"/>
          <p:cNvSpPr txBox="1"/>
          <p:nvPr/>
        </p:nvSpPr>
        <p:spPr>
          <a:xfrm>
            <a:off x="4647536" y="2877461"/>
            <a:ext cx="41275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seis años o más en México. A partir de la publicación de los resultados del año 2021 de la ENDUTIH, </a:t>
            </a:r>
          </a:p>
        </p:txBody>
      </p:sp>
      <p:sp>
        <p:nvSpPr>
          <p:cNvPr id="261" name="ANUARIO_ANEXO_P128_L040"/>
          <p:cNvSpPr txBox="1"/>
          <p:nvPr/>
        </p:nvSpPr>
        <p:spPr>
          <a:xfrm>
            <a:off x="4647536" y="2984457"/>
            <a:ext cx="412772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factores de expansión responden a la nueva estimación de población, en lugar de las cifras de las </a:t>
            </a:r>
          </a:p>
        </p:txBody>
      </p:sp>
      <p:sp>
        <p:nvSpPr>
          <p:cNvPr id="262" name="ANUARIO_ANEXO_P128_L041"/>
          <p:cNvSpPr txBox="1"/>
          <p:nvPr/>
        </p:nvSpPr>
        <p:spPr>
          <a:xfrm>
            <a:off x="4647536" y="3091453"/>
            <a:ext cx="41284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proyecciones poblacionales que se venían utilizando desde 2013. Ahora, el INEGI estará generando </a:t>
            </a:r>
          </a:p>
        </p:txBody>
      </p:sp>
      <p:sp>
        <p:nvSpPr>
          <p:cNvPr id="263" name="ANUARIO_ANEXO_P128_L042"/>
          <p:cNvSpPr txBox="1"/>
          <p:nvPr/>
        </p:nvSpPr>
        <p:spPr>
          <a:xfrm>
            <a:off x="4647536" y="3198448"/>
            <a:ext cx="367813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una estimación de población, con base en la propia actualización de la Muestra Maestra.</a:t>
            </a:r>
          </a:p>
        </p:txBody>
      </p:sp>
      <p:sp>
        <p:nvSpPr>
          <p:cNvPr id="264" name="ANUARIO_ANEXO_P128_L043"/>
          <p:cNvSpPr txBox="1"/>
          <p:nvPr/>
        </p:nvSpPr>
        <p:spPr>
          <a:xfrm>
            <a:off x="4647536" y="3412246"/>
            <a:ext cx="41285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eventos de los años 2017 a 2020 fueron actualizados con estimación de la población el 4 de julio </a:t>
            </a:r>
          </a:p>
        </p:txBody>
      </p:sp>
      <p:sp>
        <p:nvSpPr>
          <p:cNvPr id="265" name="ANUARIO_ANEXO_P128_L044"/>
          <p:cNvSpPr txBox="1"/>
          <p:nvPr/>
        </p:nvSpPr>
        <p:spPr>
          <a:xfrm>
            <a:off x="4647536" y="3519241"/>
            <a:ext cx="4128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2022, a la par de la publicación de 2021. Los eventos del año 2015-2016 se actualizaron el 30 de </a:t>
            </a:r>
          </a:p>
        </p:txBody>
      </p:sp>
      <p:sp>
        <p:nvSpPr>
          <p:cNvPr id="266" name="ANUARIO_ANEXO_P128_L045"/>
          <p:cNvSpPr txBox="1"/>
          <p:nvPr/>
        </p:nvSpPr>
        <p:spPr>
          <a:xfrm>
            <a:off x="4647536" y="3626237"/>
            <a:ext cx="9354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noviembre de 2022. </a:t>
            </a:r>
          </a:p>
        </p:txBody>
      </p:sp>
      <p:sp>
        <p:nvSpPr>
          <p:cNvPr id="267" name="ANUARIO_ANEXO_P128_L046"/>
          <p:cNvSpPr txBox="1"/>
          <p:nvPr/>
        </p:nvSpPr>
        <p:spPr>
          <a:xfrm>
            <a:off x="383625" y="4429651"/>
            <a:ext cx="3840370" cy="118622"/>
          </a:xfrm>
          <a:prstGeom prst="rect">
            <a:avLst/>
          </a:prstGeom>
          <a:noFill/>
        </p:spPr>
        <p:txBody>
          <a:bodyPr wrap="none" lIns="0" rIns="0" tIns="0" bIns="0">
            <a:noAutofit/>
          </a:bodyPr>
          <a:lstStyle/>
          <a:p>
            <a:pPr>
              <a:spcBef>
                <a:spcPts val="0"/>
              </a:spcBef>
              <a:spcAft>
                <a:spcPts val="0"/>
              </a:spcAft>
            </a:pPr>
            <a:r>
              <a:rPr sz="259" b="0" i="0">
                <a:solidFill>
                  <a:srgbClr val="1F3031"/>
                </a:solidFill>
                <a:latin typeface="Noto Sans"/>
              </a:rPr>
              <a:t>13</a:t>
            </a:r>
            <a:r>
              <a:rPr sz="444" b="0" i="0">
                <a:solidFill>
                  <a:srgbClr val="1F3031"/>
                </a:solidFill>
                <a:latin typeface="Noto Sans"/>
              </a:rPr>
              <a:t> Fuente: IFT con información del INEGI. Para más información consultar: </a:t>
            </a:r>
            <a:r>
              <a:rPr sz="444" b="0" i="0">
                <a:solidFill>
                  <a:srgbClr val="0563C1"/>
                </a:solidFill>
                <a:latin typeface="Noto Sans"/>
                <a:hlinkClick r:id="rId2"/>
              </a:rPr>
              <a:t>https://www.inegi.org.mx/programas/endutih/2025/</a:t>
            </a:r>
            <a:r>
              <a:rPr sz="444" b="0" i="0">
                <a:solidFill>
                  <a:srgbClr val="1F3031"/>
                </a:solidFill>
                <a:latin typeface="Noto Sans"/>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129</a:t>
            </a:r>
          </a:p>
        </p:txBody>
      </p:sp>
      <p:sp>
        <p:nvSpPr>
          <p:cNvPr id="222" name="ANUARIO_ANEXO_P129_L001"/>
          <p:cNvSpPr txBox="1"/>
          <p:nvPr/>
        </p:nvSpPr>
        <p:spPr>
          <a:xfrm>
            <a:off x="528422" y="1048163"/>
            <a:ext cx="3580401"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ENCUESTA NACIONAL DE OCUPACIÓN Y EMPLEO (ENOE), </a:t>
            </a:r>
          </a:p>
        </p:txBody>
      </p:sp>
      <p:sp>
        <p:nvSpPr>
          <p:cNvPr id="223" name="ANUARIO_ANEXO_P129_L002"/>
          <p:cNvSpPr txBox="1"/>
          <p:nvPr/>
        </p:nvSpPr>
        <p:spPr>
          <a:xfrm>
            <a:off x="528422" y="1189142"/>
            <a:ext cx="383192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POBLACIÓN DE 15 AÑOS Y MÁS DE EDAD, PARTICULARIDADES </a:t>
            </a:r>
          </a:p>
        </p:txBody>
      </p:sp>
      <p:sp>
        <p:nvSpPr>
          <p:cNvPr id="224" name="ANUARIO_ANEXO_P129_L003"/>
          <p:cNvSpPr txBox="1"/>
          <p:nvPr/>
        </p:nvSpPr>
        <p:spPr>
          <a:xfrm>
            <a:off x="528422" y="1330121"/>
            <a:ext cx="1285996"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14</a:t>
            </a:r>
          </a:p>
        </p:txBody>
      </p:sp>
      <p:sp>
        <p:nvSpPr>
          <p:cNvPr id="225" name="ANUARIO_ANEXO_P129_L004"/>
          <p:cNvSpPr txBox="1"/>
          <p:nvPr/>
        </p:nvSpPr>
        <p:spPr>
          <a:xfrm>
            <a:off x="528422" y="1553871"/>
            <a:ext cx="41281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ENOE es la principal fuente de información sobre el mercado laboral mexicano al ofrecer datos </a:t>
            </a:r>
          </a:p>
        </p:txBody>
      </p:sp>
      <p:sp>
        <p:nvSpPr>
          <p:cNvPr id="226" name="ANUARIO_ANEXO_P129_L005"/>
          <p:cNvSpPr txBox="1"/>
          <p:nvPr/>
        </p:nvSpPr>
        <p:spPr>
          <a:xfrm>
            <a:off x="528422" y="1660673"/>
            <a:ext cx="41284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mensuales y trimestrales de la fuerza de trabajo, la ocupación, la informalidad laboral, la subocupación </a:t>
            </a:r>
          </a:p>
        </p:txBody>
      </p:sp>
      <p:sp>
        <p:nvSpPr>
          <p:cNvPr id="227" name="ANUARIO_ANEXO_P129_L006"/>
          <p:cNvSpPr txBox="1"/>
          <p:nvPr/>
        </p:nvSpPr>
        <p:spPr>
          <a:xfrm>
            <a:off x="528422" y="1767475"/>
            <a:ext cx="8825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la desocupación. </a:t>
            </a:r>
          </a:p>
        </p:txBody>
      </p:sp>
      <p:sp>
        <p:nvSpPr>
          <p:cNvPr id="228" name="ANUARIO_ANEXO_P129_L007"/>
          <p:cNvSpPr txBox="1"/>
          <p:nvPr/>
        </p:nvSpPr>
        <p:spPr>
          <a:xfrm>
            <a:off x="528422" y="1981079"/>
            <a:ext cx="412796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enero de 2023, se retoma el levantamiento de la ENOE como Información de Interés </a:t>
            </a:r>
          </a:p>
        </p:txBody>
      </p:sp>
      <p:sp>
        <p:nvSpPr>
          <p:cNvPr id="229" name="ANUARIO_ANEXO_P129_L008"/>
          <p:cNvSpPr txBox="1"/>
          <p:nvPr/>
        </p:nvSpPr>
        <p:spPr>
          <a:xfrm>
            <a:off x="528422" y="2087880"/>
            <a:ext cx="41284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e incorporando las preguntas de migración y lugar de trabajo y la aplicación de entrevistas </a:t>
            </a:r>
          </a:p>
        </p:txBody>
      </p:sp>
      <p:sp>
        <p:nvSpPr>
          <p:cNvPr id="230" name="ANUARIO_ANEXO_P129_L009"/>
          <p:cNvSpPr txBox="1"/>
          <p:nvPr/>
        </p:nvSpPr>
        <p:spPr>
          <a:xfrm>
            <a:off x="528422" y="2194682"/>
            <a:ext cx="109973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 a cara y telefónicas.</a:t>
            </a:r>
          </a:p>
        </p:txBody>
      </p:sp>
      <p:sp>
        <p:nvSpPr>
          <p:cNvPr id="231" name="ANUARIO_ANEXO_P129_L010"/>
          <p:cNvSpPr txBox="1"/>
          <p:nvPr/>
        </p:nvSpPr>
        <p:spPr>
          <a:xfrm>
            <a:off x="528422" y="2408286"/>
            <a:ext cx="41278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periodo de suspensión del levantamiento de la ENOE en abril de 2020, debido </a:t>
            </a:r>
          </a:p>
        </p:txBody>
      </p:sp>
      <p:sp>
        <p:nvSpPr>
          <p:cNvPr id="232" name="ANUARIO_ANEXO_P129_L011"/>
          <p:cNvSpPr txBox="1"/>
          <p:nvPr/>
        </p:nvSpPr>
        <p:spPr>
          <a:xfrm>
            <a:off x="528422" y="2515088"/>
            <a:ext cx="41277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la contingencia sanitaria, consultar la publicación de la ETOE de abril a junio de 2020, así como los </a:t>
            </a:r>
          </a:p>
        </p:txBody>
      </p:sp>
      <p:sp>
        <p:nvSpPr>
          <p:cNvPr id="233" name="ANUARIO_ANEXO_P129_L012"/>
          <p:cNvSpPr txBox="1"/>
          <p:nvPr/>
        </p:nvSpPr>
        <p:spPr>
          <a:xfrm>
            <a:off x="528422" y="2621890"/>
            <a:ext cx="4107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resultados de la ENOE Nueva Edición (ENOEN) para el periodo de julio de 2020 a diciembre de 2022.</a:t>
            </a:r>
          </a:p>
        </p:txBody>
      </p:sp>
      <p:sp>
        <p:nvSpPr>
          <p:cNvPr id="234" name="ANUARIO_ANEXO_P129_L013"/>
          <p:cNvSpPr txBox="1"/>
          <p:nvPr/>
        </p:nvSpPr>
        <p:spPr>
          <a:xfrm>
            <a:off x="528422" y="2835494"/>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la publicación del primer trimestre de 2021 de la ENOE</a:t>
            </a:r>
            <a:r>
              <a:rPr sz="373" b="0" i="0">
                <a:solidFill>
                  <a:srgbClr val="1F3031"/>
                </a:solidFill>
                <a:latin typeface="Noto Sans"/>
              </a:rPr>
              <a:t>N</a:t>
            </a:r>
            <a:r>
              <a:rPr sz="640" b="0" i="0">
                <a:solidFill>
                  <a:srgbClr val="1F3031"/>
                </a:solidFill>
                <a:latin typeface="Noto Sans"/>
              </a:rPr>
              <a:t> (17 de mayo de 2021), los factores </a:t>
            </a:r>
          </a:p>
        </p:txBody>
      </p:sp>
      <p:sp>
        <p:nvSpPr>
          <p:cNvPr id="235" name="ANUARIO_ANEXO_P129_L014"/>
          <p:cNvSpPr txBox="1"/>
          <p:nvPr/>
        </p:nvSpPr>
        <p:spPr>
          <a:xfrm>
            <a:off x="528422" y="2942296"/>
            <a:ext cx="412788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expansión responden a la nueva estimación de población, en lugar de las cifras de las proyecciones </a:t>
            </a:r>
          </a:p>
        </p:txBody>
      </p:sp>
      <p:sp>
        <p:nvSpPr>
          <p:cNvPr id="236" name="ANUARIO_ANEXO_P129_L015"/>
          <p:cNvSpPr txBox="1"/>
          <p:nvPr/>
        </p:nvSpPr>
        <p:spPr>
          <a:xfrm>
            <a:off x="528422" y="3049098"/>
            <a:ext cx="41282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poblacionales que se venían utilizando desde 2013. Ahora, el INEGI estará generando una estimación </a:t>
            </a:r>
          </a:p>
        </p:txBody>
      </p:sp>
      <p:sp>
        <p:nvSpPr>
          <p:cNvPr id="237" name="ANUARIO_ANEXO_P129_L016"/>
          <p:cNvSpPr txBox="1"/>
          <p:nvPr/>
        </p:nvSpPr>
        <p:spPr>
          <a:xfrm>
            <a:off x="528422" y="3155900"/>
            <a:ext cx="399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población por entidad federativa, con base en la propia actualización del Marco de Muestreo.</a:t>
            </a:r>
          </a:p>
        </p:txBody>
      </p:sp>
      <p:sp>
        <p:nvSpPr>
          <p:cNvPr id="238" name="ANUARIO_ANEXO_P129_L017"/>
          <p:cNvSpPr txBox="1"/>
          <p:nvPr/>
        </p:nvSpPr>
        <p:spPr>
          <a:xfrm>
            <a:off x="528422" y="3369504"/>
            <a:ext cx="41283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la finalidad de actualizar totalmente la serie histórica para la ENOE y ENOE</a:t>
            </a:r>
            <a:r>
              <a:rPr sz="373" b="0" i="0">
                <a:solidFill>
                  <a:srgbClr val="1F3031"/>
                </a:solidFill>
                <a:latin typeface="Noto Sans"/>
              </a:rPr>
              <a:t>N</a:t>
            </a:r>
            <a:r>
              <a:rPr sz="640" b="0" i="0">
                <a:solidFill>
                  <a:srgbClr val="1F3031"/>
                </a:solidFill>
                <a:latin typeface="Noto Sans"/>
              </a:rPr>
              <a:t> con la nueva </a:t>
            </a:r>
          </a:p>
        </p:txBody>
      </p:sp>
      <p:sp>
        <p:nvSpPr>
          <p:cNvPr id="239" name="ANUARIO_ANEXO_P129_L018"/>
          <p:cNvSpPr txBox="1"/>
          <p:nvPr/>
        </p:nvSpPr>
        <p:spPr>
          <a:xfrm>
            <a:off x="528422" y="3476306"/>
            <a:ext cx="41286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estimación de población, que será de 2005 hasta 2020, se llevará a cabo un esquema de divulgación </a:t>
            </a:r>
          </a:p>
        </p:txBody>
      </p:sp>
      <p:sp>
        <p:nvSpPr>
          <p:cNvPr id="240" name="ANUARIO_ANEXO_P129_L019"/>
          <p:cNvSpPr txBox="1"/>
          <p:nvPr/>
        </p:nvSpPr>
        <p:spPr>
          <a:xfrm>
            <a:off x="528422" y="3583108"/>
            <a:ext cx="30067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permitirá reemplazar de forma paulatina los productos publicados. </a:t>
            </a:r>
          </a:p>
        </p:txBody>
      </p:sp>
      <p:sp>
        <p:nvSpPr>
          <p:cNvPr id="241" name="ANUARIO_ANEXO_P129_L020"/>
          <p:cNvSpPr txBox="1"/>
          <p:nvPr/>
        </p:nvSpPr>
        <p:spPr>
          <a:xfrm>
            <a:off x="4647536" y="1048163"/>
            <a:ext cx="3452983"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PRODUCTO INTERNO BRUTO (PIB), PARTICULARIDADES </a:t>
            </a:r>
          </a:p>
        </p:txBody>
      </p:sp>
      <p:sp>
        <p:nvSpPr>
          <p:cNvPr id="242" name="ANUARIO_ANEXO_P129_L021"/>
          <p:cNvSpPr txBox="1"/>
          <p:nvPr/>
        </p:nvSpPr>
        <p:spPr>
          <a:xfrm>
            <a:off x="4647536" y="1197036"/>
            <a:ext cx="128585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15</a:t>
            </a:r>
          </a:p>
        </p:txBody>
      </p:sp>
      <p:sp>
        <p:nvSpPr>
          <p:cNvPr id="243" name="ANUARIO_ANEXO_P129_L022"/>
          <p:cNvSpPr txBox="1"/>
          <p:nvPr/>
        </p:nvSpPr>
        <p:spPr>
          <a:xfrm>
            <a:off x="4647536" y="1428681"/>
            <a:ext cx="412842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Producto Interno Bruto (PIB) es el principal indicador de la actividad económica en el país. Se </a:t>
            </a:r>
          </a:p>
        </p:txBody>
      </p:sp>
      <p:sp>
        <p:nvSpPr>
          <p:cNvPr id="244" name="ANUARIO_ANEXO_P129_L023"/>
          <p:cNvSpPr txBox="1"/>
          <p:nvPr/>
        </p:nvSpPr>
        <p:spPr>
          <a:xfrm>
            <a:off x="4647536" y="1543376"/>
            <a:ext cx="412833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 estimar en términos reales (eliminando los efectos de los precios) o en términos corrientes. </a:t>
            </a:r>
          </a:p>
        </p:txBody>
      </p:sp>
      <p:sp>
        <p:nvSpPr>
          <p:cNvPr id="245" name="ANUARIO_ANEXO_P129_L024"/>
          <p:cNvSpPr txBox="1"/>
          <p:nvPr/>
        </p:nvSpPr>
        <p:spPr>
          <a:xfrm>
            <a:off x="4647536" y="1658073"/>
            <a:ext cx="3605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Este indicador se puede calcular por tres métodos: 1) producción, 2) gasto y 3) ingreso. </a:t>
            </a:r>
          </a:p>
        </p:txBody>
      </p:sp>
      <p:sp>
        <p:nvSpPr>
          <p:cNvPr id="246" name="ANUARIO_ANEXO_P129_L025"/>
          <p:cNvSpPr txBox="1"/>
          <p:nvPr/>
        </p:nvSpPr>
        <p:spPr>
          <a:xfrm>
            <a:off x="4647536" y="1879571"/>
            <a:ext cx="412842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PIB trimestral ofrece en el corto plazo una visión oportuna, completa y coherente de la evolución </a:t>
            </a:r>
          </a:p>
        </p:txBody>
      </p:sp>
      <p:sp>
        <p:nvSpPr>
          <p:cNvPr id="247" name="ANUARIO_ANEXO_P129_L026"/>
          <p:cNvSpPr txBox="1"/>
          <p:nvPr/>
        </p:nvSpPr>
        <p:spPr>
          <a:xfrm>
            <a:off x="4647536" y="1994267"/>
            <a:ext cx="412797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las actividades económicas del país, proporcionando información actualizada para apoyar la </a:t>
            </a:r>
          </a:p>
        </p:txBody>
      </p:sp>
      <p:sp>
        <p:nvSpPr>
          <p:cNvPr id="248" name="ANUARIO_ANEXO_P129_L027"/>
          <p:cNvSpPr txBox="1"/>
          <p:nvPr/>
        </p:nvSpPr>
        <p:spPr>
          <a:xfrm>
            <a:off x="4647536" y="2108964"/>
            <a:ext cx="9234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toma de decisiones.</a:t>
            </a:r>
          </a:p>
        </p:txBody>
      </p:sp>
      <p:sp>
        <p:nvSpPr>
          <p:cNvPr id="249" name="ANUARIO_ANEXO_P129_L028"/>
          <p:cNvSpPr txBox="1"/>
          <p:nvPr/>
        </p:nvSpPr>
        <p:spPr>
          <a:xfrm>
            <a:off x="4647536" y="2330461"/>
            <a:ext cx="41283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29 de agosto de 2023 el Instituto Nacional de Estadística y Geografía (INEGI) presentó la </a:t>
            </a:r>
          </a:p>
        </p:txBody>
      </p:sp>
      <p:sp>
        <p:nvSpPr>
          <p:cNvPr id="250" name="ANUARIO_ANEXO_P129_L029"/>
          <p:cNvSpPr txBox="1"/>
          <p:nvPr/>
        </p:nvSpPr>
        <p:spPr>
          <a:xfrm>
            <a:off x="4647536" y="2445157"/>
            <a:ext cx="412806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del Sistema de Cuentas Nacionales de México (SCNM), Base 2018 (CAB 2018), con </a:t>
            </a:r>
          </a:p>
        </p:txBody>
      </p:sp>
      <p:sp>
        <p:nvSpPr>
          <p:cNvPr id="251" name="ANUARIO_ANEXO_P129_L030"/>
          <p:cNvSpPr txBox="1"/>
          <p:nvPr/>
        </p:nvSpPr>
        <p:spPr>
          <a:xfrm>
            <a:off x="4647536" y="2559854"/>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que el PIB tendría modificaciones. Lo anterior, en función de los Lineamientos para el Ciclo de </a:t>
            </a:r>
          </a:p>
        </p:txBody>
      </p:sp>
      <p:sp>
        <p:nvSpPr>
          <p:cNvPr id="252" name="ANUARIO_ANEXO_P129_L031"/>
          <p:cNvSpPr txBox="1"/>
          <p:nvPr/>
        </p:nvSpPr>
        <p:spPr>
          <a:xfrm>
            <a:off x="4647536" y="2674550"/>
            <a:ext cx="412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 la Información Económica, publicados en julio de 2015. La clave para la integración </a:t>
            </a:r>
          </a:p>
        </p:txBody>
      </p:sp>
      <p:sp>
        <p:nvSpPr>
          <p:cNvPr id="253" name="ANUARIO_ANEXO_P129_L032"/>
          <p:cNvSpPr txBox="1"/>
          <p:nvPr/>
        </p:nvSpPr>
        <p:spPr>
          <a:xfrm>
            <a:off x="4647536" y="2789246"/>
            <a:ext cx="41280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conceptual fue la adopción y adaptación del marco teórico-contable que han ofrecido las versiones </a:t>
            </a:r>
          </a:p>
        </p:txBody>
      </p:sp>
      <p:sp>
        <p:nvSpPr>
          <p:cNvPr id="254" name="ANUARIO_ANEXO_P129_L033"/>
          <p:cNvSpPr txBox="1"/>
          <p:nvPr/>
        </p:nvSpPr>
        <p:spPr>
          <a:xfrm>
            <a:off x="4647536" y="2903942"/>
            <a:ext cx="41285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Sistema de Cuentas Nacionales (SCN) aprobado por la Comisión de Estadística de las Naciones </a:t>
            </a:r>
          </a:p>
        </p:txBody>
      </p:sp>
      <p:sp>
        <p:nvSpPr>
          <p:cNvPr id="255" name="ANUARIO_ANEXO_P129_L034"/>
          <p:cNvSpPr txBox="1"/>
          <p:nvPr/>
        </p:nvSpPr>
        <p:spPr>
          <a:xfrm>
            <a:off x="4647536" y="3018639"/>
            <a:ext cx="41286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Unidas para 1968, 1993 y 2008, y algunos aspectos de la revisión del SCN hacia el nuevo marco del </a:t>
            </a:r>
          </a:p>
        </p:txBody>
      </p:sp>
      <p:sp>
        <p:nvSpPr>
          <p:cNvPr id="256" name="ANUARIO_ANEXO_P129_L035"/>
          <p:cNvSpPr txBox="1"/>
          <p:nvPr/>
        </p:nvSpPr>
        <p:spPr>
          <a:xfrm>
            <a:off x="4647536" y="3133335"/>
            <a:ext cx="33646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2025.</a:t>
            </a:r>
          </a:p>
        </p:txBody>
      </p:sp>
      <p:sp>
        <p:nvSpPr>
          <p:cNvPr id="257" name="ANUARIO_ANEXO_P129_L036"/>
          <p:cNvSpPr txBox="1"/>
          <p:nvPr/>
        </p:nvSpPr>
        <p:spPr>
          <a:xfrm>
            <a:off x="4647536" y="3354833"/>
            <a:ext cx="412778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cobertura geográfica del PIB es nacional y alcanza una representatividad de 97.7% del valor </a:t>
            </a:r>
          </a:p>
        </p:txBody>
      </p:sp>
      <p:sp>
        <p:nvSpPr>
          <p:cNvPr id="258" name="ANUARIO_ANEXO_P129_L037"/>
          <p:cNvSpPr txBox="1"/>
          <p:nvPr/>
        </p:nvSpPr>
        <p:spPr>
          <a:xfrm>
            <a:off x="4647536" y="3469529"/>
            <a:ext cx="41281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agregado bruto del año base 2018. Se presenta por actividad económica, sectores, subsectores y las </a:t>
            </a:r>
          </a:p>
        </p:txBody>
      </p:sp>
      <p:sp>
        <p:nvSpPr>
          <p:cNvPr id="259" name="ANUARIO_ANEXO_P129_L038"/>
          <p:cNvSpPr txBox="1"/>
          <p:nvPr/>
        </p:nvSpPr>
        <p:spPr>
          <a:xfrm>
            <a:off x="4647536" y="3584225"/>
            <a:ext cx="224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ramas de actividad de las industrias manufactureras. </a:t>
            </a:r>
          </a:p>
        </p:txBody>
      </p:sp>
      <p:sp>
        <p:nvSpPr>
          <p:cNvPr id="260" name="ANUARIO_ANEXO_P129_L039"/>
          <p:cNvSpPr txBox="1"/>
          <p:nvPr/>
        </p:nvSpPr>
        <p:spPr>
          <a:xfrm>
            <a:off x="383625" y="4429651"/>
            <a:ext cx="3909100"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14</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2"/>
              </a:rPr>
              <a:t>https://www.inegi.org.mx/programas/enoe/15ymas/</a:t>
            </a:r>
            <a:r>
              <a:rPr sz="480" b="0" i="0">
                <a:solidFill>
                  <a:srgbClr val="1F3031"/>
                </a:solidFill>
                <a:latin typeface="Noto Sans"/>
              </a:rPr>
              <a:t>.</a:t>
            </a:r>
          </a:p>
        </p:txBody>
      </p:sp>
      <p:sp>
        <p:nvSpPr>
          <p:cNvPr id="261" name="ANUARIO_ANEXO_P129_L040"/>
          <p:cNvSpPr txBox="1"/>
          <p:nvPr/>
        </p:nvSpPr>
        <p:spPr>
          <a:xfrm>
            <a:off x="383625" y="4527909"/>
            <a:ext cx="4803382"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15</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3"/>
              </a:rPr>
              <a:t>https://www.inegi.org.mx/contenidos/programas/pib/2018/doc/guia_cab2018.pdf</a:t>
            </a:r>
            <a:r>
              <a:rPr sz="480" b="0" i="0">
                <a:solidFill>
                  <a:srgbClr val="1F3031"/>
                </a:solidFill>
                <a:latin typeface="Noto Sans"/>
              </a:rPr>
              <a:t>.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V"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IV. MÉTODOS DE CÁLCULO DE INDICADORES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130</a:t>
            </a:r>
          </a:p>
        </p:txBody>
      </p:sp>
      <p:sp>
        <p:nvSpPr>
          <p:cNvPr id="222" name="ANUARIO_ANEXO_IV_TITLE"/>
          <p:cNvSpPr txBox="1"/>
          <p:nvPr/>
        </p:nvSpPr>
        <p:spPr>
          <a:xfrm>
            <a:off x="384048" y="667512"/>
            <a:ext cx="8321040" cy="265176"/>
          </a:xfrm>
          <a:prstGeom prst="rect">
            <a:avLst/>
          </a:prstGeom>
          <a:noFill/>
        </p:spPr>
        <p:txBody>
          <a:bodyPr wrap="square" lIns="0" rIns="0" tIns="0" bIns="0">
            <a:noAutofit/>
          </a:bodyPr>
          <a:lstStyle/>
          <a:p>
            <a:pPr algn="l">
              <a:lnSpc>
                <a:spcPct val="100000"/>
              </a:lnSpc>
              <a:spcBef>
                <a:spcPts val="0"/>
              </a:spcBef>
              <a:spcAft>
                <a:spcPts val="0"/>
              </a:spcAft>
            </a:pPr>
            <a:r>
              <a:rPr sz="1200" b="1">
                <a:solidFill>
                  <a:srgbClr val="1F4544"/>
                </a:solidFill>
                <a:latin typeface="Noto Sans"/>
              </a:rPr>
              <a:t>ANEXO IV. MÉTODOS DE CÁLCULO DE INDICADORES</a:t>
            </a:r>
          </a:p>
        </p:txBody>
      </p:sp>
      <p:sp>
        <p:nvSpPr>
          <p:cNvPr id="223" name="ANUARIO_ANEXO_IV_INTRO"/>
          <p:cNvSpPr txBox="1"/>
          <p:nvPr/>
        </p:nvSpPr>
        <p:spPr>
          <a:xfrm>
            <a:off x="384048" y="978408"/>
            <a:ext cx="8321040" cy="155448"/>
          </a:xfrm>
          <a:prstGeom prst="rect">
            <a:avLst/>
          </a:prstGeom>
          <a:noFill/>
        </p:spPr>
        <p:txBody>
          <a:bodyPr wrap="square" lIns="0" rIns="0" tIns="0" bIns="0">
            <a:noAutofit/>
          </a:bodyPr>
          <a:lstStyle/>
          <a:p>
            <a:pPr algn="l">
              <a:lnSpc>
                <a:spcPct val="100000"/>
              </a:lnSpc>
              <a:spcBef>
                <a:spcPts val="0"/>
              </a:spcBef>
              <a:spcAft>
                <a:spcPts val="0"/>
              </a:spcAft>
            </a:pPr>
            <a:r>
              <a:rPr sz="750" b="0">
                <a:solidFill>
                  <a:srgbClr val="1F3031"/>
                </a:solidFill>
                <a:latin typeface="Noto Sans"/>
              </a:rPr>
              <a:t>Para obtener los indicadores mostrados en el documento se utilizaron los siguientes métodos de cálculo:</a:t>
            </a:r>
          </a:p>
        </p:txBody>
      </p:sp>
      <p:graphicFrame>
        <p:nvGraphicFramePr>
          <p:cNvPr id="224" name="ANUARIO_ANEXO_IV_TABLA_IZQUIERDA"/>
          <p:cNvGraphicFramePr>
            <a:graphicFrameLocks noGrp="1"/>
          </p:cNvGraphicFramePr>
          <p:nvPr/>
        </p:nvGraphicFramePr>
        <p:xfrm>
          <a:off x="384048"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621792">
                <a:tc>
                  <a:txBody>
                    <a:bodyPr/>
                    <a:lstStyle/>
                    <a:p>
                      <a:pPr algn="ctr">
                        <a:spcBef>
                          <a:spcPts val="0"/>
                        </a:spcBef>
                        <a:spcAft>
                          <a:spcPts val="0"/>
                        </a:spcAft>
                      </a:pPr>
                      <a:r>
                        <a:rPr sz="655" b="0">
                          <a:solidFill>
                            <a:srgbClr val="1F3031"/>
                          </a:solidFill>
                          <a:latin typeface="Noto Sans"/>
                        </a:rPr>
                        <a:t>Índice de Herfindahl-Hirschman (IHH)</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(participación de mercado de cada grupo económico × 100)²</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o accesos residenciales por cada 100 hogares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Accesos o líneas residenciales ÷ hogares de ENDUTIH del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o accesos no residenciales por cada 100 UE</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Accesos o líneas no residenciales ÷ unidades económicas de DENUE × 100</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móviles de telefonía por cada 100 habitantes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Líneas del servicio móvil de telefonía ÷ población compatible con 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de Internet móvil por cada 100 habitantes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Líneas del servicio móvil de Internet ÷ población compatible con el corte × 100</a:t>
                      </a:r>
                    </a:p>
                  </a:txBody>
                  <a:tcPr anchor="ctr" marL="54864" marR="54864" marT="18288" marB="18288">
                    <a:solidFill>
                      <a:srgbClr val="FFFFFF"/>
                    </a:solidFill>
                  </a:tcPr>
                </a:tc>
              </a:tr>
            </a:tbl>
          </a:graphicData>
        </a:graphic>
      </p:graphicFrame>
      <p:graphicFrame>
        <p:nvGraphicFramePr>
          <p:cNvPr id="225" name="ANUARIO_ANEXO_IV_TABLA_DERECHA"/>
          <p:cNvGraphicFramePr>
            <a:graphicFrameLocks noGrp="1"/>
          </p:cNvGraphicFramePr>
          <p:nvPr/>
        </p:nvGraphicFramePr>
        <p:xfrm>
          <a:off x="4645152"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777240">
                <a:tc>
                  <a:txBody>
                    <a:bodyPr/>
                    <a:lstStyle/>
                    <a:p>
                      <a:pPr algn="ctr">
                        <a:spcBef>
                          <a:spcPts val="0"/>
                        </a:spcBef>
                        <a:spcAft>
                          <a:spcPts val="0"/>
                        </a:spcAft>
                      </a:pPr>
                      <a:r>
                        <a:rPr sz="655" b="0">
                          <a:solidFill>
                            <a:srgbClr val="1F3031"/>
                          </a:solidFill>
                          <a:latin typeface="Noto Sans"/>
                        </a:rPr>
                        <a:t>Minutos de uso promedio mensual (MOU)</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(minutos mensuales ÷ líneas del servicio de telefonía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Tráfico mensual promedio de Internet móvil</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Σ (GB mensuales ÷ líneas de Internet móvil de cada mes) ÷ 12</a:t>
                      </a:r>
                    </a:p>
                  </a:txBody>
                  <a:tcPr anchor="ctr" marL="54864" marR="54864" marT="18288" marB="18288">
                    <a:solidFill>
                      <a:srgbClr val="F2F7F6"/>
                    </a:solidFill>
                  </a:tcPr>
                </a:tc>
              </a:tr>
              <a:tr h="777240">
                <a:tc>
                  <a:txBody>
                    <a:bodyPr/>
                    <a:lstStyle/>
                    <a:p>
                      <a:pPr algn="ctr">
                        <a:spcBef>
                          <a:spcPts val="0"/>
                        </a:spcBef>
                        <a:spcAft>
                          <a:spcPts val="0"/>
                        </a:spcAft>
                      </a:pPr>
                      <a:r>
                        <a:rPr sz="655" b="0">
                          <a:solidFill>
                            <a:srgbClr val="1F3031"/>
                          </a:solidFill>
                          <a:latin typeface="Noto Sans"/>
                        </a:rPr>
                        <a:t>Mensajes de texto promedio (SMS)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(SMS enviados por mes ÷ líneas móviles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Margen de utilidad</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Ingresos brutos − egresos operativos</a:t>
                      </a:r>
                    </a:p>
                  </a:txBody>
                  <a:tcPr anchor="ctr" marL="54864" marR="54864" marT="18288" marB="18288">
                    <a:solidFill>
                      <a:srgbClr val="F2F7F6"/>
                    </a:solidFill>
                  </a:tcPr>
                </a:tc>
              </a:tr>
            </a:tbl>
          </a:graphicData>
        </a:graphic>
      </p:graphicFrame>
      <p:sp>
        <p:nvSpPr>
          <p:cNvPr id="226" name="ANUARIO_ANEXO_IV_NOTA"/>
          <p:cNvSpPr txBox="1"/>
          <p:nvPr/>
        </p:nvSpPr>
        <p:spPr>
          <a:xfrm>
            <a:off x="393192" y="4553712"/>
            <a:ext cx="8321040" cy="164592"/>
          </a:xfrm>
          <a:prstGeom prst="rect">
            <a:avLst/>
          </a:prstGeom>
          <a:noFill/>
        </p:spPr>
        <p:txBody>
          <a:bodyPr wrap="square" lIns="0" rIns="0" tIns="0" bIns="0">
            <a:noAutofit/>
          </a:bodyPr>
          <a:lstStyle/>
          <a:p>
            <a:pPr algn="l">
              <a:lnSpc>
                <a:spcPct val="100000"/>
              </a:lnSpc>
              <a:spcBef>
                <a:spcPts val="0"/>
              </a:spcBef>
              <a:spcAft>
                <a:spcPts val="0"/>
              </a:spcAft>
            </a:pPr>
            <a:r>
              <a:rPr sz="620" b="0">
                <a:solidFill>
                  <a:srgbClr val="4B5858"/>
                </a:solidFill>
                <a:latin typeface="Noto Sans"/>
              </a:rPr>
              <a:t>Nota: hogares y población corresponden a la ENDUTIH del corte de cada figura; las UE provienen del DENUE. Las figuras identifican fuente y periodo.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