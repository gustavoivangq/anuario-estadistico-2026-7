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be9c7cf808de4e9d"/><Relationship Type="http://schemas.openxmlformats.org/officeDocument/2006/relationships/image" Target="../media/slide4_diseno_image.png" Id="Re9d5d72c38924a16"/><Relationship Type="http://schemas.openxmlformats.org/officeDocument/2006/relationships/image" Target="../media/slide4_diseno_image2.png" Id="Rb5c444f1c6cb476e"/><Relationship Type="http://schemas.openxmlformats.org/officeDocument/2006/relationships/image" Target="../media/slide4_diseno_image3.png" Id="R45279ff6ee7f4af1"/><Relationship Type="http://schemas.openxmlformats.org/officeDocument/2006/relationships/image" Target="../media/slide4_diseno_image4.png" Id="R30298c0e75084c3d"/><Relationship Type="http://schemas.openxmlformats.org/officeDocument/2006/relationships/hyperlink" Target="https://bit.crt.gob.mx/BitWebApp/" TargetMode="External" Id="R44a62cbf7b934b2e"/></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app/mapa/denue/default"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5d72c38924a16"/>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ANUARIO_QR_FONDO">
            <a:extLst xmlns:a="http://schemas.openxmlformats.org/drawingml/2006/main">
              <a:ext uri="{FF2B5EF4-FFF2-40B4-BE49-F238E27FC236}">
                <a16:creationId xmlns:a16="http://schemas.microsoft.com/office/drawing/2014/main" id="{EE1B343B-CBB7-4ADB-A4DD-3473AA5B9F8E}"/>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279ff6ee7f4af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298c0e75084c3d"/>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E13A28F4-B26D-46B7-A110-4EE4FA2EF88D}"/>
              </a:ext>
            </a:extLst>
          </p:cNvPr>
          <p:cNvSpPr>
            <a:spLocks xmlns:a="http://schemas.openxmlformats.org/drawingml/2006/main" noGrp="1"/>
          </p:cNvSpPr>
          <p:nvPr/>
        </p:nvSpPr>
        <p:spPr>
          <a:xfrm xmlns:a="http://schemas.openxmlformats.org/drawingml/2006/main">
            <a:off x="304800" y="12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FFFFFF"/>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C4F4D267-61DF-4126-BBDD-0A466628648D}"/>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5B40B105-5F7E-4F78-8C44-8648894E5734}"/>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44a62cbf7b934b2e"/>
              </a:rPr>
              <a:t>BIT CRT · bit.crt.gob.mx/BitWebApp</a:t>
            </a:r>
          </a:p>
        </p:txBody>
      </p:sp>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9_L001"/>
          <p:cNvSpPr txBox="1"/>
          <p:nvPr/>
        </p:nvSpPr>
        <p:spPr>
          <a:xfrm>
            <a:off x="414572" y="880944"/>
            <a:ext cx="1699589"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ECONÓMICOS</a:t>
            </a:r>
          </a:p>
        </p:txBody>
      </p:sp>
      <p:sp>
        <p:nvSpPr>
          <p:cNvPr id="228" name="ANUARIO_REFERENCIA_2024_P9_L002"/>
          <p:cNvSpPr txBox="1"/>
          <p:nvPr/>
        </p:nvSpPr>
        <p:spPr>
          <a:xfrm>
            <a:off x="414572" y="2734668"/>
            <a:ext cx="167941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ESPECTRO RADIOELÉCTRICO</a:t>
            </a:r>
          </a:p>
        </p:txBody>
      </p:sp>
      <p:sp>
        <p:nvSpPr>
          <p:cNvPr id="229" name="ANUARIO_REFERENCIA_2024_P9_L003"/>
          <p:cNvSpPr txBox="1"/>
          <p:nvPr/>
        </p:nvSpPr>
        <p:spPr>
          <a:xfrm>
            <a:off x="4608465" y="615362"/>
            <a:ext cx="273724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MÓVILES DE TELECOMUNICACIONES</a:t>
            </a:r>
          </a:p>
        </p:txBody>
      </p:sp>
      <p:sp>
        <p:nvSpPr>
          <p:cNvPr id="230" name="ANUARIO_REFERENCIA_2024_P9_L004"/>
          <p:cNvSpPr txBox="1"/>
          <p:nvPr/>
        </p:nvSpPr>
        <p:spPr>
          <a:xfrm>
            <a:off x="414572" y="3698229"/>
            <a:ext cx="11767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diciembre de 2023.</a:t>
            </a:r>
          </a:p>
        </p:txBody>
      </p:sp>
      <p:sp>
        <p:nvSpPr>
          <p:cNvPr id="231" name="ANUARIO_REFERENCIA_2024_P9_L005"/>
          <p:cNvSpPr txBox="1"/>
          <p:nvPr/>
        </p:nvSpPr>
        <p:spPr>
          <a:xfrm>
            <a:off x="432631" y="3884559"/>
            <a:ext cx="2042043"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CONSUMO DE RADIO Y TELEVISIÓN</a:t>
            </a:r>
          </a:p>
        </p:txBody>
      </p:sp>
      <p:sp>
        <p:nvSpPr>
          <p:cNvPr id="232" name="ANUARIO_REFERENCIA_2024_P9_L006"/>
          <p:cNvSpPr txBox="1"/>
          <p:nvPr/>
        </p:nvSpPr>
        <p:spPr>
          <a:xfrm>
            <a:off x="433022" y="4277571"/>
            <a:ext cx="263522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proporción de personas que escucharon la radio alcanzó su máximo </a:t>
            </a:r>
          </a:p>
        </p:txBody>
      </p:sp>
      <p:sp>
        <p:nvSpPr>
          <p:cNvPr id="233" name="ANUARIO_REFERENCIA_2024_P9_L007"/>
          <p:cNvSpPr txBox="1"/>
          <p:nvPr/>
        </p:nvSpPr>
        <p:spPr>
          <a:xfrm>
            <a:off x="433022" y="4359284"/>
            <a:ext cx="124827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entre las </a:t>
            </a:r>
            <a:r>
              <a:rPr sz="688" b="1" i="0">
                <a:solidFill>
                  <a:srgbClr val="1C2829"/>
                </a:solidFill>
                <a:latin typeface="Noto Sans"/>
              </a:rPr>
              <a:t>9 y 10 de la mañana</a:t>
            </a:r>
            <a:r>
              <a:rPr sz="602" b="0" i="0">
                <a:solidFill>
                  <a:srgbClr val="1C2829"/>
                </a:solidFill>
                <a:latin typeface="Noto Sans"/>
              </a:rPr>
              <a:t>.</a:t>
            </a:r>
          </a:p>
        </p:txBody>
      </p:sp>
      <p:sp>
        <p:nvSpPr>
          <p:cNvPr id="234" name="ANUARIO_REFERENCIA_2024_P9_L008"/>
          <p:cNvSpPr txBox="1"/>
          <p:nvPr/>
        </p:nvSpPr>
        <p:spPr>
          <a:xfrm>
            <a:off x="433022" y="4129602"/>
            <a:ext cx="903825"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Escucharon la radio</a:t>
            </a:r>
          </a:p>
        </p:txBody>
      </p:sp>
      <p:sp>
        <p:nvSpPr>
          <p:cNvPr id="235" name="ANUARIO_REFERENCIA_2024_P9_L009"/>
          <p:cNvSpPr txBox="1"/>
          <p:nvPr/>
        </p:nvSpPr>
        <p:spPr>
          <a:xfrm>
            <a:off x="2840005" y="3042630"/>
            <a:ext cx="1534005"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774" b="1" i="0">
                <a:solidFill>
                  <a:srgbClr val="1C2829"/>
                </a:solidFill>
                <a:latin typeface="Noto Sans"/>
              </a:rPr>
              <a:t>21.7%</a:t>
            </a:r>
            <a:r>
              <a:rPr sz="602" b="0" i="0">
                <a:solidFill>
                  <a:srgbClr val="1C2829"/>
                </a:solidFill>
                <a:latin typeface="Noto Sans"/>
              </a:rPr>
              <a:t> del espectro radioeléctrico es</a:t>
            </a:r>
          </a:p>
        </p:txBody>
      </p:sp>
      <p:sp>
        <p:nvSpPr>
          <p:cNvPr id="236" name="ANUARIO_REFERENCIA_2024_P9_L010"/>
          <p:cNvSpPr txBox="1"/>
          <p:nvPr/>
        </p:nvSpPr>
        <p:spPr>
          <a:xfrm>
            <a:off x="2840007" y="3145182"/>
            <a:ext cx="1465037"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asignado a la banda de </a:t>
            </a:r>
            <a:r>
              <a:rPr sz="774" b="1" i="0">
                <a:solidFill>
                  <a:srgbClr val="1C2829"/>
                </a:solidFill>
                <a:latin typeface="Noto Sans"/>
              </a:rPr>
              <a:t>2,500 MHz</a:t>
            </a:r>
            <a:r>
              <a:rPr sz="602" b="0" i="0">
                <a:solidFill>
                  <a:srgbClr val="1C2829"/>
                </a:solidFill>
                <a:latin typeface="Noto Sans"/>
              </a:rPr>
              <a:t>.</a:t>
            </a:r>
          </a:p>
        </p:txBody>
      </p:sp>
      <p:sp>
        <p:nvSpPr>
          <p:cNvPr id="237" name="ANUARIO_REFERENCIA_2024_P9_L011"/>
          <p:cNvSpPr txBox="1"/>
          <p:nvPr/>
        </p:nvSpPr>
        <p:spPr>
          <a:xfrm>
            <a:off x="4741980" y="4285737"/>
            <a:ext cx="265130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Por su parte, el mayor porcentaje de personas viendo la televisión se </a:t>
            </a:r>
          </a:p>
        </p:txBody>
      </p:sp>
      <p:sp>
        <p:nvSpPr>
          <p:cNvPr id="238" name="ANUARIO_REFERENCIA_2024_P9_L012"/>
          <p:cNvSpPr txBox="1"/>
          <p:nvPr/>
        </p:nvSpPr>
        <p:spPr>
          <a:xfrm>
            <a:off x="4741980" y="4367423"/>
            <a:ext cx="1463850"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alcanzó entre las </a:t>
            </a:r>
            <a:r>
              <a:rPr sz="688" b="1" i="0">
                <a:solidFill>
                  <a:srgbClr val="1C2829"/>
                </a:solidFill>
                <a:latin typeface="Noto Sans"/>
              </a:rPr>
              <a:t>9 y 10 de la noche</a:t>
            </a:r>
            <a:r>
              <a:rPr sz="602" b="0" i="0">
                <a:solidFill>
                  <a:srgbClr val="1C2829"/>
                </a:solidFill>
                <a:latin typeface="Noto Sans"/>
              </a:rPr>
              <a:t>.</a:t>
            </a:r>
          </a:p>
        </p:txBody>
      </p:sp>
      <p:sp>
        <p:nvSpPr>
          <p:cNvPr id="239" name="ANUARIO_REFERENCIA_2024_P9_L013"/>
          <p:cNvSpPr txBox="1"/>
          <p:nvPr/>
        </p:nvSpPr>
        <p:spPr>
          <a:xfrm>
            <a:off x="4741963" y="4129602"/>
            <a:ext cx="893387"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Vieron la televisión</a:t>
            </a:r>
          </a:p>
        </p:txBody>
      </p:sp>
      <p:sp>
        <p:nvSpPr>
          <p:cNvPr id="240" name="ANUARIO_REFERENCIA_2024_P9_L014"/>
          <p:cNvSpPr txBox="1"/>
          <p:nvPr/>
        </p:nvSpPr>
        <p:spPr>
          <a:xfrm>
            <a:off x="432631" y="4601059"/>
            <a:ext cx="674581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El consumo de radio se obtuvo de la base de datos de INRA a través de </a:t>
            </a:r>
            <a:r>
              <a:rPr sz="430" b="0" i="1">
                <a:solidFill>
                  <a:srgbClr val="1C2829"/>
                </a:solidFill>
                <a:latin typeface="Noto Sans"/>
              </a:rPr>
              <a:t>software</a:t>
            </a:r>
            <a:r>
              <a:rPr sz="430" b="0" i="0">
                <a:solidFill>
                  <a:srgbClr val="1C2829"/>
                </a:solidFill>
                <a:latin typeface="Noto Sans"/>
              </a:rPr>
              <a:t> INRAM. El consumo de televisión se obtuvo de la base de datos de Audiencias-</a:t>
            </a:r>
            <a:r>
              <a:rPr sz="430" b="0" i="1">
                <a:solidFill>
                  <a:srgbClr val="1C2829"/>
                </a:solidFill>
                <a:latin typeface="Noto Sans"/>
              </a:rPr>
              <a:t>Ratings</a:t>
            </a:r>
            <a:r>
              <a:rPr sz="430" b="0" i="0">
                <a:solidFill>
                  <a:srgbClr val="1C2829"/>
                </a:solidFill>
                <a:latin typeface="Noto Sans"/>
              </a:rPr>
              <a:t> TV de Nielsen IBOPE, </a:t>
            </a:r>
            <a:r>
              <a:rPr sz="430" b="0" i="1">
                <a:solidFill>
                  <a:srgbClr val="1C2829"/>
                </a:solidFill>
                <a:latin typeface="Noto Sans"/>
              </a:rPr>
              <a:t>software</a:t>
            </a:r>
            <a:r>
              <a:rPr sz="430" b="0" i="0">
                <a:solidFill>
                  <a:srgbClr val="1C2829"/>
                </a:solidFill>
                <a:latin typeface="Noto Sans"/>
              </a:rPr>
              <a:t> de explotación MSS TV. Datos de julio 2023 a junio 2024.</a:t>
            </a:r>
          </a:p>
        </p:txBody>
      </p:sp>
      <p:sp>
        <p:nvSpPr>
          <p:cNvPr id="241" name="ANUARIO_REFERENCIA_2024_P9_L015"/>
          <p:cNvSpPr txBox="1"/>
          <p:nvPr/>
        </p:nvSpPr>
        <p:spPr>
          <a:xfrm>
            <a:off x="487823" y="1132333"/>
            <a:ext cx="286529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2023, los ingresos de las empresas del sector de telecomunicaciones sumaron </a:t>
            </a:r>
          </a:p>
        </p:txBody>
      </p:sp>
      <p:sp>
        <p:nvSpPr>
          <p:cNvPr id="242" name="ANUARIO_REFERENCIA_2024_P9_L016"/>
          <p:cNvSpPr txBox="1"/>
          <p:nvPr/>
        </p:nvSpPr>
        <p:spPr>
          <a:xfrm>
            <a:off x="420206" y="1204180"/>
            <a:ext cx="2914577" cy="149916"/>
          </a:xfrm>
          <a:prstGeom prst="rect">
            <a:avLst/>
          </a:prstGeom>
          <a:noFill/>
        </p:spPr>
        <p:txBody>
          <a:bodyPr wrap="none" anchor="t" lIns="0" rIns="0" tIns="0" bIns="0">
            <a:noAutofit/>
          </a:bodyPr>
          <a:lstStyle/>
          <a:p>
            <a:pPr>
              <a:spcBef>
                <a:spcPts val="0"/>
              </a:spcBef>
              <a:spcAft>
                <a:spcPts val="0"/>
              </a:spcAft>
            </a:pPr>
            <a:r>
              <a:rPr sz="681" b="1" i="0">
                <a:solidFill>
                  <a:srgbClr val="1C2829"/>
                </a:solidFill>
                <a:latin typeface="Noto Sans"/>
              </a:rPr>
              <a:t>$603 mil millones de pesos</a:t>
            </a:r>
            <a:r>
              <a:rPr sz="596" b="0" i="0">
                <a:solidFill>
                  <a:srgbClr val="1C2829"/>
                </a:solidFill>
                <a:latin typeface="Noto Sans"/>
              </a:rPr>
              <a:t>. Lo que representó un crecimiento anual del</a:t>
            </a:r>
            <a:r>
              <a:rPr sz="681" b="1" i="0">
                <a:solidFill>
                  <a:srgbClr val="1C2829"/>
                </a:solidFill>
                <a:latin typeface="Noto Sans"/>
              </a:rPr>
              <a:t>6.8%</a:t>
            </a:r>
            <a:r>
              <a:rPr sz="596" b="0" i="0">
                <a:solidFill>
                  <a:srgbClr val="1C2829"/>
                </a:solidFill>
                <a:latin typeface="Noto Sans"/>
              </a:rPr>
              <a:t>.</a:t>
            </a:r>
          </a:p>
        </p:txBody>
      </p:sp>
      <p:sp>
        <p:nvSpPr>
          <p:cNvPr id="243" name="ANUARIO_REFERENCIA_2024_P9_L017"/>
          <p:cNvSpPr txBox="1"/>
          <p:nvPr/>
        </p:nvSpPr>
        <p:spPr>
          <a:xfrm>
            <a:off x="420212" y="1342406"/>
            <a:ext cx="189825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2023.  </a:t>
            </a:r>
          </a:p>
        </p:txBody>
      </p:sp>
      <p:sp>
        <p:nvSpPr>
          <p:cNvPr id="244" name="ANUARIO_REFERENCIA_2024_P9_L018"/>
          <p:cNvSpPr txBox="1"/>
          <p:nvPr/>
        </p:nvSpPr>
        <p:spPr>
          <a:xfrm>
            <a:off x="488588" y="1523751"/>
            <a:ext cx="2866764" cy="137322"/>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junio de 2024, el PIB de telecomunicaciones y radiodifusión (TyR) fue de </a:t>
            </a:r>
            <a:r>
              <a:rPr sz="681" b="1" i="0">
                <a:solidFill>
                  <a:srgbClr val="1C2829"/>
                </a:solidFill>
                <a:latin typeface="Noto Sans"/>
              </a:rPr>
              <a:t>$404 </a:t>
            </a:r>
          </a:p>
        </p:txBody>
      </p:sp>
      <p:sp>
        <p:nvSpPr>
          <p:cNvPr id="245" name="ANUARIO_REFERENCIA_2024_P9_L019"/>
          <p:cNvSpPr txBox="1"/>
          <p:nvPr/>
        </p:nvSpPr>
        <p:spPr>
          <a:xfrm>
            <a:off x="420972" y="1616048"/>
            <a:ext cx="2796888"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mil millones de pesos</a:t>
            </a:r>
            <a:r>
              <a:rPr sz="602" b="0" i="0">
                <a:solidFill>
                  <a:srgbClr val="1C2829"/>
                </a:solidFill>
                <a:latin typeface="Noto Sans"/>
              </a:rPr>
              <a:t>, lo que representó un crecimiento anual de </a:t>
            </a:r>
            <a:r>
              <a:rPr sz="688" b="1" i="0">
                <a:solidFill>
                  <a:srgbClr val="1C2829"/>
                </a:solidFill>
                <a:latin typeface="Noto Sans"/>
              </a:rPr>
              <a:t>0.4%</a:t>
            </a:r>
            <a:r>
              <a:rPr sz="602" b="0" i="0">
                <a:solidFill>
                  <a:srgbClr val="1C2829"/>
                </a:solidFill>
                <a:latin typeface="Noto Sans"/>
              </a:rPr>
              <a:t>.</a:t>
            </a:r>
          </a:p>
        </p:txBody>
      </p:sp>
      <p:sp>
        <p:nvSpPr>
          <p:cNvPr id="246" name="ANUARIO_REFERENCIA_2024_P9_L020"/>
          <p:cNvSpPr txBox="1"/>
          <p:nvPr/>
        </p:nvSpPr>
        <p:spPr>
          <a:xfrm>
            <a:off x="420212" y="1742127"/>
            <a:ext cx="136014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del INEGI.  </a:t>
            </a:r>
          </a:p>
        </p:txBody>
      </p:sp>
      <p:sp>
        <p:nvSpPr>
          <p:cNvPr id="247" name="ANUARIO_REFERENCIA_2024_P9_L021"/>
          <p:cNvSpPr txBox="1"/>
          <p:nvPr/>
        </p:nvSpPr>
        <p:spPr>
          <a:xfrm>
            <a:off x="1188917" y="1923470"/>
            <a:ext cx="3212746"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junio de 2024, el </a:t>
            </a:r>
            <a:r>
              <a:rPr sz="688" b="1" i="0">
                <a:solidFill>
                  <a:srgbClr val="1C2829"/>
                </a:solidFill>
                <a:latin typeface="Noto Sans"/>
              </a:rPr>
              <a:t>82%</a:t>
            </a:r>
            <a:r>
              <a:rPr sz="602" b="0" i="0">
                <a:solidFill>
                  <a:srgbClr val="1C2829"/>
                </a:solidFill>
                <a:latin typeface="Noto Sans"/>
              </a:rPr>
              <a:t> de los empleos pertenecieron al sector de telecomunicaciones </a:t>
            </a:r>
          </a:p>
        </p:txBody>
      </p:sp>
      <p:sp>
        <p:nvSpPr>
          <p:cNvPr id="248" name="ANUARIO_REFERENCIA_2024_P9_L022"/>
          <p:cNvSpPr txBox="1"/>
          <p:nvPr/>
        </p:nvSpPr>
        <p:spPr>
          <a:xfrm>
            <a:off x="1121308" y="2015767"/>
            <a:ext cx="110398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y el </a:t>
            </a:r>
            <a:r>
              <a:rPr sz="688" b="1" i="0">
                <a:solidFill>
                  <a:srgbClr val="1C2829"/>
                </a:solidFill>
                <a:latin typeface="Noto Sans"/>
              </a:rPr>
              <a:t>18%</a:t>
            </a:r>
            <a:r>
              <a:rPr sz="602" b="0" i="0">
                <a:solidFill>
                  <a:srgbClr val="1C2829"/>
                </a:solidFill>
                <a:latin typeface="Noto Sans"/>
              </a:rPr>
              <a:t> al de radiodifusión.</a:t>
            </a:r>
          </a:p>
        </p:txBody>
      </p:sp>
      <p:sp>
        <p:nvSpPr>
          <p:cNvPr id="249" name="ANUARIO_REFERENCIA_2024_P9_L023"/>
          <p:cNvSpPr txBox="1"/>
          <p:nvPr/>
        </p:nvSpPr>
        <p:spPr>
          <a:xfrm>
            <a:off x="1122022" y="2136365"/>
            <a:ext cx="156817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 la ENOE- INEGI.  </a:t>
            </a:r>
          </a:p>
        </p:txBody>
      </p:sp>
      <p:sp>
        <p:nvSpPr>
          <p:cNvPr id="250" name="ANUARIO_REFERENCIA_2024_P9_L024"/>
          <p:cNvSpPr txBox="1"/>
          <p:nvPr/>
        </p:nvSpPr>
        <p:spPr>
          <a:xfrm>
            <a:off x="1188917" y="2319529"/>
            <a:ext cx="321324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De junio de 2013 a julio de 2024, los precios de comunicaciones en su conjunto </a:t>
            </a:r>
          </a:p>
        </p:txBody>
      </p:sp>
      <p:sp>
        <p:nvSpPr>
          <p:cNvPr id="251" name="ANUARIO_REFERENCIA_2024_P9_L025"/>
          <p:cNvSpPr txBox="1"/>
          <p:nvPr/>
        </p:nvSpPr>
        <p:spPr>
          <a:xfrm>
            <a:off x="1121312" y="2401242"/>
            <a:ext cx="2621327"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disminuyeron </a:t>
            </a:r>
            <a:r>
              <a:rPr sz="688" b="1" i="0">
                <a:solidFill>
                  <a:srgbClr val="1C2829"/>
                </a:solidFill>
                <a:latin typeface="Noto Sans"/>
              </a:rPr>
              <a:t>49.3%</a:t>
            </a:r>
            <a:r>
              <a:rPr sz="602" b="0" i="0">
                <a:solidFill>
                  <a:srgbClr val="1C2829"/>
                </a:solidFill>
                <a:latin typeface="Noto Sans"/>
              </a:rPr>
              <a:t>, mientras que la inflación general fue de </a:t>
            </a:r>
            <a:r>
              <a:rPr sz="688" b="1" i="0">
                <a:solidFill>
                  <a:srgbClr val="1C2829"/>
                </a:solidFill>
                <a:latin typeface="Noto Sans"/>
              </a:rPr>
              <a:t>66.6%</a:t>
            </a:r>
            <a:r>
              <a:rPr sz="602" b="0" i="0">
                <a:solidFill>
                  <a:srgbClr val="1C2829"/>
                </a:solidFill>
                <a:latin typeface="Noto Sans"/>
              </a:rPr>
              <a:t>.</a:t>
            </a:r>
          </a:p>
        </p:txBody>
      </p:sp>
      <p:sp>
        <p:nvSpPr>
          <p:cNvPr id="252" name="ANUARIO_REFERENCIA_2024_P9_L026"/>
          <p:cNvSpPr txBox="1"/>
          <p:nvPr/>
        </p:nvSpPr>
        <p:spPr>
          <a:xfrm>
            <a:off x="1121300" y="2523768"/>
            <a:ext cx="13021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julio de 2024, del INEGI.</a:t>
            </a:r>
          </a:p>
        </p:txBody>
      </p:sp>
      <p:sp>
        <p:nvSpPr>
          <p:cNvPr id="253" name="ANUARIO_REFERENCIA_2024_P9_L027"/>
          <p:cNvSpPr txBox="1"/>
          <p:nvPr/>
        </p:nvSpPr>
        <p:spPr>
          <a:xfrm>
            <a:off x="456304" y="3022002"/>
            <a:ext cx="152899"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0Hz</a:t>
            </a:r>
          </a:p>
        </p:txBody>
      </p:sp>
      <p:sp>
        <p:nvSpPr>
          <p:cNvPr id="254" name="ANUARIO_REFERENCIA_2024_P9_L028"/>
          <p:cNvSpPr txBox="1"/>
          <p:nvPr/>
        </p:nvSpPr>
        <p:spPr>
          <a:xfrm>
            <a:off x="717483" y="3022002"/>
            <a:ext cx="170956"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50Hz</a:t>
            </a:r>
          </a:p>
        </p:txBody>
      </p:sp>
      <p:sp>
        <p:nvSpPr>
          <p:cNvPr id="255" name="ANUARIO_REFERENCIA_2024_P9_L029"/>
          <p:cNvSpPr txBox="1"/>
          <p:nvPr/>
        </p:nvSpPr>
        <p:spPr>
          <a:xfrm>
            <a:off x="960804" y="3022002"/>
            <a:ext cx="169797"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3KHz</a:t>
            </a:r>
          </a:p>
        </p:txBody>
      </p:sp>
      <p:sp>
        <p:nvSpPr>
          <p:cNvPr id="256" name="ANUARIO_REFERENCIA_2024_P9_L030"/>
          <p:cNvSpPr txBox="1"/>
          <p:nvPr/>
        </p:nvSpPr>
        <p:spPr>
          <a:xfrm>
            <a:off x="1605286" y="3022002"/>
            <a:ext cx="216778"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300GHz</a:t>
            </a:r>
          </a:p>
        </p:txBody>
      </p:sp>
      <p:sp>
        <p:nvSpPr>
          <p:cNvPr id="257" name="ANUARIO_REFERENCIA_2024_P9_L031"/>
          <p:cNvSpPr txBox="1"/>
          <p:nvPr/>
        </p:nvSpPr>
        <p:spPr>
          <a:xfrm>
            <a:off x="1225925" y="3022002"/>
            <a:ext cx="33099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Radiofrecuencia</a:t>
            </a:r>
          </a:p>
        </p:txBody>
      </p:sp>
      <p:sp>
        <p:nvSpPr>
          <p:cNvPr id="258" name="ANUARIO_REFERENCIA_2024_P9_L032"/>
          <p:cNvSpPr txBox="1"/>
          <p:nvPr/>
        </p:nvSpPr>
        <p:spPr>
          <a:xfrm>
            <a:off x="1984382" y="3022002"/>
            <a:ext cx="23838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3,000THz</a:t>
            </a:r>
          </a:p>
        </p:txBody>
      </p:sp>
      <p:sp>
        <p:nvSpPr>
          <p:cNvPr id="259" name="ANUARIO_REFERENCIA_2024_P9_L033"/>
          <p:cNvSpPr txBox="1"/>
          <p:nvPr/>
        </p:nvSpPr>
        <p:spPr>
          <a:xfrm>
            <a:off x="2509920" y="3022002"/>
            <a:ext cx="188715"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30EHz</a:t>
            </a:r>
          </a:p>
        </p:txBody>
      </p:sp>
      <p:sp>
        <p:nvSpPr>
          <p:cNvPr id="260" name="ANUARIO_REFERENCIA_2024_P9_L034"/>
          <p:cNvSpPr txBox="1"/>
          <p:nvPr/>
        </p:nvSpPr>
        <p:spPr>
          <a:xfrm>
            <a:off x="5334798" y="815147"/>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diciembre de 2023, se tuvieron </a:t>
            </a:r>
            <a:r>
              <a:rPr sz="688" b="1" i="0">
                <a:solidFill>
                  <a:srgbClr val="1C2829"/>
                </a:solidFill>
                <a:latin typeface="Noto Sans"/>
              </a:rPr>
              <a:t>110 líneas</a:t>
            </a:r>
            <a:r>
              <a:rPr sz="602" b="0" i="0">
                <a:solidFill>
                  <a:srgbClr val="1C2829"/>
                </a:solidFill>
                <a:latin typeface="Noto Sans"/>
              </a:rPr>
              <a:t> del servicio móvil de telefonía por cada 100 </a:t>
            </a:r>
          </a:p>
        </p:txBody>
      </p:sp>
      <p:sp>
        <p:nvSpPr>
          <p:cNvPr id="261" name="ANUARIO_REFERENCIA_2024_P9_L035"/>
          <p:cNvSpPr txBox="1"/>
          <p:nvPr/>
        </p:nvSpPr>
        <p:spPr>
          <a:xfrm>
            <a:off x="5334815" y="918047"/>
            <a:ext cx="48831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habitantes.</a:t>
            </a:r>
          </a:p>
        </p:txBody>
      </p:sp>
      <p:sp>
        <p:nvSpPr>
          <p:cNvPr id="262" name="ANUARIO_REFERENCIA_2024_P9_L036"/>
          <p:cNvSpPr txBox="1"/>
          <p:nvPr/>
        </p:nvSpPr>
        <p:spPr>
          <a:xfrm>
            <a:off x="5334798" y="103482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63" name="ANUARIO_REFERENCIA_2024_P9_L037"/>
          <p:cNvSpPr txBox="1"/>
          <p:nvPr/>
        </p:nvSpPr>
        <p:spPr>
          <a:xfrm>
            <a:off x="5334798" y="1096360"/>
            <a:ext cx="39441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64" name="ANUARIO_REFERENCIA_2024_P9_L038"/>
          <p:cNvSpPr txBox="1"/>
          <p:nvPr/>
        </p:nvSpPr>
        <p:spPr>
          <a:xfrm>
            <a:off x="5334798" y="132914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el </a:t>
            </a:r>
            <a:r>
              <a:rPr sz="688" b="1" i="0">
                <a:solidFill>
                  <a:srgbClr val="1C2829"/>
                </a:solidFill>
                <a:latin typeface="Noto Sans"/>
              </a:rPr>
              <a:t>29.6%</a:t>
            </a:r>
            <a:r>
              <a:rPr sz="602" b="0" i="0">
                <a:solidFill>
                  <a:srgbClr val="1C2829"/>
                </a:solidFill>
                <a:latin typeface="Noto Sans"/>
              </a:rPr>
              <a:t> de las MiPymes contrató el servicio de telefonía móvil y el </a:t>
            </a:r>
            <a:r>
              <a:rPr sz="688" b="1" i="0">
                <a:solidFill>
                  <a:srgbClr val="1C2829"/>
                </a:solidFill>
                <a:latin typeface="Noto Sans"/>
              </a:rPr>
              <a:t>19.6%</a:t>
            </a:r>
            <a:r>
              <a:rPr sz="602" b="0" i="0">
                <a:solidFill>
                  <a:srgbClr val="1C2829"/>
                </a:solidFill>
                <a:latin typeface="Noto Sans"/>
              </a:rPr>
              <a:t> contrató </a:t>
            </a:r>
          </a:p>
        </p:txBody>
      </p:sp>
      <p:sp>
        <p:nvSpPr>
          <p:cNvPr id="265" name="ANUARIO_REFERENCIA_2024_P9_L039"/>
          <p:cNvSpPr txBox="1"/>
          <p:nvPr/>
        </p:nvSpPr>
        <p:spPr>
          <a:xfrm>
            <a:off x="5334800" y="1426876"/>
            <a:ext cx="339771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conexión a Internet por datos móviles (telefonía móvil). Ambos servicios les permiten tener </a:t>
            </a:r>
          </a:p>
        </p:txBody>
      </p:sp>
      <p:sp>
        <p:nvSpPr>
          <p:cNvPr id="266" name="ANUARIO_REFERENCIA_2024_P9_L040"/>
          <p:cNvSpPr txBox="1"/>
          <p:nvPr/>
        </p:nvSpPr>
        <p:spPr>
          <a:xfrm>
            <a:off x="5334800" y="1514024"/>
            <a:ext cx="1513407"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diferentes beneficios para sus negocios.</a:t>
            </a:r>
          </a:p>
        </p:txBody>
      </p:sp>
      <p:sp>
        <p:nvSpPr>
          <p:cNvPr id="267" name="ANUARIO_REFERENCIA_2024_P9_L041"/>
          <p:cNvSpPr txBox="1"/>
          <p:nvPr/>
        </p:nvSpPr>
        <p:spPr>
          <a:xfrm>
            <a:off x="5334798" y="1630920"/>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68" name="ANUARIO_REFERENCIA_2024_P9_L042"/>
          <p:cNvSpPr txBox="1"/>
          <p:nvPr/>
        </p:nvSpPr>
        <p:spPr>
          <a:xfrm>
            <a:off x="5334798" y="1692451"/>
            <a:ext cx="303122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a:t>
            </a:r>
            <a:r>
              <a:rPr sz="430" b="0" i="0">
                <a:solidFill>
                  <a:srgbClr val="1C2829"/>
                </a:solidFill>
                <a:latin typeface="Noto Sans"/>
              </a:rPr>
              <a:t>s. </a:t>
            </a:r>
          </a:p>
        </p:txBody>
      </p:sp>
      <p:sp>
        <p:nvSpPr>
          <p:cNvPr id="269" name="ANUARIO_REFERENCIA_2024_P9_L043"/>
          <p:cNvSpPr txBox="1"/>
          <p:nvPr/>
        </p:nvSpPr>
        <p:spPr>
          <a:xfrm>
            <a:off x="3312399" y="4395959"/>
            <a:ext cx="35671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8.5%</a:t>
            </a:r>
          </a:p>
        </p:txBody>
      </p:sp>
      <p:sp>
        <p:nvSpPr>
          <p:cNvPr id="270" name="ANUARIO_REFERENCIA_2024_P9_L044"/>
          <p:cNvSpPr txBox="1"/>
          <p:nvPr/>
        </p:nvSpPr>
        <p:spPr>
          <a:xfrm>
            <a:off x="3850351" y="4395959"/>
            <a:ext cx="447155"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11.09%</a:t>
            </a:r>
          </a:p>
        </p:txBody>
      </p:sp>
      <p:sp>
        <p:nvSpPr>
          <p:cNvPr id="271" name="ANUARIO_REFERENCIA_2024_P9_L045"/>
          <p:cNvSpPr txBox="1"/>
          <p:nvPr/>
        </p:nvSpPr>
        <p:spPr>
          <a:xfrm>
            <a:off x="5334798" y="1956658"/>
            <a:ext cx="3397721" cy="137322"/>
          </a:xfrm>
          <a:prstGeom prst="rect">
            <a:avLst/>
          </a:prstGeom>
          <a:noFill/>
        </p:spPr>
        <p:txBody>
          <a:bodyPr wrap="none" anchor="t" lIns="0" rIns="0" tIns="0" bIns="0">
            <a:noAutofit/>
          </a:bodyPr>
          <a:lstStyle/>
          <a:p>
            <a:pPr>
              <a:spcBef>
                <a:spcPts val="0"/>
              </a:spcBef>
              <a:spcAft>
                <a:spcPts val="0"/>
              </a:spcAft>
            </a:pPr>
            <a:r>
              <a:rPr sz="587" b="0" i="0">
                <a:solidFill>
                  <a:srgbClr val="1C2829"/>
                </a:solidFill>
                <a:latin typeface="Noto Sans"/>
              </a:rPr>
              <a:t>La Ciudad de México fue la entidad federativa con el </a:t>
            </a:r>
            <a:r>
              <a:rPr sz="688" b="1" i="0">
                <a:solidFill>
                  <a:srgbClr val="1C2829"/>
                </a:solidFill>
                <a:latin typeface="Noto Sans"/>
              </a:rPr>
              <a:t>mayor número de líneas del servicio </a:t>
            </a:r>
          </a:p>
        </p:txBody>
      </p:sp>
      <p:sp>
        <p:nvSpPr>
          <p:cNvPr id="272" name="ANUARIO_REFERENCIA_2024_P9_L046"/>
          <p:cNvSpPr txBox="1"/>
          <p:nvPr/>
        </p:nvSpPr>
        <p:spPr>
          <a:xfrm>
            <a:off x="5334841" y="2048954"/>
            <a:ext cx="156110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móvil </a:t>
            </a:r>
            <a:r>
              <a:rPr sz="587" b="0" i="0">
                <a:solidFill>
                  <a:srgbClr val="1C2829"/>
                </a:solidFill>
                <a:latin typeface="Noto Sans"/>
              </a:rPr>
              <a:t>de telefonía por cada 100 habitantes.</a:t>
            </a:r>
          </a:p>
        </p:txBody>
      </p:sp>
      <p:sp>
        <p:nvSpPr>
          <p:cNvPr id="273" name="ANUARIO_REFERENCIA_2024_P9_L047"/>
          <p:cNvSpPr txBox="1"/>
          <p:nvPr/>
        </p:nvSpPr>
        <p:spPr>
          <a:xfrm>
            <a:off x="5334798" y="2161430"/>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74" name="ANUARIO_REFERENCIA_2024_P9_L048"/>
          <p:cNvSpPr txBox="1"/>
          <p:nvPr/>
        </p:nvSpPr>
        <p:spPr>
          <a:xfrm>
            <a:off x="5334798" y="2453176"/>
            <a:ext cx="3139033"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servicio móvil de acceso a Internet se tuvieron </a:t>
            </a:r>
            <a:r>
              <a:rPr sz="688" b="1" i="0">
                <a:solidFill>
                  <a:srgbClr val="1C2829"/>
                </a:solidFill>
                <a:latin typeface="Noto Sans"/>
              </a:rPr>
              <a:t>96 líneas</a:t>
            </a:r>
            <a:r>
              <a:rPr sz="602" b="0" i="0">
                <a:solidFill>
                  <a:srgbClr val="1C2829"/>
                </a:solidFill>
                <a:latin typeface="Noto Sans"/>
              </a:rPr>
              <a:t>por cada 100 habitantes.</a:t>
            </a:r>
          </a:p>
        </p:txBody>
      </p:sp>
      <p:sp>
        <p:nvSpPr>
          <p:cNvPr id="275" name="ANUARIO_REFERENCIA_2024_P9_L049"/>
          <p:cNvSpPr txBox="1"/>
          <p:nvPr/>
        </p:nvSpPr>
        <p:spPr>
          <a:xfrm>
            <a:off x="5334798" y="2580415"/>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76" name="ANUARIO_REFERENCIA_2024_P9_L050"/>
          <p:cNvSpPr txBox="1"/>
          <p:nvPr/>
        </p:nvSpPr>
        <p:spPr>
          <a:xfrm>
            <a:off x="5334798" y="2641946"/>
            <a:ext cx="38140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77" name="ANUARIO_REFERENCIA_2024_P9_L051"/>
          <p:cNvSpPr txBox="1"/>
          <p:nvPr/>
        </p:nvSpPr>
        <p:spPr>
          <a:xfrm>
            <a:off x="5334798" y="291255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Chiapas fue la entidad federativa con el </a:t>
            </a:r>
            <a:r>
              <a:rPr sz="688" b="1" i="0">
                <a:solidFill>
                  <a:srgbClr val="1C2829"/>
                </a:solidFill>
                <a:latin typeface="Noto Sans"/>
              </a:rPr>
              <a:t>menor número líneas del servicio móvil</a:t>
            </a:r>
            <a:r>
              <a:rPr sz="602" b="0" i="0">
                <a:solidFill>
                  <a:srgbClr val="1C2829"/>
                </a:solidFill>
                <a:latin typeface="Noto Sans"/>
              </a:rPr>
              <a:t> de acceso </a:t>
            </a:r>
          </a:p>
        </p:txBody>
      </p:sp>
      <p:sp>
        <p:nvSpPr>
          <p:cNvPr id="278" name="ANUARIO_REFERENCIA_2024_P9_L052"/>
          <p:cNvSpPr txBox="1"/>
          <p:nvPr/>
        </p:nvSpPr>
        <p:spPr>
          <a:xfrm>
            <a:off x="5334790" y="3015454"/>
            <a:ext cx="130255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Internet por cada 100 habitantes.</a:t>
            </a:r>
          </a:p>
        </p:txBody>
      </p:sp>
      <p:sp>
        <p:nvSpPr>
          <p:cNvPr id="279" name="ANUARIO_REFERENCIA_2024_P9_L053"/>
          <p:cNvSpPr txBox="1"/>
          <p:nvPr/>
        </p:nvSpPr>
        <p:spPr>
          <a:xfrm>
            <a:off x="5334798" y="3118921"/>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80" name="ANUARIO_REFERENCIA_2024_P9_L054"/>
          <p:cNvSpPr txBox="1"/>
          <p:nvPr/>
        </p:nvSpPr>
        <p:spPr>
          <a:xfrm>
            <a:off x="5334798" y="3386212"/>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62.7%</a:t>
            </a:r>
            <a:r>
              <a:rPr sz="602" b="0" i="0">
                <a:solidFill>
                  <a:srgbClr val="1C2829"/>
                </a:solidFill>
                <a:latin typeface="Noto Sans"/>
              </a:rPr>
              <a:t> de las MiPymes señaló que contar con una aplicación móvil para su empresa o </a:t>
            </a:r>
          </a:p>
        </p:txBody>
      </p:sp>
      <p:sp>
        <p:nvSpPr>
          <p:cNvPr id="281" name="ANUARIO_REFERENCIA_2024_P9_L055"/>
          <p:cNvSpPr txBox="1"/>
          <p:nvPr/>
        </p:nvSpPr>
        <p:spPr>
          <a:xfrm>
            <a:off x="5334787" y="3483944"/>
            <a:ext cx="28296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negocio tiene como beneficio que el contacto con los clientes es más rápido.</a:t>
            </a:r>
          </a:p>
        </p:txBody>
      </p:sp>
      <p:sp>
        <p:nvSpPr>
          <p:cNvPr id="282" name="ANUARIO_REFERENCIA_2024_P9_L056"/>
          <p:cNvSpPr txBox="1"/>
          <p:nvPr/>
        </p:nvSpPr>
        <p:spPr>
          <a:xfrm>
            <a:off x="5334798" y="359049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83" name="ANUARIO_REFERENCIA_2024_P9_L057"/>
          <p:cNvSpPr txBox="1"/>
          <p:nvPr/>
        </p:nvSpPr>
        <p:spPr>
          <a:xfrm>
            <a:off x="5334798" y="3652030"/>
            <a:ext cx="303126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84" name="ANUARIO_REFERENCIA_2024_P9_L058"/>
          <p:cNvSpPr txBox="1"/>
          <p:nvPr/>
        </p:nvSpPr>
        <p:spPr>
          <a:xfrm>
            <a:off x="5334798" y="3713561"/>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85" name="ANUARIO_REFERENCIA_2024_P9_L059"/>
          <p:cNvSpPr txBox="1"/>
          <p:nvPr/>
        </p:nvSpPr>
        <p:spPr>
          <a:xfrm>
            <a:off x="7563964" y="4395954"/>
            <a:ext cx="46769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16.46%</a:t>
            </a:r>
          </a:p>
        </p:txBody>
      </p:sp>
      <p:sp>
        <p:nvSpPr>
          <p:cNvPr id="286" name="ANUARIO_REFERENCIA_2024_P9_L060"/>
          <p:cNvSpPr txBox="1"/>
          <p:nvPr/>
        </p:nvSpPr>
        <p:spPr>
          <a:xfrm>
            <a:off x="8153934" y="4395954"/>
            <a:ext cx="454124"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14.95%</a:t>
            </a:r>
          </a:p>
        </p:txBody>
      </p:sp>
      <p:sp>
        <p:nvSpPr>
          <p:cNvPr id="287" name="ANUARIO_REFERENCIA_2024_P9_L061"/>
          <p:cNvSpPr txBox="1"/>
          <p:nvPr/>
        </p:nvSpPr>
        <p:spPr>
          <a:xfrm>
            <a:off x="3308734" y="3931724"/>
            <a:ext cx="36404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88" name="ANUARIO_REFERENCIA_2024_P9_L062"/>
          <p:cNvSpPr txBox="1"/>
          <p:nvPr/>
        </p:nvSpPr>
        <p:spPr>
          <a:xfrm>
            <a:off x="3872759" y="3931724"/>
            <a:ext cx="402389"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89" name="ANUARIO_REFERENCIA_2024_P9_L063"/>
          <p:cNvSpPr txBox="1"/>
          <p:nvPr/>
        </p:nvSpPr>
        <p:spPr>
          <a:xfrm>
            <a:off x="7615785" y="3931724"/>
            <a:ext cx="364042"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90" name="ANUARIO_REFERENCIA_2024_P9_L064"/>
          <p:cNvSpPr txBox="1"/>
          <p:nvPr/>
        </p:nvSpPr>
        <p:spPr>
          <a:xfrm>
            <a:off x="8179811" y="3931724"/>
            <a:ext cx="40239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121</a:t>
            </a:r>
          </a:p>
        </p:txBody>
      </p:sp>
      <p:sp>
        <p:nvSpPr>
          <p:cNvPr id="225" name="ANUARIO_ANEXO_P121_L001"/>
          <p:cNvSpPr txBox="1"/>
          <p:nvPr/>
        </p:nvSpPr>
        <p:spPr>
          <a:xfrm>
            <a:off x="589682" y="653801"/>
            <a:ext cx="1858873"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 DEFINICIONES</a:t>
            </a:r>
          </a:p>
        </p:txBody>
      </p:sp>
      <p:sp>
        <p:nvSpPr>
          <p:cNvPr id="226" name="ANUARIO_ANEXO_P121_L002"/>
          <p:cNvSpPr txBox="1"/>
          <p:nvPr/>
        </p:nvSpPr>
        <p:spPr>
          <a:xfrm>
            <a:off x="528422" y="1521200"/>
            <a:ext cx="18115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a:t>
            </a:r>
          </a:p>
        </p:txBody>
      </p:sp>
      <p:sp>
        <p:nvSpPr>
          <p:cNvPr id="227" name="ANUARIO_ANEXO_P121_L003"/>
          <p:cNvSpPr txBox="1"/>
          <p:nvPr/>
        </p:nvSpPr>
        <p:spPr>
          <a:xfrm>
            <a:off x="528422" y="1734804"/>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Acceso:</a:t>
            </a:r>
            <a:r>
              <a:rPr sz="640" b="0" i="0">
                <a:solidFill>
                  <a:srgbClr val="1F3031"/>
                </a:solidFill>
                <a:latin typeface="Noto Sans"/>
              </a:rPr>
              <a:t> El conjunto de canales físicos de una Red Pública de Telecomunicaciones, que conecta el </a:t>
            </a:r>
          </a:p>
        </p:txBody>
      </p:sp>
      <p:sp>
        <p:nvSpPr>
          <p:cNvPr id="228" name="ANUARIO_ANEXO_P121_L004"/>
          <p:cNvSpPr txBox="1"/>
          <p:nvPr/>
        </p:nvSpPr>
        <p:spPr>
          <a:xfrm>
            <a:off x="528422" y="184229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Equipo Terminal en la ubicación del usuario con la instalación del Operador desde la cual se presta </a:t>
            </a:r>
          </a:p>
        </p:txBody>
      </p:sp>
      <p:sp>
        <p:nvSpPr>
          <p:cNvPr id="229" name="ANUARIO_ANEXO_P121_L005"/>
          <p:cNvSpPr txBox="1"/>
          <p:nvPr/>
        </p:nvSpPr>
        <p:spPr>
          <a:xfrm>
            <a:off x="528422" y="1949091"/>
            <a:ext cx="41283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servicio al usuario. En el caso de Redes de Acceso Fijo alámbrico se le suele llamar históricamente </a:t>
            </a:r>
          </a:p>
        </p:txBody>
      </p:sp>
      <p:sp>
        <p:nvSpPr>
          <p:cNvPr id="230" name="ANUARIO_ANEXO_P121_L006"/>
          <p:cNvSpPr txBox="1"/>
          <p:nvPr/>
        </p:nvSpPr>
        <p:spPr>
          <a:xfrm>
            <a:off x="528422" y="2055893"/>
            <a:ext cx="30287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bucle local, y en Servicios de Transporte de Voz se le conoce como línea.</a:t>
            </a:r>
          </a:p>
        </p:txBody>
      </p:sp>
      <p:sp>
        <p:nvSpPr>
          <p:cNvPr id="231" name="ANUARIO_ANEXO_P121_L007"/>
          <p:cNvSpPr txBox="1"/>
          <p:nvPr/>
        </p:nvSpPr>
        <p:spPr>
          <a:xfrm>
            <a:off x="528422" y="2268814"/>
            <a:ext cx="1838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t>
            </a:r>
          </a:p>
        </p:txBody>
      </p:sp>
      <p:sp>
        <p:nvSpPr>
          <p:cNvPr id="232" name="ANUARIO_ANEXO_P121_L008"/>
          <p:cNvSpPr txBox="1"/>
          <p:nvPr/>
        </p:nvSpPr>
        <p:spPr>
          <a:xfrm>
            <a:off x="528422" y="2482418"/>
            <a:ext cx="412768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Caricaturas:</a:t>
            </a:r>
            <a:r>
              <a:rPr sz="640" b="0" i="0">
                <a:solidFill>
                  <a:srgbClr val="1F3031"/>
                </a:solidFill>
                <a:latin typeface="Noto Sans"/>
              </a:rPr>
              <a:t> Son todos los programas que están hechos con alguna de las siguientes técnicas: dibujos </a:t>
            </a:r>
          </a:p>
        </p:txBody>
      </p:sp>
      <p:sp>
        <p:nvSpPr>
          <p:cNvPr id="233" name="ANUARIO_ANEXO_P121_L009"/>
          <p:cNvSpPr txBox="1"/>
          <p:nvPr/>
        </p:nvSpPr>
        <p:spPr>
          <a:xfrm>
            <a:off x="528422" y="2589903"/>
            <a:ext cx="41282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animados, plastilina, arcilla (</a:t>
            </a:r>
            <a:r>
              <a:rPr sz="640" b="0" i="1">
                <a:solidFill>
                  <a:srgbClr val="1F3031"/>
                </a:solidFill>
                <a:latin typeface="Noto Sans"/>
              </a:rPr>
              <a:t>stop motion</a:t>
            </a:r>
            <a:r>
              <a:rPr sz="640" b="0" i="0">
                <a:solidFill>
                  <a:srgbClr val="1F3031"/>
                </a:solidFill>
                <a:latin typeface="Noto Sans"/>
              </a:rPr>
              <a:t>), animación vectorial y de tercera dimensión. No deben </a:t>
            </a:r>
          </a:p>
        </p:txBody>
      </p:sp>
      <p:sp>
        <p:nvSpPr>
          <p:cNvPr id="234" name="ANUARIO_ANEXO_P121_L010"/>
          <p:cNvSpPr txBox="1"/>
          <p:nvPr/>
        </p:nvSpPr>
        <p:spPr>
          <a:xfrm>
            <a:off x="528422" y="2696705"/>
            <a:ext cx="272072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considerarse dentro de este género los cortometrajes animados.</a:t>
            </a:r>
          </a:p>
        </p:txBody>
      </p:sp>
      <p:sp>
        <p:nvSpPr>
          <p:cNvPr id="235" name="ANUARIO_ANEXO_P121_L011"/>
          <p:cNvSpPr txBox="1"/>
          <p:nvPr/>
        </p:nvSpPr>
        <p:spPr>
          <a:xfrm>
            <a:off x="528422" y="2909625"/>
            <a:ext cx="412778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Cómico:</a:t>
            </a:r>
            <a:r>
              <a:rPr sz="640" b="0" i="0">
                <a:solidFill>
                  <a:srgbClr val="1F3031"/>
                </a:solidFill>
                <a:latin typeface="Noto Sans"/>
              </a:rPr>
              <a:t> Programa cuyo contenido está enfocado al esparcimiento de la audiencia, al manejar </a:t>
            </a:r>
          </a:p>
        </p:txBody>
      </p:sp>
      <p:sp>
        <p:nvSpPr>
          <p:cNvPr id="236" name="ANUARIO_ANEXO_P121_L012"/>
          <p:cNvSpPr txBox="1"/>
          <p:nvPr/>
        </p:nvSpPr>
        <p:spPr>
          <a:xfrm>
            <a:off x="528422" y="3017111"/>
            <a:ext cx="37222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cuadros cómicos, chistes, cuentos y cualquier otro elemento que intente provocar la risa. </a:t>
            </a:r>
          </a:p>
        </p:txBody>
      </p:sp>
      <p:sp>
        <p:nvSpPr>
          <p:cNvPr id="237" name="ANUARIO_ANEXO_P121_L013"/>
          <p:cNvSpPr txBox="1"/>
          <p:nvPr/>
        </p:nvSpPr>
        <p:spPr>
          <a:xfrm>
            <a:off x="528422" y="3230031"/>
            <a:ext cx="412796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Concurso:</a:t>
            </a:r>
            <a:r>
              <a:rPr sz="640" b="0" i="0">
                <a:solidFill>
                  <a:srgbClr val="1F3031"/>
                </a:solidFill>
                <a:latin typeface="Noto Sans"/>
              </a:rPr>
              <a:t> Formato de programa en el que los participantes realizan una serie de actividades en </a:t>
            </a:r>
          </a:p>
        </p:txBody>
      </p:sp>
      <p:sp>
        <p:nvSpPr>
          <p:cNvPr id="238" name="ANUARIO_ANEXO_P121_L014"/>
          <p:cNvSpPr txBox="1"/>
          <p:nvPr/>
        </p:nvSpPr>
        <p:spPr>
          <a:xfrm>
            <a:off x="528422" y="3337517"/>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busca de superar a sus rivales. Un concurso puede hacer competir tanto a individuos, como a grupos </a:t>
            </a:r>
          </a:p>
        </p:txBody>
      </p:sp>
      <p:sp>
        <p:nvSpPr>
          <p:cNvPr id="239" name="ANUARIO_ANEXO_P121_L015"/>
          <p:cNvSpPr txBox="1"/>
          <p:nvPr/>
        </p:nvSpPr>
        <p:spPr>
          <a:xfrm>
            <a:off x="528422" y="3444318"/>
            <a:ext cx="29960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y/o instituciones privadas o públicas, y pueden o no obtenerse premios.</a:t>
            </a:r>
          </a:p>
        </p:txBody>
      </p:sp>
      <p:sp>
        <p:nvSpPr>
          <p:cNvPr id="240" name="ANUARIO_ANEXO_P121_L016"/>
          <p:cNvSpPr txBox="1"/>
          <p:nvPr/>
        </p:nvSpPr>
        <p:spPr>
          <a:xfrm>
            <a:off x="528422" y="3657239"/>
            <a:ext cx="412823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Cultural:</a:t>
            </a:r>
            <a:r>
              <a:rPr sz="640" b="0" i="0">
                <a:solidFill>
                  <a:srgbClr val="1F3031"/>
                </a:solidFill>
                <a:latin typeface="Noto Sans"/>
              </a:rPr>
              <a:t> Programación que presenta las formas y expresiones de una sociedad. Su contenido </a:t>
            </a:r>
          </a:p>
        </p:txBody>
      </p:sp>
      <p:sp>
        <p:nvSpPr>
          <p:cNvPr id="241" name="ANUARIO_ANEXO_P121_L017"/>
          <p:cNvSpPr txBox="1"/>
          <p:nvPr/>
        </p:nvSpPr>
        <p:spPr>
          <a:xfrm>
            <a:off x="528422" y="3764724"/>
            <a:ext cx="412803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 referente a los siguientes temas artísticos: arquitectura, danza, escultura, literatura, ópera, </a:t>
            </a:r>
          </a:p>
        </p:txBody>
      </p:sp>
      <p:sp>
        <p:nvSpPr>
          <p:cNvPr id="242" name="ANUARIO_ANEXO_P121_L018"/>
          <p:cNvSpPr txBox="1"/>
          <p:nvPr/>
        </p:nvSpPr>
        <p:spPr>
          <a:xfrm>
            <a:off x="528422" y="3871526"/>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pintura, teatro, museos, exposiciones; sociales: académicos, científicos, históricos, gastronómicos, </a:t>
            </a:r>
          </a:p>
        </p:txBody>
      </p:sp>
      <p:sp>
        <p:nvSpPr>
          <p:cNvPr id="243" name="ANUARIO_ANEXO_P121_L019"/>
          <p:cNvSpPr txBox="1"/>
          <p:nvPr/>
        </p:nvSpPr>
        <p:spPr>
          <a:xfrm>
            <a:off x="528422" y="3978328"/>
            <a:ext cx="41281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etnográficos, ciencias naturales; y simbólicos: biografías, entrevista de semblanza a personajes </a:t>
            </a:r>
          </a:p>
        </p:txBody>
      </p:sp>
      <p:sp>
        <p:nvSpPr>
          <p:cNvPr id="244" name="ANUARIO_ANEXO_P121_L020"/>
          <p:cNvSpPr txBox="1"/>
          <p:nvPr/>
        </p:nvSpPr>
        <p:spPr>
          <a:xfrm>
            <a:off x="528422" y="4085130"/>
            <a:ext cx="169415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involucrados en la cultura, happenings.</a:t>
            </a:r>
          </a:p>
        </p:txBody>
      </p:sp>
      <p:sp>
        <p:nvSpPr>
          <p:cNvPr id="245" name="ANUARIO_ANEXO_P121_L021"/>
          <p:cNvSpPr txBox="1"/>
          <p:nvPr/>
        </p:nvSpPr>
        <p:spPr>
          <a:xfrm>
            <a:off x="4647535" y="1521200"/>
            <a:ext cx="1865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a:t>
            </a:r>
          </a:p>
        </p:txBody>
      </p:sp>
      <p:sp>
        <p:nvSpPr>
          <p:cNvPr id="246" name="ANUARIO_ANEXO_P121_L022"/>
          <p:cNvSpPr txBox="1"/>
          <p:nvPr/>
        </p:nvSpPr>
        <p:spPr>
          <a:xfrm>
            <a:off x="4647535" y="1734804"/>
            <a:ext cx="412788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Debate:</a:t>
            </a:r>
            <a:r>
              <a:rPr sz="640" b="0" i="0">
                <a:solidFill>
                  <a:srgbClr val="1F3031"/>
                </a:solidFill>
                <a:latin typeface="Noto Sans"/>
              </a:rPr>
              <a:t> Espacio argumentativo en el cual se emiten ideas antagónicas sobre un tema o temas </a:t>
            </a:r>
          </a:p>
        </p:txBody>
      </p:sp>
      <p:sp>
        <p:nvSpPr>
          <p:cNvPr id="247" name="ANUARIO_ANEXO_P121_L023"/>
          <p:cNvSpPr txBox="1"/>
          <p:nvPr/>
        </p:nvSpPr>
        <p:spPr>
          <a:xfrm>
            <a:off x="4647535" y="1842290"/>
            <a:ext cx="41277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específicos. Contempla un panel de especialistas y un moderador, quienes aportan puntos de vista </a:t>
            </a:r>
          </a:p>
        </p:txBody>
      </p:sp>
      <p:sp>
        <p:nvSpPr>
          <p:cNvPr id="248" name="ANUARIO_ANEXO_P121_L024"/>
          <p:cNvSpPr txBox="1"/>
          <p:nvPr/>
        </p:nvSpPr>
        <p:spPr>
          <a:xfrm>
            <a:off x="4647535" y="1949091"/>
            <a:ext cx="15008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desde su campo de conocimiento.</a:t>
            </a:r>
          </a:p>
        </p:txBody>
      </p:sp>
      <p:sp>
        <p:nvSpPr>
          <p:cNvPr id="249" name="ANUARIO_ANEXO_P121_L025"/>
          <p:cNvSpPr txBox="1"/>
          <p:nvPr/>
        </p:nvSpPr>
        <p:spPr>
          <a:xfrm>
            <a:off x="4647535" y="216201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Decil de ingreso:</a:t>
            </a:r>
            <a:r>
              <a:rPr sz="640" b="0" i="0">
                <a:solidFill>
                  <a:srgbClr val="1F3031"/>
                </a:solidFill>
                <a:latin typeface="Noto Sans"/>
              </a:rPr>
              <a:t> Los hogares pueden ser agrupados de acuerdo con los ingresos que perciben. </a:t>
            </a:r>
          </a:p>
        </p:txBody>
      </p:sp>
      <p:sp>
        <p:nvSpPr>
          <p:cNvPr id="250" name="ANUARIO_ANEXO_P121_L026"/>
          <p:cNvSpPr txBox="1"/>
          <p:nvPr/>
        </p:nvSpPr>
        <p:spPr>
          <a:xfrm>
            <a:off x="4647535" y="2269497"/>
            <a:ext cx="412853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Cuando se forman diez conjuntos del mismo tamaño, se les conoce como “deciles”, por lo que el </a:t>
            </a:r>
          </a:p>
        </p:txBody>
      </p:sp>
      <p:sp>
        <p:nvSpPr>
          <p:cNvPr id="251" name="ANUARIO_ANEXO_P121_L027"/>
          <p:cNvSpPr txBox="1"/>
          <p:nvPr/>
        </p:nvSpPr>
        <p:spPr>
          <a:xfrm>
            <a:off x="4647535" y="2376299"/>
            <a:ext cx="41279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primer decil está integrado por la décima parte de los hogares que tienen los menores ingresos, y </a:t>
            </a:r>
          </a:p>
        </p:txBody>
      </p:sp>
      <p:sp>
        <p:nvSpPr>
          <p:cNvPr id="252" name="ANUARIO_ANEXO_P121_L028"/>
          <p:cNvSpPr txBox="1"/>
          <p:nvPr/>
        </p:nvSpPr>
        <p:spPr>
          <a:xfrm>
            <a:off x="4647535" y="2483101"/>
            <a:ext cx="41277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de manera sucesiva, hasta llegar al último decil, que está compuesto por la décima parte de los </a:t>
            </a:r>
          </a:p>
        </p:txBody>
      </p:sp>
      <p:sp>
        <p:nvSpPr>
          <p:cNvPr id="253" name="ANUARIO_ANEXO_P121_L029"/>
          <p:cNvSpPr txBox="1"/>
          <p:nvPr/>
        </p:nvSpPr>
        <p:spPr>
          <a:xfrm>
            <a:off x="4647535" y="2589903"/>
            <a:ext cx="157841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hogares con los ingresos más altos</a:t>
            </a:r>
            <a:r>
              <a:rPr sz="373" b="0" i="0">
                <a:solidFill>
                  <a:srgbClr val="1F3031"/>
                </a:solidFill>
                <a:latin typeface="Noto Sans"/>
              </a:rPr>
              <a:t>11</a:t>
            </a:r>
            <a:r>
              <a:rPr sz="640" b="0" i="0">
                <a:solidFill>
                  <a:srgbClr val="1F3031"/>
                </a:solidFill>
                <a:latin typeface="Noto Sans"/>
              </a:rPr>
              <a:t>.</a:t>
            </a:r>
          </a:p>
        </p:txBody>
      </p:sp>
      <p:sp>
        <p:nvSpPr>
          <p:cNvPr id="254" name="ANUARIO_ANEXO_P121_L030"/>
          <p:cNvSpPr txBox="1"/>
          <p:nvPr/>
        </p:nvSpPr>
        <p:spPr>
          <a:xfrm>
            <a:off x="4647535" y="2802823"/>
            <a:ext cx="412815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Deportes:</a:t>
            </a:r>
            <a:r>
              <a:rPr sz="640" b="0" i="0">
                <a:solidFill>
                  <a:srgbClr val="1F3031"/>
                </a:solidFill>
                <a:latin typeface="Noto Sans"/>
              </a:rPr>
              <a:t> Transmisión de eventos deportivos, cultura física o programas de resumen deportivo, </a:t>
            </a:r>
          </a:p>
        </p:txBody>
      </p:sp>
      <p:sp>
        <p:nvSpPr>
          <p:cNvPr id="255" name="ANUARIO_ANEXO_P121_L031"/>
          <p:cNvSpPr txBox="1"/>
          <p:nvPr/>
        </p:nvSpPr>
        <p:spPr>
          <a:xfrm>
            <a:off x="4647535" y="2910309"/>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como resultados y/o comentarios relacionados con el deporte. En este género no se incluyen </a:t>
            </a:r>
          </a:p>
        </p:txBody>
      </p:sp>
      <p:sp>
        <p:nvSpPr>
          <p:cNvPr id="256" name="ANUARIO_ANEXO_P121_L032"/>
          <p:cNvSpPr txBox="1"/>
          <p:nvPr/>
        </p:nvSpPr>
        <p:spPr>
          <a:xfrm>
            <a:off x="4647535" y="3017111"/>
            <a:ext cx="35979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programas de reportaje que, en un capítulo en específico, aborden un tema deportivo.</a:t>
            </a:r>
          </a:p>
        </p:txBody>
      </p:sp>
      <p:sp>
        <p:nvSpPr>
          <p:cNvPr id="257" name="ANUARIO_ANEXO_P121_L033"/>
          <p:cNvSpPr txBox="1"/>
          <p:nvPr/>
        </p:nvSpPr>
        <p:spPr>
          <a:xfrm>
            <a:off x="4647535" y="3230031"/>
            <a:ext cx="412830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Directorio Estadístico Nacional de Unidades Económicas (DENUE):</a:t>
            </a:r>
            <a:r>
              <a:rPr sz="640" b="0" i="0">
                <a:solidFill>
                  <a:srgbClr val="1F3031"/>
                </a:solidFill>
                <a:latin typeface="Noto Sans"/>
              </a:rPr>
              <a:t> Herramienta interactiva del </a:t>
            </a:r>
          </a:p>
        </p:txBody>
      </p:sp>
      <p:sp>
        <p:nvSpPr>
          <p:cNvPr id="258" name="ANUARIO_ANEXO_P121_L034"/>
          <p:cNvSpPr txBox="1"/>
          <p:nvPr/>
        </p:nvSpPr>
        <p:spPr>
          <a:xfrm>
            <a:off x="4647536" y="3337517"/>
            <a:ext cx="41280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INEGI en la que se ofrecen los datos de identificación, ubicación, actividad económica y tamaño </a:t>
            </a:r>
          </a:p>
        </p:txBody>
      </p:sp>
      <p:sp>
        <p:nvSpPr>
          <p:cNvPr id="259" name="ANUARIO_ANEXO_P121_L035"/>
          <p:cNvSpPr txBox="1"/>
          <p:nvPr/>
        </p:nvSpPr>
        <p:spPr>
          <a:xfrm>
            <a:off x="4647536" y="3444318"/>
            <a:ext cx="41283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negocios activos en el territorio nacional, actualizados, fundamentalmente, en el segmento </a:t>
            </a:r>
          </a:p>
        </p:txBody>
      </p:sp>
      <p:sp>
        <p:nvSpPr>
          <p:cNvPr id="260" name="ANUARIO_ANEXO_P121_L036"/>
          <p:cNvSpPr txBox="1"/>
          <p:nvPr/>
        </p:nvSpPr>
        <p:spPr>
          <a:xfrm>
            <a:off x="4647536" y="3551120"/>
            <a:ext cx="410770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establecimientos grandes. Disponible en: </a:t>
            </a:r>
            <a:r>
              <a:rPr sz="640" b="0" i="0">
                <a:solidFill>
                  <a:srgbClr val="0563C1"/>
                </a:solidFill>
                <a:latin typeface="Noto Sans"/>
                <a:hlinkClick r:id="rId2"/>
              </a:rPr>
              <a:t>https://www.inegi.org.mx/app/mapa/denue/default.</a:t>
            </a:r>
          </a:p>
        </p:txBody>
      </p:sp>
      <p:sp>
        <p:nvSpPr>
          <p:cNvPr id="261" name="ANUARIO_ANEXO_P121_L037"/>
          <p:cNvSpPr txBox="1"/>
          <p:nvPr/>
        </p:nvSpPr>
        <p:spPr>
          <a:xfrm>
            <a:off x="4647536" y="3657922"/>
            <a:ext cx="319446"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aspx</a:t>
            </a:r>
            <a:r>
              <a:rPr sz="640" b="0" i="0">
                <a:solidFill>
                  <a:srgbClr val="1F3031"/>
                </a:solidFill>
                <a:latin typeface="Noto Sans"/>
              </a:rPr>
              <a:t>.</a:t>
            </a:r>
          </a:p>
        </p:txBody>
      </p:sp>
      <p:sp>
        <p:nvSpPr>
          <p:cNvPr id="262" name="ANUARIO_ANEXO_P121_L038"/>
          <p:cNvSpPr txBox="1"/>
          <p:nvPr/>
        </p:nvSpPr>
        <p:spPr>
          <a:xfrm>
            <a:off x="4647536" y="3870842"/>
            <a:ext cx="41280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Dramatizado Unitario:</a:t>
            </a:r>
            <a:r>
              <a:rPr sz="640" b="0" i="0">
                <a:solidFill>
                  <a:srgbClr val="1F3031"/>
                </a:solidFill>
                <a:latin typeface="Noto Sans"/>
              </a:rPr>
              <a:t> Programas de ficción en los que cada capítulo constituye una unidad narrativa </a:t>
            </a:r>
          </a:p>
        </p:txBody>
      </p:sp>
      <p:sp>
        <p:nvSpPr>
          <p:cNvPr id="263" name="ANUARIO_ANEXO_P121_L039"/>
          <p:cNvSpPr txBox="1"/>
          <p:nvPr/>
        </p:nvSpPr>
        <p:spPr>
          <a:xfrm>
            <a:off x="4647536" y="3978328"/>
            <a:ext cx="41279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independiente. En su contenido se manifiestan situaciones conflictivas y/o trágicas, y cada episodio </a:t>
            </a:r>
          </a:p>
        </p:txBody>
      </p:sp>
      <p:sp>
        <p:nvSpPr>
          <p:cNvPr id="264" name="ANUARIO_ANEXO_P121_L040"/>
          <p:cNvSpPr txBox="1"/>
          <p:nvPr/>
        </p:nvSpPr>
        <p:spPr>
          <a:xfrm>
            <a:off x="4647536" y="4085130"/>
            <a:ext cx="39672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tiene inicio, desarrollo y final. En muy pocas ocasiones puede extenderse a más de una emisión.</a:t>
            </a:r>
          </a:p>
        </p:txBody>
      </p:sp>
      <p:sp>
        <p:nvSpPr>
          <p:cNvPr id="265" name="ANUARIO_ANEXO_P121_L041"/>
          <p:cNvSpPr txBox="1"/>
          <p:nvPr/>
        </p:nvSpPr>
        <p:spPr>
          <a:xfrm>
            <a:off x="383625" y="4451011"/>
            <a:ext cx="8486054"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11</a:t>
            </a:r>
            <a:r>
              <a:rPr sz="480" b="0" i="0">
                <a:solidFill>
                  <a:srgbClr val="1F3031"/>
                </a:solidFill>
                <a:latin typeface="Noto Sans"/>
              </a:rPr>
              <a:t> Definición publicada el 26 de julio de 2023 por el Instituto Nacional de Estadística y Geografía (INEGI) el 26 de julio de 2023, pág. 11., en el cual se dan a conocer los resultados de la Encuesta Nacional de Ingresos y Gastos de los Hogares (ENIGH) 2020. Disponible en: </a:t>
            </a:r>
            <a:r>
              <a:rPr sz="480" b="0" i="0">
                <a:solidFill>
                  <a:srgbClr val="0563C1"/>
                </a:solidFill>
                <a:latin typeface="Noto Sans"/>
              </a:rPr>
              <a:t>Encuesta </a:t>
            </a:r>
          </a:p>
        </p:txBody>
      </p:sp>
      <p:sp>
        <p:nvSpPr>
          <p:cNvPr id="266" name="ANUARIO_ANEXO_P121_L042"/>
          <p:cNvSpPr txBox="1"/>
          <p:nvPr/>
        </p:nvSpPr>
        <p:spPr>
          <a:xfrm>
            <a:off x="383625" y="4527909"/>
            <a:ext cx="2519533" cy="118622"/>
          </a:xfrm>
          <a:prstGeom prst="rect">
            <a:avLst/>
          </a:prstGeom>
          <a:noFill/>
        </p:spPr>
        <p:txBody>
          <a:bodyPr wrap="none" lIns="0" rIns="0" tIns="0" bIns="0">
            <a:noAutofit/>
          </a:bodyPr>
          <a:lstStyle/>
          <a:p>
            <a:pPr>
              <a:spcBef>
                <a:spcPts val="0"/>
              </a:spcBef>
              <a:spcAft>
                <a:spcPts val="0"/>
              </a:spcAft>
            </a:pPr>
            <a:r>
              <a:rPr sz="480" b="0" i="0">
                <a:solidFill>
                  <a:srgbClr val="0563C1"/>
                </a:solidFill>
                <a:latin typeface="Noto Sans"/>
              </a:rPr>
              <a:t>Nacional de Ingresos y Gastos de los Hogares 2022. Presentación de resultados</a:t>
            </a:r>
            <a:r>
              <a:rPr sz="480" b="0" i="0">
                <a:solidFill>
                  <a:srgbClr val="1F3031"/>
                </a:solidFill>
                <a:latin typeface="Noto San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