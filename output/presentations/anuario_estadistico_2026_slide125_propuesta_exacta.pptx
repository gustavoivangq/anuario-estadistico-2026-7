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Default Extension="bin" ContentType="application/vnd.openxmlformats-officedocument.presentationml.printerSettings"/>
  <Default Extension="jpeg" ContentType="image/jpeg"/>
  <Override PartName="/ppt/slideLayouts/s9_slideLayout1.xml" ContentType="application/vnd.openxmlformats-officedocument.presentationml.slideLayout+xml"/>
  <Override PartName="/ppt/slideLayouts/s9_slideLayout10.xml" ContentType="application/vnd.openxmlformats-officedocument.presentationml.slideLayout+xml"/>
  <Override PartName="/ppt/slideLayouts/s9_slideLayout11.xml" ContentType="application/vnd.openxmlformats-officedocument.presentationml.slideLayout+xml"/>
  <Override PartName="/ppt/slideLayouts/s9_slideLayout2.xml" ContentType="application/vnd.openxmlformats-officedocument.presentationml.slideLayout+xml"/>
  <Override PartName="/ppt/slideLayouts/s9_slideLayout3.xml" ContentType="application/vnd.openxmlformats-officedocument.presentationml.slideLayout+xml"/>
  <Override PartName="/ppt/slideLayouts/s9_slideLayout4.xml" ContentType="application/vnd.openxmlformats-officedocument.presentationml.slideLayout+xml"/>
  <Override PartName="/ppt/slideLayouts/s9_slideLayout5.xml" ContentType="application/vnd.openxmlformats-officedocument.presentationml.slideLayout+xml"/>
  <Override PartName="/ppt/slideLayouts/s9_slideLayout6.xml" ContentType="application/vnd.openxmlformats-officedocument.presentationml.slideLayout+xml"/>
  <Override PartName="/ppt/slideLayouts/s9_slideLayout7.xml" ContentType="application/vnd.openxmlformats-officedocument.presentationml.slideLayout+xml"/>
  <Override PartName="/ppt/slideLayouts/s9_slideLayout8.xml" ContentType="application/vnd.openxmlformats-officedocument.presentationml.slideLayout+xml"/>
  <Override PartName="/ppt/slideLayouts/s9_slideLayout9.xml" ContentType="application/vnd.openxmlformats-officedocument.presentationml.slideLayout+xml"/>
  <Override PartName="/ppt/slideMasters/s9_slideMaster1.xml" ContentType="application/vnd.openxmlformats-officedocument.presentationml.slideMaster+xml"/>
  <Override PartName="/ppt/theme/s9_theme1.xml" ContentType="application/vnd.openxmlformats-officedocument.theme+xml"/>
  <Default Extension="jpg" ContentType="image/jp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slideMasters/s121_slideMaster1.xml" ContentType="application/vnd.openxmlformats-officedocument.presentationml.slideMaster+xml"/>
  <Override PartName="/ppt/theme/s121_theme1.xml" ContentType="application/vnd.openxmlformats-officedocument.theme+xml"/>
  <Override PartName="/ppt/slideLayouts/s121_slideLayout1.xml" ContentType="application/vnd.openxmlformats-officedocument.presentationml.slideLayout+xml"/>
  <Override PartName="/ppt/slideMasters/s125_slideMaster1.xml" ContentType="application/vnd.openxmlformats-officedocument.presentationml.slideMaster+xml"/>
  <Override PartName="/ppt/theme/s125_theme1.xml" ContentType="application/vnd.openxmlformats-officedocument.theme+xml"/>
  <Override PartName="/ppt/slideLayouts/s125_slideLayout1.xml" ContentType="application/vnd.openxmlformats-officedocument.presentationml.slideLayou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 id="2147490000" r:id="rIdSlide9ReferenceMaster"/>
    <p:sldMasterId id="2147500000" r:id="rIdSlide121ReferenceMaster"/>
    <p:sldMasterId id="2147510000" r:id="rIdSlide125ReferenceMaster"/>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 Id="rIdSlide9ReferenceMaster" Type="http://schemas.openxmlformats.org/officeDocument/2006/relationships/slideMaster" Target="slideMasters/s9_slideMaster1.xml"/><Relationship Id="rIdSlide121ReferenceMaster" Type="http://schemas.openxmlformats.org/officeDocument/2006/relationships/slideMaster" Target="slideMasters/s121_slideMaster1.xml"/><Relationship Id="rIdSlide125ReferenceMaster" Type="http://schemas.openxmlformats.org/officeDocument/2006/relationships/slideMaster" Target="slideMasters/s125_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9_slideLayout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2.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3.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4.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5.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6.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7.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8.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9.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0.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121_slideLayout1.xml.rels><?xml version='1.0' encoding='UTF-8' standalone='yes'?>
<Relationships xmlns="http://schemas.openxmlformats.org/package/2006/relationships"><Relationship Id="rId1" Type="http://schemas.openxmlformats.org/officeDocument/2006/relationships/slideMaster" Target="../slideMasters/s121_slideMaster1.xml"/></Relationships>
</file>

<file path=ppt/slideLayouts/_rels/s125_slideLayout1.xml.rels><?xml version='1.0' encoding='UTF-8' standalone='yes'?>
<Relationships xmlns="http://schemas.openxmlformats.org/package/2006/relationships"><Relationship Id="rId1" Type="http://schemas.openxmlformats.org/officeDocument/2006/relationships/slideMaster" Target="../slideMasters/s125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9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9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9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9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9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9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9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9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9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9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9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121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125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9_slideMaster1.xml.rels><?xml version='1.0' encoding='UTF-8' standalone='yes'?>
<Relationships xmlns="http://schemas.openxmlformats.org/package/2006/relationships"><Relationship Id="rId1" Type="http://schemas.openxmlformats.org/officeDocument/2006/relationships/slideLayout" Target="../slideLayouts/s9_slideLayout1.xml"/><Relationship Id="rId2" Type="http://schemas.openxmlformats.org/officeDocument/2006/relationships/slideLayout" Target="../slideLayouts/s9_slideLayout2.xml"/><Relationship Id="rId3" Type="http://schemas.openxmlformats.org/officeDocument/2006/relationships/slideLayout" Target="../slideLayouts/s9_slideLayout3.xml"/><Relationship Id="rId4" Type="http://schemas.openxmlformats.org/officeDocument/2006/relationships/slideLayout" Target="../slideLayouts/s9_slideLayout4.xml"/><Relationship Id="rId5" Type="http://schemas.openxmlformats.org/officeDocument/2006/relationships/slideLayout" Target="../slideLayouts/s9_slideLayout5.xml"/><Relationship Id="rId6" Type="http://schemas.openxmlformats.org/officeDocument/2006/relationships/slideLayout" Target="../slideLayouts/s9_slideLayout6.xml"/><Relationship Id="rId7" Type="http://schemas.openxmlformats.org/officeDocument/2006/relationships/slideLayout" Target="../slideLayouts/s9_slideLayout7.xml"/><Relationship Id="rId8" Type="http://schemas.openxmlformats.org/officeDocument/2006/relationships/slideLayout" Target="../slideLayouts/s9_slideLayout8.xml"/><Relationship Id="rId9" Type="http://schemas.openxmlformats.org/officeDocument/2006/relationships/slideLayout" Target="../slideLayouts/s9_slideLayout9.xml"/><Relationship Id="rId10" Type="http://schemas.openxmlformats.org/officeDocument/2006/relationships/slideLayout" Target="../slideLayouts/s9_slideLayout10.xml"/><Relationship Id="rId11" Type="http://schemas.openxmlformats.org/officeDocument/2006/relationships/slideLayout" Target="../slideLayouts/s9_slideLayout11.xml"/><Relationship Id="rId12" Type="http://schemas.openxmlformats.org/officeDocument/2006/relationships/theme" Target="../theme/s9_theme1.xml"/></Relationships>
</file>

<file path=ppt/slideMasters/_rels/s121_slideMaster1.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theme" Target="../theme/s121_theme1.xml"/></Relationships>
</file>

<file path=ppt/slideMasters/_rels/s125_slideMaster1.xml.rels><?xml version='1.0' encoding='UTF-8' standalone='yes'?>
<Relationships xmlns="http://schemas.openxmlformats.org/package/2006/relationships"><Relationship Id="rId1" Type="http://schemas.openxmlformats.org/officeDocument/2006/relationships/slideLayout" Target="../slideLayouts/s125_slideLayout1.xml"/><Relationship Id="rId2" Type="http://schemas.openxmlformats.org/officeDocument/2006/relationships/theme" Target="../theme/s125_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9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90001" r:id="rId1"/>
    <p:sldLayoutId id="2147490002" r:id="rId2"/>
    <p:sldLayoutId id="2147490003" r:id="rId3"/>
    <p:sldLayoutId id="2147490004" r:id="rId4"/>
    <p:sldLayoutId id="2147490005" r:id="rId5"/>
    <p:sldLayoutId id="2147490006" r:id="rId6"/>
    <p:sldLayoutId id="2147490007" r:id="rId7"/>
    <p:sldLayoutId id="2147490008" r:id="rId8"/>
    <p:sldLayoutId id="2147490009" r:id="rId9"/>
    <p:sldLayoutId id="2147490010" r:id="rId10"/>
    <p:sldLayoutId id="21474900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121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0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125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1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Type="http://schemas.openxmlformats.org/officeDocument/2006/relationships/slideLayout" Target="../slideLayouts/slideLayout5.xml" Id="Rbe9c7cf808de4e9d"/><Relationship Type="http://schemas.openxmlformats.org/officeDocument/2006/relationships/image" Target="../media/slide4_diseno_image.png" Id="Re9d5d72c38924a16"/><Relationship Type="http://schemas.openxmlformats.org/officeDocument/2006/relationships/image" Target="../media/slide4_diseno_image2.png" Id="Rb5c444f1c6cb476e"/><Relationship Type="http://schemas.openxmlformats.org/officeDocument/2006/relationships/image" Target="../media/slide4_diseno_image3.png" Id="R45279ff6ee7f4af1"/><Relationship Type="http://schemas.openxmlformats.org/officeDocument/2006/relationships/image" Target="../media/slide4_diseno_image4.png" Id="R30298c0e75084c3d"/><Relationship Type="http://schemas.openxmlformats.org/officeDocument/2006/relationships/hyperlink" Target="https://bit.crt.gob.mx/BitWebApp/" TargetMode="External" Id="R44a62cbf7b934b2e"/></Relationships>
</file>

<file path=ppt/slides/_rels/slide5.xml.rels><?xml version='1.0' encoding='UTF-8' standalone='yes'?>
<Relationships xmlns="http://schemas.openxmlformats.org/package/2006/relationships"><Relationship Type="http://schemas.openxmlformats.org/officeDocument/2006/relationships/slideLayout" Target="../slideLayouts/slideLayout5.xml" Id="R46abcff555714d09"/><Relationship Type="http://schemas.openxmlformats.org/officeDocument/2006/relationships/image" Target="../media/slide5_diseno_image5.png" Id="Rd0c2a94fb7504565"/><Relationship Type="http://schemas.openxmlformats.org/officeDocument/2006/relationships/image" Target="../media/slide5_diseno_image6.png" Id="R053ec0800dab470a"/><Relationship Type="http://schemas.openxmlformats.org/officeDocument/2006/relationships/image" Target="../media/slide5_diseno_image7.png" Id="R9b21366084f1421c"/><Relationship Type="http://schemas.openxmlformats.org/officeDocument/2006/relationships/image" Target="../media/slide5_diseno_image8.png" Id="R30bbdc5925644f1f"/><Relationship Type="http://schemas.openxmlformats.org/officeDocument/2006/relationships/hyperlink" Target="https://bit.crt.gob.mx/BitWebApp/" TargetMode="External" Id="R063e77096b704b59"/><Relationship Type="http://schemas.openxmlformats.org/officeDocument/2006/relationships/image" Target="../media/slide5_diseno_image9.png" Id="R5f7ecf3039b54788"/><Relationship Type="http://schemas.openxmlformats.org/officeDocument/2006/relationships/image" Target="../media/slide5_diseno_image10.png" Id="Rca2af74a4db24cd7"/><Relationship Type="http://schemas.openxmlformats.org/officeDocument/2006/relationships/image" Target="../media/slide5_diseno_image11.png" Id="R17eda56c66264122"/><Relationship Type="http://schemas.openxmlformats.org/officeDocument/2006/relationships/image" Target="../media/slide5_diseno_image12.png" Id="R0598c2e78d6345bf"/></Relationships>
</file>

<file path=ppt/slides/_rels/slide6.xml.rels><?xml version='1.0' encoding='UTF-8' standalone='yes'?>
<Relationships xmlns="http://schemas.openxmlformats.org/package/2006/relationships"><Relationship Type="http://schemas.openxmlformats.org/officeDocument/2006/relationships/slideLayout" Target="../slideLayouts/slideLayout5.xml" Id="R66974e7e788647ff"/><Relationship Type="http://schemas.openxmlformats.org/officeDocument/2006/relationships/image" Target="../media/slide6_diseno_image13.png" Id="Ra85e1c9945e94a7e"/><Relationship Type="http://schemas.openxmlformats.org/officeDocument/2006/relationships/image" Target="../media/slide6_diseno_image14.png" Id="R5101691e18134900"/><Relationship Type="http://schemas.openxmlformats.org/officeDocument/2006/relationships/image" Target="../media/slide6_diseno_image15.png" Id="Rcd1fc5a8caa9402d"/><Relationship Type="http://schemas.openxmlformats.org/officeDocument/2006/relationships/image" Target="../media/slide6_diseno_image16.png" Id="Ra902198852794fa7"/><Relationship Type="http://schemas.openxmlformats.org/officeDocument/2006/relationships/hyperlink" Target="https://bit.crt.gob.mx/BitWebApp/" TargetMode="External" Id="Rbf38f4683d754baf"/><Relationship Type="http://schemas.openxmlformats.org/officeDocument/2006/relationships/image" Target="../media/slide6_diseno_image17.png" Id="Rc151f4e85cd14391"/><Relationship Type="http://schemas.openxmlformats.org/officeDocument/2006/relationships/image" Target="../media/slide6_diseno_image18.png" Id="R8e1ef3adc9d843cd"/><Relationship Type="http://schemas.openxmlformats.org/officeDocument/2006/relationships/image" Target="../media/slide6_diseno_image19.png" Id="R8f9341f9b5c94c17"/><Relationship Type="http://schemas.openxmlformats.org/officeDocument/2006/relationships/image" Target="../media/slide6_diseno_image20.png" Id="R18bf096c142f478e"/></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Type="http://schemas.openxmlformats.org/officeDocument/2006/relationships/slideLayout" Target="../slideLayouts/slideLayout5.xml" Id="R0f556a324a294929"/><Relationship Type="http://schemas.openxmlformats.org/officeDocument/2006/relationships/image" Target="../media/slide8_diseno_image.png" Id="Rab0adeb70d7b4625"/><Relationship Type="http://schemas.openxmlformats.org/officeDocument/2006/relationships/image" Target="../media/slide8_diseno_image2.png" Id="Rea391cf12914453e"/><Relationship Type="http://schemas.openxmlformats.org/officeDocument/2006/relationships/image" Target="../media/slide8_diseno_image3.png" Id="R4f2cbbb30dda4051"/><Relationship Type="http://schemas.openxmlformats.org/officeDocument/2006/relationships/image" Target="../media/slide8_diseno_image4.png" Id="R4d12f4a07a004500"/><Relationship Type="http://schemas.openxmlformats.org/officeDocument/2006/relationships/hyperlink" Target="https://bit.crt.gob.mx/BitWebApp/" TargetMode="External" Id="R4e3103bf1d6a40b8"/></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9_slideLayout7.xml"/><Relationship Id="rId2" Type="http://schemas.openxmlformats.org/officeDocument/2006/relationships/image" Target="../media/s9_image1.png"/><Relationship Id="rId3" Type="http://schemas.openxmlformats.org/officeDocument/2006/relationships/image" Target="../media/s9_image2.png"/><Relationship Id="rId4" Type="http://schemas.openxmlformats.org/officeDocument/2006/relationships/image" Target="../media/s9_image3.png"/><Relationship Id="rId5" Type="http://schemas.openxmlformats.org/officeDocument/2006/relationships/image" Target="../media/s9_image4.png"/><Relationship Id="rId6" Type="http://schemas.openxmlformats.org/officeDocument/2006/relationships/image" Target="../media/s9_image5.png"/><Relationship Id="rId7" Type="http://schemas.openxmlformats.org/officeDocument/2006/relationships/image" Target="../media/s9_image6.png"/><Relationship Id="rId8" Type="http://schemas.openxmlformats.org/officeDocument/2006/relationships/image" Target="../media/s9_image7.png"/><Relationship Id="rId9" Type="http://schemas.openxmlformats.org/officeDocument/2006/relationships/image" Target="../media/s9_image8.png"/><Relationship Id="rId10" Type="http://schemas.openxmlformats.org/officeDocument/2006/relationships/image" Target="../media/s9_image9.png"/><Relationship Id="rId11" Type="http://schemas.openxmlformats.org/officeDocument/2006/relationships/image" Target="../media/s9_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121_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 TargetMode="External"/><Relationship Id="rId3" Type="http://schemas.openxmlformats.org/officeDocument/2006/relationships/hyperlink" Target="https://www.inegi.org.mx/programas/enoe/15ymas/" TargetMode="External"/><Relationship Id="rId4" Type="http://schemas.openxmlformats.org/officeDocument/2006/relationships/hyperlink" Target="https://www.dof.gob"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125_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inpc/2018/"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oe/15ymas/" TargetMode="External"/><Relationship Id="rId3" Type="http://schemas.openxmlformats.org/officeDocument/2006/relationships/hyperlink" Target="https://www.inegi.org.mx/contenidos/programas/pib/2018/doc/guia_cab2018.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9d5d72c38924a16"/>
          <a:srcRect xmlns:a="http://schemas.openxmlformats.org/drawingml/2006/main" l="0" t="37" r="0" b="37"/>
          <a:stretch xmlns:a="http://schemas.openxmlformats.org/drawingml/2006/main">
            <a:fillRect l="0" t="0" r="0" b="0"/>
          </a:stretch>
        </p:blipFill>
        <p:spPr>
          <a:xfrm xmlns:a="http://schemas.openxmlformats.org/drawingml/2006/main">
            <a:off x="0" y="0"/>
            <a:ext cx="9143644" cy="456844"/>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c444f1c6cb476e"/>
          <a:srcRect xmlns:a="http://schemas.openxmlformats.org/drawingml/2006/main" l="0" t="156" r="0" b="156"/>
          <a:stretch xmlns:a="http://schemas.openxmlformats.org/drawingml/2006/main">
            <a:fillRect l="0" t="0" r="0" b="0"/>
          </a:stretch>
        </p:blipFill>
        <p:spPr>
          <a:xfrm xmlns:a="http://schemas.openxmlformats.org/drawingml/2006/main">
            <a:off x="0" y="4990683"/>
            <a:ext cx="9143644" cy="151917"/>
          </a:xfrm>
          <a:prstGeom xmlns:a="http://schemas.openxmlformats.org/drawingml/2006/main" prst="rect">
            <a:avLst/>
          </a:prstGeom>
        </p:spPr>
      </p:pic>
      <p:sp>
        <p:nvSpPr>
          <p:cNvPr id="3" name="ANUARIO_QR_FONDO">
            <a:extLst xmlns:a="http://schemas.openxmlformats.org/drawingml/2006/main">
              <a:ext uri="{FF2B5EF4-FFF2-40B4-BE49-F238E27FC236}">
                <a16:creationId xmlns:a16="http://schemas.microsoft.com/office/drawing/2014/main" id="{EE1B343B-CBB7-4ADB-A4DD-3473AA5B9F8E}"/>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279ff6ee7f4af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298c0e75084c3d"/>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TITULO">
            <a:extLst xmlns:a="http://schemas.openxmlformats.org/drawingml/2006/main">
              <a:ext uri="{FF2B5EF4-FFF2-40B4-BE49-F238E27FC236}">
                <a16:creationId xmlns:a16="http://schemas.microsoft.com/office/drawing/2014/main" id="{E13A28F4-B26D-46B7-A110-4EE4FA2EF88D}"/>
              </a:ext>
            </a:extLst>
          </p:cNvPr>
          <p:cNvSpPr>
            <a:spLocks xmlns:a="http://schemas.openxmlformats.org/drawingml/2006/main" noGrp="1"/>
          </p:cNvSpPr>
          <p:nvPr/>
        </p:nvSpPr>
        <p:spPr>
          <a:xfrm xmlns:a="http://schemas.openxmlformats.org/drawingml/2006/main">
            <a:off x="304800" y="1270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FFFFFF"/>
                </a:solidFill>
                <a:latin typeface="Noto Sans"/>
                <a:ea typeface="Noto Sans"/>
                <a:cs typeface="Noto Sans"/>
              </a:defRPr>
            </a:pPr>
            <a:r>
              <a:rPr sz="1500" b="1">
                <a:solidFill>
                  <a:srgbClr val="FFFFFF"/>
                </a:solidFill>
                <a:latin typeface="Noto Sans"/>
                <a:ea typeface="Noto Sans"/>
                <a:cs typeface="Noto Sans"/>
              </a:rPr>
              <a:t>LEGALES</a:t>
            </a:r>
          </a:p>
        </p:txBody>
      </p:sp>
      <p:sp>
        <p:nvSpPr>
          <p:cNvPr id="7" name="ANUARIO_ENCABEZADO_1">
            <a:extLst xmlns:a="http://schemas.openxmlformats.org/drawingml/2006/main">
              <a:ext uri="{FF2B5EF4-FFF2-40B4-BE49-F238E27FC236}">
                <a16:creationId xmlns:a16="http://schemas.microsoft.com/office/drawing/2014/main" id="{C4F4D267-61DF-4126-BBDD-0A466628648D}"/>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8" name="ANUARIO_ENCABEZADO_2">
            <a:extLst xmlns:a="http://schemas.openxmlformats.org/drawingml/2006/main">
              <a:ext uri="{FF2B5EF4-FFF2-40B4-BE49-F238E27FC236}">
                <a16:creationId xmlns:a16="http://schemas.microsoft.com/office/drawing/2014/main" id="{5B40B105-5F7E-4F78-8C44-8648894E5734}"/>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44a62cbf7b934b2e"/>
              </a:rPr>
              <a:t>BIT CRT · bit.crt.gob.mx/BitWebApp</a:t>
            </a:r>
          </a:p>
        </p:txBody>
      </p:sp>
      <p:sp>
        <p:nvSpPr>
          <p:cNvPr id="9" name="ANUARIO_PAGE_NUMBER">
            <a:extLst xmlns:a="http://schemas.openxmlformats.org/drawingml/2006/main">
              <a:ext uri="{FF2B5EF4-FFF2-40B4-BE49-F238E27FC236}">
                <a16:creationId xmlns:a16="http://schemas.microsoft.com/office/drawing/2014/main" id="{33691248-A250-49AD-A4F7-917A83E6C27F}"/>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rPr>
              <a:t>4</a:t>
            </a:r>
          </a:p>
        </p:txBody>
      </p:sp>
      <p:sp>
        <p:nvSpPr>
          <p:cNvPr id="10" name="ANUARIO_EDICION_PIE">
            <a:extLst xmlns:a="http://schemas.openxmlformats.org/drawingml/2006/main">
              <a:ext uri="{FF2B5EF4-FFF2-40B4-BE49-F238E27FC236}">
                <a16:creationId xmlns:a16="http://schemas.microsoft.com/office/drawing/2014/main" id="{A167F292-1B2D-4E85-8DB7-8EFF6FC0870E}"/>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FFFFFF"/>
                </a:solidFill>
                <a:latin typeface="Noto Sans"/>
                <a:ea typeface="Noto Sans"/>
                <a:cs typeface="Noto Sans"/>
              </a:defRPr>
            </a:pPr>
            <a:r>
              <a:rPr sz="565">
                <a:solidFill>
                  <a:srgbClr val="FFFFFF"/>
                </a:solidFill>
                <a:latin typeface="Noto Sans"/>
                <a:ea typeface="Noto Sans"/>
                <a:cs typeface="Noto Sans"/>
              </a:rPr>
              <a:t>A N U A R I O   E S T A D Í S T I C O   2 0 2 6</a:t>
            </a:r>
          </a:p>
        </p:txBody>
      </p:sp>
      <p:sp xmlns:a="http://schemas.openxmlformats.org/drawingml/2006/main">
        <p:nvSpPr>
          <p:cNvPr id="16" name="ANUARIO_LEGALES_CONT_DESIGN_2026"/>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xmlns:a="http://schemas.openxmlformats.org/drawingml/2006/main">
        <p:nvSpPr>
          <p:cNvPr id="17"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xmlns:a="http://schemas.openxmlformats.org/drawingml/2006/main">
        <p:nvSpPr>
          <p:cNvPr id="18"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xmlns:a="http://schemas.openxmlformats.org/drawingml/2006/main">
        <p:nvSpPr>
          <p:cNvPr id="19"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xmlns:a="http://schemas.openxmlformats.org/drawingml/2006/main">
        <p:nvSpPr>
          <p:cNvPr id="20"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xmlns:a="http://schemas.openxmlformats.org/drawingml/2006/main">
        <p:nvSpPr>
          <p:cNvPr id="21"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xmlns:a="http://schemas.openxmlformats.org/drawingml/2006/main">
        <p:nvSpPr>
          <p:cNvPr id="22"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xmlns:a="http://schemas.openxmlformats.org/drawingml/2006/main">
        <p:nvSpPr>
          <p:cNvPr id="23"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xmlns:a="http://schemas.openxmlformats.org/drawingml/2006/main">
        <p:nvSpPr>
          <p:cNvPr id="24"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xmlns:a="http://schemas.openxmlformats.org/drawingml/2006/main">
        <p:nvSpPr>
          <p:cNvPr id="25"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xmlns:a="http://schemas.openxmlformats.org/drawingml/2006/main">
        <p:nvSpPr>
          <p:cNvPr id="26"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Tree>
    <p:extLst>
      <p:ext uri="{BB962C8B-B14F-4D97-AF65-F5344CB8AC3E}">
        <p14:creationId xmlns:p14="http://schemas.microsoft.com/office/powerpoint/2010/main" val="323097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d0c2a94fb7504565"/>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b21366084f1421c"/>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30bbdc5925644f1f"/>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A52027BC-6A47-44A1-AAA5-072193A5651E}"/>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ECE57C74-B73B-4552-96C1-368EF002ADA5}"/>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CD640ADB-FF74-4F25-BE94-FCCC658AC292}"/>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063e77096b704b59"/>
              </a:rPr>
              <a:t>BIT CRT · bit.crt.gob.mx/BitWebApp</a:t>
            </a:r>
          </a:p>
        </p:txBody>
      </p:sp>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BARD</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DE</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GOOGLE: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23" name="GLOSARIO_left_2_2">
            <a:extLst xmlns:a="http://schemas.openxmlformats.org/drawingml/2006/main">
              <a:ext uri="{FF2B5EF4-FFF2-40B4-BE49-F238E27FC236}">
                <a16:creationId xmlns:a16="http://schemas.microsoft.com/office/drawing/2014/main" id="{EEC876AC-76F1-4063-9597-B1F5984C4BEC}"/>
              </a:ext>
            </a:extLst>
          </p:cNvPr>
          <p:cNvSpPr>
            <a:spLocks xmlns:a="http://schemas.openxmlformats.org/drawingml/2006/main" noGrp="1"/>
          </p:cNvSpPr>
          <p:nvPr/>
        </p:nvSpPr>
        <p:spPr>
          <a:xfrm xmlns:a="http://schemas.openxmlformats.org/drawingml/2006/main">
            <a:off x="2742844" y="18465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Google</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Planeación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Estratégica</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85e1c9945e94a7e"/>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d1fc5a8caa9402d"/>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902198852794fa7"/>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F883BFF5-67ED-47FC-8BA7-E4E07EBD6368}"/>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14057280-D4CF-4514-A2FF-CEDF5C793794}"/>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B8EF6B10-EFC3-4432-AAE9-52BE2B4C4B0B}"/>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bf38f4683d754baf"/>
              </a:rPr>
              <a:t>BIT CRT · bit.crt.gob.mx/BitWebApp</a:t>
            </a:r>
          </a:p>
        </p:txBody>
      </p:sp>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6</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b0adeb70d7b4625"/>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8_QR_FONDO">
            <a:extLst xmlns:a="http://schemas.openxmlformats.org/drawingml/2006/main">
              <a:ext uri="{FF2B5EF4-FFF2-40B4-BE49-F238E27FC236}">
                <a16:creationId xmlns:a16="http://schemas.microsoft.com/office/drawing/2014/main" id="{6C171A84-A6B9-4E34-849A-B13DB2FC9A31}"/>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f2cbbb30dda405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4d12f4a07a004500"/>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INTRO8_ENCABEZADO_0">
            <a:extLst xmlns:a="http://schemas.openxmlformats.org/drawingml/2006/main">
              <a:ext uri="{FF2B5EF4-FFF2-40B4-BE49-F238E27FC236}">
                <a16:creationId xmlns:a16="http://schemas.microsoft.com/office/drawing/2014/main" id="{2086B35C-CC9A-4539-9BE8-B6BF92A7A8A8}"/>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7" name="INTRO8_ENCABEZADO_1">
            <a:extLst xmlns:a="http://schemas.openxmlformats.org/drawingml/2006/main">
              <a:ext uri="{FF2B5EF4-FFF2-40B4-BE49-F238E27FC236}">
                <a16:creationId xmlns:a16="http://schemas.microsoft.com/office/drawing/2014/main" id="{35EB97AC-FD4D-4190-A884-228E8ADF1338}"/>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 name="INTRO8_ENCABEZADO_2">
            <a:extLst xmlns:a="http://schemas.openxmlformats.org/drawingml/2006/main">
              <a:ext uri="{FF2B5EF4-FFF2-40B4-BE49-F238E27FC236}">
                <a16:creationId xmlns:a16="http://schemas.microsoft.com/office/drawing/2014/main" id="{D3387CBA-FF9E-4760-86D9-A567A5A929A8}"/>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e3103bf1d6a40b8"/>
              </a:rPr>
              <a:t>BIT CRT · bit.crt.gob.mx/BitWebApp</a:t>
            </a:r>
          </a:p>
        </p:txBody>
      </p:sp>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pic>
        <p:nvPicPr>
          <p:cNvPr id="2" name="ANUARIO_PUNTOS_CLAVE_DESIGN_2026" descr="header.png"/>
          <p:cNvPicPr>
            <a:picLocks noChangeAspect="1"/>
          </p:cNvPicPr>
          <p:nvPr/>
        </p:nvPicPr>
        <p:blipFill>
          <a:blip r:embed="rId2"/>
          <a:stretch>
            <a:fillRect/>
          </a:stretch>
        </p:blipFill>
        <p:spPr>
          <a:xfrm>
            <a:off x="0" y="0"/>
            <a:ext cx="9144000" cy="457200"/>
          </a:xfrm>
          <a:prstGeom prst="rect">
            <a:avLst/>
          </a:prstGeom>
        </p:spPr>
      </p:pic>
      <p:pic>
        <p:nvPicPr>
          <p:cNvPr id="3" name="Picture 2" descr="footer.png"/>
          <p:cNvPicPr>
            <a:picLocks noChangeAspect="1"/>
          </p:cNvPicPr>
          <p:nvPr/>
        </p:nvPicPr>
        <p:blipFill>
          <a:blip r:embed="rId3"/>
          <a:stretch>
            <a:fillRect/>
          </a:stretch>
        </p:blipFill>
        <p:spPr>
          <a:xfrm>
            <a:off x="0" y="4991069"/>
            <a:ext cx="9144000" cy="152430"/>
          </a:xfrm>
          <a:prstGeom prst="rect">
            <a:avLst/>
          </a:prstGeom>
        </p:spPr>
      </p:pic>
      <p:sp>
        <p:nvSpPr>
          <p:cNvPr id="4" name="TextBox 3"/>
          <p:cNvSpPr txBox="1"/>
          <p:nvPr/>
        </p:nvSpPr>
        <p:spPr>
          <a:xfrm>
            <a:off x="310896" y="45720"/>
            <a:ext cx="3657600" cy="365760"/>
          </a:xfrm>
          <a:prstGeom prst="rect">
            <a:avLst/>
          </a:prstGeom>
          <a:noFill/>
        </p:spPr>
        <p:txBody>
          <a:bodyPr wrap="square" anchor="ctr" lIns="0" rIns="0" tIns="0" bIns="0">
            <a:spAutoFit/>
          </a:bodyPr>
          <a:lstStyle/>
          <a:p>
            <a:r>
              <a:rPr sz="1600" b="1">
                <a:solidFill>
                  <a:srgbClr val="FFFFFF"/>
                </a:solidFill>
                <a:latin typeface="DejaVu Sans"/>
              </a:rPr>
              <a:t>PUNTOS CLAVE</a:t>
            </a:r>
          </a:p>
        </p:txBody>
      </p:sp>
      <p:sp>
        <p:nvSpPr>
          <p:cNvPr id="5" name="TextBox 4"/>
          <p:cNvSpPr txBox="1"/>
          <p:nvPr/>
        </p:nvSpPr>
        <p:spPr>
          <a:xfrm>
            <a:off x="4572000" y="91440"/>
            <a:ext cx="3108960" cy="274320"/>
          </a:xfrm>
          <a:prstGeom prst="rect">
            <a:avLst/>
          </a:prstGeom>
          <a:noFill/>
        </p:spPr>
        <p:txBody>
          <a:bodyPr wrap="square" anchor="ctr" lIns="0" rIns="0" tIns="0" bIns="0">
            <a:spAutoFit/>
          </a:bodyPr>
          <a:lstStyle/>
          <a:p>
            <a:pPr algn="r"/>
            <a:r>
              <a:rPr sz="550" b="0">
                <a:solidFill>
                  <a:srgbClr val="D9E8E5"/>
                </a:solidFill>
                <a:latin typeface="DejaVu Sans"/>
              </a:rPr>
              <a:t>Para consultar información con mayor desagregación, visita</a:t>
            </a:r>
          </a:p>
          <a:p>
            <a:pPr algn="r"/>
            <a:r>
              <a:rPr sz="700" b="1">
                <a:solidFill>
                  <a:srgbClr val="FFFFFF"/>
                </a:solidFill>
                <a:latin typeface="DejaVu Sans"/>
              </a:rPr>
              <a:t>BIT CRT · bit.crt.gob.mx/BitWebApp</a:t>
            </a:r>
          </a:p>
        </p:txBody>
      </p:sp>
      <p:sp>
        <p:nvSpPr>
          <p:cNvPr id="6" name="Rounded Rectangle 5"/>
          <p:cNvSpPr/>
          <p:nvPr/>
        </p:nvSpPr>
        <p:spPr>
          <a:xfrm>
            <a:off x="7790688" y="45720"/>
            <a:ext cx="365760" cy="365760"/>
          </a:xfrm>
          <a:prstGeom prst="roundRect">
            <a:avLst>
              <a:gd name="adj" fmla="val 10000"/>
            </a:avLst>
          </a:prstGeom>
          <a:solidFill>
            <a:srgbClr val="FFFFFF"/>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png"/>
          <p:cNvPicPr>
            <a:picLocks noChangeAspect="1"/>
          </p:cNvPicPr>
          <p:nvPr/>
        </p:nvPicPr>
        <p:blipFill>
          <a:blip r:embed="rId4"/>
          <a:stretch>
            <a:fillRect/>
          </a:stretch>
        </p:blipFill>
        <p:spPr>
          <a:xfrm>
            <a:off x="7813548" y="68580"/>
            <a:ext cx="320040" cy="320040"/>
          </a:xfrm>
          <a:prstGeom prst="rect">
            <a:avLst/>
          </a:prstGeom>
        </p:spPr>
      </p:pic>
      <p:pic>
        <p:nvPicPr>
          <p:cNvPr id="8" name="Picture 7" descr="logo.png"/>
          <p:cNvPicPr>
            <a:picLocks noChangeAspect="1"/>
          </p:cNvPicPr>
          <p:nvPr/>
        </p:nvPicPr>
        <p:blipFill>
          <a:blip r:embed="rId5"/>
          <a:stretch>
            <a:fillRect/>
          </a:stretch>
        </p:blipFill>
        <p:spPr>
          <a:xfrm>
            <a:off x="8293608" y="64008"/>
            <a:ext cx="566928" cy="318211"/>
          </a:xfrm>
          <a:prstGeom prst="rect">
            <a:avLst/>
          </a:prstGeom>
        </p:spPr>
      </p:pic>
      <p:sp>
        <p:nvSpPr>
          <p:cNvPr id="9" name="TextBox 8"/>
          <p:cNvSpPr txBox="1"/>
          <p:nvPr/>
        </p:nvSpPr>
        <p:spPr>
          <a:xfrm>
            <a:off x="274320" y="4997196"/>
            <a:ext cx="457200" cy="137160"/>
          </a:xfrm>
          <a:prstGeom prst="rect">
            <a:avLst/>
          </a:prstGeom>
          <a:noFill/>
        </p:spPr>
        <p:txBody>
          <a:bodyPr wrap="square" anchor="ctr" lIns="0" rIns="0" tIns="0" bIns="0">
            <a:spAutoFit/>
          </a:bodyPr>
          <a:lstStyle/>
          <a:p>
            <a:r>
              <a:rPr sz="700" b="1">
                <a:solidFill>
                  <a:srgbClr val="FFFFFF"/>
                </a:solidFill>
                <a:latin typeface="DejaVu Sans"/>
              </a:rPr>
              <a:t>9</a:t>
            </a:r>
          </a:p>
        </p:txBody>
      </p:sp>
      <p:sp>
        <p:nvSpPr>
          <p:cNvPr id="10" name="TextBox 9"/>
          <p:cNvSpPr txBox="1"/>
          <p:nvPr/>
        </p:nvSpPr>
        <p:spPr>
          <a:xfrm>
            <a:off x="5486400" y="4997196"/>
            <a:ext cx="3383280" cy="137160"/>
          </a:xfrm>
          <a:prstGeom prst="rect">
            <a:avLst/>
          </a:prstGeom>
          <a:noFill/>
        </p:spPr>
        <p:txBody>
          <a:bodyPr wrap="square" anchor="ctr" lIns="0" rIns="0" tIns="0" bIns="0">
            <a:spAutoFit/>
          </a:bodyPr>
          <a:lstStyle/>
          <a:p>
            <a:pPr algn="r"/>
            <a:r>
              <a:rPr sz="550" b="0">
                <a:solidFill>
                  <a:srgbClr val="E6F0EE"/>
                </a:solidFill>
                <a:latin typeface="DejaVu Sans"/>
              </a:rPr>
              <a:t>A N U A R I O   E S T A D Í S T I C O   2 0 2 6</a:t>
            </a:r>
          </a:p>
        </p:txBody>
      </p:sp>
      <p:sp>
        <p:nvSpPr>
          <p:cNvPr id="11" name="TextBox 10"/>
          <p:cNvSpPr txBox="1"/>
          <p:nvPr/>
        </p:nvSpPr>
        <p:spPr>
          <a:xfrm>
            <a:off x="274320" y="548640"/>
            <a:ext cx="4160520" cy="182880"/>
          </a:xfrm>
          <a:prstGeom prst="rect">
            <a:avLst/>
          </a:prstGeom>
          <a:noFill/>
        </p:spPr>
        <p:txBody>
          <a:bodyPr wrap="square" anchor="ctr" lIns="0" rIns="0" tIns="0" bIns="0">
            <a:spAutoFit/>
          </a:bodyPr>
          <a:lstStyle/>
          <a:p>
            <a:r>
              <a:rPr sz="850" b="1">
                <a:solidFill>
                  <a:srgbClr val="1A4043"/>
                </a:solidFill>
                <a:latin typeface="DejaVu Sans"/>
              </a:rPr>
              <a:t>INDICADORES ECONÓMICOS</a:t>
            </a:r>
          </a:p>
        </p:txBody>
      </p:sp>
      <p:sp>
        <p:nvSpPr>
          <p:cNvPr id="12" name="Rectangle 11"/>
          <p:cNvSpPr/>
          <p:nvPr/>
        </p:nvSpPr>
        <p:spPr>
          <a:xfrm>
            <a:off x="27432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2023, los ingresos de las empresas del sector de telecomunicaciones sumaron </a:t>
            </a:r>
            <a:r>
              <a:rPr sz="680" b="1">
                <a:solidFill>
                  <a:srgbClr val="1A4043"/>
                </a:solidFill>
                <a:latin typeface="DejaVu Sans"/>
              </a:rPr>
              <a:t>$603 mil millones de pesos</a:t>
            </a:r>
            <a:r>
              <a:rPr sz="680" b="0">
                <a:solidFill>
                  <a:srgbClr val="23373A"/>
                </a:solidFill>
                <a:latin typeface="DejaVu Sans"/>
              </a:rPr>
              <a:t>. Lo que representó un crecimiento anual del </a:t>
            </a:r>
            <a:r>
              <a:rPr sz="680" b="1">
                <a:solidFill>
                  <a:srgbClr val="1A4043"/>
                </a:solidFill>
                <a:latin typeface="DejaVu Sans"/>
              </a:rPr>
              <a:t>6.8%</a:t>
            </a:r>
            <a:r>
              <a:rPr sz="680" b="0">
                <a:solidFill>
                  <a:srgbClr val="23373A"/>
                </a:solidFill>
                <a:latin typeface="DejaVu Sans"/>
              </a:rPr>
              <a:t>.</a:t>
            </a:r>
          </a:p>
          <a:p>
            <a:pPr>
              <a:spcBef>
                <a:spcPts val="150"/>
              </a:spcBef>
            </a:pPr>
            <a:r>
              <a:rPr sz="480" b="0">
                <a:solidFill>
                  <a:srgbClr val="5F7476"/>
                </a:solidFill>
                <a:latin typeface="DejaVu Sans"/>
              </a:rPr>
              <a:t>Fuente: IFT con datos de los operadores de telecomunicaciones, 2023.</a:t>
            </a:r>
          </a:p>
        </p:txBody>
      </p:sp>
      <p:sp>
        <p:nvSpPr>
          <p:cNvPr id="16" name="Rounded Rectangle 15"/>
          <p:cNvSpPr/>
          <p:nvPr/>
        </p:nvSpPr>
        <p:spPr>
          <a:xfrm>
            <a:off x="2391156"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1156"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172"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junio de 2024, el PIB de telecomunicaciones y radiodifusión (TyR) fue de </a:t>
            </a:r>
            <a:r>
              <a:rPr sz="680" b="1">
                <a:solidFill>
                  <a:srgbClr val="1A4043"/>
                </a:solidFill>
                <a:latin typeface="DejaVu Sans"/>
              </a:rPr>
              <a:t>$404 mil millones de pesos</a:t>
            </a:r>
            <a:r>
              <a:rPr sz="680" b="0">
                <a:solidFill>
                  <a:srgbClr val="23373A"/>
                </a:solidFill>
                <a:latin typeface="DejaVu Sans"/>
              </a:rPr>
              <a:t>, lo que representó un crecimiento anual de </a:t>
            </a:r>
            <a:r>
              <a:rPr sz="680" b="1">
                <a:solidFill>
                  <a:srgbClr val="1A4043"/>
                </a:solidFill>
                <a:latin typeface="DejaVu Sans"/>
              </a:rPr>
              <a:t>0.4%</a:t>
            </a:r>
            <a:r>
              <a:rPr sz="680" b="0">
                <a:solidFill>
                  <a:srgbClr val="23373A"/>
                </a:solidFill>
                <a:latin typeface="DejaVu Sans"/>
              </a:rPr>
              <a:t>.</a:t>
            </a:r>
          </a:p>
          <a:p>
            <a:pPr>
              <a:spcBef>
                <a:spcPts val="150"/>
              </a:spcBef>
            </a:pPr>
            <a:r>
              <a:rPr sz="480" b="0">
                <a:solidFill>
                  <a:srgbClr val="5F7476"/>
                </a:solidFill>
                <a:latin typeface="DejaVu Sans"/>
              </a:rPr>
              <a:t>Fuente: IFT con datos a junio de 2024, del INEGI.</a:t>
            </a:r>
          </a:p>
        </p:txBody>
      </p:sp>
      <p:sp>
        <p:nvSpPr>
          <p:cNvPr id="19" name="Rounded Rectangle 18"/>
          <p:cNvSpPr/>
          <p:nvPr/>
        </p:nvSpPr>
        <p:spPr>
          <a:xfrm>
            <a:off x="274320"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A junio de 2024, el </a:t>
            </a:r>
            <a:r>
              <a:rPr sz="680" b="1">
                <a:solidFill>
                  <a:srgbClr val="1A4043"/>
                </a:solidFill>
                <a:latin typeface="DejaVu Sans"/>
              </a:rPr>
              <a:t>82%</a:t>
            </a:r>
            <a:r>
              <a:rPr sz="680" b="0">
                <a:solidFill>
                  <a:srgbClr val="23373A"/>
                </a:solidFill>
                <a:latin typeface="DejaVu Sans"/>
              </a:rPr>
              <a:t> de los empleos pertenecieron al sector de telecomunicaciones y el </a:t>
            </a:r>
            <a:r>
              <a:rPr sz="680" b="1">
                <a:solidFill>
                  <a:srgbClr val="1A4043"/>
                </a:solidFill>
                <a:latin typeface="DejaVu Sans"/>
              </a:rPr>
              <a:t>18%</a:t>
            </a:r>
            <a:r>
              <a:rPr sz="680" b="0">
                <a:solidFill>
                  <a:srgbClr val="23373A"/>
                </a:solidFill>
                <a:latin typeface="DejaVu Sans"/>
              </a:rPr>
              <a:t> al de radiodifusión.</a:t>
            </a:r>
          </a:p>
          <a:p>
            <a:pPr>
              <a:spcBef>
                <a:spcPts val="150"/>
              </a:spcBef>
            </a:pPr>
            <a:r>
              <a:rPr sz="480" b="0">
                <a:solidFill>
                  <a:srgbClr val="5F7476"/>
                </a:solidFill>
                <a:latin typeface="DejaVu Sans"/>
              </a:rPr>
              <a:t>Fuente: IFT con datos a junio de 2024 de la ENOE-INEGI.</a:t>
            </a:r>
          </a:p>
        </p:txBody>
      </p:sp>
      <p:sp>
        <p:nvSpPr>
          <p:cNvPr id="22" name="Rounded Rectangle 21"/>
          <p:cNvSpPr/>
          <p:nvPr/>
        </p:nvSpPr>
        <p:spPr>
          <a:xfrm>
            <a:off x="2391156"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1156"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172"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De junio de 2013 a julio de 2024, los precios de comunicaciones en su conjunto disminuyeron </a:t>
            </a:r>
            <a:r>
              <a:rPr sz="680" b="1">
                <a:solidFill>
                  <a:srgbClr val="1A4043"/>
                </a:solidFill>
                <a:latin typeface="DejaVu Sans"/>
              </a:rPr>
              <a:t>49.3%</a:t>
            </a:r>
            <a:r>
              <a:rPr sz="680" b="0">
                <a:solidFill>
                  <a:srgbClr val="23373A"/>
                </a:solidFill>
                <a:latin typeface="DejaVu Sans"/>
              </a:rPr>
              <a:t>, mientras que la inflación general fue de </a:t>
            </a:r>
            <a:r>
              <a:rPr sz="680" b="1">
                <a:solidFill>
                  <a:srgbClr val="1A4043"/>
                </a:solidFill>
                <a:latin typeface="DejaVu Sans"/>
              </a:rPr>
              <a:t>66.6%</a:t>
            </a:r>
            <a:r>
              <a:rPr sz="680" b="0">
                <a:solidFill>
                  <a:srgbClr val="23373A"/>
                </a:solidFill>
                <a:latin typeface="DejaVu Sans"/>
              </a:rPr>
              <a:t>.</a:t>
            </a:r>
          </a:p>
          <a:p>
            <a:pPr>
              <a:spcBef>
                <a:spcPts val="150"/>
              </a:spcBef>
            </a:pPr>
            <a:r>
              <a:rPr sz="480" b="0">
                <a:solidFill>
                  <a:srgbClr val="5F7476"/>
                </a:solidFill>
                <a:latin typeface="DejaVu Sans"/>
              </a:rPr>
              <a:t>Fuente: IFT con datos a julio de 2024, del INEGI.</a:t>
            </a:r>
          </a:p>
        </p:txBody>
      </p:sp>
      <p:sp>
        <p:nvSpPr>
          <p:cNvPr id="25" name="TextBox 24"/>
          <p:cNvSpPr txBox="1"/>
          <p:nvPr/>
        </p:nvSpPr>
        <p:spPr>
          <a:xfrm>
            <a:off x="274320" y="2606040"/>
            <a:ext cx="4160520" cy="182880"/>
          </a:xfrm>
          <a:prstGeom prst="rect">
            <a:avLst/>
          </a:prstGeom>
          <a:noFill/>
        </p:spPr>
        <p:txBody>
          <a:bodyPr wrap="square" anchor="ctr" lIns="0" rIns="0" tIns="0" bIns="0">
            <a:spAutoFit/>
          </a:bodyPr>
          <a:lstStyle/>
          <a:p>
            <a:r>
              <a:rPr sz="850" b="1">
                <a:solidFill>
                  <a:srgbClr val="1A4043"/>
                </a:solidFill>
                <a:latin typeface="DejaVu Sans"/>
              </a:rPr>
              <a:t>ESPECTRO RADIOELÉCTRICO</a:t>
            </a:r>
          </a:p>
        </p:txBody>
      </p:sp>
      <p:sp>
        <p:nvSpPr>
          <p:cNvPr id="26" name="Rectangle 25"/>
          <p:cNvSpPr/>
          <p:nvPr/>
        </p:nvSpPr>
        <p:spPr>
          <a:xfrm>
            <a:off x="274320" y="27934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74320" y="2889504"/>
            <a:ext cx="4160520" cy="914400"/>
          </a:xfrm>
          <a:prstGeom prst="roundRect">
            <a:avLst>
              <a:gd name="adj" fmla="val 6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944368"/>
            <a:ext cx="41148" cy="804672"/>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0Hz</a:t>
            </a:r>
          </a:p>
        </p:txBody>
      </p:sp>
      <p:sp>
        <p:nvSpPr>
          <p:cNvPr id="30" name="TextBox 29"/>
          <p:cNvSpPr txBox="1"/>
          <p:nvPr/>
        </p:nvSpPr>
        <p:spPr>
          <a:xfrm>
            <a:off x="57150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50Hz</a:t>
            </a:r>
          </a:p>
        </p:txBody>
      </p:sp>
      <p:sp>
        <p:nvSpPr>
          <p:cNvPr id="31" name="TextBox 30"/>
          <p:cNvSpPr txBox="1"/>
          <p:nvPr/>
        </p:nvSpPr>
        <p:spPr>
          <a:xfrm>
            <a:off x="978408"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3KHz</a:t>
            </a:r>
          </a:p>
        </p:txBody>
      </p:sp>
      <p:sp>
        <p:nvSpPr>
          <p:cNvPr id="32" name="TextBox 31"/>
          <p:cNvSpPr txBox="1"/>
          <p:nvPr/>
        </p:nvSpPr>
        <p:spPr>
          <a:xfrm>
            <a:off x="1385316"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Radiofrecuencia</a:t>
            </a:r>
          </a:p>
        </p:txBody>
      </p:sp>
      <p:sp>
        <p:nvSpPr>
          <p:cNvPr id="33" name="TextBox 32"/>
          <p:cNvSpPr txBox="1"/>
          <p:nvPr/>
        </p:nvSpPr>
        <p:spPr>
          <a:xfrm>
            <a:off x="1792223"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300GHz</a:t>
            </a:r>
          </a:p>
        </p:txBody>
      </p:sp>
      <p:sp>
        <p:nvSpPr>
          <p:cNvPr id="34" name="TextBox 33"/>
          <p:cNvSpPr txBox="1"/>
          <p:nvPr/>
        </p:nvSpPr>
        <p:spPr>
          <a:xfrm>
            <a:off x="219913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3,000THz</a:t>
            </a:r>
          </a:p>
        </p:txBody>
      </p:sp>
      <p:sp>
        <p:nvSpPr>
          <p:cNvPr id="35" name="TextBox 34"/>
          <p:cNvSpPr txBox="1"/>
          <p:nvPr/>
        </p:nvSpPr>
        <p:spPr>
          <a:xfrm>
            <a:off x="260604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30EHz</a:t>
            </a:r>
          </a:p>
        </p:txBody>
      </p:sp>
      <p:sp>
        <p:nvSpPr>
          <p:cNvPr id="36" name="Freeform 35"/>
          <p:cNvSpPr/>
          <p:nvPr/>
        </p:nvSpPr>
        <p:spPr>
          <a:xfrm>
            <a:off x="438912" y="3157111"/>
            <a:ext cx="2441448" cy="302030"/>
          </a:xfrm>
          <a:custGeom>
            <a:avLst/>
            <a:gdLst/>
            <a:ahLst/>
            <a:cxnLst/>
            <a:rect l="l" t="t" r="r" b="b"/>
            <a:pathLst>
              <a:path w="2441448" h="302030">
                <a:moveTo>
                  <a:pt x="0" y="155330"/>
                </a:moveTo>
                <a:lnTo>
                  <a:pt x="9390" y="157657"/>
                </a:lnTo>
                <a:lnTo>
                  <a:pt x="18780" y="159996"/>
                </a:lnTo>
                <a:lnTo>
                  <a:pt x="28170" y="162347"/>
                </a:lnTo>
                <a:lnTo>
                  <a:pt x="37560" y="164708"/>
                </a:lnTo>
                <a:lnTo>
                  <a:pt x="46950" y="167080"/>
                </a:lnTo>
                <a:lnTo>
                  <a:pt x="56341" y="169460"/>
                </a:lnTo>
                <a:lnTo>
                  <a:pt x="65731" y="171849"/>
                </a:lnTo>
                <a:lnTo>
                  <a:pt x="75121" y="174246"/>
                </a:lnTo>
                <a:lnTo>
                  <a:pt x="84511" y="176650"/>
                </a:lnTo>
                <a:lnTo>
                  <a:pt x="93901" y="179060"/>
                </a:lnTo>
                <a:lnTo>
                  <a:pt x="103292" y="181475"/>
                </a:lnTo>
                <a:lnTo>
                  <a:pt x="112682" y="183895"/>
                </a:lnTo>
                <a:lnTo>
                  <a:pt x="122072" y="186319"/>
                </a:lnTo>
                <a:lnTo>
                  <a:pt x="131462" y="188744"/>
                </a:lnTo>
                <a:lnTo>
                  <a:pt x="140852" y="191171"/>
                </a:lnTo>
                <a:lnTo>
                  <a:pt x="150242" y="193598"/>
                </a:lnTo>
                <a:lnTo>
                  <a:pt x="159633" y="196024"/>
                </a:lnTo>
                <a:lnTo>
                  <a:pt x="169023" y="198446"/>
                </a:lnTo>
                <a:lnTo>
                  <a:pt x="178413" y="200863"/>
                </a:lnTo>
                <a:lnTo>
                  <a:pt x="187803" y="203273"/>
                </a:lnTo>
                <a:lnTo>
                  <a:pt x="197193" y="205674"/>
                </a:lnTo>
                <a:lnTo>
                  <a:pt x="206584" y="208064"/>
                </a:lnTo>
                <a:lnTo>
                  <a:pt x="215974" y="210440"/>
                </a:lnTo>
                <a:lnTo>
                  <a:pt x="225364" y="212800"/>
                </a:lnTo>
                <a:lnTo>
                  <a:pt x="234754" y="215139"/>
                </a:lnTo>
                <a:lnTo>
                  <a:pt x="244144" y="217456"/>
                </a:lnTo>
                <a:lnTo>
                  <a:pt x="253534" y="219746"/>
                </a:lnTo>
                <a:lnTo>
                  <a:pt x="262925" y="222005"/>
                </a:lnTo>
                <a:lnTo>
                  <a:pt x="272315" y="224230"/>
                </a:lnTo>
                <a:lnTo>
                  <a:pt x="281705" y="226415"/>
                </a:lnTo>
                <a:lnTo>
                  <a:pt x="291095" y="228556"/>
                </a:lnTo>
                <a:lnTo>
                  <a:pt x="300485" y="230647"/>
                </a:lnTo>
                <a:lnTo>
                  <a:pt x="309876" y="232683"/>
                </a:lnTo>
                <a:lnTo>
                  <a:pt x="319266" y="234657"/>
                </a:lnTo>
                <a:lnTo>
                  <a:pt x="328656" y="236563"/>
                </a:lnTo>
                <a:lnTo>
                  <a:pt x="338046" y="238395"/>
                </a:lnTo>
                <a:lnTo>
                  <a:pt x="347436" y="240144"/>
                </a:lnTo>
                <a:lnTo>
                  <a:pt x="356827" y="241802"/>
                </a:lnTo>
                <a:lnTo>
                  <a:pt x="366217" y="243362"/>
                </a:lnTo>
                <a:lnTo>
                  <a:pt x="375607" y="244815"/>
                </a:lnTo>
                <a:lnTo>
                  <a:pt x="384997" y="246152"/>
                </a:lnTo>
                <a:lnTo>
                  <a:pt x="394387" y="247362"/>
                </a:lnTo>
                <a:lnTo>
                  <a:pt x="403777" y="248436"/>
                </a:lnTo>
                <a:lnTo>
                  <a:pt x="413168" y="249363"/>
                </a:lnTo>
                <a:lnTo>
                  <a:pt x="422558" y="250132"/>
                </a:lnTo>
                <a:lnTo>
                  <a:pt x="431948" y="250732"/>
                </a:lnTo>
                <a:lnTo>
                  <a:pt x="441338" y="251150"/>
                </a:lnTo>
                <a:lnTo>
                  <a:pt x="450728" y="251376"/>
                </a:lnTo>
                <a:lnTo>
                  <a:pt x="460119" y="251395"/>
                </a:lnTo>
                <a:lnTo>
                  <a:pt x="469509" y="251197"/>
                </a:lnTo>
                <a:lnTo>
                  <a:pt x="478899" y="250767"/>
                </a:lnTo>
                <a:lnTo>
                  <a:pt x="488289" y="250094"/>
                </a:lnTo>
                <a:lnTo>
                  <a:pt x="497679" y="249163"/>
                </a:lnTo>
                <a:lnTo>
                  <a:pt x="507069" y="247963"/>
                </a:lnTo>
                <a:lnTo>
                  <a:pt x="516460" y="246481"/>
                </a:lnTo>
                <a:lnTo>
                  <a:pt x="525850" y="244703"/>
                </a:lnTo>
                <a:lnTo>
                  <a:pt x="535240" y="242619"/>
                </a:lnTo>
                <a:lnTo>
                  <a:pt x="544630" y="240217"/>
                </a:lnTo>
                <a:lnTo>
                  <a:pt x="554020" y="237487"/>
                </a:lnTo>
                <a:lnTo>
                  <a:pt x="563411" y="234418"/>
                </a:lnTo>
                <a:lnTo>
                  <a:pt x="572801" y="231003"/>
                </a:lnTo>
                <a:lnTo>
                  <a:pt x="582191" y="227235"/>
                </a:lnTo>
                <a:lnTo>
                  <a:pt x="591581" y="223108"/>
                </a:lnTo>
                <a:lnTo>
                  <a:pt x="600971" y="218618"/>
                </a:lnTo>
                <a:lnTo>
                  <a:pt x="610362" y="213765"/>
                </a:lnTo>
                <a:lnTo>
                  <a:pt x="619752" y="208549"/>
                </a:lnTo>
                <a:lnTo>
                  <a:pt x="629142" y="202974"/>
                </a:lnTo>
                <a:lnTo>
                  <a:pt x="638532" y="197047"/>
                </a:lnTo>
                <a:lnTo>
                  <a:pt x="647922" y="190778"/>
                </a:lnTo>
                <a:lnTo>
                  <a:pt x="657312" y="184180"/>
                </a:lnTo>
                <a:lnTo>
                  <a:pt x="666703" y="177270"/>
                </a:lnTo>
                <a:lnTo>
                  <a:pt x="676093" y="170072"/>
                </a:lnTo>
                <a:lnTo>
                  <a:pt x="685483" y="162610"/>
                </a:lnTo>
                <a:lnTo>
                  <a:pt x="694873" y="154916"/>
                </a:lnTo>
                <a:lnTo>
                  <a:pt x="704263" y="147026"/>
                </a:lnTo>
                <a:lnTo>
                  <a:pt x="713654" y="138982"/>
                </a:lnTo>
                <a:lnTo>
                  <a:pt x="723044" y="130829"/>
                </a:lnTo>
                <a:lnTo>
                  <a:pt x="732434" y="122621"/>
                </a:lnTo>
                <a:lnTo>
                  <a:pt x="741824" y="114414"/>
                </a:lnTo>
                <a:lnTo>
                  <a:pt x="751214" y="106273"/>
                </a:lnTo>
                <a:lnTo>
                  <a:pt x="760604" y="98266"/>
                </a:lnTo>
                <a:lnTo>
                  <a:pt x="769995" y="90467"/>
                </a:lnTo>
                <a:lnTo>
                  <a:pt x="779385" y="82955"/>
                </a:lnTo>
                <a:lnTo>
                  <a:pt x="788775" y="75812"/>
                </a:lnTo>
                <a:lnTo>
                  <a:pt x="798165" y="69127"/>
                </a:lnTo>
                <a:lnTo>
                  <a:pt x="807555" y="62987"/>
                </a:lnTo>
                <a:lnTo>
                  <a:pt x="816946" y="57487"/>
                </a:lnTo>
                <a:lnTo>
                  <a:pt x="826336" y="52718"/>
                </a:lnTo>
                <a:lnTo>
                  <a:pt x="835726" y="48773"/>
                </a:lnTo>
                <a:lnTo>
                  <a:pt x="845116" y="45743"/>
                </a:lnTo>
                <a:lnTo>
                  <a:pt x="854506" y="43716"/>
                </a:lnTo>
                <a:lnTo>
                  <a:pt x="863896" y="42773"/>
                </a:lnTo>
                <a:lnTo>
                  <a:pt x="873287" y="42989"/>
                </a:lnTo>
                <a:lnTo>
                  <a:pt x="882677" y="44430"/>
                </a:lnTo>
                <a:lnTo>
                  <a:pt x="892067" y="47150"/>
                </a:lnTo>
                <a:lnTo>
                  <a:pt x="901457" y="51188"/>
                </a:lnTo>
                <a:lnTo>
                  <a:pt x="910847" y="56566"/>
                </a:lnTo>
                <a:lnTo>
                  <a:pt x="920238" y="63290"/>
                </a:lnTo>
                <a:lnTo>
                  <a:pt x="929628" y="71343"/>
                </a:lnTo>
                <a:lnTo>
                  <a:pt x="939018" y="80683"/>
                </a:lnTo>
                <a:lnTo>
                  <a:pt x="948408" y="91244"/>
                </a:lnTo>
                <a:lnTo>
                  <a:pt x="957798" y="102934"/>
                </a:lnTo>
                <a:lnTo>
                  <a:pt x="967189" y="115629"/>
                </a:lnTo>
                <a:lnTo>
                  <a:pt x="976579" y="129178"/>
                </a:lnTo>
                <a:lnTo>
                  <a:pt x="985969" y="143401"/>
                </a:lnTo>
                <a:lnTo>
                  <a:pt x="995359" y="158086"/>
                </a:lnTo>
                <a:lnTo>
                  <a:pt x="1004749" y="172996"/>
                </a:lnTo>
                <a:lnTo>
                  <a:pt x="1014139" y="187866"/>
                </a:lnTo>
                <a:lnTo>
                  <a:pt x="1023530" y="202412"/>
                </a:lnTo>
                <a:lnTo>
                  <a:pt x="1032920" y="216328"/>
                </a:lnTo>
                <a:lnTo>
                  <a:pt x="1042310" y="229299"/>
                </a:lnTo>
                <a:lnTo>
                  <a:pt x="1051700" y="241002"/>
                </a:lnTo>
                <a:lnTo>
                  <a:pt x="1061090" y="251118"/>
                </a:lnTo>
                <a:lnTo>
                  <a:pt x="1070481" y="259338"/>
                </a:lnTo>
                <a:lnTo>
                  <a:pt x="1079871" y="265372"/>
                </a:lnTo>
                <a:lnTo>
                  <a:pt x="1089261" y="268964"/>
                </a:lnTo>
                <a:lnTo>
                  <a:pt x="1098651" y="269898"/>
                </a:lnTo>
                <a:lnTo>
                  <a:pt x="1108041" y="268013"/>
                </a:lnTo>
                <a:lnTo>
                  <a:pt x="1117431" y="263210"/>
                </a:lnTo>
                <a:lnTo>
                  <a:pt x="1126822" y="255466"/>
                </a:lnTo>
                <a:lnTo>
                  <a:pt x="1136212" y="244843"/>
                </a:lnTo>
                <a:lnTo>
                  <a:pt x="1145602" y="231491"/>
                </a:lnTo>
                <a:lnTo>
                  <a:pt x="1154992" y="215659"/>
                </a:lnTo>
                <a:lnTo>
                  <a:pt x="1164382" y="197694"/>
                </a:lnTo>
                <a:lnTo>
                  <a:pt x="1173773" y="178038"/>
                </a:lnTo>
                <a:lnTo>
                  <a:pt x="1183163" y="157229"/>
                </a:lnTo>
                <a:lnTo>
                  <a:pt x="1192553" y="135885"/>
                </a:lnTo>
                <a:lnTo>
                  <a:pt x="1201943" y="114692"/>
                </a:lnTo>
                <a:lnTo>
                  <a:pt x="1211333" y="94387"/>
                </a:lnTo>
                <a:lnTo>
                  <a:pt x="1220724" y="75732"/>
                </a:lnTo>
                <a:lnTo>
                  <a:pt x="1230114" y="59486"/>
                </a:lnTo>
                <a:lnTo>
                  <a:pt x="1239504" y="46373"/>
                </a:lnTo>
                <a:lnTo>
                  <a:pt x="1248894" y="37049"/>
                </a:lnTo>
                <a:lnTo>
                  <a:pt x="1258284" y="32064"/>
                </a:lnTo>
                <a:lnTo>
                  <a:pt x="1267674" y="31829"/>
                </a:lnTo>
                <a:lnTo>
                  <a:pt x="1277065" y="36578"/>
                </a:lnTo>
                <a:lnTo>
                  <a:pt x="1286455" y="46343"/>
                </a:lnTo>
                <a:lnTo>
                  <a:pt x="1295845" y="60929"/>
                </a:lnTo>
                <a:lnTo>
                  <a:pt x="1305235" y="79900"/>
                </a:lnTo>
                <a:lnTo>
                  <a:pt x="1314625" y="102577"/>
                </a:lnTo>
                <a:lnTo>
                  <a:pt x="1324016" y="128046"/>
                </a:lnTo>
                <a:lnTo>
                  <a:pt x="1333406" y="155184"/>
                </a:lnTo>
                <a:lnTo>
                  <a:pt x="1342796" y="182698"/>
                </a:lnTo>
                <a:lnTo>
                  <a:pt x="1352186" y="209180"/>
                </a:lnTo>
                <a:lnTo>
                  <a:pt x="1361576" y="233174"/>
                </a:lnTo>
                <a:lnTo>
                  <a:pt x="1370966" y="253257"/>
                </a:lnTo>
                <a:lnTo>
                  <a:pt x="1380357" y="268128"/>
                </a:lnTo>
                <a:lnTo>
                  <a:pt x="1389747" y="276700"/>
                </a:lnTo>
                <a:lnTo>
                  <a:pt x="1399137" y="278185"/>
                </a:lnTo>
                <a:lnTo>
                  <a:pt x="1408527" y="272181"/>
                </a:lnTo>
                <a:lnTo>
                  <a:pt x="1417917" y="258733"/>
                </a:lnTo>
                <a:lnTo>
                  <a:pt x="1427308" y="238370"/>
                </a:lnTo>
                <a:lnTo>
                  <a:pt x="1436698" y="212125"/>
                </a:lnTo>
                <a:lnTo>
                  <a:pt x="1446088" y="181502"/>
                </a:lnTo>
                <a:lnTo>
                  <a:pt x="1455478" y="148419"/>
                </a:lnTo>
                <a:lnTo>
                  <a:pt x="1464868" y="115104"/>
                </a:lnTo>
                <a:lnTo>
                  <a:pt x="1474258" y="83953"/>
                </a:lnTo>
                <a:lnTo>
                  <a:pt x="1483649" y="57367"/>
                </a:lnTo>
                <a:lnTo>
                  <a:pt x="1493039" y="37559"/>
                </a:lnTo>
                <a:lnTo>
                  <a:pt x="1502429" y="26355"/>
                </a:lnTo>
                <a:lnTo>
                  <a:pt x="1511819" y="25007"/>
                </a:lnTo>
                <a:lnTo>
                  <a:pt x="1521209" y="34036"/>
                </a:lnTo>
                <a:lnTo>
                  <a:pt x="1530600" y="53115"/>
                </a:lnTo>
                <a:lnTo>
                  <a:pt x="1539990" y="81022"/>
                </a:lnTo>
                <a:lnTo>
                  <a:pt x="1549380" y="115668"/>
                </a:lnTo>
                <a:lnTo>
                  <a:pt x="1558770" y="154210"/>
                </a:lnTo>
                <a:lnTo>
                  <a:pt x="1568160" y="193256"/>
                </a:lnTo>
                <a:lnTo>
                  <a:pt x="1577551" y="229145"/>
                </a:lnTo>
                <a:lnTo>
                  <a:pt x="1586941" y="258283"/>
                </a:lnTo>
                <a:lnTo>
                  <a:pt x="1596331" y="277521"/>
                </a:lnTo>
                <a:lnTo>
                  <a:pt x="1605721" y="284519"/>
                </a:lnTo>
                <a:lnTo>
                  <a:pt x="1615111" y="278068"/>
                </a:lnTo>
                <a:lnTo>
                  <a:pt x="1624501" y="258323"/>
                </a:lnTo>
                <a:lnTo>
                  <a:pt x="1633892" y="226902"/>
                </a:lnTo>
                <a:lnTo>
                  <a:pt x="1643282" y="186835"/>
                </a:lnTo>
                <a:lnTo>
                  <a:pt x="1652672" y="142335"/>
                </a:lnTo>
                <a:lnTo>
                  <a:pt x="1662062" y="98393"/>
                </a:lnTo>
                <a:lnTo>
                  <a:pt x="1671452" y="60248"/>
                </a:lnTo>
                <a:lnTo>
                  <a:pt x="1680843" y="32753"/>
                </a:lnTo>
                <a:lnTo>
                  <a:pt x="1690233" y="19725"/>
                </a:lnTo>
                <a:lnTo>
                  <a:pt x="1699623" y="23366"/>
                </a:lnTo>
                <a:lnTo>
                  <a:pt x="1709013" y="43832"/>
                </a:lnTo>
                <a:lnTo>
                  <a:pt x="1718403" y="79039"/>
                </a:lnTo>
                <a:lnTo>
                  <a:pt x="1727793" y="124763"/>
                </a:lnTo>
                <a:lnTo>
                  <a:pt x="1737184" y="175060"/>
                </a:lnTo>
                <a:lnTo>
                  <a:pt x="1746574" y="222978"/>
                </a:lnTo>
                <a:lnTo>
                  <a:pt x="1755964" y="261494"/>
                </a:lnTo>
                <a:lnTo>
                  <a:pt x="1765354" y="284571"/>
                </a:lnTo>
                <a:lnTo>
                  <a:pt x="1774744" y="288163"/>
                </a:lnTo>
                <a:lnTo>
                  <a:pt x="1784135" y="271007"/>
                </a:lnTo>
                <a:lnTo>
                  <a:pt x="1793525" y="235058"/>
                </a:lnTo>
                <a:lnTo>
                  <a:pt x="1802915" y="185428"/>
                </a:lnTo>
                <a:lnTo>
                  <a:pt x="1812305" y="129784"/>
                </a:lnTo>
                <a:lnTo>
                  <a:pt x="1821695" y="77249"/>
                </a:lnTo>
                <a:lnTo>
                  <a:pt x="1831086" y="36935"/>
                </a:lnTo>
                <a:lnTo>
                  <a:pt x="1840476" y="16325"/>
                </a:lnTo>
                <a:lnTo>
                  <a:pt x="1849866" y="19789"/>
                </a:lnTo>
                <a:lnTo>
                  <a:pt x="1859256" y="47537"/>
                </a:lnTo>
                <a:lnTo>
                  <a:pt x="1868646" y="95249"/>
                </a:lnTo>
                <a:lnTo>
                  <a:pt x="1878036" y="154559"/>
                </a:lnTo>
                <a:lnTo>
                  <a:pt x="1887427" y="214376"/>
                </a:lnTo>
                <a:lnTo>
                  <a:pt x="1896817" y="262893"/>
                </a:lnTo>
                <a:lnTo>
                  <a:pt x="1906207" y="289943"/>
                </a:lnTo>
                <a:lnTo>
                  <a:pt x="1915597" y="289231"/>
                </a:lnTo>
                <a:lnTo>
                  <a:pt x="1924987" y="259971"/>
                </a:lnTo>
                <a:lnTo>
                  <a:pt x="1934378" y="207466"/>
                </a:lnTo>
                <a:lnTo>
                  <a:pt x="1943768" y="142399"/>
                </a:lnTo>
                <a:lnTo>
                  <a:pt x="1953158" y="78839"/>
                </a:lnTo>
                <a:lnTo>
                  <a:pt x="1962548" y="31261"/>
                </a:lnTo>
                <a:lnTo>
                  <a:pt x="1971938" y="11206"/>
                </a:lnTo>
                <a:lnTo>
                  <a:pt x="1981328" y="24307"/>
                </a:lnTo>
                <a:lnTo>
                  <a:pt x="1990719" y="68497"/>
                </a:lnTo>
                <a:lnTo>
                  <a:pt x="2000109" y="133951"/>
                </a:lnTo>
                <a:lnTo>
                  <a:pt x="2009499" y="204999"/>
                </a:lnTo>
                <a:lnTo>
                  <a:pt x="2018889" y="263725"/>
                </a:lnTo>
                <a:lnTo>
                  <a:pt x="2028279" y="294492"/>
                </a:lnTo>
                <a:lnTo>
                  <a:pt x="2037670" y="288270"/>
                </a:lnTo>
                <a:lnTo>
                  <a:pt x="2047060" y="245562"/>
                </a:lnTo>
                <a:lnTo>
                  <a:pt x="2056450" y="176941"/>
                </a:lnTo>
                <a:lnTo>
                  <a:pt x="2065840" y="100784"/>
                </a:lnTo>
                <a:lnTo>
                  <a:pt x="2075230" y="38554"/>
                </a:lnTo>
                <a:lnTo>
                  <a:pt x="2084620" y="8744"/>
                </a:lnTo>
                <a:lnTo>
                  <a:pt x="2094011" y="21171"/>
                </a:lnTo>
                <a:lnTo>
                  <a:pt x="2103401" y="73396"/>
                </a:lnTo>
                <a:lnTo>
                  <a:pt x="2112791" y="150635"/>
                </a:lnTo>
                <a:lnTo>
                  <a:pt x="2122181" y="229547"/>
                </a:lnTo>
                <a:lnTo>
                  <a:pt x="2131571" y="285107"/>
                </a:lnTo>
                <a:lnTo>
                  <a:pt x="2140962" y="298633"/>
                </a:lnTo>
                <a:lnTo>
                  <a:pt x="2150352" y="264404"/>
                </a:lnTo>
                <a:lnTo>
                  <a:pt x="2159742" y="192462"/>
                </a:lnTo>
                <a:lnTo>
                  <a:pt x="2169132" y="106227"/>
                </a:lnTo>
                <a:lnTo>
                  <a:pt x="2178522" y="35220"/>
                </a:lnTo>
                <a:lnTo>
                  <a:pt x="2187913" y="4984"/>
                </a:lnTo>
                <a:lnTo>
                  <a:pt x="2197303" y="27593"/>
                </a:lnTo>
                <a:lnTo>
                  <a:pt x="2206693" y="96322"/>
                </a:lnTo>
                <a:lnTo>
                  <a:pt x="2216083" y="186929"/>
                </a:lnTo>
                <a:lnTo>
                  <a:pt x="2225473" y="265733"/>
                </a:lnTo>
                <a:lnTo>
                  <a:pt x="2234863" y="302030"/>
                </a:lnTo>
                <a:lnTo>
                  <a:pt x="2244254" y="280374"/>
                </a:lnTo>
                <a:lnTo>
                  <a:pt x="2253644" y="207738"/>
                </a:lnTo>
                <a:lnTo>
                  <a:pt x="2263034" y="112120"/>
                </a:lnTo>
                <a:lnTo>
                  <a:pt x="2272424" y="32293"/>
                </a:lnTo>
                <a:lnTo>
                  <a:pt x="2281814" y="2170"/>
                </a:lnTo>
                <a:lnTo>
                  <a:pt x="2291205" y="35991"/>
                </a:lnTo>
                <a:lnTo>
                  <a:pt x="2300595" y="120880"/>
                </a:lnTo>
                <a:lnTo>
                  <a:pt x="2309985" y="220846"/>
                </a:lnTo>
                <a:lnTo>
                  <a:pt x="2319375" y="291521"/>
                </a:lnTo>
                <a:lnTo>
                  <a:pt x="2328765" y="299910"/>
                </a:lnTo>
                <a:lnTo>
                  <a:pt x="2338155" y="240423"/>
                </a:lnTo>
                <a:lnTo>
                  <a:pt x="2347546" y="139200"/>
                </a:lnTo>
                <a:lnTo>
                  <a:pt x="2356936" y="43509"/>
                </a:lnTo>
                <a:lnTo>
                  <a:pt x="2366326" y="0"/>
                </a:lnTo>
                <a:lnTo>
                  <a:pt x="2375716" y="31561"/>
                </a:lnTo>
                <a:lnTo>
                  <a:pt x="2385106" y="124364"/>
                </a:lnTo>
                <a:lnTo>
                  <a:pt x="2394497" y="232727"/>
                </a:lnTo>
                <a:lnTo>
                  <a:pt x="2403887" y="300939"/>
                </a:lnTo>
                <a:lnTo>
                  <a:pt x="2413277" y="292052"/>
                </a:lnTo>
                <a:lnTo>
                  <a:pt x="2422667" y="208794"/>
                </a:lnTo>
                <a:lnTo>
                  <a:pt x="2432057" y="94425"/>
                </a:lnTo>
                <a:lnTo>
                  <a:pt x="2441448" y="11200"/>
                </a:lnTo>
              </a:path>
            </a:pathLst>
          </a:custGeom>
          <a:noFill/>
          <a:ln w="17780">
            <a:solidFill>
              <a:srgbClr val="4A7D76"/>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621024"/>
            <a:ext cx="2560320" cy="128016"/>
          </a:xfrm>
          <a:prstGeom prst="rect">
            <a:avLst/>
          </a:prstGeom>
          <a:noFill/>
        </p:spPr>
        <p:txBody>
          <a:bodyPr wrap="square" anchor="ctr" lIns="0" rIns="0" tIns="0" bIns="0">
            <a:spAutoFit/>
          </a:bodyPr>
          <a:lstStyle/>
          <a:p>
            <a:pPr>
              <a:spcBef>
                <a:spcPts val="150"/>
              </a:spcBef>
            </a:pPr>
            <a:r>
              <a:rPr sz="480" b="0">
                <a:solidFill>
                  <a:srgbClr val="5F7476"/>
                </a:solidFill>
                <a:latin typeface="DejaVu Sans"/>
              </a:rPr>
              <a:t>Fuente: IFT con datos a diciembre de 2023.</a:t>
            </a:r>
          </a:p>
        </p:txBody>
      </p:sp>
      <p:sp>
        <p:nvSpPr>
          <p:cNvPr id="38" name="Rounded Rectangle 37"/>
          <p:cNvSpPr/>
          <p:nvPr/>
        </p:nvSpPr>
        <p:spPr>
          <a:xfrm>
            <a:off x="3063239" y="3017520"/>
            <a:ext cx="1243584" cy="658368"/>
          </a:xfrm>
          <a:prstGeom prst="roundRect">
            <a:avLst>
              <a:gd name="adj" fmla="val 11111"/>
            </a:avLst>
          </a:prstGeom>
          <a:solidFill>
            <a:srgbClr val="E3F0ED"/>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79" y="3017520"/>
            <a:ext cx="1060704" cy="658368"/>
          </a:xfrm>
          <a:prstGeom prst="rect">
            <a:avLst/>
          </a:prstGeom>
          <a:noFill/>
        </p:spPr>
        <p:txBody>
          <a:bodyPr wrap="square" anchor="ctr" lIns="0" rIns="0" tIns="0" bIns="0">
            <a:spAutoFit/>
          </a:bodyPr>
          <a:lstStyle/>
          <a:p>
            <a:pPr>
              <a:lnSpc>
                <a:spcPct val="110000"/>
              </a:lnSpc>
            </a:pPr>
            <a:r>
              <a:rPr sz="700" b="0">
                <a:solidFill>
                  <a:srgbClr val="23373A"/>
                </a:solidFill>
                <a:latin typeface="DejaVu Sans"/>
              </a:rPr>
              <a:t>El </a:t>
            </a:r>
            <a:r>
              <a:rPr sz="700" b="1">
                <a:solidFill>
                  <a:srgbClr val="1A4043"/>
                </a:solidFill>
                <a:latin typeface="DejaVu Sans"/>
              </a:rPr>
              <a:t>21.7%</a:t>
            </a:r>
            <a:r>
              <a:rPr sz="700" b="0">
                <a:solidFill>
                  <a:srgbClr val="23373A"/>
                </a:solidFill>
                <a:latin typeface="DejaVu Sans"/>
              </a:rPr>
              <a:t> del espectro radioeléctrico es asignado a la banda de </a:t>
            </a:r>
            <a:r>
              <a:rPr sz="700" b="1">
                <a:solidFill>
                  <a:srgbClr val="1A4043"/>
                </a:solidFill>
                <a:latin typeface="DejaVu Sans"/>
              </a:rPr>
              <a:t>2,500 MHz</a:t>
            </a:r>
            <a:r>
              <a:rPr sz="700" b="0">
                <a:solidFill>
                  <a:srgbClr val="23373A"/>
                </a:solidFill>
                <a:latin typeface="DejaVu Sans"/>
              </a:rPr>
              <a:t>.</a:t>
            </a:r>
          </a:p>
        </p:txBody>
      </p:sp>
      <p:sp>
        <p:nvSpPr>
          <p:cNvPr id="40" name="TextBox 39"/>
          <p:cNvSpPr txBox="1"/>
          <p:nvPr/>
        </p:nvSpPr>
        <p:spPr>
          <a:xfrm>
            <a:off x="4572000" y="548640"/>
            <a:ext cx="4297680" cy="182880"/>
          </a:xfrm>
          <a:prstGeom prst="rect">
            <a:avLst/>
          </a:prstGeom>
          <a:noFill/>
        </p:spPr>
        <p:txBody>
          <a:bodyPr wrap="square" anchor="ctr" lIns="0" rIns="0" tIns="0" bIns="0">
            <a:spAutoFit/>
          </a:bodyPr>
          <a:lstStyle/>
          <a:p>
            <a:r>
              <a:rPr sz="850" b="1">
                <a:solidFill>
                  <a:srgbClr val="1A4043"/>
                </a:solidFill>
                <a:latin typeface="DejaVu Sans"/>
              </a:rPr>
              <a:t>SERVICIOS MÓVILES DE TELECOMUNICACIONES</a:t>
            </a:r>
          </a:p>
        </p:txBody>
      </p:sp>
      <p:sp>
        <p:nvSpPr>
          <p:cNvPr id="41" name="Rectangle 40"/>
          <p:cNvSpPr/>
          <p:nvPr/>
        </p:nvSpPr>
        <p:spPr>
          <a:xfrm>
            <a:off x="457200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0" y="83210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54296" y="89154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phone_w.png"/>
          <p:cNvPicPr>
            <a:picLocks noChangeAspect="1"/>
          </p:cNvPicPr>
          <p:nvPr/>
        </p:nvPicPr>
        <p:blipFill>
          <a:blip r:embed="rId6"/>
          <a:stretch>
            <a:fillRect/>
          </a:stretch>
        </p:blipFill>
        <p:spPr>
          <a:xfrm>
            <a:off x="4709159" y="946403"/>
            <a:ext cx="164592" cy="164592"/>
          </a:xfrm>
          <a:prstGeom prst="rect">
            <a:avLst/>
          </a:prstGeom>
        </p:spPr>
      </p:pic>
      <p:sp>
        <p:nvSpPr>
          <p:cNvPr id="45" name="TextBox 44"/>
          <p:cNvSpPr txBox="1"/>
          <p:nvPr/>
        </p:nvSpPr>
        <p:spPr>
          <a:xfrm>
            <a:off x="5029200" y="85953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diciembre de 2023, se tuvieron </a:t>
            </a:r>
            <a:r>
              <a:rPr sz="660" b="1">
                <a:solidFill>
                  <a:srgbClr val="1A4043"/>
                </a:solidFill>
                <a:latin typeface="DejaVu Sans"/>
              </a:rPr>
              <a:t>110 líneas</a:t>
            </a:r>
            <a:r>
              <a:rPr sz="660" b="0">
                <a:solidFill>
                  <a:srgbClr val="23373A"/>
                </a:solidFill>
                <a:latin typeface="DejaVu Sans"/>
              </a:rPr>
              <a:t> del servicio móvil de telefonía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46" name="Rounded Rectangle 45"/>
          <p:cNvSpPr/>
          <p:nvPr/>
        </p:nvSpPr>
        <p:spPr>
          <a:xfrm>
            <a:off x="4572000" y="1266443"/>
            <a:ext cx="4297680" cy="530352"/>
          </a:xfrm>
          <a:prstGeom prst="roundRect">
            <a:avLst>
              <a:gd name="adj" fmla="val 10344"/>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54296" y="13944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_call_w.png"/>
          <p:cNvPicPr>
            <a:picLocks noChangeAspect="1"/>
          </p:cNvPicPr>
          <p:nvPr/>
        </p:nvPicPr>
        <p:blipFill>
          <a:blip r:embed="rId7"/>
          <a:stretch>
            <a:fillRect/>
          </a:stretch>
        </p:blipFill>
        <p:spPr>
          <a:xfrm>
            <a:off x="4709159" y="1449323"/>
            <a:ext cx="164592" cy="164592"/>
          </a:xfrm>
          <a:prstGeom prst="rect">
            <a:avLst/>
          </a:prstGeom>
        </p:spPr>
      </p:pic>
      <p:sp>
        <p:nvSpPr>
          <p:cNvPr id="49" name="TextBox 48"/>
          <p:cNvSpPr txBox="1"/>
          <p:nvPr/>
        </p:nvSpPr>
        <p:spPr>
          <a:xfrm>
            <a:off x="5029200" y="1293875"/>
            <a:ext cx="3749040" cy="47548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2023, el </a:t>
            </a:r>
            <a:r>
              <a:rPr sz="660" b="1">
                <a:solidFill>
                  <a:srgbClr val="1A4043"/>
                </a:solidFill>
                <a:latin typeface="DejaVu Sans"/>
              </a:rPr>
              <a:t>29.6%</a:t>
            </a:r>
            <a:r>
              <a:rPr sz="660" b="0">
                <a:solidFill>
                  <a:srgbClr val="23373A"/>
                </a:solidFill>
                <a:latin typeface="DejaVu Sans"/>
              </a:rPr>
              <a:t> de las MiPymes contrató el servicio de telefonía móvil y el </a:t>
            </a:r>
            <a:r>
              <a:rPr sz="660" b="1">
                <a:solidFill>
                  <a:srgbClr val="1A4043"/>
                </a:solidFill>
                <a:latin typeface="DejaVu Sans"/>
              </a:rPr>
              <a:t>19.6%</a:t>
            </a:r>
            <a:r>
              <a:rPr sz="660" b="0">
                <a:solidFill>
                  <a:srgbClr val="23373A"/>
                </a:solidFill>
                <a:latin typeface="DejaVu Sans"/>
              </a:rPr>
              <a:t> contrató conexión a Internet por datos móviles (telefonía móvil). Ambos servicios les permiten tener diferentes beneficios para sus negocios.</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p:txBody>
      </p:sp>
      <p:sp>
        <p:nvSpPr>
          <p:cNvPr id="50" name="Rounded Rectangle 49"/>
          <p:cNvSpPr/>
          <p:nvPr/>
        </p:nvSpPr>
        <p:spPr>
          <a:xfrm>
            <a:off x="4572000" y="183794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54296" y="1897379"/>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_pin_w.png"/>
          <p:cNvPicPr>
            <a:picLocks noChangeAspect="1"/>
          </p:cNvPicPr>
          <p:nvPr/>
        </p:nvPicPr>
        <p:blipFill>
          <a:blip r:embed="rId8"/>
          <a:stretch>
            <a:fillRect/>
          </a:stretch>
        </p:blipFill>
        <p:spPr>
          <a:xfrm>
            <a:off x="4709159" y="1952243"/>
            <a:ext cx="164592" cy="164592"/>
          </a:xfrm>
          <a:prstGeom prst="rect">
            <a:avLst/>
          </a:prstGeom>
        </p:spPr>
      </p:pic>
      <p:sp>
        <p:nvSpPr>
          <p:cNvPr id="53" name="TextBox 52"/>
          <p:cNvSpPr txBox="1"/>
          <p:nvPr/>
        </p:nvSpPr>
        <p:spPr>
          <a:xfrm>
            <a:off x="5029200" y="186537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La Ciudad de México fue la entidad federativa con el </a:t>
            </a:r>
            <a:r>
              <a:rPr sz="660" b="1">
                <a:solidFill>
                  <a:srgbClr val="1A4043"/>
                </a:solidFill>
                <a:latin typeface="DejaVu Sans"/>
              </a:rPr>
              <a:t>mayor número de líneas del servicio móvil</a:t>
            </a:r>
            <a:r>
              <a:rPr sz="660" b="0">
                <a:solidFill>
                  <a:srgbClr val="23373A"/>
                </a:solidFill>
                <a:latin typeface="DejaVu Sans"/>
              </a:rPr>
              <a:t> de telefonía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54" name="Rounded Rectangle 53"/>
          <p:cNvSpPr/>
          <p:nvPr/>
        </p:nvSpPr>
        <p:spPr>
          <a:xfrm>
            <a:off x="4572000" y="227228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4296" y="233172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c_wifi_w.png"/>
          <p:cNvPicPr>
            <a:picLocks noChangeAspect="1"/>
          </p:cNvPicPr>
          <p:nvPr/>
        </p:nvPicPr>
        <p:blipFill>
          <a:blip r:embed="rId9"/>
          <a:stretch>
            <a:fillRect/>
          </a:stretch>
        </p:blipFill>
        <p:spPr>
          <a:xfrm>
            <a:off x="4709159" y="2386584"/>
            <a:ext cx="164592" cy="164592"/>
          </a:xfrm>
          <a:prstGeom prst="rect">
            <a:avLst/>
          </a:prstGeom>
        </p:spPr>
      </p:pic>
      <p:sp>
        <p:nvSpPr>
          <p:cNvPr id="57" name="TextBox 56"/>
          <p:cNvSpPr txBox="1"/>
          <p:nvPr/>
        </p:nvSpPr>
        <p:spPr>
          <a:xfrm>
            <a:off x="5029200" y="229971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el servicio móvil de acceso a Internet se tuvieron </a:t>
            </a:r>
            <a:r>
              <a:rPr sz="660" b="1">
                <a:solidFill>
                  <a:srgbClr val="1A4043"/>
                </a:solidFill>
                <a:latin typeface="DejaVu Sans"/>
              </a:rPr>
              <a:t>96 líneas</a:t>
            </a:r>
            <a:r>
              <a:rPr sz="660" b="0">
                <a:solidFill>
                  <a:srgbClr val="23373A"/>
                </a:solidFill>
                <a:latin typeface="DejaVu Sans"/>
              </a:rPr>
              <a:t>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58" name="Rounded Rectangle 57"/>
          <p:cNvSpPr/>
          <p:nvPr/>
        </p:nvSpPr>
        <p:spPr>
          <a:xfrm>
            <a:off x="4572000" y="270662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54296" y="27660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c_pin_w.png"/>
          <p:cNvPicPr>
            <a:picLocks noChangeAspect="1"/>
          </p:cNvPicPr>
          <p:nvPr/>
        </p:nvPicPr>
        <p:blipFill>
          <a:blip r:embed="rId8"/>
          <a:stretch>
            <a:fillRect/>
          </a:stretch>
        </p:blipFill>
        <p:spPr>
          <a:xfrm>
            <a:off x="4709159" y="2820924"/>
            <a:ext cx="164592" cy="164592"/>
          </a:xfrm>
          <a:prstGeom prst="rect">
            <a:avLst/>
          </a:prstGeom>
        </p:spPr>
      </p:pic>
      <p:sp>
        <p:nvSpPr>
          <p:cNvPr id="61" name="TextBox 60"/>
          <p:cNvSpPr txBox="1"/>
          <p:nvPr/>
        </p:nvSpPr>
        <p:spPr>
          <a:xfrm>
            <a:off x="5029200" y="273405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Chiapas fue la entidad federativa con el </a:t>
            </a:r>
            <a:r>
              <a:rPr sz="660" b="1">
                <a:solidFill>
                  <a:srgbClr val="1A4043"/>
                </a:solidFill>
                <a:latin typeface="DejaVu Sans"/>
              </a:rPr>
              <a:t>menor número de líneas del servicio móvil</a:t>
            </a:r>
            <a:r>
              <a:rPr sz="660" b="0">
                <a:solidFill>
                  <a:srgbClr val="23373A"/>
                </a:solidFill>
                <a:latin typeface="DejaVu Sans"/>
              </a:rPr>
              <a:t> de acceso a Internet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62" name="Rounded Rectangle 61"/>
          <p:cNvSpPr/>
          <p:nvPr/>
        </p:nvSpPr>
        <p:spPr>
          <a:xfrm>
            <a:off x="4572000" y="3140964"/>
            <a:ext cx="4297680" cy="548640"/>
          </a:xfrm>
          <a:prstGeom prst="roundRect">
            <a:avLst>
              <a:gd name="adj" fmla="val 10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54296" y="3278124"/>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c_app_w.png"/>
          <p:cNvPicPr>
            <a:picLocks noChangeAspect="1"/>
          </p:cNvPicPr>
          <p:nvPr/>
        </p:nvPicPr>
        <p:blipFill>
          <a:blip r:embed="rId10"/>
          <a:stretch>
            <a:fillRect/>
          </a:stretch>
        </p:blipFill>
        <p:spPr>
          <a:xfrm>
            <a:off x="4709159" y="3332988"/>
            <a:ext cx="164592" cy="164592"/>
          </a:xfrm>
          <a:prstGeom prst="rect">
            <a:avLst/>
          </a:prstGeom>
        </p:spPr>
      </p:pic>
      <p:sp>
        <p:nvSpPr>
          <p:cNvPr id="65" name="TextBox 64"/>
          <p:cNvSpPr txBox="1"/>
          <p:nvPr/>
        </p:nvSpPr>
        <p:spPr>
          <a:xfrm>
            <a:off x="5029200" y="3168396"/>
            <a:ext cx="3749040" cy="493776"/>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El </a:t>
            </a:r>
            <a:r>
              <a:rPr sz="660" b="1">
                <a:solidFill>
                  <a:srgbClr val="1A4043"/>
                </a:solidFill>
                <a:latin typeface="DejaVu Sans"/>
              </a:rPr>
              <a:t>62.7%</a:t>
            </a:r>
            <a:r>
              <a:rPr sz="660" b="0">
                <a:solidFill>
                  <a:srgbClr val="23373A"/>
                </a:solidFill>
                <a:latin typeface="DejaVu Sans"/>
              </a:rPr>
              <a:t> de las MiPymes señaló que contar con una aplicación móvil para su empresa o negocio tiene como beneficio que el contacto con los clientes es más rápido.</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a:p>
            <a:pPr>
              <a:spcBef>
                <a:spcPts val="0"/>
              </a:spcBef>
            </a:pPr>
            <a:r>
              <a:rPr sz="450" b="0">
                <a:solidFill>
                  <a:srgbClr val="5F7476"/>
                </a:solidFill>
                <a:latin typeface="DejaVu Sans"/>
              </a:rPr>
              <a:t>Nota: Indicadores medidos en una escala de 0 a 100.</a:t>
            </a:r>
          </a:p>
        </p:txBody>
      </p:sp>
      <p:sp>
        <p:nvSpPr>
          <p:cNvPr id="66" name="TextBox 65"/>
          <p:cNvSpPr txBox="1"/>
          <p:nvPr/>
        </p:nvSpPr>
        <p:spPr>
          <a:xfrm>
            <a:off x="274320" y="3886200"/>
            <a:ext cx="5486400" cy="182880"/>
          </a:xfrm>
          <a:prstGeom prst="rect">
            <a:avLst/>
          </a:prstGeom>
          <a:noFill/>
        </p:spPr>
        <p:txBody>
          <a:bodyPr wrap="square" anchor="ctr" lIns="0" rIns="0" tIns="0" bIns="0">
            <a:spAutoFit/>
          </a:bodyPr>
          <a:lstStyle/>
          <a:p>
            <a:r>
              <a:rPr sz="850" b="1">
                <a:solidFill>
                  <a:srgbClr val="1A4043"/>
                </a:solidFill>
                <a:latin typeface="DejaVu Sans"/>
              </a:rPr>
              <a:t>CONSUMO DE RADIO Y TELEVISIÓN</a:t>
            </a:r>
          </a:p>
        </p:txBody>
      </p:sp>
      <p:sp>
        <p:nvSpPr>
          <p:cNvPr id="67" name="Rectangle 66"/>
          <p:cNvSpPr/>
          <p:nvPr/>
        </p:nvSpPr>
        <p:spPr>
          <a:xfrm>
            <a:off x="274320" y="407365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 y="4169663"/>
            <a:ext cx="416052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02336" y="4224527"/>
            <a:ext cx="2468879"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Escucharon la radio</a:t>
            </a:r>
          </a:p>
          <a:p>
            <a:pPr>
              <a:lnSpc>
                <a:spcPct val="103000"/>
              </a:lnSpc>
            </a:pPr>
            <a:r>
              <a:rPr sz="660" b="0">
                <a:solidFill>
                  <a:srgbClr val="23373A"/>
                </a:solidFill>
                <a:latin typeface="DejaVu Sans"/>
              </a:rPr>
              <a:t>La proporción de personas que escucharon la radio alcanzó su máximo entre las </a:t>
            </a:r>
            <a:r>
              <a:rPr sz="660" b="1">
                <a:solidFill>
                  <a:srgbClr val="1A4043"/>
                </a:solidFill>
                <a:latin typeface="DejaVu Sans"/>
              </a:rPr>
              <a:t>9 y 10 de la mañana</a:t>
            </a:r>
            <a:r>
              <a:rPr sz="660" b="0">
                <a:solidFill>
                  <a:srgbClr val="23373A"/>
                </a:solidFill>
                <a:latin typeface="DejaVu Sans"/>
              </a:rPr>
              <a:t>.</a:t>
            </a:r>
          </a:p>
        </p:txBody>
      </p:sp>
      <p:sp>
        <p:nvSpPr>
          <p:cNvPr id="71" name="Oval 70"/>
          <p:cNvSpPr/>
          <p:nvPr/>
        </p:nvSpPr>
        <p:spPr>
          <a:xfrm>
            <a:off x="300837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_user_w.png"/>
          <p:cNvPicPr>
            <a:picLocks noChangeAspect="1"/>
          </p:cNvPicPr>
          <p:nvPr/>
        </p:nvPicPr>
        <p:blipFill>
          <a:blip r:embed="rId11"/>
          <a:stretch>
            <a:fillRect/>
          </a:stretch>
        </p:blipFill>
        <p:spPr>
          <a:xfrm>
            <a:off x="3040379" y="4256531"/>
            <a:ext cx="118872" cy="118872"/>
          </a:xfrm>
          <a:prstGeom prst="rect">
            <a:avLst/>
          </a:prstGeom>
        </p:spPr>
      </p:pic>
      <p:sp>
        <p:nvSpPr>
          <p:cNvPr id="73" name="TextBox 72"/>
          <p:cNvSpPr txBox="1"/>
          <p:nvPr/>
        </p:nvSpPr>
        <p:spPr>
          <a:xfrm>
            <a:off x="321868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74" name="TextBox 73"/>
          <p:cNvSpPr txBox="1"/>
          <p:nvPr/>
        </p:nvSpPr>
        <p:spPr>
          <a:xfrm>
            <a:off x="295351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8.5%</a:t>
            </a:r>
          </a:p>
        </p:txBody>
      </p:sp>
      <p:sp>
        <p:nvSpPr>
          <p:cNvPr id="75" name="Oval 74"/>
          <p:cNvSpPr/>
          <p:nvPr/>
        </p:nvSpPr>
        <p:spPr>
          <a:xfrm>
            <a:off x="3739895"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c_user_w.png"/>
          <p:cNvPicPr>
            <a:picLocks noChangeAspect="1"/>
          </p:cNvPicPr>
          <p:nvPr/>
        </p:nvPicPr>
        <p:blipFill>
          <a:blip r:embed="rId11"/>
          <a:stretch>
            <a:fillRect/>
          </a:stretch>
        </p:blipFill>
        <p:spPr>
          <a:xfrm>
            <a:off x="3771899" y="4256531"/>
            <a:ext cx="118872" cy="118872"/>
          </a:xfrm>
          <a:prstGeom prst="rect">
            <a:avLst/>
          </a:prstGeom>
        </p:spPr>
      </p:pic>
      <p:sp>
        <p:nvSpPr>
          <p:cNvPr id="77" name="TextBox 76"/>
          <p:cNvSpPr txBox="1"/>
          <p:nvPr/>
        </p:nvSpPr>
        <p:spPr>
          <a:xfrm>
            <a:off x="395020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78" name="TextBox 77"/>
          <p:cNvSpPr txBox="1"/>
          <p:nvPr/>
        </p:nvSpPr>
        <p:spPr>
          <a:xfrm>
            <a:off x="368503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11.09%</a:t>
            </a:r>
          </a:p>
        </p:txBody>
      </p:sp>
      <p:sp>
        <p:nvSpPr>
          <p:cNvPr id="79" name="Rounded Rectangle 78"/>
          <p:cNvSpPr/>
          <p:nvPr/>
        </p:nvSpPr>
        <p:spPr>
          <a:xfrm>
            <a:off x="4572000" y="4169663"/>
            <a:ext cx="429768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00016" y="4224527"/>
            <a:ext cx="2606040"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Vieron la televisión</a:t>
            </a:r>
          </a:p>
          <a:p>
            <a:pPr>
              <a:lnSpc>
                <a:spcPct val="103000"/>
              </a:lnSpc>
            </a:pPr>
            <a:r>
              <a:rPr sz="660" b="0">
                <a:solidFill>
                  <a:srgbClr val="23373A"/>
                </a:solidFill>
                <a:latin typeface="DejaVu Sans"/>
              </a:rPr>
              <a:t>Por su parte, el mayor porcentaje de personas viendo la televisión se alcanzó entre las </a:t>
            </a:r>
            <a:r>
              <a:rPr sz="660" b="1">
                <a:solidFill>
                  <a:srgbClr val="1A4043"/>
                </a:solidFill>
                <a:latin typeface="DejaVu Sans"/>
              </a:rPr>
              <a:t>9 y 10 de la noche</a:t>
            </a:r>
            <a:r>
              <a:rPr sz="660" b="0">
                <a:solidFill>
                  <a:srgbClr val="23373A"/>
                </a:solidFill>
                <a:latin typeface="DejaVu Sans"/>
              </a:rPr>
              <a:t>.</a:t>
            </a:r>
          </a:p>
        </p:txBody>
      </p:sp>
      <p:sp>
        <p:nvSpPr>
          <p:cNvPr id="82" name="Oval 81"/>
          <p:cNvSpPr/>
          <p:nvPr/>
        </p:nvSpPr>
        <p:spPr>
          <a:xfrm>
            <a:off x="744321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c_user_w.png"/>
          <p:cNvPicPr>
            <a:picLocks noChangeAspect="1"/>
          </p:cNvPicPr>
          <p:nvPr/>
        </p:nvPicPr>
        <p:blipFill>
          <a:blip r:embed="rId11"/>
          <a:stretch>
            <a:fillRect/>
          </a:stretch>
        </p:blipFill>
        <p:spPr>
          <a:xfrm>
            <a:off x="7475219" y="4256531"/>
            <a:ext cx="118872" cy="118872"/>
          </a:xfrm>
          <a:prstGeom prst="rect">
            <a:avLst/>
          </a:prstGeom>
        </p:spPr>
      </p:pic>
      <p:sp>
        <p:nvSpPr>
          <p:cNvPr id="84" name="TextBox 83"/>
          <p:cNvSpPr txBox="1"/>
          <p:nvPr/>
        </p:nvSpPr>
        <p:spPr>
          <a:xfrm>
            <a:off x="765352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85" name="TextBox 84"/>
          <p:cNvSpPr txBox="1"/>
          <p:nvPr/>
        </p:nvSpPr>
        <p:spPr>
          <a:xfrm>
            <a:off x="738835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16.46%</a:t>
            </a:r>
          </a:p>
        </p:txBody>
      </p:sp>
      <p:sp>
        <p:nvSpPr>
          <p:cNvPr id="86" name="Oval 85"/>
          <p:cNvSpPr/>
          <p:nvPr/>
        </p:nvSpPr>
        <p:spPr>
          <a:xfrm>
            <a:off x="8174736"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c_user_w.png"/>
          <p:cNvPicPr>
            <a:picLocks noChangeAspect="1"/>
          </p:cNvPicPr>
          <p:nvPr/>
        </p:nvPicPr>
        <p:blipFill>
          <a:blip r:embed="rId11"/>
          <a:stretch>
            <a:fillRect/>
          </a:stretch>
        </p:blipFill>
        <p:spPr>
          <a:xfrm>
            <a:off x="8206740" y="4256531"/>
            <a:ext cx="118872" cy="118872"/>
          </a:xfrm>
          <a:prstGeom prst="rect">
            <a:avLst/>
          </a:prstGeom>
        </p:spPr>
      </p:pic>
      <p:sp>
        <p:nvSpPr>
          <p:cNvPr id="88" name="TextBox 87"/>
          <p:cNvSpPr txBox="1"/>
          <p:nvPr/>
        </p:nvSpPr>
        <p:spPr>
          <a:xfrm>
            <a:off x="838504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89" name="TextBox 88"/>
          <p:cNvSpPr txBox="1"/>
          <p:nvPr/>
        </p:nvSpPr>
        <p:spPr>
          <a:xfrm>
            <a:off x="811987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14.95%</a:t>
            </a:r>
          </a:p>
        </p:txBody>
      </p:sp>
      <p:sp>
        <p:nvSpPr>
          <p:cNvPr id="90" name="TextBox 89"/>
          <p:cNvSpPr txBox="1"/>
          <p:nvPr/>
        </p:nvSpPr>
        <p:spPr>
          <a:xfrm>
            <a:off x="274320" y="4773168"/>
            <a:ext cx="8595360" cy="128016"/>
          </a:xfrm>
          <a:prstGeom prst="rect">
            <a:avLst/>
          </a:prstGeom>
          <a:noFill/>
        </p:spPr>
        <p:txBody>
          <a:bodyPr wrap="square" anchor="t" lIns="0" rIns="0" tIns="0" bIns="0">
            <a:spAutoFit/>
          </a:bodyPr>
          <a:lstStyle/>
          <a:p>
            <a:pPr>
              <a:spcBef>
                <a:spcPts val="150"/>
              </a:spcBef>
            </a:pPr>
            <a:r>
              <a:rPr sz="459" b="0">
                <a:solidFill>
                  <a:srgbClr val="5F7476"/>
                </a:solidFill>
                <a:latin typeface="DejaVu Sans"/>
              </a:rPr>
              <a:t>Fuente: El consumo de radio se obtuvo de la base de datos de INRA a través de software INRAM. El consumo de televisión se obtuvo de la base de datos de Audiencias-Ratings TV de Nielsen IBOPE, software de explotación MSS TV. Datos de julio 2023 a junio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2" name="ANUARIO_ANEXO_II_DEFINICIONES_DESIGN_2026"/>
          <p:cNvSpPr/>
          <p:nvPr/>
        </p:nvSpPr>
        <p:spPr>
          <a:xfrm>
            <a:off x="0" y="0"/>
            <a:ext cx="9144000" cy="457200"/>
          </a:xfrm>
          <a:prstGeom prst="rect">
            <a:avLst/>
          </a:prstGeom>
          <a:solidFill>
            <a:srgbClr val="13393A"/>
          </a:solidFill>
          <a:ln w="12700">
            <a:solidFill>
              <a:srgbClr val="13393A"/>
            </a:solidFill>
            <a:prstDash val="solid"/>
          </a:ln>
        </p:spPr>
      </p:sp>
      <p:sp>
        <p:nvSpPr>
          <p:cNvPr id="3" name="Text 1"/>
          <p:cNvSpPr txBox="1"/>
          <p:nvPr/>
        </p:nvSpPr>
        <p:spPr>
          <a:xfrm>
            <a:off x="301752" y="64008"/>
            <a:ext cx="4572000" cy="329184"/>
          </a:xfrm>
          <a:prstGeom prst="rect">
            <a:avLst/>
          </a:prstGeom>
          <a:noFill/>
          <a:ln/>
        </p:spPr>
        <p:txBody>
          <a:bodyPr wrap="square" lIns="0" tIns="0" rIns="0" bIns="0" rtlCol="0" anchor="ctr"/>
          <a:lstStyle/>
          <a:p>
            <a:pPr indent="0" marL="0">
              <a:buNone/>
            </a:pPr>
            <a:r>
              <a:rPr lang="en-US" sz="1700" b="1" dirty="0">
                <a:solidFill>
                  <a:srgbClr val="FFFFFF"/>
                </a:solidFill>
                <a:latin typeface="DejaVu Sans" pitchFamily="34" charset="0"/>
                <a:ea typeface="DejaVu Sans" pitchFamily="34" charset="-122"/>
                <a:cs typeface="DejaVu Sans" pitchFamily="34" charset="-120"/>
              </a:rPr>
              <a:t>ANEXO II. DEFINICIONES</a:t>
            </a:r>
            <a:endParaRPr lang="en-US" sz="1700" dirty="0"/>
          </a:p>
        </p:txBody>
      </p:sp>
      <p:sp>
        <p:nvSpPr>
          <p:cNvPr id="4" name="Text 2"/>
          <p:cNvSpPr txBox="1"/>
          <p:nvPr/>
        </p:nvSpPr>
        <p:spPr>
          <a:xfrm>
            <a:off x="4846320" y="64008"/>
            <a:ext cx="2743200" cy="329184"/>
          </a:xfrm>
          <a:prstGeom prst="rect">
            <a:avLst/>
          </a:prstGeom>
          <a:noFill/>
          <a:ln/>
        </p:spPr>
        <p:txBody>
          <a:bodyPr wrap="square" lIns="0" tIns="0" rIns="0" bIns="0" rtlCol="0" anchor="ctr"/>
          <a:lstStyle/>
          <a:p>
            <a:pPr algn="r" indent="0" marL="0">
              <a:buNone/>
            </a:pPr>
            <a:r>
              <a:rPr lang="en-US" sz="650" dirty="0">
                <a:solidFill>
                  <a:srgbClr val="D5E4E1"/>
                </a:solidFill>
                <a:latin typeface="DejaVu Sans" pitchFamily="34" charset="0"/>
                <a:ea typeface="DejaVu Sans" pitchFamily="34" charset="-122"/>
                <a:cs typeface="DejaVu Sans" pitchFamily="34" charset="-120"/>
              </a:rPr>
              <a:t>Para consultar información con mayor desagregación, visita
</a:t>
            </a:r>
            <a:pPr algn="r" indent="0" marL="0">
              <a:buNone/>
            </a:pPr>
            <a:r>
              <a:rPr lang="en-US" sz="750" b="1" dirty="0">
                <a:solidFill>
                  <a:srgbClr val="FFFFFF"/>
                </a:solidFill>
                <a:latin typeface="DejaVu Sans" pitchFamily="34" charset="0"/>
                <a:ea typeface="DejaVu Sans" pitchFamily="34" charset="-122"/>
                <a:cs typeface="DejaVu Sans" pitchFamily="34" charset="-120"/>
              </a:rPr>
              <a:t>BIT CRT · bit.crt.gob.mx/BitWebApp</a:t>
            </a:r>
            <a:endParaRPr lang="en-US" sz="650" dirty="0"/>
          </a:p>
        </p:txBody>
      </p:sp>
      <p:sp>
        <p:nvSpPr>
          <p:cNvPr id="5" name="Shape 3"/>
          <p:cNvSpPr/>
          <p:nvPr/>
        </p:nvSpPr>
        <p:spPr>
          <a:xfrm>
            <a:off x="7680960" y="45720"/>
            <a:ext cx="365760" cy="365760"/>
          </a:xfrm>
          <a:prstGeom prst="roundRect">
            <a:avLst>
              <a:gd name="adj" fmla="val 10000"/>
            </a:avLst>
          </a:prstGeom>
          <a:solidFill>
            <a:srgbClr val="FFFFFF"/>
          </a:solidFill>
          <a:ln w="12700">
            <a:solidFill>
              <a:srgbClr val="FFFFFF"/>
            </a:solidFill>
            <a:prstDash val="solid"/>
          </a:ln>
        </p:spPr>
      </p:sp>
      <p:sp>
        <p:nvSpPr>
          <p:cNvPr id="6" name="Text 4"/>
          <p:cNvSpPr txBox="1"/>
          <p:nvPr/>
        </p:nvSpPr>
        <p:spPr>
          <a:xfrm>
            <a:off x="8138160" y="64008"/>
            <a:ext cx="731520" cy="329184"/>
          </a:xfrm>
          <a:prstGeom prst="rect">
            <a:avLst/>
          </a:prstGeom>
          <a:noFill/>
          <a:ln/>
        </p:spPr>
        <p:txBody>
          <a:bodyPr wrap="square" lIns="0" tIns="0" rIns="0" bIns="0" rtlCol="0" anchor="ctr"/>
          <a:lstStyle/>
          <a:p>
            <a:pPr algn="r" indent="0" marL="0">
              <a:buNone/>
            </a:pPr>
            <a:r>
              <a:rPr lang="en-US" sz="1500" b="1" dirty="0">
                <a:solidFill>
                  <a:srgbClr val="FFFFFF"/>
                </a:solidFill>
                <a:latin typeface="DejaVu Sans" pitchFamily="34" charset="0"/>
                <a:ea typeface="DejaVu Sans" pitchFamily="34" charset="-122"/>
                <a:cs typeface="DejaVu Sans" pitchFamily="34" charset="-120"/>
              </a:rPr>
              <a:t>CRT</a:t>
            </a:r>
            <a:endParaRPr lang="en-US" sz="1500" dirty="0"/>
          </a:p>
        </p:txBody>
      </p:sp>
      <p:sp>
        <p:nvSpPr>
          <p:cNvPr id="7" name="Shape 5"/>
          <p:cNvSpPr/>
          <p:nvPr/>
        </p:nvSpPr>
        <p:spPr>
          <a:xfrm>
            <a:off x="301752" y="621792"/>
            <a:ext cx="4178808" cy="1115568"/>
          </a:xfrm>
          <a:prstGeom prst="roundRect">
            <a:avLst>
              <a:gd name="adj" fmla="val 4918"/>
            </a:avLst>
          </a:prstGeom>
          <a:solidFill>
            <a:srgbClr val="F6FAF9"/>
          </a:solidFill>
          <a:ln w="9525">
            <a:solidFill>
              <a:srgbClr val="C9DAD6"/>
            </a:solidFill>
            <a:prstDash val="solid"/>
          </a:ln>
        </p:spPr>
      </p:sp>
      <p:sp>
        <p:nvSpPr>
          <p:cNvPr id="8" name="Shape 6"/>
          <p:cNvSpPr/>
          <p:nvPr/>
        </p:nvSpPr>
        <p:spPr>
          <a:xfrm>
            <a:off x="301752" y="694944"/>
            <a:ext cx="64008" cy="969264"/>
          </a:xfrm>
          <a:prstGeom prst="rect">
            <a:avLst/>
          </a:prstGeom>
          <a:solidFill>
            <a:srgbClr val="2F7F6F"/>
          </a:solidFill>
          <a:ln w="12700">
            <a:solidFill>
              <a:srgbClr val="2F7F6F"/>
            </a:solidFill>
            <a:prstDash val="solid"/>
          </a:ln>
        </p:spPr>
      </p:sp>
      <p:sp>
        <p:nvSpPr>
          <p:cNvPr id="9" name="Shape 7"/>
          <p:cNvSpPr/>
          <p:nvPr/>
        </p:nvSpPr>
        <p:spPr>
          <a:xfrm>
            <a:off x="484632" y="713232"/>
            <a:ext cx="237744" cy="237744"/>
          </a:xfrm>
          <a:prstGeom prst="roundRect">
            <a:avLst>
              <a:gd name="adj" fmla="val 19231"/>
            </a:avLst>
          </a:prstGeom>
          <a:solidFill>
            <a:srgbClr val="1A4043"/>
          </a:solidFill>
          <a:ln w="12700">
            <a:solidFill>
              <a:srgbClr val="1A4043"/>
            </a:solidFill>
            <a:prstDash val="solid"/>
          </a:ln>
        </p:spPr>
      </p:sp>
      <p:sp>
        <p:nvSpPr>
          <p:cNvPr id="10" name="Text 8"/>
          <p:cNvSpPr txBox="1"/>
          <p:nvPr/>
        </p:nvSpPr>
        <p:spPr>
          <a:xfrm>
            <a:off x="484632"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A</a:t>
            </a:r>
            <a:endParaRPr lang="en-US" sz="1000" dirty="0"/>
          </a:p>
        </p:txBody>
      </p:sp>
      <p:sp>
        <p:nvSpPr>
          <p:cNvPr id="11" name="Text 9"/>
          <p:cNvSpPr txBox="1"/>
          <p:nvPr/>
        </p:nvSpPr>
        <p:spPr>
          <a:xfrm>
            <a:off x="484632" y="1005840"/>
            <a:ext cx="3813048" cy="658368"/>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Acceso: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El conjunto de canales físicos de una Red Pública de Telecomunicaciones, que conecta el Equipo Terminal en la ubicación del usuario con la instalación del Operador desde la cual se presta el servicio al usuario. En el caso de Redes de Acceso Fijo alámbrico se le suele llamar históricamente bucle local, y en Servicios de Transporte de Voz se le conoce como línea.</a:t>
            </a:r>
            <a:endParaRPr lang="en-US" sz="730" dirty="0"/>
          </a:p>
        </p:txBody>
      </p:sp>
      <p:sp>
        <p:nvSpPr>
          <p:cNvPr id="12" name="Shape 10"/>
          <p:cNvSpPr/>
          <p:nvPr/>
        </p:nvSpPr>
        <p:spPr>
          <a:xfrm>
            <a:off x="301752" y="1828800"/>
            <a:ext cx="4178808" cy="2633472"/>
          </a:xfrm>
          <a:prstGeom prst="roundRect">
            <a:avLst>
              <a:gd name="adj" fmla="val 2083"/>
            </a:avLst>
          </a:prstGeom>
          <a:solidFill>
            <a:srgbClr val="F6FAF9"/>
          </a:solidFill>
          <a:ln w="9525">
            <a:solidFill>
              <a:srgbClr val="C9DAD6"/>
            </a:solidFill>
            <a:prstDash val="solid"/>
          </a:ln>
        </p:spPr>
      </p:sp>
      <p:sp>
        <p:nvSpPr>
          <p:cNvPr id="13" name="Shape 11"/>
          <p:cNvSpPr/>
          <p:nvPr/>
        </p:nvSpPr>
        <p:spPr>
          <a:xfrm>
            <a:off x="301752" y="1901952"/>
            <a:ext cx="64008" cy="2487168"/>
          </a:xfrm>
          <a:prstGeom prst="rect">
            <a:avLst/>
          </a:prstGeom>
          <a:solidFill>
            <a:srgbClr val="2F7F6F"/>
          </a:solidFill>
          <a:ln w="12700">
            <a:solidFill>
              <a:srgbClr val="2F7F6F"/>
            </a:solidFill>
            <a:prstDash val="solid"/>
          </a:ln>
        </p:spPr>
      </p:sp>
      <p:sp>
        <p:nvSpPr>
          <p:cNvPr id="14" name="Shape 12"/>
          <p:cNvSpPr/>
          <p:nvPr/>
        </p:nvSpPr>
        <p:spPr>
          <a:xfrm>
            <a:off x="484632" y="1920240"/>
            <a:ext cx="237744" cy="237744"/>
          </a:xfrm>
          <a:prstGeom prst="roundRect">
            <a:avLst>
              <a:gd name="adj" fmla="val 19231"/>
            </a:avLst>
          </a:prstGeom>
          <a:solidFill>
            <a:srgbClr val="1A4043"/>
          </a:solidFill>
          <a:ln w="12700">
            <a:solidFill>
              <a:srgbClr val="1A4043"/>
            </a:solidFill>
            <a:prstDash val="solid"/>
          </a:ln>
        </p:spPr>
      </p:sp>
      <p:sp>
        <p:nvSpPr>
          <p:cNvPr id="15" name="Text 13"/>
          <p:cNvSpPr txBox="1"/>
          <p:nvPr/>
        </p:nvSpPr>
        <p:spPr>
          <a:xfrm>
            <a:off x="484632" y="19202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C</a:t>
            </a:r>
            <a:endParaRPr lang="en-US" sz="1000" dirty="0"/>
          </a:p>
        </p:txBody>
      </p:sp>
      <p:sp>
        <p:nvSpPr>
          <p:cNvPr id="16" name="Text 14"/>
          <p:cNvSpPr txBox="1"/>
          <p:nvPr/>
        </p:nvSpPr>
        <p:spPr>
          <a:xfrm>
            <a:off x="484632" y="2212848"/>
            <a:ext cx="3813048" cy="2176272"/>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Caricaturas: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Son todos los programas que están hechos con alguna de las siguientes técnicas: dibujos animados, plastilina, arcilla (stop motion), animación vectorial y de tercera dimensión. No deben considerarse dentro de este género los cortometrajes animados.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Cómico: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 cuyo contenido está enfocado al esparcimiento de la audiencia, al manejar cuadros cómicos, chistes, cuentos y cualquier otro elemento que intente provocar la risa.</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Concurso: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Formato de programa en el que los participantes realizan una serie de actividades en busca de superar a sus rivales. Un concurso puede hacer competir tanto a individuos, como a grupos y/o instituciones privadas o públicas, y pueden o no obtenerse premios.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Cultural: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Programación que presenta las formas y expresiones de una sociedad. Su contenido es referente a los siguientes temas artísticos: arquitectura, danza, escultura, literatura, ópera, pintura, teatro, museos, exposiciones; sociales: académicos, científicos, históricos, gastronómicos, etnográficos, ciencias naturales; y simbólicos: biografías, entrevista de semblanza a personajes involucrados en la cultura, happenings.</a:t>
            </a:r>
            <a:endParaRPr lang="en-US" sz="730" dirty="0"/>
          </a:p>
        </p:txBody>
      </p:sp>
      <p:sp>
        <p:nvSpPr>
          <p:cNvPr id="17" name="Shape 15"/>
          <p:cNvSpPr/>
          <p:nvPr/>
        </p:nvSpPr>
        <p:spPr>
          <a:xfrm>
            <a:off x="4663440" y="621792"/>
            <a:ext cx="4178808" cy="3840480"/>
          </a:xfrm>
          <a:prstGeom prst="roundRect">
            <a:avLst>
              <a:gd name="adj" fmla="val 1429"/>
            </a:avLst>
          </a:prstGeom>
          <a:solidFill>
            <a:srgbClr val="F6FAF9"/>
          </a:solidFill>
          <a:ln w="9525">
            <a:solidFill>
              <a:srgbClr val="C9DAD6"/>
            </a:solidFill>
            <a:prstDash val="solid"/>
          </a:ln>
        </p:spPr>
      </p:sp>
      <p:sp>
        <p:nvSpPr>
          <p:cNvPr id="18" name="Shape 16"/>
          <p:cNvSpPr/>
          <p:nvPr/>
        </p:nvSpPr>
        <p:spPr>
          <a:xfrm>
            <a:off x="4663440" y="694944"/>
            <a:ext cx="64008" cy="3694176"/>
          </a:xfrm>
          <a:prstGeom prst="rect">
            <a:avLst/>
          </a:prstGeom>
          <a:solidFill>
            <a:srgbClr val="2F7F6F"/>
          </a:solidFill>
          <a:ln w="12700">
            <a:solidFill>
              <a:srgbClr val="2F7F6F"/>
            </a:solidFill>
            <a:prstDash val="solid"/>
          </a:ln>
        </p:spPr>
      </p:sp>
      <p:sp>
        <p:nvSpPr>
          <p:cNvPr id="19" name="Shape 17"/>
          <p:cNvSpPr/>
          <p:nvPr/>
        </p:nvSpPr>
        <p:spPr>
          <a:xfrm>
            <a:off x="4846320" y="713232"/>
            <a:ext cx="237744" cy="237744"/>
          </a:xfrm>
          <a:prstGeom prst="roundRect">
            <a:avLst>
              <a:gd name="adj" fmla="val 19231"/>
            </a:avLst>
          </a:prstGeom>
          <a:solidFill>
            <a:srgbClr val="1A4043"/>
          </a:solidFill>
          <a:ln w="12700">
            <a:solidFill>
              <a:srgbClr val="1A4043"/>
            </a:solidFill>
            <a:prstDash val="solid"/>
          </a:ln>
        </p:spPr>
      </p:sp>
      <p:sp>
        <p:nvSpPr>
          <p:cNvPr id="20" name="Text 18"/>
          <p:cNvSpPr txBox="1"/>
          <p:nvPr/>
        </p:nvSpPr>
        <p:spPr>
          <a:xfrm>
            <a:off x="4846320"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D</a:t>
            </a:r>
            <a:endParaRPr lang="en-US" sz="1000" dirty="0"/>
          </a:p>
        </p:txBody>
      </p:sp>
      <p:sp>
        <p:nvSpPr>
          <p:cNvPr id="21" name="Text 19"/>
          <p:cNvSpPr txBox="1"/>
          <p:nvPr/>
        </p:nvSpPr>
        <p:spPr>
          <a:xfrm>
            <a:off x="4846320" y="1005840"/>
            <a:ext cx="3813048" cy="3383280"/>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Debate: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Espacio argumentativo en el cual se emiten ideas antagónicas sobre un tema o temas específicos. Contempla un panel de especialistas y un moderador, quienes aportan puntos de vista desde su campo de conocimiento.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Decil de ingreso: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Los hogares pueden ser agrupados de acuerdo con los ingresos que perciben. Cuando se forman diez conjuntos del mismo tamaño, se les conoce como “deciles”, por lo que el primer decil está integrado por la décima parte de los hogares que tienen los menores ingresos, y así de manera sucesiva, hasta llegar al último decil, que está compuesto por la décima parte de los hogares con los ingresos más altos¹¹.</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Deportes: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Transmisión de eventos deportivos, cultura física o programas de resumen deportivo, así como resultados y/o comentarios relacionados con el deporte. En este género no se incluyen programas de reportaje que, en un capítulo en específico, aborden un tema deportivo.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Directorio Estadístico Nacional de Unidades Económicas (DENUE):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Herramienta interactiva del INEGI en la que se ofrecen los datos de identificación, ubicación, actividad económica y tamaño de los negocios activos en el territorio nacional, actualizados, fundamentalmente, en el segmento de los establecimientos grandes. Disponible en: https://www.inegi.org.mx/app/mapa/denue/default.aspx.</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Dramatizado Unitario: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Programas de ficción en los que cada capítulo constituye una unidad narrativa independiente. En su contenido se manifiestan situaciones conflictivas y/o trágicas, y cada episodio tiene inicio, desarrollo y final. En muy pocas ocasiones puede extenderse a más de una emisión.</a:t>
            </a:r>
            <a:endParaRPr lang="en-US" sz="730" dirty="0"/>
          </a:p>
        </p:txBody>
      </p:sp>
      <p:sp>
        <p:nvSpPr>
          <p:cNvPr id="22" name="Text 20"/>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11 </a:t>
            </a:r>
            <a:pPr indent="0" marL="0">
              <a:buNone/>
            </a:pPr>
            <a:r>
              <a:rPr lang="en-US" sz="520" dirty="0">
                <a:solidFill>
                  <a:srgbClr val="24383A"/>
                </a:solidFill>
                <a:latin typeface="DejaVu Sans" pitchFamily="34" charset="0"/>
                <a:ea typeface="DejaVu Sans" pitchFamily="34" charset="-122"/>
                <a:cs typeface="DejaVu Sans" pitchFamily="34" charset="-120"/>
              </a:rPr>
              <a:t>Definición publicada el 26 de julio de 2023 por el Instituto Nacional de Estadística y Geografía (INEGI), pág. 11., en el cual se dan a conocer los resultados de la Encuesta Nacional de Ingresos y Gastos de los Hogares (ENIGH) 2020. Disponible en: Encuesta Nacional de Ingresos y Gastos de los Hogares 2022. Presentación de resultados.</a:t>
            </a:r>
            <a:endParaRPr lang="en-US" sz="520" dirty="0"/>
          </a:p>
        </p:txBody>
      </p:sp>
      <p:sp>
        <p:nvSpPr>
          <p:cNvPr id="23" name="Shape 21"/>
          <p:cNvSpPr/>
          <p:nvPr/>
        </p:nvSpPr>
        <p:spPr>
          <a:xfrm>
            <a:off x="0" y="4937760"/>
            <a:ext cx="9144000" cy="205740"/>
          </a:xfrm>
          <a:prstGeom prst="rect">
            <a:avLst/>
          </a:prstGeom>
          <a:solidFill>
            <a:srgbClr val="1A4043"/>
          </a:solidFill>
          <a:ln w="12700">
            <a:solidFill>
              <a:srgbClr val="1A4043"/>
            </a:solidFill>
            <a:prstDash val="solid"/>
          </a:ln>
        </p:spPr>
      </p:sp>
      <p:sp>
        <p:nvSpPr>
          <p:cNvPr id="24" name="Text 22"/>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121</a:t>
            </a:r>
            <a:endParaRPr lang="en-US" sz="700" dirty="0"/>
          </a:p>
        </p:txBody>
      </p:sp>
      <p:sp>
        <p:nvSpPr>
          <p:cNvPr id="25" name="Text 23"/>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122</a:t>
            </a:r>
          </a:p>
        </p:txBody>
      </p:sp>
      <p:sp>
        <p:nvSpPr>
          <p:cNvPr id="225" name="ANUARIO_ANEXO_P122_L001"/>
          <p:cNvSpPr txBox="1"/>
          <p:nvPr/>
        </p:nvSpPr>
        <p:spPr>
          <a:xfrm>
            <a:off x="528422" y="656471"/>
            <a:ext cx="1709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a:t>
            </a:r>
          </a:p>
        </p:txBody>
      </p:sp>
      <p:sp>
        <p:nvSpPr>
          <p:cNvPr id="226" name="ANUARIO_ANEXO_P122_L002"/>
          <p:cNvSpPr txBox="1"/>
          <p:nvPr/>
        </p:nvSpPr>
        <p:spPr>
          <a:xfrm>
            <a:off x="528422" y="850056"/>
            <a:ext cx="412854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Encendidos (tvr% o TRr%):</a:t>
            </a:r>
            <a:r>
              <a:rPr sz="640" b="0" i="0">
                <a:solidFill>
                  <a:srgbClr val="1F3031"/>
                </a:solidFill>
                <a:latin typeface="Noto Sans"/>
              </a:rPr>
              <a:t> Porcentaje de hogares o personas que tienen encendida la televisión o </a:t>
            </a:r>
          </a:p>
        </p:txBody>
      </p:sp>
      <p:sp>
        <p:nvSpPr>
          <p:cNvPr id="227" name="ANUARIO_ANEXO_P122_L003"/>
          <p:cNvSpPr txBox="1"/>
          <p:nvPr/>
        </p:nvSpPr>
        <p:spPr>
          <a:xfrm>
            <a:off x="528422" y="958882"/>
            <a:ext cx="28445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escucharon la radio en un momento dado sin importar el canal.</a:t>
            </a:r>
          </a:p>
        </p:txBody>
      </p:sp>
      <p:sp>
        <p:nvSpPr>
          <p:cNvPr id="228" name="ANUARIO_ANEXO_P122_L004"/>
          <p:cNvSpPr txBox="1"/>
          <p:nvPr/>
        </p:nvSpPr>
        <p:spPr>
          <a:xfrm>
            <a:off x="528422" y="1151784"/>
            <a:ext cx="41277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Disponibilidad y Uso de las Tecnologías de la Información en los Hogares </a:t>
            </a:r>
          </a:p>
        </p:txBody>
      </p:sp>
      <p:sp>
        <p:nvSpPr>
          <p:cNvPr id="229" name="ANUARIO_ANEXO_P122_L005"/>
          <p:cNvSpPr txBox="1"/>
          <p:nvPr/>
        </p:nvSpPr>
        <p:spPr>
          <a:xfrm>
            <a:off x="528422" y="1259926"/>
            <a:ext cx="41279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(ENDUTIH):</a:t>
            </a:r>
            <a:r>
              <a:rPr sz="640" b="0" i="0">
                <a:solidFill>
                  <a:srgbClr val="1F3031"/>
                </a:solidFill>
                <a:latin typeface="Noto Sans"/>
              </a:rPr>
              <a:t> Encuesta que tiene como objetivo generar información estadística que permita conocer </a:t>
            </a:r>
          </a:p>
        </p:txBody>
      </p:sp>
      <p:sp>
        <p:nvSpPr>
          <p:cNvPr id="230" name="ANUARIO_ANEXO_P122_L006"/>
          <p:cNvSpPr txBox="1"/>
          <p:nvPr/>
        </p:nvSpPr>
        <p:spPr>
          <a:xfrm>
            <a:off x="528422" y="1368753"/>
            <a:ext cx="412826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disponibilidad y el uso de las Tecnologías de la Información y la Comunicación en los hogares y </a:t>
            </a:r>
          </a:p>
        </p:txBody>
      </p:sp>
      <p:sp>
        <p:nvSpPr>
          <p:cNvPr id="231" name="ANUARIO_ANEXO_P122_L007"/>
          <p:cNvSpPr txBox="1"/>
          <p:nvPr/>
        </p:nvSpPr>
        <p:spPr>
          <a:xfrm>
            <a:off x="528422" y="1476895"/>
            <a:ext cx="410770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los individuos de seis años o más en México. Disponible en: </a:t>
            </a:r>
            <a:r>
              <a:rPr sz="640" b="0" i="0">
                <a:solidFill>
                  <a:srgbClr val="0563C1"/>
                </a:solidFill>
                <a:latin typeface="Noto Sans"/>
                <a:hlinkClick r:id="rId2"/>
              </a:rPr>
              <a:t>https://www.inegi.org.mx/programas/</a:t>
            </a:r>
          </a:p>
        </p:txBody>
      </p:sp>
      <p:sp>
        <p:nvSpPr>
          <p:cNvPr id="232" name="ANUARIO_ANEXO_P122_L008"/>
          <p:cNvSpPr txBox="1"/>
          <p:nvPr/>
        </p:nvSpPr>
        <p:spPr>
          <a:xfrm>
            <a:off x="528422" y="1585038"/>
            <a:ext cx="614465"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endutih/2025/</a:t>
            </a:r>
            <a:r>
              <a:rPr sz="640" b="0" i="0">
                <a:solidFill>
                  <a:srgbClr val="1F3031"/>
                </a:solidFill>
                <a:latin typeface="Noto Sans"/>
              </a:rPr>
              <a:t>.</a:t>
            </a:r>
          </a:p>
        </p:txBody>
      </p:sp>
      <p:sp>
        <p:nvSpPr>
          <p:cNvPr id="233" name="ANUARIO_ANEXO_P122_L009"/>
          <p:cNvSpPr txBox="1"/>
          <p:nvPr/>
        </p:nvSpPr>
        <p:spPr>
          <a:xfrm>
            <a:off x="528422" y="1777939"/>
            <a:ext cx="412808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Ingresos y Gastos de los Hogares (ENIGH):</a:t>
            </a:r>
            <a:r>
              <a:rPr sz="640" b="0" i="0">
                <a:solidFill>
                  <a:srgbClr val="1F3031"/>
                </a:solidFill>
                <a:latin typeface="Noto Sans"/>
              </a:rPr>
              <a:t> Encuesta cuyo objetivo es </a:t>
            </a:r>
          </a:p>
        </p:txBody>
      </p:sp>
      <p:sp>
        <p:nvSpPr>
          <p:cNvPr id="234" name="ANUARIO_ANEXO_P122_L010"/>
          <p:cNvSpPr txBox="1"/>
          <p:nvPr/>
        </p:nvSpPr>
        <p:spPr>
          <a:xfrm>
            <a:off x="528422" y="1886765"/>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proporcionar un panorama estadístico del comportamiento de los ingresos y gastos de los hogares </a:t>
            </a:r>
          </a:p>
        </p:txBody>
      </p:sp>
      <p:sp>
        <p:nvSpPr>
          <p:cNvPr id="235" name="ANUARIO_ANEXO_P122_L011"/>
          <p:cNvSpPr txBox="1"/>
          <p:nvPr/>
        </p:nvSpPr>
        <p:spPr>
          <a:xfrm>
            <a:off x="528422" y="1994908"/>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en cuanto a su monto, procedencia y distribución; adicionalmente, ofrece información sobre </a:t>
            </a:r>
          </a:p>
        </p:txBody>
      </p:sp>
      <p:sp>
        <p:nvSpPr>
          <p:cNvPr id="236" name="ANUARIO_ANEXO_P122_L012"/>
          <p:cNvSpPr txBox="1"/>
          <p:nvPr/>
        </p:nvSpPr>
        <p:spPr>
          <a:xfrm>
            <a:off x="528422" y="2103051"/>
            <a:ext cx="41281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características ocupacionales y sociodemográficas de los integrantes del hogar, así como las </a:t>
            </a:r>
          </a:p>
        </p:txBody>
      </p:sp>
      <p:sp>
        <p:nvSpPr>
          <p:cNvPr id="237" name="ANUARIO_ANEXO_P122_L013"/>
          <p:cNvSpPr txBox="1"/>
          <p:nvPr/>
        </p:nvSpPr>
        <p:spPr>
          <a:xfrm>
            <a:off x="528422" y="2211195"/>
            <a:ext cx="41077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características de la infraestructura de la vivienda y el equipamiento del hogar. Disponible en: </a:t>
            </a:r>
            <a:r>
              <a:rPr sz="640" b="0" i="0">
                <a:solidFill>
                  <a:srgbClr val="0563C1"/>
                </a:solidFill>
                <a:latin typeface="Noto Sans"/>
              </a:rPr>
              <a:t>https://</a:t>
            </a:r>
          </a:p>
        </p:txBody>
      </p:sp>
      <p:sp>
        <p:nvSpPr>
          <p:cNvPr id="238" name="ANUARIO_ANEXO_P122_L014"/>
          <p:cNvSpPr txBox="1"/>
          <p:nvPr/>
        </p:nvSpPr>
        <p:spPr>
          <a:xfrm>
            <a:off x="528422" y="2319337"/>
            <a:ext cx="1951037"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www.inegi.org.mx/programas/enigh/nc/2024/</a:t>
            </a:r>
            <a:r>
              <a:rPr sz="640" b="0" i="0">
                <a:solidFill>
                  <a:srgbClr val="1F3031"/>
                </a:solidFill>
                <a:latin typeface="Noto Sans"/>
              </a:rPr>
              <a:t>.</a:t>
            </a:r>
          </a:p>
        </p:txBody>
      </p:sp>
      <p:sp>
        <p:nvSpPr>
          <p:cNvPr id="239" name="ANUARIO_ANEXO_P122_L015"/>
          <p:cNvSpPr txBox="1"/>
          <p:nvPr/>
        </p:nvSpPr>
        <p:spPr>
          <a:xfrm>
            <a:off x="528422" y="2512238"/>
            <a:ext cx="412820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Ocupación y Empleo (ENOE):</a:t>
            </a:r>
            <a:r>
              <a:rPr sz="640" b="0" i="0">
                <a:solidFill>
                  <a:srgbClr val="1F3031"/>
                </a:solidFill>
                <a:latin typeface="Noto Sans"/>
              </a:rPr>
              <a:t> Encuesta con el objetivo de proporcionar </a:t>
            </a:r>
          </a:p>
        </p:txBody>
      </p:sp>
      <p:sp>
        <p:nvSpPr>
          <p:cNvPr id="240" name="ANUARIO_ANEXO_P122_L016"/>
          <p:cNvSpPr txBox="1"/>
          <p:nvPr/>
        </p:nvSpPr>
        <p:spPr>
          <a:xfrm>
            <a:off x="528422" y="2621064"/>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mercado laboral mexicano al ofrecer datos mensuales y trimestrales de la fuerza </a:t>
            </a:r>
          </a:p>
        </p:txBody>
      </p:sp>
      <p:sp>
        <p:nvSpPr>
          <p:cNvPr id="241" name="ANUARIO_ANEXO_P122_L017"/>
          <p:cNvSpPr txBox="1"/>
          <p:nvPr/>
        </p:nvSpPr>
        <p:spPr>
          <a:xfrm>
            <a:off x="528422" y="2729208"/>
            <a:ext cx="41278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trabajo, la ocupación, la informalidad laboral, la subocupación y la desocupación. Disponible en: </a:t>
            </a:r>
          </a:p>
        </p:txBody>
      </p:sp>
      <p:sp>
        <p:nvSpPr>
          <p:cNvPr id="242" name="ANUARIO_ANEXO_P122_L018"/>
          <p:cNvSpPr txBox="1"/>
          <p:nvPr/>
        </p:nvSpPr>
        <p:spPr>
          <a:xfrm>
            <a:off x="528422" y="2837351"/>
            <a:ext cx="2207390"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hlinkClick r:id="rId3"/>
              </a:rPr>
              <a:t>https://www.inegi.org.mx/programas/enoe/15ymas/</a:t>
            </a:r>
            <a:r>
              <a:rPr sz="640" b="0" i="0">
                <a:solidFill>
                  <a:srgbClr val="1F3031"/>
                </a:solidFill>
                <a:latin typeface="Noto Sans"/>
              </a:rPr>
              <a:t>. </a:t>
            </a:r>
          </a:p>
        </p:txBody>
      </p:sp>
      <p:sp>
        <p:nvSpPr>
          <p:cNvPr id="243" name="ANUARIO_ANEXO_P122_L019"/>
          <p:cNvSpPr txBox="1"/>
          <p:nvPr/>
        </p:nvSpPr>
        <p:spPr>
          <a:xfrm>
            <a:off x="528422" y="3030251"/>
            <a:ext cx="41286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Equipo terminal:</a:t>
            </a:r>
            <a:r>
              <a:rPr sz="640" b="0" i="0">
                <a:solidFill>
                  <a:srgbClr val="1F3031"/>
                </a:solidFill>
                <a:latin typeface="Noto Sans"/>
              </a:rPr>
              <a:t> Dispositivo que utiliza el usuario final para conectarse a una Red Pública de </a:t>
            </a:r>
          </a:p>
        </p:txBody>
      </p:sp>
      <p:sp>
        <p:nvSpPr>
          <p:cNvPr id="244" name="ANUARIO_ANEXO_P122_L020"/>
          <p:cNvSpPr txBox="1"/>
          <p:nvPr/>
        </p:nvSpPr>
        <p:spPr>
          <a:xfrm>
            <a:off x="528422" y="3139078"/>
            <a:ext cx="41281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con el propósito de obtener un Acceso y/o recibir uno o más servicios de </a:t>
            </a:r>
          </a:p>
        </p:txBody>
      </p:sp>
      <p:sp>
        <p:nvSpPr>
          <p:cNvPr id="245" name="ANUARIO_ANEXO_P122_L021"/>
          <p:cNvSpPr txBox="1"/>
          <p:nvPr/>
        </p:nvSpPr>
        <p:spPr>
          <a:xfrm>
            <a:off x="528422" y="3247221"/>
            <a:ext cx="93551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a:t>
            </a:r>
          </a:p>
        </p:txBody>
      </p:sp>
      <p:sp>
        <p:nvSpPr>
          <p:cNvPr id="246" name="ANUARIO_ANEXO_P122_L022"/>
          <p:cNvSpPr txBox="1"/>
          <p:nvPr/>
        </p:nvSpPr>
        <p:spPr>
          <a:xfrm>
            <a:off x="528422" y="3440121"/>
            <a:ext cx="18801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a:t>
            </a:r>
          </a:p>
        </p:txBody>
      </p:sp>
      <p:sp>
        <p:nvSpPr>
          <p:cNvPr id="247" name="ANUARIO_ANEXO_P122_L023"/>
          <p:cNvSpPr txBox="1"/>
          <p:nvPr/>
        </p:nvSpPr>
        <p:spPr>
          <a:xfrm>
            <a:off x="528422" y="3633706"/>
            <a:ext cx="412851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Género:</a:t>
            </a:r>
            <a:r>
              <a:rPr sz="640" b="0" i="0">
                <a:solidFill>
                  <a:srgbClr val="1F3031"/>
                </a:solidFill>
                <a:latin typeface="Noto Sans"/>
              </a:rPr>
              <a:t> El Género de Programa es una etiqueta que incluye como referencia Nielsen IBOPE en sus </a:t>
            </a:r>
          </a:p>
        </p:txBody>
      </p:sp>
      <p:sp>
        <p:nvSpPr>
          <p:cNvPr id="248" name="ANUARIO_ANEXO_P122_L024"/>
          <p:cNvSpPr txBox="1"/>
          <p:nvPr/>
        </p:nvSpPr>
        <p:spPr>
          <a:xfrm>
            <a:off x="528422" y="3742533"/>
            <a:ext cx="252932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bases de datos, con el propósito de clasificar los programas.</a:t>
            </a:r>
          </a:p>
        </p:txBody>
      </p:sp>
      <p:sp>
        <p:nvSpPr>
          <p:cNvPr id="249" name="ANUARIO_ANEXO_P122_L025"/>
          <p:cNvSpPr txBox="1"/>
          <p:nvPr/>
        </p:nvSpPr>
        <p:spPr>
          <a:xfrm>
            <a:off x="528422" y="3935433"/>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Gobierno:</a:t>
            </a:r>
            <a:r>
              <a:rPr sz="640" b="0" i="0">
                <a:solidFill>
                  <a:srgbClr val="1F3031"/>
                </a:solidFill>
                <a:latin typeface="Noto Sans"/>
              </a:rPr>
              <a:t> La LFTR ordena a los medios electrónicos de comunicación la transmisión gratuita diaria </a:t>
            </a:r>
          </a:p>
        </p:txBody>
      </p:sp>
      <p:sp>
        <p:nvSpPr>
          <p:cNvPr id="250" name="ANUARIO_ANEXO_P122_L026"/>
          <p:cNvSpPr txBox="1"/>
          <p:nvPr/>
        </p:nvSpPr>
        <p:spPr>
          <a:xfrm>
            <a:off x="528422" y="4044260"/>
            <a:ext cx="412827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duración de hasta 30 minutos continuos o discontinuos de programas dedicados a difundir </a:t>
            </a:r>
          </a:p>
        </p:txBody>
      </p:sp>
      <p:sp>
        <p:nvSpPr>
          <p:cNvPr id="251" name="ANUARIO_ANEXO_P122_L027"/>
          <p:cNvSpPr txBox="1"/>
          <p:nvPr/>
        </p:nvSpPr>
        <p:spPr>
          <a:xfrm>
            <a:off x="528422" y="4152403"/>
            <a:ext cx="41285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temas educativos, culturales y de orientación social. Todas las estaciones de radio y televisión en el </a:t>
            </a:r>
          </a:p>
        </p:txBody>
      </p:sp>
      <p:sp>
        <p:nvSpPr>
          <p:cNvPr id="252" name="ANUARIO_ANEXO_P122_L028"/>
          <p:cNvSpPr txBox="1"/>
          <p:nvPr/>
        </p:nvSpPr>
        <p:spPr>
          <a:xfrm>
            <a:off x="528422" y="4260546"/>
            <a:ext cx="41280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país estarán obligadas a encadenarse cuando se trate de transmitir informaciones de trascendencia </a:t>
            </a:r>
          </a:p>
        </p:txBody>
      </p:sp>
      <p:sp>
        <p:nvSpPr>
          <p:cNvPr id="253" name="ANUARIO_ANEXO_P122_L029"/>
          <p:cNvSpPr txBox="1"/>
          <p:nvPr/>
        </p:nvSpPr>
        <p:spPr>
          <a:xfrm>
            <a:off x="528422" y="4368689"/>
            <a:ext cx="23733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para la Nación, a juicio de la Secretaría de Gobernación.</a:t>
            </a:r>
          </a:p>
        </p:txBody>
      </p:sp>
      <p:sp>
        <p:nvSpPr>
          <p:cNvPr id="254" name="ANUARIO_ANEXO_P122_L030"/>
          <p:cNvSpPr txBox="1"/>
          <p:nvPr/>
        </p:nvSpPr>
        <p:spPr>
          <a:xfrm>
            <a:off x="4647536" y="656471"/>
            <a:ext cx="14622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a:t>
            </a:r>
          </a:p>
        </p:txBody>
      </p:sp>
      <p:sp>
        <p:nvSpPr>
          <p:cNvPr id="255" name="ANUARIO_ANEXO_P122_L031"/>
          <p:cNvSpPr txBox="1"/>
          <p:nvPr/>
        </p:nvSpPr>
        <p:spPr>
          <a:xfrm>
            <a:off x="4647536" y="873048"/>
            <a:ext cx="412816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Herfindahl- Hirschman (IHH):</a:t>
            </a:r>
            <a:r>
              <a:rPr sz="640" b="0" i="0">
                <a:solidFill>
                  <a:srgbClr val="1F3031"/>
                </a:solidFill>
                <a:latin typeface="Noto Sans"/>
              </a:rPr>
              <a:t> Este índice se calcula a partir de las participaciones de los </a:t>
            </a:r>
          </a:p>
        </p:txBody>
      </p:sp>
      <p:sp>
        <p:nvSpPr>
          <p:cNvPr id="256" name="ANUARIO_ANEXO_P122_L032"/>
          <p:cNvSpPr txBox="1"/>
          <p:nvPr/>
        </p:nvSpPr>
        <p:spPr>
          <a:xfrm>
            <a:off x="4647536" y="983506"/>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agentes económicos en los mercados relevantes y/o relacionados. El IHH aumenta cuando el número </a:t>
            </a:r>
          </a:p>
        </p:txBody>
      </p:sp>
      <p:sp>
        <p:nvSpPr>
          <p:cNvPr id="257" name="ANUARIO_ANEXO_P122_L033"/>
          <p:cNvSpPr txBox="1"/>
          <p:nvPr/>
        </p:nvSpPr>
        <p:spPr>
          <a:xfrm>
            <a:off x="4647536" y="1093282"/>
            <a:ext cx="41279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empresas disminuye. Esta característica implica que cualquier fusión o adquisición completa entre </a:t>
            </a:r>
          </a:p>
        </p:txBody>
      </p:sp>
      <p:sp>
        <p:nvSpPr>
          <p:cNvPr id="258" name="ANUARIO_ANEXO_P122_L034"/>
          <p:cNvSpPr txBox="1"/>
          <p:nvPr/>
        </p:nvSpPr>
        <p:spPr>
          <a:xfrm>
            <a:off x="4647536" y="1203056"/>
            <a:ext cx="41284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dos o más empresas se ve reflejada en un valor más alto del IHH. Entre más pequeño sea el número de </a:t>
            </a:r>
          </a:p>
        </p:txBody>
      </p:sp>
      <p:sp>
        <p:nvSpPr>
          <p:cNvPr id="259" name="ANUARIO_ANEXO_P122_L035"/>
          <p:cNvSpPr txBox="1"/>
          <p:nvPr/>
        </p:nvSpPr>
        <p:spPr>
          <a:xfrm>
            <a:off x="4647536" y="1312831"/>
            <a:ext cx="41263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participantes, es más probable que las variaciones en el número de participantes o de las participaciones, </a:t>
            </a:r>
          </a:p>
        </p:txBody>
      </p:sp>
      <p:sp>
        <p:nvSpPr>
          <p:cNvPr id="260" name="ANUARIO_ANEXO_P122_L036"/>
          <p:cNvSpPr txBox="1"/>
          <p:nvPr/>
        </p:nvSpPr>
        <p:spPr>
          <a:xfrm>
            <a:off x="4647536" y="1422606"/>
            <a:ext cx="41278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modifiquen las condiciones de competencia para el resto de los agentes económicos. Este indicador </a:t>
            </a:r>
          </a:p>
        </p:txBody>
      </p:sp>
      <p:sp>
        <p:nvSpPr>
          <p:cNvPr id="261" name="ANUARIO_ANEXO_P122_L037"/>
          <p:cNvSpPr txBox="1"/>
          <p:nvPr/>
        </p:nvSpPr>
        <p:spPr>
          <a:xfrm>
            <a:off x="4647536" y="1532381"/>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fue calculado conforme a la metodología establecida por el IFT en el ACUERDO MEDIANTE EL </a:t>
            </a:r>
          </a:p>
        </p:txBody>
      </p:sp>
      <p:sp>
        <p:nvSpPr>
          <p:cNvPr id="262" name="ANUARIO_ANEXO_P122_L038"/>
          <p:cNvSpPr txBox="1"/>
          <p:nvPr/>
        </p:nvSpPr>
        <p:spPr>
          <a:xfrm>
            <a:off x="4647536" y="1642156"/>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CUAL EL PLENO DEL INSTITUTO FEDERAL DE TELECOMUNICACIONES MODIFICA EL CRITERIO </a:t>
            </a:r>
          </a:p>
        </p:txBody>
      </p:sp>
      <p:sp>
        <p:nvSpPr>
          <p:cNvPr id="263" name="ANUARIO_ANEXO_P122_L039"/>
          <p:cNvSpPr txBox="1"/>
          <p:nvPr/>
        </p:nvSpPr>
        <p:spPr>
          <a:xfrm>
            <a:off x="4647536" y="1751930"/>
            <a:ext cx="41284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TÉCNICO PARA EL CÁLCULO Y APLICACIÓN DE UN ÍNDICE CUANTITATIVO A FIN DE DETERMINAR </a:t>
            </a:r>
          </a:p>
        </p:txBody>
      </p:sp>
      <p:sp>
        <p:nvSpPr>
          <p:cNvPr id="264" name="ANUARIO_ANEXO_P122_L040"/>
          <p:cNvSpPr txBox="1"/>
          <p:nvPr/>
        </p:nvSpPr>
        <p:spPr>
          <a:xfrm>
            <a:off x="4647536" y="1861705"/>
            <a:ext cx="41284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GRADO DE CONCENTRACIÓN EN LOS MERCADOS Y SERVICIOS CORRESPONDIENTES A LOS </a:t>
            </a:r>
          </a:p>
        </p:txBody>
      </p:sp>
      <p:sp>
        <p:nvSpPr>
          <p:cNvPr id="265" name="ANUARIO_ANEXO_P122_L041"/>
          <p:cNvSpPr txBox="1"/>
          <p:nvPr/>
        </p:nvSpPr>
        <p:spPr>
          <a:xfrm>
            <a:off x="4647536" y="1971480"/>
            <a:ext cx="41077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SECTORES DE TELECOMUNICACIONES Y RADIODIFUSIÓN. Disponible en: </a:t>
            </a:r>
            <a:r>
              <a:rPr sz="640" b="0" i="0">
                <a:solidFill>
                  <a:srgbClr val="0563C1"/>
                </a:solidFill>
                <a:latin typeface="Noto Sans"/>
                <a:hlinkClick r:id="rId4"/>
              </a:rPr>
              <a:t>https://www.dof.gob.</a:t>
            </a:r>
          </a:p>
        </p:txBody>
      </p:sp>
      <p:sp>
        <p:nvSpPr>
          <p:cNvPr id="266" name="ANUARIO_ANEXO_P122_L042"/>
          <p:cNvSpPr txBox="1"/>
          <p:nvPr/>
        </p:nvSpPr>
        <p:spPr>
          <a:xfrm>
            <a:off x="4647537" y="2081255"/>
            <a:ext cx="2992121"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mx/nota_detalle.php?codigo=5645045&amp;fecha=09/03/2022#gsc.tab=0</a:t>
            </a:r>
            <a:r>
              <a:rPr sz="640" b="0" i="0">
                <a:solidFill>
                  <a:srgbClr val="1F3031"/>
                </a:solidFill>
                <a:latin typeface="Noto Sans"/>
              </a:rPr>
              <a:t>.</a:t>
            </a:r>
          </a:p>
        </p:txBody>
      </p:sp>
      <p:sp>
        <p:nvSpPr>
          <p:cNvPr id="267" name="ANUARIO_ANEXO_P122_L043"/>
          <p:cNvSpPr txBox="1"/>
          <p:nvPr/>
        </p:nvSpPr>
        <p:spPr>
          <a:xfrm>
            <a:off x="4647537" y="2297148"/>
            <a:ext cx="41282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Nacional de Precios al Consumidor (INPC):</a:t>
            </a:r>
            <a:r>
              <a:rPr sz="640" b="0" i="0">
                <a:solidFill>
                  <a:srgbClr val="1F3031"/>
                </a:solidFill>
                <a:latin typeface="Noto Sans"/>
              </a:rPr>
              <a:t> Indicador económico cuya finalidad es la de medir </a:t>
            </a:r>
          </a:p>
        </p:txBody>
      </p:sp>
      <p:sp>
        <p:nvSpPr>
          <p:cNvPr id="268" name="ANUARIO_ANEXO_P122_L044"/>
          <p:cNvSpPr txBox="1"/>
          <p:nvPr/>
        </p:nvSpPr>
        <p:spPr>
          <a:xfrm>
            <a:off x="4647537" y="2407606"/>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través del tiempo la variación de los precios de una canasta fija de bienes y servicios representativa </a:t>
            </a:r>
          </a:p>
        </p:txBody>
      </p:sp>
      <p:sp>
        <p:nvSpPr>
          <p:cNvPr id="269" name="ANUARIO_ANEXO_P122_L045"/>
          <p:cNvSpPr txBox="1"/>
          <p:nvPr/>
        </p:nvSpPr>
        <p:spPr>
          <a:xfrm>
            <a:off x="4647537" y="2517381"/>
            <a:ext cx="41285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consumo de los hogares. El INPC se presenta en este estudio con precios en base diciembre de </a:t>
            </a:r>
          </a:p>
        </p:txBody>
      </p:sp>
      <p:sp>
        <p:nvSpPr>
          <p:cNvPr id="270" name="ANUARIO_ANEXO_P122_L046"/>
          <p:cNvSpPr txBox="1"/>
          <p:nvPr/>
        </p:nvSpPr>
        <p:spPr>
          <a:xfrm>
            <a:off x="4647537" y="2627156"/>
            <a:ext cx="41283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2013. Para más información sobre los ponderadores de los servicios de telecomunicaciones dentro </a:t>
            </a:r>
          </a:p>
        </p:txBody>
      </p:sp>
      <p:sp>
        <p:nvSpPr>
          <p:cNvPr id="271" name="ANUARIO_ANEXO_P122_L047"/>
          <p:cNvSpPr txBox="1"/>
          <p:nvPr/>
        </p:nvSpPr>
        <p:spPr>
          <a:xfrm>
            <a:off x="4647537" y="2736931"/>
            <a:ext cx="41282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INPC y los índices de los servicios que integran el Índice de Precios de Comunicaciones, consultar </a:t>
            </a:r>
          </a:p>
        </p:txBody>
      </p:sp>
      <p:sp>
        <p:nvSpPr>
          <p:cNvPr id="272" name="ANUARIO_ANEXO_P122_L048"/>
          <p:cNvSpPr txBox="1"/>
          <p:nvPr/>
        </p:nvSpPr>
        <p:spPr>
          <a:xfrm>
            <a:off x="4647537" y="2846705"/>
            <a:ext cx="10961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Anexo III. Metodologías.</a:t>
            </a:r>
          </a:p>
        </p:txBody>
      </p:sp>
      <p:sp>
        <p:nvSpPr>
          <p:cNvPr id="273" name="ANUARIO_ANEXO_P122_L049"/>
          <p:cNvSpPr txBox="1"/>
          <p:nvPr/>
        </p:nvSpPr>
        <p:spPr>
          <a:xfrm>
            <a:off x="4647537" y="3062598"/>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Infantil:</a:t>
            </a:r>
            <a:r>
              <a:rPr sz="640" b="0" i="0">
                <a:solidFill>
                  <a:srgbClr val="1F3031"/>
                </a:solidFill>
                <a:latin typeface="Noto Sans"/>
              </a:rPr>
              <a:t> Son programas enfocados directamente a los niños, aunque no excluyen a un auditorio </a:t>
            </a:r>
          </a:p>
        </p:txBody>
      </p:sp>
      <p:sp>
        <p:nvSpPr>
          <p:cNvPr id="274" name="ANUARIO_ANEXO_P122_L050"/>
          <p:cNvSpPr txBox="1"/>
          <p:nvPr/>
        </p:nvSpPr>
        <p:spPr>
          <a:xfrm>
            <a:off x="4647537" y="3173057"/>
            <a:ext cx="41284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adulto. Estas producciones generalmente no comprenden caricaturas, ya que su tendencia es </a:t>
            </a:r>
          </a:p>
        </p:txBody>
      </p:sp>
      <p:sp>
        <p:nvSpPr>
          <p:cNvPr id="275" name="ANUARIO_ANEXO_P122_L051"/>
          <p:cNvSpPr txBox="1"/>
          <p:nvPr/>
        </p:nvSpPr>
        <p:spPr>
          <a:xfrm>
            <a:off x="4647537" y="3282832"/>
            <a:ext cx="412859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didáctica y se estructuran a partir del uso de lenguaje sencillo, en función de la edad del auditorio </a:t>
            </a:r>
          </a:p>
        </p:txBody>
      </p:sp>
      <p:sp>
        <p:nvSpPr>
          <p:cNvPr id="276" name="ANUARIO_ANEXO_P122_L052"/>
          <p:cNvSpPr txBox="1"/>
          <p:nvPr/>
        </p:nvSpPr>
        <p:spPr>
          <a:xfrm>
            <a:off x="4647537" y="3392607"/>
            <a:ext cx="37486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objetivo. En ocasiones, la conducción recae en niños para lograr una mayor identificación.</a:t>
            </a:r>
          </a:p>
        </p:txBody>
      </p:sp>
      <p:sp>
        <p:nvSpPr>
          <p:cNvPr id="277" name="ANUARIO_ANEXO_P122_L053"/>
          <p:cNvSpPr txBox="1"/>
          <p:nvPr/>
        </p:nvSpPr>
        <p:spPr>
          <a:xfrm>
            <a:off x="4647537" y="3608500"/>
            <a:ext cx="41287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Ingresos:</a:t>
            </a:r>
            <a:r>
              <a:rPr sz="640" b="0" i="0">
                <a:solidFill>
                  <a:srgbClr val="1F3031"/>
                </a:solidFill>
                <a:latin typeface="Noto Sans"/>
              </a:rPr>
              <a:t> Es la suma de los ingresos en pesos corrientes recibidos por cada operador por la prestación </a:t>
            </a:r>
          </a:p>
        </p:txBody>
      </p:sp>
      <p:sp>
        <p:nvSpPr>
          <p:cNvPr id="278" name="ANUARIO_ANEXO_P122_L054"/>
          <p:cNvSpPr txBox="1"/>
          <p:nvPr/>
        </p:nvSpPr>
        <p:spPr>
          <a:xfrm>
            <a:off x="4647537" y="3718959"/>
            <a:ext cx="21551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servicios de telecomunicaciones. Comprenden:</a:t>
            </a:r>
          </a:p>
        </p:txBody>
      </p:sp>
      <p:sp>
        <p:nvSpPr>
          <p:cNvPr id="279" name="ANUARIO_ANEXO_P122_L055"/>
          <p:cNvSpPr txBox="1"/>
          <p:nvPr/>
        </p:nvSpPr>
        <p:spPr>
          <a:xfrm>
            <a:off x="4814610" y="3934851"/>
            <a:ext cx="275814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1. </a:t>
            </a:r>
            <a:r>
              <a:rPr sz="640" b="0" i="0">
                <a:solidFill>
                  <a:srgbClr val="1F3031"/>
                </a:solidFill>
                <a:latin typeface="Noto Sans"/>
              </a:rPr>
              <a:t>Ingresos por venta o renta de equipos de telecomunicaciones. </a:t>
            </a:r>
          </a:p>
        </p:txBody>
      </p:sp>
      <p:sp>
        <p:nvSpPr>
          <p:cNvPr id="280" name="ANUARIO_ANEXO_P122_L056"/>
          <p:cNvSpPr txBox="1"/>
          <p:nvPr/>
        </p:nvSpPr>
        <p:spPr>
          <a:xfrm>
            <a:off x="4814610" y="4151428"/>
            <a:ext cx="39613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2. </a:t>
            </a:r>
            <a:r>
              <a:rPr sz="640" b="0" i="0">
                <a:solidFill>
                  <a:srgbClr val="1F3031"/>
                </a:solidFill>
                <a:latin typeface="Noto Sans"/>
              </a:rPr>
              <a:t> Ingresos por instalación y mantenimiento para servicios considerados de telecomunicaciones. </a:t>
            </a:r>
          </a:p>
        </p:txBody>
      </p:sp>
      <p:sp>
        <p:nvSpPr>
          <p:cNvPr id="281" name="ANUARIO_ANEXO_P122_L057"/>
          <p:cNvSpPr txBox="1"/>
          <p:nvPr/>
        </p:nvSpPr>
        <p:spPr>
          <a:xfrm>
            <a:off x="4814610" y="4368005"/>
            <a:ext cx="311456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3. </a:t>
            </a:r>
            <a:r>
              <a:rPr sz="640" b="0" i="0">
                <a:solidFill>
                  <a:srgbClr val="1F3031"/>
                </a:solidFill>
                <a:latin typeface="Noto Sans"/>
              </a:rPr>
              <a:t> Ingresos por servicios considerados minoristas de telecomunicaciones.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123</a:t>
            </a:r>
          </a:p>
        </p:txBody>
      </p:sp>
      <p:sp>
        <p:nvSpPr>
          <p:cNvPr id="225" name="ANUARIO_ANEXO_P123_L001"/>
          <p:cNvSpPr txBox="1"/>
          <p:nvPr/>
        </p:nvSpPr>
        <p:spPr>
          <a:xfrm>
            <a:off x="695494" y="656471"/>
            <a:ext cx="312899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Ingresos por servicios considerados mayoristas de telecomunicaciones. </a:t>
            </a:r>
          </a:p>
        </p:txBody>
      </p:sp>
      <p:sp>
        <p:nvSpPr>
          <p:cNvPr id="226" name="ANUARIO_ANEXO_P123_L002"/>
          <p:cNvSpPr txBox="1"/>
          <p:nvPr/>
        </p:nvSpPr>
        <p:spPr>
          <a:xfrm>
            <a:off x="695494" y="874823"/>
            <a:ext cx="237730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 </a:t>
            </a:r>
            <a:r>
              <a:rPr sz="592" b="0" i="0">
                <a:solidFill>
                  <a:srgbClr val="1F3031"/>
                </a:solidFill>
                <a:latin typeface="Noto Sans"/>
              </a:rPr>
              <a:t> Ingresos minoristas por servicio </a:t>
            </a:r>
            <a:r>
              <a:rPr sz="592" b="0" i="1">
                <a:solidFill>
                  <a:srgbClr val="1F3031"/>
                </a:solidFill>
                <a:latin typeface="Noto Sans"/>
              </a:rPr>
              <a:t>Over The Top</a:t>
            </a:r>
            <a:r>
              <a:rPr sz="592" b="0" i="0">
                <a:solidFill>
                  <a:srgbClr val="1F3031"/>
                </a:solidFill>
                <a:latin typeface="Noto Sans"/>
              </a:rPr>
              <a:t> (OTT). </a:t>
            </a:r>
          </a:p>
        </p:txBody>
      </p:sp>
      <p:sp>
        <p:nvSpPr>
          <p:cNvPr id="227" name="ANUARIO_ANEXO_P123_L003"/>
          <p:cNvSpPr txBox="1"/>
          <p:nvPr/>
        </p:nvSpPr>
        <p:spPr>
          <a:xfrm>
            <a:off x="695494" y="1093174"/>
            <a:ext cx="241427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6. </a:t>
            </a:r>
            <a:r>
              <a:rPr sz="592" b="0" i="0">
                <a:solidFill>
                  <a:srgbClr val="1F3031"/>
                </a:solidFill>
                <a:latin typeface="Noto Sans"/>
              </a:rPr>
              <a:t> Ingresos mayoristas por servicios Over The Top (OTT).</a:t>
            </a:r>
          </a:p>
        </p:txBody>
      </p:sp>
      <p:sp>
        <p:nvSpPr>
          <p:cNvPr id="228" name="ANUARIO_ANEXO_P123_L004"/>
          <p:cNvSpPr txBox="1"/>
          <p:nvPr/>
        </p:nvSpPr>
        <p:spPr>
          <a:xfrm>
            <a:off x="695494" y="1311525"/>
            <a:ext cx="13606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7. </a:t>
            </a:r>
            <a:r>
              <a:rPr sz="592" b="0" i="0">
                <a:solidFill>
                  <a:srgbClr val="1F3031"/>
                </a:solidFill>
                <a:latin typeface="Noto Sans"/>
              </a:rPr>
              <a:t>Ingresos por otros servicios.</a:t>
            </a:r>
          </a:p>
        </p:txBody>
      </p:sp>
      <p:sp>
        <p:nvSpPr>
          <p:cNvPr id="229" name="ANUARIO_ANEXO_P123_L005"/>
          <p:cNvSpPr txBox="1"/>
          <p:nvPr/>
        </p:nvSpPr>
        <p:spPr>
          <a:xfrm>
            <a:off x="528422" y="1530559"/>
            <a:ext cx="41278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Todos los valores de los ingresos son considerados sin IVA ni ningún otro impuesto aplicable, y con </a:t>
            </a:r>
          </a:p>
        </p:txBody>
      </p:sp>
      <p:sp>
        <p:nvSpPr>
          <p:cNvPr id="230" name="ANUARIO_ANEXO_P123_L006"/>
          <p:cNvSpPr txBox="1"/>
          <p:nvPr/>
        </p:nvSpPr>
        <p:spPr>
          <a:xfrm>
            <a:off x="528422" y="1642109"/>
            <a:ext cx="404141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descuentos y bonificaciones tarifarias que se consideren en sus Planes Tarifarios ya aplicadas. </a:t>
            </a:r>
          </a:p>
        </p:txBody>
      </p:sp>
      <p:sp>
        <p:nvSpPr>
          <p:cNvPr id="231" name="ANUARIO_ANEXO_P123_L007"/>
          <p:cNvSpPr txBox="1"/>
          <p:nvPr/>
        </p:nvSpPr>
        <p:spPr>
          <a:xfrm>
            <a:off x="528422" y="1859776"/>
            <a:ext cx="412765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Ingreso corriente:</a:t>
            </a:r>
            <a:r>
              <a:rPr sz="592" b="0" i="0">
                <a:solidFill>
                  <a:srgbClr val="1F3031"/>
                </a:solidFill>
                <a:latin typeface="Noto Sans"/>
              </a:rPr>
              <a:t> Máximo de recursos al que un hogar puede acceder de manera regular y que </a:t>
            </a:r>
          </a:p>
        </p:txBody>
      </p:sp>
      <p:sp>
        <p:nvSpPr>
          <p:cNvPr id="232" name="ANUARIO_ANEXO_P123_L008"/>
          <p:cNvSpPr txBox="1"/>
          <p:nvPr/>
        </p:nvSpPr>
        <p:spPr>
          <a:xfrm>
            <a:off x="528422" y="1972009"/>
            <a:ext cx="41278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están disponibles para su consumo de bienes y servicios en un lapso dado, manteniendo inalterado </a:t>
            </a:r>
          </a:p>
        </p:txBody>
      </p:sp>
      <p:sp>
        <p:nvSpPr>
          <p:cNvPr id="233" name="ANUARIO_ANEXO_P123_L009"/>
          <p:cNvSpPr txBox="1"/>
          <p:nvPr/>
        </p:nvSpPr>
        <p:spPr>
          <a:xfrm>
            <a:off x="528422" y="2083558"/>
            <a:ext cx="10873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patrimonio del hogar.</a:t>
            </a:r>
          </a:p>
        </p:txBody>
      </p:sp>
      <p:sp>
        <p:nvSpPr>
          <p:cNvPr id="234" name="ANUARIO_ANEXO_P123_L010"/>
          <p:cNvSpPr txBox="1"/>
          <p:nvPr/>
        </p:nvSpPr>
        <p:spPr>
          <a:xfrm>
            <a:off x="528422" y="2301225"/>
            <a:ext cx="41284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Inversión privada en telecomunicaciones:</a:t>
            </a:r>
            <a:r>
              <a:rPr sz="592" b="0" i="0">
                <a:solidFill>
                  <a:srgbClr val="1F3031"/>
                </a:solidFill>
                <a:latin typeface="Noto Sans"/>
              </a:rPr>
              <a:t> Es la suma de la inversión en infraestructura en pesos </a:t>
            </a:r>
          </a:p>
        </p:txBody>
      </p:sp>
      <p:sp>
        <p:nvSpPr>
          <p:cNvPr id="235" name="ANUARIO_ANEXO_P123_L011"/>
          <p:cNvSpPr txBox="1"/>
          <p:nvPr/>
        </p:nvSpPr>
        <p:spPr>
          <a:xfrm>
            <a:off x="528422" y="2413458"/>
            <a:ext cx="41282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corrientes realizada por cada uno de los operadores de servicios de telecomunicaciones y comprende </a:t>
            </a:r>
          </a:p>
        </p:txBody>
      </p:sp>
      <p:sp>
        <p:nvSpPr>
          <p:cNvPr id="236" name="ANUARIO_ANEXO_P123_L012"/>
          <p:cNvSpPr txBox="1"/>
          <p:nvPr/>
        </p:nvSpPr>
        <p:spPr>
          <a:xfrm>
            <a:off x="528422" y="2525007"/>
            <a:ext cx="6312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 siguiente: </a:t>
            </a:r>
          </a:p>
        </p:txBody>
      </p:sp>
      <p:sp>
        <p:nvSpPr>
          <p:cNvPr id="237" name="ANUARIO_ANEXO_P123_L013"/>
          <p:cNvSpPr txBox="1"/>
          <p:nvPr/>
        </p:nvSpPr>
        <p:spPr>
          <a:xfrm>
            <a:off x="695494" y="2742675"/>
            <a:ext cx="39613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 </a:t>
            </a:r>
            <a:r>
              <a:rPr sz="592" b="0" i="0">
                <a:solidFill>
                  <a:srgbClr val="1F3031"/>
                </a:solidFill>
                <a:latin typeface="Noto Sans"/>
              </a:rPr>
              <a:t>Inversión bruta en servicios de telecomunicaciones realizada para la adquisición o mejora </a:t>
            </a:r>
          </a:p>
        </p:txBody>
      </p:sp>
      <p:sp>
        <p:nvSpPr>
          <p:cNvPr id="238" name="ANUARIO_ANEXO_P123_L014"/>
          <p:cNvSpPr txBox="1"/>
          <p:nvPr/>
        </p:nvSpPr>
        <p:spPr>
          <a:xfrm>
            <a:off x="806876" y="2854908"/>
            <a:ext cx="38494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infraestructura de telecomunicaciones en el territorio nacional. Incluye la inversión en las </a:t>
            </a:r>
          </a:p>
        </p:txBody>
      </p:sp>
      <p:sp>
        <p:nvSpPr>
          <p:cNvPr id="239" name="ANUARIO_ANEXO_P123_L015"/>
          <p:cNvSpPr txBox="1"/>
          <p:nvPr/>
        </p:nvSpPr>
        <p:spPr>
          <a:xfrm>
            <a:off x="806876" y="2966457"/>
            <a:ext cx="38501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instalaciones para la operación, así como las adiciones o modificaciones a las instalaciones </a:t>
            </a:r>
          </a:p>
        </p:txBody>
      </p:sp>
      <p:sp>
        <p:nvSpPr>
          <p:cNvPr id="240" name="ANUARIO_ANEXO_P123_L016"/>
          <p:cNvSpPr txBox="1"/>
          <p:nvPr/>
        </p:nvSpPr>
        <p:spPr>
          <a:xfrm>
            <a:off x="806876" y="3078006"/>
            <a:ext cx="3849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existentes cuya utilización se prevé para un amplio periodo, por ejemplo, equipos de </a:t>
            </a:r>
          </a:p>
        </p:txBody>
      </p:sp>
      <p:sp>
        <p:nvSpPr>
          <p:cNvPr id="241" name="ANUARIO_ANEXO_P123_L017"/>
          <p:cNvSpPr txBox="1"/>
          <p:nvPr/>
        </p:nvSpPr>
        <p:spPr>
          <a:xfrm>
            <a:off x="806876" y="3189555"/>
            <a:ext cx="384941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conmutación, de señalización, sincronización, transmisión, fuerza eléctrica y clima, entre </a:t>
            </a:r>
          </a:p>
        </p:txBody>
      </p:sp>
      <p:sp>
        <p:nvSpPr>
          <p:cNvPr id="242" name="ANUARIO_ANEXO_P123_L018"/>
          <p:cNvSpPr txBox="1"/>
          <p:nvPr/>
        </p:nvSpPr>
        <p:spPr>
          <a:xfrm>
            <a:off x="806876" y="3301105"/>
            <a:ext cx="37300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otros. </a:t>
            </a:r>
          </a:p>
        </p:txBody>
      </p:sp>
      <p:sp>
        <p:nvSpPr>
          <p:cNvPr id="243" name="ANUARIO_ANEXO_P123_L019"/>
          <p:cNvSpPr txBox="1"/>
          <p:nvPr/>
        </p:nvSpPr>
        <p:spPr>
          <a:xfrm>
            <a:off x="695494" y="3518771"/>
            <a:ext cx="396116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 </a:t>
            </a:r>
            <a:r>
              <a:rPr sz="592" b="0" i="0">
                <a:solidFill>
                  <a:srgbClr val="1F3031"/>
                </a:solidFill>
                <a:latin typeface="Noto Sans"/>
              </a:rPr>
              <a:t> Inversión bruta por concepto de compra de terrenos y/o edificios asociados al servicio de </a:t>
            </a:r>
          </a:p>
        </p:txBody>
      </p:sp>
      <p:sp>
        <p:nvSpPr>
          <p:cNvPr id="244" name="ANUARIO_ANEXO_P123_L020"/>
          <p:cNvSpPr txBox="1"/>
          <p:nvPr/>
        </p:nvSpPr>
        <p:spPr>
          <a:xfrm>
            <a:off x="806876" y="3631004"/>
            <a:ext cx="95645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telecomunicaciones.</a:t>
            </a:r>
          </a:p>
        </p:txBody>
      </p:sp>
      <p:sp>
        <p:nvSpPr>
          <p:cNvPr id="245" name="ANUARIO_ANEXO_P123_L021"/>
          <p:cNvSpPr txBox="1"/>
          <p:nvPr/>
        </p:nvSpPr>
        <p:spPr>
          <a:xfrm>
            <a:off x="528422" y="3848672"/>
            <a:ext cx="412798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Índice de Precios de Comunicaciones (IPCOM):</a:t>
            </a:r>
            <a:r>
              <a:rPr sz="592" b="0" i="0">
                <a:solidFill>
                  <a:srgbClr val="1F3031"/>
                </a:solidFill>
                <a:latin typeface="Noto Sans"/>
              </a:rPr>
              <a:t> Este índice integra los índices de precios de los </a:t>
            </a:r>
          </a:p>
        </p:txBody>
      </p:sp>
      <p:sp>
        <p:nvSpPr>
          <p:cNvPr id="246" name="ANUARIO_ANEXO_P123_L022"/>
          <p:cNvSpPr txBox="1"/>
          <p:nvPr/>
        </p:nvSpPr>
        <p:spPr>
          <a:xfrm>
            <a:off x="528422" y="3960905"/>
            <a:ext cx="41277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de telefonía móvil, telefonía fija, Internet, paquetes de telefonía, Internet y televisión de paga, </a:t>
            </a:r>
          </a:p>
        </p:txBody>
      </p:sp>
      <p:sp>
        <p:nvSpPr>
          <p:cNvPr id="247" name="ANUARIO_ANEXO_P123_L023"/>
          <p:cNvSpPr txBox="1"/>
          <p:nvPr/>
        </p:nvSpPr>
        <p:spPr>
          <a:xfrm>
            <a:off x="528422" y="4072454"/>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equipos terminales de comunicación y paquetería. Para más información sobre los ponderadores de </a:t>
            </a:r>
          </a:p>
        </p:txBody>
      </p:sp>
      <p:sp>
        <p:nvSpPr>
          <p:cNvPr id="248" name="ANUARIO_ANEXO_P123_L024"/>
          <p:cNvSpPr txBox="1"/>
          <p:nvPr/>
        </p:nvSpPr>
        <p:spPr>
          <a:xfrm>
            <a:off x="528422" y="4184003"/>
            <a:ext cx="364036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dentro del INPC consultar Anexo III. Metodologías.</a:t>
            </a:r>
          </a:p>
        </p:txBody>
      </p:sp>
      <p:sp>
        <p:nvSpPr>
          <p:cNvPr id="249" name="ANUARIO_ANEXO_P123_L025"/>
          <p:cNvSpPr txBox="1"/>
          <p:nvPr/>
        </p:nvSpPr>
        <p:spPr>
          <a:xfrm>
            <a:off x="4647536" y="656471"/>
            <a:ext cx="20129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a:t>
            </a:r>
          </a:p>
        </p:txBody>
      </p:sp>
      <p:sp>
        <p:nvSpPr>
          <p:cNvPr id="250" name="ANUARIO_ANEXO_P123_L026"/>
          <p:cNvSpPr txBox="1"/>
          <p:nvPr/>
        </p:nvSpPr>
        <p:spPr>
          <a:xfrm>
            <a:off x="4647536" y="884748"/>
            <a:ext cx="4128278" cy="146070"/>
          </a:xfrm>
          <a:prstGeom prst="rect">
            <a:avLst/>
          </a:prstGeom>
          <a:noFill/>
        </p:spPr>
        <p:txBody>
          <a:bodyPr wrap="none" lIns="0" rIns="0" tIns="0" bIns="0">
            <a:noAutofit/>
          </a:bodyPr>
          <a:lstStyle/>
          <a:p>
            <a:pPr>
              <a:spcBef>
                <a:spcPts val="0"/>
              </a:spcBef>
              <a:spcAft>
                <a:spcPts val="0"/>
              </a:spcAft>
            </a:pPr>
            <a:r>
              <a:rPr sz="592" b="1" i="1">
                <a:solidFill>
                  <a:srgbClr val="1F3031"/>
                </a:solidFill>
                <a:latin typeface="Noto Sans"/>
              </a:rPr>
              <a:t>Magazine</a:t>
            </a:r>
            <a:r>
              <a:rPr sz="592" b="1" i="0">
                <a:solidFill>
                  <a:srgbClr val="1F3031"/>
                </a:solidFill>
                <a:latin typeface="Noto Sans"/>
              </a:rPr>
              <a:t>:</a:t>
            </a:r>
            <a:r>
              <a:rPr sz="592" b="0" i="0">
                <a:solidFill>
                  <a:srgbClr val="1F3031"/>
                </a:solidFill>
                <a:latin typeface="Noto Sans"/>
              </a:rPr>
              <a:t> Programas cuya producción contiene diferentes cuadros, tales como variedades, </a:t>
            </a:r>
          </a:p>
        </p:txBody>
      </p:sp>
      <p:sp>
        <p:nvSpPr>
          <p:cNvPr id="251" name="ANUARIO_ANEXO_P123_L027"/>
          <p:cNvSpPr txBox="1"/>
          <p:nvPr/>
        </p:nvSpPr>
        <p:spPr>
          <a:xfrm>
            <a:off x="4647536" y="1006906"/>
            <a:ext cx="412847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entrevistas, reportajes, investigaciones y comentarios. Dentro de este género también se contemplan </a:t>
            </a:r>
          </a:p>
        </p:txBody>
      </p:sp>
      <p:sp>
        <p:nvSpPr>
          <p:cNvPr id="252" name="ANUARIO_ANEXO_P123_L028"/>
          <p:cNvSpPr txBox="1"/>
          <p:nvPr/>
        </p:nvSpPr>
        <p:spPr>
          <a:xfrm>
            <a:off x="4647536" y="1128380"/>
            <a:ext cx="412845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aquellos programas cuyas características no sean clasificables dentro de algún otro género, tales </a:t>
            </a:r>
          </a:p>
        </p:txBody>
      </p:sp>
      <p:sp>
        <p:nvSpPr>
          <p:cNvPr id="253" name="ANUARIO_ANEXO_P123_L029"/>
          <p:cNvSpPr txBox="1"/>
          <p:nvPr/>
        </p:nvSpPr>
        <p:spPr>
          <a:xfrm>
            <a:off x="4647536" y="1249854"/>
            <a:ext cx="33650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cobertura de eventos (exceptuando los religiosos, deportivos y culturales).</a:t>
            </a:r>
          </a:p>
        </p:txBody>
      </p:sp>
      <p:sp>
        <p:nvSpPr>
          <p:cNvPr id="254" name="ANUARIO_ANEXO_P123_L030"/>
          <p:cNvSpPr txBox="1"/>
          <p:nvPr/>
        </p:nvSpPr>
        <p:spPr>
          <a:xfrm>
            <a:off x="4647536" y="1477447"/>
            <a:ext cx="33028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Megabyte (MB):</a:t>
            </a:r>
            <a:r>
              <a:rPr sz="592" b="0" i="0">
                <a:solidFill>
                  <a:srgbClr val="1F3031"/>
                </a:solidFill>
                <a:latin typeface="Noto Sans"/>
              </a:rPr>
              <a:t> Es la unidad de medida de la transmisión de datos de Internet.</a:t>
            </a:r>
          </a:p>
        </p:txBody>
      </p:sp>
      <p:sp>
        <p:nvSpPr>
          <p:cNvPr id="255" name="ANUARIO_ANEXO_P123_L031"/>
          <p:cNvSpPr txBox="1"/>
          <p:nvPr/>
        </p:nvSpPr>
        <p:spPr>
          <a:xfrm>
            <a:off x="4647536" y="1705722"/>
            <a:ext cx="412816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Megabits (Mbps):</a:t>
            </a:r>
            <a:r>
              <a:rPr sz="592" b="0" i="0">
                <a:solidFill>
                  <a:srgbClr val="1F3031"/>
                </a:solidFill>
                <a:latin typeface="Noto Sans"/>
              </a:rPr>
              <a:t> Megabits por segundo es la medida de la velocidad de transmisión de datos de </a:t>
            </a:r>
          </a:p>
        </p:txBody>
      </p:sp>
      <p:sp>
        <p:nvSpPr>
          <p:cNvPr id="256" name="ANUARIO_ANEXO_P123_L032"/>
          <p:cNvSpPr txBox="1"/>
          <p:nvPr/>
        </p:nvSpPr>
        <p:spPr>
          <a:xfrm>
            <a:off x="4647536" y="1827880"/>
            <a:ext cx="656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banda ancha.</a:t>
            </a:r>
          </a:p>
        </p:txBody>
      </p:sp>
      <p:sp>
        <p:nvSpPr>
          <p:cNvPr id="257" name="ANUARIO_ANEXO_P123_L033"/>
          <p:cNvSpPr txBox="1"/>
          <p:nvPr/>
        </p:nvSpPr>
        <p:spPr>
          <a:xfrm>
            <a:off x="4647536" y="2055473"/>
            <a:ext cx="34097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Megahertz (MHz):</a:t>
            </a:r>
            <a:r>
              <a:rPr sz="592" b="0" i="0">
                <a:solidFill>
                  <a:srgbClr val="1F3031"/>
                </a:solidFill>
                <a:latin typeface="Noto Sans"/>
              </a:rPr>
              <a:t> Es la unidad de medida de la frecuencia y equivale a 106 Hertz.</a:t>
            </a:r>
          </a:p>
        </p:txBody>
      </p:sp>
      <p:sp>
        <p:nvSpPr>
          <p:cNvPr id="258" name="ANUARIO_ANEXO_P123_L034"/>
          <p:cNvSpPr txBox="1"/>
          <p:nvPr/>
        </p:nvSpPr>
        <p:spPr>
          <a:xfrm>
            <a:off x="4647536" y="2283749"/>
            <a:ext cx="412850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Mercadeo:</a:t>
            </a:r>
            <a:r>
              <a:rPr sz="592" b="0" i="0">
                <a:solidFill>
                  <a:srgbClr val="1F3031"/>
                </a:solidFill>
                <a:latin typeface="Noto Sans"/>
              </a:rPr>
              <a:t> Programa que promueve la venta de productos vía telefónica. Generalmente, en este </a:t>
            </a:r>
          </a:p>
        </p:txBody>
      </p:sp>
      <p:sp>
        <p:nvSpPr>
          <p:cNvPr id="259" name="ANUARIO_ANEXO_P123_L035"/>
          <p:cNvSpPr txBox="1"/>
          <p:nvPr/>
        </p:nvSpPr>
        <p:spPr>
          <a:xfrm>
            <a:off x="4647536" y="2405907"/>
            <a:ext cx="41285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tipo de programas se realizan demostraciones o explicaciones del funcionamiento del o de los </a:t>
            </a:r>
          </a:p>
        </p:txBody>
      </p:sp>
      <p:sp>
        <p:nvSpPr>
          <p:cNvPr id="260" name="ANUARIO_ANEXO_P123_L036"/>
          <p:cNvSpPr txBox="1"/>
          <p:nvPr/>
        </p:nvSpPr>
        <p:spPr>
          <a:xfrm>
            <a:off x="4647536" y="2527381"/>
            <a:ext cx="412849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artículos ofrecidos. También se encuentran dentro de esta categoría los programas pagados por </a:t>
            </a:r>
          </a:p>
        </p:txBody>
      </p:sp>
      <p:sp>
        <p:nvSpPr>
          <p:cNvPr id="261" name="ANUARIO_ANEXO_P123_L037"/>
          <p:cNvSpPr txBox="1"/>
          <p:nvPr/>
        </p:nvSpPr>
        <p:spPr>
          <a:xfrm>
            <a:off x="4647536" y="2648855"/>
            <a:ext cx="412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instituciones, asociaciones civiles o religiosas, en los cuales el tiempo aire es utilizado para la difusión </a:t>
            </a:r>
          </a:p>
        </p:txBody>
      </p:sp>
      <p:sp>
        <p:nvSpPr>
          <p:cNvPr id="262" name="ANUARIO_ANEXO_P123_L038"/>
          <p:cNvSpPr txBox="1"/>
          <p:nvPr/>
        </p:nvSpPr>
        <p:spPr>
          <a:xfrm>
            <a:off x="4647536" y="2770329"/>
            <a:ext cx="729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un mensaje.</a:t>
            </a:r>
          </a:p>
        </p:txBody>
      </p:sp>
      <p:sp>
        <p:nvSpPr>
          <p:cNvPr id="263" name="ANUARIO_ANEXO_P123_L039"/>
          <p:cNvSpPr txBox="1"/>
          <p:nvPr/>
        </p:nvSpPr>
        <p:spPr>
          <a:xfrm>
            <a:off x="4647536" y="2997922"/>
            <a:ext cx="412812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Musicales:</a:t>
            </a:r>
            <a:r>
              <a:rPr sz="592" b="0" i="0">
                <a:solidFill>
                  <a:srgbClr val="1F3031"/>
                </a:solidFill>
                <a:latin typeface="Noto Sans"/>
              </a:rPr>
              <a:t> Programas de corte musical, tales como videos, conciertos, presentaciones de cantantes </a:t>
            </a:r>
          </a:p>
        </p:txBody>
      </p:sp>
      <p:sp>
        <p:nvSpPr>
          <p:cNvPr id="264" name="ANUARIO_ANEXO_P123_L040"/>
          <p:cNvSpPr txBox="1"/>
          <p:nvPr/>
        </p:nvSpPr>
        <p:spPr>
          <a:xfrm>
            <a:off x="4647536" y="3120080"/>
            <a:ext cx="36704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grupos, que pueden incluir o no semblanzas o entrevistas con los artistas presentados.</a:t>
            </a:r>
          </a:p>
        </p:txBody>
      </p:sp>
      <p:sp>
        <p:nvSpPr>
          <p:cNvPr id="265" name="ANUARIO_ANEXO_P123_L041"/>
          <p:cNvSpPr txBox="1"/>
          <p:nvPr/>
        </p:nvSpPr>
        <p:spPr>
          <a:xfrm>
            <a:off x="4647536" y="3347673"/>
            <a:ext cx="189710"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a:t>
            </a:r>
          </a:p>
        </p:txBody>
      </p:sp>
      <p:sp>
        <p:nvSpPr>
          <p:cNvPr id="266" name="ANUARIO_ANEXO_P123_L042"/>
          <p:cNvSpPr txBox="1"/>
          <p:nvPr/>
        </p:nvSpPr>
        <p:spPr>
          <a:xfrm>
            <a:off x="4647536" y="3575948"/>
            <a:ext cx="412843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Noticieros:</a:t>
            </a:r>
            <a:r>
              <a:rPr sz="592" b="0" i="0">
                <a:solidFill>
                  <a:srgbClr val="1F3031"/>
                </a:solidFill>
                <a:latin typeface="Noto Sans"/>
              </a:rPr>
              <a:t> Programación basada en la actualidad informativa nacional e internacional, articulada </a:t>
            </a:r>
          </a:p>
        </p:txBody>
      </p:sp>
      <p:sp>
        <p:nvSpPr>
          <p:cNvPr id="267" name="ANUARIO_ANEXO_P123_L043"/>
          <p:cNvSpPr txBox="1"/>
          <p:nvPr/>
        </p:nvSpPr>
        <p:spPr>
          <a:xfrm>
            <a:off x="4647536" y="3698107"/>
            <a:ext cx="41280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 los géneros tradicionales del periodismo escrito, tales como la nota informativa, el reportaje, la </a:t>
            </a:r>
          </a:p>
        </p:txBody>
      </p:sp>
      <p:sp>
        <p:nvSpPr>
          <p:cNvPr id="268" name="ANUARIO_ANEXO_P123_L044"/>
          <p:cNvSpPr txBox="1"/>
          <p:nvPr/>
        </p:nvSpPr>
        <p:spPr>
          <a:xfrm>
            <a:off x="4647536" y="3819580"/>
            <a:ext cx="41284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 la editorial, entre otros. Generalmente se estructuran en bloques temáticos que buscan </a:t>
            </a:r>
          </a:p>
        </p:txBody>
      </p:sp>
      <p:sp>
        <p:nvSpPr>
          <p:cNvPr id="269" name="ANUARIO_ANEXO_P123_L045"/>
          <p:cNvSpPr txBox="1"/>
          <p:nvPr/>
        </p:nvSpPr>
        <p:spPr>
          <a:xfrm>
            <a:off x="4647536" y="3941055"/>
            <a:ext cx="412796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mantener el interés y eliminar los factores de distracción a los que está expuesto el televidente. </a:t>
            </a:r>
          </a:p>
        </p:txBody>
      </p:sp>
      <p:sp>
        <p:nvSpPr>
          <p:cNvPr id="270" name="ANUARIO_ANEXO_P123_L046"/>
          <p:cNvSpPr txBox="1"/>
          <p:nvPr/>
        </p:nvSpPr>
        <p:spPr>
          <a:xfrm>
            <a:off x="4647536" y="4062528"/>
            <a:ext cx="41280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Dentro de este género se contemplan también aquellos programas de carácter informativo, de </a:t>
            </a:r>
          </a:p>
        </p:txBody>
      </p:sp>
      <p:sp>
        <p:nvSpPr>
          <p:cNvPr id="271" name="ANUARIO_ANEXO_P123_L047"/>
          <p:cNvSpPr txBox="1"/>
          <p:nvPr/>
        </p:nvSpPr>
        <p:spPr>
          <a:xfrm>
            <a:off x="4647536" y="4184003"/>
            <a:ext cx="254053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análisis o reportajes especializados sobre temas específicos.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124</a:t>
            </a:r>
          </a:p>
        </p:txBody>
      </p:sp>
      <p:sp>
        <p:nvSpPr>
          <p:cNvPr id="225" name="ANUARIO_ANEXO_P124_L001"/>
          <p:cNvSpPr txBox="1"/>
          <p:nvPr/>
        </p:nvSpPr>
        <p:spPr>
          <a:xfrm>
            <a:off x="528422" y="656471"/>
            <a:ext cx="1938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a:t>
            </a:r>
          </a:p>
        </p:txBody>
      </p:sp>
      <p:sp>
        <p:nvSpPr>
          <p:cNvPr id="226" name="ANUARIO_ANEXO_P124_L002"/>
          <p:cNvSpPr txBox="1"/>
          <p:nvPr/>
        </p:nvSpPr>
        <p:spPr>
          <a:xfrm>
            <a:off x="528422" y="879387"/>
            <a:ext cx="412837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Operador de telecomunicaciones:</a:t>
            </a:r>
            <a:r>
              <a:rPr sz="640" b="0" i="0">
                <a:solidFill>
                  <a:srgbClr val="1F3031"/>
                </a:solidFill>
                <a:latin typeface="Noto Sans"/>
              </a:rPr>
              <a:t> Persona física o moral titular de una o varias concesiones, </a:t>
            </a:r>
          </a:p>
        </p:txBody>
      </p:sp>
      <p:sp>
        <p:nvSpPr>
          <p:cNvPr id="227" name="ANUARIO_ANEXO_P124_L003"/>
          <p:cNvSpPr txBox="1"/>
          <p:nvPr/>
        </p:nvSpPr>
        <p:spPr>
          <a:xfrm>
            <a:off x="528422" y="996183"/>
            <a:ext cx="41266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autorizaciones, permisos o asignaciones, que lo habilitan para explotar servicios de telecomunicaciones, </a:t>
            </a:r>
          </a:p>
        </p:txBody>
      </p:sp>
      <p:sp>
        <p:nvSpPr>
          <p:cNvPr id="228" name="ANUARIO_ANEXO_P124_L004"/>
          <p:cNvSpPr txBox="1"/>
          <p:nvPr/>
        </p:nvSpPr>
        <p:spPr>
          <a:xfrm>
            <a:off x="528422" y="1112296"/>
            <a:ext cx="2078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espectro radioeléctrico, y/o recursos orbitales.</a:t>
            </a:r>
          </a:p>
        </p:txBody>
      </p:sp>
      <p:sp>
        <p:nvSpPr>
          <p:cNvPr id="229" name="ANUARIO_ANEXO_P124_L005"/>
          <p:cNvSpPr txBox="1"/>
          <p:nvPr/>
        </p:nvSpPr>
        <p:spPr>
          <a:xfrm>
            <a:off x="528422" y="1334528"/>
            <a:ext cx="412851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Over the Top (OTT)</a:t>
            </a:r>
            <a:r>
              <a:rPr sz="640" b="1" i="0">
                <a:solidFill>
                  <a:srgbClr val="1F3031"/>
                </a:solidFill>
                <a:latin typeface="Noto Sans"/>
              </a:rPr>
              <a:t>:</a:t>
            </a:r>
            <a:r>
              <a:rPr sz="640" b="0" i="0">
                <a:solidFill>
                  <a:srgbClr val="1F3031"/>
                </a:solidFill>
                <a:latin typeface="Noto Sans"/>
              </a:rPr>
              <a:t> Se consideran servicios en línea que, según la Unión Internacional de </a:t>
            </a:r>
          </a:p>
        </p:txBody>
      </p:sp>
      <p:sp>
        <p:nvSpPr>
          <p:cNvPr id="230" name="ANUARIO_ANEXO_P124_L006"/>
          <p:cNvSpPr txBox="1"/>
          <p:nvPr/>
        </p:nvSpPr>
        <p:spPr>
          <a:xfrm>
            <a:off x="528422" y="1451324"/>
            <a:ext cx="41284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se pueden considerar sustitutos potenciales de los servicios tradicionales de </a:t>
            </a:r>
          </a:p>
        </p:txBody>
      </p:sp>
      <p:sp>
        <p:nvSpPr>
          <p:cNvPr id="231" name="ANUARIO_ANEXO_P124_L007"/>
          <p:cNvSpPr txBox="1"/>
          <p:nvPr/>
        </p:nvSpPr>
        <p:spPr>
          <a:xfrm>
            <a:off x="528422" y="1567438"/>
            <a:ext cx="20544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y de contenido audiovisual.</a:t>
            </a:r>
          </a:p>
        </p:txBody>
      </p:sp>
      <p:sp>
        <p:nvSpPr>
          <p:cNvPr id="232" name="ANUARIO_ANEXO_P124_L008"/>
          <p:cNvSpPr txBox="1"/>
          <p:nvPr/>
        </p:nvSpPr>
        <p:spPr>
          <a:xfrm>
            <a:off x="528422" y="1789669"/>
            <a:ext cx="17340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t>
            </a:r>
          </a:p>
        </p:txBody>
      </p:sp>
      <p:sp>
        <p:nvSpPr>
          <p:cNvPr id="233" name="ANUARIO_ANEXO_P124_L009"/>
          <p:cNvSpPr txBox="1"/>
          <p:nvPr/>
        </p:nvSpPr>
        <p:spPr>
          <a:xfrm>
            <a:off x="528422" y="2012584"/>
            <a:ext cx="412841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Partidos Políticos:</a:t>
            </a:r>
            <a:r>
              <a:rPr sz="640" b="0" i="0">
                <a:solidFill>
                  <a:srgbClr val="1F3031"/>
                </a:solidFill>
                <a:latin typeface="Noto Sans"/>
              </a:rPr>
              <a:t> Programa cuyo contenido es la presentación o difusión de los mensajes y/o </a:t>
            </a:r>
          </a:p>
        </p:txBody>
      </p:sp>
      <p:sp>
        <p:nvSpPr>
          <p:cNvPr id="234" name="ANUARIO_ANEXO_P124_L010"/>
          <p:cNvSpPr txBox="1"/>
          <p:nvPr/>
        </p:nvSpPr>
        <p:spPr>
          <a:xfrm>
            <a:off x="528422" y="2129381"/>
            <a:ext cx="41279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actividades de los diferentes partidos políticos registrados. Las identificaciones de la producción </a:t>
            </a:r>
          </a:p>
        </p:txBody>
      </p:sp>
      <p:sp>
        <p:nvSpPr>
          <p:cNvPr id="235" name="ANUARIO_ANEXO_P124_L011"/>
          <p:cNvSpPr txBox="1"/>
          <p:nvPr/>
        </p:nvSpPr>
        <p:spPr>
          <a:xfrm>
            <a:off x="528422" y="2245493"/>
            <a:ext cx="23246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pueden presentar a una o varias asociaciones políticas.</a:t>
            </a:r>
          </a:p>
        </p:txBody>
      </p:sp>
      <p:sp>
        <p:nvSpPr>
          <p:cNvPr id="236" name="ANUARIO_ANEXO_P124_L012"/>
          <p:cNvSpPr txBox="1"/>
          <p:nvPr/>
        </p:nvSpPr>
        <p:spPr>
          <a:xfrm>
            <a:off x="528422" y="2467725"/>
            <a:ext cx="41276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Películas:</a:t>
            </a:r>
            <a:r>
              <a:rPr sz="640" b="0" i="0">
                <a:solidFill>
                  <a:srgbClr val="1F3031"/>
                </a:solidFill>
                <a:latin typeface="Noto Sans"/>
              </a:rPr>
              <a:t> Producción genérica al nombre. Normalmente es realizada para el cine o, y se transmite </a:t>
            </a:r>
          </a:p>
        </p:txBody>
      </p:sp>
      <p:sp>
        <p:nvSpPr>
          <p:cNvPr id="237" name="ANUARIO_ANEXO_P124_L013"/>
          <p:cNvSpPr txBox="1"/>
          <p:nvPr/>
        </p:nvSpPr>
        <p:spPr>
          <a:xfrm>
            <a:off x="528422" y="2584522"/>
            <a:ext cx="41279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televisión. En este caso, se incluyen las producciones nacionales y extranjeras. En este género no </a:t>
            </a:r>
          </a:p>
        </p:txBody>
      </p:sp>
      <p:sp>
        <p:nvSpPr>
          <p:cNvPr id="238" name="ANUARIO_ANEXO_P124_L014"/>
          <p:cNvSpPr txBox="1"/>
          <p:nvPr/>
        </p:nvSpPr>
        <p:spPr>
          <a:xfrm>
            <a:off x="528422" y="2700635"/>
            <a:ext cx="355428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está contemplado el cine documental de carácter didáctico o que incluya entrevistas.</a:t>
            </a:r>
          </a:p>
        </p:txBody>
      </p:sp>
      <p:sp>
        <p:nvSpPr>
          <p:cNvPr id="239" name="ANUARIO_ANEXO_P124_L015"/>
          <p:cNvSpPr txBox="1"/>
          <p:nvPr/>
        </p:nvSpPr>
        <p:spPr>
          <a:xfrm>
            <a:off x="528422" y="2922866"/>
            <a:ext cx="41282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Producto Interno Bruto (PIB):</a:t>
            </a:r>
            <a:r>
              <a:rPr sz="640" b="0" i="0">
                <a:solidFill>
                  <a:srgbClr val="1F3031"/>
                </a:solidFill>
                <a:latin typeface="Noto Sans"/>
              </a:rPr>
              <a:t> Indica el valor de la producción de bienes y servicios de un país durante </a:t>
            </a:r>
          </a:p>
        </p:txBody>
      </p:sp>
      <p:sp>
        <p:nvSpPr>
          <p:cNvPr id="240" name="ANUARIO_ANEXO_P124_L016"/>
          <p:cNvSpPr txBox="1"/>
          <p:nvPr/>
        </p:nvSpPr>
        <p:spPr>
          <a:xfrm>
            <a:off x="528422" y="3039663"/>
            <a:ext cx="36184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 determinado periodo. En este documento se presenta a precios constantes de 2018.</a:t>
            </a:r>
          </a:p>
        </p:txBody>
      </p:sp>
      <p:sp>
        <p:nvSpPr>
          <p:cNvPr id="241" name="ANUARIO_ANEXO_P124_L017"/>
          <p:cNvSpPr txBox="1"/>
          <p:nvPr/>
        </p:nvSpPr>
        <p:spPr>
          <a:xfrm>
            <a:off x="528422" y="3261894"/>
            <a:ext cx="412837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controlado:</a:t>
            </a:r>
            <a:r>
              <a:rPr sz="640" b="0" i="0">
                <a:solidFill>
                  <a:srgbClr val="1F3031"/>
                </a:solidFill>
                <a:latin typeface="Noto Sans"/>
              </a:rPr>
              <a:t> Esquema de contratación mediante el cual el suscriptor paga servicios de </a:t>
            </a:r>
          </a:p>
        </p:txBody>
      </p:sp>
      <p:sp>
        <p:nvSpPr>
          <p:cNvPr id="242" name="ANUARIO_ANEXO_P124_L018"/>
          <p:cNvSpPr txBox="1"/>
          <p:nvPr/>
        </p:nvSpPr>
        <p:spPr>
          <a:xfrm>
            <a:off x="528422" y="3378691"/>
            <a:ext cx="39000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su utilización y no se permite recargas adicionales.</a:t>
            </a:r>
          </a:p>
        </p:txBody>
      </p:sp>
      <p:sp>
        <p:nvSpPr>
          <p:cNvPr id="243" name="ANUARIO_ANEXO_P124_L019"/>
          <p:cNvSpPr txBox="1"/>
          <p:nvPr/>
        </p:nvSpPr>
        <p:spPr>
          <a:xfrm>
            <a:off x="528422" y="360092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libre:</a:t>
            </a:r>
            <a:r>
              <a:rPr sz="640" b="0" i="0">
                <a:solidFill>
                  <a:srgbClr val="1F3031"/>
                </a:solidFill>
                <a:latin typeface="Noto Sans"/>
              </a:rPr>
              <a:t> Esquema de contratación mediante el cual el suscriptor paga servicios de </a:t>
            </a:r>
          </a:p>
        </p:txBody>
      </p:sp>
      <p:sp>
        <p:nvSpPr>
          <p:cNvPr id="244" name="ANUARIO_ANEXO_P124_L020"/>
          <p:cNvSpPr txBox="1"/>
          <p:nvPr/>
        </p:nvSpPr>
        <p:spPr>
          <a:xfrm>
            <a:off x="528422" y="3717719"/>
            <a:ext cx="41078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inicialmente de pospago, pero permite realizar recargas adicionales (prepago).</a:t>
            </a:r>
          </a:p>
        </p:txBody>
      </p:sp>
      <p:sp>
        <p:nvSpPr>
          <p:cNvPr id="245" name="ANUARIO_ANEXO_P124_L021"/>
          <p:cNvSpPr txBox="1"/>
          <p:nvPr/>
        </p:nvSpPr>
        <p:spPr>
          <a:xfrm>
            <a:off x="528422" y="3939950"/>
            <a:ext cx="412789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a:t>
            </a:r>
            <a:r>
              <a:rPr sz="640" b="0" i="0">
                <a:solidFill>
                  <a:srgbClr val="1F3031"/>
                </a:solidFill>
                <a:latin typeface="Noto Sans"/>
              </a:rPr>
              <a:t> Esquema de contratación mediante el cual el suscriptor paga servicios de </a:t>
            </a:r>
          </a:p>
        </p:txBody>
      </p:sp>
      <p:sp>
        <p:nvSpPr>
          <p:cNvPr id="246" name="ANUARIO_ANEXO_P124_L022"/>
          <p:cNvSpPr txBox="1"/>
          <p:nvPr/>
        </p:nvSpPr>
        <p:spPr>
          <a:xfrm>
            <a:off x="528422" y="4056747"/>
            <a:ext cx="30735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la utilización de los mismos. </a:t>
            </a:r>
          </a:p>
        </p:txBody>
      </p:sp>
      <p:sp>
        <p:nvSpPr>
          <p:cNvPr id="247" name="ANUARIO_ANEXO_P124_L023"/>
          <p:cNvSpPr txBox="1"/>
          <p:nvPr/>
        </p:nvSpPr>
        <p:spPr>
          <a:xfrm>
            <a:off x="528422" y="4278978"/>
            <a:ext cx="412825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Prepago:</a:t>
            </a:r>
            <a:r>
              <a:rPr sz="640" b="0" i="0">
                <a:solidFill>
                  <a:srgbClr val="1F3031"/>
                </a:solidFill>
                <a:latin typeface="Noto Sans"/>
              </a:rPr>
              <a:t> Esquema de contratación mediante el cual el suscriptor paga servicios de </a:t>
            </a:r>
          </a:p>
        </p:txBody>
      </p:sp>
      <p:sp>
        <p:nvSpPr>
          <p:cNvPr id="248" name="ANUARIO_ANEXO_P124_L024"/>
          <p:cNvSpPr txBox="1"/>
          <p:nvPr/>
        </p:nvSpPr>
        <p:spPr>
          <a:xfrm>
            <a:off x="528422" y="4395775"/>
            <a:ext cx="31278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anticipada a la utilización de los mismos. </a:t>
            </a:r>
          </a:p>
        </p:txBody>
      </p:sp>
      <p:sp>
        <p:nvSpPr>
          <p:cNvPr id="249" name="ANUARIO_ANEXO_P124_L025"/>
          <p:cNvSpPr txBox="1"/>
          <p:nvPr/>
        </p:nvSpPr>
        <p:spPr>
          <a:xfrm>
            <a:off x="4647536" y="656471"/>
            <a:ext cx="17643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a:t>
            </a:r>
          </a:p>
        </p:txBody>
      </p:sp>
      <p:sp>
        <p:nvSpPr>
          <p:cNvPr id="250" name="ANUARIO_ANEXO_P124_L026"/>
          <p:cNvSpPr txBox="1"/>
          <p:nvPr/>
        </p:nvSpPr>
        <p:spPr>
          <a:xfrm>
            <a:off x="4647536" y="870075"/>
            <a:ext cx="412789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Rating</a:t>
            </a:r>
            <a:r>
              <a:rPr sz="640" b="1" i="0">
                <a:solidFill>
                  <a:srgbClr val="1F3031"/>
                </a:solidFill>
                <a:latin typeface="Noto Sans"/>
              </a:rPr>
              <a:t> (rat%):</a:t>
            </a:r>
            <a:r>
              <a:rPr sz="640" b="0" i="0">
                <a:solidFill>
                  <a:srgbClr val="1F3031"/>
                </a:solidFill>
                <a:latin typeface="Noto Sans"/>
              </a:rPr>
              <a:t> Porcentaje de hogares o personas que estuvieron viendo la televisión en un canal/ </a:t>
            </a:r>
          </a:p>
        </p:txBody>
      </p:sp>
      <p:sp>
        <p:nvSpPr>
          <p:cNvPr id="251" name="ANUARIO_ANEXO_P124_L027"/>
          <p:cNvSpPr txBox="1"/>
          <p:nvPr/>
        </p:nvSpPr>
        <p:spPr>
          <a:xfrm>
            <a:off x="4647536" y="977561"/>
            <a:ext cx="20530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estación en un periodo de tiempo determinado.</a:t>
            </a:r>
          </a:p>
        </p:txBody>
      </p:sp>
      <p:sp>
        <p:nvSpPr>
          <p:cNvPr id="252" name="ANUARIO_ANEXO_P124_L028"/>
          <p:cNvSpPr txBox="1"/>
          <p:nvPr/>
        </p:nvSpPr>
        <p:spPr>
          <a:xfrm>
            <a:off x="4647536" y="1190481"/>
            <a:ext cx="4128573"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Reality Show</a:t>
            </a:r>
            <a:r>
              <a:rPr sz="640" b="1" i="0">
                <a:solidFill>
                  <a:srgbClr val="1F3031"/>
                </a:solidFill>
                <a:latin typeface="Noto Sans"/>
              </a:rPr>
              <a:t>:</a:t>
            </a:r>
            <a:r>
              <a:rPr sz="640" b="0" i="0">
                <a:solidFill>
                  <a:srgbClr val="1F3031"/>
                </a:solidFill>
                <a:latin typeface="Noto Sans"/>
              </a:rPr>
              <a:t> También conocidos como Televisión Real, es un género televisivo en donde un </a:t>
            </a:r>
          </a:p>
        </p:txBody>
      </p:sp>
      <p:sp>
        <p:nvSpPr>
          <p:cNvPr id="253" name="ANUARIO_ANEXO_P124_L029"/>
          <p:cNvSpPr txBox="1"/>
          <p:nvPr/>
        </p:nvSpPr>
        <p:spPr>
          <a:xfrm>
            <a:off x="4647536" y="1297966"/>
            <a:ext cx="41280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grupo de personas –comunes o famosas- permite que sus vidas sean grabadas durante un periodo </a:t>
            </a:r>
          </a:p>
        </p:txBody>
      </p:sp>
      <p:sp>
        <p:nvSpPr>
          <p:cNvPr id="254" name="ANUARIO_ANEXO_P124_L030"/>
          <p:cNvSpPr txBox="1"/>
          <p:nvPr/>
        </p:nvSpPr>
        <p:spPr>
          <a:xfrm>
            <a:off x="4647536" y="1404768"/>
            <a:ext cx="41279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determinado. Generalmente se encuentran en un sitio común, sin importar su locación, y pueden o </a:t>
            </a:r>
          </a:p>
        </p:txBody>
      </p:sp>
      <p:sp>
        <p:nvSpPr>
          <p:cNvPr id="255" name="ANUARIO_ANEXO_P124_L031"/>
          <p:cNvSpPr txBox="1"/>
          <p:nvPr/>
        </p:nvSpPr>
        <p:spPr>
          <a:xfrm>
            <a:off x="4647536" y="1511570"/>
            <a:ext cx="16087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no estar compitiendo por un premio.</a:t>
            </a:r>
          </a:p>
        </p:txBody>
      </p:sp>
      <p:sp>
        <p:nvSpPr>
          <p:cNvPr id="256" name="ANUARIO_ANEXO_P124_L032"/>
          <p:cNvSpPr txBox="1"/>
          <p:nvPr/>
        </p:nvSpPr>
        <p:spPr>
          <a:xfrm>
            <a:off x="4647536" y="1724491"/>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Religión:</a:t>
            </a:r>
            <a:r>
              <a:rPr sz="640" b="0" i="0">
                <a:solidFill>
                  <a:srgbClr val="1F3031"/>
                </a:solidFill>
                <a:latin typeface="Noto Sans"/>
              </a:rPr>
              <a:t> Programas de contenido estrictamente religioso, tales como misas, retiros y coberturas de </a:t>
            </a:r>
          </a:p>
        </p:txBody>
      </p:sp>
      <p:sp>
        <p:nvSpPr>
          <p:cNvPr id="257" name="ANUARIO_ANEXO_P124_L033"/>
          <p:cNvSpPr txBox="1"/>
          <p:nvPr/>
        </p:nvSpPr>
        <p:spPr>
          <a:xfrm>
            <a:off x="4647536" y="1831976"/>
            <a:ext cx="41282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visitas pastorales. En este género no están incluidos programas de reportaje que, en un capítulo en </a:t>
            </a:r>
          </a:p>
        </p:txBody>
      </p:sp>
      <p:sp>
        <p:nvSpPr>
          <p:cNvPr id="258" name="ANUARIO_ANEXO_P124_L034"/>
          <p:cNvSpPr txBox="1"/>
          <p:nvPr/>
        </p:nvSpPr>
        <p:spPr>
          <a:xfrm>
            <a:off x="4647536" y="1938778"/>
            <a:ext cx="16569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 aborden un tema religioso.</a:t>
            </a:r>
          </a:p>
        </p:txBody>
      </p:sp>
      <p:sp>
        <p:nvSpPr>
          <p:cNvPr id="259" name="ANUARIO_ANEXO_P124_L035"/>
          <p:cNvSpPr txBox="1"/>
          <p:nvPr/>
        </p:nvSpPr>
        <p:spPr>
          <a:xfrm>
            <a:off x="4647536" y="2151698"/>
            <a:ext cx="17055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a:t>
            </a:r>
          </a:p>
        </p:txBody>
      </p:sp>
      <p:sp>
        <p:nvSpPr>
          <p:cNvPr id="260" name="ANUARIO_ANEXO_P124_L036"/>
          <p:cNvSpPr txBox="1"/>
          <p:nvPr/>
        </p:nvSpPr>
        <p:spPr>
          <a:xfrm>
            <a:off x="4647536" y="2365302"/>
            <a:ext cx="412787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Series:</a:t>
            </a:r>
            <a:r>
              <a:rPr sz="640" b="0" i="0">
                <a:solidFill>
                  <a:srgbClr val="1F3031"/>
                </a:solidFill>
                <a:latin typeface="Noto Sans"/>
              </a:rPr>
              <a:t> Formato presentado en emisiones sucesivas, que individualmente mantienen una unidad </a:t>
            </a:r>
          </a:p>
        </p:txBody>
      </p:sp>
      <p:sp>
        <p:nvSpPr>
          <p:cNvPr id="261" name="ANUARIO_ANEXO_P124_L037"/>
          <p:cNvSpPr txBox="1"/>
          <p:nvPr/>
        </p:nvSpPr>
        <p:spPr>
          <a:xfrm>
            <a:off x="4647536" y="2472788"/>
            <a:ext cx="412849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argumental en sí misma, aunque presentan continuidad, al menos temática, entre los diferentes </a:t>
            </a:r>
          </a:p>
        </p:txBody>
      </p:sp>
      <p:sp>
        <p:nvSpPr>
          <p:cNvPr id="262" name="ANUARIO_ANEXO_P124_L038"/>
          <p:cNvSpPr txBox="1"/>
          <p:nvPr/>
        </p:nvSpPr>
        <p:spPr>
          <a:xfrm>
            <a:off x="4647536" y="2579590"/>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episodios que la integran. Incluye diferentes subgéneros, como la ficción, acción, suspenso, comedia, </a:t>
            </a:r>
          </a:p>
        </p:txBody>
      </p:sp>
      <p:sp>
        <p:nvSpPr>
          <p:cNvPr id="263" name="ANUARIO_ANEXO_P124_L039"/>
          <p:cNvSpPr txBox="1"/>
          <p:nvPr/>
        </p:nvSpPr>
        <p:spPr>
          <a:xfrm>
            <a:off x="4647536" y="2686392"/>
            <a:ext cx="41278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etcétera. Bajo este género se pueden encontrar tanto producciones nacionales como extranjeras. </a:t>
            </a:r>
          </a:p>
        </p:txBody>
      </p:sp>
      <p:sp>
        <p:nvSpPr>
          <p:cNvPr id="264" name="ANUARIO_ANEXO_P124_L040"/>
          <p:cNvSpPr txBox="1"/>
          <p:nvPr/>
        </p:nvSpPr>
        <p:spPr>
          <a:xfrm>
            <a:off x="4647536" y="2793193"/>
            <a:ext cx="22002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miniseries también se agrupan en este formato.</a:t>
            </a:r>
          </a:p>
        </p:txBody>
      </p:sp>
      <p:sp>
        <p:nvSpPr>
          <p:cNvPr id="265" name="ANUARIO_ANEXO_P124_L041"/>
          <p:cNvSpPr txBox="1"/>
          <p:nvPr/>
        </p:nvSpPr>
        <p:spPr>
          <a:xfrm>
            <a:off x="4647536" y="3006114"/>
            <a:ext cx="41282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de televisión restringida:</a:t>
            </a:r>
            <a:r>
              <a:rPr sz="640" b="0" i="0">
                <a:solidFill>
                  <a:srgbClr val="1F3031"/>
                </a:solidFill>
                <a:latin typeface="Noto Sans"/>
              </a:rPr>
              <a:t> Servicio de telecomunicaciones de audio, o de audio y video </a:t>
            </a:r>
          </a:p>
        </p:txBody>
      </p:sp>
      <p:sp>
        <p:nvSpPr>
          <p:cNvPr id="266" name="ANUARIO_ANEXO_P124_L042"/>
          <p:cNvSpPr txBox="1"/>
          <p:nvPr/>
        </p:nvSpPr>
        <p:spPr>
          <a:xfrm>
            <a:off x="4647536" y="3113600"/>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asociados, que se presta a suscriptores, a través de redes públicas de telecomunicaciones, mediante </a:t>
            </a:r>
          </a:p>
        </p:txBody>
      </p:sp>
      <p:sp>
        <p:nvSpPr>
          <p:cNvPr id="267" name="ANUARIO_ANEXO_P124_L043"/>
          <p:cNvSpPr txBox="1"/>
          <p:nvPr/>
        </p:nvSpPr>
        <p:spPr>
          <a:xfrm>
            <a:off x="4647536" y="3220401"/>
            <a:ext cx="41284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contrato y el pago periódico de una cantidad preestablecida. Este servicio se mide en número de </a:t>
            </a:r>
          </a:p>
        </p:txBody>
      </p:sp>
      <p:sp>
        <p:nvSpPr>
          <p:cNvPr id="268" name="ANUARIO_ANEXO_P124_L044"/>
          <p:cNvSpPr txBox="1"/>
          <p:nvPr/>
        </p:nvSpPr>
        <p:spPr>
          <a:xfrm>
            <a:off x="4647536" y="3327203"/>
            <a:ext cx="4572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accesos.</a:t>
            </a:r>
          </a:p>
        </p:txBody>
      </p:sp>
      <p:sp>
        <p:nvSpPr>
          <p:cNvPr id="269" name="ANUARIO_ANEXO_P124_L045"/>
          <p:cNvSpPr txBox="1"/>
          <p:nvPr/>
        </p:nvSpPr>
        <p:spPr>
          <a:xfrm>
            <a:off x="4647536" y="3540123"/>
            <a:ext cx="41282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acceso a Internet:</a:t>
            </a:r>
            <a:r>
              <a:rPr sz="640" b="0" i="0">
                <a:solidFill>
                  <a:srgbClr val="1F3031"/>
                </a:solidFill>
                <a:latin typeface="Noto Sans"/>
              </a:rPr>
              <a:t> Mediante este servicio un operador provee el acceso por el cual </a:t>
            </a:r>
          </a:p>
        </p:txBody>
      </p:sp>
      <p:sp>
        <p:nvSpPr>
          <p:cNvPr id="270" name="ANUARIO_ANEXO_P124_L046"/>
          <p:cNvSpPr txBox="1"/>
          <p:nvPr/>
        </p:nvSpPr>
        <p:spPr>
          <a:xfrm>
            <a:off x="4647536" y="3647609"/>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presta el servicio de transferencia de datos a través de equipos terminales que tienen una ubicación </a:t>
            </a:r>
          </a:p>
        </p:txBody>
      </p:sp>
      <p:sp>
        <p:nvSpPr>
          <p:cNvPr id="271" name="ANUARIO_ANEXO_P124_L047"/>
          <p:cNvSpPr txBox="1"/>
          <p:nvPr/>
        </p:nvSpPr>
        <p:spPr>
          <a:xfrm>
            <a:off x="4647536" y="3754411"/>
            <a:ext cx="29174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Este servicio se mide en número de accesos.</a:t>
            </a:r>
          </a:p>
        </p:txBody>
      </p:sp>
      <p:sp>
        <p:nvSpPr>
          <p:cNvPr id="272" name="ANUARIO_ANEXO_P124_L048"/>
          <p:cNvSpPr txBox="1"/>
          <p:nvPr/>
        </p:nvSpPr>
        <p:spPr>
          <a:xfrm>
            <a:off x="4647536" y="3967331"/>
            <a:ext cx="412814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telefonía:</a:t>
            </a:r>
            <a:r>
              <a:rPr sz="640" b="0" i="0">
                <a:solidFill>
                  <a:srgbClr val="1F3031"/>
                </a:solidFill>
                <a:latin typeface="Noto Sans"/>
              </a:rPr>
              <a:t> Mediante este servicio un operador provee el acceso por el cual presta el </a:t>
            </a:r>
          </a:p>
        </p:txBody>
      </p:sp>
      <p:sp>
        <p:nvSpPr>
          <p:cNvPr id="273" name="ANUARIO_ANEXO_P124_L049"/>
          <p:cNvSpPr txBox="1"/>
          <p:nvPr/>
        </p:nvSpPr>
        <p:spPr>
          <a:xfrm>
            <a:off x="4647536" y="4074817"/>
            <a:ext cx="4127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servicio de transporte de voz, a través de equipos terminales que tienen una ubicación geográfica </a:t>
            </a:r>
          </a:p>
        </p:txBody>
      </p:sp>
      <p:sp>
        <p:nvSpPr>
          <p:cNvPr id="274" name="ANUARIO_ANEXO_P124_L050"/>
          <p:cNvSpPr txBox="1"/>
          <p:nvPr/>
        </p:nvSpPr>
        <p:spPr>
          <a:xfrm>
            <a:off x="4647536" y="4181619"/>
            <a:ext cx="41279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permite, además de efectuar y recibir llamadas locales y/o de larga </a:t>
            </a:r>
          </a:p>
        </p:txBody>
      </p:sp>
      <p:sp>
        <p:nvSpPr>
          <p:cNvPr id="275" name="ANUARIO_ANEXO_P124_L051"/>
          <p:cNvSpPr txBox="1"/>
          <p:nvPr/>
        </p:nvSpPr>
        <p:spPr>
          <a:xfrm>
            <a:off x="4647536" y="4288421"/>
            <a:ext cx="41283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hacer uso de una serie de servicios adicionales tales como acceso a servicios </a:t>
            </a:r>
          </a:p>
        </p:txBody>
      </p:sp>
      <p:sp>
        <p:nvSpPr>
          <p:cNvPr id="276" name="ANUARIO_ANEXO_P124_L052"/>
          <p:cNvSpPr txBox="1"/>
          <p:nvPr/>
        </p:nvSpPr>
        <p:spPr>
          <a:xfrm>
            <a:off x="4647536" y="4395223"/>
            <a:ext cx="35891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emergencia o servicios suplementarios, entre otros. Este servicio se mide en líneas.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2" name="ANUARIO_ANEXO_II_STU_DESIGN_2026"/>
          <p:cNvSpPr/>
          <p:nvPr/>
        </p:nvSpPr>
        <p:spPr>
          <a:xfrm>
            <a:off x="0" y="0"/>
            <a:ext cx="9144000" cy="457200"/>
          </a:xfrm>
          <a:prstGeom prst="rect">
            <a:avLst/>
          </a:prstGeom>
          <a:solidFill>
            <a:srgbClr val="13393A"/>
          </a:solidFill>
          <a:ln w="12700">
            <a:solidFill>
              <a:srgbClr val="13393A"/>
            </a:solidFill>
            <a:prstDash val="solid"/>
          </a:ln>
        </p:spPr>
      </p:sp>
      <p:sp>
        <p:nvSpPr>
          <p:cNvPr id="3" name="Text 1"/>
          <p:cNvSpPr txBox="1"/>
          <p:nvPr/>
        </p:nvSpPr>
        <p:spPr>
          <a:xfrm>
            <a:off x="301752" y="64008"/>
            <a:ext cx="4572000" cy="329184"/>
          </a:xfrm>
          <a:prstGeom prst="rect">
            <a:avLst/>
          </a:prstGeom>
          <a:noFill/>
          <a:ln/>
        </p:spPr>
        <p:txBody>
          <a:bodyPr wrap="square" lIns="0" tIns="0" rIns="0" bIns="0" rtlCol="0" anchor="ctr"/>
          <a:lstStyle/>
          <a:p>
            <a:pPr indent="0" marL="0">
              <a:buNone/>
            </a:pPr>
            <a:r>
              <a:rPr lang="en-US" sz="1700" b="1" dirty="0">
                <a:solidFill>
                  <a:srgbClr val="FFFFFF"/>
                </a:solidFill>
                <a:latin typeface="DejaVu Sans" pitchFamily="34" charset="0"/>
                <a:ea typeface="DejaVu Sans" pitchFamily="34" charset="-122"/>
                <a:cs typeface="DejaVu Sans" pitchFamily="34" charset="-120"/>
              </a:rPr>
              <a:t>ANEXO II. DEFINICIONES</a:t>
            </a:r>
            <a:endParaRPr lang="en-US" sz="1700" dirty="0"/>
          </a:p>
        </p:txBody>
      </p:sp>
      <p:sp>
        <p:nvSpPr>
          <p:cNvPr id="4" name="Text 2"/>
          <p:cNvSpPr txBox="1"/>
          <p:nvPr/>
        </p:nvSpPr>
        <p:spPr>
          <a:xfrm>
            <a:off x="4846320" y="64008"/>
            <a:ext cx="2743200" cy="329184"/>
          </a:xfrm>
          <a:prstGeom prst="rect">
            <a:avLst/>
          </a:prstGeom>
          <a:noFill/>
          <a:ln/>
        </p:spPr>
        <p:txBody>
          <a:bodyPr wrap="square" lIns="0" tIns="0" rIns="0" bIns="0" rtlCol="0" anchor="ctr"/>
          <a:lstStyle/>
          <a:p>
            <a:pPr algn="r" indent="0" marL="0">
              <a:buNone/>
            </a:pPr>
            <a:r>
              <a:rPr lang="en-US" sz="650" dirty="0">
                <a:solidFill>
                  <a:srgbClr val="D5E4E1"/>
                </a:solidFill>
                <a:latin typeface="DejaVu Sans" pitchFamily="34" charset="0"/>
                <a:ea typeface="DejaVu Sans" pitchFamily="34" charset="-122"/>
                <a:cs typeface="DejaVu Sans" pitchFamily="34" charset="-120"/>
              </a:rPr>
              <a:t>Para consultar información con mayor desagregación, visita
</a:t>
            </a:r>
            <a:pPr algn="r" indent="0" marL="0">
              <a:buNone/>
            </a:pPr>
            <a:r>
              <a:rPr lang="en-US" sz="750" b="1" dirty="0">
                <a:solidFill>
                  <a:srgbClr val="FFFFFF"/>
                </a:solidFill>
                <a:latin typeface="DejaVu Sans" pitchFamily="34" charset="0"/>
                <a:ea typeface="DejaVu Sans" pitchFamily="34" charset="-122"/>
                <a:cs typeface="DejaVu Sans" pitchFamily="34" charset="-120"/>
              </a:rPr>
              <a:t>BIT CRT · bit.crt.gob.mx/BitWebApp</a:t>
            </a:r>
            <a:endParaRPr lang="en-US" sz="650" dirty="0"/>
          </a:p>
        </p:txBody>
      </p:sp>
      <p:sp>
        <p:nvSpPr>
          <p:cNvPr id="5" name="Shape 3"/>
          <p:cNvSpPr/>
          <p:nvPr/>
        </p:nvSpPr>
        <p:spPr>
          <a:xfrm>
            <a:off x="7680960" y="45720"/>
            <a:ext cx="365760" cy="365760"/>
          </a:xfrm>
          <a:prstGeom prst="roundRect">
            <a:avLst>
              <a:gd name="adj" fmla="val 10000"/>
            </a:avLst>
          </a:prstGeom>
          <a:solidFill>
            <a:srgbClr val="FFFFFF"/>
          </a:solidFill>
          <a:ln w="12700">
            <a:solidFill>
              <a:srgbClr val="FFFFFF"/>
            </a:solidFill>
            <a:prstDash val="solid"/>
          </a:ln>
        </p:spPr>
      </p:sp>
      <p:sp>
        <p:nvSpPr>
          <p:cNvPr id="6" name="Text 4"/>
          <p:cNvSpPr txBox="1"/>
          <p:nvPr/>
        </p:nvSpPr>
        <p:spPr>
          <a:xfrm>
            <a:off x="8138160" y="64008"/>
            <a:ext cx="731520" cy="329184"/>
          </a:xfrm>
          <a:prstGeom prst="rect">
            <a:avLst/>
          </a:prstGeom>
          <a:noFill/>
          <a:ln/>
        </p:spPr>
        <p:txBody>
          <a:bodyPr wrap="square" lIns="0" tIns="0" rIns="0" bIns="0" rtlCol="0" anchor="ctr"/>
          <a:lstStyle/>
          <a:p>
            <a:pPr algn="r" indent="0" marL="0">
              <a:buNone/>
            </a:pPr>
            <a:r>
              <a:rPr lang="en-US" sz="1500" b="1" dirty="0">
                <a:solidFill>
                  <a:srgbClr val="FFFFFF"/>
                </a:solidFill>
                <a:latin typeface="DejaVu Sans" pitchFamily="34" charset="0"/>
                <a:ea typeface="DejaVu Sans" pitchFamily="34" charset="-122"/>
                <a:cs typeface="DejaVu Sans" pitchFamily="34" charset="-120"/>
              </a:rPr>
              <a:t>CRT</a:t>
            </a:r>
            <a:endParaRPr lang="en-US" sz="1500" dirty="0"/>
          </a:p>
        </p:txBody>
      </p:sp>
      <p:sp>
        <p:nvSpPr>
          <p:cNvPr id="7" name="Shape 5"/>
          <p:cNvSpPr/>
          <p:nvPr/>
        </p:nvSpPr>
        <p:spPr>
          <a:xfrm>
            <a:off x="0" y="4937760"/>
            <a:ext cx="9144000" cy="205740"/>
          </a:xfrm>
          <a:prstGeom prst="rect">
            <a:avLst/>
          </a:prstGeom>
          <a:solidFill>
            <a:srgbClr val="1A4043"/>
          </a:solidFill>
          <a:ln w="12700">
            <a:solidFill>
              <a:srgbClr val="1A4043"/>
            </a:solidFill>
            <a:prstDash val="solid"/>
          </a:ln>
        </p:spPr>
      </p:sp>
      <p:sp>
        <p:nvSpPr>
          <p:cNvPr id="8" name="Text 6"/>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125</a:t>
            </a:r>
            <a:endParaRPr lang="en-US" sz="700" dirty="0"/>
          </a:p>
        </p:txBody>
      </p:sp>
      <p:sp>
        <p:nvSpPr>
          <p:cNvPr id="9" name="Text 7"/>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
        <p:nvSpPr>
          <p:cNvPr id="10" name="Shape 8"/>
          <p:cNvSpPr/>
          <p:nvPr/>
        </p:nvSpPr>
        <p:spPr>
          <a:xfrm>
            <a:off x="301752" y="566928"/>
            <a:ext cx="4178808" cy="1920240"/>
          </a:xfrm>
          <a:prstGeom prst="roundRect">
            <a:avLst>
              <a:gd name="adj" fmla="val 2857"/>
            </a:avLst>
          </a:prstGeom>
          <a:solidFill>
            <a:srgbClr val="F6FAF9"/>
          </a:solidFill>
          <a:ln w="9525">
            <a:solidFill>
              <a:srgbClr val="C9DAD6"/>
            </a:solidFill>
            <a:prstDash val="solid"/>
          </a:ln>
        </p:spPr>
      </p:sp>
      <p:sp>
        <p:nvSpPr>
          <p:cNvPr id="11" name="Shape 9"/>
          <p:cNvSpPr/>
          <p:nvPr/>
        </p:nvSpPr>
        <p:spPr>
          <a:xfrm>
            <a:off x="301752" y="640080"/>
            <a:ext cx="64008" cy="1773936"/>
          </a:xfrm>
          <a:prstGeom prst="rect">
            <a:avLst/>
          </a:prstGeom>
          <a:solidFill>
            <a:srgbClr val="2F7F6F"/>
          </a:solidFill>
          <a:ln w="12700">
            <a:solidFill>
              <a:srgbClr val="2F7F6F"/>
            </a:solidFill>
            <a:prstDash val="solid"/>
          </a:ln>
        </p:spPr>
      </p:sp>
      <p:sp>
        <p:nvSpPr>
          <p:cNvPr id="12" name="Shape 10"/>
          <p:cNvSpPr/>
          <p:nvPr/>
        </p:nvSpPr>
        <p:spPr>
          <a:xfrm>
            <a:off x="466344" y="640080"/>
            <a:ext cx="201168" cy="201168"/>
          </a:xfrm>
          <a:prstGeom prst="roundRect">
            <a:avLst>
              <a:gd name="adj" fmla="val 18182"/>
            </a:avLst>
          </a:prstGeom>
          <a:solidFill>
            <a:srgbClr val="1A4043"/>
          </a:solidFill>
          <a:ln w="12700">
            <a:solidFill>
              <a:srgbClr val="1A4043"/>
            </a:solidFill>
            <a:prstDash val="solid"/>
          </a:ln>
        </p:spPr>
      </p:sp>
      <p:sp>
        <p:nvSpPr>
          <p:cNvPr id="13" name="Text 11"/>
          <p:cNvSpPr txBox="1"/>
          <p:nvPr/>
        </p:nvSpPr>
        <p:spPr>
          <a:xfrm>
            <a:off x="466344"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S</a:t>
            </a:r>
            <a:endParaRPr lang="en-US" sz="900" dirty="0"/>
          </a:p>
        </p:txBody>
      </p:sp>
      <p:sp>
        <p:nvSpPr>
          <p:cNvPr id="14" name="Text 12"/>
          <p:cNvSpPr txBox="1"/>
          <p:nvPr/>
        </p:nvSpPr>
        <p:spPr>
          <a:xfrm>
            <a:off x="466344" y="868680"/>
            <a:ext cx="3904488" cy="155448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fijo: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mientras el Equipo Terminal se encuentra sin movilidad, o con movilidad limitada a un área geográfica determinada por el Operador, independientemente de su Cobertura.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acceso a Internet: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enviar y recibir datos dentro del territorio nacional y/o en itinerancia, a través de equipos terminales que no tienen una ubicación geográfica determinada.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telefonía: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efectuar y recibir llamadas locales, de larga distancia internacional y/o de itinerancia a través de equipos terminales que no tienen una ubicación geográfica determinada, además permite hacer uso de una serie de servicios adicionales tales como acceso a servicios de emergencia o servicios suplementarios, entre otros.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en movilidad mientras el Equipo Terminal se encuentre en cualquier área geográfica dentro de la Cobertura del Operador.</a:t>
            </a:r>
            <a:endParaRPr lang="en-US" sz="630" dirty="0"/>
          </a:p>
        </p:txBody>
      </p:sp>
      <p:sp>
        <p:nvSpPr>
          <p:cNvPr id="15" name="Shape 13"/>
          <p:cNvSpPr/>
          <p:nvPr/>
        </p:nvSpPr>
        <p:spPr>
          <a:xfrm>
            <a:off x="301752" y="2560320"/>
            <a:ext cx="4178808" cy="1901952"/>
          </a:xfrm>
          <a:prstGeom prst="roundRect">
            <a:avLst>
              <a:gd name="adj" fmla="val 2885"/>
            </a:avLst>
          </a:prstGeom>
          <a:solidFill>
            <a:srgbClr val="F6FAF9"/>
          </a:solidFill>
          <a:ln w="9525">
            <a:solidFill>
              <a:srgbClr val="C9DAD6"/>
            </a:solidFill>
            <a:prstDash val="solid"/>
          </a:ln>
        </p:spPr>
      </p:sp>
      <p:sp>
        <p:nvSpPr>
          <p:cNvPr id="16" name="Shape 14"/>
          <p:cNvSpPr/>
          <p:nvPr/>
        </p:nvSpPr>
        <p:spPr>
          <a:xfrm>
            <a:off x="301752" y="2633472"/>
            <a:ext cx="64008" cy="1755648"/>
          </a:xfrm>
          <a:prstGeom prst="rect">
            <a:avLst/>
          </a:prstGeom>
          <a:solidFill>
            <a:srgbClr val="2F7F6F"/>
          </a:solidFill>
          <a:ln w="12700">
            <a:solidFill>
              <a:srgbClr val="2F7F6F"/>
            </a:solidFill>
            <a:prstDash val="solid"/>
          </a:ln>
        </p:spPr>
      </p:sp>
      <p:sp>
        <p:nvSpPr>
          <p:cNvPr id="17" name="Shape 15"/>
          <p:cNvSpPr/>
          <p:nvPr/>
        </p:nvSpPr>
        <p:spPr>
          <a:xfrm>
            <a:off x="466344" y="2633472"/>
            <a:ext cx="201168" cy="201168"/>
          </a:xfrm>
          <a:prstGeom prst="roundRect">
            <a:avLst>
              <a:gd name="adj" fmla="val 18182"/>
            </a:avLst>
          </a:prstGeom>
          <a:solidFill>
            <a:srgbClr val="1A4043"/>
          </a:solidFill>
          <a:ln w="12700">
            <a:solidFill>
              <a:srgbClr val="1A4043"/>
            </a:solidFill>
            <a:prstDash val="solid"/>
          </a:ln>
        </p:spPr>
      </p:sp>
      <p:sp>
        <p:nvSpPr>
          <p:cNvPr id="18" name="Text 16"/>
          <p:cNvSpPr txBox="1"/>
          <p:nvPr/>
        </p:nvSpPr>
        <p:spPr>
          <a:xfrm>
            <a:off x="466344" y="263347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T</a:t>
            </a:r>
            <a:endParaRPr lang="en-US" sz="900" dirty="0"/>
          </a:p>
        </p:txBody>
      </p:sp>
      <p:sp>
        <p:nvSpPr>
          <p:cNvPr id="19" name="Text 17"/>
          <p:cNvSpPr txBox="1"/>
          <p:nvPr/>
        </p:nvSpPr>
        <p:spPr>
          <a:xfrm>
            <a:off x="466344" y="2862072"/>
            <a:ext cx="3904488" cy="150876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Talk show: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Programa de televisión en el que varios invitados hablan sobre un tema de actualidad o brindan testimonios personales (los invitados no son especialistas en el tema).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Telehogares: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Hogares en los cuales reside de forma permanente al menos una persona y cuentan por lo menos con un aparato de televisión.</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Telenovelas: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Historias o novelas producidas para la televisión, transmitidas en episodios diarios y consecutivos. Narran una historia ficticia –aunque puede estar basada en hechos reales— de contenido melodramático, sin que se excluyan otros géneros, y cada capítulo cuenta con los elementos inicio, desarrollo, clímax y, al término, una situación de suspenso que puede ser coincidente con el clímax.</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Televisión por protocolo de Internet (IPTV, por sus siglas en inglés Internet Protocol Television):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La televisión sobre el protocolo IP o IPTV es una tecnología que permite que los servicios de televisión sean emitidos a través de la banda ancha de una red de paquete de datos privados mediante el uso del protocolo de Internet.</a:t>
            </a:r>
            <a:endParaRPr lang="en-US" sz="630" dirty="0"/>
          </a:p>
        </p:txBody>
      </p:sp>
      <p:sp>
        <p:nvSpPr>
          <p:cNvPr id="20" name="Shape 18"/>
          <p:cNvSpPr/>
          <p:nvPr/>
        </p:nvSpPr>
        <p:spPr>
          <a:xfrm>
            <a:off x="4663440" y="566928"/>
            <a:ext cx="4178808" cy="1481328"/>
          </a:xfrm>
          <a:prstGeom prst="roundRect">
            <a:avLst>
              <a:gd name="adj" fmla="val 3704"/>
            </a:avLst>
          </a:prstGeom>
          <a:solidFill>
            <a:srgbClr val="F6FAF9"/>
          </a:solidFill>
          <a:ln w="9525">
            <a:solidFill>
              <a:srgbClr val="C9DAD6"/>
            </a:solidFill>
            <a:prstDash val="solid"/>
          </a:ln>
        </p:spPr>
      </p:sp>
      <p:sp>
        <p:nvSpPr>
          <p:cNvPr id="21" name="Shape 19"/>
          <p:cNvSpPr/>
          <p:nvPr/>
        </p:nvSpPr>
        <p:spPr>
          <a:xfrm>
            <a:off x="4663440" y="640080"/>
            <a:ext cx="64008" cy="1335024"/>
          </a:xfrm>
          <a:prstGeom prst="rect">
            <a:avLst/>
          </a:prstGeom>
          <a:solidFill>
            <a:srgbClr val="2F7F6F"/>
          </a:solidFill>
          <a:ln w="12700">
            <a:solidFill>
              <a:srgbClr val="2F7F6F"/>
            </a:solidFill>
            <a:prstDash val="solid"/>
          </a:ln>
        </p:spPr>
      </p:sp>
      <p:sp>
        <p:nvSpPr>
          <p:cNvPr id="22" name="Shape 20"/>
          <p:cNvSpPr/>
          <p:nvPr/>
        </p:nvSpPr>
        <p:spPr>
          <a:xfrm>
            <a:off x="4828032" y="640080"/>
            <a:ext cx="201168" cy="201168"/>
          </a:xfrm>
          <a:prstGeom prst="roundRect">
            <a:avLst>
              <a:gd name="adj" fmla="val 18182"/>
            </a:avLst>
          </a:prstGeom>
          <a:solidFill>
            <a:srgbClr val="1A4043"/>
          </a:solidFill>
          <a:ln w="12700">
            <a:solidFill>
              <a:srgbClr val="1A4043"/>
            </a:solidFill>
            <a:prstDash val="solid"/>
          </a:ln>
        </p:spPr>
      </p:sp>
      <p:sp>
        <p:nvSpPr>
          <p:cNvPr id="23" name="Text 21"/>
          <p:cNvSpPr txBox="1"/>
          <p:nvPr/>
        </p:nvSpPr>
        <p:spPr>
          <a:xfrm>
            <a:off x="4828032"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U</a:t>
            </a:r>
            <a:endParaRPr lang="en-US" sz="900" dirty="0"/>
          </a:p>
        </p:txBody>
      </p:sp>
      <p:sp>
        <p:nvSpPr>
          <p:cNvPr id="24" name="Text 22"/>
          <p:cNvSpPr txBox="1"/>
          <p:nvPr/>
        </p:nvSpPr>
        <p:spPr>
          <a:xfrm>
            <a:off x="4828032" y="868680"/>
            <a:ext cx="3904488" cy="100584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Unidades Económicas (UE):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Son las unidades estadísticas sobre las cuales se recopilan datos, se dedican principalmente a un tipo de actividad de manera permanente en construcciones e instalaciones fijas, combinando acciones y recursos bajo el control de una sola entidad propietaria o controladora, para llevar a cabo producción de bienes y servicios, sea con fines mercantiles o no. Se definen por sector de acuerdo con la disponibilidad de registros contables y la necesidad de obtener información con el mayor nivel de precisión analítica.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Universo: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Conjunto de individuos o elementos que tienen una o más características en común y que se someten a un estudio estadístico. En este caso conformado por los individuos capaces de recibir señales de audio y video asociado (televisión) o radio.</a:t>
            </a:r>
            <a:endParaRPr lang="en-US" sz="630" dirty="0"/>
          </a:p>
        </p:txBody>
      </p:sp>
      <p:sp>
        <p:nvSpPr>
          <p:cNvPr id="25" name="Shape 23"/>
          <p:cNvSpPr/>
          <p:nvPr/>
        </p:nvSpPr>
        <p:spPr>
          <a:xfrm>
            <a:off x="4663440" y="2121408"/>
            <a:ext cx="4178808" cy="2340864"/>
          </a:xfrm>
          <a:prstGeom prst="roundRect">
            <a:avLst>
              <a:gd name="adj" fmla="val 2344"/>
            </a:avLst>
          </a:prstGeom>
          <a:solidFill>
            <a:srgbClr val="F6FAF9"/>
          </a:solidFill>
          <a:ln w="9525">
            <a:solidFill>
              <a:srgbClr val="C9DAD6"/>
            </a:solidFill>
            <a:prstDash val="solid"/>
          </a:ln>
        </p:spPr>
      </p:sp>
      <p:sp>
        <p:nvSpPr>
          <p:cNvPr id="26" name="Shape 24"/>
          <p:cNvSpPr/>
          <p:nvPr/>
        </p:nvSpPr>
        <p:spPr>
          <a:xfrm>
            <a:off x="4663440" y="2194560"/>
            <a:ext cx="64008" cy="2194560"/>
          </a:xfrm>
          <a:prstGeom prst="rect">
            <a:avLst/>
          </a:prstGeom>
          <a:solidFill>
            <a:srgbClr val="2F7F6F"/>
          </a:solidFill>
          <a:ln w="12700">
            <a:solidFill>
              <a:srgbClr val="2F7F6F"/>
            </a:solidFill>
            <a:prstDash val="solid"/>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846320" y="2212848"/>
          <a:ext cx="3813048" cy="914400"/>
        </p:xfrm>
        <a:graphic>
          <a:graphicData uri="http://schemas.openxmlformats.org/drawingml/2006/table">
            <a:tbl>
              <a:tblPr/>
              <a:tblGrid>
                <a:gridCol w="841248"/>
                <a:gridCol w="1216152"/>
                <a:gridCol w="841248"/>
                <a:gridCol w="914400"/>
              </a:tblGrid>
              <a:tr h="164592">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Televisión</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Radio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r>
              <a:tr h="45720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4 o más años que cuenten con un televisor funcional en el hogar. Se incluyen a los usuarios visitantes en el hogar (</a:t>
                      </a:r>
                      <a:pPr algn="ctr" indent="0" marL="0">
                        <a:buNone/>
                      </a:pPr>
                      <a:r>
                        <a:rPr lang="en-US" sz="600" i="1" dirty="0">
                          <a:solidFill>
                            <a:srgbClr val="24383A"/>
                          </a:solidFill>
                          <a:latin typeface="DejaVu Sans" pitchFamily="34" charset="0"/>
                          <a:ea typeface="DejaVu Sans" pitchFamily="34" charset="-122"/>
                          <a:cs typeface="DejaVu Sans" pitchFamily="34" charset="-120"/>
                        </a:rPr>
                        <a:t>Guest Viewers</a:t>
                      </a:r>
                      <a:pPr algn="ctr" indent="0" marL="0">
                        <a:buNone/>
                      </a:pPr>
                      <a:r>
                        <a:rPr lang="en-US" sz="600" dirty="0">
                          <a:solidFill>
                            <a:srgbClr val="24383A"/>
                          </a:solidFill>
                          <a:latin typeface="DejaVu Sans" pitchFamily="34" charset="0"/>
                          <a:ea typeface="DejaVu Sans" pitchFamily="34" charset="-122"/>
                          <a:cs typeface="DejaVu Sans" pitchFamily="34" charset="-120"/>
                        </a:rPr>
                        <a:t>).</a:t>
                      </a:r>
                      <a:pPr algn="ctr" indent="0" marL="0">
                        <a:buNone/>
                      </a:pPr>
                      <a:r>
                        <a:rPr lang="en-US" sz="600" baseline="30000" dirty="0">
                          <a:solidFill>
                            <a:srgbClr val="24383A"/>
                          </a:solidFill>
                          <a:latin typeface="DejaVu Sans" pitchFamily="34" charset="0"/>
                          <a:ea typeface="DejaVu Sans" pitchFamily="34" charset="-122"/>
                          <a:cs typeface="DejaVu Sans" pitchFamily="34" charset="-120"/>
                        </a:rPr>
                        <a:t>12</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8 años en adelante.</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27432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 ciudades que comprende el estudio de Nielsen IBOPE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Ciudad de México, Guadalajara y 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hMerge="1">
                  <a:tcPr/>
                </a:tc>
                <a:tc rowSpan="2"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rowSpan="2"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28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58,151,356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gridSpan="2" vMerge="1">
                  <a:tcPr/>
                </a:tc>
                <a:tc vMerge="1"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20,258,180</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Total 3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27,325,688</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4,840,117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18,224,996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4,819,593</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4,640,377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25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28,233,465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4,460,315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bl>
          </a:graphicData>
        </a:graphic>
      </p:graphicFrame>
      <p:sp>
        <p:nvSpPr>
          <p:cNvPr id="28" name="Text 25"/>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12 </a:t>
            </a:r>
            <a:pPr indent="0" marL="0">
              <a:buNone/>
            </a:pPr>
            <a:r>
              <a:rPr lang="en-US" sz="520" dirty="0">
                <a:solidFill>
                  <a:srgbClr val="24383A"/>
                </a:solidFill>
                <a:latin typeface="DejaVu Sans" pitchFamily="34" charset="0"/>
                <a:ea typeface="DejaVu Sans" pitchFamily="34" charset="-122"/>
                <a:cs typeface="DejaVu Sans" pitchFamily="34" charset="-120"/>
              </a:rPr>
              <a:t>El Universo de TV corresponde al promedio de los universos del estudio de Nielsen IBOPE México para el periodo de julio de 2023 a junio de 2024, obtenido a través de la evaluación del </a:t>
            </a:r>
            <a:pPr indent="0" marL="0">
              <a:buNone/>
            </a:pPr>
            <a:r>
              <a:rPr lang="en-US" sz="520" i="1" dirty="0">
                <a:solidFill>
                  <a:srgbClr val="24383A"/>
                </a:solidFill>
                <a:latin typeface="DejaVu Sans" pitchFamily="34" charset="0"/>
                <a:ea typeface="DejaVu Sans" pitchFamily="34" charset="-122"/>
                <a:cs typeface="DejaVu Sans" pitchFamily="34" charset="-120"/>
              </a:rPr>
              <a:t>target</a:t>
            </a:r>
            <a:pPr indent="0" marL="0">
              <a:buNone/>
            </a:pPr>
            <a:r>
              <a:rPr lang="en-US" sz="520" dirty="0">
                <a:solidFill>
                  <a:srgbClr val="24383A"/>
                </a:solidFill>
                <a:latin typeface="DejaVu Sans" pitchFamily="34" charset="0"/>
                <a:ea typeface="DejaVu Sans" pitchFamily="34" charset="-122"/>
                <a:cs typeface="DejaVu Sans" pitchFamily="34" charset="-120"/>
              </a:rPr>
              <a:t> en el periodo.</a:t>
            </a:r>
            <a:endParaRPr lang="en-US" sz="520" dirty="0"/>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126</a:t>
            </a:r>
          </a:p>
        </p:txBody>
      </p:sp>
      <p:sp>
        <p:nvSpPr>
          <p:cNvPr id="222" name="ANUARIO_ANEXO_P126_L001"/>
          <p:cNvSpPr txBox="1"/>
          <p:nvPr/>
        </p:nvSpPr>
        <p:spPr>
          <a:xfrm>
            <a:off x="589682" y="653802"/>
            <a:ext cx="2064194"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III. METODOLOGÍAS</a:t>
            </a:r>
          </a:p>
        </p:txBody>
      </p:sp>
      <p:sp>
        <p:nvSpPr>
          <p:cNvPr id="223" name="ANUARIO_ANEXO_P126_L002"/>
          <p:cNvSpPr txBox="1"/>
          <p:nvPr/>
        </p:nvSpPr>
        <p:spPr>
          <a:xfrm>
            <a:off x="383625" y="1066161"/>
            <a:ext cx="3990354"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SOBRE INFORMACIÓN DE SERVICIOS DE TELECOMUNICACIONES</a:t>
            </a:r>
          </a:p>
        </p:txBody>
      </p:sp>
      <p:sp>
        <p:nvSpPr>
          <p:cNvPr id="224" name="ANUARIO_ANEXO_P126_L003"/>
          <p:cNvSpPr txBox="1"/>
          <p:nvPr/>
        </p:nvSpPr>
        <p:spPr>
          <a:xfrm>
            <a:off x="528422" y="1397086"/>
            <a:ext cx="824724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Los indicadores mostrados en el presente Anuario Estadístico fueron elaborados con la información trimestral proporcionada por los operadores de telecomunicaciones a la CRT, la cual es revisada, procesada </a:t>
            </a:r>
          </a:p>
        </p:txBody>
      </p:sp>
      <p:sp>
        <p:nvSpPr>
          <p:cNvPr id="225" name="ANUARIO_ANEXO_P126_L004"/>
          <p:cNvSpPr txBox="1"/>
          <p:nvPr/>
        </p:nvSpPr>
        <p:spPr>
          <a:xfrm>
            <a:off x="528422" y="1503888"/>
            <a:ext cx="593549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analizada por la Coordinación General de Planeación Estratégica para su publicación en el Banco de Información de Telecomunicaciones (BIT).</a:t>
            </a:r>
          </a:p>
        </p:txBody>
      </p:sp>
      <p:sp>
        <p:nvSpPr>
          <p:cNvPr id="226" name="ANUARIO_ANEXO_P126_L005"/>
          <p:cNvSpPr txBox="1"/>
          <p:nvPr/>
        </p:nvSpPr>
        <p:spPr>
          <a:xfrm>
            <a:off x="528422" y="1717491"/>
            <a:ext cx="82479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Debido a la naturaleza de los servicios de telecomunicaciones móviles, el número de líneas de los servicios móviles de telefonía y de acceso a Internet no cuentan con desagregación a nivel entidad </a:t>
            </a:r>
          </a:p>
        </p:txBody>
      </p:sp>
      <p:sp>
        <p:nvSpPr>
          <p:cNvPr id="227" name="ANUARIO_ANEXO_P126_L006"/>
          <p:cNvSpPr txBox="1"/>
          <p:nvPr/>
        </p:nvSpPr>
        <p:spPr>
          <a:xfrm>
            <a:off x="528422" y="1824293"/>
            <a:ext cx="82483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federativa, por lo que, para obtener los indicadores del número de líneas por cada 100 habitantes, se obtuvo información de la ENDUTIH 2025 y se tomaron los siguientes supuestos de acuerdo con el tipo </a:t>
            </a:r>
          </a:p>
        </p:txBody>
      </p:sp>
      <p:sp>
        <p:nvSpPr>
          <p:cNvPr id="228" name="ANUARIO_ANEXO_P126_L007"/>
          <p:cNvSpPr txBox="1"/>
          <p:nvPr/>
        </p:nvSpPr>
        <p:spPr>
          <a:xfrm>
            <a:off x="528422" y="1931095"/>
            <a:ext cx="5923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 </a:t>
            </a:r>
          </a:p>
        </p:txBody>
      </p:sp>
      <p:sp>
        <p:nvSpPr>
          <p:cNvPr id="229" name="ANUARIO_ANEXO_P126_L008"/>
          <p:cNvSpPr txBox="1"/>
          <p:nvPr/>
        </p:nvSpPr>
        <p:spPr>
          <a:xfrm>
            <a:off x="662080" y="2144016"/>
            <a:ext cx="8113861"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telefonía.</a:t>
            </a:r>
            <a:r>
              <a:rPr sz="640" b="0" i="0">
                <a:solidFill>
                  <a:srgbClr val="1F3031"/>
                </a:solidFill>
                <a:latin typeface="Noto Sans"/>
              </a:rPr>
              <a:t> Se elaboró una estimación del número de usuarios de este servicio con base en la población de 6 años o más, residente en cada entidad federativa, que respondió contar </a:t>
            </a:r>
          </a:p>
        </p:txBody>
      </p:sp>
      <p:sp>
        <p:nvSpPr>
          <p:cNvPr id="230" name="ANUARIO_ANEXO_P126_L009"/>
          <p:cNvSpPr txBox="1"/>
          <p:nvPr/>
        </p:nvSpPr>
        <p:spPr>
          <a:xfrm>
            <a:off x="717770" y="2251501"/>
            <a:ext cx="44113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un teléfono celular y haberlo usado en los últimos tres meses previos al levantamiento de la encuesta. </a:t>
            </a:r>
          </a:p>
        </p:txBody>
      </p:sp>
      <p:sp>
        <p:nvSpPr>
          <p:cNvPr id="231" name="ANUARIO_ANEXO_P126_L010"/>
          <p:cNvSpPr txBox="1"/>
          <p:nvPr/>
        </p:nvSpPr>
        <p:spPr>
          <a:xfrm>
            <a:off x="662080" y="2464421"/>
            <a:ext cx="8114496"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acceso a Internet.</a:t>
            </a:r>
            <a:r>
              <a:rPr sz="640" b="0" i="0">
                <a:solidFill>
                  <a:srgbClr val="1F3031"/>
                </a:solidFill>
                <a:latin typeface="Noto Sans"/>
              </a:rPr>
              <a:t> Se elaboró una estimación del número de usuarios de este servicio con base en la población de 6 años o más, residente en cada entidad federativa, que respondió </a:t>
            </a:r>
          </a:p>
        </p:txBody>
      </p:sp>
      <p:sp>
        <p:nvSpPr>
          <p:cNvPr id="232" name="ANUARIO_ANEXO_P126_L011"/>
          <p:cNvSpPr txBox="1"/>
          <p:nvPr/>
        </p:nvSpPr>
        <p:spPr>
          <a:xfrm>
            <a:off x="717770" y="2571907"/>
            <a:ext cx="523853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haberse conectado a Internet mediante red celular (conexión de datos) a través de un teléfono móvil inteligente (</a:t>
            </a:r>
            <a:r>
              <a:rPr sz="640" b="0" i="1">
                <a:solidFill>
                  <a:srgbClr val="1F3031"/>
                </a:solidFill>
                <a:latin typeface="Noto Sans"/>
              </a:rPr>
              <a:t>Smartphone</a:t>
            </a:r>
            <a:r>
              <a:rPr sz="640" b="0" i="0">
                <a:solidFill>
                  <a:srgbClr val="1F3031"/>
                </a:solidFill>
                <a:latin typeface="Noto Sans"/>
              </a:rPr>
              <a:t>).</a:t>
            </a:r>
          </a:p>
        </p:txBody>
      </p:sp>
      <p:sp>
        <p:nvSpPr>
          <p:cNvPr id="233" name="ANUARIO_ANEXO_P126_L012"/>
          <p:cNvSpPr txBox="1"/>
          <p:nvPr/>
        </p:nvSpPr>
        <p:spPr>
          <a:xfrm>
            <a:off x="528422" y="2785511"/>
            <a:ext cx="82465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número de hogares y el número de habitantes a nivel entidad federativa se obtienen a partir de estimaciones propias con base en los datos de la ENDUTIH 2025 y el Censo de Población </a:t>
            </a:r>
          </a:p>
        </p:txBody>
      </p:sp>
      <p:sp>
        <p:nvSpPr>
          <p:cNvPr id="234" name="ANUARIO_ANEXO_P126_L013"/>
          <p:cNvSpPr txBox="1"/>
          <p:nvPr/>
        </p:nvSpPr>
        <p:spPr>
          <a:xfrm>
            <a:off x="528422" y="2892313"/>
            <a:ext cx="77646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Vivienda 2020.</a:t>
            </a:r>
          </a:p>
        </p:txBody>
      </p:sp>
      <p:sp>
        <p:nvSpPr>
          <p:cNvPr id="235" name="ANUARIO_ANEXO_P126_L014"/>
          <p:cNvSpPr txBox="1"/>
          <p:nvPr/>
        </p:nvSpPr>
        <p:spPr>
          <a:xfrm>
            <a:off x="528422" y="3105917"/>
            <a:ext cx="75113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 Los accesos/líneas por cada 100 hogares se calculan dividiendo los accesos. Asimismo, el número de unidades económicas a nivel entidad federativa se obtuvo del DENUE del INEGI.</a:t>
            </a:r>
          </a:p>
        </p:txBody>
      </p:sp>
      <p:sp>
        <p:nvSpPr>
          <p:cNvPr id="236" name="ANUARIO_ANEXO_P126_L015"/>
          <p:cNvSpPr txBox="1"/>
          <p:nvPr/>
        </p:nvSpPr>
        <p:spPr>
          <a:xfrm>
            <a:off x="383625" y="3456547"/>
            <a:ext cx="1361211" cy="185415"/>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ÍNDICES DE PRECIOS</a:t>
            </a:r>
          </a:p>
        </p:txBody>
      </p:sp>
      <p:sp>
        <p:nvSpPr>
          <p:cNvPr id="237" name="ANUARIO_ANEXO_P126_L016"/>
          <p:cNvSpPr txBox="1"/>
          <p:nvPr/>
        </p:nvSpPr>
        <p:spPr>
          <a:xfrm>
            <a:off x="528422" y="3768089"/>
            <a:ext cx="824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INEGI construye el INPC utilizando las variaciones en los precios de los bienes y servicios de una canasta representativa del consumo de los hogares mexicanos. Dichos bienes y servicios pueden </a:t>
            </a:r>
          </a:p>
        </p:txBody>
      </p:sp>
      <p:sp>
        <p:nvSpPr>
          <p:cNvPr id="238" name="ANUARIO_ANEXO_P126_L017"/>
          <p:cNvSpPr txBox="1"/>
          <p:nvPr/>
        </p:nvSpPr>
        <p:spPr>
          <a:xfrm>
            <a:off x="528422" y="3874890"/>
            <a:ext cx="82476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representarse por medio de la Clasificación del Consumo Individual por Finalidades (CCIF), el cual consta de doce divisiones que se desagregan en Grupos y Clases, las cuales representan categorías de </a:t>
            </a:r>
          </a:p>
        </p:txBody>
      </p:sp>
      <p:sp>
        <p:nvSpPr>
          <p:cNvPr id="239" name="ANUARIO_ANEXO_P126_L018"/>
          <p:cNvSpPr txBox="1"/>
          <p:nvPr/>
        </p:nvSpPr>
        <p:spPr>
          <a:xfrm>
            <a:off x="528422" y="3981692"/>
            <a:ext cx="25719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finalidad de los bienes y servicios compuestos por genéricos.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127</a:t>
            </a:r>
          </a:p>
        </p:txBody>
      </p:sp>
      <p:sp>
        <p:nvSpPr>
          <p:cNvPr id="222" name="ANUARIO_TABLA_REFERENCIA_0"/>
          <p:cNvSpPr/>
          <p:nvPr/>
        </p:nvSpPr>
        <p:spPr>
          <a:xfrm>
            <a:off x="529117" y="675067"/>
            <a:ext cx="3986900" cy="1737448"/>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529117" y="8841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29117" y="1037132"/>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29117" y="114863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9117" y="126013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529117" y="137163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529117" y="148313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529117" y="159463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29117" y="170613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529117" y="1817640"/>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29117" y="192914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29117" y="20406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29117" y="215214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29117" y="226364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6" name="ANUARIO_TABLA_REFERENCIA_1"/>
          <p:cNvSpPr/>
          <p:nvPr/>
        </p:nvSpPr>
        <p:spPr>
          <a:xfrm>
            <a:off x="529117" y="3042279"/>
            <a:ext cx="3986900" cy="1179943"/>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529117" y="325140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29117" y="34043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29117" y="352118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29117" y="363802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9117" y="375486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9117" y="387170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29117" y="398854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29117" y="41053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45" name="ANUARIO_ANEXO_P127_L001"/>
          <p:cNvSpPr txBox="1"/>
          <p:nvPr/>
        </p:nvSpPr>
        <p:spPr>
          <a:xfrm>
            <a:off x="629361" y="753928"/>
            <a:ext cx="387345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1. </a:t>
            </a:r>
            <a:r>
              <a:rPr sz="592" b="0" i="0">
                <a:solidFill>
                  <a:srgbClr val="1F3031"/>
                </a:solidFill>
                <a:latin typeface="Noto Sans"/>
              </a:rPr>
              <a:t>Clasificación del Consumo Individual por Finalidades (CCIF), Ponderador por División</a:t>
            </a:r>
          </a:p>
        </p:txBody>
      </p:sp>
      <p:sp>
        <p:nvSpPr>
          <p:cNvPr id="246" name="ANUARIO_ANEXO_P127_L002"/>
          <p:cNvSpPr txBox="1"/>
          <p:nvPr/>
        </p:nvSpPr>
        <p:spPr>
          <a:xfrm>
            <a:off x="1962028" y="917143"/>
            <a:ext cx="412730"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División</a:t>
            </a:r>
          </a:p>
        </p:txBody>
      </p:sp>
      <p:sp>
        <p:nvSpPr>
          <p:cNvPr id="247" name="ANUARIO_ANEXO_P127_L003"/>
          <p:cNvSpPr txBox="1"/>
          <p:nvPr/>
        </p:nvSpPr>
        <p:spPr>
          <a:xfrm>
            <a:off x="3889474" y="917143"/>
            <a:ext cx="545275"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48" name="ANUARIO_ANEXO_P127_L004"/>
          <p:cNvSpPr txBox="1"/>
          <p:nvPr/>
        </p:nvSpPr>
        <p:spPr>
          <a:xfrm>
            <a:off x="1536400" y="1050495"/>
            <a:ext cx="12639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Alimentos y bebidas no alcohólicas</a:t>
            </a:r>
          </a:p>
        </p:txBody>
      </p:sp>
      <p:sp>
        <p:nvSpPr>
          <p:cNvPr id="249" name="ANUARIO_ANEXO_P127_L005"/>
          <p:cNvSpPr txBox="1"/>
          <p:nvPr/>
        </p:nvSpPr>
        <p:spPr>
          <a:xfrm>
            <a:off x="3983182" y="1050495"/>
            <a:ext cx="35785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25.77%</a:t>
            </a:r>
          </a:p>
        </p:txBody>
      </p:sp>
      <p:sp>
        <p:nvSpPr>
          <p:cNvPr id="250" name="ANUARIO_ANEXO_P127_L006"/>
          <p:cNvSpPr txBox="1"/>
          <p:nvPr/>
        </p:nvSpPr>
        <p:spPr>
          <a:xfrm>
            <a:off x="1641594" y="1161996"/>
            <a:ext cx="105358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Bebidas alcohólicas y tabaco</a:t>
            </a:r>
          </a:p>
        </p:txBody>
      </p:sp>
      <p:sp>
        <p:nvSpPr>
          <p:cNvPr id="251" name="ANUARIO_ANEXO_P127_L007"/>
          <p:cNvSpPr txBox="1"/>
          <p:nvPr/>
        </p:nvSpPr>
        <p:spPr>
          <a:xfrm>
            <a:off x="3998819" y="1161996"/>
            <a:ext cx="32658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2.69%</a:t>
            </a:r>
          </a:p>
        </p:txBody>
      </p:sp>
      <p:sp>
        <p:nvSpPr>
          <p:cNvPr id="252" name="ANUARIO_ANEXO_P127_L008"/>
          <p:cNvSpPr txBox="1"/>
          <p:nvPr/>
        </p:nvSpPr>
        <p:spPr>
          <a:xfrm>
            <a:off x="1670590" y="1273497"/>
            <a:ext cx="99560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Prendas de vestir y calzado</a:t>
            </a:r>
          </a:p>
        </p:txBody>
      </p:sp>
      <p:sp>
        <p:nvSpPr>
          <p:cNvPr id="253" name="ANUARIO_ANEXO_P127_L009"/>
          <p:cNvSpPr txBox="1"/>
          <p:nvPr/>
        </p:nvSpPr>
        <p:spPr>
          <a:xfrm>
            <a:off x="4000992" y="1273497"/>
            <a:ext cx="32223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4.78%</a:t>
            </a:r>
          </a:p>
        </p:txBody>
      </p:sp>
      <p:sp>
        <p:nvSpPr>
          <p:cNvPr id="254" name="ANUARIO_ANEXO_P127_L010"/>
          <p:cNvSpPr txBox="1"/>
          <p:nvPr/>
        </p:nvSpPr>
        <p:spPr>
          <a:xfrm>
            <a:off x="1238307" y="1384998"/>
            <a:ext cx="18601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Vivienda, agua, electricidad, gas y otros combustibles</a:t>
            </a:r>
          </a:p>
        </p:txBody>
      </p:sp>
      <p:sp>
        <p:nvSpPr>
          <p:cNvPr id="255" name="ANUARIO_ANEXO_P127_L011"/>
          <p:cNvSpPr txBox="1"/>
          <p:nvPr/>
        </p:nvSpPr>
        <p:spPr>
          <a:xfrm>
            <a:off x="3988647" y="1384998"/>
            <a:ext cx="3469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19.64%</a:t>
            </a:r>
          </a:p>
        </p:txBody>
      </p:sp>
      <p:sp>
        <p:nvSpPr>
          <p:cNvPr id="256" name="ANUARIO_ANEXO_P127_L012"/>
          <p:cNvSpPr txBox="1"/>
          <p:nvPr/>
        </p:nvSpPr>
        <p:spPr>
          <a:xfrm>
            <a:off x="1207900" y="1496498"/>
            <a:ext cx="192098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Muebles, artículos para el hogar y para su conservación</a:t>
            </a:r>
          </a:p>
        </p:txBody>
      </p:sp>
      <p:sp>
        <p:nvSpPr>
          <p:cNvPr id="257" name="ANUARIO_ANEXO_P127_L013"/>
          <p:cNvSpPr txBox="1"/>
          <p:nvPr/>
        </p:nvSpPr>
        <p:spPr>
          <a:xfrm>
            <a:off x="3999109" y="1496498"/>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4.53%</a:t>
            </a:r>
          </a:p>
        </p:txBody>
      </p:sp>
      <p:sp>
        <p:nvSpPr>
          <p:cNvPr id="258" name="ANUARIO_ANEXO_P127_L014"/>
          <p:cNvSpPr txBox="1"/>
          <p:nvPr/>
        </p:nvSpPr>
        <p:spPr>
          <a:xfrm>
            <a:off x="2017878" y="1607999"/>
            <a:ext cx="3010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Salud</a:t>
            </a:r>
          </a:p>
        </p:txBody>
      </p:sp>
      <p:sp>
        <p:nvSpPr>
          <p:cNvPr id="259" name="ANUARIO_ANEXO_P127_L015"/>
          <p:cNvSpPr txBox="1"/>
          <p:nvPr/>
        </p:nvSpPr>
        <p:spPr>
          <a:xfrm>
            <a:off x="3997625" y="1607999"/>
            <a:ext cx="32897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3.08%</a:t>
            </a:r>
          </a:p>
        </p:txBody>
      </p:sp>
      <p:sp>
        <p:nvSpPr>
          <p:cNvPr id="260" name="ANUARIO_ANEXO_P127_L016"/>
          <p:cNvSpPr txBox="1"/>
          <p:nvPr/>
        </p:nvSpPr>
        <p:spPr>
          <a:xfrm>
            <a:off x="1931725" y="1719500"/>
            <a:ext cx="4733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Transporte</a:t>
            </a:r>
          </a:p>
        </p:txBody>
      </p:sp>
      <p:sp>
        <p:nvSpPr>
          <p:cNvPr id="261" name="ANUARIO_ANEXO_P127_L017"/>
          <p:cNvSpPr txBox="1"/>
          <p:nvPr/>
        </p:nvSpPr>
        <p:spPr>
          <a:xfrm>
            <a:off x="3990603" y="1719500"/>
            <a:ext cx="3430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13.76%</a:t>
            </a:r>
          </a:p>
        </p:txBody>
      </p:sp>
      <p:sp>
        <p:nvSpPr>
          <p:cNvPr id="262" name="ANUARIO_ANEXO_P127_L018"/>
          <p:cNvSpPr txBox="1"/>
          <p:nvPr/>
        </p:nvSpPr>
        <p:spPr>
          <a:xfrm>
            <a:off x="1831274" y="1831001"/>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63" name="ANUARIO_ANEXO_P127_L019"/>
          <p:cNvSpPr txBox="1"/>
          <p:nvPr/>
        </p:nvSpPr>
        <p:spPr>
          <a:xfrm>
            <a:off x="4010367" y="1831001"/>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64" name="ANUARIO_ANEXO_P127_L020"/>
          <p:cNvSpPr txBox="1"/>
          <p:nvPr/>
        </p:nvSpPr>
        <p:spPr>
          <a:xfrm>
            <a:off x="1775528" y="1942502"/>
            <a:ext cx="78572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Recreación y cultura</a:t>
            </a:r>
          </a:p>
        </p:txBody>
      </p:sp>
      <p:sp>
        <p:nvSpPr>
          <p:cNvPr id="265" name="ANUARIO_ANEXO_P127_L021"/>
          <p:cNvSpPr txBox="1"/>
          <p:nvPr/>
        </p:nvSpPr>
        <p:spPr>
          <a:xfrm>
            <a:off x="4001571" y="1942502"/>
            <a:ext cx="32107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4.87%</a:t>
            </a:r>
          </a:p>
        </p:txBody>
      </p:sp>
      <p:sp>
        <p:nvSpPr>
          <p:cNvPr id="266" name="ANUARIO_ANEXO_P127_L022"/>
          <p:cNvSpPr txBox="1"/>
          <p:nvPr/>
        </p:nvSpPr>
        <p:spPr>
          <a:xfrm>
            <a:off x="1937553" y="2054002"/>
            <a:ext cx="4616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Educación</a:t>
            </a:r>
          </a:p>
        </p:txBody>
      </p:sp>
      <p:sp>
        <p:nvSpPr>
          <p:cNvPr id="267" name="ANUARIO_ANEXO_P127_L023"/>
          <p:cNvSpPr txBox="1"/>
          <p:nvPr/>
        </p:nvSpPr>
        <p:spPr>
          <a:xfrm>
            <a:off x="3999109" y="2054002"/>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3.54%</a:t>
            </a:r>
          </a:p>
        </p:txBody>
      </p:sp>
      <p:sp>
        <p:nvSpPr>
          <p:cNvPr id="268" name="ANUARIO_ANEXO_P127_L024"/>
          <p:cNvSpPr txBox="1"/>
          <p:nvPr/>
        </p:nvSpPr>
        <p:spPr>
          <a:xfrm>
            <a:off x="1739404" y="2165504"/>
            <a:ext cx="8579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Restaurantes y hoteles</a:t>
            </a:r>
          </a:p>
        </p:txBody>
      </p:sp>
      <p:sp>
        <p:nvSpPr>
          <p:cNvPr id="269" name="ANUARIO_ANEXO_P127_L025"/>
          <p:cNvSpPr txBox="1"/>
          <p:nvPr/>
        </p:nvSpPr>
        <p:spPr>
          <a:xfrm>
            <a:off x="4003054" y="2165504"/>
            <a:ext cx="3181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9.52%</a:t>
            </a:r>
          </a:p>
        </p:txBody>
      </p:sp>
      <p:sp>
        <p:nvSpPr>
          <p:cNvPr id="270" name="ANUARIO_ANEXO_P127_L026"/>
          <p:cNvSpPr txBox="1"/>
          <p:nvPr/>
        </p:nvSpPr>
        <p:spPr>
          <a:xfrm>
            <a:off x="1681449" y="2295695"/>
            <a:ext cx="9738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Bienes y servicios diversos</a:t>
            </a:r>
          </a:p>
        </p:txBody>
      </p:sp>
      <p:sp>
        <p:nvSpPr>
          <p:cNvPr id="271" name="ANUARIO_ANEXO_P127_L027"/>
          <p:cNvSpPr txBox="1"/>
          <p:nvPr/>
        </p:nvSpPr>
        <p:spPr>
          <a:xfrm>
            <a:off x="3998602" y="2295695"/>
            <a:ext cx="32701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4.69%</a:t>
            </a:r>
          </a:p>
        </p:txBody>
      </p:sp>
      <p:sp>
        <p:nvSpPr>
          <p:cNvPr id="272" name="ANUARIO_ANEXO_P127_L028"/>
          <p:cNvSpPr txBox="1"/>
          <p:nvPr/>
        </p:nvSpPr>
        <p:spPr>
          <a:xfrm>
            <a:off x="551394" y="2447630"/>
            <a:ext cx="3916450"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Índice Nacional de Precios al Consumidor, Documento metodológico. Base segunda quincena de julio de 2018, INEGI.</a:t>
            </a:r>
          </a:p>
        </p:txBody>
      </p:sp>
      <p:sp>
        <p:nvSpPr>
          <p:cNvPr id="273" name="ANUARIO_ANEXO_P127_L029"/>
          <p:cNvSpPr txBox="1"/>
          <p:nvPr/>
        </p:nvSpPr>
        <p:spPr>
          <a:xfrm>
            <a:off x="528422" y="2686869"/>
            <a:ext cx="412822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división de &lt;&lt;Comunicaciones&gt;&gt; representa 3.13% de la ponderación del INPC general. Dicha </a:t>
            </a:r>
          </a:p>
        </p:txBody>
      </p:sp>
      <p:sp>
        <p:nvSpPr>
          <p:cNvPr id="274" name="ANUARIO_ANEXO_P127_L030"/>
          <p:cNvSpPr txBox="1"/>
          <p:nvPr/>
        </p:nvSpPr>
        <p:spPr>
          <a:xfrm>
            <a:off x="528422" y="2812471"/>
            <a:ext cx="38267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división incluye seis conceptos, de los cuales el servicio de telefonía móvil representa 1.28%.</a:t>
            </a:r>
          </a:p>
        </p:txBody>
      </p:sp>
      <p:sp>
        <p:nvSpPr>
          <p:cNvPr id="275" name="ANUARIO_ANEXO_P127_L031"/>
          <p:cNvSpPr txBox="1"/>
          <p:nvPr/>
        </p:nvSpPr>
        <p:spPr>
          <a:xfrm>
            <a:off x="629361" y="3121141"/>
            <a:ext cx="287308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2.</a:t>
            </a:r>
            <a:r>
              <a:rPr sz="592" b="0" i="0">
                <a:solidFill>
                  <a:srgbClr val="1F3031"/>
                </a:solidFill>
                <a:latin typeface="Noto Sans"/>
              </a:rPr>
              <a:t> Ponderadores de la división &lt;&lt;Comunicaciones&gt;&gt; del INPC</a:t>
            </a:r>
          </a:p>
        </p:txBody>
      </p:sp>
      <p:sp>
        <p:nvSpPr>
          <p:cNvPr id="276" name="ANUARIO_ANEXO_P127_L032"/>
          <p:cNvSpPr txBox="1"/>
          <p:nvPr/>
        </p:nvSpPr>
        <p:spPr>
          <a:xfrm>
            <a:off x="1930917" y="3284355"/>
            <a:ext cx="474947"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Concepto</a:t>
            </a:r>
          </a:p>
        </p:txBody>
      </p:sp>
      <p:sp>
        <p:nvSpPr>
          <p:cNvPr id="277" name="ANUARIO_ANEXO_P127_L033"/>
          <p:cNvSpPr txBox="1"/>
          <p:nvPr/>
        </p:nvSpPr>
        <p:spPr>
          <a:xfrm>
            <a:off x="3888778" y="3284355"/>
            <a:ext cx="545275"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78" name="ANUARIO_ANEXO_P127_L034"/>
          <p:cNvSpPr txBox="1"/>
          <p:nvPr/>
        </p:nvSpPr>
        <p:spPr>
          <a:xfrm>
            <a:off x="1831274" y="3423048"/>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79" name="ANUARIO_ANEXO_P127_L035"/>
          <p:cNvSpPr txBox="1"/>
          <p:nvPr/>
        </p:nvSpPr>
        <p:spPr>
          <a:xfrm>
            <a:off x="4009670" y="3423048"/>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80" name="ANUARIO_ANEXO_P127_L036"/>
          <p:cNvSpPr txBox="1"/>
          <p:nvPr/>
        </p:nvSpPr>
        <p:spPr>
          <a:xfrm>
            <a:off x="1676453" y="3539889"/>
            <a:ext cx="9838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móvil</a:t>
            </a:r>
          </a:p>
        </p:txBody>
      </p:sp>
      <p:sp>
        <p:nvSpPr>
          <p:cNvPr id="281" name="ANUARIO_ANEXO_P127_L037"/>
          <p:cNvSpPr txBox="1"/>
          <p:nvPr/>
        </p:nvSpPr>
        <p:spPr>
          <a:xfrm>
            <a:off x="4004242" y="3539889"/>
            <a:ext cx="314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1.28%</a:t>
            </a:r>
          </a:p>
        </p:txBody>
      </p:sp>
      <p:sp>
        <p:nvSpPr>
          <p:cNvPr id="282" name="ANUARIO_ANEXO_P127_L038"/>
          <p:cNvSpPr txBox="1"/>
          <p:nvPr/>
        </p:nvSpPr>
        <p:spPr>
          <a:xfrm>
            <a:off x="1274614" y="3656730"/>
            <a:ext cx="178755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Paquetes de Internet, telefonía y televisión de paga</a:t>
            </a:r>
          </a:p>
        </p:txBody>
      </p:sp>
      <p:sp>
        <p:nvSpPr>
          <p:cNvPr id="283" name="ANUARIO_ANEXO_P127_L039"/>
          <p:cNvSpPr txBox="1"/>
          <p:nvPr/>
        </p:nvSpPr>
        <p:spPr>
          <a:xfrm>
            <a:off x="4002213" y="3656730"/>
            <a:ext cx="31840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1.09%</a:t>
            </a:r>
          </a:p>
        </p:txBody>
      </p:sp>
      <p:sp>
        <p:nvSpPr>
          <p:cNvPr id="284" name="ANUARIO_ANEXO_P127_L040"/>
          <p:cNvSpPr txBox="1"/>
          <p:nvPr/>
        </p:nvSpPr>
        <p:spPr>
          <a:xfrm>
            <a:off x="1556671" y="3773571"/>
            <a:ext cx="1223442"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Equipo terminal de comunicación</a:t>
            </a:r>
          </a:p>
        </p:txBody>
      </p:sp>
      <p:sp>
        <p:nvSpPr>
          <p:cNvPr id="285" name="ANUARIO_ANEXO_P127_L041"/>
          <p:cNvSpPr txBox="1"/>
          <p:nvPr/>
        </p:nvSpPr>
        <p:spPr>
          <a:xfrm>
            <a:off x="3995083" y="3773571"/>
            <a:ext cx="33265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0.35%</a:t>
            </a:r>
          </a:p>
        </p:txBody>
      </p:sp>
      <p:sp>
        <p:nvSpPr>
          <p:cNvPr id="286" name="ANUARIO_ANEXO_P127_L042"/>
          <p:cNvSpPr txBox="1"/>
          <p:nvPr/>
        </p:nvSpPr>
        <p:spPr>
          <a:xfrm>
            <a:off x="1716236" y="3890412"/>
            <a:ext cx="9043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fija</a:t>
            </a:r>
          </a:p>
        </p:txBody>
      </p:sp>
      <p:sp>
        <p:nvSpPr>
          <p:cNvPr id="287" name="ANUARIO_ANEXO_P127_L043"/>
          <p:cNvSpPr txBox="1"/>
          <p:nvPr/>
        </p:nvSpPr>
        <p:spPr>
          <a:xfrm>
            <a:off x="3994938" y="3890412"/>
            <a:ext cx="33294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0.28%</a:t>
            </a:r>
          </a:p>
        </p:txBody>
      </p:sp>
      <p:sp>
        <p:nvSpPr>
          <p:cNvPr id="288" name="ANUARIO_ANEXO_P127_L044"/>
          <p:cNvSpPr txBox="1"/>
          <p:nvPr/>
        </p:nvSpPr>
        <p:spPr>
          <a:xfrm>
            <a:off x="1787837" y="4007253"/>
            <a:ext cx="7611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Internet</a:t>
            </a:r>
          </a:p>
        </p:txBody>
      </p:sp>
      <p:sp>
        <p:nvSpPr>
          <p:cNvPr id="289" name="ANUARIO_ANEXO_P127_L045"/>
          <p:cNvSpPr txBox="1"/>
          <p:nvPr/>
        </p:nvSpPr>
        <p:spPr>
          <a:xfrm>
            <a:off x="4006738" y="4007253"/>
            <a:ext cx="30935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0.12%</a:t>
            </a:r>
          </a:p>
        </p:txBody>
      </p:sp>
      <p:sp>
        <p:nvSpPr>
          <p:cNvPr id="290" name="ANUARIO_ANEXO_P127_L046"/>
          <p:cNvSpPr txBox="1"/>
          <p:nvPr/>
        </p:nvSpPr>
        <p:spPr>
          <a:xfrm>
            <a:off x="1933028" y="4124093"/>
            <a:ext cx="47072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Paquetería</a:t>
            </a:r>
          </a:p>
        </p:txBody>
      </p:sp>
      <p:sp>
        <p:nvSpPr>
          <p:cNvPr id="291" name="ANUARIO_ANEXO_P127_L047"/>
          <p:cNvSpPr txBox="1"/>
          <p:nvPr/>
        </p:nvSpPr>
        <p:spPr>
          <a:xfrm>
            <a:off x="3996241" y="4124093"/>
            <a:ext cx="330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0.02%</a:t>
            </a:r>
          </a:p>
        </p:txBody>
      </p:sp>
      <p:sp>
        <p:nvSpPr>
          <p:cNvPr id="292" name="ANUARIO_ANEXO_P127_L048"/>
          <p:cNvSpPr txBox="1"/>
          <p:nvPr/>
        </p:nvSpPr>
        <p:spPr>
          <a:xfrm>
            <a:off x="551394" y="4262679"/>
            <a:ext cx="4075542"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Ponderadores del INPC, Por Objeto del Gasto Nacional por Genérico. Segunda quincena julio 2018=100, del INEGI. Disponible </a:t>
            </a:r>
          </a:p>
        </p:txBody>
      </p:sp>
      <p:sp>
        <p:nvSpPr>
          <p:cNvPr id="293" name="ANUARIO_ANEXO_P127_L049"/>
          <p:cNvSpPr txBox="1"/>
          <p:nvPr/>
        </p:nvSpPr>
        <p:spPr>
          <a:xfrm>
            <a:off x="551394" y="4340218"/>
            <a:ext cx="1678241" cy="118493"/>
          </a:xfrm>
          <a:prstGeom prst="rect">
            <a:avLst/>
          </a:prstGeom>
          <a:noFill/>
        </p:spPr>
        <p:txBody>
          <a:bodyPr wrap="none" lIns="0" rIns="0" tIns="0" bIns="0">
            <a:noAutofit/>
          </a:bodyPr>
          <a:lstStyle/>
          <a:p>
            <a:pPr>
              <a:spcBef>
                <a:spcPts val="0"/>
              </a:spcBef>
              <a:spcAft>
                <a:spcPts val="0"/>
              </a:spcAft>
            </a:pPr>
            <a:r>
              <a:rPr sz="444" b="0" i="0">
                <a:solidFill>
                  <a:srgbClr val="1F3031"/>
                </a:solidFill>
                <a:latin typeface="Noto Sans"/>
              </a:rPr>
              <a:t>en: </a:t>
            </a:r>
            <a:r>
              <a:rPr sz="444" b="0" i="0">
                <a:solidFill>
                  <a:srgbClr val="0563C1"/>
                </a:solidFill>
                <a:latin typeface="Noto Sans"/>
                <a:hlinkClick r:id="rId2"/>
              </a:rPr>
              <a:t>https://www.inegi.org.mx/programas/inpc/2018/</a:t>
            </a:r>
            <a:r>
              <a:rPr sz="444" b="0" i="0">
                <a:solidFill>
                  <a:srgbClr val="1F3031"/>
                </a:solidFill>
                <a:latin typeface="Noto Sans"/>
              </a:rPr>
              <a:t>.</a:t>
            </a:r>
          </a:p>
        </p:txBody>
      </p:sp>
      <p:sp>
        <p:nvSpPr>
          <p:cNvPr id="294" name="ANUARIO_ANEXO_P127_L050"/>
          <p:cNvSpPr txBox="1"/>
          <p:nvPr/>
        </p:nvSpPr>
        <p:spPr>
          <a:xfrm>
            <a:off x="4647536" y="649999"/>
            <a:ext cx="4098297"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SOBRE INFORMACIÓN DE INGRESO Y GASTO DE LOS HOGARES EN </a:t>
            </a:r>
          </a:p>
        </p:txBody>
      </p:sp>
      <p:sp>
        <p:nvSpPr>
          <p:cNvPr id="295" name="ANUARIO_ANEXO_P127_L051"/>
          <p:cNvSpPr txBox="1"/>
          <p:nvPr/>
        </p:nvSpPr>
        <p:spPr>
          <a:xfrm>
            <a:off x="4647536" y="792395"/>
            <a:ext cx="2578313"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TELECOMUNICACIONES FIJAS Y MÓVILES</a:t>
            </a:r>
          </a:p>
        </p:txBody>
      </p:sp>
      <p:sp>
        <p:nvSpPr>
          <p:cNvPr id="296" name="ANUARIO_ANEXO_P127_L052"/>
          <p:cNvSpPr txBox="1"/>
          <p:nvPr/>
        </p:nvSpPr>
        <p:spPr>
          <a:xfrm>
            <a:off x="4647536" y="1017562"/>
            <a:ext cx="412840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mostrada en el Anuario en lo que se refiere al gasto e ingreso de los hogares en </a:t>
            </a:r>
          </a:p>
        </p:txBody>
      </p:sp>
      <p:sp>
        <p:nvSpPr>
          <p:cNvPr id="297" name="ANUARIO_ANEXO_P127_L053"/>
          <p:cNvSpPr txBox="1"/>
          <p:nvPr/>
        </p:nvSpPr>
        <p:spPr>
          <a:xfrm>
            <a:off x="4647536" y="1125781"/>
            <a:ext cx="41281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se obtuvo con base en la información de la ENIGH 2024 que </a:t>
            </a:r>
          </a:p>
        </p:txBody>
      </p:sp>
      <p:sp>
        <p:nvSpPr>
          <p:cNvPr id="298" name="ANUARIO_ANEXO_P127_L054"/>
          <p:cNvSpPr txBox="1"/>
          <p:nvPr/>
        </p:nvSpPr>
        <p:spPr>
          <a:xfrm>
            <a:off x="4647536" y="1234000"/>
            <a:ext cx="242960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publica el INEGI. La metodología utilizada es la siguiente:</a:t>
            </a:r>
          </a:p>
        </p:txBody>
      </p:sp>
      <p:sp>
        <p:nvSpPr>
          <p:cNvPr id="299" name="ANUARIO_ANEXO_P127_L055"/>
          <p:cNvSpPr txBox="1"/>
          <p:nvPr/>
        </p:nvSpPr>
        <p:spPr>
          <a:xfrm>
            <a:off x="4814609" y="1448337"/>
            <a:ext cx="396070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a:t>
            </a:r>
            <a:r>
              <a:rPr sz="592" b="0" i="0">
                <a:solidFill>
                  <a:srgbClr val="1F3031"/>
                </a:solidFill>
                <a:latin typeface="Noto Sans"/>
              </a:rPr>
              <a:t>En primera instancia, se clasifican los hogares en deciles de acuerdo con su ingreso trimestral. </a:t>
            </a:r>
          </a:p>
        </p:txBody>
      </p:sp>
      <p:sp>
        <p:nvSpPr>
          <p:cNvPr id="300" name="ANUARIO_ANEXO_P127_L056"/>
          <p:cNvSpPr txBox="1"/>
          <p:nvPr/>
        </p:nvSpPr>
        <p:spPr>
          <a:xfrm>
            <a:off x="4925991" y="1557240"/>
            <a:ext cx="384976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esto se utiliza el ingreso corriente que se encuentra en una de las tablas disponibles </a:t>
            </a:r>
          </a:p>
        </p:txBody>
      </p:sp>
      <p:sp>
        <p:nvSpPr>
          <p:cNvPr id="301" name="ANUARIO_ANEXO_P127_L057"/>
          <p:cNvSpPr txBox="1"/>
          <p:nvPr/>
        </p:nvSpPr>
        <p:spPr>
          <a:xfrm>
            <a:off x="4925991" y="1665459"/>
            <a:ext cx="384968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encuesta llamada CONCENTRADOHOGAR. Los deciles se calculan de acuerdo con el </a:t>
            </a:r>
          </a:p>
        </p:txBody>
      </p:sp>
      <p:sp>
        <p:nvSpPr>
          <p:cNvPr id="302" name="ANUARIO_ANEXO_P127_L058"/>
          <p:cNvSpPr txBox="1"/>
          <p:nvPr/>
        </p:nvSpPr>
        <p:spPr>
          <a:xfrm>
            <a:off x="4925991" y="1773678"/>
            <a:ext cx="38498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universo que se esté considerando, ya sea a nivel nacional o para cada una de las entidades </a:t>
            </a:r>
          </a:p>
        </p:txBody>
      </p:sp>
      <p:sp>
        <p:nvSpPr>
          <p:cNvPr id="303" name="ANUARIO_ANEXO_P127_L059"/>
          <p:cNvSpPr txBox="1"/>
          <p:nvPr/>
        </p:nvSpPr>
        <p:spPr>
          <a:xfrm>
            <a:off x="4925991" y="1881897"/>
            <a:ext cx="58604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federativas.</a:t>
            </a:r>
          </a:p>
        </p:txBody>
      </p:sp>
      <p:sp>
        <p:nvSpPr>
          <p:cNvPr id="304" name="ANUARIO_ANEXO_P127_L060"/>
          <p:cNvSpPr txBox="1"/>
          <p:nvPr/>
        </p:nvSpPr>
        <p:spPr>
          <a:xfrm>
            <a:off x="4814609" y="2096234"/>
            <a:ext cx="39611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a:t>
            </a:r>
            <a:r>
              <a:rPr sz="592" b="0" i="0">
                <a:solidFill>
                  <a:srgbClr val="1F3031"/>
                </a:solidFill>
                <a:latin typeface="Noto Sans"/>
              </a:rPr>
              <a:t>  Para las figuras mostradas tanto en la parte nacional como la estatal, se definen dos universos: </a:t>
            </a:r>
          </a:p>
        </p:txBody>
      </p:sp>
      <p:sp>
        <p:nvSpPr>
          <p:cNvPr id="305" name="ANUARIO_ANEXO_P127_L061"/>
          <p:cNvSpPr txBox="1"/>
          <p:nvPr/>
        </p:nvSpPr>
        <p:spPr>
          <a:xfrm>
            <a:off x="4925991" y="2205137"/>
            <a:ext cx="384989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fijas (Universo A) y </a:t>
            </a:r>
          </a:p>
        </p:txBody>
      </p:sp>
      <p:sp>
        <p:nvSpPr>
          <p:cNvPr id="306" name="ANUARIO_ANEXO_P127_L062"/>
          <p:cNvSpPr txBox="1"/>
          <p:nvPr/>
        </p:nvSpPr>
        <p:spPr>
          <a:xfrm>
            <a:off x="4925991" y="2313356"/>
            <a:ext cx="38498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móviles (Universo </a:t>
            </a:r>
          </a:p>
        </p:txBody>
      </p:sp>
      <p:sp>
        <p:nvSpPr>
          <p:cNvPr id="307" name="ANUARIO_ANEXO_P127_L063"/>
          <p:cNvSpPr txBox="1"/>
          <p:nvPr/>
        </p:nvSpPr>
        <p:spPr>
          <a:xfrm>
            <a:off x="4925991" y="2421575"/>
            <a:ext cx="2234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t>
            </a:r>
          </a:p>
        </p:txBody>
      </p:sp>
      <p:sp>
        <p:nvSpPr>
          <p:cNvPr id="308" name="ANUARIO_ANEXO_P127_L064"/>
          <p:cNvSpPr txBox="1"/>
          <p:nvPr/>
        </p:nvSpPr>
        <p:spPr>
          <a:xfrm>
            <a:off x="4814609" y="2635913"/>
            <a:ext cx="396089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3.</a:t>
            </a:r>
            <a:r>
              <a:rPr sz="592" b="0" i="0">
                <a:solidFill>
                  <a:srgbClr val="1F3031"/>
                </a:solidFill>
                <a:latin typeface="Noto Sans"/>
              </a:rPr>
              <a:t>  Para estos universos se estima el gasto trimestral en los servicios de telecomunicaciones fijas </a:t>
            </a:r>
          </a:p>
        </p:txBody>
      </p:sp>
      <p:sp>
        <p:nvSpPr>
          <p:cNvPr id="309" name="ANUARIO_ANEXO_P127_L065"/>
          <p:cNvSpPr txBox="1"/>
          <p:nvPr/>
        </p:nvSpPr>
        <p:spPr>
          <a:xfrm>
            <a:off x="4925991" y="2744815"/>
            <a:ext cx="384998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móviles considerando los siguientes conceptos, utilizando la tabla GASTOSHOGAR de la </a:t>
            </a:r>
          </a:p>
        </p:txBody>
      </p:sp>
      <p:sp>
        <p:nvSpPr>
          <p:cNvPr id="310" name="ANUARIO_ANEXO_P127_L066"/>
          <p:cNvSpPr txBox="1"/>
          <p:nvPr/>
        </p:nvSpPr>
        <p:spPr>
          <a:xfrm>
            <a:off x="4925991" y="2853034"/>
            <a:ext cx="5081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encuesta:</a:t>
            </a:r>
          </a:p>
        </p:txBody>
      </p:sp>
      <p:sp>
        <p:nvSpPr>
          <p:cNvPr id="311" name="ANUARIO_ANEXO_P127_L067"/>
          <p:cNvSpPr txBox="1"/>
          <p:nvPr/>
        </p:nvSpPr>
        <p:spPr>
          <a:xfrm>
            <a:off x="4647536" y="3068055"/>
            <a:ext cx="185703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fijas (Universo A):</a:t>
            </a:r>
          </a:p>
        </p:txBody>
      </p:sp>
      <p:sp>
        <p:nvSpPr>
          <p:cNvPr id="312" name="ANUARIO_ANEXO_P127_L068"/>
          <p:cNvSpPr txBox="1"/>
          <p:nvPr/>
        </p:nvSpPr>
        <p:spPr>
          <a:xfrm>
            <a:off x="4781194" y="3283077"/>
            <a:ext cx="17950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R005: Larga distancia en línea particular</a:t>
            </a:r>
          </a:p>
        </p:txBody>
      </p:sp>
      <p:sp>
        <p:nvSpPr>
          <p:cNvPr id="313" name="ANUARIO_ANEXO_P127_L069"/>
          <p:cNvSpPr txBox="1"/>
          <p:nvPr/>
        </p:nvSpPr>
        <p:spPr>
          <a:xfrm>
            <a:off x="4781194" y="3391295"/>
            <a:ext cx="187163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R006: Llamadas locales de línea particular</a:t>
            </a:r>
          </a:p>
        </p:txBody>
      </p:sp>
      <p:sp>
        <p:nvSpPr>
          <p:cNvPr id="314" name="ANUARIO_ANEXO_P127_L070"/>
          <p:cNvSpPr txBox="1"/>
          <p:nvPr/>
        </p:nvSpPr>
        <p:spPr>
          <a:xfrm>
            <a:off x="4781194" y="3499514"/>
            <a:ext cx="765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R008: Internet</a:t>
            </a:r>
          </a:p>
        </p:txBody>
      </p:sp>
      <p:sp>
        <p:nvSpPr>
          <p:cNvPr id="315" name="ANUARIO_ANEXO_P127_L071"/>
          <p:cNvSpPr txBox="1"/>
          <p:nvPr/>
        </p:nvSpPr>
        <p:spPr>
          <a:xfrm>
            <a:off x="4781194" y="3607733"/>
            <a:ext cx="117778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R009: Televisión de paga</a:t>
            </a:r>
          </a:p>
        </p:txBody>
      </p:sp>
      <p:sp>
        <p:nvSpPr>
          <p:cNvPr id="316" name="ANUARIO_ANEXO_P127_L072"/>
          <p:cNvSpPr txBox="1"/>
          <p:nvPr/>
        </p:nvSpPr>
        <p:spPr>
          <a:xfrm>
            <a:off x="4781194" y="3715952"/>
            <a:ext cx="153029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R010: Paquete Internet y teléfono</a:t>
            </a:r>
          </a:p>
        </p:txBody>
      </p:sp>
      <p:sp>
        <p:nvSpPr>
          <p:cNvPr id="317" name="ANUARIO_ANEXO_P127_L073"/>
          <p:cNvSpPr txBox="1"/>
          <p:nvPr/>
        </p:nvSpPr>
        <p:spPr>
          <a:xfrm>
            <a:off x="4781194" y="3824171"/>
            <a:ext cx="2300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R011: Paquete Internet, teléfono y televisión de paga </a:t>
            </a:r>
          </a:p>
        </p:txBody>
      </p:sp>
      <p:sp>
        <p:nvSpPr>
          <p:cNvPr id="318" name="ANUARIO_ANEXO_P127_L074"/>
          <p:cNvSpPr txBox="1"/>
          <p:nvPr/>
        </p:nvSpPr>
        <p:spPr>
          <a:xfrm>
            <a:off x="4647536" y="4039192"/>
            <a:ext cx="199924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móviles (Universo B):</a:t>
            </a:r>
          </a:p>
        </p:txBody>
      </p:sp>
      <p:sp>
        <p:nvSpPr>
          <p:cNvPr id="319" name="ANUARIO_ANEXO_P127_L075"/>
          <p:cNvSpPr txBox="1"/>
          <p:nvPr/>
        </p:nvSpPr>
        <p:spPr>
          <a:xfrm>
            <a:off x="4781194" y="4254213"/>
            <a:ext cx="28627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F003: Compra de tarjetas y pago por el servicio de teléfono celular</a:t>
            </a:r>
          </a:p>
        </p:txBody>
      </p:sp>
      <p:sp>
        <p:nvSpPr>
          <p:cNvPr id="320" name="ANUARIO_ANEXO_P127_L076"/>
          <p:cNvSpPr txBox="1"/>
          <p:nvPr/>
        </p:nvSpPr>
        <p:spPr>
          <a:xfrm>
            <a:off x="4781194" y="4362433"/>
            <a:ext cx="18172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R007: Teléfonos celulares (plan mensual)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128</a:t>
            </a:r>
          </a:p>
        </p:txBody>
      </p:sp>
      <p:sp>
        <p:nvSpPr>
          <p:cNvPr id="222" name="ANUARIO_ANEXO_P128_L001"/>
          <p:cNvSpPr txBox="1"/>
          <p:nvPr/>
        </p:nvSpPr>
        <p:spPr>
          <a:xfrm>
            <a:off x="695494" y="656471"/>
            <a:ext cx="396126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Para obtener el gasto promedio en servicios fijos o en servicios móviles, según sea el caso, </a:t>
            </a:r>
          </a:p>
        </p:txBody>
      </p:sp>
      <p:sp>
        <p:nvSpPr>
          <p:cNvPr id="223" name="ANUARIO_ANEXO_P128_L002"/>
          <p:cNvSpPr txBox="1"/>
          <p:nvPr/>
        </p:nvSpPr>
        <p:spPr>
          <a:xfrm>
            <a:off x="806876" y="770873"/>
            <a:ext cx="38500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 utilizan los gastos listados en el paso tres y se dividen entre tres para que sean mensuales. </a:t>
            </a:r>
          </a:p>
        </p:txBody>
      </p:sp>
      <p:sp>
        <p:nvSpPr>
          <p:cNvPr id="224" name="ANUARIO_ANEXO_P128_L003"/>
          <p:cNvSpPr txBox="1"/>
          <p:nvPr/>
        </p:nvSpPr>
        <p:spPr>
          <a:xfrm>
            <a:off x="806876" y="884591"/>
            <a:ext cx="384969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Posteriormente, el gasto se divide entre el número de hogares que disponen y gastan en los </a:t>
            </a:r>
          </a:p>
        </p:txBody>
      </p:sp>
      <p:sp>
        <p:nvSpPr>
          <p:cNvPr id="225" name="ANUARIO_ANEXO_P128_L004"/>
          <p:cNvSpPr txBox="1"/>
          <p:nvPr/>
        </p:nvSpPr>
        <p:spPr>
          <a:xfrm>
            <a:off x="806876" y="998309"/>
            <a:ext cx="384940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analizados. De esta manera, el gasto mostrado en las figuras del Anuario representa </a:t>
            </a:r>
          </a:p>
        </p:txBody>
      </p:sp>
      <p:sp>
        <p:nvSpPr>
          <p:cNvPr id="226" name="ANUARIO_ANEXO_P128_L005"/>
          <p:cNvSpPr txBox="1"/>
          <p:nvPr/>
        </p:nvSpPr>
        <p:spPr>
          <a:xfrm>
            <a:off x="806876" y="1112027"/>
            <a:ext cx="385004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gasto promedio mensual en telecomunicaciones fijas o en telecomunicaciones móviles </a:t>
            </a:r>
          </a:p>
        </p:txBody>
      </p:sp>
      <p:sp>
        <p:nvSpPr>
          <p:cNvPr id="227" name="ANUARIO_ANEXO_P128_L006"/>
          <p:cNvSpPr txBox="1"/>
          <p:nvPr/>
        </p:nvSpPr>
        <p:spPr>
          <a:xfrm>
            <a:off x="806876" y="1225745"/>
            <a:ext cx="291584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que tuvieron los hogares que disponían y gastaban en estos servicios.</a:t>
            </a:r>
          </a:p>
        </p:txBody>
      </p:sp>
      <p:sp>
        <p:nvSpPr>
          <p:cNvPr id="228" name="ANUARIO_ANEXO_P128_L007"/>
          <p:cNvSpPr txBox="1"/>
          <p:nvPr/>
        </p:nvSpPr>
        <p:spPr>
          <a:xfrm>
            <a:off x="695494" y="1445582"/>
            <a:ext cx="396054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a:t>
            </a:r>
            <a:r>
              <a:rPr sz="592" b="0" i="0">
                <a:solidFill>
                  <a:srgbClr val="1F3031"/>
                </a:solidFill>
                <a:latin typeface="Noto Sans"/>
              </a:rPr>
              <a:t>  Para el porcentaje del gasto con respecto al ingreso, para cada decil de ingreso se toman los </a:t>
            </a:r>
          </a:p>
        </p:txBody>
      </p:sp>
      <p:sp>
        <p:nvSpPr>
          <p:cNvPr id="229" name="ANUARIO_ANEXO_P128_L008"/>
          <p:cNvSpPr txBox="1"/>
          <p:nvPr/>
        </p:nvSpPr>
        <p:spPr>
          <a:xfrm>
            <a:off x="806876" y="1559984"/>
            <a:ext cx="38500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gastos en telecomunicaciones fijas y móviles que se explican en el paso dos y se dividen entre </a:t>
            </a:r>
          </a:p>
        </p:txBody>
      </p:sp>
      <p:sp>
        <p:nvSpPr>
          <p:cNvPr id="230" name="ANUARIO_ANEXO_P128_L009"/>
          <p:cNvSpPr txBox="1"/>
          <p:nvPr/>
        </p:nvSpPr>
        <p:spPr>
          <a:xfrm>
            <a:off x="806876" y="1673702"/>
            <a:ext cx="324312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ingreso total de los hogares que dispusieron y gastaron en dichos servicios.</a:t>
            </a:r>
          </a:p>
        </p:txBody>
      </p:sp>
      <p:sp>
        <p:nvSpPr>
          <p:cNvPr id="231" name="ANUARIO_ANEXO_P128_L010"/>
          <p:cNvSpPr txBox="1"/>
          <p:nvPr/>
        </p:nvSpPr>
        <p:spPr>
          <a:xfrm>
            <a:off x="528422" y="1896891"/>
            <a:ext cx="3547076"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CONSUMO DE RADIO Y TELEVISIÓN, PARTICULARIDADES </a:t>
            </a:r>
          </a:p>
        </p:txBody>
      </p:sp>
      <p:sp>
        <p:nvSpPr>
          <p:cNvPr id="232" name="ANUARIO_ANEXO_P128_L011"/>
          <p:cNvSpPr txBox="1"/>
          <p:nvPr/>
        </p:nvSpPr>
        <p:spPr>
          <a:xfrm>
            <a:off x="528422" y="2044786"/>
            <a:ext cx="1217495"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METODOLÓGICAS</a:t>
            </a:r>
          </a:p>
        </p:txBody>
      </p:sp>
      <p:sp>
        <p:nvSpPr>
          <p:cNvPr id="233" name="ANUARIO_ANEXO_P128_L012"/>
          <p:cNvSpPr txBox="1"/>
          <p:nvPr/>
        </p:nvSpPr>
        <p:spPr>
          <a:xfrm>
            <a:off x="528422" y="2275452"/>
            <a:ext cx="41281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presentada toma como base los datos compilados por Nielsen IBOPE (Nielsen </a:t>
            </a:r>
          </a:p>
        </p:txBody>
      </p:sp>
      <p:sp>
        <p:nvSpPr>
          <p:cNvPr id="234" name="ANUARIO_ANEXO_P128_L013"/>
          <p:cNvSpPr txBox="1"/>
          <p:nvPr/>
        </p:nvSpPr>
        <p:spPr>
          <a:xfrm>
            <a:off x="528422" y="2389170"/>
            <a:ext cx="41281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IBOPE México S.A de C.V.), a través dispositivos llamados “people meter”, mismos que permiten la </a:t>
            </a:r>
          </a:p>
        </p:txBody>
      </p:sp>
      <p:sp>
        <p:nvSpPr>
          <p:cNvPr id="235" name="ANUARIO_ANEXO_P128_L014"/>
          <p:cNvSpPr txBox="1"/>
          <p:nvPr/>
        </p:nvSpPr>
        <p:spPr>
          <a:xfrm>
            <a:off x="528422" y="2502889"/>
            <a:ext cx="19280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recopilación de datos por medio electrónico.</a:t>
            </a:r>
          </a:p>
        </p:txBody>
      </p:sp>
      <p:sp>
        <p:nvSpPr>
          <p:cNvPr id="236" name="ANUARIO_ANEXO_P128_L015"/>
          <p:cNvSpPr txBox="1"/>
          <p:nvPr/>
        </p:nvSpPr>
        <p:spPr>
          <a:xfrm>
            <a:off x="528422" y="2723408"/>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Nielsen IBOPE tiene mediciones agrupadas en cinco rubros o dominios en México: AMCM (Área </a:t>
            </a:r>
          </a:p>
        </p:txBody>
      </p:sp>
      <p:sp>
        <p:nvSpPr>
          <p:cNvPr id="237" name="ANUARIO_ANEXO_P128_L016"/>
          <p:cNvSpPr txBox="1"/>
          <p:nvPr/>
        </p:nvSpPr>
        <p:spPr>
          <a:xfrm>
            <a:off x="528422" y="2837126"/>
            <a:ext cx="412780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Metropolitana de la Ciudad de México), Monterrey (Área Metropolitana de la Ciudad de Monterrey), </a:t>
            </a:r>
          </a:p>
        </p:txBody>
      </p:sp>
      <p:sp>
        <p:nvSpPr>
          <p:cNvPr id="238" name="ANUARIO_ANEXO_P128_L017"/>
          <p:cNvSpPr txBox="1"/>
          <p:nvPr/>
        </p:nvSpPr>
        <p:spPr>
          <a:xfrm>
            <a:off x="528422" y="2950845"/>
            <a:ext cx="41279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Guadalajara (Área Metropolitana de la Ciudad de Guadalajara); los dos anteriores considerados </a:t>
            </a:r>
          </a:p>
        </p:txBody>
      </p:sp>
      <p:sp>
        <p:nvSpPr>
          <p:cNvPr id="239" name="ANUARIO_ANEXO_P128_L018"/>
          <p:cNvSpPr txBox="1"/>
          <p:nvPr/>
        </p:nvSpPr>
        <p:spPr>
          <a:xfrm>
            <a:off x="528422" y="3064563"/>
            <a:ext cx="412768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dominios indicativos, además un conglomerado de 25 ciudades del interior de la república y </a:t>
            </a:r>
          </a:p>
        </p:txBody>
      </p:sp>
      <p:sp>
        <p:nvSpPr>
          <p:cNvPr id="240" name="ANUARIO_ANEXO_P128_L019"/>
          <p:cNvSpPr txBox="1"/>
          <p:nvPr/>
        </p:nvSpPr>
        <p:spPr>
          <a:xfrm>
            <a:off x="528422" y="3178281"/>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conjunto de las 28 ciudades del estudio. Los datos que se presentan a nivel país (28 ciudades) son </a:t>
            </a:r>
          </a:p>
        </p:txBody>
      </p:sp>
      <p:sp>
        <p:nvSpPr>
          <p:cNvPr id="241" name="ANUARIO_ANEXO_P128_L020"/>
          <p:cNvSpPr txBox="1"/>
          <p:nvPr/>
        </p:nvSpPr>
        <p:spPr>
          <a:xfrm>
            <a:off x="528422" y="3291999"/>
            <a:ext cx="23476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del total de los dominios evaluados por Nielsen IBOPE. </a:t>
            </a:r>
          </a:p>
        </p:txBody>
      </p:sp>
      <p:sp>
        <p:nvSpPr>
          <p:cNvPr id="242" name="ANUARIO_ANEXO_P128_L021"/>
          <p:cNvSpPr txBox="1"/>
          <p:nvPr/>
        </p:nvSpPr>
        <p:spPr>
          <a:xfrm>
            <a:off x="528422" y="3512519"/>
            <a:ext cx="412807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referirse al Universo de Personas se consideran las personas mayores de 4 años que tengan acceso </a:t>
            </a:r>
          </a:p>
        </p:txBody>
      </p:sp>
      <p:sp>
        <p:nvSpPr>
          <p:cNvPr id="243" name="ANUARIO_ANEXO_P128_L022"/>
          <p:cNvSpPr txBox="1"/>
          <p:nvPr/>
        </p:nvSpPr>
        <p:spPr>
          <a:xfrm>
            <a:off x="528422" y="3626237"/>
            <a:ext cx="179652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 una televisión funcionando en su hogar.</a:t>
            </a:r>
          </a:p>
        </p:txBody>
      </p:sp>
      <p:sp>
        <p:nvSpPr>
          <p:cNvPr id="244" name="ANUARIO_ANEXO_P128_L023"/>
          <p:cNvSpPr txBox="1"/>
          <p:nvPr/>
        </p:nvSpPr>
        <p:spPr>
          <a:xfrm>
            <a:off x="4647536" y="657155"/>
            <a:ext cx="41282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niveles de audiencia reportados son de las personas que cuentan con un televisor que funciona y </a:t>
            </a:r>
          </a:p>
        </p:txBody>
      </p:sp>
      <p:sp>
        <p:nvSpPr>
          <p:cNvPr id="245" name="ANUARIO_ANEXO_P128_L024"/>
          <p:cNvSpPr txBox="1"/>
          <p:nvPr/>
        </p:nvSpPr>
        <p:spPr>
          <a:xfrm>
            <a:off x="4647536" y="764151"/>
            <a:ext cx="41277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tiene acceso a ver algún tipo de contenido en canales de TV a través de del mismo, independientemente </a:t>
            </a:r>
          </a:p>
        </p:txBody>
      </p:sp>
      <p:sp>
        <p:nvSpPr>
          <p:cNvPr id="246" name="ANUARIO_ANEXO_P128_L025"/>
          <p:cNvSpPr txBox="1"/>
          <p:nvPr/>
        </p:nvSpPr>
        <p:spPr>
          <a:xfrm>
            <a:off x="4647536" y="871146"/>
            <a:ext cx="412842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forma en que reciban la señal (señal abierta, o restringida u otros dispositivos conectados a la </a:t>
            </a:r>
          </a:p>
        </p:txBody>
      </p:sp>
      <p:sp>
        <p:nvSpPr>
          <p:cNvPr id="247" name="ANUARIO_ANEXO_P128_L026"/>
          <p:cNvSpPr txBox="1"/>
          <p:nvPr/>
        </p:nvSpPr>
        <p:spPr>
          <a:xfrm>
            <a:off x="4647536" y="978142"/>
            <a:ext cx="240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TV) y se incluyen invitados en el hogar (Guests Viewers). </a:t>
            </a:r>
          </a:p>
        </p:txBody>
      </p:sp>
      <p:sp>
        <p:nvSpPr>
          <p:cNvPr id="248" name="ANUARIO_ANEXO_P128_L027"/>
          <p:cNvSpPr txBox="1"/>
          <p:nvPr/>
        </p:nvSpPr>
        <p:spPr>
          <a:xfrm>
            <a:off x="4647536" y="1191940"/>
            <a:ext cx="41284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Cuando se habla de canales nacionales de acuerdo al análisis definido por el IFT se consideran: </a:t>
            </a:r>
          </a:p>
        </p:txBody>
      </p:sp>
      <p:sp>
        <p:nvSpPr>
          <p:cNvPr id="249" name="ANUARIO_ANEXO_P128_L028"/>
          <p:cNvSpPr txBox="1"/>
          <p:nvPr/>
        </p:nvSpPr>
        <p:spPr>
          <a:xfrm>
            <a:off x="4647536" y="1298935"/>
            <a:ext cx="346571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Azteca Uno, Las Estrellas, Imagen TV, Canal 5, Azteca 7, NU9VE, A MAS + y ADN40.</a:t>
            </a:r>
          </a:p>
        </p:txBody>
      </p:sp>
      <p:sp>
        <p:nvSpPr>
          <p:cNvPr id="250" name="ANUARIO_ANEXO_P128_L029"/>
          <p:cNvSpPr txBox="1"/>
          <p:nvPr/>
        </p:nvSpPr>
        <p:spPr>
          <a:xfrm>
            <a:off x="4647536" y="1512733"/>
            <a:ext cx="412816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análisis e interpretación fue realizado bajo la responsabilidad del IFT, con información de </a:t>
            </a:r>
          </a:p>
        </p:txBody>
      </p:sp>
      <p:sp>
        <p:nvSpPr>
          <p:cNvPr id="251" name="ANUARIO_ANEXO_P128_L030"/>
          <p:cNvSpPr txBox="1"/>
          <p:nvPr/>
        </p:nvSpPr>
        <p:spPr>
          <a:xfrm>
            <a:off x="4647536" y="1619728"/>
            <a:ext cx="41279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audiencias de Nielsen IBOPE México bajo los términos contractuales de licenciamiento de las bases </a:t>
            </a:r>
          </a:p>
        </p:txBody>
      </p:sp>
      <p:sp>
        <p:nvSpPr>
          <p:cNvPr id="252" name="ANUARIO_ANEXO_P128_L031"/>
          <p:cNvSpPr txBox="1"/>
          <p:nvPr/>
        </p:nvSpPr>
        <p:spPr>
          <a:xfrm>
            <a:off x="4647536" y="1726723"/>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datos de audiencias de televisión, Nielsen IBOPE ha validado al IFT que la información estadística </a:t>
            </a:r>
          </a:p>
        </p:txBody>
      </p:sp>
      <p:sp>
        <p:nvSpPr>
          <p:cNvPr id="253" name="ANUARIO_ANEXO_P128_L032"/>
          <p:cNvSpPr txBox="1"/>
          <p:nvPr/>
        </p:nvSpPr>
        <p:spPr>
          <a:xfrm>
            <a:off x="4647536" y="1833719"/>
            <a:ext cx="412822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audiencias de televisión contenida en el mencionado reporte concuerda con aquellas licenciadas </a:t>
            </a:r>
          </a:p>
        </p:txBody>
      </p:sp>
      <p:sp>
        <p:nvSpPr>
          <p:cNvPr id="254" name="ANUARIO_ANEXO_P128_L033"/>
          <p:cNvSpPr txBox="1"/>
          <p:nvPr/>
        </p:nvSpPr>
        <p:spPr>
          <a:xfrm>
            <a:off x="4647536" y="1940714"/>
            <a:ext cx="11266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IFT por Nielsen IBOPE.</a:t>
            </a:r>
          </a:p>
        </p:txBody>
      </p:sp>
      <p:sp>
        <p:nvSpPr>
          <p:cNvPr id="255" name="ANUARIO_ANEXO_P128_L034"/>
          <p:cNvSpPr txBox="1"/>
          <p:nvPr/>
        </p:nvSpPr>
        <p:spPr>
          <a:xfrm>
            <a:off x="4647536" y="2157182"/>
            <a:ext cx="3526619"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ENCUESTA NACIONAL SOBRE DISPONIBILIDAD Y USO DE </a:t>
            </a:r>
          </a:p>
        </p:txBody>
      </p:sp>
      <p:sp>
        <p:nvSpPr>
          <p:cNvPr id="256" name="ANUARIO_ANEXO_P128_L035"/>
          <p:cNvSpPr txBox="1"/>
          <p:nvPr/>
        </p:nvSpPr>
        <p:spPr>
          <a:xfrm>
            <a:off x="4647536" y="2298355"/>
            <a:ext cx="4106260"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TECNOLOGÍAS DE LA INFORMACIÓN EN LOS HOGARES (ENDUTIH) </a:t>
            </a:r>
          </a:p>
        </p:txBody>
      </p:sp>
      <p:sp>
        <p:nvSpPr>
          <p:cNvPr id="257" name="ANUARIO_ANEXO_P128_L036"/>
          <p:cNvSpPr txBox="1"/>
          <p:nvPr/>
        </p:nvSpPr>
        <p:spPr>
          <a:xfrm>
            <a:off x="4647536" y="2439527"/>
            <a:ext cx="2852194"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2025, PARTICULARIDADES METODOLÓGICAS</a:t>
            </a:r>
            <a:r>
              <a:rPr sz="475" b="1" i="0">
                <a:solidFill>
                  <a:srgbClr val="484979"/>
                </a:solidFill>
                <a:latin typeface="Noto Sans"/>
              </a:rPr>
              <a:t>13</a:t>
            </a:r>
          </a:p>
        </p:txBody>
      </p:sp>
      <p:sp>
        <p:nvSpPr>
          <p:cNvPr id="258" name="ANUARIO_ANEXO_P128_L037"/>
          <p:cNvSpPr txBox="1"/>
          <p:nvPr/>
        </p:nvSpPr>
        <p:spPr>
          <a:xfrm>
            <a:off x="4647536" y="2663470"/>
            <a:ext cx="412838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ENDUTIH tiene como finalidad obtener información sobre la disponibilidad y el uso de las </a:t>
            </a:r>
          </a:p>
        </p:txBody>
      </p:sp>
      <p:sp>
        <p:nvSpPr>
          <p:cNvPr id="259" name="ANUARIO_ANEXO_P128_L038"/>
          <p:cNvSpPr txBox="1"/>
          <p:nvPr/>
        </p:nvSpPr>
        <p:spPr>
          <a:xfrm>
            <a:off x="4647536" y="2770466"/>
            <a:ext cx="412816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tecnologías de información y comunicaciones en los hogares y su utilización por los individuos de </a:t>
            </a:r>
          </a:p>
        </p:txBody>
      </p:sp>
      <p:sp>
        <p:nvSpPr>
          <p:cNvPr id="260" name="ANUARIO_ANEXO_P128_L039"/>
          <p:cNvSpPr txBox="1"/>
          <p:nvPr/>
        </p:nvSpPr>
        <p:spPr>
          <a:xfrm>
            <a:off x="4647536" y="2877461"/>
            <a:ext cx="41275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seis años o más en México. A partir de la publicación de los resultados del año 2021 de la ENDUTIH, </a:t>
            </a:r>
          </a:p>
        </p:txBody>
      </p:sp>
      <p:sp>
        <p:nvSpPr>
          <p:cNvPr id="261" name="ANUARIO_ANEXO_P128_L040"/>
          <p:cNvSpPr txBox="1"/>
          <p:nvPr/>
        </p:nvSpPr>
        <p:spPr>
          <a:xfrm>
            <a:off x="4647536" y="2984457"/>
            <a:ext cx="412772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factores de expansión responden a la nueva estimación de población, en lugar de las cifras de las </a:t>
            </a:r>
          </a:p>
        </p:txBody>
      </p:sp>
      <p:sp>
        <p:nvSpPr>
          <p:cNvPr id="262" name="ANUARIO_ANEXO_P128_L041"/>
          <p:cNvSpPr txBox="1"/>
          <p:nvPr/>
        </p:nvSpPr>
        <p:spPr>
          <a:xfrm>
            <a:off x="4647536" y="3091453"/>
            <a:ext cx="41284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proyecciones poblacionales que se venían utilizando desde 2013. Ahora, el INEGI estará generando </a:t>
            </a:r>
          </a:p>
        </p:txBody>
      </p:sp>
      <p:sp>
        <p:nvSpPr>
          <p:cNvPr id="263" name="ANUARIO_ANEXO_P128_L042"/>
          <p:cNvSpPr txBox="1"/>
          <p:nvPr/>
        </p:nvSpPr>
        <p:spPr>
          <a:xfrm>
            <a:off x="4647536" y="3198448"/>
            <a:ext cx="367813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una estimación de población, con base en la propia actualización de la Muestra Maestra.</a:t>
            </a:r>
          </a:p>
        </p:txBody>
      </p:sp>
      <p:sp>
        <p:nvSpPr>
          <p:cNvPr id="264" name="ANUARIO_ANEXO_P128_L043"/>
          <p:cNvSpPr txBox="1"/>
          <p:nvPr/>
        </p:nvSpPr>
        <p:spPr>
          <a:xfrm>
            <a:off x="4647536" y="3412246"/>
            <a:ext cx="41285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eventos de los años 2017 a 2020 fueron actualizados con estimación de la población el 4 de julio </a:t>
            </a:r>
          </a:p>
        </p:txBody>
      </p:sp>
      <p:sp>
        <p:nvSpPr>
          <p:cNvPr id="265" name="ANUARIO_ANEXO_P128_L044"/>
          <p:cNvSpPr txBox="1"/>
          <p:nvPr/>
        </p:nvSpPr>
        <p:spPr>
          <a:xfrm>
            <a:off x="4647536" y="3519241"/>
            <a:ext cx="4128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2022, a la par de la publicación de 2021. Los eventos del año 2015-2016 se actualizaron el 30 de </a:t>
            </a:r>
          </a:p>
        </p:txBody>
      </p:sp>
      <p:sp>
        <p:nvSpPr>
          <p:cNvPr id="266" name="ANUARIO_ANEXO_P128_L045"/>
          <p:cNvSpPr txBox="1"/>
          <p:nvPr/>
        </p:nvSpPr>
        <p:spPr>
          <a:xfrm>
            <a:off x="4647536" y="3626237"/>
            <a:ext cx="9354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noviembre de 2022. </a:t>
            </a:r>
          </a:p>
        </p:txBody>
      </p:sp>
      <p:sp>
        <p:nvSpPr>
          <p:cNvPr id="267" name="ANUARIO_ANEXO_P128_L046"/>
          <p:cNvSpPr txBox="1"/>
          <p:nvPr/>
        </p:nvSpPr>
        <p:spPr>
          <a:xfrm>
            <a:off x="383625" y="4429651"/>
            <a:ext cx="3840370" cy="118622"/>
          </a:xfrm>
          <a:prstGeom prst="rect">
            <a:avLst/>
          </a:prstGeom>
          <a:noFill/>
        </p:spPr>
        <p:txBody>
          <a:bodyPr wrap="none" lIns="0" rIns="0" tIns="0" bIns="0">
            <a:noAutofit/>
          </a:bodyPr>
          <a:lstStyle/>
          <a:p>
            <a:pPr>
              <a:spcBef>
                <a:spcPts val="0"/>
              </a:spcBef>
              <a:spcAft>
                <a:spcPts val="0"/>
              </a:spcAft>
            </a:pPr>
            <a:r>
              <a:rPr sz="259" b="0" i="0">
                <a:solidFill>
                  <a:srgbClr val="1F3031"/>
                </a:solidFill>
                <a:latin typeface="Noto Sans"/>
              </a:rPr>
              <a:t>13</a:t>
            </a:r>
            <a:r>
              <a:rPr sz="444" b="0" i="0">
                <a:solidFill>
                  <a:srgbClr val="1F3031"/>
                </a:solidFill>
                <a:latin typeface="Noto Sans"/>
              </a:rPr>
              <a:t> Fuente: IFT con información del INEGI. Para más información consultar: </a:t>
            </a:r>
            <a:r>
              <a:rPr sz="444" b="0" i="0">
                <a:solidFill>
                  <a:srgbClr val="0563C1"/>
                </a:solidFill>
                <a:latin typeface="Noto Sans"/>
                <a:hlinkClick r:id="rId2"/>
              </a:rPr>
              <a:t>https://www.inegi.org.mx/programas/endutih/2025/</a:t>
            </a:r>
            <a:r>
              <a:rPr sz="444" b="0" i="0">
                <a:solidFill>
                  <a:srgbClr val="1F3031"/>
                </a:solidFill>
                <a:latin typeface="Noto Sans"/>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129</a:t>
            </a:r>
          </a:p>
        </p:txBody>
      </p:sp>
      <p:sp>
        <p:nvSpPr>
          <p:cNvPr id="222" name="ANUARIO_ANEXO_P129_L001"/>
          <p:cNvSpPr txBox="1"/>
          <p:nvPr/>
        </p:nvSpPr>
        <p:spPr>
          <a:xfrm>
            <a:off x="528422" y="1048163"/>
            <a:ext cx="3580401"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ENCUESTA NACIONAL DE OCUPACIÓN Y EMPLEO (ENOE), </a:t>
            </a:r>
          </a:p>
        </p:txBody>
      </p:sp>
      <p:sp>
        <p:nvSpPr>
          <p:cNvPr id="223" name="ANUARIO_ANEXO_P129_L002"/>
          <p:cNvSpPr txBox="1"/>
          <p:nvPr/>
        </p:nvSpPr>
        <p:spPr>
          <a:xfrm>
            <a:off x="528422" y="1189142"/>
            <a:ext cx="383192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POBLACIÓN DE 15 AÑOS Y MÁS DE EDAD, PARTICULARIDADES </a:t>
            </a:r>
          </a:p>
        </p:txBody>
      </p:sp>
      <p:sp>
        <p:nvSpPr>
          <p:cNvPr id="224" name="ANUARIO_ANEXO_P129_L003"/>
          <p:cNvSpPr txBox="1"/>
          <p:nvPr/>
        </p:nvSpPr>
        <p:spPr>
          <a:xfrm>
            <a:off x="528422" y="1330121"/>
            <a:ext cx="1285996"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14</a:t>
            </a:r>
          </a:p>
        </p:txBody>
      </p:sp>
      <p:sp>
        <p:nvSpPr>
          <p:cNvPr id="225" name="ANUARIO_ANEXO_P129_L004"/>
          <p:cNvSpPr txBox="1"/>
          <p:nvPr/>
        </p:nvSpPr>
        <p:spPr>
          <a:xfrm>
            <a:off x="528422" y="1553871"/>
            <a:ext cx="41281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ENOE es la principal fuente de información sobre el mercado laboral mexicano al ofrecer datos </a:t>
            </a:r>
          </a:p>
        </p:txBody>
      </p:sp>
      <p:sp>
        <p:nvSpPr>
          <p:cNvPr id="226" name="ANUARIO_ANEXO_P129_L005"/>
          <p:cNvSpPr txBox="1"/>
          <p:nvPr/>
        </p:nvSpPr>
        <p:spPr>
          <a:xfrm>
            <a:off x="528422" y="1660673"/>
            <a:ext cx="41284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mensuales y trimestrales de la fuerza de trabajo, la ocupación, la informalidad laboral, la subocupación </a:t>
            </a:r>
          </a:p>
        </p:txBody>
      </p:sp>
      <p:sp>
        <p:nvSpPr>
          <p:cNvPr id="227" name="ANUARIO_ANEXO_P129_L006"/>
          <p:cNvSpPr txBox="1"/>
          <p:nvPr/>
        </p:nvSpPr>
        <p:spPr>
          <a:xfrm>
            <a:off x="528422" y="1767475"/>
            <a:ext cx="8825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la desocupación. </a:t>
            </a:r>
          </a:p>
        </p:txBody>
      </p:sp>
      <p:sp>
        <p:nvSpPr>
          <p:cNvPr id="228" name="ANUARIO_ANEXO_P129_L007"/>
          <p:cNvSpPr txBox="1"/>
          <p:nvPr/>
        </p:nvSpPr>
        <p:spPr>
          <a:xfrm>
            <a:off x="528422" y="1981079"/>
            <a:ext cx="412796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enero de 2023, se retoma el levantamiento de la ENOE como Información de Interés </a:t>
            </a:r>
          </a:p>
        </p:txBody>
      </p:sp>
      <p:sp>
        <p:nvSpPr>
          <p:cNvPr id="229" name="ANUARIO_ANEXO_P129_L008"/>
          <p:cNvSpPr txBox="1"/>
          <p:nvPr/>
        </p:nvSpPr>
        <p:spPr>
          <a:xfrm>
            <a:off x="528422" y="2087880"/>
            <a:ext cx="41284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e incorporando las preguntas de migración y lugar de trabajo y la aplicación de entrevistas </a:t>
            </a:r>
          </a:p>
        </p:txBody>
      </p:sp>
      <p:sp>
        <p:nvSpPr>
          <p:cNvPr id="230" name="ANUARIO_ANEXO_P129_L009"/>
          <p:cNvSpPr txBox="1"/>
          <p:nvPr/>
        </p:nvSpPr>
        <p:spPr>
          <a:xfrm>
            <a:off x="528422" y="2194682"/>
            <a:ext cx="109973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 a cara y telefónicas.</a:t>
            </a:r>
          </a:p>
        </p:txBody>
      </p:sp>
      <p:sp>
        <p:nvSpPr>
          <p:cNvPr id="231" name="ANUARIO_ANEXO_P129_L010"/>
          <p:cNvSpPr txBox="1"/>
          <p:nvPr/>
        </p:nvSpPr>
        <p:spPr>
          <a:xfrm>
            <a:off x="528422" y="2408286"/>
            <a:ext cx="41278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periodo de suspensión del levantamiento de la ENOE en abril de 2020, debido </a:t>
            </a:r>
          </a:p>
        </p:txBody>
      </p:sp>
      <p:sp>
        <p:nvSpPr>
          <p:cNvPr id="232" name="ANUARIO_ANEXO_P129_L011"/>
          <p:cNvSpPr txBox="1"/>
          <p:nvPr/>
        </p:nvSpPr>
        <p:spPr>
          <a:xfrm>
            <a:off x="528422" y="2515088"/>
            <a:ext cx="41277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la contingencia sanitaria, consultar la publicación de la ETOE de abril a junio de 2020, así como los </a:t>
            </a:r>
          </a:p>
        </p:txBody>
      </p:sp>
      <p:sp>
        <p:nvSpPr>
          <p:cNvPr id="233" name="ANUARIO_ANEXO_P129_L012"/>
          <p:cNvSpPr txBox="1"/>
          <p:nvPr/>
        </p:nvSpPr>
        <p:spPr>
          <a:xfrm>
            <a:off x="528422" y="2621890"/>
            <a:ext cx="4107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resultados de la ENOE Nueva Edición (ENOEN) para el periodo de julio de 2020 a diciembre de 2022.</a:t>
            </a:r>
          </a:p>
        </p:txBody>
      </p:sp>
      <p:sp>
        <p:nvSpPr>
          <p:cNvPr id="234" name="ANUARIO_ANEXO_P129_L013"/>
          <p:cNvSpPr txBox="1"/>
          <p:nvPr/>
        </p:nvSpPr>
        <p:spPr>
          <a:xfrm>
            <a:off x="528422" y="2835494"/>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la publicación del primer trimestre de 2021 de la ENOE</a:t>
            </a:r>
            <a:r>
              <a:rPr sz="373" b="0" i="0">
                <a:solidFill>
                  <a:srgbClr val="1F3031"/>
                </a:solidFill>
                <a:latin typeface="Noto Sans"/>
              </a:rPr>
              <a:t>N</a:t>
            </a:r>
            <a:r>
              <a:rPr sz="640" b="0" i="0">
                <a:solidFill>
                  <a:srgbClr val="1F3031"/>
                </a:solidFill>
                <a:latin typeface="Noto Sans"/>
              </a:rPr>
              <a:t> (17 de mayo de 2021), los factores </a:t>
            </a:r>
          </a:p>
        </p:txBody>
      </p:sp>
      <p:sp>
        <p:nvSpPr>
          <p:cNvPr id="235" name="ANUARIO_ANEXO_P129_L014"/>
          <p:cNvSpPr txBox="1"/>
          <p:nvPr/>
        </p:nvSpPr>
        <p:spPr>
          <a:xfrm>
            <a:off x="528422" y="2942296"/>
            <a:ext cx="412788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expansión responden a la nueva estimación de población, en lugar de las cifras de las proyecciones </a:t>
            </a:r>
          </a:p>
        </p:txBody>
      </p:sp>
      <p:sp>
        <p:nvSpPr>
          <p:cNvPr id="236" name="ANUARIO_ANEXO_P129_L015"/>
          <p:cNvSpPr txBox="1"/>
          <p:nvPr/>
        </p:nvSpPr>
        <p:spPr>
          <a:xfrm>
            <a:off x="528422" y="3049098"/>
            <a:ext cx="41282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poblacionales que se venían utilizando desde 2013. Ahora, el INEGI estará generando una estimación </a:t>
            </a:r>
          </a:p>
        </p:txBody>
      </p:sp>
      <p:sp>
        <p:nvSpPr>
          <p:cNvPr id="237" name="ANUARIO_ANEXO_P129_L016"/>
          <p:cNvSpPr txBox="1"/>
          <p:nvPr/>
        </p:nvSpPr>
        <p:spPr>
          <a:xfrm>
            <a:off x="528422" y="3155900"/>
            <a:ext cx="399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población por entidad federativa, con base en la propia actualización del Marco de Muestreo.</a:t>
            </a:r>
          </a:p>
        </p:txBody>
      </p:sp>
      <p:sp>
        <p:nvSpPr>
          <p:cNvPr id="238" name="ANUARIO_ANEXO_P129_L017"/>
          <p:cNvSpPr txBox="1"/>
          <p:nvPr/>
        </p:nvSpPr>
        <p:spPr>
          <a:xfrm>
            <a:off x="528422" y="3369504"/>
            <a:ext cx="41283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la finalidad de actualizar totalmente la serie histórica para la ENOE y ENOE</a:t>
            </a:r>
            <a:r>
              <a:rPr sz="373" b="0" i="0">
                <a:solidFill>
                  <a:srgbClr val="1F3031"/>
                </a:solidFill>
                <a:latin typeface="Noto Sans"/>
              </a:rPr>
              <a:t>N</a:t>
            </a:r>
            <a:r>
              <a:rPr sz="640" b="0" i="0">
                <a:solidFill>
                  <a:srgbClr val="1F3031"/>
                </a:solidFill>
                <a:latin typeface="Noto Sans"/>
              </a:rPr>
              <a:t> con la nueva </a:t>
            </a:r>
          </a:p>
        </p:txBody>
      </p:sp>
      <p:sp>
        <p:nvSpPr>
          <p:cNvPr id="239" name="ANUARIO_ANEXO_P129_L018"/>
          <p:cNvSpPr txBox="1"/>
          <p:nvPr/>
        </p:nvSpPr>
        <p:spPr>
          <a:xfrm>
            <a:off x="528422" y="3476306"/>
            <a:ext cx="41286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estimación de población, que será de 2005 hasta 2020, se llevará a cabo un esquema de divulgación </a:t>
            </a:r>
          </a:p>
        </p:txBody>
      </p:sp>
      <p:sp>
        <p:nvSpPr>
          <p:cNvPr id="240" name="ANUARIO_ANEXO_P129_L019"/>
          <p:cNvSpPr txBox="1"/>
          <p:nvPr/>
        </p:nvSpPr>
        <p:spPr>
          <a:xfrm>
            <a:off x="528422" y="3583108"/>
            <a:ext cx="30067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permitirá reemplazar de forma paulatina los productos publicados. </a:t>
            </a:r>
          </a:p>
        </p:txBody>
      </p:sp>
      <p:sp>
        <p:nvSpPr>
          <p:cNvPr id="241" name="ANUARIO_ANEXO_P129_L020"/>
          <p:cNvSpPr txBox="1"/>
          <p:nvPr/>
        </p:nvSpPr>
        <p:spPr>
          <a:xfrm>
            <a:off x="4647536" y="1048163"/>
            <a:ext cx="3452983"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PRODUCTO INTERNO BRUTO (PIB), PARTICULARIDADES </a:t>
            </a:r>
          </a:p>
        </p:txBody>
      </p:sp>
      <p:sp>
        <p:nvSpPr>
          <p:cNvPr id="242" name="ANUARIO_ANEXO_P129_L021"/>
          <p:cNvSpPr txBox="1"/>
          <p:nvPr/>
        </p:nvSpPr>
        <p:spPr>
          <a:xfrm>
            <a:off x="4647536" y="1197036"/>
            <a:ext cx="128585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15</a:t>
            </a:r>
          </a:p>
        </p:txBody>
      </p:sp>
      <p:sp>
        <p:nvSpPr>
          <p:cNvPr id="243" name="ANUARIO_ANEXO_P129_L022"/>
          <p:cNvSpPr txBox="1"/>
          <p:nvPr/>
        </p:nvSpPr>
        <p:spPr>
          <a:xfrm>
            <a:off x="4647536" y="1428681"/>
            <a:ext cx="412842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Producto Interno Bruto (PIB) es el principal indicador de la actividad económica en el país. Se </a:t>
            </a:r>
          </a:p>
        </p:txBody>
      </p:sp>
      <p:sp>
        <p:nvSpPr>
          <p:cNvPr id="244" name="ANUARIO_ANEXO_P129_L023"/>
          <p:cNvSpPr txBox="1"/>
          <p:nvPr/>
        </p:nvSpPr>
        <p:spPr>
          <a:xfrm>
            <a:off x="4647536" y="1543376"/>
            <a:ext cx="412833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 estimar en términos reales (eliminando los efectos de los precios) o en términos corrientes. </a:t>
            </a:r>
          </a:p>
        </p:txBody>
      </p:sp>
      <p:sp>
        <p:nvSpPr>
          <p:cNvPr id="245" name="ANUARIO_ANEXO_P129_L024"/>
          <p:cNvSpPr txBox="1"/>
          <p:nvPr/>
        </p:nvSpPr>
        <p:spPr>
          <a:xfrm>
            <a:off x="4647536" y="1658073"/>
            <a:ext cx="3605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Este indicador se puede calcular por tres métodos: 1) producción, 2) gasto y 3) ingreso. </a:t>
            </a:r>
          </a:p>
        </p:txBody>
      </p:sp>
      <p:sp>
        <p:nvSpPr>
          <p:cNvPr id="246" name="ANUARIO_ANEXO_P129_L025"/>
          <p:cNvSpPr txBox="1"/>
          <p:nvPr/>
        </p:nvSpPr>
        <p:spPr>
          <a:xfrm>
            <a:off x="4647536" y="1879571"/>
            <a:ext cx="412842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PIB trimestral ofrece en el corto plazo una visión oportuna, completa y coherente de la evolución </a:t>
            </a:r>
          </a:p>
        </p:txBody>
      </p:sp>
      <p:sp>
        <p:nvSpPr>
          <p:cNvPr id="247" name="ANUARIO_ANEXO_P129_L026"/>
          <p:cNvSpPr txBox="1"/>
          <p:nvPr/>
        </p:nvSpPr>
        <p:spPr>
          <a:xfrm>
            <a:off x="4647536" y="1994267"/>
            <a:ext cx="412797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las actividades económicas del país, proporcionando información actualizada para apoyar la </a:t>
            </a:r>
          </a:p>
        </p:txBody>
      </p:sp>
      <p:sp>
        <p:nvSpPr>
          <p:cNvPr id="248" name="ANUARIO_ANEXO_P129_L027"/>
          <p:cNvSpPr txBox="1"/>
          <p:nvPr/>
        </p:nvSpPr>
        <p:spPr>
          <a:xfrm>
            <a:off x="4647536" y="2108964"/>
            <a:ext cx="9234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toma de decisiones.</a:t>
            </a:r>
          </a:p>
        </p:txBody>
      </p:sp>
      <p:sp>
        <p:nvSpPr>
          <p:cNvPr id="249" name="ANUARIO_ANEXO_P129_L028"/>
          <p:cNvSpPr txBox="1"/>
          <p:nvPr/>
        </p:nvSpPr>
        <p:spPr>
          <a:xfrm>
            <a:off x="4647536" y="2330461"/>
            <a:ext cx="41283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29 de agosto de 2023 el Instituto Nacional de Estadística y Geografía (INEGI) presentó la </a:t>
            </a:r>
          </a:p>
        </p:txBody>
      </p:sp>
      <p:sp>
        <p:nvSpPr>
          <p:cNvPr id="250" name="ANUARIO_ANEXO_P129_L029"/>
          <p:cNvSpPr txBox="1"/>
          <p:nvPr/>
        </p:nvSpPr>
        <p:spPr>
          <a:xfrm>
            <a:off x="4647536" y="2445157"/>
            <a:ext cx="412806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del Sistema de Cuentas Nacionales de México (SCNM), Base 2018 (CAB 2018), con </a:t>
            </a:r>
          </a:p>
        </p:txBody>
      </p:sp>
      <p:sp>
        <p:nvSpPr>
          <p:cNvPr id="251" name="ANUARIO_ANEXO_P129_L030"/>
          <p:cNvSpPr txBox="1"/>
          <p:nvPr/>
        </p:nvSpPr>
        <p:spPr>
          <a:xfrm>
            <a:off x="4647536" y="2559854"/>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que el PIB tendría modificaciones. Lo anterior, en función de los Lineamientos para el Ciclo de </a:t>
            </a:r>
          </a:p>
        </p:txBody>
      </p:sp>
      <p:sp>
        <p:nvSpPr>
          <p:cNvPr id="252" name="ANUARIO_ANEXO_P129_L031"/>
          <p:cNvSpPr txBox="1"/>
          <p:nvPr/>
        </p:nvSpPr>
        <p:spPr>
          <a:xfrm>
            <a:off x="4647536" y="2674550"/>
            <a:ext cx="412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 la Información Económica, publicados en julio de 2015. La clave para la integración </a:t>
            </a:r>
          </a:p>
        </p:txBody>
      </p:sp>
      <p:sp>
        <p:nvSpPr>
          <p:cNvPr id="253" name="ANUARIO_ANEXO_P129_L032"/>
          <p:cNvSpPr txBox="1"/>
          <p:nvPr/>
        </p:nvSpPr>
        <p:spPr>
          <a:xfrm>
            <a:off x="4647536" y="2789246"/>
            <a:ext cx="41280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conceptual fue la adopción y adaptación del marco teórico-contable que han ofrecido las versiones </a:t>
            </a:r>
          </a:p>
        </p:txBody>
      </p:sp>
      <p:sp>
        <p:nvSpPr>
          <p:cNvPr id="254" name="ANUARIO_ANEXO_P129_L033"/>
          <p:cNvSpPr txBox="1"/>
          <p:nvPr/>
        </p:nvSpPr>
        <p:spPr>
          <a:xfrm>
            <a:off x="4647536" y="2903942"/>
            <a:ext cx="41285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Sistema de Cuentas Nacionales (SCN) aprobado por la Comisión de Estadística de las Naciones </a:t>
            </a:r>
          </a:p>
        </p:txBody>
      </p:sp>
      <p:sp>
        <p:nvSpPr>
          <p:cNvPr id="255" name="ANUARIO_ANEXO_P129_L034"/>
          <p:cNvSpPr txBox="1"/>
          <p:nvPr/>
        </p:nvSpPr>
        <p:spPr>
          <a:xfrm>
            <a:off x="4647536" y="3018639"/>
            <a:ext cx="41286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Unidas para 1968, 1993 y 2008, y algunos aspectos de la revisión del SCN hacia el nuevo marco del </a:t>
            </a:r>
          </a:p>
        </p:txBody>
      </p:sp>
      <p:sp>
        <p:nvSpPr>
          <p:cNvPr id="256" name="ANUARIO_ANEXO_P129_L035"/>
          <p:cNvSpPr txBox="1"/>
          <p:nvPr/>
        </p:nvSpPr>
        <p:spPr>
          <a:xfrm>
            <a:off x="4647536" y="3133335"/>
            <a:ext cx="33646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2025.</a:t>
            </a:r>
          </a:p>
        </p:txBody>
      </p:sp>
      <p:sp>
        <p:nvSpPr>
          <p:cNvPr id="257" name="ANUARIO_ANEXO_P129_L036"/>
          <p:cNvSpPr txBox="1"/>
          <p:nvPr/>
        </p:nvSpPr>
        <p:spPr>
          <a:xfrm>
            <a:off x="4647536" y="3354833"/>
            <a:ext cx="412778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cobertura geográfica del PIB es nacional y alcanza una representatividad de 97.7% del valor </a:t>
            </a:r>
          </a:p>
        </p:txBody>
      </p:sp>
      <p:sp>
        <p:nvSpPr>
          <p:cNvPr id="258" name="ANUARIO_ANEXO_P129_L037"/>
          <p:cNvSpPr txBox="1"/>
          <p:nvPr/>
        </p:nvSpPr>
        <p:spPr>
          <a:xfrm>
            <a:off x="4647536" y="3469529"/>
            <a:ext cx="41281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agregado bruto del año base 2018. Se presenta por actividad económica, sectores, subsectores y las </a:t>
            </a:r>
          </a:p>
        </p:txBody>
      </p:sp>
      <p:sp>
        <p:nvSpPr>
          <p:cNvPr id="259" name="ANUARIO_ANEXO_P129_L038"/>
          <p:cNvSpPr txBox="1"/>
          <p:nvPr/>
        </p:nvSpPr>
        <p:spPr>
          <a:xfrm>
            <a:off x="4647536" y="3584225"/>
            <a:ext cx="224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ramas de actividad de las industrias manufactureras. </a:t>
            </a:r>
          </a:p>
        </p:txBody>
      </p:sp>
      <p:sp>
        <p:nvSpPr>
          <p:cNvPr id="260" name="ANUARIO_ANEXO_P129_L039"/>
          <p:cNvSpPr txBox="1"/>
          <p:nvPr/>
        </p:nvSpPr>
        <p:spPr>
          <a:xfrm>
            <a:off x="383625" y="4429651"/>
            <a:ext cx="3909100"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14</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2"/>
              </a:rPr>
              <a:t>https://www.inegi.org.mx/programas/enoe/15ymas/</a:t>
            </a:r>
            <a:r>
              <a:rPr sz="480" b="0" i="0">
                <a:solidFill>
                  <a:srgbClr val="1F3031"/>
                </a:solidFill>
                <a:latin typeface="Noto Sans"/>
              </a:rPr>
              <a:t>.</a:t>
            </a:r>
          </a:p>
        </p:txBody>
      </p:sp>
      <p:sp>
        <p:nvSpPr>
          <p:cNvPr id="261" name="ANUARIO_ANEXO_P129_L040"/>
          <p:cNvSpPr txBox="1"/>
          <p:nvPr/>
        </p:nvSpPr>
        <p:spPr>
          <a:xfrm>
            <a:off x="383625" y="4527909"/>
            <a:ext cx="4803382"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15</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3"/>
              </a:rPr>
              <a:t>https://www.inegi.org.mx/contenidos/programas/pib/2018/doc/guia_cab2018.pdf</a:t>
            </a:r>
            <a:r>
              <a:rPr sz="480" b="0" i="0">
                <a:solidFill>
                  <a:srgbClr val="1F3031"/>
                </a:solidFill>
                <a:latin typeface="Noto Sans"/>
              </a:rPr>
              <a: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V"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IV. MÉTODOS DE CÁLCULO DE INDICADORES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130</a:t>
            </a:r>
          </a:p>
        </p:txBody>
      </p:sp>
      <p:sp>
        <p:nvSpPr>
          <p:cNvPr id="222" name="ANUARIO_ANEXO_IV_TITLE"/>
          <p:cNvSpPr txBox="1"/>
          <p:nvPr/>
        </p:nvSpPr>
        <p:spPr>
          <a:xfrm>
            <a:off x="384048" y="667512"/>
            <a:ext cx="8321040" cy="265176"/>
          </a:xfrm>
          <a:prstGeom prst="rect">
            <a:avLst/>
          </a:prstGeom>
          <a:noFill/>
        </p:spPr>
        <p:txBody>
          <a:bodyPr wrap="square" lIns="0" rIns="0" tIns="0" bIns="0">
            <a:noAutofit/>
          </a:bodyPr>
          <a:lstStyle/>
          <a:p>
            <a:pPr algn="l">
              <a:lnSpc>
                <a:spcPct val="100000"/>
              </a:lnSpc>
              <a:spcBef>
                <a:spcPts val="0"/>
              </a:spcBef>
              <a:spcAft>
                <a:spcPts val="0"/>
              </a:spcAft>
            </a:pPr>
            <a:r>
              <a:rPr sz="1200" b="1">
                <a:solidFill>
                  <a:srgbClr val="1F4544"/>
                </a:solidFill>
                <a:latin typeface="Noto Sans"/>
              </a:rPr>
              <a:t>ANEXO IV. MÉTODOS DE CÁLCULO DE INDICADORES</a:t>
            </a:r>
          </a:p>
        </p:txBody>
      </p:sp>
      <p:sp>
        <p:nvSpPr>
          <p:cNvPr id="223" name="ANUARIO_ANEXO_IV_INTRO"/>
          <p:cNvSpPr txBox="1"/>
          <p:nvPr/>
        </p:nvSpPr>
        <p:spPr>
          <a:xfrm>
            <a:off x="384048" y="978408"/>
            <a:ext cx="8321040" cy="155448"/>
          </a:xfrm>
          <a:prstGeom prst="rect">
            <a:avLst/>
          </a:prstGeom>
          <a:noFill/>
        </p:spPr>
        <p:txBody>
          <a:bodyPr wrap="square" lIns="0" rIns="0" tIns="0" bIns="0">
            <a:noAutofit/>
          </a:bodyPr>
          <a:lstStyle/>
          <a:p>
            <a:pPr algn="l">
              <a:lnSpc>
                <a:spcPct val="100000"/>
              </a:lnSpc>
              <a:spcBef>
                <a:spcPts val="0"/>
              </a:spcBef>
              <a:spcAft>
                <a:spcPts val="0"/>
              </a:spcAft>
            </a:pPr>
            <a:r>
              <a:rPr sz="750" b="0">
                <a:solidFill>
                  <a:srgbClr val="1F3031"/>
                </a:solidFill>
                <a:latin typeface="Noto Sans"/>
              </a:rPr>
              <a:t>Para obtener los indicadores mostrados en el documento se utilizaron los siguientes métodos de cálculo:</a:t>
            </a:r>
          </a:p>
        </p:txBody>
      </p:sp>
      <p:graphicFrame>
        <p:nvGraphicFramePr>
          <p:cNvPr id="224" name="ANUARIO_ANEXO_IV_TABLA_IZQUIERDA"/>
          <p:cNvGraphicFramePr>
            <a:graphicFrameLocks noGrp="1"/>
          </p:cNvGraphicFramePr>
          <p:nvPr/>
        </p:nvGraphicFramePr>
        <p:xfrm>
          <a:off x="384048"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621792">
                <a:tc>
                  <a:txBody>
                    <a:bodyPr/>
                    <a:lstStyle/>
                    <a:p>
                      <a:pPr algn="ctr">
                        <a:spcBef>
                          <a:spcPts val="0"/>
                        </a:spcBef>
                        <a:spcAft>
                          <a:spcPts val="0"/>
                        </a:spcAft>
                      </a:pPr>
                      <a:r>
                        <a:rPr sz="655" b="0">
                          <a:solidFill>
                            <a:srgbClr val="1F3031"/>
                          </a:solidFill>
                          <a:latin typeface="Noto Sans"/>
                        </a:rPr>
                        <a:t>Índice de Herfindahl-Hirschman (IHH)</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(participación de mercado de cada grupo económico × 100)²</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o accesos residenciales por cada 100 hogares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Accesos o líneas residenciales ÷ hogares de ENDUTIH del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o accesos no residenciales por cada 100 UE</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Accesos o líneas no residenciales ÷ unidades económicas de DENUE × 100</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móviles de telefonía por cada 100 habitantes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Líneas del servicio móvil de telefonía ÷ población compatible con 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de Internet móvil por cada 100 habitantes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Líneas del servicio móvil de Internet ÷ población compatible con el corte × 100</a:t>
                      </a:r>
                    </a:p>
                  </a:txBody>
                  <a:tcPr anchor="ctr" marL="54864" marR="54864" marT="18288" marB="18288">
                    <a:solidFill>
                      <a:srgbClr val="FFFFFF"/>
                    </a:solidFill>
                  </a:tcPr>
                </a:tc>
              </a:tr>
            </a:tbl>
          </a:graphicData>
        </a:graphic>
      </p:graphicFrame>
      <p:graphicFrame>
        <p:nvGraphicFramePr>
          <p:cNvPr id="225" name="ANUARIO_ANEXO_IV_TABLA_DERECHA"/>
          <p:cNvGraphicFramePr>
            <a:graphicFrameLocks noGrp="1"/>
          </p:cNvGraphicFramePr>
          <p:nvPr/>
        </p:nvGraphicFramePr>
        <p:xfrm>
          <a:off x="4645152"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777240">
                <a:tc>
                  <a:txBody>
                    <a:bodyPr/>
                    <a:lstStyle/>
                    <a:p>
                      <a:pPr algn="ctr">
                        <a:spcBef>
                          <a:spcPts val="0"/>
                        </a:spcBef>
                        <a:spcAft>
                          <a:spcPts val="0"/>
                        </a:spcAft>
                      </a:pPr>
                      <a:r>
                        <a:rPr sz="655" b="0">
                          <a:solidFill>
                            <a:srgbClr val="1F3031"/>
                          </a:solidFill>
                          <a:latin typeface="Noto Sans"/>
                        </a:rPr>
                        <a:t>Minutos de uso promedio mensual (MOU)</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(minutos mensuales ÷ líneas del servicio de telefonía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Tráfico mensual promedio de Internet móvil</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Σ (GB mensuales ÷ líneas de Internet móvil de cada mes) ÷ 12</a:t>
                      </a:r>
                    </a:p>
                  </a:txBody>
                  <a:tcPr anchor="ctr" marL="54864" marR="54864" marT="18288" marB="18288">
                    <a:solidFill>
                      <a:srgbClr val="F2F7F6"/>
                    </a:solidFill>
                  </a:tcPr>
                </a:tc>
              </a:tr>
              <a:tr h="777240">
                <a:tc>
                  <a:txBody>
                    <a:bodyPr/>
                    <a:lstStyle/>
                    <a:p>
                      <a:pPr algn="ctr">
                        <a:spcBef>
                          <a:spcPts val="0"/>
                        </a:spcBef>
                        <a:spcAft>
                          <a:spcPts val="0"/>
                        </a:spcAft>
                      </a:pPr>
                      <a:r>
                        <a:rPr sz="655" b="0">
                          <a:solidFill>
                            <a:srgbClr val="1F3031"/>
                          </a:solidFill>
                          <a:latin typeface="Noto Sans"/>
                        </a:rPr>
                        <a:t>Mensajes de texto promedio (SMS)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(SMS enviados por mes ÷ líneas móviles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Margen de utilidad</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Ingresos brutos − egresos operativos</a:t>
                      </a:r>
                    </a:p>
                  </a:txBody>
                  <a:tcPr anchor="ctr" marL="54864" marR="54864" marT="18288" marB="18288">
                    <a:solidFill>
                      <a:srgbClr val="F2F7F6"/>
                    </a:solidFill>
                  </a:tcPr>
                </a:tc>
              </a:tr>
            </a:tbl>
          </a:graphicData>
        </a:graphic>
      </p:graphicFrame>
      <p:sp>
        <p:nvSpPr>
          <p:cNvPr id="226" name="ANUARIO_ANEXO_IV_NOTA"/>
          <p:cNvSpPr txBox="1"/>
          <p:nvPr/>
        </p:nvSpPr>
        <p:spPr>
          <a:xfrm>
            <a:off x="393192" y="4553712"/>
            <a:ext cx="8321040" cy="164592"/>
          </a:xfrm>
          <a:prstGeom prst="rect">
            <a:avLst/>
          </a:prstGeom>
          <a:noFill/>
        </p:spPr>
        <p:txBody>
          <a:bodyPr wrap="square" lIns="0" rIns="0" tIns="0" bIns="0">
            <a:noAutofit/>
          </a:bodyPr>
          <a:lstStyle/>
          <a:p>
            <a:pPr algn="l">
              <a:lnSpc>
                <a:spcPct val="100000"/>
              </a:lnSpc>
              <a:spcBef>
                <a:spcPts val="0"/>
              </a:spcBef>
              <a:spcAft>
                <a:spcPts val="0"/>
              </a:spcAft>
            </a:pPr>
            <a:r>
              <a:rPr sz="620" b="0">
                <a:solidFill>
                  <a:srgbClr val="4B5858"/>
                </a:solidFill>
                <a:latin typeface="Noto Sans"/>
              </a:rPr>
              <a:t>Nota: hogares y población corresponden a la ENDUTIH del corte de cada figura; las UE provienen del DENUE. Las figuras identifican fuente y periodo.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s9_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s12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s125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