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svg" ContentType="image/svg+xml"/>
  <Default Extension="bin" ContentType="application/vnd.openxmlformats-officedocument.presentationml.printerSettings"/>
  <Default Extension="jpeg" ContentType="image/jpeg"/>
  <Override PartName="/ppt/slideLayouts/s9_slideLayout1.xml" ContentType="application/vnd.openxmlformats-officedocument.presentationml.slideLayout+xml"/>
  <Override PartName="/ppt/slideLayouts/s9_slideLayout10.xml" ContentType="application/vnd.openxmlformats-officedocument.presentationml.slideLayout+xml"/>
  <Override PartName="/ppt/slideLayouts/s9_slideLayout11.xml" ContentType="application/vnd.openxmlformats-officedocument.presentationml.slideLayout+xml"/>
  <Override PartName="/ppt/slideLayouts/s9_slideLayout2.xml" ContentType="application/vnd.openxmlformats-officedocument.presentationml.slideLayout+xml"/>
  <Override PartName="/ppt/slideLayouts/s9_slideLayout3.xml" ContentType="application/vnd.openxmlformats-officedocument.presentationml.slideLayout+xml"/>
  <Override PartName="/ppt/slideLayouts/s9_slideLayout4.xml" ContentType="application/vnd.openxmlformats-officedocument.presentationml.slideLayout+xml"/>
  <Override PartName="/ppt/slideLayouts/s9_slideLayout5.xml" ContentType="application/vnd.openxmlformats-officedocument.presentationml.slideLayout+xml"/>
  <Override PartName="/ppt/slideLayouts/s9_slideLayout6.xml" ContentType="application/vnd.openxmlformats-officedocument.presentationml.slideLayout+xml"/>
  <Override PartName="/ppt/slideLayouts/s9_slideLayout7.xml" ContentType="application/vnd.openxmlformats-officedocument.presentationml.slideLayout+xml"/>
  <Override PartName="/ppt/slideLayouts/s9_slideLayout8.xml" ContentType="application/vnd.openxmlformats-officedocument.presentationml.slideLayout+xml"/>
  <Override PartName="/ppt/slideLayouts/s9_slideLayout9.xml" ContentType="application/vnd.openxmlformats-officedocument.presentationml.slideLayout+xml"/>
  <Override PartName="/ppt/slideMasters/s9_slideMaster1.xml" ContentType="application/vnd.openxmlformats-officedocument.presentationml.slideMaster+xml"/>
  <Override PartName="/ppt/theme/s9_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6" r:id="rId4"/>
    <p:sldMasterId id="2147490000" r:id="rIdSlide9ReferenceMaster"/>
  </p:sldMasterIdLst>
  <p:notesMasterIdLst>
    <p:notesMasterId r:id="rId13"/>
  </p:notesMasterIdLst>
  <p:sldIdLst>
    <p:sldId id="259" r:id="rId5"/>
    <p:sldId id="260" r:id="rId6"/>
    <p:sldId id="386" r:id="rId12"/>
    <p:sldId id="387" r:id="rId11"/>
    <p:sldId id="388" r:id="rId10"/>
    <p:sldId id="389" r:id="rId9"/>
    <p:sldId id="270" r:id="rId35"/>
    <p:sldId id="390" r:id="rId8"/>
    <p:sldId id="391" r:id="rId7"/>
    <p:sldId id="392" r:id="rId151"/>
    <p:sldId id="272" r:id="rId37"/>
    <p:sldId id="273" r:id="rId38"/>
    <p:sldId id="274" r:id="rId39"/>
    <p:sldId id="275" r:id="rId40"/>
    <p:sldId id="276" r:id="rId41"/>
    <p:sldId id="277" r:id="rId42"/>
    <p:sldId id="278" r:id="rId43"/>
    <p:sldId id="279" r:id="rId44"/>
    <p:sldId id="280" r:id="rId45"/>
    <p:sldId id="281" r:id="rId46"/>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 id="296" r:id="rId61"/>
    <p:sldId id="297" r:id="rId62"/>
    <p:sldId id="298" r:id="rId63"/>
    <p:sldId id="299" r:id="rId64"/>
    <p:sldId id="300" r:id="rId65"/>
    <p:sldId id="301" r:id="rId66"/>
    <p:sldId id="302" r:id="rId67"/>
    <p:sldId id="303" r:id="rId68"/>
    <p:sldId id="304" r:id="rId69"/>
    <p:sldId id="305" r:id="rId70"/>
    <p:sldId id="306" r:id="rId71"/>
    <p:sldId id="307" r:id="rId72"/>
    <p:sldId id="309" r:id="rId74"/>
    <p:sldId id="310" r:id="rId75"/>
    <p:sldId id="311" r:id="rId76"/>
    <p:sldId id="313" r:id="rId78"/>
    <p:sldId id="314" r:id="rId79"/>
    <p:sldId id="315" r:id="rId80"/>
    <p:sldId id="316" r:id="rId81"/>
    <p:sldId id="317" r:id="rId82"/>
    <p:sldId id="318" r:id="rId83"/>
    <p:sldId id="319" r:id="rId84"/>
    <p:sldId id="320" r:id="rId85"/>
    <p:sldId id="321" r:id="rId86"/>
    <p:sldId id="322" r:id="rId87"/>
    <p:sldId id="323" r:id="rId88"/>
    <p:sldId id="324" r:id="rId89"/>
    <p:sldId id="326" r:id="rId91"/>
    <p:sldId id="327" r:id="rId92"/>
    <p:sldId id="328" r:id="rId93"/>
    <p:sldId id="329" r:id="rId94"/>
    <p:sldId id="330" r:id="rId95"/>
    <p:sldId id="331" r:id="rId96"/>
    <p:sldId id="332" r:id="rId97"/>
    <p:sldId id="333" r:id="rId98"/>
    <p:sldId id="334" r:id="rId99"/>
    <p:sldId id="335" r:id="rId100"/>
    <p:sldId id="336" r:id="rId101"/>
    <p:sldId id="338" r:id="rId103"/>
    <p:sldId id="339" r:id="rId104"/>
    <p:sldId id="340" r:id="rId105"/>
    <p:sldId id="341" r:id="rId106"/>
    <p:sldId id="342" r:id="rId107"/>
    <p:sldId id="343" r:id="rId108"/>
    <p:sldId id="344" r:id="rId109"/>
    <p:sldId id="345" r:id="rId110"/>
    <p:sldId id="346" r:id="rId111"/>
    <p:sldId id="393" r:id="rId152"/>
    <p:sldId id="348" r:id="rId113"/>
    <p:sldId id="349" r:id="rId114"/>
    <p:sldId id="350" r:id="rId115"/>
    <p:sldId id="351" r:id="rId116"/>
    <p:sldId id="352" r:id="rId117"/>
    <p:sldId id="353" r:id="rId118"/>
    <p:sldId id="354" r:id="rId119"/>
    <p:sldId id="355" r:id="rId120"/>
    <p:sldId id="356" r:id="rId121"/>
    <p:sldId id="357" r:id="rId122"/>
    <p:sldId id="358" r:id="rId123"/>
    <p:sldId id="359" r:id="rId124"/>
    <p:sldId id="360" r:id="rId125"/>
    <p:sldId id="361" r:id="rId126"/>
    <p:sldId id="362" r:id="rId127"/>
    <p:sldId id="363" r:id="rId128"/>
    <p:sldId id="364" r:id="rId129"/>
    <p:sldId id="365" r:id="rId130"/>
    <p:sldId id="366" r:id="rId131"/>
    <p:sldId id="368" r:id="rId133"/>
    <p:sldId id="370" r:id="rId135"/>
    <p:sldId id="371" r:id="rId136"/>
    <p:sldId id="372" r:id="rId137"/>
    <p:sldId id="373" r:id="rId138"/>
    <p:sldId id="374" r:id="rId139"/>
    <p:sldId id="375" r:id="rId140"/>
    <p:sldId id="376" r:id="rId141"/>
    <p:sldId id="377" r:id="rId142"/>
    <p:sldId id="378" r:id="rId143"/>
    <p:sldId id="379" r:id="rId144"/>
    <p:sldId id="380" r:id="rId145"/>
    <p:sldId id="381" r:id="rId146"/>
    <p:sldId id="382" r:id="rId147"/>
    <p:sldId id="383" r:id="rId148"/>
    <p:sldId id="394" r:id="rId153"/>
    <p:sldId id="395" r:id="rId154"/>
    <p:sldId id="396" r:id="rId155"/>
    <p:sldId id="397" r:id="rId156"/>
    <p:sldId id="398" r:id="rId157"/>
    <p:sldId id="399" r:id="rId158"/>
    <p:sldId id="400" r:id="rId159"/>
    <p:sldId id="401" r:id="rId160"/>
    <p:sldId id="402" r:id="rId161"/>
    <p:sldId id="403" r:id="rId162"/>
    <p:sldId id="404" r:id="rId163"/>
    <p:sldId id="405" r:id="rId164"/>
    <p:sldId id="406" r:id="rId165"/>
    <p:sldId id="407" r:id="rId166"/>
    <p:sldId id="408" r:id="rId167"/>
    <p:sldId id="409" r:id="rId168"/>
  </p:sldIdLst>
  <p:sldSz cx="9144000" cy="5143500" type="screen16x9"/>
  <p:notesSz cx="6858000" cy="9144000"/>
  <p:embeddedFontLst>
    <p:embeddedFont>
      <p:font typeface="Noto Sans" panose="020B0502040504020204" pitchFamily="34" charset="0"/>
      <p:regular r:id="rId14"/>
      <p:bold r:id="rId15"/>
      <p:italic r:id="rId16"/>
      <p:boldItalic r:id="rId17"/>
    </p:embeddedFont>
    <p:embeddedFont>
      <p:font typeface="Noto Sans Black" panose="020B0502040504020204" pitchFamily="34" charset="0"/>
      <p:bold r:id="rId18"/>
      <p:boldItalic r:id="rId19"/>
    </p:embeddedFont>
    <p:embeddedFont>
      <p:font typeface="Noto Sans ExtraBold" panose="020B0502040504020204" pitchFamily="34" charset="0"/>
      <p:bold r:id="rId20"/>
      <p:boldItalic r:id="rId21"/>
    </p:embeddedFont>
    <p:embeddedFont>
      <p:font typeface="Noto Sans Light" panose="020B0502040504020204" pitchFamily="34" charset="0"/>
      <p:regular r:id="rId22"/>
      <p:bold r:id="rId23"/>
      <p:italic r:id="rId24"/>
      <p:boldItalic r:id="rId25"/>
    </p:embeddedFont>
    <p:embeddedFont>
      <p:font typeface="Poppins" panose="000005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1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58"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9.xml"/><Relationship Id="rId8" Type="http://schemas.openxmlformats.org/officeDocument/2006/relationships/slide" Target="slides/slide8.xml"/><Relationship Id="rId9"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slide" Target="slides/slide4.xml"/><Relationship Id="rId12" Type="http://schemas.openxmlformats.org/officeDocument/2006/relationships/slide" Target="slides/slide3.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schemas.openxmlformats.org/officeDocument/2006/relationships/font" Target="fonts/font14.fntdata"/><Relationship Id="rId28" Type="http://schemas.openxmlformats.org/officeDocument/2006/relationships/font" Target="fonts/font15.fntdata"/><Relationship Id="rId29" Type="http://schemas.openxmlformats.org/officeDocument/2006/relationships/font" Target="fonts/font16.fntdata"/><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5" Type="http://schemas.openxmlformats.org/officeDocument/2006/relationships/slide" Target="slides/slide7.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 Id="rId51" Type="http://schemas.openxmlformats.org/officeDocument/2006/relationships/slide" Target="slides/slide24.xml"/><Relationship Id="rId52" Type="http://schemas.openxmlformats.org/officeDocument/2006/relationships/slide" Target="slides/slide25.xml"/><Relationship Id="rId53" Type="http://schemas.openxmlformats.org/officeDocument/2006/relationships/slide" Target="slides/slide26.xml"/><Relationship Id="rId54" Type="http://schemas.openxmlformats.org/officeDocument/2006/relationships/slide" Target="slides/slide27.xml"/><Relationship Id="rId55" Type="http://schemas.openxmlformats.org/officeDocument/2006/relationships/slide" Target="slides/slide28.xml"/><Relationship Id="rId56" Type="http://schemas.openxmlformats.org/officeDocument/2006/relationships/slide" Target="slides/slide29.xml"/><Relationship Id="rId57" Type="http://schemas.openxmlformats.org/officeDocument/2006/relationships/slide" Target="slides/slide30.xml"/><Relationship Id="rId58" Type="http://schemas.openxmlformats.org/officeDocument/2006/relationships/slide" Target="slides/slide31.xml"/><Relationship Id="rId59" Type="http://schemas.openxmlformats.org/officeDocument/2006/relationships/slide" Target="slides/slide32.xml"/><Relationship Id="rId60" Type="http://schemas.openxmlformats.org/officeDocument/2006/relationships/slide" Target="slides/slide33.xml"/><Relationship Id="rId61" Type="http://schemas.openxmlformats.org/officeDocument/2006/relationships/slide" Target="slides/slide34.xml"/><Relationship Id="rId62" Type="http://schemas.openxmlformats.org/officeDocument/2006/relationships/slide" Target="slides/slide35.xml"/><Relationship Id="rId63" Type="http://schemas.openxmlformats.org/officeDocument/2006/relationships/slide" Target="slides/slide36.xml"/><Relationship Id="rId64" Type="http://schemas.openxmlformats.org/officeDocument/2006/relationships/slide" Target="slides/slide37.xml"/><Relationship Id="rId65" Type="http://schemas.openxmlformats.org/officeDocument/2006/relationships/slide" Target="slides/slide38.xml"/><Relationship Id="rId66" Type="http://schemas.openxmlformats.org/officeDocument/2006/relationships/slide" Target="slides/slide39.xml"/><Relationship Id="rId67" Type="http://schemas.openxmlformats.org/officeDocument/2006/relationships/slide" Target="slides/slide40.xml"/><Relationship Id="rId68" Type="http://schemas.openxmlformats.org/officeDocument/2006/relationships/slide" Target="slides/slide41.xml"/><Relationship Id="rId69" Type="http://schemas.openxmlformats.org/officeDocument/2006/relationships/slide" Target="slides/slide42.xml"/><Relationship Id="rId70" Type="http://schemas.openxmlformats.org/officeDocument/2006/relationships/slide" Target="slides/slide43.xml"/><Relationship Id="rId71" Type="http://schemas.openxmlformats.org/officeDocument/2006/relationships/slide" Target="slides/slide44.xml"/><Relationship Id="rId72" Type="http://schemas.openxmlformats.org/officeDocument/2006/relationships/slide" Target="slides/slide45.xml"/><Relationship Id="rId74" Type="http://schemas.openxmlformats.org/officeDocument/2006/relationships/slide" Target="slides/slide46.xml"/><Relationship Id="rId75" Type="http://schemas.openxmlformats.org/officeDocument/2006/relationships/slide" Target="slides/slide47.xml"/><Relationship Id="rId76" Type="http://schemas.openxmlformats.org/officeDocument/2006/relationships/slide" Target="slides/slide48.xml"/><Relationship Id="rId78" Type="http://schemas.openxmlformats.org/officeDocument/2006/relationships/slide" Target="slides/slide49.xml"/><Relationship Id="rId79" Type="http://schemas.openxmlformats.org/officeDocument/2006/relationships/slide" Target="slides/slide50.xml"/><Relationship Id="rId80" Type="http://schemas.openxmlformats.org/officeDocument/2006/relationships/slide" Target="slides/slide51.xml"/><Relationship Id="rId81" Type="http://schemas.openxmlformats.org/officeDocument/2006/relationships/slide" Target="slides/slide52.xml"/><Relationship Id="rId82" Type="http://schemas.openxmlformats.org/officeDocument/2006/relationships/slide" Target="slides/slide53.xml"/><Relationship Id="rId83" Type="http://schemas.openxmlformats.org/officeDocument/2006/relationships/slide" Target="slides/slide54.xml"/><Relationship Id="rId84" Type="http://schemas.openxmlformats.org/officeDocument/2006/relationships/slide" Target="slides/slide55.xml"/><Relationship Id="rId85" Type="http://schemas.openxmlformats.org/officeDocument/2006/relationships/slide" Target="slides/slide56.xml"/><Relationship Id="rId86" Type="http://schemas.openxmlformats.org/officeDocument/2006/relationships/slide" Target="slides/slide57.xml"/><Relationship Id="rId87" Type="http://schemas.openxmlformats.org/officeDocument/2006/relationships/slide" Target="slides/slide58.xml"/><Relationship Id="rId88" Type="http://schemas.openxmlformats.org/officeDocument/2006/relationships/slide" Target="slides/slide59.xml"/><Relationship Id="rId89" Type="http://schemas.openxmlformats.org/officeDocument/2006/relationships/slide" Target="slides/slide60.xml"/><Relationship Id="rId91" Type="http://schemas.openxmlformats.org/officeDocument/2006/relationships/slide" Target="slides/slide61.xml"/><Relationship Id="rId92" Type="http://schemas.openxmlformats.org/officeDocument/2006/relationships/slide" Target="slides/slide62.xml"/><Relationship Id="rId93" Type="http://schemas.openxmlformats.org/officeDocument/2006/relationships/slide" Target="slides/slide63.xml"/><Relationship Id="rId94" Type="http://schemas.openxmlformats.org/officeDocument/2006/relationships/slide" Target="slides/slide64.xml"/><Relationship Id="rId95" Type="http://schemas.openxmlformats.org/officeDocument/2006/relationships/slide" Target="slides/slide65.xml"/><Relationship Id="rId96" Type="http://schemas.openxmlformats.org/officeDocument/2006/relationships/slide" Target="slides/slide66.xml"/><Relationship Id="rId97" Type="http://schemas.openxmlformats.org/officeDocument/2006/relationships/slide" Target="slides/slide67.xml"/><Relationship Id="rId98" Type="http://schemas.openxmlformats.org/officeDocument/2006/relationships/slide" Target="slides/slide68.xml"/><Relationship Id="rId99" Type="http://schemas.openxmlformats.org/officeDocument/2006/relationships/slide" Target="slides/slide69.xml"/><Relationship Id="rId100" Type="http://schemas.openxmlformats.org/officeDocument/2006/relationships/slide" Target="slides/slide70.xml"/><Relationship Id="rId101" Type="http://schemas.openxmlformats.org/officeDocument/2006/relationships/slide" Target="slides/slide71.xml"/><Relationship Id="rId103" Type="http://schemas.openxmlformats.org/officeDocument/2006/relationships/slide" Target="slides/slide72.xml"/><Relationship Id="rId104" Type="http://schemas.openxmlformats.org/officeDocument/2006/relationships/slide" Target="slides/slide73.xml"/><Relationship Id="rId105" Type="http://schemas.openxmlformats.org/officeDocument/2006/relationships/slide" Target="slides/slide74.xml"/><Relationship Id="rId106" Type="http://schemas.openxmlformats.org/officeDocument/2006/relationships/slide" Target="slides/slide75.xml"/><Relationship Id="rId107" Type="http://schemas.openxmlformats.org/officeDocument/2006/relationships/slide" Target="slides/slide76.xml"/><Relationship Id="rId108" Type="http://schemas.openxmlformats.org/officeDocument/2006/relationships/slide" Target="slides/slide77.xml"/><Relationship Id="rId109" Type="http://schemas.openxmlformats.org/officeDocument/2006/relationships/slide" Target="slides/slide78.xml"/><Relationship Id="rId110" Type="http://schemas.openxmlformats.org/officeDocument/2006/relationships/slide" Target="slides/slide79.xml"/><Relationship Id="rId111" Type="http://schemas.openxmlformats.org/officeDocument/2006/relationships/slide" Target="slides/slide80.xml"/><Relationship Id="rId113" Type="http://schemas.openxmlformats.org/officeDocument/2006/relationships/slide" Target="slides/slide82.xml"/><Relationship Id="rId114" Type="http://schemas.openxmlformats.org/officeDocument/2006/relationships/slide" Target="slides/slide83.xml"/><Relationship Id="rId115" Type="http://schemas.openxmlformats.org/officeDocument/2006/relationships/slide" Target="slides/slide84.xml"/><Relationship Id="rId116" Type="http://schemas.openxmlformats.org/officeDocument/2006/relationships/slide" Target="slides/slide85.xml"/><Relationship Id="rId117" Type="http://schemas.openxmlformats.org/officeDocument/2006/relationships/slide" Target="slides/slide86.xml"/><Relationship Id="rId118" Type="http://schemas.openxmlformats.org/officeDocument/2006/relationships/slide" Target="slides/slide87.xml"/><Relationship Id="rId119" Type="http://schemas.openxmlformats.org/officeDocument/2006/relationships/slide" Target="slides/slide88.xml"/><Relationship Id="rId120" Type="http://schemas.openxmlformats.org/officeDocument/2006/relationships/slide" Target="slides/slide89.xml"/><Relationship Id="rId121" Type="http://schemas.openxmlformats.org/officeDocument/2006/relationships/slide" Target="slides/slide90.xml"/><Relationship Id="rId122" Type="http://schemas.openxmlformats.org/officeDocument/2006/relationships/slide" Target="slides/slide91.xml"/><Relationship Id="rId123" Type="http://schemas.openxmlformats.org/officeDocument/2006/relationships/slide" Target="slides/slide92.xml"/><Relationship Id="rId124" Type="http://schemas.openxmlformats.org/officeDocument/2006/relationships/slide" Target="slides/slide93.xml"/><Relationship Id="rId125" Type="http://schemas.openxmlformats.org/officeDocument/2006/relationships/slide" Target="slides/slide94.xml"/><Relationship Id="rId126" Type="http://schemas.openxmlformats.org/officeDocument/2006/relationships/slide" Target="slides/slide95.xml"/><Relationship Id="rId127" Type="http://schemas.openxmlformats.org/officeDocument/2006/relationships/slide" Target="slides/slide96.xml"/><Relationship Id="rId128" Type="http://schemas.openxmlformats.org/officeDocument/2006/relationships/slide" Target="slides/slide97.xml"/><Relationship Id="rId129" Type="http://schemas.openxmlformats.org/officeDocument/2006/relationships/slide" Target="slides/slide98.xml"/><Relationship Id="rId130" Type="http://schemas.openxmlformats.org/officeDocument/2006/relationships/slide" Target="slides/slide99.xml"/><Relationship Id="rId131" Type="http://schemas.openxmlformats.org/officeDocument/2006/relationships/slide" Target="slides/slide100.xml"/><Relationship Id="rId133" Type="http://schemas.openxmlformats.org/officeDocument/2006/relationships/slide" Target="slides/slide101.xml"/><Relationship Id="rId135" Type="http://schemas.openxmlformats.org/officeDocument/2006/relationships/slide" Target="slides/slide102.xml"/><Relationship Id="rId136" Type="http://schemas.openxmlformats.org/officeDocument/2006/relationships/slide" Target="slides/slide103.xml"/><Relationship Id="rId137" Type="http://schemas.openxmlformats.org/officeDocument/2006/relationships/slide" Target="slides/slide104.xml"/><Relationship Id="rId138" Type="http://schemas.openxmlformats.org/officeDocument/2006/relationships/slide" Target="slides/slide105.xml"/><Relationship Id="rId139" Type="http://schemas.openxmlformats.org/officeDocument/2006/relationships/slide" Target="slides/slide106.xml"/><Relationship Id="rId140" Type="http://schemas.openxmlformats.org/officeDocument/2006/relationships/slide" Target="slides/slide107.xml"/><Relationship Id="rId141" Type="http://schemas.openxmlformats.org/officeDocument/2006/relationships/slide" Target="slides/slide108.xml"/><Relationship Id="rId142" Type="http://schemas.openxmlformats.org/officeDocument/2006/relationships/slide" Target="slides/slide109.xml"/><Relationship Id="rId143" Type="http://schemas.openxmlformats.org/officeDocument/2006/relationships/slide" Target="slides/slide110.xml"/><Relationship Id="rId144" Type="http://schemas.openxmlformats.org/officeDocument/2006/relationships/slide" Target="slides/slide111.xml"/><Relationship Id="rId145" Type="http://schemas.openxmlformats.org/officeDocument/2006/relationships/slide" Target="slides/slide112.xml"/><Relationship Id="rId146" Type="http://schemas.openxmlformats.org/officeDocument/2006/relationships/slide" Target="slides/slide113.xml"/><Relationship Id="rId147" Type="http://schemas.openxmlformats.org/officeDocument/2006/relationships/slide" Target="slides/slide114.xml"/><Relationship Id="rId148" Type="http://schemas.openxmlformats.org/officeDocument/2006/relationships/slide" Target="slides/slide115.xml"/><Relationship Id="rId151" Type="http://schemas.openxmlformats.org/officeDocument/2006/relationships/slide" Target="slides/slide10.xml"/><Relationship Id="rId152" Type="http://schemas.openxmlformats.org/officeDocument/2006/relationships/slide" Target="slides/slide81.xml"/><Relationship Id="rId153" Type="http://schemas.openxmlformats.org/officeDocument/2006/relationships/slide" Target="slides/slide116.xml"/><Relationship Id="rId154" Type="http://schemas.openxmlformats.org/officeDocument/2006/relationships/slide" Target="slides/slide117.xml"/><Relationship Id="rId155" Type="http://schemas.openxmlformats.org/officeDocument/2006/relationships/slide" Target="slides/slide118.xml"/><Relationship Id="rId156" Type="http://schemas.openxmlformats.org/officeDocument/2006/relationships/slide" Target="slides/slide119.xml"/><Relationship Id="rId157" Type="http://schemas.openxmlformats.org/officeDocument/2006/relationships/slide" Target="slides/slide120.xml"/><Relationship Id="rId158" Type="http://schemas.openxmlformats.org/officeDocument/2006/relationships/slide" Target="slides/slide121.xml"/><Relationship Id="rId159" Type="http://schemas.openxmlformats.org/officeDocument/2006/relationships/slide" Target="slides/slide122.xml"/><Relationship Id="rId160" Type="http://schemas.openxmlformats.org/officeDocument/2006/relationships/slide" Target="slides/slide123.xml"/><Relationship Id="rId161" Type="http://schemas.openxmlformats.org/officeDocument/2006/relationships/slide" Target="slides/slide124.xml"/><Relationship Id="rId162" Type="http://schemas.openxmlformats.org/officeDocument/2006/relationships/slide" Target="slides/slide125.xml"/><Relationship Id="rId163" Type="http://schemas.openxmlformats.org/officeDocument/2006/relationships/slide" Target="slides/slide126.xml"/><Relationship Id="rId164" Type="http://schemas.openxmlformats.org/officeDocument/2006/relationships/slide" Target="slides/slide127.xml"/><Relationship Id="rId165" Type="http://schemas.openxmlformats.org/officeDocument/2006/relationships/slide" Target="slides/slide128.xml"/><Relationship Id="rId166" Type="http://schemas.openxmlformats.org/officeDocument/2006/relationships/slide" Target="slides/slide129.xml"/><Relationship Id="rId167" Type="http://schemas.openxmlformats.org/officeDocument/2006/relationships/slide" Target="slides/slide130.xml"/><Relationship Id="rId168" Type="http://schemas.openxmlformats.org/officeDocument/2006/relationships/slide" Target="slides/slide131.xml"/><Relationship Id="rIdSlide9ReferenceMaster" Type="http://schemas.openxmlformats.org/officeDocument/2006/relationships/slideMaster" Target="slideMasters/s9_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cead811483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cead811483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cead811483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cead811483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9_slideLayout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2.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3.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4.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5.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6.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7.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8.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9.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0.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9_slideLayout11.xml.rels><?xml version='1.0' encoding='UTF-8' standalone='yes'?>
<Relationships xmlns="http://schemas.openxmlformats.org/package/2006/relationships"><Relationship Id="rId1" Type="http://schemas.openxmlformats.org/officeDocument/2006/relationships/slideMaster" Target="../slideMasters/s9_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9_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9_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9_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9_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9_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9_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9_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9_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9_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9_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9_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matchingName="Template 4 - Contenido fondo oscuro 1">
  <p:cSld name="TITLE_6_1_2_1">
    <p:spTree>
      <p:nvGrpSpPr>
        <p:cNvPr id="1" name="Shape 19"/>
        <p:cNvGrpSpPr/>
        <p:nvPr/>
      </p:nvGrpSpPr>
      <p:grpSpPr>
        <a:xfrm>
          <a:off x="0" y="0"/>
          <a:ext cx="0" cy="0"/>
          <a:chOff x="0" y="0"/>
          <a:chExt cx="0" cy="0"/>
        </a:xfrm>
      </p:grpSpPr>
      <p:sp>
        <p:nvSpPr>
          <p:cNvPr id="20" name="Google Shape;20;p4"/>
          <p:cNvSpPr/>
          <p:nvPr/>
        </p:nvSpPr>
        <p:spPr>
          <a:xfrm>
            <a:off x="0" y="0"/>
            <a:ext cx="9144000" cy="5143500"/>
          </a:xfrm>
          <a:prstGeom prst="rect">
            <a:avLst/>
          </a:prstGeom>
          <a:gradFill>
            <a:gsLst>
              <a:gs pos="0">
                <a:srgbClr val="671435"/>
              </a:gs>
              <a:gs pos="100000">
                <a:srgbClr val="430B22"/>
              </a:gs>
            </a:gsLst>
            <a:lin ang="5400700"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 name="Google Shape;24;p4"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25" name="Google Shape;25;p4"/>
          <p:cNvSpPr/>
          <p:nvPr/>
        </p:nvSpPr>
        <p:spPr>
          <a:xfrm>
            <a:off x="19" y="5013919"/>
            <a:ext cx="9144000" cy="147900"/>
          </a:xfrm>
          <a:prstGeom prst="rect">
            <a:avLst/>
          </a:prstGeom>
          <a:solidFill>
            <a:srgbClr val="67143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mplate 4 - Portada 1 verde">
  <p:cSld name="CUSTOM_7_1_1_2">
    <p:spTree>
      <p:nvGrpSpPr>
        <p:cNvPr id="1" name="Shape 35"/>
        <p:cNvGrpSpPr/>
        <p:nvPr/>
      </p:nvGrpSpPr>
      <p:grpSpPr>
        <a:xfrm>
          <a:off x="0" y="0"/>
          <a:ext cx="0" cy="0"/>
          <a:chOff x="0" y="0"/>
          <a:chExt cx="0" cy="0"/>
        </a:xfrm>
      </p:grpSpPr>
      <p:sp>
        <p:nvSpPr>
          <p:cNvPr id="36" name="Google Shape;36;p6"/>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6"/>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38" name="Google Shape;38;p6" title="Logo horizontal ATDT CRT.png"/>
          <p:cNvPicPr preferRelativeResize="0"/>
          <p:nvPr/>
        </p:nvPicPr>
        <p:blipFill rotWithShape="1">
          <a:blip r:embed="rId2">
            <a:alphaModFix/>
          </a:blip>
          <a:srcRect t="515" b="505"/>
          <a:stretch/>
        </p:blipFill>
        <p:spPr>
          <a:xfrm>
            <a:off x="1833213" y="810281"/>
            <a:ext cx="5477555" cy="531306"/>
          </a:xfrm>
          <a:prstGeom prst="rect">
            <a:avLst/>
          </a:prstGeom>
          <a:noFill/>
          <a:ln>
            <a:noFill/>
          </a:ln>
        </p:spPr>
      </p:pic>
      <p:pic>
        <p:nvPicPr>
          <p:cNvPr id="39" name="Google Shape;39;p6" title="1.2 GobMx_Margarita Maza_fondo oscuro_H.png"/>
          <p:cNvPicPr preferRelativeResize="0"/>
          <p:nvPr/>
        </p:nvPicPr>
        <p:blipFill rotWithShape="1">
          <a:blip r:embed="rId3">
            <a:alphaModFix/>
          </a:blip>
          <a:srcRect/>
          <a:stretch/>
        </p:blipFill>
        <p:spPr>
          <a:xfrm>
            <a:off x="3656935" y="4143752"/>
            <a:ext cx="1830124" cy="7810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mplate 4 - Portadilla 1 verde">
  <p:cSld name="CUSTOM_7_1_1_1_1">
    <p:spTree>
      <p:nvGrpSpPr>
        <p:cNvPr id="1" name="Shape 40"/>
        <p:cNvGrpSpPr/>
        <p:nvPr/>
      </p:nvGrpSpPr>
      <p:grpSpPr>
        <a:xfrm>
          <a:off x="0" y="0"/>
          <a:ext cx="0" cy="0"/>
          <a:chOff x="0" y="0"/>
          <a:chExt cx="0" cy="0"/>
        </a:xfrm>
      </p:grpSpPr>
      <p:sp>
        <p:nvSpPr>
          <p:cNvPr id="41" name="Google Shape;41;p7"/>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43" name="Google Shape;43;p7" title="1.2 GobMx_Margarita Maza_fondo oscuro_H.png"/>
          <p:cNvPicPr preferRelativeResize="0"/>
          <p:nvPr/>
        </p:nvPicPr>
        <p:blipFill rotWithShape="1">
          <a:blip r:embed="rId2">
            <a:alphaModFix/>
          </a:blip>
          <a:srcRect/>
          <a:stretch/>
        </p:blipFill>
        <p:spPr>
          <a:xfrm>
            <a:off x="3814125" y="4277923"/>
            <a:ext cx="1515761" cy="646869"/>
          </a:xfrm>
          <a:prstGeom prst="rect">
            <a:avLst/>
          </a:prstGeom>
          <a:noFill/>
          <a:ln>
            <a:noFill/>
          </a:ln>
        </p:spPr>
      </p:pic>
      <p:pic>
        <p:nvPicPr>
          <p:cNvPr id="44" name="Google Shape;44;p7" title="Logo horizontal ATDT CRT.png"/>
          <p:cNvPicPr preferRelativeResize="0"/>
          <p:nvPr/>
        </p:nvPicPr>
        <p:blipFill rotWithShape="1">
          <a:blip r:embed="rId3">
            <a:alphaModFix/>
          </a:blip>
          <a:srcRect t="515" b="505"/>
          <a:stretch/>
        </p:blipFill>
        <p:spPr>
          <a:xfrm>
            <a:off x="6411224" y="179426"/>
            <a:ext cx="2539175" cy="246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mplate 4 - Contenido fondo oscuro 1 verde">
  <p:cSld name="TITLE_6_1_2_1_1">
    <p:spTree>
      <p:nvGrpSpPr>
        <p:cNvPr id="1" name="Shape 45"/>
        <p:cNvGrpSpPr/>
        <p:nvPr/>
      </p:nvGrpSpPr>
      <p:grpSpPr>
        <a:xfrm>
          <a:off x="0" y="0"/>
          <a:ext cx="0" cy="0"/>
          <a:chOff x="0" y="0"/>
          <a:chExt cx="0" cy="0"/>
        </a:xfrm>
      </p:grpSpPr>
      <p:sp>
        <p:nvSpPr>
          <p:cNvPr id="46" name="Google Shape;46;p8"/>
          <p:cNvSpPr/>
          <p:nvPr/>
        </p:nvSpPr>
        <p:spPr>
          <a:xfrm>
            <a:off x="-37" y="0"/>
            <a:ext cx="9144000" cy="51435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 name="Google Shape;47;p8"/>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pic>
        <p:nvPicPr>
          <p:cNvPr id="51" name="Google Shape;51;p8"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
        <p:nvSpPr>
          <p:cNvPr id="52" name="Google Shape;52;p8"/>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mplate 4 - Contenido 1 verde">
  <p:cSld name="TITLE_6_1_1_2_1_1">
    <p:spTree>
      <p:nvGrpSpPr>
        <p:cNvPr id="1" name="Shape 53"/>
        <p:cNvGrpSpPr/>
        <p:nvPr/>
      </p:nvGrpSpPr>
      <p:grpSpPr>
        <a:xfrm>
          <a:off x="0" y="0"/>
          <a:ext cx="0" cy="0"/>
          <a:chOff x="0" y="0"/>
          <a:chExt cx="0" cy="0"/>
        </a:xfrm>
      </p:grpSpPr>
      <p:sp>
        <p:nvSpPr>
          <p:cNvPr id="54" name="Google Shape;54;p9"/>
          <p:cNvSpPr/>
          <p:nvPr/>
        </p:nvSpPr>
        <p:spPr>
          <a:xfrm>
            <a:off x="0" y="5013925"/>
            <a:ext cx="9144000" cy="129300"/>
          </a:xfrm>
          <a:prstGeom prst="rect">
            <a:avLst/>
          </a:prstGeom>
          <a:gradFill>
            <a:gsLst>
              <a:gs pos="0">
                <a:srgbClr val="4A7D75"/>
              </a:gs>
              <a:gs pos="100000">
                <a:srgbClr val="1B4044"/>
              </a:gs>
            </a:gsLst>
            <a:lin ang="10800025" scaled="0"/>
          </a:gradFill>
          <a:ln>
            <a:noFill/>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Arial"/>
              <a:ea typeface="Arial"/>
              <a:cs typeface="Arial"/>
              <a:sym typeface="Arial"/>
            </a:endParaRPr>
          </a:p>
        </p:txBody>
      </p:sp>
      <p:sp>
        <p:nvSpPr>
          <p:cNvPr id="55" name="Google Shape;55;p9"/>
          <p:cNvSpPr/>
          <p:nvPr/>
        </p:nvSpPr>
        <p:spPr>
          <a:xfrm>
            <a:off x="-25" y="0"/>
            <a:ext cx="9144000" cy="521700"/>
          </a:xfrm>
          <a:prstGeom prst="rect">
            <a:avLst/>
          </a:prstGeom>
          <a:gradFill>
            <a:gsLst>
              <a:gs pos="0">
                <a:srgbClr val="1A4043"/>
              </a:gs>
              <a:gs pos="100000">
                <a:srgbClr val="002F2A"/>
              </a:gs>
            </a:gsLst>
            <a:lin ang="5400012" scaled="0"/>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9"/>
          <p:cNvSpPr txBox="1">
            <a:spLocks noGrp="1"/>
          </p:cNvSpPr>
          <p:nvPr>
            <p:ph type="title"/>
          </p:nvPr>
        </p:nvSpPr>
        <p:spPr>
          <a:xfrm>
            <a:off x="191525" y="37775"/>
            <a:ext cx="7311000" cy="4521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1pPr>
            <a:lvl2pPr lvl="1"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2pPr>
            <a:lvl3pPr lvl="2"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3pPr>
            <a:lvl4pPr lvl="3"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4pPr>
            <a:lvl5pPr lvl="4"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5pPr>
            <a:lvl6pPr lvl="5"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6pPr>
            <a:lvl7pPr lvl="6"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7pPr>
            <a:lvl8pPr lvl="7"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8pPr>
            <a:lvl9pPr lvl="8" algn="l">
              <a:lnSpc>
                <a:spcPct val="100000"/>
              </a:lnSpc>
              <a:spcBef>
                <a:spcPts val="0"/>
              </a:spcBef>
              <a:spcAft>
                <a:spcPts val="0"/>
              </a:spcAft>
              <a:buClr>
                <a:srgbClr val="FFFFFF"/>
              </a:buClr>
              <a:buSzPts val="1800"/>
              <a:buFont typeface="Noto Sans"/>
              <a:buNone/>
              <a:defRPr sz="1800" b="1">
                <a:solidFill>
                  <a:srgbClr val="FFFFFF"/>
                </a:solidFill>
                <a:latin typeface="Noto Sans"/>
                <a:ea typeface="Noto Sans"/>
                <a:cs typeface="Noto Sans"/>
                <a:sym typeface="Noto Sans"/>
              </a:defRPr>
            </a:lvl9pPr>
          </a:lstStyle>
          <a:p>
            <a:endParaRPr/>
          </a:p>
        </p:txBody>
      </p:sp>
      <p:pic>
        <p:nvPicPr>
          <p:cNvPr id="60" name="Google Shape;60;p9" title="CRT-logo-02.png"/>
          <p:cNvPicPr preferRelativeResize="0"/>
          <p:nvPr/>
        </p:nvPicPr>
        <p:blipFill rotWithShape="1">
          <a:blip r:embed="rId2">
            <a:alphaModFix/>
          </a:blip>
          <a:srcRect/>
          <a:stretch/>
        </p:blipFill>
        <p:spPr>
          <a:xfrm>
            <a:off x="8261252" y="98234"/>
            <a:ext cx="588298" cy="33118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1620">
          <p15:clr>
            <a:srgbClr val="E46962"/>
          </p15:clr>
        </p15:guide>
        <p15:guide id="2" pos="2880">
          <p15:clr>
            <a:srgbClr val="E46962"/>
          </p15:clr>
        </p15:guide>
      </p15:sldGuideLst>
    </p:ext>
  </p:extLst>
</p:sldLayout>
</file>

<file path=ppt/slideMasters/_rels/s9_slideMaster1.xml.rels><?xml version='1.0' encoding='UTF-8' standalone='yes'?>
<Relationships xmlns="http://schemas.openxmlformats.org/package/2006/relationships"><Relationship Id="rId1" Type="http://schemas.openxmlformats.org/officeDocument/2006/relationships/slideLayout" Target="../slideLayouts/s9_slideLayout1.xml"/><Relationship Id="rId2" Type="http://schemas.openxmlformats.org/officeDocument/2006/relationships/slideLayout" Target="../slideLayouts/s9_slideLayout2.xml"/><Relationship Id="rId3" Type="http://schemas.openxmlformats.org/officeDocument/2006/relationships/slideLayout" Target="../slideLayouts/s9_slideLayout3.xml"/><Relationship Id="rId4" Type="http://schemas.openxmlformats.org/officeDocument/2006/relationships/slideLayout" Target="../slideLayouts/s9_slideLayout4.xml"/><Relationship Id="rId5" Type="http://schemas.openxmlformats.org/officeDocument/2006/relationships/slideLayout" Target="../slideLayouts/s9_slideLayout5.xml"/><Relationship Id="rId6" Type="http://schemas.openxmlformats.org/officeDocument/2006/relationships/slideLayout" Target="../slideLayouts/s9_slideLayout6.xml"/><Relationship Id="rId7" Type="http://schemas.openxmlformats.org/officeDocument/2006/relationships/slideLayout" Target="../slideLayouts/s9_slideLayout7.xml"/><Relationship Id="rId8" Type="http://schemas.openxmlformats.org/officeDocument/2006/relationships/slideLayout" Target="../slideLayouts/s9_slideLayout8.xml"/><Relationship Id="rId9" Type="http://schemas.openxmlformats.org/officeDocument/2006/relationships/slideLayout" Target="../slideLayouts/s9_slideLayout9.xml"/><Relationship Id="rId10" Type="http://schemas.openxmlformats.org/officeDocument/2006/relationships/slideLayout" Target="../slideLayouts/s9_slideLayout10.xml"/><Relationship Id="rId11" Type="http://schemas.openxmlformats.org/officeDocument/2006/relationships/slideLayout" Target="../slideLayouts/s9_slideLayout11.xml"/><Relationship Id="rId12" Type="http://schemas.openxmlformats.org/officeDocument/2006/relationships/theme" Target="../theme/s9_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9_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90001" r:id="rId1"/>
    <p:sldLayoutId id="2147490002" r:id="rId2"/>
    <p:sldLayoutId id="2147490003" r:id="rId3"/>
    <p:sldLayoutId id="2147490004" r:id="rId4"/>
    <p:sldLayoutId id="2147490005" r:id="rId5"/>
    <p:sldLayoutId id="2147490006" r:id="rId6"/>
    <p:sldLayoutId id="2147490007" r:id="rId7"/>
    <p:sldLayoutId id="2147490008" r:id="rId8"/>
    <p:sldLayoutId id="2147490009" r:id="rId9"/>
    <p:sldLayoutId id="2147490010" r:id="rId10"/>
    <p:sldLayoutId id="214749001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it.crt.gob.mx/BitWebApp/" TargetMode="External"/></Relationships>
</file>

<file path=ppt/slides/_rels/slide3.xml.rels><?xml version='1.0' encoding='UTF-8' standalone='yes'?>
<Relationships xmlns="http://schemas.openxmlformats.org/package/2006/relationships"><Relationship Type="http://schemas.openxmlformats.org/officeDocument/2006/relationships/slideLayout" Target="../slideLayouts/slideLayout5.xml" Id="R75873b9008704f5e"/><Relationship Type="http://schemas.openxmlformats.org/officeDocument/2006/relationships/image" Target="../media/slide3_diseno_image.png" Id="R7dd46c82ccd34f7d"/><Relationship Type="http://schemas.openxmlformats.org/officeDocument/2006/relationships/image" Target="../media/slide3_diseno_image2.png" Id="Rbccc84560eec49cf"/><Relationship Type="http://schemas.openxmlformats.org/officeDocument/2006/relationships/image" Target="../media/slide3_diseno_image3.png" Id="R6d4963d98410402b"/><Relationship Type="http://schemas.openxmlformats.org/officeDocument/2006/relationships/image" Target="../media/slide3_diseno_image4.png" Id="Rcb20aff7f10a4f9b"/><Relationship Type="http://schemas.openxmlformats.org/officeDocument/2006/relationships/hyperlink" Target="https://bit.crt.gob.mx/BitWebApp/" TargetMode="External" Id="R5b60e0be82104cba"/></Relationships>
</file>

<file path=ppt/slides/_rels/slide4.xml.rels><?xml version='1.0' encoding='UTF-8' standalone='yes'?>
<Relationships xmlns="http://schemas.openxmlformats.org/package/2006/relationships"><Relationship Type="http://schemas.openxmlformats.org/officeDocument/2006/relationships/slideLayout" Target="../slideLayouts/slideLayout5.xml" Id="Rbe9c7cf808de4e9d"/><Relationship Type="http://schemas.openxmlformats.org/officeDocument/2006/relationships/image" Target="../media/slide4_diseno_image.png" Id="Re9d5d72c38924a16"/><Relationship Type="http://schemas.openxmlformats.org/officeDocument/2006/relationships/image" Target="../media/slide4_diseno_image2.png" Id="Rb5c444f1c6cb476e"/><Relationship Type="http://schemas.openxmlformats.org/officeDocument/2006/relationships/image" Target="../media/slide4_diseno_image3.png" Id="R45279ff6ee7f4af1"/><Relationship Type="http://schemas.openxmlformats.org/officeDocument/2006/relationships/image" Target="../media/slide4_diseno_image4.png" Id="R30298c0e75084c3d"/><Relationship Type="http://schemas.openxmlformats.org/officeDocument/2006/relationships/hyperlink" Target="https://bit.crt.gob.mx/BitWebApp/" TargetMode="External" Id="R44a62cbf7b934b2e"/></Relationships>
</file>

<file path=ppt/slides/_rels/slide5.xml.rels><?xml version='1.0' encoding='UTF-8' standalone='yes'?>
<Relationships xmlns="http://schemas.openxmlformats.org/package/2006/relationships"><Relationship Type="http://schemas.openxmlformats.org/officeDocument/2006/relationships/slideLayout" Target="../slideLayouts/slideLayout5.xml" Id="R46abcff555714d09"/><Relationship Type="http://schemas.openxmlformats.org/officeDocument/2006/relationships/image" Target="../media/slide5_diseno_image5.png" Id="Rd0c2a94fb7504565"/><Relationship Type="http://schemas.openxmlformats.org/officeDocument/2006/relationships/image" Target="../media/slide5_diseno_image6.png" Id="R053ec0800dab470a"/><Relationship Type="http://schemas.openxmlformats.org/officeDocument/2006/relationships/image" Target="../media/slide5_diseno_image7.png" Id="R9b21366084f1421c"/><Relationship Type="http://schemas.openxmlformats.org/officeDocument/2006/relationships/image" Target="../media/slide5_diseno_image8.png" Id="R30bbdc5925644f1f"/><Relationship Type="http://schemas.openxmlformats.org/officeDocument/2006/relationships/hyperlink" Target="https://bit.crt.gob.mx/BitWebApp/" TargetMode="External" Id="R063e77096b704b59"/><Relationship Type="http://schemas.openxmlformats.org/officeDocument/2006/relationships/image" Target="../media/slide5_diseno_image9.png" Id="R5f7ecf3039b54788"/><Relationship Type="http://schemas.openxmlformats.org/officeDocument/2006/relationships/image" Target="../media/slide5_diseno_image10.png" Id="Rca2af74a4db24cd7"/><Relationship Type="http://schemas.openxmlformats.org/officeDocument/2006/relationships/image" Target="../media/slide5_diseno_image11.png" Id="R17eda56c66264122"/><Relationship Type="http://schemas.openxmlformats.org/officeDocument/2006/relationships/image" Target="../media/slide5_diseno_image12.png" Id="R0598c2e78d6345bf"/></Relationships>
</file>

<file path=ppt/slides/_rels/slide6.xml.rels><?xml version='1.0' encoding='UTF-8' standalone='yes'?>
<Relationships xmlns="http://schemas.openxmlformats.org/package/2006/relationships"><Relationship Type="http://schemas.openxmlformats.org/officeDocument/2006/relationships/slideLayout" Target="../slideLayouts/slideLayout5.xml" Id="R66974e7e788647ff"/><Relationship Type="http://schemas.openxmlformats.org/officeDocument/2006/relationships/image" Target="../media/slide6_diseno_image13.png" Id="Ra85e1c9945e94a7e"/><Relationship Type="http://schemas.openxmlformats.org/officeDocument/2006/relationships/image" Target="../media/slide6_diseno_image14.png" Id="R5101691e18134900"/><Relationship Type="http://schemas.openxmlformats.org/officeDocument/2006/relationships/image" Target="../media/slide6_diseno_image15.png" Id="Rcd1fc5a8caa9402d"/><Relationship Type="http://schemas.openxmlformats.org/officeDocument/2006/relationships/image" Target="../media/slide6_diseno_image16.png" Id="Ra902198852794fa7"/><Relationship Type="http://schemas.openxmlformats.org/officeDocument/2006/relationships/hyperlink" Target="https://bit.crt.gob.mx/BitWebApp/" TargetMode="External" Id="Rbf38f4683d754baf"/><Relationship Type="http://schemas.openxmlformats.org/officeDocument/2006/relationships/image" Target="../media/slide6_diseno_image17.png" Id="Rc151f4e85cd14391"/><Relationship Type="http://schemas.openxmlformats.org/officeDocument/2006/relationships/image" Target="../media/slide6_diseno_image18.png" Id="R8e1ef3adc9d843cd"/><Relationship Type="http://schemas.openxmlformats.org/officeDocument/2006/relationships/image" Target="../media/slide6_diseno_image19.png" Id="R8f9341f9b5c94c17"/><Relationship Type="http://schemas.openxmlformats.org/officeDocument/2006/relationships/image" Target="../media/slide6_diseno_image20.png" Id="R18bf096c142f478e"/></Relationships>
</file>

<file path=ppt/slides/_rels/slide7.xml.rels><?xml version='1.0' encoding='UTF-8' standalone='yes'?>
<Relationships xmlns="http://schemas.openxmlformats.org/package/2006/relationships"><Relationship Type="http://schemas.openxmlformats.org/officeDocument/2006/relationships/slideLayout" Target="../slideLayouts/slideLayout5.xml" Id="Ra94795058d6343e6"/><Relationship Type="http://schemas.openxmlformats.org/officeDocument/2006/relationships/image" Target="../media/slide7_diseno_image.png" Id="Ra2f113fc51c24590"/><Relationship Type="http://schemas.openxmlformats.org/officeDocument/2006/relationships/image" Target="../media/slide7_diseno_image2.png" Id="R5124f4555e354735"/><Relationship Type="http://schemas.openxmlformats.org/officeDocument/2006/relationships/image" Target="../media/slide7_diseno_image3.png" Id="R055272988eb84dce"/><Relationship Type="http://schemas.openxmlformats.org/officeDocument/2006/relationships/image" Target="../media/slide7_diseno_image4.png" Id="R9648ba0efd3e4fb5"/><Relationship Type="http://schemas.openxmlformats.org/officeDocument/2006/relationships/hyperlink" Target="https://bit.crt.gob.mx/BitWebApp/" TargetMode="External" Id="R44fd49cd4a32425c"/></Relationships>
</file>

<file path=ppt/slides/_rels/slide8.xml.rels><?xml version='1.0' encoding='UTF-8' standalone='yes'?>
<Relationships xmlns="http://schemas.openxmlformats.org/package/2006/relationships"><Relationship Type="http://schemas.openxmlformats.org/officeDocument/2006/relationships/slideLayout" Target="../slideLayouts/slideLayout5.xml" Id="R0f556a324a294929"/><Relationship Type="http://schemas.openxmlformats.org/officeDocument/2006/relationships/image" Target="../media/slide8_diseno_image.png" Id="Rab0adeb70d7b4625"/><Relationship Type="http://schemas.openxmlformats.org/officeDocument/2006/relationships/image" Target="../media/slide8_diseno_image2.png" Id="Rea391cf12914453e"/><Relationship Type="http://schemas.openxmlformats.org/officeDocument/2006/relationships/image" Target="../media/slide8_diseno_image3.png" Id="R4f2cbbb30dda4051"/><Relationship Type="http://schemas.openxmlformats.org/officeDocument/2006/relationships/image" Target="../media/slide8_diseno_image4.png" Id="R4d12f4a07a004500"/><Relationship Type="http://schemas.openxmlformats.org/officeDocument/2006/relationships/hyperlink" Target="https://bit.crt.gob.mx/BitWebApp/" TargetMode="External" Id="R4e3103bf1d6a40b8"/></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9_slideLayout7.xml"/><Relationship Id="rId2" Type="http://schemas.openxmlformats.org/officeDocument/2006/relationships/image" Target="../media/s9_image1.png"/><Relationship Id="rId3" Type="http://schemas.openxmlformats.org/officeDocument/2006/relationships/image" Target="../media/s9_image2.png"/><Relationship Id="rId4" Type="http://schemas.openxmlformats.org/officeDocument/2006/relationships/image" Target="../media/s9_image3.png"/><Relationship Id="rId5" Type="http://schemas.openxmlformats.org/officeDocument/2006/relationships/image" Target="../media/s9_image4.png"/><Relationship Id="rId6" Type="http://schemas.openxmlformats.org/officeDocument/2006/relationships/image" Target="../media/s9_image5.png"/><Relationship Id="rId7" Type="http://schemas.openxmlformats.org/officeDocument/2006/relationships/image" Target="../media/s9_image6.png"/><Relationship Id="rId8" Type="http://schemas.openxmlformats.org/officeDocument/2006/relationships/image" Target="../media/s9_image7.png"/><Relationship Id="rId9" Type="http://schemas.openxmlformats.org/officeDocument/2006/relationships/image" Target="../media/s9_image8.png"/><Relationship Id="rId10" Type="http://schemas.openxmlformats.org/officeDocument/2006/relationships/image" Target="../media/s9_image9.png"/><Relationship Id="rId11" Type="http://schemas.openxmlformats.org/officeDocument/2006/relationships/image" Target="../media/s9_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crt.gob.mx/BitWebApp/"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svg"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2.svg"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3.svg"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4.svg"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5.svg"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6.svg"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7.svg"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8.svg"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9.svg"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a_10.svg"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svg"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svg"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3.svg"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4.svg"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5.svg"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6.svg"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7.svg"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8.svg"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9.svg"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0.svg"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1.svg"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2.svg"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3.svg"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4.svg"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5.svg"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6.svg"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7.svg"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8.svg"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19.svg"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0.svg"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1.svg" /></Relationships>
</file>

<file path=ppt/slides/_rels/slide4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2.svg"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3.svg"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4.svg" /></Relationships>
</file>

<file path=ppt/slides/_rels/slide4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b_25.svg"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svg"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2.svg"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4.svg" /><Relationship Id="rId3" Type="http://schemas.openxmlformats.org/officeDocument/2006/relationships/image" Target="../media/anuario_figure_c_3.svg"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5.svg" /></Relationships>
</file>

<file path=ppt/slides/_rels/slide5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6.svg" /></Relationships>
</file>

<file path=ppt/slides/_rels/slide5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7.svg" /></Relationships>
</file>

<file path=ppt/slides/_rels/slide5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8.svg"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9.svg" /></Relationships>
</file>

<file path=ppt/slides/_rels/slide5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0.svg"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1.svg"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2.svg"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3.svg" /></Relationships>
</file>

<file path=ppt/slides/_rels/slide5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4.svg" /></Relationships>
</file>

<file path=ppt/slides/_rels/slide5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5.svg" /></Relationships>
</file>

<file path=ppt/slides/_rels/slide6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c_16.svg" /></Relationships>
</file>

<file path=ppt/slides/_rels/slide6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svg" /></Relationships>
</file>

<file path=ppt/slides/_rels/slide6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2.svg" /></Relationships>
</file>

<file path=ppt/slides/_rels/slide6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3.svg"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4.svg" /></Relationships>
</file>

<file path=ppt/slides/_rels/slide6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5.svg" /></Relationships>
</file>

<file path=ppt/slides/_rels/slide6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6.svg" /></Relationships>
</file>

<file path=ppt/slides/_rels/slide6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7.svg" /></Relationships>
</file>

<file path=ppt/slides/_rels/slide6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8.svg" /></Relationships>
</file>

<file path=ppt/slides/_rels/slide6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9.svg" /></Relationships>
</file>

<file path=ppt/slides/_rels/slide7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0.svg"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d_11.svg"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1.svg"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2.svg" /></Relationships>
</file>

<file path=ppt/slides/_rels/slide7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3.svg" /></Relationships>
</file>

<file path=ppt/slides/_rels/slide7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4.svg" /></Relationships>
</file>

<file path=ppt/slides/_rels/slide7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5.svg" /></Relationships>
</file>

<file path=ppt/slides/_rels/slide7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6.svg" /></Relationships>
</file>

<file path=ppt/slides/_rels/slide7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7.svg" /></Relationships>
</file>

<file path=ppt/slides/_rels/slide7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8.svg"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e_9.svg"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8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1.svg" /></Relationships>
</file>

<file path=ppt/slides/_rels/slide8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2.svg" /></Relationships>
</file>

<file path=ppt/slides/_rels/slide8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3.svg" /></Relationships>
</file>

<file path=ppt/slides/_rels/slide8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_4.svg" /></Relationships>
</file>

<file path=ppt/slides/_rels/slide8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2.svg"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3.svg"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4.svg"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5.svg" /></Relationships>
</file>

<file path=ppt/slides/_rels/slide9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6.svg" /></Relationships>
</file>

<file path=ppt/slides/_rels/slide9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7.svg" /></Relationships>
</file>

<file path=ppt/slides/_rels/slide92.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8.svg" /></Relationships>
</file>

<file path=ppt/slides/_rels/slide93.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9.svg" /></Relationships>
</file>

<file path=ppt/slides/_rels/slide94.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0.svg" /></Relationships>
</file>

<file path=ppt/slides/_rels/slide95.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1.svg"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2.svg" /></Relationships>
</file>

<file path=ppt/slides/_rels/slide97.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3.svg" /></Relationships>
</file>

<file path=ppt/slides/_rels/slide98.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4.svg" /></Relationships>
</file>

<file path=ppt/slides/_rels/slide99.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5.svg"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f_16.svg"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anuario_figure_g_1.svg"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bitestatal.ift.org.mx/" TargetMode="External"/><Relationship Id="rId3" Type="http://schemas.openxmlformats.org/officeDocument/2006/relationships/hyperlink" Target="https://calculadoraprob.ift.org.mx/" TargetMode="External"/><Relationship Id="rId4" Type="http://schemas.openxmlformats.org/officeDocument/2006/relationships/hyperlink" Target="https://bit.crt.gob.mx/BitWebApp/" TargetMode="Externa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app/mapa/denue/default"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 TargetMode="External"/><Relationship Id="rId3" Type="http://schemas.openxmlformats.org/officeDocument/2006/relationships/hyperlink" Target="https://www.inegi.org.mx/programas/enoe/15ymas/" TargetMode="External"/><Relationship Id="rId4" Type="http://schemas.openxmlformats.org/officeDocument/2006/relationships/hyperlink" Target="https://www.dof.gob"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inpc/2018/" TargetMode="Externa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dutih/2025/" TargetMode="Externa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www.inegi.org.mx/programas/enoe/15ymas/" TargetMode="External"/><Relationship Id="rId3" Type="http://schemas.openxmlformats.org/officeDocument/2006/relationships/hyperlink" Target="https://www.inegi.org.mx/contenidos/programas/pib/2018/doc/guia_cab2018.pdf" TargetMode="Externa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ANUARIO_INDEX_TITLE"/>
          <p:cNvSpPr txBox="1"/>
          <p:nvPr/>
        </p:nvSpPr>
        <p:spPr>
          <a:xfrm>
            <a:off x="3460800" y="642025"/>
            <a:ext cx="2222400" cy="605700"/>
          </a:xfrm>
          <a:prstGeom prst="rect">
            <a:avLst/>
          </a:prstGeom>
          <a:noFill/>
          <a:ln>
            <a:noFill/>
          </a:ln>
        </p:spPr>
        <p:txBody>
          <a:bodyPr spcFirstLastPara="1" wrap="square" lIns="91425" tIns="91425" rIns="91425" bIns="91425" anchor="ctr" anchorCtr="0">
            <a:noAutofit/>
          </a:bodyPr>
          <a:lstStyle/>
          <a:p>
            <a:r>
              <a:rPr sz="2600" b="1">
                <a:solidFill>
                  <a:srgbClr val="F3F3F3"/>
                </a:solidFill>
                <a:latin typeface="Noto Sans ExtraBold"/>
              </a:rPr>
              <a:t>ÍNDICE</a:t>
            </a:r>
          </a:p>
        </p:txBody>
      </p:sp>
      <p:sp>
        <p:nvSpPr>
          <p:cNvPr id="158" name="ANUARIO_PAGE_NUMBER"/>
          <p:cNvSpPr txBox="1"/>
          <p:nvPr/>
        </p:nvSpPr>
        <p:spPr>
          <a:xfrm>
            <a:off x="274320" y="4800600"/>
            <a:ext cx="502920" cy="164592"/>
          </a:xfrm>
          <a:prstGeom prst="rect">
            <a:avLst/>
          </a:prstGeom>
          <a:noFill/>
        </p:spPr>
        <p:txBody>
          <a:bodyPr wrap="none">
            <a:spAutoFit/>
          </a:bodyPr>
          <a:lstStyle/>
          <a:p>
            <a:pPr algn="l"/>
            <a:r>
              <a:rPr sz="650" b="1">
                <a:solidFill>
                  <a:srgbClr val="F3F3F3"/>
                </a:solidFill>
                <a:latin typeface="Noto Sans"/>
              </a:rPr>
              <a:t>2</a:t>
            </a:r>
          </a:p>
        </p:txBody>
      </p:sp>
      <p:sp>
        <p:nvSpPr>
          <p:cNvPr id="159" name="ANUARIO_REFERENCIA_2024_P2_L001"/>
          <p:cNvSpPr txBox="1"/>
          <p:nvPr/>
        </p:nvSpPr>
        <p:spPr>
          <a:xfrm>
            <a:off x="504772" y="1152716"/>
            <a:ext cx="414108"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LEGALES </a:t>
            </a:r>
          </a:p>
        </p:txBody>
      </p:sp>
      <p:sp>
        <p:nvSpPr>
          <p:cNvPr id="160" name="ANUARIO_REFERENCIA_2024_P2_L002"/>
          <p:cNvSpPr txBox="1"/>
          <p:nvPr/>
        </p:nvSpPr>
        <p:spPr>
          <a:xfrm>
            <a:off x="3608432" y="1152716"/>
            <a:ext cx="143264"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3</a:t>
            </a:r>
          </a:p>
        </p:txBody>
      </p:sp>
      <p:sp>
        <p:nvSpPr>
          <p:cNvPr id="161" name="ANUARIO_REFERENCIA_2024_P2_L003"/>
          <p:cNvSpPr txBox="1"/>
          <p:nvPr/>
        </p:nvSpPr>
        <p:spPr>
          <a:xfrm>
            <a:off x="504794" y="1220197"/>
            <a:ext cx="4766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GLOSARIO </a:t>
            </a:r>
          </a:p>
        </p:txBody>
      </p:sp>
      <p:sp>
        <p:nvSpPr>
          <p:cNvPr id="162" name="ANUARIO_REFERENCIA_2024_P2_L004"/>
          <p:cNvSpPr txBox="1"/>
          <p:nvPr/>
        </p:nvSpPr>
        <p:spPr>
          <a:xfrm>
            <a:off x="3606140" y="1220197"/>
            <a:ext cx="145555"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5</a:t>
            </a:r>
          </a:p>
        </p:txBody>
      </p:sp>
      <p:sp>
        <p:nvSpPr>
          <p:cNvPr id="163" name="ANUARIO_REFERENCIA_2024_P2_L005"/>
          <p:cNvSpPr txBox="1"/>
          <p:nvPr/>
        </p:nvSpPr>
        <p:spPr>
          <a:xfrm>
            <a:off x="504793" y="1287676"/>
            <a:ext cx="66491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INTRODUCCIÓN </a:t>
            </a:r>
          </a:p>
        </p:txBody>
      </p:sp>
      <p:sp>
        <p:nvSpPr>
          <p:cNvPr id="164" name="ANUARIO_REFERENCIA_2024_P2_L006"/>
          <p:cNvSpPr txBox="1"/>
          <p:nvPr/>
        </p:nvSpPr>
        <p:spPr>
          <a:xfrm>
            <a:off x="3611665" y="1287676"/>
            <a:ext cx="14002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7</a:t>
            </a:r>
          </a:p>
        </p:txBody>
      </p:sp>
      <p:sp>
        <p:nvSpPr>
          <p:cNvPr id="165" name="ANUARIO_REFERENCIA_2024_P2_L007"/>
          <p:cNvSpPr txBox="1"/>
          <p:nvPr/>
        </p:nvSpPr>
        <p:spPr>
          <a:xfrm>
            <a:off x="504792" y="1355156"/>
            <a:ext cx="63971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PUNTOS CLAVE </a:t>
            </a:r>
          </a:p>
        </p:txBody>
      </p:sp>
      <p:sp>
        <p:nvSpPr>
          <p:cNvPr id="166" name="ANUARIO_REFERENCIA_2024_P2_L008"/>
          <p:cNvSpPr txBox="1"/>
          <p:nvPr/>
        </p:nvSpPr>
        <p:spPr>
          <a:xfrm>
            <a:off x="3601895" y="1355156"/>
            <a:ext cx="149800"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9</a:t>
            </a:r>
          </a:p>
        </p:txBody>
      </p:sp>
      <p:sp>
        <p:nvSpPr>
          <p:cNvPr id="167" name="ANUARIO_REFERENCIA_2024_P2_L009"/>
          <p:cNvSpPr txBox="1"/>
          <p:nvPr/>
        </p:nvSpPr>
        <p:spPr>
          <a:xfrm>
            <a:off x="504793" y="1431533"/>
            <a:ext cx="2794423"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INDICADORES DE TELECOMUNICACIONES Y RADIODIFUSIÓN A NIVEL NACIONAL </a:t>
            </a:r>
          </a:p>
        </p:txBody>
      </p:sp>
      <p:sp>
        <p:nvSpPr>
          <p:cNvPr id="168" name="ANUARIO_REFERENCIA_2024_P2_L010"/>
          <p:cNvSpPr txBox="1"/>
          <p:nvPr/>
        </p:nvSpPr>
        <p:spPr>
          <a:xfrm>
            <a:off x="3588686" y="1431516"/>
            <a:ext cx="163009" cy="109728"/>
          </a:xfrm>
          <a:prstGeom prst="rect">
            <a:avLst/>
          </a:prstGeom>
          <a:noFill/>
        </p:spPr>
        <p:txBody>
          <a:bodyPr wrap="none" anchor="t" lIns="0" rIns="0" tIns="0" bIns="0">
            <a:noAutofit/>
          </a:bodyPr>
          <a:lstStyle/>
          <a:p>
            <a:pPr>
              <a:spcBef>
                <a:spcPts val="0"/>
              </a:spcBef>
              <a:spcAft>
                <a:spcPts val="0"/>
              </a:spcAft>
            </a:pPr>
            <a:r>
              <a:rPr sz="550" b="0" i="0">
                <a:solidFill>
                  <a:srgbClr val="EFF3EF"/>
                </a:solidFill>
                <a:latin typeface="Noto Sans"/>
              </a:rPr>
              <a:t> 11</a:t>
            </a:r>
          </a:p>
        </p:txBody>
      </p:sp>
      <p:sp>
        <p:nvSpPr>
          <p:cNvPr id="169" name="ANUARIO_REFERENCIA_2024_P2_L011"/>
          <p:cNvSpPr txBox="1"/>
          <p:nvPr/>
        </p:nvSpPr>
        <p:spPr>
          <a:xfrm>
            <a:off x="627311" y="1517024"/>
            <a:ext cx="113713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 INDICADORES ECONÓMICOS</a:t>
            </a:r>
          </a:p>
        </p:txBody>
      </p:sp>
      <p:sp>
        <p:nvSpPr>
          <p:cNvPr id="170" name="ANUARIO_REFERENCIA_2024_P2_L012"/>
          <p:cNvSpPr txBox="1"/>
          <p:nvPr/>
        </p:nvSpPr>
        <p:spPr>
          <a:xfrm>
            <a:off x="3591988" y="1517046"/>
            <a:ext cx="159707"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a:t>
            </a:r>
          </a:p>
        </p:txBody>
      </p:sp>
      <p:sp>
        <p:nvSpPr>
          <p:cNvPr id="171" name="ANUARIO_REFERENCIA_2024_P2_L013"/>
          <p:cNvSpPr txBox="1"/>
          <p:nvPr/>
        </p:nvSpPr>
        <p:spPr>
          <a:xfrm>
            <a:off x="749832" y="1592571"/>
            <a:ext cx="243246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Y CONTRIBUCIÓN DE LOS SECTORES DE TYR</a:t>
            </a:r>
          </a:p>
        </p:txBody>
      </p:sp>
      <p:sp>
        <p:nvSpPr>
          <p:cNvPr id="172" name="ANUARIO_REFERENCIA_2024_P2_L014"/>
          <p:cNvSpPr txBox="1"/>
          <p:nvPr/>
        </p:nvSpPr>
        <p:spPr>
          <a:xfrm>
            <a:off x="3600462" y="1592571"/>
            <a:ext cx="15123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a:t>
            </a:r>
          </a:p>
        </p:txBody>
      </p:sp>
      <p:sp>
        <p:nvSpPr>
          <p:cNvPr id="173" name="ANUARIO_REFERENCIA_2024_P2_L015"/>
          <p:cNvSpPr txBox="1"/>
          <p:nvPr/>
        </p:nvSpPr>
        <p:spPr>
          <a:xfrm>
            <a:off x="749811" y="1654723"/>
            <a:ext cx="1147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EMPLEO EN LOS SECTORES DE TYR </a:t>
            </a:r>
          </a:p>
        </p:txBody>
      </p:sp>
      <p:sp>
        <p:nvSpPr>
          <p:cNvPr id="174" name="ANUARIO_REFERENCIA_2024_P2_L016"/>
          <p:cNvSpPr txBox="1"/>
          <p:nvPr/>
        </p:nvSpPr>
        <p:spPr>
          <a:xfrm>
            <a:off x="3591457" y="1654723"/>
            <a:ext cx="16024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a:t>
            </a:r>
          </a:p>
        </p:txBody>
      </p:sp>
      <p:sp>
        <p:nvSpPr>
          <p:cNvPr id="175" name="ANUARIO_REFERENCIA_2024_P2_L017"/>
          <p:cNvSpPr txBox="1"/>
          <p:nvPr/>
        </p:nvSpPr>
        <p:spPr>
          <a:xfrm>
            <a:off x="749812" y="1716876"/>
            <a:ext cx="73828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176" name="ANUARIO_REFERENCIA_2024_P2_L018"/>
          <p:cNvSpPr txBox="1"/>
          <p:nvPr/>
        </p:nvSpPr>
        <p:spPr>
          <a:xfrm>
            <a:off x="3590967" y="1716876"/>
            <a:ext cx="1607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13</a:t>
            </a:r>
          </a:p>
        </p:txBody>
      </p:sp>
      <p:sp>
        <p:nvSpPr>
          <p:cNvPr id="177" name="ANUARIO_REFERENCIA_2024_P2_L019"/>
          <p:cNvSpPr txBox="1"/>
          <p:nvPr/>
        </p:nvSpPr>
        <p:spPr>
          <a:xfrm>
            <a:off x="749812" y="1779029"/>
            <a:ext cx="15701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INVERSIÓN PRIVADA EN TELECOMUNICACIONES </a:t>
            </a:r>
          </a:p>
        </p:txBody>
      </p:sp>
      <p:sp>
        <p:nvSpPr>
          <p:cNvPr id="178" name="ANUARIO_REFERENCIA_2024_P2_L020"/>
          <p:cNvSpPr txBox="1"/>
          <p:nvPr/>
        </p:nvSpPr>
        <p:spPr>
          <a:xfrm>
            <a:off x="3589802" y="1779029"/>
            <a:ext cx="1618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14</a:t>
            </a:r>
          </a:p>
        </p:txBody>
      </p:sp>
      <p:sp>
        <p:nvSpPr>
          <p:cNvPr id="179" name="ANUARIO_REFERENCIA_2024_P2_L021"/>
          <p:cNvSpPr txBox="1"/>
          <p:nvPr/>
        </p:nvSpPr>
        <p:spPr>
          <a:xfrm>
            <a:off x="749811" y="1841181"/>
            <a:ext cx="14461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FLUJOS DE INVERSIÓN EXTRANJERA DIRECTA </a:t>
            </a:r>
          </a:p>
        </p:txBody>
      </p:sp>
      <p:sp>
        <p:nvSpPr>
          <p:cNvPr id="180" name="ANUARIO_REFERENCIA_2024_P2_L022"/>
          <p:cNvSpPr txBox="1"/>
          <p:nvPr/>
        </p:nvSpPr>
        <p:spPr>
          <a:xfrm>
            <a:off x="3589006" y="1841181"/>
            <a:ext cx="16269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15</a:t>
            </a:r>
          </a:p>
        </p:txBody>
      </p:sp>
      <p:sp>
        <p:nvSpPr>
          <p:cNvPr id="181" name="ANUARIO_REFERENCIA_2024_P2_L023"/>
          <p:cNvSpPr txBox="1"/>
          <p:nvPr/>
        </p:nvSpPr>
        <p:spPr>
          <a:xfrm>
            <a:off x="749812" y="1903334"/>
            <a:ext cx="22939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INGRESOS, EGRESOS Y MARGEN DEL SECTOR DE TELECOMUNICACIONES </a:t>
            </a:r>
          </a:p>
        </p:txBody>
      </p:sp>
      <p:sp>
        <p:nvSpPr>
          <p:cNvPr id="182" name="ANUARIO_REFERENCIA_2024_P2_L024"/>
          <p:cNvSpPr txBox="1"/>
          <p:nvPr/>
        </p:nvSpPr>
        <p:spPr>
          <a:xfrm>
            <a:off x="3586801" y="1903334"/>
            <a:ext cx="16489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16</a:t>
            </a:r>
          </a:p>
        </p:txBody>
      </p:sp>
      <p:sp>
        <p:nvSpPr>
          <p:cNvPr id="183" name="ANUARIO_REFERENCIA_2024_P2_L025"/>
          <p:cNvSpPr txBox="1"/>
          <p:nvPr/>
        </p:nvSpPr>
        <p:spPr>
          <a:xfrm>
            <a:off x="749812" y="1965487"/>
            <a:ext cx="2211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FIJAS </a:t>
            </a:r>
          </a:p>
        </p:txBody>
      </p:sp>
      <p:sp>
        <p:nvSpPr>
          <p:cNvPr id="184" name="ANUARIO_REFERENCIA_2024_P2_L026"/>
          <p:cNvSpPr txBox="1"/>
          <p:nvPr/>
        </p:nvSpPr>
        <p:spPr>
          <a:xfrm>
            <a:off x="3592928" y="1965487"/>
            <a:ext cx="1587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17</a:t>
            </a:r>
          </a:p>
        </p:txBody>
      </p:sp>
      <p:sp>
        <p:nvSpPr>
          <p:cNvPr id="185" name="ANUARIO_REFERENCIA_2024_P2_L027"/>
          <p:cNvSpPr txBox="1"/>
          <p:nvPr/>
        </p:nvSpPr>
        <p:spPr>
          <a:xfrm>
            <a:off x="749812" y="2027640"/>
            <a:ext cx="23203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INGRESO Y GASTO DE LOS HOGARES EN TELECOMUNICACIONES MÓVILES </a:t>
            </a:r>
          </a:p>
        </p:txBody>
      </p:sp>
      <p:sp>
        <p:nvSpPr>
          <p:cNvPr id="186" name="ANUARIO_REFERENCIA_2024_P2_L028"/>
          <p:cNvSpPr txBox="1"/>
          <p:nvPr/>
        </p:nvSpPr>
        <p:spPr>
          <a:xfrm>
            <a:off x="3586616" y="2027640"/>
            <a:ext cx="1650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19</a:t>
            </a:r>
          </a:p>
        </p:txBody>
      </p:sp>
      <p:sp>
        <p:nvSpPr>
          <p:cNvPr id="187" name="ANUARIO_REFERENCIA_2024_P2_L029"/>
          <p:cNvSpPr txBox="1"/>
          <p:nvPr/>
        </p:nvSpPr>
        <p:spPr>
          <a:xfrm>
            <a:off x="627303" y="2099506"/>
            <a:ext cx="163010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B. SERVICIOS FIJOS DE TELECOMUNICACIONES</a:t>
            </a:r>
          </a:p>
        </p:txBody>
      </p:sp>
      <p:sp>
        <p:nvSpPr>
          <p:cNvPr id="188" name="ANUARIO_REFERENCIA_2024_P2_L030"/>
          <p:cNvSpPr txBox="1"/>
          <p:nvPr/>
        </p:nvSpPr>
        <p:spPr>
          <a:xfrm>
            <a:off x="3580534" y="2099506"/>
            <a:ext cx="17116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21</a:t>
            </a:r>
          </a:p>
        </p:txBody>
      </p:sp>
      <p:sp>
        <p:nvSpPr>
          <p:cNvPr id="189" name="ANUARIO_REFERENCIA_2024_P2_L031"/>
          <p:cNvSpPr txBox="1"/>
          <p:nvPr/>
        </p:nvSpPr>
        <p:spPr>
          <a:xfrm>
            <a:off x="749833" y="2175031"/>
            <a:ext cx="195834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FIJOS DE TELECOMUNICACIONES EN LOS HOGARES</a:t>
            </a:r>
          </a:p>
        </p:txBody>
      </p:sp>
      <p:sp>
        <p:nvSpPr>
          <p:cNvPr id="190" name="ANUARIO_REFERENCIA_2024_P2_L032"/>
          <p:cNvSpPr txBox="1"/>
          <p:nvPr/>
        </p:nvSpPr>
        <p:spPr>
          <a:xfrm>
            <a:off x="3589068" y="2175031"/>
            <a:ext cx="16262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21</a:t>
            </a:r>
          </a:p>
        </p:txBody>
      </p:sp>
      <p:sp>
        <p:nvSpPr>
          <p:cNvPr id="191" name="ANUARIO_REFERENCIA_2024_P2_L033"/>
          <p:cNvSpPr txBox="1"/>
          <p:nvPr/>
        </p:nvSpPr>
        <p:spPr>
          <a:xfrm>
            <a:off x="749812" y="2237184"/>
            <a:ext cx="98505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TELEFONÍA </a:t>
            </a:r>
          </a:p>
        </p:txBody>
      </p:sp>
      <p:sp>
        <p:nvSpPr>
          <p:cNvPr id="192" name="ANUARIO_REFERENCIA_2024_P2_L034"/>
          <p:cNvSpPr txBox="1"/>
          <p:nvPr/>
        </p:nvSpPr>
        <p:spPr>
          <a:xfrm>
            <a:off x="3580735" y="2237184"/>
            <a:ext cx="170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24</a:t>
            </a:r>
          </a:p>
        </p:txBody>
      </p:sp>
      <p:sp>
        <p:nvSpPr>
          <p:cNvPr id="193" name="ANUARIO_REFERENCIA_2024_P2_L035"/>
          <p:cNvSpPr txBox="1"/>
          <p:nvPr/>
        </p:nvSpPr>
        <p:spPr>
          <a:xfrm>
            <a:off x="749811" y="2299336"/>
            <a:ext cx="127153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FIJO DE ACCESO A INTERNET </a:t>
            </a:r>
          </a:p>
        </p:txBody>
      </p:sp>
      <p:sp>
        <p:nvSpPr>
          <p:cNvPr id="194" name="ANUARIO_REFERENCIA_2024_P2_L036"/>
          <p:cNvSpPr txBox="1"/>
          <p:nvPr/>
        </p:nvSpPr>
        <p:spPr>
          <a:xfrm>
            <a:off x="3590478" y="2299336"/>
            <a:ext cx="16122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31</a:t>
            </a:r>
          </a:p>
        </p:txBody>
      </p:sp>
      <p:sp>
        <p:nvSpPr>
          <p:cNvPr id="195" name="ANUARIO_REFERENCIA_2024_P2_L037"/>
          <p:cNvSpPr txBox="1"/>
          <p:nvPr/>
        </p:nvSpPr>
        <p:spPr>
          <a:xfrm>
            <a:off x="749813" y="2361489"/>
            <a:ext cx="12734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DE TELEVISIÓN RESTRINGIDA </a:t>
            </a:r>
          </a:p>
        </p:txBody>
      </p:sp>
      <p:sp>
        <p:nvSpPr>
          <p:cNvPr id="196" name="ANUARIO_REFERENCIA_2024_P2_L038"/>
          <p:cNvSpPr txBox="1"/>
          <p:nvPr/>
        </p:nvSpPr>
        <p:spPr>
          <a:xfrm>
            <a:off x="3577304" y="2361489"/>
            <a:ext cx="1743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39</a:t>
            </a:r>
          </a:p>
        </p:txBody>
      </p:sp>
      <p:sp>
        <p:nvSpPr>
          <p:cNvPr id="197" name="ANUARIO_REFERENCIA_2024_P2_L039"/>
          <p:cNvSpPr txBox="1"/>
          <p:nvPr/>
        </p:nvSpPr>
        <p:spPr>
          <a:xfrm>
            <a:off x="627304" y="2433355"/>
            <a:ext cx="17621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C. SERVICIOS MÓVILES DE TELECOMUNICACIONES</a:t>
            </a:r>
          </a:p>
        </p:txBody>
      </p:sp>
      <p:sp>
        <p:nvSpPr>
          <p:cNvPr id="198" name="ANUARIO_REFERENCIA_2024_P2_L040"/>
          <p:cNvSpPr txBox="1"/>
          <p:nvPr/>
        </p:nvSpPr>
        <p:spPr>
          <a:xfrm>
            <a:off x="3564292" y="2433355"/>
            <a:ext cx="18740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46</a:t>
            </a:r>
          </a:p>
        </p:txBody>
      </p:sp>
      <p:sp>
        <p:nvSpPr>
          <p:cNvPr id="199" name="ANUARIO_REFERENCIA_2024_P2_L041"/>
          <p:cNvSpPr txBox="1"/>
          <p:nvPr/>
        </p:nvSpPr>
        <p:spPr>
          <a:xfrm>
            <a:off x="749833" y="2508879"/>
            <a:ext cx="24080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BANDA DE FRECUENCIA</a:t>
            </a:r>
          </a:p>
        </p:txBody>
      </p:sp>
      <p:sp>
        <p:nvSpPr>
          <p:cNvPr id="200" name="ANUARIO_REFERENCIA_2024_P2_L042"/>
          <p:cNvSpPr txBox="1"/>
          <p:nvPr/>
        </p:nvSpPr>
        <p:spPr>
          <a:xfrm>
            <a:off x="3575223" y="2508879"/>
            <a:ext cx="1764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46</a:t>
            </a:r>
          </a:p>
        </p:txBody>
      </p:sp>
      <p:sp>
        <p:nvSpPr>
          <p:cNvPr id="201" name="ANUARIO_REFERENCIA_2024_P2_L043"/>
          <p:cNvSpPr txBox="1"/>
          <p:nvPr/>
        </p:nvSpPr>
        <p:spPr>
          <a:xfrm>
            <a:off x="749813" y="2571032"/>
            <a:ext cx="206299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DISTRIBUCIÓN DEL ESPECTRO RADIOELÉCTRICO POR OPERADOR </a:t>
            </a:r>
          </a:p>
        </p:txBody>
      </p:sp>
      <p:sp>
        <p:nvSpPr>
          <p:cNvPr id="202" name="ANUARIO_REFERENCIA_2024_P2_L044"/>
          <p:cNvSpPr txBox="1"/>
          <p:nvPr/>
        </p:nvSpPr>
        <p:spPr>
          <a:xfrm>
            <a:off x="3582575" y="2571032"/>
            <a:ext cx="16912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47</a:t>
            </a:r>
          </a:p>
        </p:txBody>
      </p:sp>
      <p:sp>
        <p:nvSpPr>
          <p:cNvPr id="203" name="ANUARIO_REFERENCIA_2024_P2_L045"/>
          <p:cNvSpPr txBox="1"/>
          <p:nvPr/>
        </p:nvSpPr>
        <p:spPr>
          <a:xfrm>
            <a:off x="749813" y="2633185"/>
            <a:ext cx="252932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MÓVILES DE TELECOMUNICACIONES POR LA POBLACIÓN </a:t>
            </a:r>
          </a:p>
        </p:txBody>
      </p:sp>
      <p:sp>
        <p:nvSpPr>
          <p:cNvPr id="204" name="ANUARIO_REFERENCIA_2024_P2_L046"/>
          <p:cNvSpPr txBox="1"/>
          <p:nvPr/>
        </p:nvSpPr>
        <p:spPr>
          <a:xfrm>
            <a:off x="3576081" y="2633185"/>
            <a:ext cx="17561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48</a:t>
            </a:r>
          </a:p>
        </p:txBody>
      </p:sp>
      <p:sp>
        <p:nvSpPr>
          <p:cNvPr id="205" name="ANUARIO_REFERENCIA_2024_P2_L047"/>
          <p:cNvSpPr txBox="1"/>
          <p:nvPr/>
        </p:nvSpPr>
        <p:spPr>
          <a:xfrm>
            <a:off x="749813" y="2695337"/>
            <a:ext cx="10627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TELEFONÍA </a:t>
            </a:r>
          </a:p>
        </p:txBody>
      </p:sp>
      <p:sp>
        <p:nvSpPr>
          <p:cNvPr id="206" name="ANUARIO_REFERENCIA_2024_P2_L048"/>
          <p:cNvSpPr txBox="1"/>
          <p:nvPr/>
        </p:nvSpPr>
        <p:spPr>
          <a:xfrm>
            <a:off x="3575651" y="2695337"/>
            <a:ext cx="17604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49</a:t>
            </a:r>
          </a:p>
        </p:txBody>
      </p:sp>
      <p:sp>
        <p:nvSpPr>
          <p:cNvPr id="207" name="ANUARIO_REFERENCIA_2024_P2_L049"/>
          <p:cNvSpPr txBox="1"/>
          <p:nvPr/>
        </p:nvSpPr>
        <p:spPr>
          <a:xfrm>
            <a:off x="749812" y="2757490"/>
            <a:ext cx="134921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 MÓVIL DE ACCESO A INTERNET </a:t>
            </a:r>
          </a:p>
        </p:txBody>
      </p:sp>
      <p:sp>
        <p:nvSpPr>
          <p:cNvPr id="208" name="ANUARIO_REFERENCIA_2024_P2_L050"/>
          <p:cNvSpPr txBox="1"/>
          <p:nvPr/>
        </p:nvSpPr>
        <p:spPr>
          <a:xfrm>
            <a:off x="3578469" y="2757490"/>
            <a:ext cx="17322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55</a:t>
            </a:r>
          </a:p>
        </p:txBody>
      </p:sp>
      <p:sp>
        <p:nvSpPr>
          <p:cNvPr id="209" name="ANUARIO_REFERENCIA_2024_P2_L051"/>
          <p:cNvSpPr txBox="1"/>
          <p:nvPr/>
        </p:nvSpPr>
        <p:spPr>
          <a:xfrm>
            <a:off x="627304" y="2829356"/>
            <a:ext cx="21932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D. TECNOLOGÍAS DE LA INFORMACIÓN Y COMUNICACIÓN (TIC)</a:t>
            </a:r>
          </a:p>
        </p:txBody>
      </p:sp>
      <p:sp>
        <p:nvSpPr>
          <p:cNvPr id="210" name="ANUARIO_REFERENCIA_2024_P2_L052"/>
          <p:cNvSpPr txBox="1"/>
          <p:nvPr/>
        </p:nvSpPr>
        <p:spPr>
          <a:xfrm>
            <a:off x="3577702" y="2829356"/>
            <a:ext cx="17399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61</a:t>
            </a:r>
          </a:p>
        </p:txBody>
      </p:sp>
      <p:sp>
        <p:nvSpPr>
          <p:cNvPr id="211" name="ANUARIO_REFERENCIA_2024_P2_L053"/>
          <p:cNvSpPr txBox="1"/>
          <p:nvPr/>
        </p:nvSpPr>
        <p:spPr>
          <a:xfrm>
            <a:off x="749833" y="2904881"/>
            <a:ext cx="265540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DISPONIBILIDAD DE LAS TECNOLOGÍAS DE LA INFORMACIÓN Y COMUNICACIÓN (TIC)</a:t>
            </a:r>
          </a:p>
        </p:txBody>
      </p:sp>
      <p:sp>
        <p:nvSpPr>
          <p:cNvPr id="212" name="ANUARIO_REFERENCIA_2024_P2_L054"/>
          <p:cNvSpPr txBox="1"/>
          <p:nvPr/>
        </p:nvSpPr>
        <p:spPr>
          <a:xfrm>
            <a:off x="749833" y="2958154"/>
            <a:ext cx="6478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a:t>
            </a:r>
          </a:p>
        </p:txBody>
      </p:sp>
      <p:sp>
        <p:nvSpPr>
          <p:cNvPr id="213" name="ANUARIO_REFERENCIA_2024_P2_L055"/>
          <p:cNvSpPr txBox="1"/>
          <p:nvPr/>
        </p:nvSpPr>
        <p:spPr>
          <a:xfrm>
            <a:off x="3587291" y="2958154"/>
            <a:ext cx="16440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61</a:t>
            </a:r>
          </a:p>
        </p:txBody>
      </p:sp>
      <p:sp>
        <p:nvSpPr>
          <p:cNvPr id="214" name="ANUARIO_REFERENCIA_2024_P2_L056"/>
          <p:cNvSpPr txBox="1"/>
          <p:nvPr/>
        </p:nvSpPr>
        <p:spPr>
          <a:xfrm>
            <a:off x="749812" y="3020085"/>
            <a:ext cx="184508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a:t>
            </a:r>
            <a:r>
              <a:rPr sz="500" b="1" i="1">
                <a:solidFill>
                  <a:srgbClr val="EFF3EF"/>
                </a:solidFill>
                <a:latin typeface="Noto Sans"/>
              </a:rPr>
              <a:t>SMARTPHONE</a:t>
            </a:r>
            <a:r>
              <a:rPr sz="500" b="1" i="0">
                <a:solidFill>
                  <a:srgbClr val="EFF3EF"/>
                </a:solidFill>
                <a:latin typeface="Noto Sans"/>
              </a:rPr>
              <a:t> E INTERNET POR GRUPOS DE EDAD </a:t>
            </a:r>
          </a:p>
        </p:txBody>
      </p:sp>
      <p:sp>
        <p:nvSpPr>
          <p:cNvPr id="215" name="ANUARIO_REFERENCIA_2024_P2_L057"/>
          <p:cNvSpPr txBox="1"/>
          <p:nvPr/>
        </p:nvSpPr>
        <p:spPr>
          <a:xfrm>
            <a:off x="3578224" y="3020307"/>
            <a:ext cx="17347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62</a:t>
            </a:r>
          </a:p>
        </p:txBody>
      </p:sp>
      <p:sp>
        <p:nvSpPr>
          <p:cNvPr id="216" name="ANUARIO_REFERENCIA_2024_P2_L058"/>
          <p:cNvSpPr txBox="1"/>
          <p:nvPr/>
        </p:nvSpPr>
        <p:spPr>
          <a:xfrm>
            <a:off x="749812" y="3082460"/>
            <a:ext cx="25203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PORCENTAJE DE HORAS PROMEDIO DE USO DE INTERNET POR GRUPOS DE EDAD </a:t>
            </a:r>
          </a:p>
        </p:txBody>
      </p:sp>
      <p:sp>
        <p:nvSpPr>
          <p:cNvPr id="217" name="ANUARIO_REFERENCIA_2024_P2_L059"/>
          <p:cNvSpPr txBox="1"/>
          <p:nvPr/>
        </p:nvSpPr>
        <p:spPr>
          <a:xfrm>
            <a:off x="3577734" y="3082460"/>
            <a:ext cx="1739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63</a:t>
            </a:r>
          </a:p>
        </p:txBody>
      </p:sp>
      <p:sp>
        <p:nvSpPr>
          <p:cNvPr id="218" name="ANUARIO_REFERENCIA_2024_P2_L060"/>
          <p:cNvSpPr txBox="1"/>
          <p:nvPr/>
        </p:nvSpPr>
        <p:spPr>
          <a:xfrm>
            <a:off x="749812" y="3144612"/>
            <a:ext cx="20422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DISPOSITIVOS INTELIGENTES CONECTADOS A INTERNET </a:t>
            </a:r>
          </a:p>
        </p:txBody>
      </p:sp>
      <p:sp>
        <p:nvSpPr>
          <p:cNvPr id="219" name="ANUARIO_REFERENCIA_2024_P2_L061"/>
          <p:cNvSpPr txBox="1"/>
          <p:nvPr/>
        </p:nvSpPr>
        <p:spPr>
          <a:xfrm>
            <a:off x="3574610" y="3144612"/>
            <a:ext cx="1770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64</a:t>
            </a:r>
          </a:p>
        </p:txBody>
      </p:sp>
      <p:sp>
        <p:nvSpPr>
          <p:cNvPr id="220" name="ANUARIO_REFERENCIA_2024_P2_L062"/>
          <p:cNvSpPr txBox="1"/>
          <p:nvPr/>
        </p:nvSpPr>
        <p:spPr>
          <a:xfrm>
            <a:off x="749813" y="3206765"/>
            <a:ext cx="2538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EFECTOS DE LA DESCONFIANZA EN INTERNET SOBRE LAS ACTIVIDADES EN LÍNEA 
</a:t>
            </a:r>
          </a:p>
        </p:txBody>
      </p:sp>
      <p:sp>
        <p:nvSpPr>
          <p:cNvPr id="221" name="ANUARIO_REFERENCIA_2024_P2_L063"/>
          <p:cNvSpPr txBox="1"/>
          <p:nvPr/>
        </p:nvSpPr>
        <p:spPr>
          <a:xfrm>
            <a:off x="749813" y="3260039"/>
            <a:ext cx="6578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LOS USUARIOS </a:t>
            </a:r>
          </a:p>
        </p:txBody>
      </p:sp>
      <p:sp>
        <p:nvSpPr>
          <p:cNvPr id="222" name="ANUARIO_REFERENCIA_2024_P2_L064"/>
          <p:cNvSpPr txBox="1"/>
          <p:nvPr/>
        </p:nvSpPr>
        <p:spPr>
          <a:xfrm>
            <a:off x="3576141" y="3260039"/>
            <a:ext cx="1755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65</a:t>
            </a:r>
          </a:p>
        </p:txBody>
      </p:sp>
      <p:sp>
        <p:nvSpPr>
          <p:cNvPr id="223" name="ANUARIO_REFERENCIA_2024_P2_L065"/>
          <p:cNvSpPr txBox="1"/>
          <p:nvPr/>
        </p:nvSpPr>
        <p:spPr>
          <a:xfrm>
            <a:off x="749812" y="3322192"/>
            <a:ext cx="26019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O GRADO DE CONFIANZA QUE TIENEN LAS PERSONAS AL HACER USO 
</a:t>
            </a:r>
          </a:p>
        </p:txBody>
      </p:sp>
      <p:sp>
        <p:nvSpPr>
          <p:cNvPr id="224" name="ANUARIO_REFERENCIA_2024_P2_L066"/>
          <p:cNvSpPr txBox="1"/>
          <p:nvPr/>
        </p:nvSpPr>
        <p:spPr>
          <a:xfrm>
            <a:off x="749812" y="3375465"/>
            <a:ext cx="55663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DEL INTERNET. </a:t>
            </a:r>
          </a:p>
        </p:txBody>
      </p:sp>
      <p:sp>
        <p:nvSpPr>
          <p:cNvPr id="225" name="ANUARIO_REFERENCIA_2024_P2_L067"/>
          <p:cNvSpPr txBox="1"/>
          <p:nvPr/>
        </p:nvSpPr>
        <p:spPr>
          <a:xfrm>
            <a:off x="3574425" y="3375465"/>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68</a:t>
            </a:r>
          </a:p>
        </p:txBody>
      </p:sp>
      <p:sp>
        <p:nvSpPr>
          <p:cNvPr id="226" name="ANUARIO_REFERENCIA_2024_P2_L068"/>
          <p:cNvSpPr txBox="1"/>
          <p:nvPr/>
        </p:nvSpPr>
        <p:spPr>
          <a:xfrm>
            <a:off x="749812" y="3437618"/>
            <a:ext cx="25584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PERCEPCIÓN SEGÚN NIVEL DE SEGURIDAD QUE TIENEN LAS PERSONAS USUARIAS 
</a:t>
            </a:r>
          </a:p>
        </p:txBody>
      </p:sp>
      <p:sp>
        <p:nvSpPr>
          <p:cNvPr id="227" name="ANUARIO_REFERENCIA_2024_P2_L069"/>
          <p:cNvSpPr txBox="1"/>
          <p:nvPr/>
        </p:nvSpPr>
        <p:spPr>
          <a:xfrm>
            <a:off x="749812" y="3490892"/>
            <a:ext cx="211715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INTERNET AL REALIZAR DIFERENTES ACTIVIDADES EN INTERNET </a:t>
            </a:r>
          </a:p>
        </p:txBody>
      </p:sp>
      <p:sp>
        <p:nvSpPr>
          <p:cNvPr id="228" name="ANUARIO_REFERENCIA_2024_P2_L070"/>
          <p:cNvSpPr txBox="1"/>
          <p:nvPr/>
        </p:nvSpPr>
        <p:spPr>
          <a:xfrm>
            <a:off x="3574915" y="3490892"/>
            <a:ext cx="176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69</a:t>
            </a:r>
          </a:p>
        </p:txBody>
      </p:sp>
      <p:sp>
        <p:nvSpPr>
          <p:cNvPr id="229" name="ANUARIO_REFERENCIA_2024_P2_L071"/>
          <p:cNvSpPr txBox="1"/>
          <p:nvPr/>
        </p:nvSpPr>
        <p:spPr>
          <a:xfrm>
            <a:off x="749812" y="3553044"/>
            <a:ext cx="282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POBLACIÓN USUARIA DE INTERNET SEGÚN NIVEL DE SEGURIDAD QUE CONSIDERAN, TIENE </a:t>
            </a:r>
          </a:p>
        </p:txBody>
      </p:sp>
      <p:sp>
        <p:nvSpPr>
          <p:cNvPr id="230" name="ANUARIO_REFERENCIA_2024_P2_L072"/>
          <p:cNvSpPr txBox="1"/>
          <p:nvPr/>
        </p:nvSpPr>
        <p:spPr>
          <a:xfrm>
            <a:off x="749812" y="3606318"/>
            <a:ext cx="198880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REALIZAR DIFERENTES ACTIVIDADES EN INTERNET (POR SEXO). </a:t>
            </a:r>
          </a:p>
        </p:txBody>
      </p:sp>
      <p:sp>
        <p:nvSpPr>
          <p:cNvPr id="231" name="ANUARIO_REFERENCIA_2024_P2_L073"/>
          <p:cNvSpPr txBox="1"/>
          <p:nvPr/>
        </p:nvSpPr>
        <p:spPr>
          <a:xfrm>
            <a:off x="3592807" y="3606318"/>
            <a:ext cx="15889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71</a:t>
            </a:r>
          </a:p>
        </p:txBody>
      </p:sp>
      <p:sp>
        <p:nvSpPr>
          <p:cNvPr id="232" name="ANUARIO_REFERENCIA_2024_P2_L074"/>
          <p:cNvSpPr txBox="1"/>
          <p:nvPr/>
        </p:nvSpPr>
        <p:spPr>
          <a:xfrm>
            <a:off x="627305" y="3678185"/>
            <a:ext cx="226802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E. PERSONAS USUARIAS DE SERVICIOS DE TELECOMUNICACIONES</a:t>
            </a:r>
          </a:p>
        </p:txBody>
      </p:sp>
      <p:sp>
        <p:nvSpPr>
          <p:cNvPr id="233" name="ANUARIO_REFERENCIA_2024_P2_L075"/>
          <p:cNvSpPr txBox="1"/>
          <p:nvPr/>
        </p:nvSpPr>
        <p:spPr>
          <a:xfrm>
            <a:off x="3574808" y="3678185"/>
            <a:ext cx="17689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72</a:t>
            </a:r>
          </a:p>
        </p:txBody>
      </p:sp>
      <p:sp>
        <p:nvSpPr>
          <p:cNvPr id="234" name="ANUARIO_REFERENCIA_2024_P2_L076"/>
          <p:cNvSpPr txBox="1"/>
          <p:nvPr/>
        </p:nvSpPr>
        <p:spPr>
          <a:xfrm>
            <a:off x="749835" y="3753709"/>
            <a:ext cx="25067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a:t>
            </a:r>
          </a:p>
        </p:txBody>
      </p:sp>
      <p:sp>
        <p:nvSpPr>
          <p:cNvPr id="235" name="ANUARIO_REFERENCIA_2024_P2_L077"/>
          <p:cNvSpPr txBox="1"/>
          <p:nvPr/>
        </p:nvSpPr>
        <p:spPr>
          <a:xfrm>
            <a:off x="749835" y="3806983"/>
            <a:ext cx="8562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PERSONAS USUARIAS </a:t>
            </a:r>
          </a:p>
        </p:txBody>
      </p:sp>
      <p:sp>
        <p:nvSpPr>
          <p:cNvPr id="236" name="ANUARIO_REFERENCIA_2024_P2_L078"/>
          <p:cNvSpPr txBox="1"/>
          <p:nvPr/>
        </p:nvSpPr>
        <p:spPr>
          <a:xfrm>
            <a:off x="3583923" y="3806983"/>
            <a:ext cx="1677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72</a:t>
            </a:r>
          </a:p>
        </p:txBody>
      </p:sp>
      <p:sp>
        <p:nvSpPr>
          <p:cNvPr id="237" name="ANUARIO_REFERENCIA_2024_P2_L079"/>
          <p:cNvSpPr txBox="1"/>
          <p:nvPr/>
        </p:nvSpPr>
        <p:spPr>
          <a:xfrm>
            <a:off x="749813" y="3869135"/>
            <a:ext cx="268180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CONOCIMIENTO Y PERCEPCIÓN DE LA INTELIGENCIA ARTIFICIAL (IA) Y CHAT GPT </a:t>
            </a:r>
          </a:p>
        </p:txBody>
      </p:sp>
      <p:sp>
        <p:nvSpPr>
          <p:cNvPr id="238" name="ANUARIO_REFERENCIA_2024_P2_L080"/>
          <p:cNvSpPr txBox="1"/>
          <p:nvPr/>
        </p:nvSpPr>
        <p:spPr>
          <a:xfrm>
            <a:off x="3582515" y="3869135"/>
            <a:ext cx="1691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73</a:t>
            </a:r>
          </a:p>
        </p:txBody>
      </p:sp>
      <p:sp>
        <p:nvSpPr>
          <p:cNvPr id="239" name="ANUARIO_REFERENCIA_2024_P2_L081"/>
          <p:cNvSpPr txBox="1"/>
          <p:nvPr/>
        </p:nvSpPr>
        <p:spPr>
          <a:xfrm>
            <a:off x="749814" y="3931288"/>
            <a:ext cx="253496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 GENERAL DE SATISFACIÓN DE LOS SERVICIOS DE TELECOMUNICACIONES 
</a:t>
            </a:r>
          </a:p>
        </p:txBody>
      </p:sp>
      <p:sp>
        <p:nvSpPr>
          <p:cNvPr id="240" name="ANUARIO_REFERENCIA_2024_P2_L082"/>
          <p:cNvSpPr txBox="1"/>
          <p:nvPr/>
        </p:nvSpPr>
        <p:spPr>
          <a:xfrm>
            <a:off x="749814" y="3984562"/>
            <a:ext cx="5334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EMPRESAS </a:t>
            </a:r>
          </a:p>
        </p:txBody>
      </p:sp>
      <p:sp>
        <p:nvSpPr>
          <p:cNvPr id="241" name="ANUARIO_REFERENCIA_2024_P2_L083"/>
          <p:cNvSpPr txBox="1"/>
          <p:nvPr/>
        </p:nvSpPr>
        <p:spPr>
          <a:xfrm>
            <a:off x="3585454" y="3984562"/>
            <a:ext cx="16624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74</a:t>
            </a:r>
          </a:p>
        </p:txBody>
      </p:sp>
      <p:sp>
        <p:nvSpPr>
          <p:cNvPr id="242" name="ANUARIO_REFERENCIA_2024_P2_L084"/>
          <p:cNvSpPr txBox="1"/>
          <p:nvPr/>
        </p:nvSpPr>
        <p:spPr>
          <a:xfrm>
            <a:off x="749813" y="4046714"/>
            <a:ext cx="248523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SERVICIOS CONTRATADOS POR LAS MICRO, PEQUEÑAS Y MEDIANAS EMPRESAS </a:t>
            </a:r>
          </a:p>
        </p:txBody>
      </p:sp>
      <p:sp>
        <p:nvSpPr>
          <p:cNvPr id="243" name="ANUARIO_REFERENCIA_2024_P2_L085"/>
          <p:cNvSpPr txBox="1"/>
          <p:nvPr/>
        </p:nvSpPr>
        <p:spPr>
          <a:xfrm>
            <a:off x="3582024" y="4046714"/>
            <a:ext cx="16967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75</a:t>
            </a:r>
          </a:p>
        </p:txBody>
      </p:sp>
      <p:sp>
        <p:nvSpPr>
          <p:cNvPr id="244" name="ANUARIO_REFERENCIA_2024_P2_L086"/>
          <p:cNvSpPr txBox="1"/>
          <p:nvPr/>
        </p:nvSpPr>
        <p:spPr>
          <a:xfrm>
            <a:off x="749813" y="4108867"/>
            <a:ext cx="25395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USO DE LOS SERVICIOS DE TELECOMUNICACIONES PARA REALIZAR ACTIVIDADES 
</a:t>
            </a:r>
          </a:p>
        </p:txBody>
      </p:sp>
      <p:sp>
        <p:nvSpPr>
          <p:cNvPr id="245" name="ANUARIO_REFERENCIA_2024_P2_L087"/>
          <p:cNvSpPr txBox="1"/>
          <p:nvPr/>
        </p:nvSpPr>
        <p:spPr>
          <a:xfrm>
            <a:off x="749813" y="4162141"/>
            <a:ext cx="12440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DE IMPORTACIÓN Y/O EXPORTACIÓN. </a:t>
            </a:r>
          </a:p>
        </p:txBody>
      </p:sp>
      <p:sp>
        <p:nvSpPr>
          <p:cNvPr id="246" name="ANUARIO_REFERENCIA_2024_P2_L088"/>
          <p:cNvSpPr txBox="1"/>
          <p:nvPr/>
        </p:nvSpPr>
        <p:spPr>
          <a:xfrm>
            <a:off x="3571118" y="4162141"/>
            <a:ext cx="18058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80</a:t>
            </a:r>
          </a:p>
        </p:txBody>
      </p:sp>
      <p:sp>
        <p:nvSpPr>
          <p:cNvPr id="247" name="ANUARIO_REFERENCIA_2024_P2_L089"/>
          <p:cNvSpPr txBox="1"/>
          <p:nvPr/>
        </p:nvSpPr>
        <p:spPr>
          <a:xfrm>
            <a:off x="4716788" y="1167216"/>
            <a:ext cx="166400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F. INDICADORES CON PERSPECTIVA DE GÉNERO</a:t>
            </a:r>
          </a:p>
        </p:txBody>
      </p:sp>
      <p:sp>
        <p:nvSpPr>
          <p:cNvPr id="248" name="ANUARIO_REFERENCIA_2024_P2_L090"/>
          <p:cNvSpPr txBox="1"/>
          <p:nvPr/>
        </p:nvSpPr>
        <p:spPr>
          <a:xfrm>
            <a:off x="7668131" y="1167216"/>
            <a:ext cx="1730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81</a:t>
            </a:r>
          </a:p>
        </p:txBody>
      </p:sp>
      <p:sp>
        <p:nvSpPr>
          <p:cNvPr id="249" name="ANUARIO_REFERENCIA_2024_P2_L091"/>
          <p:cNvSpPr txBox="1"/>
          <p:nvPr/>
        </p:nvSpPr>
        <p:spPr>
          <a:xfrm>
            <a:off x="4839318" y="1242740"/>
            <a:ext cx="17166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EN EL TELÉFONO CELULAR INTELIGENTE</a:t>
            </a:r>
          </a:p>
        </p:txBody>
      </p:sp>
      <p:sp>
        <p:nvSpPr>
          <p:cNvPr id="250" name="ANUARIO_REFERENCIA_2024_P2_L092"/>
          <p:cNvSpPr txBox="1"/>
          <p:nvPr/>
        </p:nvSpPr>
        <p:spPr>
          <a:xfrm>
            <a:off x="7677206" y="1242740"/>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1" name="ANUARIO_REFERENCIA_2024_P2_L093"/>
          <p:cNvSpPr txBox="1"/>
          <p:nvPr/>
        </p:nvSpPr>
        <p:spPr>
          <a:xfrm>
            <a:off x="4839298" y="1304893"/>
            <a:ext cx="132298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ACTIVIDADES REALIZADAS EN INTERNET </a:t>
            </a:r>
          </a:p>
        </p:txBody>
      </p:sp>
      <p:sp>
        <p:nvSpPr>
          <p:cNvPr id="252" name="ANUARIO_REFERENCIA_2024_P2_L094"/>
          <p:cNvSpPr txBox="1"/>
          <p:nvPr/>
        </p:nvSpPr>
        <p:spPr>
          <a:xfrm>
            <a:off x="7677207" y="1304893"/>
            <a:ext cx="1639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81</a:t>
            </a:r>
          </a:p>
        </p:txBody>
      </p:sp>
      <p:sp>
        <p:nvSpPr>
          <p:cNvPr id="253" name="ANUARIO_REFERENCIA_2024_P2_L095"/>
          <p:cNvSpPr txBox="1"/>
          <p:nvPr/>
        </p:nvSpPr>
        <p:spPr>
          <a:xfrm>
            <a:off x="4839299" y="1367046"/>
            <a:ext cx="221671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PERSONAS EMPLEADAS EN TELECOMUNICACIONES Y RADIODIFUSIÓN </a:t>
            </a:r>
          </a:p>
        </p:txBody>
      </p:sp>
      <p:sp>
        <p:nvSpPr>
          <p:cNvPr id="254" name="ANUARIO_REFERENCIA_2024_P2_L096"/>
          <p:cNvSpPr txBox="1"/>
          <p:nvPr/>
        </p:nvSpPr>
        <p:spPr>
          <a:xfrm>
            <a:off x="7663912" y="1367046"/>
            <a:ext cx="17727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86</a:t>
            </a:r>
          </a:p>
        </p:txBody>
      </p:sp>
      <p:sp>
        <p:nvSpPr>
          <p:cNvPr id="255" name="ANUARIO_REFERENCIA_2024_P2_L097"/>
          <p:cNvSpPr txBox="1"/>
          <p:nvPr/>
        </p:nvSpPr>
        <p:spPr>
          <a:xfrm>
            <a:off x="4839298" y="1429198"/>
            <a:ext cx="5181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CIBERACOSO </a:t>
            </a:r>
          </a:p>
        </p:txBody>
      </p:sp>
      <p:sp>
        <p:nvSpPr>
          <p:cNvPr id="256" name="ANUARIO_REFERENCIA_2024_P2_L098"/>
          <p:cNvSpPr txBox="1"/>
          <p:nvPr/>
        </p:nvSpPr>
        <p:spPr>
          <a:xfrm>
            <a:off x="7670958" y="1429198"/>
            <a:ext cx="1702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87</a:t>
            </a:r>
          </a:p>
        </p:txBody>
      </p:sp>
      <p:sp>
        <p:nvSpPr>
          <p:cNvPr id="257" name="ANUARIO_REFERENCIA_2024_P2_L099"/>
          <p:cNvSpPr txBox="1"/>
          <p:nvPr/>
        </p:nvSpPr>
        <p:spPr>
          <a:xfrm>
            <a:off x="4839298" y="1491351"/>
            <a:ext cx="22631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MEDIDAS DE PROTECCIÓN QUE TOMAN LAS PERSONAS USUARIAS ANTE 
</a:t>
            </a:r>
          </a:p>
        </p:txBody>
      </p:sp>
      <p:sp>
        <p:nvSpPr>
          <p:cNvPr id="258" name="ANUARIO_REFERENCIA_2024_P2_L100"/>
          <p:cNvSpPr txBox="1"/>
          <p:nvPr/>
        </p:nvSpPr>
        <p:spPr>
          <a:xfrm>
            <a:off x="4839298" y="1544625"/>
            <a:ext cx="8164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t>
            </a:r>
          </a:p>
        </p:txBody>
      </p:sp>
      <p:sp>
        <p:nvSpPr>
          <p:cNvPr id="259" name="ANUARIO_REFERENCIA_2024_P2_L101"/>
          <p:cNvSpPr txBox="1"/>
          <p:nvPr/>
        </p:nvSpPr>
        <p:spPr>
          <a:xfrm>
            <a:off x="7664156" y="1544625"/>
            <a:ext cx="17702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98</a:t>
            </a:r>
          </a:p>
        </p:txBody>
      </p:sp>
      <p:sp>
        <p:nvSpPr>
          <p:cNvPr id="260" name="ANUARIO_REFERENCIA_2024_P2_L102"/>
          <p:cNvSpPr txBox="1"/>
          <p:nvPr/>
        </p:nvSpPr>
        <p:spPr>
          <a:xfrm>
            <a:off x="4839297" y="1606778"/>
            <a:ext cx="26786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REALIZADAS POR LAS PERSONAS USUARIAS PARA PROTEGERSE O PREVENIR </a:t>
            </a:r>
          </a:p>
        </p:txBody>
      </p:sp>
      <p:sp>
        <p:nvSpPr>
          <p:cNvPr id="261" name="ANUARIO_REFERENCIA_2024_P2_L103"/>
          <p:cNvSpPr txBox="1"/>
          <p:nvPr/>
        </p:nvSpPr>
        <p:spPr>
          <a:xfrm>
            <a:off x="4839319" y="1660051"/>
            <a:ext cx="187648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LA VIOLENCIA DIGITAL A TRAVÉS DE INTERNET (POR SEXO). </a:t>
            </a:r>
          </a:p>
        </p:txBody>
      </p:sp>
      <p:sp>
        <p:nvSpPr>
          <p:cNvPr id="262" name="ANUARIO_REFERENCIA_2024_P2_L104"/>
          <p:cNvSpPr txBox="1"/>
          <p:nvPr/>
        </p:nvSpPr>
        <p:spPr>
          <a:xfrm>
            <a:off x="7662502" y="1660051"/>
            <a:ext cx="1786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99</a:t>
            </a:r>
          </a:p>
        </p:txBody>
      </p:sp>
      <p:sp>
        <p:nvSpPr>
          <p:cNvPr id="263" name="ANUARIO_REFERENCIA_2024_P2_L105"/>
          <p:cNvSpPr txBox="1"/>
          <p:nvPr/>
        </p:nvSpPr>
        <p:spPr>
          <a:xfrm>
            <a:off x="4839297" y="1722204"/>
            <a:ext cx="26301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ACCIONES QUE REALIZARÍAN LAS PERSONAS USUARIAS EN CASO DE EXPERIMENTAR 
</a:t>
            </a:r>
          </a:p>
        </p:txBody>
      </p:sp>
      <p:sp>
        <p:nvSpPr>
          <p:cNvPr id="264" name="ANUARIO_REFERENCIA_2024_P2_L106"/>
          <p:cNvSpPr txBox="1"/>
          <p:nvPr/>
        </p:nvSpPr>
        <p:spPr>
          <a:xfrm>
            <a:off x="4839297" y="1775478"/>
            <a:ext cx="17854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VIOLENCIA DIGITAL A TRAVÉS DE INTERNET (POR SEXO). </a:t>
            </a:r>
          </a:p>
        </p:txBody>
      </p:sp>
      <p:sp>
        <p:nvSpPr>
          <p:cNvPr id="265" name="ANUARIO_REFERENCIA_2024_P2_L107"/>
          <p:cNvSpPr txBox="1"/>
          <p:nvPr/>
        </p:nvSpPr>
        <p:spPr>
          <a:xfrm>
            <a:off x="7633403" y="1775478"/>
            <a:ext cx="20778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100</a:t>
            </a:r>
          </a:p>
        </p:txBody>
      </p:sp>
      <p:sp>
        <p:nvSpPr>
          <p:cNvPr id="266" name="ANUARIO_REFERENCIA_2024_P2_L108"/>
          <p:cNvSpPr txBox="1"/>
          <p:nvPr/>
        </p:nvSpPr>
        <p:spPr>
          <a:xfrm>
            <a:off x="4716790" y="1847344"/>
            <a:ext cx="1318349"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G. INDICADORES DE RADIODIFUSIÓN</a:t>
            </a:r>
          </a:p>
        </p:txBody>
      </p:sp>
      <p:sp>
        <p:nvSpPr>
          <p:cNvPr id="267" name="ANUARIO_REFERENCIA_2024_P2_L109"/>
          <p:cNvSpPr txBox="1"/>
          <p:nvPr/>
        </p:nvSpPr>
        <p:spPr>
          <a:xfrm>
            <a:off x="7637266" y="1847344"/>
            <a:ext cx="20391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101</a:t>
            </a:r>
          </a:p>
        </p:txBody>
      </p:sp>
      <p:sp>
        <p:nvSpPr>
          <p:cNvPr id="268" name="ANUARIO_REFERENCIA_2024_P2_L110"/>
          <p:cNvSpPr txBox="1"/>
          <p:nvPr/>
        </p:nvSpPr>
        <p:spPr>
          <a:xfrm>
            <a:off x="4716797" y="1932559"/>
            <a:ext cx="1349424"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 CONSUMO DE RADIO Y TELEVISIÓN</a:t>
            </a:r>
          </a:p>
        </p:txBody>
      </p:sp>
      <p:sp>
        <p:nvSpPr>
          <p:cNvPr id="269" name="ANUARIO_REFERENCIA_2024_P2_L111"/>
          <p:cNvSpPr txBox="1"/>
          <p:nvPr/>
        </p:nvSpPr>
        <p:spPr>
          <a:xfrm>
            <a:off x="7629314" y="1932582"/>
            <a:ext cx="21186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102</a:t>
            </a:r>
          </a:p>
        </p:txBody>
      </p:sp>
      <p:sp>
        <p:nvSpPr>
          <p:cNvPr id="270" name="ANUARIO_REFERENCIA_2024_P2_L112"/>
          <p:cNvSpPr txBox="1"/>
          <p:nvPr/>
        </p:nvSpPr>
        <p:spPr>
          <a:xfrm>
            <a:off x="4839319" y="2008106"/>
            <a:ext cx="231623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A NIVEL NACIONAL (28 CIUDADES)</a:t>
            </a:r>
          </a:p>
        </p:txBody>
      </p:sp>
      <p:sp>
        <p:nvSpPr>
          <p:cNvPr id="271" name="ANUARIO_REFERENCIA_2024_P2_L113"/>
          <p:cNvSpPr txBox="1"/>
          <p:nvPr/>
        </p:nvSpPr>
        <p:spPr>
          <a:xfrm>
            <a:off x="7642530" y="2008106"/>
            <a:ext cx="198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102</a:t>
            </a:r>
          </a:p>
        </p:txBody>
      </p:sp>
      <p:sp>
        <p:nvSpPr>
          <p:cNvPr id="272" name="ANUARIO_REFERENCIA_2024_P2_L114"/>
          <p:cNvSpPr txBox="1"/>
          <p:nvPr/>
        </p:nvSpPr>
        <p:spPr>
          <a:xfrm>
            <a:off x="4839298" y="2070259"/>
            <a:ext cx="274637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 NIVEL </a:t>
            </a:r>
          </a:p>
        </p:txBody>
      </p:sp>
      <p:sp>
        <p:nvSpPr>
          <p:cNvPr id="273" name="ANUARIO_REFERENCIA_2024_P2_L115"/>
          <p:cNvSpPr txBox="1"/>
          <p:nvPr/>
        </p:nvSpPr>
        <p:spPr>
          <a:xfrm>
            <a:off x="4839298" y="2123532"/>
            <a:ext cx="89885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NACIONAL (28 CIUDADES) </a:t>
            </a:r>
          </a:p>
        </p:txBody>
      </p:sp>
      <p:sp>
        <p:nvSpPr>
          <p:cNvPr id="274" name="ANUARIO_REFERENCIA_2024_P2_L116"/>
          <p:cNvSpPr txBox="1"/>
          <p:nvPr/>
        </p:nvSpPr>
        <p:spPr>
          <a:xfrm>
            <a:off x="7641305" y="2123532"/>
            <a:ext cx="19987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103</a:t>
            </a:r>
          </a:p>
        </p:txBody>
      </p:sp>
      <p:sp>
        <p:nvSpPr>
          <p:cNvPr id="275" name="ANUARIO_REFERENCIA_2024_P2_L117"/>
          <p:cNvSpPr txBox="1"/>
          <p:nvPr/>
        </p:nvSpPr>
        <p:spPr>
          <a:xfrm>
            <a:off x="4839298" y="2185685"/>
            <a:ext cx="20145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CIUDAD DE MÉXICO </a:t>
            </a:r>
          </a:p>
        </p:txBody>
      </p:sp>
      <p:sp>
        <p:nvSpPr>
          <p:cNvPr id="276" name="ANUARIO_REFERENCIA_2024_P2_L118"/>
          <p:cNvSpPr txBox="1"/>
          <p:nvPr/>
        </p:nvSpPr>
        <p:spPr>
          <a:xfrm>
            <a:off x="7639222" y="2185685"/>
            <a:ext cx="2019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104</a:t>
            </a:r>
          </a:p>
        </p:txBody>
      </p:sp>
      <p:sp>
        <p:nvSpPr>
          <p:cNvPr id="277" name="ANUARIO_REFERENCIA_2024_P2_L119"/>
          <p:cNvSpPr txBox="1"/>
          <p:nvPr/>
        </p:nvSpPr>
        <p:spPr>
          <a:xfrm>
            <a:off x="4839298" y="2247838"/>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78" name="ANUARIO_REFERENCIA_2024_P2_L120"/>
          <p:cNvSpPr txBox="1"/>
          <p:nvPr/>
        </p:nvSpPr>
        <p:spPr>
          <a:xfrm>
            <a:off x="4839298" y="2301112"/>
            <a:ext cx="9078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LA CIUDAD DE MÉXICO </a:t>
            </a:r>
          </a:p>
        </p:txBody>
      </p:sp>
      <p:sp>
        <p:nvSpPr>
          <p:cNvPr id="279" name="ANUARIO_REFERENCIA_2024_P2_L121"/>
          <p:cNvSpPr txBox="1"/>
          <p:nvPr/>
        </p:nvSpPr>
        <p:spPr>
          <a:xfrm>
            <a:off x="7639406" y="2301112"/>
            <a:ext cx="201777"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105</a:t>
            </a:r>
          </a:p>
        </p:txBody>
      </p:sp>
      <p:sp>
        <p:nvSpPr>
          <p:cNvPr id="280" name="ANUARIO_REFERENCIA_2024_P2_L122"/>
          <p:cNvSpPr txBox="1"/>
          <p:nvPr/>
        </p:nvSpPr>
        <p:spPr>
          <a:xfrm>
            <a:off x="4839298" y="2363264"/>
            <a:ext cx="18581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GUADALAJARA </a:t>
            </a:r>
          </a:p>
        </p:txBody>
      </p:sp>
      <p:sp>
        <p:nvSpPr>
          <p:cNvPr id="281" name="ANUARIO_REFERENCIA_2024_P2_L123"/>
          <p:cNvSpPr txBox="1"/>
          <p:nvPr/>
        </p:nvSpPr>
        <p:spPr>
          <a:xfrm>
            <a:off x="7636587" y="2363264"/>
            <a:ext cx="2045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106</a:t>
            </a:r>
          </a:p>
        </p:txBody>
      </p:sp>
      <p:sp>
        <p:nvSpPr>
          <p:cNvPr id="282" name="ANUARIO_REFERENCIA_2024_P2_L124"/>
          <p:cNvSpPr txBox="1"/>
          <p:nvPr/>
        </p:nvSpPr>
        <p:spPr>
          <a:xfrm>
            <a:off x="4839298" y="2425417"/>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3" name="ANUARIO_REFERENCIA_2024_P2_L125"/>
          <p:cNvSpPr txBox="1"/>
          <p:nvPr/>
        </p:nvSpPr>
        <p:spPr>
          <a:xfrm>
            <a:off x="4839298" y="2478691"/>
            <a:ext cx="6602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GUADALAJARA </a:t>
            </a:r>
          </a:p>
        </p:txBody>
      </p:sp>
      <p:sp>
        <p:nvSpPr>
          <p:cNvPr id="284" name="ANUARIO_REFERENCIA_2024_P2_L126"/>
          <p:cNvSpPr txBox="1"/>
          <p:nvPr/>
        </p:nvSpPr>
        <p:spPr>
          <a:xfrm>
            <a:off x="7644368" y="2478691"/>
            <a:ext cx="19681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107</a:t>
            </a:r>
          </a:p>
        </p:txBody>
      </p:sp>
      <p:sp>
        <p:nvSpPr>
          <p:cNvPr id="285" name="ANUARIO_REFERENCIA_2024_P2_L127"/>
          <p:cNvSpPr txBox="1"/>
          <p:nvPr/>
        </p:nvSpPr>
        <p:spPr>
          <a:xfrm>
            <a:off x="4839298" y="2540843"/>
            <a:ext cx="179649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MONTERREY </a:t>
            </a:r>
          </a:p>
        </p:txBody>
      </p:sp>
      <p:sp>
        <p:nvSpPr>
          <p:cNvPr id="286" name="ANUARIO_REFERENCIA_2024_P2_L128"/>
          <p:cNvSpPr txBox="1"/>
          <p:nvPr/>
        </p:nvSpPr>
        <p:spPr>
          <a:xfrm>
            <a:off x="7637874" y="2540843"/>
            <a:ext cx="2033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108</a:t>
            </a:r>
          </a:p>
        </p:txBody>
      </p:sp>
      <p:sp>
        <p:nvSpPr>
          <p:cNvPr id="287" name="ANUARIO_REFERENCIA_2024_P2_L129"/>
          <p:cNvSpPr txBox="1"/>
          <p:nvPr/>
        </p:nvSpPr>
        <p:spPr>
          <a:xfrm>
            <a:off x="4839298" y="2602996"/>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88" name="ANUARIO_REFERENCIA_2024_P2_L130"/>
          <p:cNvSpPr txBox="1"/>
          <p:nvPr/>
        </p:nvSpPr>
        <p:spPr>
          <a:xfrm>
            <a:off x="4839298" y="2656270"/>
            <a:ext cx="59866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MONTERREY </a:t>
            </a:r>
          </a:p>
        </p:txBody>
      </p:sp>
      <p:sp>
        <p:nvSpPr>
          <p:cNvPr id="289" name="ANUARIO_REFERENCIA_2024_P2_L131"/>
          <p:cNvSpPr txBox="1"/>
          <p:nvPr/>
        </p:nvSpPr>
        <p:spPr>
          <a:xfrm>
            <a:off x="7636342" y="2656270"/>
            <a:ext cx="20484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109</a:t>
            </a:r>
          </a:p>
        </p:txBody>
      </p:sp>
      <p:sp>
        <p:nvSpPr>
          <p:cNvPr id="290" name="ANUARIO_REFERENCIA_2024_P2_L132"/>
          <p:cNvSpPr txBox="1"/>
          <p:nvPr/>
        </p:nvSpPr>
        <p:spPr>
          <a:xfrm>
            <a:off x="4839297" y="2718423"/>
            <a:ext cx="18102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TELEVISIÓN EN 25 CIUDADES </a:t>
            </a:r>
          </a:p>
        </p:txBody>
      </p:sp>
      <p:sp>
        <p:nvSpPr>
          <p:cNvPr id="291" name="ANUARIO_REFERENCIA_2024_P2_L133"/>
          <p:cNvSpPr txBox="1"/>
          <p:nvPr/>
        </p:nvSpPr>
        <p:spPr>
          <a:xfrm>
            <a:off x="7650189" y="2718423"/>
            <a:ext cx="19099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110</a:t>
            </a:r>
          </a:p>
        </p:txBody>
      </p:sp>
      <p:sp>
        <p:nvSpPr>
          <p:cNvPr id="292" name="ANUARIO_REFERENCIA_2024_P2_L134"/>
          <p:cNvSpPr txBox="1"/>
          <p:nvPr/>
        </p:nvSpPr>
        <p:spPr>
          <a:xfrm>
            <a:off x="4839298" y="2780575"/>
            <a:ext cx="251271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HORAS DEDICADAS Y NIVELES DE AUDIENCIA POR GÉNERO DE PROGRAMACIÓN 
</a:t>
            </a:r>
          </a:p>
        </p:txBody>
      </p:sp>
      <p:sp>
        <p:nvSpPr>
          <p:cNvPr id="293" name="ANUARIO_REFERENCIA_2024_P2_L135"/>
          <p:cNvSpPr txBox="1"/>
          <p:nvPr/>
        </p:nvSpPr>
        <p:spPr>
          <a:xfrm>
            <a:off x="4839298" y="2833849"/>
            <a:ext cx="6124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25 CIUDADES </a:t>
            </a:r>
          </a:p>
        </p:txBody>
      </p:sp>
      <p:sp>
        <p:nvSpPr>
          <p:cNvPr id="294" name="ANUARIO_REFERENCIA_2024_P2_L136"/>
          <p:cNvSpPr txBox="1"/>
          <p:nvPr/>
        </p:nvSpPr>
        <p:spPr>
          <a:xfrm>
            <a:off x="7666976" y="2833849"/>
            <a:ext cx="174208"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111</a:t>
            </a:r>
          </a:p>
        </p:txBody>
      </p:sp>
      <p:sp>
        <p:nvSpPr>
          <p:cNvPr id="295" name="ANUARIO_REFERENCIA_2024_P2_L137"/>
          <p:cNvSpPr txBox="1"/>
          <p:nvPr/>
        </p:nvSpPr>
        <p:spPr>
          <a:xfrm>
            <a:off x="4839298" y="2896002"/>
            <a:ext cx="287582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PRINCIPALES CIUDADES DEL PAÍS (CIUDAD DE MÉXICO, </a:t>
            </a:r>
          </a:p>
        </p:txBody>
      </p:sp>
      <p:sp>
        <p:nvSpPr>
          <p:cNvPr id="296" name="ANUARIO_REFERENCIA_2024_P2_L138"/>
          <p:cNvSpPr txBox="1"/>
          <p:nvPr/>
        </p:nvSpPr>
        <p:spPr>
          <a:xfrm>
            <a:off x="4839298" y="2949275"/>
            <a:ext cx="10284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GUADALAJARA Y MONTERREY) </a:t>
            </a:r>
          </a:p>
        </p:txBody>
      </p:sp>
      <p:sp>
        <p:nvSpPr>
          <p:cNvPr id="297" name="ANUARIO_REFERENCIA_2024_P2_L139"/>
          <p:cNvSpPr txBox="1"/>
          <p:nvPr/>
        </p:nvSpPr>
        <p:spPr>
          <a:xfrm>
            <a:off x="7657970" y="2949275"/>
            <a:ext cx="18321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112</a:t>
            </a:r>
          </a:p>
        </p:txBody>
      </p:sp>
      <p:sp>
        <p:nvSpPr>
          <p:cNvPr id="298" name="ANUARIO_REFERENCIA_2024_P2_L140"/>
          <p:cNvSpPr txBox="1"/>
          <p:nvPr/>
        </p:nvSpPr>
        <p:spPr>
          <a:xfrm>
            <a:off x="4839299" y="3011428"/>
            <a:ext cx="185776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CIUDAD DE MÉXICO </a:t>
            </a:r>
          </a:p>
        </p:txBody>
      </p:sp>
      <p:sp>
        <p:nvSpPr>
          <p:cNvPr id="299" name="ANUARIO_REFERENCIA_2024_P2_L141"/>
          <p:cNvSpPr txBox="1"/>
          <p:nvPr/>
        </p:nvSpPr>
        <p:spPr>
          <a:xfrm>
            <a:off x="7657480" y="3011428"/>
            <a:ext cx="18370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113</a:t>
            </a:r>
          </a:p>
        </p:txBody>
      </p:sp>
      <p:sp>
        <p:nvSpPr>
          <p:cNvPr id="300" name="ANUARIO_REFERENCIA_2024_P2_L142"/>
          <p:cNvSpPr txBox="1"/>
          <p:nvPr/>
        </p:nvSpPr>
        <p:spPr>
          <a:xfrm>
            <a:off x="4839299" y="3073581"/>
            <a:ext cx="17012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GUADALAJARA </a:t>
            </a:r>
          </a:p>
        </p:txBody>
      </p:sp>
      <p:sp>
        <p:nvSpPr>
          <p:cNvPr id="301" name="ANUARIO_REFERENCIA_2024_P2_L143"/>
          <p:cNvSpPr txBox="1"/>
          <p:nvPr/>
        </p:nvSpPr>
        <p:spPr>
          <a:xfrm>
            <a:off x="7656315" y="3073581"/>
            <a:ext cx="18486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114</a:t>
            </a:r>
          </a:p>
        </p:txBody>
      </p:sp>
      <p:sp>
        <p:nvSpPr>
          <p:cNvPr id="302" name="ANUARIO_REFERENCIA_2024_P2_L144"/>
          <p:cNvSpPr txBox="1"/>
          <p:nvPr/>
        </p:nvSpPr>
        <p:spPr>
          <a:xfrm>
            <a:off x="4839298" y="3135733"/>
            <a:ext cx="163966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NIVEL DE EXPOSICIÓN A LA RADIO EN MONTERREY </a:t>
            </a:r>
          </a:p>
        </p:txBody>
      </p:sp>
      <p:sp>
        <p:nvSpPr>
          <p:cNvPr id="303" name="ANUARIO_REFERENCIA_2024_P2_L145"/>
          <p:cNvSpPr txBox="1"/>
          <p:nvPr/>
        </p:nvSpPr>
        <p:spPr>
          <a:xfrm>
            <a:off x="7655520" y="3135733"/>
            <a:ext cx="18566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115</a:t>
            </a:r>
          </a:p>
        </p:txBody>
      </p:sp>
      <p:sp>
        <p:nvSpPr>
          <p:cNvPr id="304" name="ANUARIO_REFERENCIA_2024_P2_L146"/>
          <p:cNvSpPr txBox="1"/>
          <p:nvPr/>
        </p:nvSpPr>
        <p:spPr>
          <a:xfrm>
            <a:off x="4716790" y="3207600"/>
            <a:ext cx="75914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HERRAMIENTAS IFT </a:t>
            </a:r>
          </a:p>
        </p:txBody>
      </p:sp>
      <p:sp>
        <p:nvSpPr>
          <p:cNvPr id="305" name="ANUARIO_REFERENCIA_2024_P2_L147"/>
          <p:cNvSpPr txBox="1"/>
          <p:nvPr/>
        </p:nvSpPr>
        <p:spPr>
          <a:xfrm>
            <a:off x="7640097" y="3207600"/>
            <a:ext cx="201086"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116</a:t>
            </a:r>
          </a:p>
        </p:txBody>
      </p:sp>
      <p:sp>
        <p:nvSpPr>
          <p:cNvPr id="306" name="ANUARIO_REFERENCIA_2024_P2_L148"/>
          <p:cNvSpPr txBox="1"/>
          <p:nvPr/>
        </p:nvSpPr>
        <p:spPr>
          <a:xfrm>
            <a:off x="4716799" y="3292816"/>
            <a:ext cx="2876232"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 RESUMEN DE INDICADORES DE TELECOMUNICACIONES Y RADIODIFUSIÓN </a:t>
            </a:r>
          </a:p>
        </p:txBody>
      </p:sp>
      <p:sp>
        <p:nvSpPr>
          <p:cNvPr id="307" name="ANUARIO_REFERENCIA_2024_P2_L149"/>
          <p:cNvSpPr txBox="1"/>
          <p:nvPr/>
        </p:nvSpPr>
        <p:spPr>
          <a:xfrm>
            <a:off x="7647647" y="3292838"/>
            <a:ext cx="193538"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117</a:t>
            </a:r>
          </a:p>
        </p:txBody>
      </p:sp>
      <p:sp>
        <p:nvSpPr>
          <p:cNvPr id="308" name="ANUARIO_REFERENCIA_2024_P2_L150"/>
          <p:cNvSpPr txBox="1"/>
          <p:nvPr/>
        </p:nvSpPr>
        <p:spPr>
          <a:xfrm>
            <a:off x="4716800" y="3378054"/>
            <a:ext cx="932261"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 DEFINICIONES </a:t>
            </a:r>
          </a:p>
        </p:txBody>
      </p:sp>
      <p:sp>
        <p:nvSpPr>
          <p:cNvPr id="309" name="ANUARIO_REFERENCIA_2024_P2_L151"/>
          <p:cNvSpPr txBox="1"/>
          <p:nvPr/>
        </p:nvSpPr>
        <p:spPr>
          <a:xfrm>
            <a:off x="7643334" y="3378076"/>
            <a:ext cx="19785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121</a:t>
            </a:r>
          </a:p>
        </p:txBody>
      </p:sp>
      <p:sp>
        <p:nvSpPr>
          <p:cNvPr id="310" name="ANUARIO_REFERENCIA_2024_P2_L152"/>
          <p:cNvSpPr txBox="1"/>
          <p:nvPr/>
        </p:nvSpPr>
        <p:spPr>
          <a:xfrm>
            <a:off x="4716800" y="3463292"/>
            <a:ext cx="101233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III. METODOLOGÍAS </a:t>
            </a:r>
          </a:p>
        </p:txBody>
      </p:sp>
      <p:sp>
        <p:nvSpPr>
          <p:cNvPr id="311" name="ANUARIO_REFERENCIA_2024_P2_L153"/>
          <p:cNvSpPr txBox="1"/>
          <p:nvPr/>
        </p:nvSpPr>
        <p:spPr>
          <a:xfrm>
            <a:off x="7631405" y="3463314"/>
            <a:ext cx="209780"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126</a:t>
            </a:r>
          </a:p>
        </p:txBody>
      </p:sp>
      <p:sp>
        <p:nvSpPr>
          <p:cNvPr id="312" name="ANUARIO_REFERENCIA_2024_P2_L154"/>
          <p:cNvSpPr txBox="1"/>
          <p:nvPr/>
        </p:nvSpPr>
        <p:spPr>
          <a:xfrm>
            <a:off x="4839320" y="3538838"/>
            <a:ext cx="204840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SERVICIOS DE TELECOMUNICACIONES </a:t>
            </a:r>
          </a:p>
        </p:txBody>
      </p:sp>
      <p:sp>
        <p:nvSpPr>
          <p:cNvPr id="313" name="ANUARIO_REFERENCIA_2024_P2_L155"/>
          <p:cNvSpPr txBox="1"/>
          <p:nvPr/>
        </p:nvSpPr>
        <p:spPr>
          <a:xfrm>
            <a:off x="7644921" y="3538838"/>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4" name="ANUARIO_REFERENCIA_2024_P2_L156"/>
          <p:cNvSpPr txBox="1"/>
          <p:nvPr/>
        </p:nvSpPr>
        <p:spPr>
          <a:xfrm>
            <a:off x="4839300" y="3600991"/>
            <a:ext cx="73828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ÍNDICES DE PRECIOS </a:t>
            </a:r>
          </a:p>
        </p:txBody>
      </p:sp>
      <p:sp>
        <p:nvSpPr>
          <p:cNvPr id="315" name="ANUARIO_REFERENCIA_2024_P2_L157"/>
          <p:cNvSpPr txBox="1"/>
          <p:nvPr/>
        </p:nvSpPr>
        <p:spPr>
          <a:xfrm>
            <a:off x="7644921" y="3600991"/>
            <a:ext cx="196263"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126</a:t>
            </a:r>
          </a:p>
        </p:txBody>
      </p:sp>
      <p:sp>
        <p:nvSpPr>
          <p:cNvPr id="316" name="ANUARIO_REFERENCIA_2024_P2_L158"/>
          <p:cNvSpPr txBox="1"/>
          <p:nvPr/>
        </p:nvSpPr>
        <p:spPr>
          <a:xfrm>
            <a:off x="4839300" y="3663143"/>
            <a:ext cx="282485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SOBRE INFORMACIÓN DE INGRESO Y GASTO DE LOS HOGARES EN TELECOMUNICACIONES 
</a:t>
            </a:r>
          </a:p>
        </p:txBody>
      </p:sp>
      <p:sp>
        <p:nvSpPr>
          <p:cNvPr id="317" name="ANUARIO_REFERENCIA_2024_P2_L159"/>
          <p:cNvSpPr txBox="1"/>
          <p:nvPr/>
        </p:nvSpPr>
        <p:spPr>
          <a:xfrm>
            <a:off x="4839300" y="3716417"/>
            <a:ext cx="60369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FIJAS Y MÓVILES </a:t>
            </a:r>
          </a:p>
        </p:txBody>
      </p:sp>
      <p:sp>
        <p:nvSpPr>
          <p:cNvPr id="318" name="ANUARIO_REFERENCIA_2024_P2_L160"/>
          <p:cNvSpPr txBox="1"/>
          <p:nvPr/>
        </p:nvSpPr>
        <p:spPr>
          <a:xfrm>
            <a:off x="7650436" y="3716417"/>
            <a:ext cx="19074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127</a:t>
            </a:r>
          </a:p>
        </p:txBody>
      </p:sp>
      <p:sp>
        <p:nvSpPr>
          <p:cNvPr id="319" name="ANUARIO_REFERENCIA_2024_P2_L161"/>
          <p:cNvSpPr txBox="1"/>
          <p:nvPr/>
        </p:nvSpPr>
        <p:spPr>
          <a:xfrm>
            <a:off x="4839301" y="3778570"/>
            <a:ext cx="2369136"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CONSUMO DE RADIO Y TELEVISIÓN, PARTICULARIDADES METODOLÓGICAS </a:t>
            </a:r>
          </a:p>
        </p:txBody>
      </p:sp>
      <p:sp>
        <p:nvSpPr>
          <p:cNvPr id="320" name="ANUARIO_REFERENCIA_2024_P2_L162"/>
          <p:cNvSpPr txBox="1"/>
          <p:nvPr/>
        </p:nvSpPr>
        <p:spPr>
          <a:xfrm>
            <a:off x="7644800" y="3778570"/>
            <a:ext cx="196385"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128</a:t>
            </a:r>
          </a:p>
        </p:txBody>
      </p:sp>
      <p:sp>
        <p:nvSpPr>
          <p:cNvPr id="321" name="ANUARIO_REFERENCIA_2024_P2_L163"/>
          <p:cNvSpPr txBox="1"/>
          <p:nvPr/>
        </p:nvSpPr>
        <p:spPr>
          <a:xfrm>
            <a:off x="4839301" y="3840723"/>
            <a:ext cx="289543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SOBRE DISPONIBILIDAD Y USO DE TECNOLOGÍAS DE LA INFORMACIÓN </a:t>
            </a:r>
          </a:p>
        </p:txBody>
      </p:sp>
      <p:sp>
        <p:nvSpPr>
          <p:cNvPr id="322" name="ANUARIO_REFERENCIA_2024_P2_L164"/>
          <p:cNvSpPr txBox="1"/>
          <p:nvPr/>
        </p:nvSpPr>
        <p:spPr>
          <a:xfrm>
            <a:off x="4839321" y="3893996"/>
            <a:ext cx="2318942"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 LOS HOGARES (ENDUTIH) 2023, PARTICULARIDADES METODOLÓGICAS </a:t>
            </a:r>
          </a:p>
        </p:txBody>
      </p:sp>
      <p:sp>
        <p:nvSpPr>
          <p:cNvPr id="323" name="ANUARIO_REFERENCIA_2024_P2_L165"/>
          <p:cNvSpPr txBox="1"/>
          <p:nvPr/>
        </p:nvSpPr>
        <p:spPr>
          <a:xfrm>
            <a:off x="7650676" y="3893996"/>
            <a:ext cx="190509"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128</a:t>
            </a:r>
          </a:p>
        </p:txBody>
      </p:sp>
      <p:sp>
        <p:nvSpPr>
          <p:cNvPr id="324" name="ANUARIO_REFERENCIA_2024_P2_L166"/>
          <p:cNvSpPr txBox="1"/>
          <p:nvPr/>
        </p:nvSpPr>
        <p:spPr>
          <a:xfrm>
            <a:off x="4839301" y="3956149"/>
            <a:ext cx="2568211"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ENCUESTA NACIONAL DE OCUPACIÓN Y EMPLEO (ENOE), POBLACIÓN DE 15 AÑOS 
</a:t>
            </a:r>
          </a:p>
        </p:txBody>
      </p:sp>
      <p:sp>
        <p:nvSpPr>
          <p:cNvPr id="325" name="ANUARIO_REFERENCIA_2024_P2_L167"/>
          <p:cNvSpPr txBox="1"/>
          <p:nvPr/>
        </p:nvSpPr>
        <p:spPr>
          <a:xfrm>
            <a:off x="4839301" y="4009423"/>
            <a:ext cx="177175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Y MÁS DE EDAD, PARTICULARIDADES METODOLÓGICAS </a:t>
            </a:r>
          </a:p>
        </p:txBody>
      </p:sp>
      <p:sp>
        <p:nvSpPr>
          <p:cNvPr id="326" name="ANUARIO_REFERENCIA_2024_P2_L168"/>
          <p:cNvSpPr txBox="1"/>
          <p:nvPr/>
        </p:nvSpPr>
        <p:spPr>
          <a:xfrm>
            <a:off x="7648531" y="4009423"/>
            <a:ext cx="19265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129</a:t>
            </a:r>
          </a:p>
        </p:txBody>
      </p:sp>
      <p:sp>
        <p:nvSpPr>
          <p:cNvPr id="327" name="ANUARIO_REFERENCIA_2024_P2_L169"/>
          <p:cNvSpPr txBox="1"/>
          <p:nvPr/>
        </p:nvSpPr>
        <p:spPr>
          <a:xfrm>
            <a:off x="4839300" y="4071575"/>
            <a:ext cx="2321594"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PRODUCTO INTERNO BRUTO (PIB), PARTICULARIDADES METODOLÓGICAS </a:t>
            </a:r>
          </a:p>
        </p:txBody>
      </p:sp>
      <p:sp>
        <p:nvSpPr>
          <p:cNvPr id="328" name="ANUARIO_REFERENCIA_2024_P2_L170"/>
          <p:cNvSpPr txBox="1"/>
          <p:nvPr/>
        </p:nvSpPr>
        <p:spPr>
          <a:xfrm>
            <a:off x="7642655" y="4071575"/>
            <a:ext cx="198530" cy="109728"/>
          </a:xfrm>
          <a:prstGeom prst="rect">
            <a:avLst/>
          </a:prstGeom>
          <a:noFill/>
        </p:spPr>
        <p:txBody>
          <a:bodyPr wrap="none" anchor="t" lIns="0" rIns="0" tIns="0" bIns="0">
            <a:noAutofit/>
          </a:bodyPr>
          <a:lstStyle/>
          <a:p>
            <a:pPr>
              <a:spcBef>
                <a:spcPts val="0"/>
              </a:spcBef>
              <a:spcAft>
                <a:spcPts val="0"/>
              </a:spcAft>
            </a:pPr>
            <a:r>
              <a:rPr sz="500" b="1" i="0">
                <a:solidFill>
                  <a:srgbClr val="EFF3EF"/>
                </a:solidFill>
                <a:latin typeface="Noto Sans"/>
              </a:rPr>
              <a:t> 129</a:t>
            </a:r>
          </a:p>
        </p:txBody>
      </p:sp>
      <p:sp>
        <p:nvSpPr>
          <p:cNvPr id="329" name="ANUARIO_REFERENCIA_2024_P2_L171"/>
          <p:cNvSpPr txBox="1"/>
          <p:nvPr/>
        </p:nvSpPr>
        <p:spPr>
          <a:xfrm>
            <a:off x="4716791" y="4143442"/>
            <a:ext cx="1832545"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ANEXO IV. MÉTODOS DE CÁLCULO DE INDICADORES </a:t>
            </a:r>
          </a:p>
        </p:txBody>
      </p:sp>
      <p:sp>
        <p:nvSpPr>
          <p:cNvPr id="330" name="ANUARIO_REFERENCIA_2024_P2_L172"/>
          <p:cNvSpPr txBox="1"/>
          <p:nvPr/>
        </p:nvSpPr>
        <p:spPr>
          <a:xfrm>
            <a:off x="7627362" y="4143442"/>
            <a:ext cx="229323" cy="109728"/>
          </a:xfrm>
          <a:prstGeom prst="rect">
            <a:avLst/>
          </a:prstGeom>
          <a:noFill/>
        </p:spPr>
        <p:txBody>
          <a:bodyPr wrap="none" anchor="t" lIns="0" rIns="0" tIns="0" bIns="0">
            <a:noAutofit/>
          </a:bodyPr>
          <a:lstStyle/>
          <a:p>
            <a:pPr>
              <a:spcBef>
                <a:spcPts val="0"/>
              </a:spcBef>
              <a:spcAft>
                <a:spcPts val="0"/>
              </a:spcAft>
            </a:pPr>
            <a:r>
              <a:rPr sz="550" b="1" i="0">
                <a:solidFill>
                  <a:srgbClr val="F1C27B"/>
                </a:solidFill>
                <a:latin typeface="Noto Sans"/>
              </a:rPr>
              <a:t> 130 </a:t>
            </a:r>
          </a:p>
        </p:txBody>
      </p:sp>
      <p:sp>
        <p:nvSpPr>
          <p:cNvPr id="33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3"/>
              </a:rPr>
              <a:t>BIT CRT: https://bit.crt.gob.mx/BitWebApp/</a:t>
            </a:r>
          </a:p>
        </p:txBody>
      </p:sp>
    </p:spTree>
  </p:cSld>
  <p:clrMapOvr>
    <a:masterClrMapping/>
  </p:clrMapOvr>
</p:sld>
</file>

<file path=ppt/slides/slide3.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1" name=""/>
          <p:cNvPicPr>
            <a:picLocks xmlns:a="http://schemas.openxmlformats.org/drawingml/2006/main" noChangeAspect="1"/>
          </p:cNvPicPr>
          <p:nvPr/>
        </p:nvPicPr>
        <p:blipFill>
          <a:blip xmlns:r="http://schemas.openxmlformats.org/officeDocument/2006/relationships" xmlns:a="http://schemas.openxmlformats.org/drawingml/2006/main" r:embed="R7dd46c82ccd34f7d"/>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bccc84560eec49cf"/>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LEGALES_QR_FONDO">
            <a:extLst xmlns:a="http://schemas.openxmlformats.org/drawingml/2006/main">
              <a:ext uri="{FF2B5EF4-FFF2-40B4-BE49-F238E27FC236}">
                <a16:creationId xmlns:a16="http://schemas.microsoft.com/office/drawing/2014/main" id="{C4B88A73-ECC8-4C47-BA34-4A7B036DD40F}"/>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24" name=""/>
          <p:cNvPicPr>
            <a:picLocks xmlns:a="http://schemas.openxmlformats.org/drawingml/2006/main" noChangeAspect="1"/>
          </p:cNvPicPr>
          <p:nvPr/>
        </p:nvPicPr>
        <p:blipFill>
          <a:blip xmlns:r="http://schemas.openxmlformats.org/officeDocument/2006/relationships" xmlns:a="http://schemas.openxmlformats.org/drawingml/2006/main" r:embed="R6d4963d98410402b"/>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cb20aff7f10a4f9b"/>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LEGALES_DESIGN_2026">
            <a:extLst xmlns:a="http://schemas.openxmlformats.org/drawingml/2006/main">
              <a:ext uri="{FF2B5EF4-FFF2-40B4-BE49-F238E27FC236}">
                <a16:creationId xmlns:a16="http://schemas.microsoft.com/office/drawing/2014/main" id="{A7B809D4-9ECA-4D1F-BDA8-1BB112B9B676}"/>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FUNDAMENTO_DIVISOR">
            <a:extLst xmlns:a="http://schemas.openxmlformats.org/drawingml/2006/main">
              <a:ext uri="{FF2B5EF4-FFF2-40B4-BE49-F238E27FC236}">
                <a16:creationId xmlns:a16="http://schemas.microsoft.com/office/drawing/2014/main" id="{306E8479-3BEC-4168-9CE0-9394CA6BE81D}"/>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LEGALES_RECUADRO_USUARIOS">
            <a:extLst xmlns:a="http://schemas.openxmlformats.org/drawingml/2006/main">
              <a:ext uri="{FF2B5EF4-FFF2-40B4-BE49-F238E27FC236}">
                <a16:creationId xmlns:a16="http://schemas.microsoft.com/office/drawing/2014/main" id="{C177147B-6B51-40DC-ACA2-C9096A0EECDE}"/>
              </a:ext>
            </a:extLst>
          </p:cNvPr>
          <p:cNvSpPr>
            <a:spLocks xmlns:a="http://schemas.openxmlformats.org/drawingml/2006/main" noGrp="1"/>
          </p:cNvSpPr>
          <p:nvPr/>
        </p:nvSpPr>
        <p:spPr>
          <a:xfrm xmlns:a="http://schemas.openxmlformats.org/drawingml/2006/main">
            <a:off x="2489200" y="609600"/>
            <a:ext cx="3098800" cy="2717800"/>
          </a:xfrm>
          <a:prstGeom xmlns:a="http://schemas.openxmlformats.org/drawingml/2006/main" prst="roundRect">
            <a:avLst>
              <a:gd name="adj" fmla="val 1402"/>
            </a:avLst>
          </a:prstGeom>
          <a:solidFill xmlns:a="http://schemas.openxmlformats.org/drawingml/2006/main">
            <a:srgbClr val="F6FAF9"/>
          </a:solidFill>
          <a:ln xmlns:a="http://schemas.openxmlformats.org/drawingml/2006/main" w="8890">
            <a:solidFill>
              <a:srgbClr val="CFE0DC"/>
            </a:solidFill>
          </a:ln>
        </p:spPr>
      </p:sp>
      <p:sp>
        <p:nvSpPr>
          <p:cNvPr id="9" name="LEGALES_ACENTO_USUARIOS">
            <a:extLst xmlns:a="http://schemas.openxmlformats.org/drawingml/2006/main">
              <a:ext uri="{FF2B5EF4-FFF2-40B4-BE49-F238E27FC236}">
                <a16:creationId xmlns:a16="http://schemas.microsoft.com/office/drawing/2014/main" id="{9D7ECA7A-418B-4F87-90A0-64125678ED32}"/>
              </a:ext>
            </a:extLst>
          </p:cNvPr>
          <p:cNvSpPr>
            <a:spLocks xmlns:a="http://schemas.openxmlformats.org/drawingml/2006/main" noGrp="1"/>
          </p:cNvSpPr>
          <p:nvPr/>
        </p:nvSpPr>
        <p:spPr>
          <a:xfrm xmlns:a="http://schemas.openxmlformats.org/drawingml/2006/main">
            <a:off x="2489200" y="685800"/>
            <a:ext cx="38100" cy="256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LEGALES_RECUADRO_TIC">
            <a:extLst xmlns:a="http://schemas.openxmlformats.org/drawingml/2006/main">
              <a:ext uri="{FF2B5EF4-FFF2-40B4-BE49-F238E27FC236}">
                <a16:creationId xmlns:a16="http://schemas.microsoft.com/office/drawing/2014/main" id="{E64024A6-78A1-400A-98FD-FEB9CA7F5AE1}"/>
              </a:ext>
            </a:extLst>
          </p:cNvPr>
          <p:cNvSpPr>
            <a:spLocks xmlns:a="http://schemas.openxmlformats.org/drawingml/2006/main" noGrp="1"/>
          </p:cNvSpPr>
          <p:nvPr/>
        </p:nvSpPr>
        <p:spPr>
          <a:xfrm xmlns:a="http://schemas.openxmlformats.org/drawingml/2006/main">
            <a:off x="2489200" y="3429000"/>
            <a:ext cx="3098800" cy="1447800"/>
          </a:xfrm>
          <a:prstGeom xmlns:a="http://schemas.openxmlformats.org/drawingml/2006/main" prst="roundRect">
            <a:avLst>
              <a:gd name="adj" fmla="val 2632"/>
            </a:avLst>
          </a:prstGeom>
          <a:solidFill xmlns:a="http://schemas.openxmlformats.org/drawingml/2006/main">
            <a:srgbClr val="F6FAF9"/>
          </a:solidFill>
          <a:ln xmlns:a="http://schemas.openxmlformats.org/drawingml/2006/main" w="8890">
            <a:solidFill>
              <a:srgbClr val="CFE0DC"/>
            </a:solidFill>
          </a:ln>
        </p:spPr>
      </p:sp>
      <p:sp>
        <p:nvSpPr>
          <p:cNvPr id="11" name="LEGALES_ACENTO_TIC">
            <a:extLst xmlns:a="http://schemas.openxmlformats.org/drawingml/2006/main">
              <a:ext uri="{FF2B5EF4-FFF2-40B4-BE49-F238E27FC236}">
                <a16:creationId xmlns:a16="http://schemas.microsoft.com/office/drawing/2014/main" id="{09A8036B-DFF8-4E11-86E0-3C9A785469C4}"/>
              </a:ext>
            </a:extLst>
          </p:cNvPr>
          <p:cNvSpPr>
            <a:spLocks xmlns:a="http://schemas.openxmlformats.org/drawingml/2006/main" noGrp="1"/>
          </p:cNvSpPr>
          <p:nvPr/>
        </p:nvSpPr>
        <p:spPr>
          <a:xfrm xmlns:a="http://schemas.openxmlformats.org/drawingml/2006/main">
            <a:off x="2489200" y="3505200"/>
            <a:ext cx="38100" cy="1295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LEGALES_RECUADRO_GENERO">
            <a:extLst xmlns:a="http://schemas.openxmlformats.org/drawingml/2006/main">
              <a:ext uri="{FF2B5EF4-FFF2-40B4-BE49-F238E27FC236}">
                <a16:creationId xmlns:a16="http://schemas.microsoft.com/office/drawing/2014/main" id="{F93445A7-77CA-4839-9F5A-8768D3E2F30E}"/>
              </a:ext>
            </a:extLst>
          </p:cNvPr>
          <p:cNvSpPr>
            <a:spLocks xmlns:a="http://schemas.openxmlformats.org/drawingml/2006/main" noGrp="1"/>
          </p:cNvSpPr>
          <p:nvPr/>
        </p:nvSpPr>
        <p:spPr>
          <a:xfrm xmlns:a="http://schemas.openxmlformats.org/drawingml/2006/main">
            <a:off x="5689600" y="609600"/>
            <a:ext cx="3149600" cy="787400"/>
          </a:xfrm>
          <a:prstGeom xmlns:a="http://schemas.openxmlformats.org/drawingml/2006/main" prst="roundRect">
            <a:avLst>
              <a:gd name="adj" fmla="val 4839"/>
            </a:avLst>
          </a:prstGeom>
          <a:solidFill xmlns:a="http://schemas.openxmlformats.org/drawingml/2006/main">
            <a:srgbClr val="F6FAF9"/>
          </a:solidFill>
          <a:ln xmlns:a="http://schemas.openxmlformats.org/drawingml/2006/main" w="8890">
            <a:solidFill>
              <a:srgbClr val="CFE0DC"/>
            </a:solidFill>
          </a:ln>
        </p:spPr>
      </p:sp>
      <p:sp>
        <p:nvSpPr>
          <p:cNvPr id="13" name="LEGALES_ACENTO_GENERO">
            <a:extLst xmlns:a="http://schemas.openxmlformats.org/drawingml/2006/main">
              <a:ext uri="{FF2B5EF4-FFF2-40B4-BE49-F238E27FC236}">
                <a16:creationId xmlns:a16="http://schemas.microsoft.com/office/drawing/2014/main" id="{DA765D97-A995-48F4-89CF-78F530752B15}"/>
              </a:ext>
            </a:extLst>
          </p:cNvPr>
          <p:cNvSpPr>
            <a:spLocks xmlns:a="http://schemas.openxmlformats.org/drawingml/2006/main" noGrp="1"/>
          </p:cNvSpPr>
          <p:nvPr/>
        </p:nvSpPr>
        <p:spPr>
          <a:xfrm xmlns:a="http://schemas.openxmlformats.org/drawingml/2006/main">
            <a:off x="5689600" y="685800"/>
            <a:ext cx="38100" cy="635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4" name="LEGALES_RECUADRO_RADIO_TV">
            <a:extLst xmlns:a="http://schemas.openxmlformats.org/drawingml/2006/main">
              <a:ext uri="{FF2B5EF4-FFF2-40B4-BE49-F238E27FC236}">
                <a16:creationId xmlns:a16="http://schemas.microsoft.com/office/drawing/2014/main" id="{01B88975-BC53-48C3-BF10-CEC9ACF2E59C}"/>
              </a:ext>
            </a:extLst>
          </p:cNvPr>
          <p:cNvSpPr>
            <a:spLocks xmlns:a="http://schemas.openxmlformats.org/drawingml/2006/main" noGrp="1"/>
          </p:cNvSpPr>
          <p:nvPr/>
        </p:nvSpPr>
        <p:spPr>
          <a:xfrm xmlns:a="http://schemas.openxmlformats.org/drawingml/2006/main">
            <a:off x="5689600" y="1498600"/>
            <a:ext cx="3149600" cy="1041400"/>
          </a:xfrm>
          <a:prstGeom xmlns:a="http://schemas.openxmlformats.org/drawingml/2006/main" prst="roundRect">
            <a:avLst>
              <a:gd name="adj" fmla="val 3659"/>
            </a:avLst>
          </a:prstGeom>
          <a:solidFill xmlns:a="http://schemas.openxmlformats.org/drawingml/2006/main">
            <a:srgbClr val="F6FAF9"/>
          </a:solidFill>
          <a:ln xmlns:a="http://schemas.openxmlformats.org/drawingml/2006/main" w="8890">
            <a:solidFill>
              <a:srgbClr val="CFE0DC"/>
            </a:solidFill>
          </a:ln>
        </p:spPr>
      </p:sp>
      <p:sp>
        <p:nvSpPr>
          <p:cNvPr id="15" name="LEGALES_ACENTO_RADIO_TV">
            <a:extLst xmlns:a="http://schemas.openxmlformats.org/drawingml/2006/main">
              <a:ext uri="{FF2B5EF4-FFF2-40B4-BE49-F238E27FC236}">
                <a16:creationId xmlns:a16="http://schemas.microsoft.com/office/drawing/2014/main" id="{AB3A2C0C-BFE0-4546-A589-2D22FDA974E1}"/>
              </a:ext>
            </a:extLst>
          </p:cNvPr>
          <p:cNvSpPr>
            <a:spLocks xmlns:a="http://schemas.openxmlformats.org/drawingml/2006/main" noGrp="1"/>
          </p:cNvSpPr>
          <p:nvPr/>
        </p:nvSpPr>
        <p:spPr>
          <a:xfrm xmlns:a="http://schemas.openxmlformats.org/drawingml/2006/main">
            <a:off x="5689600" y="1574800"/>
            <a:ext cx="38100" cy="889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LEGALES_RECUADRO_NIELSEN">
            <a:extLst xmlns:a="http://schemas.openxmlformats.org/drawingml/2006/main">
              <a:ext uri="{FF2B5EF4-FFF2-40B4-BE49-F238E27FC236}">
                <a16:creationId xmlns:a16="http://schemas.microsoft.com/office/drawing/2014/main" id="{312B9452-5100-465F-855B-858A04556F85}"/>
              </a:ext>
            </a:extLst>
          </p:cNvPr>
          <p:cNvSpPr>
            <a:spLocks xmlns:a="http://schemas.openxmlformats.org/drawingml/2006/main" noGrp="1"/>
          </p:cNvSpPr>
          <p:nvPr/>
        </p:nvSpPr>
        <p:spPr>
          <a:xfrm xmlns:a="http://schemas.openxmlformats.org/drawingml/2006/main">
            <a:off x="5689600" y="2641600"/>
            <a:ext cx="3149600" cy="2235200"/>
          </a:xfrm>
          <a:prstGeom xmlns:a="http://schemas.openxmlformats.org/drawingml/2006/main" prst="roundRect">
            <a:avLst>
              <a:gd name="adj" fmla="val 1705"/>
            </a:avLst>
          </a:prstGeom>
          <a:solidFill xmlns:a="http://schemas.openxmlformats.org/drawingml/2006/main">
            <a:srgbClr val="F6FAF9"/>
          </a:solidFill>
          <a:ln xmlns:a="http://schemas.openxmlformats.org/drawingml/2006/main" w="8890">
            <a:solidFill>
              <a:srgbClr val="CFE0DC"/>
            </a:solidFill>
          </a:ln>
        </p:spPr>
      </p:sp>
      <p:sp>
        <p:nvSpPr>
          <p:cNvPr id="17" name="LEGALES_ACENTO_NIELSEN">
            <a:extLst xmlns:a="http://schemas.openxmlformats.org/drawingml/2006/main">
              <a:ext uri="{FF2B5EF4-FFF2-40B4-BE49-F238E27FC236}">
                <a16:creationId xmlns:a16="http://schemas.microsoft.com/office/drawing/2014/main" id="{1677D2CE-04E4-425E-9ABA-FB9AFC8A9127}"/>
              </a:ext>
            </a:extLst>
          </p:cNvPr>
          <p:cNvSpPr>
            <a:spLocks xmlns:a="http://schemas.openxmlformats.org/drawingml/2006/main" noGrp="1"/>
          </p:cNvSpPr>
          <p:nvPr/>
        </p:nvSpPr>
        <p:spPr>
          <a:xfrm xmlns:a="http://schemas.openxmlformats.org/drawingml/2006/main">
            <a:off x="5689600" y="2717800"/>
            <a:ext cx="38100" cy="2082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8" name="LEGALES_TEXTO_1">
            <a:extLst xmlns:a="http://schemas.openxmlformats.org/drawingml/2006/main">
              <a:ext uri="{FF2B5EF4-FFF2-40B4-BE49-F238E27FC236}">
                <a16:creationId xmlns:a16="http://schemas.microsoft.com/office/drawing/2014/main" id="{3B88C635-96AB-46C0-8C01-B9220EFB73FA}"/>
              </a:ext>
            </a:extLst>
          </p:cNvPr>
          <p:cNvSpPr>
            <a:spLocks xmlns:a="http://schemas.openxmlformats.org/drawingml/2006/main" noGrp="1"/>
          </p:cNvSpPr>
          <p:nvPr/>
        </p:nvSpPr>
        <p:spPr>
          <a:xfrm xmlns:a="http://schemas.openxmlformats.org/drawingml/2006/main">
            <a:off x="304914" y="127480"/>
            <a:ext cx="18923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LEGALES</a:t>
            </a:r>
          </a:p>
        </p:txBody>
      </p:sp>
      <p:sp>
        <p:nvSpPr>
          <p:cNvPr id="19" name="LEGALES_FUNDAMENTO_TITULO">
            <a:extLst xmlns:a="http://schemas.openxmlformats.org/drawingml/2006/main">
              <a:ext uri="{FF2B5EF4-FFF2-40B4-BE49-F238E27FC236}">
                <a16:creationId xmlns:a16="http://schemas.microsoft.com/office/drawing/2014/main" id="{E06B48EB-8155-4EC9-BF67-9E64D31B3D6D}"/>
              </a:ext>
            </a:extLst>
          </p:cNvPr>
          <p:cNvSpPr>
            <a:spLocks xmlns:a="http://schemas.openxmlformats.org/drawingml/2006/main" noGrp="1"/>
          </p:cNvSpPr>
          <p:nvPr/>
        </p:nvSpPr>
        <p:spPr>
          <a:xfrm xmlns:a="http://schemas.openxmlformats.org/drawingml/2006/main">
            <a:off x="482600" y="819150"/>
            <a:ext cx="17526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F U N D A M E N T O  L E G A L</a:t>
            </a:r>
          </a:p>
        </p:txBody>
      </p:sp>
      <p:sp>
        <p:nvSpPr>
          <p:cNvPr id="20" name="LEGALES_TEXTO_2">
            <a:extLst xmlns:a="http://schemas.openxmlformats.org/drawingml/2006/main">
              <a:ext uri="{FF2B5EF4-FFF2-40B4-BE49-F238E27FC236}">
                <a16:creationId xmlns:a16="http://schemas.microsoft.com/office/drawing/2014/main" id="{1F13ECC0-3543-4565-A27E-519166E76F8F}"/>
              </a:ext>
            </a:extLst>
          </p:cNvPr>
          <p:cNvSpPr>
            <a:spLocks xmlns:a="http://schemas.openxmlformats.org/drawingml/2006/main" noGrp="1"/>
          </p:cNvSpPr>
          <p:nvPr/>
        </p:nvSpPr>
        <p:spPr>
          <a:xfrm xmlns:a="http://schemas.openxmlformats.org/drawingml/2006/main">
            <a:off x="482765" y="111088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 fundamento en lo dispuesto por </a:t>
            </a:r>
          </a:p>
        </p:txBody>
      </p:sp>
      <p:sp>
        <p:nvSpPr>
          <p:cNvPr id="21" name="LEGALES_TEXTO_3">
            <a:extLst xmlns:a="http://schemas.openxmlformats.org/drawingml/2006/main">
              <a:ext uri="{FF2B5EF4-FFF2-40B4-BE49-F238E27FC236}">
                <a16:creationId xmlns:a16="http://schemas.microsoft.com/office/drawing/2014/main" id="{7C95A3E1-F2B9-4282-AA7E-94A7213E4235}"/>
              </a:ext>
            </a:extLst>
          </p:cNvPr>
          <p:cNvSpPr>
            <a:spLocks xmlns:a="http://schemas.openxmlformats.org/drawingml/2006/main" noGrp="1"/>
          </p:cNvSpPr>
          <p:nvPr/>
        </p:nvSpPr>
        <p:spPr>
          <a:xfrm xmlns:a="http://schemas.openxmlformats.org/drawingml/2006/main">
            <a:off x="482765" y="1230037"/>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los artículos 15, fracción 50 y 177, </a:t>
            </a:r>
          </a:p>
        </p:txBody>
      </p:sp>
      <p:sp>
        <p:nvSpPr>
          <p:cNvPr id="22" name="LEGALES_TEXTO_4">
            <a:extLst xmlns:a="http://schemas.openxmlformats.org/drawingml/2006/main">
              <a:ext uri="{FF2B5EF4-FFF2-40B4-BE49-F238E27FC236}">
                <a16:creationId xmlns:a16="http://schemas.microsoft.com/office/drawing/2014/main" id="{608F814F-C881-4504-AFE1-DC45DA630969}"/>
              </a:ext>
            </a:extLst>
          </p:cNvPr>
          <p:cNvSpPr>
            <a:spLocks xmlns:a="http://schemas.openxmlformats.org/drawingml/2006/main" noGrp="1"/>
          </p:cNvSpPr>
          <p:nvPr/>
        </p:nvSpPr>
        <p:spPr>
          <a:xfrm xmlns:a="http://schemas.openxmlformats.org/drawingml/2006/main">
            <a:off x="482765" y="134920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fracción XVIII, de la Ley Federal de </a:t>
            </a:r>
          </a:p>
        </p:txBody>
      </p:sp>
      <p:sp>
        <p:nvSpPr>
          <p:cNvPr id="23" name="LEGALES_TEXTO_5">
            <a:extLst xmlns:a="http://schemas.openxmlformats.org/drawingml/2006/main">
              <a:ext uri="{FF2B5EF4-FFF2-40B4-BE49-F238E27FC236}">
                <a16:creationId xmlns:a16="http://schemas.microsoft.com/office/drawing/2014/main" id="{8C2F3215-FEE1-4428-979C-88AA05FCDC2F}"/>
              </a:ext>
            </a:extLst>
          </p:cNvPr>
          <p:cNvSpPr>
            <a:spLocks xmlns:a="http://schemas.openxmlformats.org/drawingml/2006/main" noGrp="1"/>
          </p:cNvSpPr>
          <p:nvPr/>
        </p:nvSpPr>
        <p:spPr>
          <a:xfrm xmlns:a="http://schemas.openxmlformats.org/drawingml/2006/main">
            <a:off x="482765" y="146836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y Radiodifusión, </a:t>
            </a:r>
          </a:p>
        </p:txBody>
      </p:sp>
      <p:sp>
        <p:nvSpPr>
          <p:cNvPr id="24" name="LEGALES_TEXTO_6">
            <a:extLst xmlns:a="http://schemas.openxmlformats.org/drawingml/2006/main">
              <a:ext uri="{FF2B5EF4-FFF2-40B4-BE49-F238E27FC236}">
                <a16:creationId xmlns:a16="http://schemas.microsoft.com/office/drawing/2014/main" id="{CB5BA0CB-A125-41BE-A854-407E1F4FE992}"/>
              </a:ext>
            </a:extLst>
          </p:cNvPr>
          <p:cNvSpPr>
            <a:spLocks xmlns:a="http://schemas.openxmlformats.org/drawingml/2006/main" noGrp="1"/>
          </p:cNvSpPr>
          <p:nvPr/>
        </p:nvSpPr>
        <p:spPr>
          <a:xfrm xmlns:a="http://schemas.openxmlformats.org/drawingml/2006/main">
            <a:off x="482765" y="158751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así como por el artículo 73, fracción </a:t>
            </a:r>
          </a:p>
        </p:txBody>
      </p:sp>
      <p:sp>
        <p:nvSpPr>
          <p:cNvPr id="25" name="LEGALES_TEXTO_7">
            <a:extLst xmlns:a="http://schemas.openxmlformats.org/drawingml/2006/main">
              <a:ext uri="{FF2B5EF4-FFF2-40B4-BE49-F238E27FC236}">
                <a16:creationId xmlns:a16="http://schemas.microsoft.com/office/drawing/2014/main" id="{6D8185FB-7965-45B1-9207-F8C763DE6F36}"/>
              </a:ext>
            </a:extLst>
          </p:cNvPr>
          <p:cNvSpPr>
            <a:spLocks xmlns:a="http://schemas.openxmlformats.org/drawingml/2006/main" noGrp="1"/>
          </p:cNvSpPr>
          <p:nvPr/>
        </p:nvSpPr>
        <p:spPr>
          <a:xfrm xmlns:a="http://schemas.openxmlformats.org/drawingml/2006/main">
            <a:off x="482765" y="1706681"/>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VIII, del Estatuto Orgánico del </a:t>
            </a:r>
          </a:p>
        </p:txBody>
      </p:sp>
      <p:sp>
        <p:nvSpPr>
          <p:cNvPr id="26" name="LEGALES_TEXTO_8">
            <a:extLst xmlns:a="http://schemas.openxmlformats.org/drawingml/2006/main">
              <a:ext uri="{FF2B5EF4-FFF2-40B4-BE49-F238E27FC236}">
                <a16:creationId xmlns:a16="http://schemas.microsoft.com/office/drawing/2014/main" id="{62E27B9A-D08F-4CCB-ACF9-08C33CC7EDC7}"/>
              </a:ext>
            </a:extLst>
          </p:cNvPr>
          <p:cNvSpPr>
            <a:spLocks xmlns:a="http://schemas.openxmlformats.org/drawingml/2006/main" noGrp="1"/>
          </p:cNvSpPr>
          <p:nvPr/>
        </p:nvSpPr>
        <p:spPr>
          <a:xfrm xmlns:a="http://schemas.openxmlformats.org/drawingml/2006/main">
            <a:off x="482765" y="182584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27" name="LEGALES_TEXTO_9">
            <a:extLst xmlns:a="http://schemas.openxmlformats.org/drawingml/2006/main">
              <a:ext uri="{FF2B5EF4-FFF2-40B4-BE49-F238E27FC236}">
                <a16:creationId xmlns:a16="http://schemas.microsoft.com/office/drawing/2014/main" id="{3524738D-2B40-4AB5-BE5F-CA2647E491A1}"/>
              </a:ext>
            </a:extLst>
          </p:cNvPr>
          <p:cNvSpPr>
            <a:spLocks xmlns:a="http://schemas.openxmlformats.org/drawingml/2006/main" noGrp="1"/>
          </p:cNvSpPr>
          <p:nvPr/>
        </p:nvSpPr>
        <p:spPr>
          <a:xfrm xmlns:a="http://schemas.openxmlformats.org/drawingml/2006/main">
            <a:off x="482765" y="194499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la Dirección </a:t>
            </a:r>
          </a:p>
        </p:txBody>
      </p:sp>
      <p:sp>
        <p:nvSpPr>
          <p:cNvPr id="28" name="LEGALES_TEXTO_10">
            <a:extLst xmlns:a="http://schemas.openxmlformats.org/drawingml/2006/main">
              <a:ext uri="{FF2B5EF4-FFF2-40B4-BE49-F238E27FC236}">
                <a16:creationId xmlns:a16="http://schemas.microsoft.com/office/drawing/2014/main" id="{61CF7D80-DB0E-4A65-AE4C-75F95171836C}"/>
              </a:ext>
            </a:extLst>
          </p:cNvPr>
          <p:cNvSpPr>
            <a:spLocks xmlns:a="http://schemas.openxmlformats.org/drawingml/2006/main" noGrp="1"/>
          </p:cNvSpPr>
          <p:nvPr/>
        </p:nvSpPr>
        <p:spPr>
          <a:xfrm xmlns:a="http://schemas.openxmlformats.org/drawingml/2006/main">
            <a:off x="482765" y="206416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General Adjunta de Estadística y </a:t>
            </a:r>
          </a:p>
        </p:txBody>
      </p:sp>
      <p:sp>
        <p:nvSpPr>
          <p:cNvPr id="29" name="LEGALES_TEXTO_11">
            <a:extLst xmlns:a="http://schemas.openxmlformats.org/drawingml/2006/main">
              <a:ext uri="{FF2B5EF4-FFF2-40B4-BE49-F238E27FC236}">
                <a16:creationId xmlns:a16="http://schemas.microsoft.com/office/drawing/2014/main" id="{D0D36BEC-91CA-4455-972E-9B13658CBC42}"/>
              </a:ext>
            </a:extLst>
          </p:cNvPr>
          <p:cNvSpPr>
            <a:spLocks xmlns:a="http://schemas.openxmlformats.org/drawingml/2006/main" noGrp="1"/>
          </p:cNvSpPr>
          <p:nvPr/>
        </p:nvSpPr>
        <p:spPr>
          <a:xfrm xmlns:a="http://schemas.openxmlformats.org/drawingml/2006/main">
            <a:off x="482765" y="218332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Análisis de Indicadores, adscrita a la </a:t>
            </a:r>
          </a:p>
        </p:txBody>
      </p:sp>
      <p:sp>
        <p:nvSpPr>
          <p:cNvPr id="30" name="LEGALES_TEXTO_12">
            <a:extLst xmlns:a="http://schemas.openxmlformats.org/drawingml/2006/main">
              <a:ext uri="{FF2B5EF4-FFF2-40B4-BE49-F238E27FC236}">
                <a16:creationId xmlns:a16="http://schemas.microsoft.com/office/drawing/2014/main" id="{2358C160-D046-4567-AB6C-095880E78A39}"/>
              </a:ext>
            </a:extLst>
          </p:cNvPr>
          <p:cNvSpPr>
            <a:spLocks xmlns:a="http://schemas.openxmlformats.org/drawingml/2006/main" noGrp="1"/>
          </p:cNvSpPr>
          <p:nvPr/>
        </p:nvSpPr>
        <p:spPr>
          <a:xfrm xmlns:a="http://schemas.openxmlformats.org/drawingml/2006/main">
            <a:off x="482765" y="2302476"/>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Coordinación General de Planeación </a:t>
            </a:r>
          </a:p>
        </p:txBody>
      </p:sp>
      <p:sp>
        <p:nvSpPr>
          <p:cNvPr id="31" name="LEGALES_TEXTO_13">
            <a:extLst xmlns:a="http://schemas.openxmlformats.org/drawingml/2006/main">
              <a:ext uri="{FF2B5EF4-FFF2-40B4-BE49-F238E27FC236}">
                <a16:creationId xmlns:a16="http://schemas.microsoft.com/office/drawing/2014/main" id="{23B81FDA-1DFC-4D9B-82D7-7F1BC9F9DD41}"/>
              </a:ext>
            </a:extLst>
          </p:cNvPr>
          <p:cNvSpPr>
            <a:spLocks xmlns:a="http://schemas.openxmlformats.org/drawingml/2006/main" noGrp="1"/>
          </p:cNvSpPr>
          <p:nvPr/>
        </p:nvSpPr>
        <p:spPr>
          <a:xfrm xmlns:a="http://schemas.openxmlformats.org/drawingml/2006/main">
            <a:off x="482765" y="242164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Estratégica (CGPE), publica el </a:t>
            </a:r>
          </a:p>
        </p:txBody>
      </p:sp>
      <p:sp>
        <p:nvSpPr>
          <p:cNvPr id="32" name="LEGALES_TEXTO_14">
            <a:extLst xmlns:a="http://schemas.openxmlformats.org/drawingml/2006/main">
              <a:ext uri="{FF2B5EF4-FFF2-40B4-BE49-F238E27FC236}">
                <a16:creationId xmlns:a16="http://schemas.microsoft.com/office/drawing/2014/main" id="{20ED492E-F4FE-4A93-83FB-3087E5084471}"/>
              </a:ext>
            </a:extLst>
          </p:cNvPr>
          <p:cNvSpPr>
            <a:spLocks xmlns:a="http://schemas.openxmlformats.org/drawingml/2006/main" noGrp="1"/>
          </p:cNvSpPr>
          <p:nvPr/>
        </p:nvSpPr>
        <p:spPr>
          <a:xfrm xmlns:a="http://schemas.openxmlformats.org/drawingml/2006/main">
            <a:off x="482765" y="254080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presente Anuario Estadístico 2024, el </a:t>
            </a:r>
          </a:p>
        </p:txBody>
      </p:sp>
      <p:sp>
        <p:nvSpPr>
          <p:cNvPr id="33" name="LEGALES_TEXTO_15">
            <a:extLst xmlns:a="http://schemas.openxmlformats.org/drawingml/2006/main">
              <a:ext uri="{FF2B5EF4-FFF2-40B4-BE49-F238E27FC236}">
                <a16:creationId xmlns:a16="http://schemas.microsoft.com/office/drawing/2014/main" id="{F33E4D73-86E0-4F09-A10C-0132FB26D445}"/>
              </a:ext>
            </a:extLst>
          </p:cNvPr>
          <p:cNvSpPr>
            <a:spLocks xmlns:a="http://schemas.openxmlformats.org/drawingml/2006/main" noGrp="1"/>
          </p:cNvSpPr>
          <p:nvPr/>
        </p:nvSpPr>
        <p:spPr>
          <a:xfrm xmlns:a="http://schemas.openxmlformats.org/drawingml/2006/main">
            <a:off x="482765" y="265995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cual se elaboró con datos del </a:t>
            </a:r>
          </a:p>
        </p:txBody>
      </p:sp>
      <p:sp>
        <p:nvSpPr>
          <p:cNvPr id="34" name="LEGALES_TEXTO_16">
            <a:extLst xmlns:a="http://schemas.openxmlformats.org/drawingml/2006/main">
              <a:ext uri="{FF2B5EF4-FFF2-40B4-BE49-F238E27FC236}">
                <a16:creationId xmlns:a16="http://schemas.microsoft.com/office/drawing/2014/main" id="{F9D06E99-7010-4076-8203-70FA32B74942}"/>
              </a:ext>
            </a:extLst>
          </p:cNvPr>
          <p:cNvSpPr>
            <a:spLocks xmlns:a="http://schemas.openxmlformats.org/drawingml/2006/main" noGrp="1"/>
          </p:cNvSpPr>
          <p:nvPr/>
        </p:nvSpPr>
        <p:spPr>
          <a:xfrm xmlns:a="http://schemas.openxmlformats.org/drawingml/2006/main">
            <a:off x="482765" y="2779120"/>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Instituto Federal de </a:t>
            </a:r>
          </a:p>
        </p:txBody>
      </p:sp>
      <p:sp>
        <p:nvSpPr>
          <p:cNvPr id="35" name="LEGALES_TEXTO_17">
            <a:extLst xmlns:a="http://schemas.openxmlformats.org/drawingml/2006/main">
              <a:ext uri="{FF2B5EF4-FFF2-40B4-BE49-F238E27FC236}">
                <a16:creationId xmlns:a16="http://schemas.microsoft.com/office/drawing/2014/main" id="{BF17EFBA-F848-49D9-B9AA-F0E5BB07E0BD}"/>
              </a:ext>
            </a:extLst>
          </p:cNvPr>
          <p:cNvSpPr>
            <a:spLocks xmlns:a="http://schemas.openxmlformats.org/drawingml/2006/main" noGrp="1"/>
          </p:cNvSpPr>
          <p:nvPr/>
        </p:nvSpPr>
        <p:spPr>
          <a:xfrm xmlns:a="http://schemas.openxmlformats.org/drawingml/2006/main">
            <a:off x="482765" y="289828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Telecomunicaciones (IFT), aquella </a:t>
            </a:r>
          </a:p>
        </p:txBody>
      </p:sp>
      <p:sp>
        <p:nvSpPr>
          <p:cNvPr id="36" name="LEGALES_TEXTO_18">
            <a:extLst xmlns:a="http://schemas.openxmlformats.org/drawingml/2006/main">
              <a:ext uri="{FF2B5EF4-FFF2-40B4-BE49-F238E27FC236}">
                <a16:creationId xmlns:a16="http://schemas.microsoft.com/office/drawing/2014/main" id="{D60473B6-DF71-4811-9F86-1B16BB568C1A}"/>
              </a:ext>
            </a:extLst>
          </p:cNvPr>
          <p:cNvSpPr>
            <a:spLocks xmlns:a="http://schemas.openxmlformats.org/drawingml/2006/main" noGrp="1"/>
          </p:cNvSpPr>
          <p:nvPr/>
        </p:nvSpPr>
        <p:spPr>
          <a:xfrm xmlns:a="http://schemas.openxmlformats.org/drawingml/2006/main">
            <a:off x="482765" y="301743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proporcionada por los operadores del </a:t>
            </a:r>
          </a:p>
        </p:txBody>
      </p:sp>
      <p:sp>
        <p:nvSpPr>
          <p:cNvPr id="37" name="LEGALES_TEXTO_19">
            <a:extLst xmlns:a="http://schemas.openxmlformats.org/drawingml/2006/main">
              <a:ext uri="{FF2B5EF4-FFF2-40B4-BE49-F238E27FC236}">
                <a16:creationId xmlns:a16="http://schemas.microsoft.com/office/drawing/2014/main" id="{5D599E04-EB91-43E2-BEEA-0C80BF2974AC}"/>
              </a:ext>
            </a:extLst>
          </p:cNvPr>
          <p:cNvSpPr>
            <a:spLocks xmlns:a="http://schemas.openxmlformats.org/drawingml/2006/main" noGrp="1"/>
          </p:cNvSpPr>
          <p:nvPr/>
        </p:nvSpPr>
        <p:spPr>
          <a:xfrm xmlns:a="http://schemas.openxmlformats.org/drawingml/2006/main">
            <a:off x="482765" y="313659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sector de telecomunicaciones y la </a:t>
            </a:r>
          </a:p>
        </p:txBody>
      </p:sp>
      <p:sp>
        <p:nvSpPr>
          <p:cNvPr id="38" name="LEGALES_TEXTO_20">
            <a:extLst xmlns:a="http://schemas.openxmlformats.org/drawingml/2006/main">
              <a:ext uri="{FF2B5EF4-FFF2-40B4-BE49-F238E27FC236}">
                <a16:creationId xmlns:a16="http://schemas.microsoft.com/office/drawing/2014/main" id="{15B85156-1120-46B3-B771-212B046E1854}"/>
              </a:ext>
            </a:extLst>
          </p:cNvPr>
          <p:cNvSpPr>
            <a:spLocks xmlns:a="http://schemas.openxmlformats.org/drawingml/2006/main" noGrp="1"/>
          </p:cNvSpPr>
          <p:nvPr/>
        </p:nvSpPr>
        <p:spPr>
          <a:xfrm xmlns:a="http://schemas.openxmlformats.org/drawingml/2006/main">
            <a:off x="482765" y="325576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publicada por el Instituto Nacional de </a:t>
            </a:r>
          </a:p>
        </p:txBody>
      </p:sp>
      <p:sp>
        <p:nvSpPr>
          <p:cNvPr id="39" name="LEGALES_TEXTO_21">
            <a:extLst xmlns:a="http://schemas.openxmlformats.org/drawingml/2006/main">
              <a:ext uri="{FF2B5EF4-FFF2-40B4-BE49-F238E27FC236}">
                <a16:creationId xmlns:a16="http://schemas.microsoft.com/office/drawing/2014/main" id="{EDEAA6A3-0DF3-4485-BE64-7F04E77F2703}"/>
              </a:ext>
            </a:extLst>
          </p:cNvPr>
          <p:cNvSpPr>
            <a:spLocks xmlns:a="http://schemas.openxmlformats.org/drawingml/2006/main" noGrp="1"/>
          </p:cNvSpPr>
          <p:nvPr/>
        </p:nvSpPr>
        <p:spPr>
          <a:xfrm xmlns:a="http://schemas.openxmlformats.org/drawingml/2006/main">
            <a:off x="482765" y="3374915"/>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Estadística y Geografía (INEGI), la </a:t>
            </a:r>
          </a:p>
        </p:txBody>
      </p:sp>
      <p:sp>
        <p:nvSpPr>
          <p:cNvPr id="40" name="LEGALES_TEXTO_22">
            <a:extLst xmlns:a="http://schemas.openxmlformats.org/drawingml/2006/main">
              <a:ext uri="{FF2B5EF4-FFF2-40B4-BE49-F238E27FC236}">
                <a16:creationId xmlns:a16="http://schemas.microsoft.com/office/drawing/2014/main" id="{CD70AAB7-A1C7-454D-B038-F69586AA3480}"/>
              </a:ext>
            </a:extLst>
          </p:cNvPr>
          <p:cNvSpPr>
            <a:spLocks xmlns:a="http://schemas.openxmlformats.org/drawingml/2006/main" noGrp="1"/>
          </p:cNvSpPr>
          <p:nvPr/>
        </p:nvSpPr>
        <p:spPr>
          <a:xfrm xmlns:a="http://schemas.openxmlformats.org/drawingml/2006/main">
            <a:off x="482765" y="3494079"/>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Secretaría de Economía (SE) y el </a:t>
            </a:r>
          </a:p>
        </p:txBody>
      </p:sp>
      <p:sp>
        <p:nvSpPr>
          <p:cNvPr id="41" name="LEGALES_TEXTO_23">
            <a:extLst xmlns:a="http://schemas.openxmlformats.org/drawingml/2006/main">
              <a:ext uri="{FF2B5EF4-FFF2-40B4-BE49-F238E27FC236}">
                <a16:creationId xmlns:a16="http://schemas.microsoft.com/office/drawing/2014/main" id="{4D858354-283D-4490-9549-B41DF334F802}"/>
              </a:ext>
            </a:extLst>
          </p:cNvPr>
          <p:cNvSpPr>
            <a:spLocks xmlns:a="http://schemas.openxmlformats.org/drawingml/2006/main" noGrp="1"/>
          </p:cNvSpPr>
          <p:nvPr/>
        </p:nvSpPr>
        <p:spPr>
          <a:xfrm xmlns:a="http://schemas.openxmlformats.org/drawingml/2006/main">
            <a:off x="482765" y="3613243"/>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Consejo Nacional de Población </a:t>
            </a:r>
          </a:p>
        </p:txBody>
      </p:sp>
      <p:sp>
        <p:nvSpPr>
          <p:cNvPr id="42" name="LEGALES_TEXTO_24">
            <a:extLst xmlns:a="http://schemas.openxmlformats.org/drawingml/2006/main">
              <a:ext uri="{FF2B5EF4-FFF2-40B4-BE49-F238E27FC236}">
                <a16:creationId xmlns:a16="http://schemas.microsoft.com/office/drawing/2014/main" id="{E4F68D72-C97D-460A-A204-04A5F0FA0154}"/>
              </a:ext>
            </a:extLst>
          </p:cNvPr>
          <p:cNvSpPr>
            <a:spLocks xmlns:a="http://schemas.openxmlformats.org/drawingml/2006/main" noGrp="1"/>
          </p:cNvSpPr>
          <p:nvPr/>
        </p:nvSpPr>
        <p:spPr>
          <a:xfrm xmlns:a="http://schemas.openxmlformats.org/drawingml/2006/main">
            <a:off x="482765" y="373239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(CONAPO). La información reportada </a:t>
            </a:r>
          </a:p>
        </p:txBody>
      </p:sp>
      <p:sp>
        <p:nvSpPr>
          <p:cNvPr id="43" name="LEGALES_TEXTO_25">
            <a:extLst xmlns:a="http://schemas.openxmlformats.org/drawingml/2006/main">
              <a:ext uri="{FF2B5EF4-FFF2-40B4-BE49-F238E27FC236}">
                <a16:creationId xmlns:a16="http://schemas.microsoft.com/office/drawing/2014/main" id="{57027F96-4EE3-4F8A-BD88-89E7FBBEEFFA}"/>
              </a:ext>
            </a:extLst>
          </p:cNvPr>
          <p:cNvSpPr>
            <a:spLocks xmlns:a="http://schemas.openxmlformats.org/drawingml/2006/main" noGrp="1"/>
          </p:cNvSpPr>
          <p:nvPr/>
        </p:nvSpPr>
        <p:spPr>
          <a:xfrm xmlns:a="http://schemas.openxmlformats.org/drawingml/2006/main">
            <a:off x="482765" y="385155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está sujeta a revisiones y a </a:t>
            </a:r>
          </a:p>
        </p:txBody>
      </p:sp>
      <p:sp>
        <p:nvSpPr>
          <p:cNvPr id="44" name="LEGALES_TEXTO_26">
            <a:extLst xmlns:a="http://schemas.openxmlformats.org/drawingml/2006/main">
              <a:ext uri="{FF2B5EF4-FFF2-40B4-BE49-F238E27FC236}">
                <a16:creationId xmlns:a16="http://schemas.microsoft.com/office/drawing/2014/main" id="{6ED7E1AC-7BF4-4033-97DF-A8855D0E5EF1}"/>
              </a:ext>
            </a:extLst>
          </p:cNvPr>
          <p:cNvSpPr>
            <a:spLocks xmlns:a="http://schemas.openxmlformats.org/drawingml/2006/main" noGrp="1"/>
          </p:cNvSpPr>
          <p:nvPr/>
        </p:nvSpPr>
        <p:spPr>
          <a:xfrm xmlns:a="http://schemas.openxmlformats.org/drawingml/2006/main">
            <a:off x="482765" y="3970722"/>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modificaciones derivadas de cambios </a:t>
            </a:r>
          </a:p>
        </p:txBody>
      </p:sp>
      <p:sp>
        <p:nvSpPr>
          <p:cNvPr id="45" name="LEGALES_TEXTO_27">
            <a:extLst xmlns:a="http://schemas.openxmlformats.org/drawingml/2006/main">
              <a:ext uri="{FF2B5EF4-FFF2-40B4-BE49-F238E27FC236}">
                <a16:creationId xmlns:a16="http://schemas.microsoft.com/office/drawing/2014/main" id="{A25CEC14-2BD4-40CC-94CF-15154A1A141C}"/>
              </a:ext>
            </a:extLst>
          </p:cNvPr>
          <p:cNvSpPr>
            <a:spLocks xmlns:a="http://schemas.openxmlformats.org/drawingml/2006/main" noGrp="1"/>
          </p:cNvSpPr>
          <p:nvPr/>
        </p:nvSpPr>
        <p:spPr>
          <a:xfrm xmlns:a="http://schemas.openxmlformats.org/drawingml/2006/main">
            <a:off x="482765" y="4089874"/>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que realizan los operadores a las </a:t>
            </a:r>
          </a:p>
        </p:txBody>
      </p:sp>
      <p:sp>
        <p:nvSpPr>
          <p:cNvPr id="46" name="LEGALES_TEXTO_28">
            <a:extLst xmlns:a="http://schemas.openxmlformats.org/drawingml/2006/main">
              <a:ext uri="{FF2B5EF4-FFF2-40B4-BE49-F238E27FC236}">
                <a16:creationId xmlns:a16="http://schemas.microsoft.com/office/drawing/2014/main" id="{08837145-28D9-45EF-8138-656AC7A5370A}"/>
              </a:ext>
            </a:extLst>
          </p:cNvPr>
          <p:cNvSpPr>
            <a:spLocks xmlns:a="http://schemas.openxmlformats.org/drawingml/2006/main" noGrp="1"/>
          </p:cNvSpPr>
          <p:nvPr/>
        </p:nvSpPr>
        <p:spPr>
          <a:xfrm xmlns:a="http://schemas.openxmlformats.org/drawingml/2006/main">
            <a:off x="482765" y="4209038"/>
            <a:ext cx="1892300"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0" i="0">
                <a:solidFill>
                  <a:srgbClr val="FFFFFF"/>
                </a:solidFill>
                <a:latin typeface="Noto Sans"/>
                <a:ea typeface="Noto Sans"/>
                <a:cs typeface="Noto Sans"/>
              </a:rPr>
              <a:t>cifras previamente reportadas.</a:t>
            </a:r>
          </a:p>
        </p:txBody>
      </p:sp>
      <p:sp>
        <p:nvSpPr>
          <p:cNvPr id="47" name="LEGALES_TEXTO_29">
            <a:extLst xmlns:a="http://schemas.openxmlformats.org/drawingml/2006/main">
              <a:ext uri="{FF2B5EF4-FFF2-40B4-BE49-F238E27FC236}">
                <a16:creationId xmlns:a16="http://schemas.microsoft.com/office/drawing/2014/main" id="{19D75855-7EC8-4D95-8186-0105303345CF}"/>
              </a:ext>
            </a:extLst>
          </p:cNvPr>
          <p:cNvSpPr>
            <a:spLocks xmlns:a="http://schemas.openxmlformats.org/drawingml/2006/main" noGrp="1"/>
          </p:cNvSpPr>
          <p:nvPr/>
        </p:nvSpPr>
        <p:spPr>
          <a:xfrm xmlns:a="http://schemas.openxmlformats.org/drawingml/2006/main">
            <a:off x="5501157" y="135999"/>
            <a:ext cx="2323874"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48" name="LEGALES_TEXTO_30">
            <a:extLst xmlns:a="http://schemas.openxmlformats.org/drawingml/2006/main">
              <a:ext uri="{FF2B5EF4-FFF2-40B4-BE49-F238E27FC236}">
                <a16:creationId xmlns:a16="http://schemas.microsoft.com/office/drawing/2014/main" id="{AE048434-059E-43A2-80C3-21948358811C}"/>
              </a:ext>
            </a:extLst>
            <a:hlinkClick xmlns:r="http://schemas.openxmlformats.org/officeDocument/2006/relationships" xmlns:a="http://schemas.openxmlformats.org/drawingml/2006/main" r:id="R5b60e0be82104cba"/>
          </p:cNvPr>
          <p:cNvSpPr>
            <a:spLocks xmlns:a="http://schemas.openxmlformats.org/drawingml/2006/main" noGrp="1"/>
          </p:cNvSpPr>
          <p:nvPr/>
        </p:nvSpPr>
        <p:spPr>
          <a:xfrm xmlns:a="http://schemas.openxmlformats.org/drawingml/2006/main">
            <a:off x="5924880" y="225645"/>
            <a:ext cx="1896883" cy="1289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rPr>
              <a:t>BIT CRT · bit.crt.gob.mx/BitWebApp</a:t>
            </a:r>
          </a:p>
        </p:txBody>
      </p:sp>
      <p:sp>
        <p:nvSpPr>
          <p:cNvPr id="49" name="LEGALES_TEXTO_31">
            <a:extLst xmlns:a="http://schemas.openxmlformats.org/drawingml/2006/main">
              <a:ext uri="{FF2B5EF4-FFF2-40B4-BE49-F238E27FC236}">
                <a16:creationId xmlns:a16="http://schemas.microsoft.com/office/drawing/2014/main" id="{A1121D0D-9FE4-4817-A841-9F7DB85C50E7}"/>
              </a:ext>
            </a:extLst>
          </p:cNvPr>
          <p:cNvSpPr>
            <a:spLocks xmlns:a="http://schemas.openxmlformats.org/drawingml/2006/main" noGrp="1"/>
          </p:cNvSpPr>
          <p:nvPr/>
        </p:nvSpPr>
        <p:spPr>
          <a:xfrm xmlns:a="http://schemas.openxmlformats.org/drawingml/2006/main">
            <a:off x="2616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Usuarios de servicios de telecomunicaciones</a:t>
            </a:r>
          </a:p>
        </p:txBody>
      </p:sp>
      <p:sp>
        <p:nvSpPr>
          <p:cNvPr id="50" name="LEGALES_TEXTO_32">
            <a:extLst xmlns:a="http://schemas.openxmlformats.org/drawingml/2006/main">
              <a:ext uri="{FF2B5EF4-FFF2-40B4-BE49-F238E27FC236}">
                <a16:creationId xmlns:a16="http://schemas.microsoft.com/office/drawing/2014/main" id="{E4AE738F-454F-4A78-8C28-63DD24B8A060}"/>
              </a:ext>
            </a:extLst>
          </p:cNvPr>
          <p:cNvSpPr>
            <a:spLocks xmlns:a="http://schemas.openxmlformats.org/drawingml/2006/main" noGrp="1"/>
          </p:cNvSpPr>
          <p:nvPr/>
        </p:nvSpPr>
        <p:spPr>
          <a:xfrm xmlns:a="http://schemas.openxmlformats.org/drawingml/2006/main">
            <a:off x="2616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“Usuarios de servicios de Telecomunicaciones”</a:t>
            </a:r>
            <a:r>
              <a:rPr sz="600" b="0" i="0">
                <a:solidFill>
                  <a:srgbClr val="26312F"/>
                </a:solidFill>
                <a:latin typeface="Noto Sans"/>
                <a:ea typeface="Noto Sans"/>
                <a:cs typeface="Noto Sans"/>
              </a:rPr>
              <a:t> se </a:t>
            </a:r>
          </a:p>
        </p:txBody>
      </p:sp>
      <p:sp>
        <p:nvSpPr>
          <p:cNvPr id="51" name="LEGALES_TEXTO_33">
            <a:extLst xmlns:a="http://schemas.openxmlformats.org/drawingml/2006/main">
              <a:ext uri="{FF2B5EF4-FFF2-40B4-BE49-F238E27FC236}">
                <a16:creationId xmlns:a16="http://schemas.microsoft.com/office/drawing/2014/main" id="{6FD85C88-57CE-4351-9F93-47D4ACFA2F46}"/>
              </a:ext>
            </a:extLst>
          </p:cNvPr>
          <p:cNvSpPr>
            <a:spLocks xmlns:a="http://schemas.openxmlformats.org/drawingml/2006/main" noGrp="1"/>
          </p:cNvSpPr>
          <p:nvPr/>
        </p:nvSpPr>
        <p:spPr>
          <a:xfrm xmlns:a="http://schemas.openxmlformats.org/drawingml/2006/main">
            <a:off x="2616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realizó con base en la información proporcionada por la Coordinación </a:t>
            </a:r>
          </a:p>
        </p:txBody>
      </p:sp>
      <p:sp>
        <p:nvSpPr>
          <p:cNvPr id="52" name="LEGALES_TEXTO_34">
            <a:extLst xmlns:a="http://schemas.openxmlformats.org/drawingml/2006/main">
              <a:ext uri="{FF2B5EF4-FFF2-40B4-BE49-F238E27FC236}">
                <a16:creationId xmlns:a16="http://schemas.microsoft.com/office/drawing/2014/main" id="{AEC40161-D7FE-4B43-BEEC-9C9B88D5A23B}"/>
              </a:ext>
            </a:extLst>
          </p:cNvPr>
          <p:cNvSpPr>
            <a:spLocks xmlns:a="http://schemas.openxmlformats.org/drawingml/2006/main" noGrp="1"/>
          </p:cNvSpPr>
          <p:nvPr/>
        </p:nvSpPr>
        <p:spPr>
          <a:xfrm xmlns:a="http://schemas.openxmlformats.org/drawingml/2006/main">
            <a:off x="2616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General de Política del Usuario (CGPU) del IFT, de acuerdo con la </a:t>
            </a:r>
          </a:p>
        </p:txBody>
      </p:sp>
      <p:sp>
        <p:nvSpPr>
          <p:cNvPr id="53" name="LEGALES_TEXTO_35">
            <a:extLst xmlns:a="http://schemas.openxmlformats.org/drawingml/2006/main">
              <a:ext uri="{FF2B5EF4-FFF2-40B4-BE49-F238E27FC236}">
                <a16:creationId xmlns:a16="http://schemas.microsoft.com/office/drawing/2014/main" id="{467B3509-F21B-483F-B360-7D5D4E8D967E}"/>
              </a:ext>
            </a:extLst>
          </p:cNvPr>
          <p:cNvSpPr>
            <a:spLocks xmlns:a="http://schemas.openxmlformats.org/drawingml/2006/main" noGrp="1"/>
          </p:cNvSpPr>
          <p:nvPr/>
        </p:nvSpPr>
        <p:spPr>
          <a:xfrm xmlns:a="http://schemas.openxmlformats.org/drawingml/2006/main">
            <a:off x="2616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 los siguientes documentos: “Tercera Encuesta 2023, </a:t>
            </a:r>
          </a:p>
        </p:txBody>
      </p:sp>
      <p:sp>
        <p:nvSpPr>
          <p:cNvPr id="54" name="LEGALES_TEXTO_36">
            <a:extLst xmlns:a="http://schemas.openxmlformats.org/drawingml/2006/main">
              <a:ext uri="{FF2B5EF4-FFF2-40B4-BE49-F238E27FC236}">
                <a16:creationId xmlns:a16="http://schemas.microsoft.com/office/drawing/2014/main" id="{1C8BC33B-86ED-4FD0-A052-56178FCEE798}"/>
              </a:ext>
            </a:extLst>
          </p:cNvPr>
          <p:cNvSpPr>
            <a:spLocks xmlns:a="http://schemas.openxmlformats.org/drawingml/2006/main" noGrp="1"/>
          </p:cNvSpPr>
          <p:nvPr/>
        </p:nvSpPr>
        <p:spPr>
          <a:xfrm xmlns:a="http://schemas.openxmlformats.org/drawingml/2006/main">
            <a:off x="2616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Usuarios de Servicios de Telecomunicaciones, de donde se obtuvieron los </a:t>
            </a:r>
          </a:p>
        </p:txBody>
      </p:sp>
      <p:sp>
        <p:nvSpPr>
          <p:cNvPr id="55" name="LEGALES_TEXTO_37">
            <a:extLst xmlns:a="http://schemas.openxmlformats.org/drawingml/2006/main">
              <a:ext uri="{FF2B5EF4-FFF2-40B4-BE49-F238E27FC236}">
                <a16:creationId xmlns:a16="http://schemas.microsoft.com/office/drawing/2014/main" id="{1A634FFD-37AA-4936-918C-6AC34A101ED4}"/>
              </a:ext>
            </a:extLst>
          </p:cNvPr>
          <p:cNvSpPr>
            <a:spLocks xmlns:a="http://schemas.openxmlformats.org/drawingml/2006/main" noGrp="1"/>
          </p:cNvSpPr>
          <p:nvPr/>
        </p:nvSpPr>
        <p:spPr>
          <a:xfrm xmlns:a="http://schemas.openxmlformats.org/drawingml/2006/main">
            <a:off x="2616175" y="13663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niveles de satisfacción que tienen las personas usuarias de los servicios </a:t>
            </a:r>
          </a:p>
        </p:txBody>
      </p:sp>
      <p:sp>
        <p:nvSpPr>
          <p:cNvPr id="56" name="LEGALES_TEXTO_38">
            <a:extLst xmlns:a="http://schemas.openxmlformats.org/drawingml/2006/main">
              <a:ext uri="{FF2B5EF4-FFF2-40B4-BE49-F238E27FC236}">
                <a16:creationId xmlns:a16="http://schemas.microsoft.com/office/drawing/2014/main" id="{239C74DE-A202-4DE6-B42A-96E30DDB9D5F}"/>
              </a:ext>
            </a:extLst>
          </p:cNvPr>
          <p:cNvSpPr>
            <a:spLocks xmlns:a="http://schemas.openxmlformats.org/drawingml/2006/main" noGrp="1"/>
          </p:cNvSpPr>
          <p:nvPr/>
        </p:nvSpPr>
        <p:spPr>
          <a:xfrm xmlns:a="http://schemas.openxmlformats.org/drawingml/2006/main">
            <a:off x="2616175" y="14668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de Internet fijo, Telefonía fija, Televisión de paga y </a:t>
            </a:r>
          </a:p>
        </p:txBody>
      </p:sp>
      <p:sp>
        <p:nvSpPr>
          <p:cNvPr id="57" name="LEGALES_TEXTO_39">
            <a:extLst xmlns:a="http://schemas.openxmlformats.org/drawingml/2006/main">
              <a:ext uri="{FF2B5EF4-FFF2-40B4-BE49-F238E27FC236}">
                <a16:creationId xmlns:a16="http://schemas.microsoft.com/office/drawing/2014/main" id="{3E17EF72-3C22-484D-B66D-E027FFD3EE38}"/>
              </a:ext>
            </a:extLst>
          </p:cNvPr>
          <p:cNvSpPr>
            <a:spLocks xmlns:a="http://schemas.openxmlformats.org/drawingml/2006/main" noGrp="1"/>
          </p:cNvSpPr>
          <p:nvPr/>
        </p:nvSpPr>
        <p:spPr>
          <a:xfrm xmlns:a="http://schemas.openxmlformats.org/drawingml/2006/main">
            <a:off x="2616175" y="15672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móvil; “Cuarta Encuesta 2023, Usuarios de Servicios de </a:t>
            </a:r>
          </a:p>
        </p:txBody>
      </p:sp>
      <p:sp>
        <p:nvSpPr>
          <p:cNvPr id="58" name="LEGALES_TEXTO_40">
            <a:extLst xmlns:a="http://schemas.openxmlformats.org/drawingml/2006/main">
              <a:ext uri="{FF2B5EF4-FFF2-40B4-BE49-F238E27FC236}">
                <a16:creationId xmlns:a16="http://schemas.microsoft.com/office/drawing/2014/main" id="{F52DAF0F-C49D-400E-83B9-CC261BA2321A}"/>
              </a:ext>
            </a:extLst>
          </p:cNvPr>
          <p:cNvSpPr>
            <a:spLocks xmlns:a="http://schemas.openxmlformats.org/drawingml/2006/main" noGrp="1"/>
          </p:cNvSpPr>
          <p:nvPr/>
        </p:nvSpPr>
        <p:spPr>
          <a:xfrm xmlns:a="http://schemas.openxmlformats.org/drawingml/2006/main">
            <a:off x="2616175" y="16677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(Micro, pequeñas y medianas empresas)”, de la que </a:t>
            </a:r>
          </a:p>
        </p:txBody>
      </p:sp>
      <p:sp>
        <p:nvSpPr>
          <p:cNvPr id="59" name="LEGALES_TEXTO_41">
            <a:extLst xmlns:a="http://schemas.openxmlformats.org/drawingml/2006/main">
              <a:ext uri="{FF2B5EF4-FFF2-40B4-BE49-F238E27FC236}">
                <a16:creationId xmlns:a16="http://schemas.microsoft.com/office/drawing/2014/main" id="{5F9C9DFE-8175-4657-8FAC-E29E1271EAE9}"/>
              </a:ext>
            </a:extLst>
          </p:cNvPr>
          <p:cNvSpPr>
            <a:spLocks xmlns:a="http://schemas.openxmlformats.org/drawingml/2006/main" noGrp="1"/>
          </p:cNvSpPr>
          <p:nvPr/>
        </p:nvSpPr>
        <p:spPr>
          <a:xfrm xmlns:a="http://schemas.openxmlformats.org/drawingml/2006/main">
            <a:off x="2616175" y="17681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 obtienen los niveles de satisfacción que tienen las empresas de los </a:t>
            </a:r>
          </a:p>
        </p:txBody>
      </p:sp>
      <p:sp>
        <p:nvSpPr>
          <p:cNvPr id="60" name="LEGALES_TEXTO_42">
            <a:extLst xmlns:a="http://schemas.openxmlformats.org/drawingml/2006/main">
              <a:ext uri="{FF2B5EF4-FFF2-40B4-BE49-F238E27FC236}">
                <a16:creationId xmlns:a16="http://schemas.microsoft.com/office/drawing/2014/main" id="{D64939D4-3226-4154-81CE-D9610B3EA348}"/>
              </a:ext>
            </a:extLst>
          </p:cNvPr>
          <p:cNvSpPr>
            <a:spLocks xmlns:a="http://schemas.openxmlformats.org/drawingml/2006/main" noGrp="1"/>
          </p:cNvSpPr>
          <p:nvPr/>
        </p:nvSpPr>
        <p:spPr>
          <a:xfrm xmlns:a="http://schemas.openxmlformats.org/drawingml/2006/main">
            <a:off x="2616175" y="186857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servicios de telecomunicaciones de Internet fijo, Telefonía fija, Televisión </a:t>
            </a:r>
          </a:p>
        </p:txBody>
      </p:sp>
      <p:sp>
        <p:nvSpPr>
          <p:cNvPr id="61" name="LEGALES_TEXTO_43">
            <a:extLst xmlns:a="http://schemas.openxmlformats.org/drawingml/2006/main">
              <a:ext uri="{FF2B5EF4-FFF2-40B4-BE49-F238E27FC236}">
                <a16:creationId xmlns:a16="http://schemas.microsoft.com/office/drawing/2014/main" id="{0A6E23C9-C2D6-4FCC-8969-0988501211F5}"/>
              </a:ext>
            </a:extLst>
          </p:cNvPr>
          <p:cNvSpPr>
            <a:spLocks xmlns:a="http://schemas.openxmlformats.org/drawingml/2006/main" noGrp="1"/>
          </p:cNvSpPr>
          <p:nvPr/>
        </p:nvSpPr>
        <p:spPr>
          <a:xfrm xmlns:a="http://schemas.openxmlformats.org/drawingml/2006/main">
            <a:off x="2616175" y="19690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paga y Telefonía móvil, los dispositivos que utilizan para realizar sus </a:t>
            </a:r>
          </a:p>
        </p:txBody>
      </p:sp>
      <p:sp>
        <p:nvSpPr>
          <p:cNvPr id="62" name="LEGALES_TEXTO_44">
            <a:extLst xmlns:a="http://schemas.openxmlformats.org/drawingml/2006/main">
              <a:ext uri="{FF2B5EF4-FFF2-40B4-BE49-F238E27FC236}">
                <a16:creationId xmlns:a16="http://schemas.microsoft.com/office/drawing/2014/main" id="{ED22C625-4DCE-473F-87CE-6A0EFB54E322}"/>
              </a:ext>
            </a:extLst>
          </p:cNvPr>
          <p:cNvSpPr>
            <a:spLocks xmlns:a="http://schemas.openxmlformats.org/drawingml/2006/main" noGrp="1"/>
          </p:cNvSpPr>
          <p:nvPr/>
        </p:nvSpPr>
        <p:spPr>
          <a:xfrm xmlns:a="http://schemas.openxmlformats.org/drawingml/2006/main">
            <a:off x="2616175" y="206946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actividades, los servicios de telecomunicaciones contratados por las </a:t>
            </a:r>
          </a:p>
        </p:txBody>
      </p:sp>
      <p:sp>
        <p:nvSpPr>
          <p:cNvPr id="63" name="LEGALES_TEXTO_45">
            <a:extLst xmlns:a="http://schemas.openxmlformats.org/drawingml/2006/main">
              <a:ext uri="{FF2B5EF4-FFF2-40B4-BE49-F238E27FC236}">
                <a16:creationId xmlns:a16="http://schemas.microsoft.com/office/drawing/2014/main" id="{6499F7CC-06AD-46DE-B79C-54581704A8EC}"/>
              </a:ext>
            </a:extLst>
          </p:cNvPr>
          <p:cNvSpPr>
            <a:spLocks xmlns:a="http://schemas.openxmlformats.org/drawingml/2006/main" noGrp="1"/>
          </p:cNvSpPr>
          <p:nvPr/>
        </p:nvSpPr>
        <p:spPr>
          <a:xfrm xmlns:a="http://schemas.openxmlformats.org/drawingml/2006/main">
            <a:off x="2616175" y="21698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y los beneficios que perciben de los servicios de </a:t>
            </a:r>
          </a:p>
        </p:txBody>
      </p:sp>
      <p:sp>
        <p:nvSpPr>
          <p:cNvPr id="64" name="LEGALES_TEXTO_46">
            <a:extLst xmlns:a="http://schemas.openxmlformats.org/drawingml/2006/main">
              <a:ext uri="{FF2B5EF4-FFF2-40B4-BE49-F238E27FC236}">
                <a16:creationId xmlns:a16="http://schemas.microsoft.com/office/drawing/2014/main" id="{7292D786-0D04-46B0-8687-68E90782C0FD}"/>
              </a:ext>
            </a:extLst>
          </p:cNvPr>
          <p:cNvSpPr>
            <a:spLocks xmlns:a="http://schemas.openxmlformats.org/drawingml/2006/main" noGrp="1"/>
          </p:cNvSpPr>
          <p:nvPr/>
        </p:nvSpPr>
        <p:spPr>
          <a:xfrm xmlns:a="http://schemas.openxmlformats.org/drawingml/2006/main">
            <a:off x="2616175" y="227034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“Contratación, percepción y uso del Internet fijo y </a:t>
            </a:r>
          </a:p>
        </p:txBody>
      </p:sp>
      <p:sp>
        <p:nvSpPr>
          <p:cNvPr id="65" name="LEGALES_TEXTO_47">
            <a:extLst xmlns:a="http://schemas.openxmlformats.org/drawingml/2006/main">
              <a:ext uri="{FF2B5EF4-FFF2-40B4-BE49-F238E27FC236}">
                <a16:creationId xmlns:a16="http://schemas.microsoft.com/office/drawing/2014/main" id="{20264679-6DF8-42F5-9ABD-E3A2AF1E320D}"/>
              </a:ext>
            </a:extLst>
          </p:cNvPr>
          <p:cNvSpPr>
            <a:spLocks xmlns:a="http://schemas.openxmlformats.org/drawingml/2006/main" noGrp="1"/>
          </p:cNvSpPr>
          <p:nvPr/>
        </p:nvSpPr>
        <p:spPr>
          <a:xfrm xmlns:a="http://schemas.openxmlformats.org/drawingml/2006/main">
            <a:off x="2616175" y="237078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Telefonía fija en las micro, pequeñas y medianas empresas (MiPymes) </a:t>
            </a:r>
          </a:p>
        </p:txBody>
      </p:sp>
      <p:sp>
        <p:nvSpPr>
          <p:cNvPr id="66" name="LEGALES_TEXTO_48">
            <a:extLst xmlns:a="http://schemas.openxmlformats.org/drawingml/2006/main">
              <a:ext uri="{FF2B5EF4-FFF2-40B4-BE49-F238E27FC236}">
                <a16:creationId xmlns:a16="http://schemas.microsoft.com/office/drawing/2014/main" id="{A42396E9-8F8F-4DE5-BA66-BA2A14A7C37D}"/>
              </a:ext>
            </a:extLst>
          </p:cNvPr>
          <p:cNvSpPr>
            <a:spLocks xmlns:a="http://schemas.openxmlformats.org/drawingml/2006/main" noGrp="1"/>
          </p:cNvSpPr>
          <p:nvPr/>
        </p:nvSpPr>
        <p:spPr>
          <a:xfrm xmlns:a="http://schemas.openxmlformats.org/drawingml/2006/main">
            <a:off x="2616175" y="247121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realizar actividades de importación y/o exportación”, del cual se </a:t>
            </a:r>
          </a:p>
        </p:txBody>
      </p:sp>
      <p:sp>
        <p:nvSpPr>
          <p:cNvPr id="67" name="LEGALES_TEXTO_49">
            <a:extLst xmlns:a="http://schemas.openxmlformats.org/drawingml/2006/main">
              <a:ext uri="{FF2B5EF4-FFF2-40B4-BE49-F238E27FC236}">
                <a16:creationId xmlns:a16="http://schemas.microsoft.com/office/drawing/2014/main" id="{272D65AD-0B0E-4CF2-AAE1-7CA49172901A}"/>
              </a:ext>
            </a:extLst>
          </p:cNvPr>
          <p:cNvSpPr>
            <a:spLocks xmlns:a="http://schemas.openxmlformats.org/drawingml/2006/main" noGrp="1"/>
          </p:cNvSpPr>
          <p:nvPr/>
        </p:nvSpPr>
        <p:spPr>
          <a:xfrm xmlns:a="http://schemas.openxmlformats.org/drawingml/2006/main">
            <a:off x="2616175" y="257166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obtuvo información de los servicios que consideran más importantes las </a:t>
            </a:r>
          </a:p>
        </p:txBody>
      </p:sp>
      <p:sp>
        <p:nvSpPr>
          <p:cNvPr id="68" name="LEGALES_TEXTO_50">
            <a:extLst xmlns:a="http://schemas.openxmlformats.org/drawingml/2006/main">
              <a:ext uri="{FF2B5EF4-FFF2-40B4-BE49-F238E27FC236}">
                <a16:creationId xmlns:a16="http://schemas.microsoft.com/office/drawing/2014/main" id="{A7B45028-B284-4E9D-974E-7FB2FBE636C1}"/>
              </a:ext>
            </a:extLst>
          </p:cNvPr>
          <p:cNvSpPr>
            <a:spLocks xmlns:a="http://schemas.openxmlformats.org/drawingml/2006/main" noGrp="1"/>
          </p:cNvSpPr>
          <p:nvPr/>
        </p:nvSpPr>
        <p:spPr>
          <a:xfrm xmlns:a="http://schemas.openxmlformats.org/drawingml/2006/main">
            <a:off x="2616175" y="267210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MiPymes para realizar sus actividades de importación y/o exportación; y </a:t>
            </a:r>
          </a:p>
        </p:txBody>
      </p:sp>
      <p:sp>
        <p:nvSpPr>
          <p:cNvPr id="69" name="LEGALES_TEXTO_51">
            <a:extLst xmlns:a="http://schemas.openxmlformats.org/drawingml/2006/main">
              <a:ext uri="{FF2B5EF4-FFF2-40B4-BE49-F238E27FC236}">
                <a16:creationId xmlns:a16="http://schemas.microsoft.com/office/drawing/2014/main" id="{FC95FC02-0B6E-43B1-85CB-2F92154B8F07}"/>
              </a:ext>
            </a:extLst>
          </p:cNvPr>
          <p:cNvSpPr>
            <a:spLocks xmlns:a="http://schemas.openxmlformats.org/drawingml/2006/main" noGrp="1"/>
          </p:cNvSpPr>
          <p:nvPr/>
        </p:nvSpPr>
        <p:spPr>
          <a:xfrm xmlns:a="http://schemas.openxmlformats.org/drawingml/2006/main">
            <a:off x="2616175" y="27725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finalmente, </a:t>
            </a:r>
            <a:r>
              <a:rPr sz="600" b="1" i="0">
                <a:solidFill>
                  <a:srgbClr val="1F6F66"/>
                </a:solidFill>
                <a:latin typeface="Noto Sans"/>
                <a:ea typeface="Noto Sans"/>
                <a:cs typeface="Noto Sans"/>
              </a:rPr>
              <a:t>“Conocimiento y percepción sobre la Inteligencia </a:t>
            </a:r>
          </a:p>
        </p:txBody>
      </p:sp>
      <p:sp>
        <p:nvSpPr>
          <p:cNvPr id="70" name="LEGALES_TEXTO_52">
            <a:extLst xmlns:a="http://schemas.openxmlformats.org/drawingml/2006/main">
              <a:ext uri="{FF2B5EF4-FFF2-40B4-BE49-F238E27FC236}">
                <a16:creationId xmlns:a16="http://schemas.microsoft.com/office/drawing/2014/main" id="{80EC98BA-85D8-4AFD-BD32-1F24B52DA682}"/>
              </a:ext>
            </a:extLst>
          </p:cNvPr>
          <p:cNvSpPr>
            <a:spLocks xmlns:a="http://schemas.openxmlformats.org/drawingml/2006/main" noGrp="1"/>
          </p:cNvSpPr>
          <p:nvPr/>
        </p:nvSpPr>
        <p:spPr>
          <a:xfrm xmlns:a="http://schemas.openxmlformats.org/drawingml/2006/main">
            <a:off x="2616175" y="28729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Artificial (IA) y ChatGPT 2023”</a:t>
            </a:r>
            <a:r>
              <a:rPr sz="600" b="0" i="0">
                <a:solidFill>
                  <a:srgbClr val="26312F"/>
                </a:solidFill>
                <a:latin typeface="Noto Sans"/>
                <a:ea typeface="Noto Sans"/>
                <a:cs typeface="Noto Sans"/>
              </a:rPr>
              <a:t> para los principales hallazgos de la </a:t>
            </a:r>
          </a:p>
        </p:txBody>
      </p:sp>
      <p:sp>
        <p:nvSpPr>
          <p:cNvPr id="71" name="LEGALES_TEXTO_53">
            <a:extLst xmlns:a="http://schemas.openxmlformats.org/drawingml/2006/main">
              <a:ext uri="{FF2B5EF4-FFF2-40B4-BE49-F238E27FC236}">
                <a16:creationId xmlns:a16="http://schemas.microsoft.com/office/drawing/2014/main" id="{93CB2EEA-4357-4963-859F-4F13546BAE08}"/>
              </a:ext>
            </a:extLst>
          </p:cNvPr>
          <p:cNvSpPr>
            <a:spLocks xmlns:a="http://schemas.openxmlformats.org/drawingml/2006/main" noGrp="1"/>
          </p:cNvSpPr>
          <p:nvPr/>
        </p:nvSpPr>
        <p:spPr>
          <a:xfrm xmlns:a="http://schemas.openxmlformats.org/drawingml/2006/main">
            <a:off x="2616175" y="297342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Inteligencia Artificial (IA) y ChatGPT.</a:t>
            </a:r>
          </a:p>
        </p:txBody>
      </p:sp>
      <p:sp>
        <p:nvSpPr>
          <p:cNvPr id="72" name="LEGALES_TEXTO_54">
            <a:extLst xmlns:a="http://schemas.openxmlformats.org/drawingml/2006/main">
              <a:ext uri="{FF2B5EF4-FFF2-40B4-BE49-F238E27FC236}">
                <a16:creationId xmlns:a16="http://schemas.microsoft.com/office/drawing/2014/main" id="{6234D4D9-5CD4-4A93-9BCF-5959B550EE61}"/>
              </a:ext>
            </a:extLst>
          </p:cNvPr>
          <p:cNvSpPr>
            <a:spLocks xmlns:a="http://schemas.openxmlformats.org/drawingml/2006/main" noGrp="1"/>
          </p:cNvSpPr>
          <p:nvPr/>
        </p:nvSpPr>
        <p:spPr>
          <a:xfrm xmlns:a="http://schemas.openxmlformats.org/drawingml/2006/main">
            <a:off x="2616175" y="3520023"/>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Tecnologías de la Información y Comunicación (TIC)</a:t>
            </a:r>
          </a:p>
        </p:txBody>
      </p:sp>
      <p:sp>
        <p:nvSpPr>
          <p:cNvPr id="73" name="LEGALES_TEXTO_55">
            <a:extLst xmlns:a="http://schemas.openxmlformats.org/drawingml/2006/main">
              <a:ext uri="{FF2B5EF4-FFF2-40B4-BE49-F238E27FC236}">
                <a16:creationId xmlns:a16="http://schemas.microsoft.com/office/drawing/2014/main" id="{5DCC1703-A843-488B-ADC6-0B2B564C6118}"/>
              </a:ext>
            </a:extLst>
          </p:cNvPr>
          <p:cNvSpPr>
            <a:spLocks xmlns:a="http://schemas.openxmlformats.org/drawingml/2006/main" noGrp="1"/>
          </p:cNvSpPr>
          <p:nvPr/>
        </p:nvSpPr>
        <p:spPr>
          <a:xfrm xmlns:a="http://schemas.openxmlformats.org/drawingml/2006/main">
            <a:off x="2616175" y="368570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Para la sección de </a:t>
            </a:r>
            <a:r>
              <a:rPr sz="600" b="1" i="0">
                <a:solidFill>
                  <a:srgbClr val="1F6F66"/>
                </a:solidFill>
                <a:latin typeface="Noto Sans"/>
                <a:ea typeface="Noto Sans"/>
                <a:cs typeface="Noto Sans"/>
              </a:rPr>
              <a:t>“Tecnologías de la Información y Comunicación </a:t>
            </a:r>
          </a:p>
        </p:txBody>
      </p:sp>
      <p:sp>
        <p:nvSpPr>
          <p:cNvPr id="74" name="LEGALES_TEXTO_56">
            <a:extLst xmlns:a="http://schemas.openxmlformats.org/drawingml/2006/main">
              <a:ext uri="{FF2B5EF4-FFF2-40B4-BE49-F238E27FC236}">
                <a16:creationId xmlns:a16="http://schemas.microsoft.com/office/drawing/2014/main" id="{C58A70E0-D0BB-46E2-B798-D08C91B82CD3}"/>
              </a:ext>
            </a:extLst>
          </p:cNvPr>
          <p:cNvSpPr>
            <a:spLocks xmlns:a="http://schemas.openxmlformats.org/drawingml/2006/main" noGrp="1"/>
          </p:cNvSpPr>
          <p:nvPr/>
        </p:nvSpPr>
        <p:spPr>
          <a:xfrm xmlns:a="http://schemas.openxmlformats.org/drawingml/2006/main">
            <a:off x="2616175" y="378613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(TIC)”</a:t>
            </a:r>
            <a:r>
              <a:rPr sz="600" b="0" i="0">
                <a:solidFill>
                  <a:srgbClr val="26312F"/>
                </a:solidFill>
                <a:latin typeface="Noto Sans"/>
                <a:ea typeface="Noto Sans"/>
                <a:cs typeface="Noto Sans"/>
              </a:rPr>
              <a:t> se utilizó información de la </a:t>
            </a:r>
            <a:r>
              <a:rPr sz="600" b="1" i="0">
                <a:solidFill>
                  <a:srgbClr val="1F6F66"/>
                </a:solidFill>
                <a:latin typeface="Noto Sans"/>
                <a:ea typeface="Noto Sans"/>
                <a:cs typeface="Noto Sans"/>
              </a:rPr>
              <a:t>“Encuesta Nacional sobre </a:t>
            </a:r>
          </a:p>
        </p:txBody>
      </p:sp>
      <p:sp>
        <p:nvSpPr>
          <p:cNvPr id="75" name="LEGALES_TEXTO_57">
            <a:extLst xmlns:a="http://schemas.openxmlformats.org/drawingml/2006/main">
              <a:ext uri="{FF2B5EF4-FFF2-40B4-BE49-F238E27FC236}">
                <a16:creationId xmlns:a16="http://schemas.microsoft.com/office/drawing/2014/main" id="{874BA817-93AA-461A-96E0-21ABAFE93118}"/>
              </a:ext>
            </a:extLst>
          </p:cNvPr>
          <p:cNvSpPr>
            <a:spLocks xmlns:a="http://schemas.openxmlformats.org/drawingml/2006/main" noGrp="1"/>
          </p:cNvSpPr>
          <p:nvPr/>
        </p:nvSpPr>
        <p:spPr>
          <a:xfrm xmlns:a="http://schemas.openxmlformats.org/drawingml/2006/main">
            <a:off x="2616175" y="388658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Disponibilidad y Uso de Tecnologías de la Información en los </a:t>
            </a:r>
          </a:p>
        </p:txBody>
      </p:sp>
      <p:sp>
        <p:nvSpPr>
          <p:cNvPr id="76" name="LEGALES_TEXTO_58">
            <a:extLst xmlns:a="http://schemas.openxmlformats.org/drawingml/2006/main">
              <a:ext uri="{FF2B5EF4-FFF2-40B4-BE49-F238E27FC236}">
                <a16:creationId xmlns:a16="http://schemas.microsoft.com/office/drawing/2014/main" id="{54259248-885B-444B-97AD-5D72EE24BC05}"/>
              </a:ext>
            </a:extLst>
          </p:cNvPr>
          <p:cNvSpPr>
            <a:spLocks xmlns:a="http://schemas.openxmlformats.org/drawingml/2006/main" noGrp="1"/>
          </p:cNvSpPr>
          <p:nvPr/>
        </p:nvSpPr>
        <p:spPr>
          <a:xfrm xmlns:a="http://schemas.openxmlformats.org/drawingml/2006/main">
            <a:off x="2616175" y="398702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Hogares (ENDUTIH) 2023”</a:t>
            </a:r>
            <a:r>
              <a:rPr sz="600" b="0" i="0">
                <a:solidFill>
                  <a:srgbClr val="26312F"/>
                </a:solidFill>
                <a:latin typeface="Noto Sans"/>
                <a:ea typeface="Noto Sans"/>
                <a:cs typeface="Noto Sans"/>
              </a:rPr>
              <a:t> para obtener la disponibilidad de las TIC en </a:t>
            </a:r>
          </a:p>
        </p:txBody>
      </p:sp>
      <p:sp>
        <p:nvSpPr>
          <p:cNvPr id="77" name="LEGALES_TEXTO_59">
            <a:extLst xmlns:a="http://schemas.openxmlformats.org/drawingml/2006/main">
              <a:ext uri="{FF2B5EF4-FFF2-40B4-BE49-F238E27FC236}">
                <a16:creationId xmlns:a16="http://schemas.microsoft.com/office/drawing/2014/main" id="{63783503-A25A-4874-A398-D7F5A75D0539}"/>
              </a:ext>
            </a:extLst>
          </p:cNvPr>
          <p:cNvSpPr>
            <a:spLocks xmlns:a="http://schemas.openxmlformats.org/drawingml/2006/main" noGrp="1"/>
          </p:cNvSpPr>
          <p:nvPr/>
        </p:nvSpPr>
        <p:spPr>
          <a:xfrm xmlns:a="http://schemas.openxmlformats.org/drawingml/2006/main">
            <a:off x="2616175" y="4087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los hogares, el uso de </a:t>
            </a:r>
            <a:r>
              <a:rPr sz="600" b="0" i="1">
                <a:solidFill>
                  <a:srgbClr val="26312F"/>
                </a:solidFill>
                <a:latin typeface="Noto Sans"/>
                <a:ea typeface="Noto Sans"/>
                <a:cs typeface="Noto Sans"/>
              </a:rPr>
              <a:t>Smartphone</a:t>
            </a:r>
            <a:r>
              <a:rPr sz="600" b="0" i="0">
                <a:solidFill>
                  <a:srgbClr val="26312F"/>
                </a:solidFill>
                <a:latin typeface="Noto Sans"/>
                <a:ea typeface="Noto Sans"/>
                <a:cs typeface="Noto Sans"/>
              </a:rPr>
              <a:t> e Internet por grupos de edad, el </a:t>
            </a:r>
          </a:p>
        </p:txBody>
      </p:sp>
      <p:sp>
        <p:nvSpPr>
          <p:cNvPr id="78" name="LEGALES_TEXTO_60">
            <a:extLst xmlns:a="http://schemas.openxmlformats.org/drawingml/2006/main">
              <a:ext uri="{FF2B5EF4-FFF2-40B4-BE49-F238E27FC236}">
                <a16:creationId xmlns:a16="http://schemas.microsoft.com/office/drawing/2014/main" id="{89CAA21E-26B7-41C7-930C-C208CF22536D}"/>
              </a:ext>
            </a:extLst>
          </p:cNvPr>
          <p:cNvSpPr>
            <a:spLocks xmlns:a="http://schemas.openxmlformats.org/drawingml/2006/main" noGrp="1"/>
          </p:cNvSpPr>
          <p:nvPr/>
        </p:nvSpPr>
        <p:spPr>
          <a:xfrm xmlns:a="http://schemas.openxmlformats.org/drawingml/2006/main">
            <a:off x="2616175" y="418790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porcentaje de horas promedio de uso de Internet por grupos de edad y el </a:t>
            </a:r>
          </a:p>
        </p:txBody>
      </p:sp>
      <p:sp>
        <p:nvSpPr>
          <p:cNvPr id="79" name="LEGALES_TEXTO_61">
            <a:extLst xmlns:a="http://schemas.openxmlformats.org/drawingml/2006/main">
              <a:ext uri="{FF2B5EF4-FFF2-40B4-BE49-F238E27FC236}">
                <a16:creationId xmlns:a16="http://schemas.microsoft.com/office/drawing/2014/main" id="{402944B1-8F18-452B-A2CB-203ECD6301A8}"/>
              </a:ext>
            </a:extLst>
          </p:cNvPr>
          <p:cNvSpPr>
            <a:spLocks xmlns:a="http://schemas.openxmlformats.org/drawingml/2006/main" noGrp="1"/>
          </p:cNvSpPr>
          <p:nvPr/>
        </p:nvSpPr>
        <p:spPr>
          <a:xfrm xmlns:a="http://schemas.openxmlformats.org/drawingml/2006/main">
            <a:off x="2616175" y="428834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uso de dispositivos inteligentes conectados a Internet; para los efectos de </a:t>
            </a:r>
          </a:p>
        </p:txBody>
      </p:sp>
      <p:sp>
        <p:nvSpPr>
          <p:cNvPr id="80" name="LEGALES_TEXTO_62">
            <a:extLst xmlns:a="http://schemas.openxmlformats.org/drawingml/2006/main">
              <a:ext uri="{FF2B5EF4-FFF2-40B4-BE49-F238E27FC236}">
                <a16:creationId xmlns:a16="http://schemas.microsoft.com/office/drawing/2014/main" id="{015CBCF2-2A54-4EAC-806D-8D5654BF4EDD}"/>
              </a:ext>
            </a:extLst>
          </p:cNvPr>
          <p:cNvSpPr>
            <a:spLocks xmlns:a="http://schemas.openxmlformats.org/drawingml/2006/main" noGrp="1"/>
          </p:cNvSpPr>
          <p:nvPr/>
        </p:nvSpPr>
        <p:spPr>
          <a:xfrm xmlns:a="http://schemas.openxmlformats.org/drawingml/2006/main">
            <a:off x="2616175" y="438877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desconfianza en Internet sobre las actividades en línea de los usuarios </a:t>
            </a:r>
          </a:p>
        </p:txBody>
      </p:sp>
      <p:sp>
        <p:nvSpPr>
          <p:cNvPr id="81" name="LEGALES_TEXTO_63">
            <a:extLst xmlns:a="http://schemas.openxmlformats.org/drawingml/2006/main">
              <a:ext uri="{FF2B5EF4-FFF2-40B4-BE49-F238E27FC236}">
                <a16:creationId xmlns:a16="http://schemas.microsoft.com/office/drawing/2014/main" id="{174D32EB-2058-4884-9DFA-FE5FD0D8FA1F}"/>
              </a:ext>
            </a:extLst>
          </p:cNvPr>
          <p:cNvSpPr>
            <a:spLocks xmlns:a="http://schemas.openxmlformats.org/drawingml/2006/main" noGrp="1"/>
          </p:cNvSpPr>
          <p:nvPr/>
        </p:nvSpPr>
        <p:spPr>
          <a:xfrm xmlns:a="http://schemas.openxmlformats.org/drawingml/2006/main">
            <a:off x="2616175" y="44892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y la percepción o grado de desconfianza que tienen las personas al hacer </a:t>
            </a:r>
          </a:p>
        </p:txBody>
      </p:sp>
      <p:sp>
        <p:nvSpPr>
          <p:cNvPr id="82" name="LEGALES_TEXTO_64">
            <a:extLst xmlns:a="http://schemas.openxmlformats.org/drawingml/2006/main">
              <a:ext uri="{FF2B5EF4-FFF2-40B4-BE49-F238E27FC236}">
                <a16:creationId xmlns:a16="http://schemas.microsoft.com/office/drawing/2014/main" id="{B6D9C307-668A-4F2B-9909-6B2F3D234587}"/>
              </a:ext>
            </a:extLst>
          </p:cNvPr>
          <p:cNvSpPr>
            <a:spLocks xmlns:a="http://schemas.openxmlformats.org/drawingml/2006/main" noGrp="1"/>
          </p:cNvSpPr>
          <p:nvPr/>
        </p:nvSpPr>
        <p:spPr>
          <a:xfrm xmlns:a="http://schemas.openxmlformats.org/drawingml/2006/main">
            <a:off x="2616175" y="45896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uso del Internet se consultó la Encuesta de Confianza Servicio de </a:t>
            </a:r>
          </a:p>
        </p:txBody>
      </p:sp>
      <p:sp>
        <p:nvSpPr>
          <p:cNvPr id="83" name="LEGALES_TEXTO_65">
            <a:extLst xmlns:a="http://schemas.openxmlformats.org/drawingml/2006/main">
              <a:ext uri="{FF2B5EF4-FFF2-40B4-BE49-F238E27FC236}">
                <a16:creationId xmlns:a16="http://schemas.microsoft.com/office/drawing/2014/main" id="{553CD496-F665-44C3-A9E2-19ACC4BC5B65}"/>
              </a:ext>
            </a:extLst>
          </p:cNvPr>
          <p:cNvSpPr>
            <a:spLocks xmlns:a="http://schemas.openxmlformats.org/drawingml/2006/main" noGrp="1"/>
          </p:cNvSpPr>
          <p:nvPr/>
        </p:nvSpPr>
        <p:spPr>
          <a:xfrm xmlns:a="http://schemas.openxmlformats.org/drawingml/2006/main">
            <a:off x="2616175" y="469009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Internet (ECSI) 2024 del IFT.</a:t>
            </a:r>
          </a:p>
        </p:txBody>
      </p:sp>
      <p:sp>
        <p:nvSpPr>
          <p:cNvPr id="84" name="LEGALES_TEXTO_66">
            <a:extLst xmlns:a="http://schemas.openxmlformats.org/drawingml/2006/main">
              <a:ext uri="{FF2B5EF4-FFF2-40B4-BE49-F238E27FC236}">
                <a16:creationId xmlns:a16="http://schemas.microsoft.com/office/drawing/2014/main" id="{D31411B6-7FF1-4573-A4DE-05DE842306CB}"/>
              </a:ext>
            </a:extLst>
          </p:cNvPr>
          <p:cNvSpPr>
            <a:spLocks xmlns:a="http://schemas.openxmlformats.org/drawingml/2006/main" noGrp="1"/>
          </p:cNvSpPr>
          <p:nvPr/>
        </p:nvSpPr>
        <p:spPr>
          <a:xfrm xmlns:a="http://schemas.openxmlformats.org/drawingml/2006/main">
            <a:off x="5842175" y="698146"/>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Indicadores con perspectiva de género</a:t>
            </a:r>
          </a:p>
        </p:txBody>
      </p:sp>
      <p:sp>
        <p:nvSpPr>
          <p:cNvPr id="85" name="LEGALES_TEXTO_67">
            <a:extLst xmlns:a="http://schemas.openxmlformats.org/drawingml/2006/main">
              <a:ext uri="{FF2B5EF4-FFF2-40B4-BE49-F238E27FC236}">
                <a16:creationId xmlns:a16="http://schemas.microsoft.com/office/drawing/2014/main" id="{4615CCDC-A12B-40EC-9027-6F9AB766FFD7}"/>
              </a:ext>
            </a:extLst>
          </p:cNvPr>
          <p:cNvSpPr>
            <a:spLocks xmlns:a="http://schemas.openxmlformats.org/drawingml/2006/main" noGrp="1"/>
          </p:cNvSpPr>
          <p:nvPr/>
        </p:nvSpPr>
        <p:spPr>
          <a:xfrm xmlns:a="http://schemas.openxmlformats.org/drawingml/2006/main">
            <a:off x="5842175" y="86418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“Indicadores con perspectiva de género”</a:t>
            </a:r>
            <a:r>
              <a:rPr sz="600" b="0" i="0">
                <a:solidFill>
                  <a:srgbClr val="26312F"/>
                </a:solidFill>
                <a:latin typeface="Noto Sans"/>
                <a:ea typeface="Noto Sans"/>
                <a:cs typeface="Noto Sans"/>
              </a:rPr>
              <a:t> se realizó </a:t>
            </a:r>
          </a:p>
        </p:txBody>
      </p:sp>
      <p:sp>
        <p:nvSpPr>
          <p:cNvPr id="86" name="LEGALES_TEXTO_68">
            <a:extLst xmlns:a="http://schemas.openxmlformats.org/drawingml/2006/main">
              <a:ext uri="{FF2B5EF4-FFF2-40B4-BE49-F238E27FC236}">
                <a16:creationId xmlns:a16="http://schemas.microsoft.com/office/drawing/2014/main" id="{44036247-F94D-46A0-B27D-F819A9F85F2D}"/>
              </a:ext>
            </a:extLst>
          </p:cNvPr>
          <p:cNvSpPr>
            <a:spLocks xmlns:a="http://schemas.openxmlformats.org/drawingml/2006/main" noGrp="1"/>
          </p:cNvSpPr>
          <p:nvPr/>
        </p:nvSpPr>
        <p:spPr>
          <a:xfrm xmlns:a="http://schemas.openxmlformats.org/drawingml/2006/main">
            <a:off x="5842175" y="96461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con información obtenida de la </a:t>
            </a:r>
            <a:r>
              <a:rPr sz="600" b="1" i="0">
                <a:solidFill>
                  <a:srgbClr val="1F6F66"/>
                </a:solidFill>
                <a:latin typeface="Noto Sans"/>
                <a:ea typeface="Noto Sans"/>
                <a:cs typeface="Noto Sans"/>
              </a:rPr>
              <a:t>“ENDUTIH 2023”</a:t>
            </a:r>
            <a:r>
              <a:rPr sz="600" b="0" i="0">
                <a:solidFill>
                  <a:srgbClr val="26312F"/>
                </a:solidFill>
                <a:latin typeface="Noto Sans"/>
                <a:ea typeface="Noto Sans"/>
                <a:cs typeface="Noto Sans"/>
              </a:rPr>
              <a:t>, la </a:t>
            </a:r>
            <a:r>
              <a:rPr sz="600" b="1" i="0">
                <a:solidFill>
                  <a:srgbClr val="1F6F66"/>
                </a:solidFill>
                <a:latin typeface="Noto Sans"/>
                <a:ea typeface="Noto Sans"/>
                <a:cs typeface="Noto Sans"/>
              </a:rPr>
              <a:t>“Encuesta </a:t>
            </a:r>
          </a:p>
        </p:txBody>
      </p:sp>
      <p:sp>
        <p:nvSpPr>
          <p:cNvPr id="87" name="LEGALES_TEXTO_69">
            <a:extLst xmlns:a="http://schemas.openxmlformats.org/drawingml/2006/main">
              <a:ext uri="{FF2B5EF4-FFF2-40B4-BE49-F238E27FC236}">
                <a16:creationId xmlns:a16="http://schemas.microsoft.com/office/drawing/2014/main" id="{18E797FC-7C07-4216-98B4-B52984A311E7}"/>
              </a:ext>
            </a:extLst>
          </p:cNvPr>
          <p:cNvSpPr>
            <a:spLocks xmlns:a="http://schemas.openxmlformats.org/drawingml/2006/main" noGrp="1"/>
          </p:cNvSpPr>
          <p:nvPr/>
        </p:nvSpPr>
        <p:spPr>
          <a:xfrm xmlns:a="http://schemas.openxmlformats.org/drawingml/2006/main">
            <a:off x="5842175" y="106505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1" i="0">
                <a:solidFill>
                  <a:srgbClr val="1F6F66"/>
                </a:solidFill>
                <a:latin typeface="Noto Sans"/>
                <a:ea typeface="Noto Sans"/>
                <a:cs typeface="Noto Sans"/>
              </a:rPr>
              <a:t>Nacional de Ocupación y Empleo (ENOE) 2024”</a:t>
            </a:r>
            <a:r>
              <a:rPr sz="600" b="0" i="0">
                <a:solidFill>
                  <a:srgbClr val="26312F"/>
                </a:solidFill>
                <a:latin typeface="Noto Sans"/>
                <a:ea typeface="Noto Sans"/>
                <a:cs typeface="Noto Sans"/>
              </a:rPr>
              <a:t> y el Módulo sobre </a:t>
            </a:r>
          </a:p>
        </p:txBody>
      </p:sp>
      <p:sp>
        <p:nvSpPr>
          <p:cNvPr id="88" name="LEGALES_TEXTO_70">
            <a:extLst xmlns:a="http://schemas.openxmlformats.org/drawingml/2006/main">
              <a:ext uri="{FF2B5EF4-FFF2-40B4-BE49-F238E27FC236}">
                <a16:creationId xmlns:a16="http://schemas.microsoft.com/office/drawing/2014/main" id="{A3C6FA5F-01B5-44AB-AE30-55796084AB69}"/>
              </a:ext>
            </a:extLst>
          </p:cNvPr>
          <p:cNvSpPr>
            <a:spLocks xmlns:a="http://schemas.openxmlformats.org/drawingml/2006/main" noGrp="1"/>
          </p:cNvSpPr>
          <p:nvPr/>
        </p:nvSpPr>
        <p:spPr>
          <a:xfrm xmlns:a="http://schemas.openxmlformats.org/drawingml/2006/main">
            <a:off x="5842175" y="116550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Ciberacoso (MOCIBA) 2023 del INEGI, así como de la Tercera Encuesta </a:t>
            </a:r>
          </a:p>
        </p:txBody>
      </p:sp>
      <p:sp>
        <p:nvSpPr>
          <p:cNvPr id="89" name="LEGALES_TEXTO_71">
            <a:extLst xmlns:a="http://schemas.openxmlformats.org/drawingml/2006/main">
              <a:ext uri="{FF2B5EF4-FFF2-40B4-BE49-F238E27FC236}">
                <a16:creationId xmlns:a16="http://schemas.microsoft.com/office/drawing/2014/main" id="{7C467844-57DD-44AD-B89E-DC6D75A7BDAF}"/>
              </a:ext>
            </a:extLst>
          </p:cNvPr>
          <p:cNvSpPr>
            <a:spLocks xmlns:a="http://schemas.openxmlformats.org/drawingml/2006/main" noGrp="1"/>
          </p:cNvSpPr>
          <p:nvPr/>
        </p:nvSpPr>
        <p:spPr>
          <a:xfrm xmlns:a="http://schemas.openxmlformats.org/drawingml/2006/main">
            <a:off x="5842175" y="126593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2023, Usuarios de Servicios de Telecomunicaciones de CGPU .</a:t>
            </a:r>
          </a:p>
        </p:txBody>
      </p:sp>
      <p:sp>
        <p:nvSpPr>
          <p:cNvPr id="90" name="LEGALES_TEXTO_72">
            <a:extLst xmlns:a="http://schemas.openxmlformats.org/drawingml/2006/main">
              <a:ext uri="{FF2B5EF4-FFF2-40B4-BE49-F238E27FC236}">
                <a16:creationId xmlns:a16="http://schemas.microsoft.com/office/drawing/2014/main" id="{BD1FBA6A-BABF-40C7-9392-81C8C0DE389D}"/>
              </a:ext>
            </a:extLst>
          </p:cNvPr>
          <p:cNvSpPr>
            <a:spLocks xmlns:a="http://schemas.openxmlformats.org/drawingml/2006/main" noGrp="1"/>
          </p:cNvSpPr>
          <p:nvPr/>
        </p:nvSpPr>
        <p:spPr>
          <a:xfrm xmlns:a="http://schemas.openxmlformats.org/drawingml/2006/main">
            <a:off x="5842175" y="1581228"/>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Panorama de consumo de televisión y radio</a:t>
            </a:r>
          </a:p>
        </p:txBody>
      </p:sp>
      <p:sp>
        <p:nvSpPr>
          <p:cNvPr id="91" name="LEGALES_TEXTO_73">
            <a:extLst xmlns:a="http://schemas.openxmlformats.org/drawingml/2006/main">
              <a:ext uri="{FF2B5EF4-FFF2-40B4-BE49-F238E27FC236}">
                <a16:creationId xmlns:a16="http://schemas.microsoft.com/office/drawing/2014/main" id="{C240A1AD-1990-4EFF-8DBF-F851D4BC111A}"/>
              </a:ext>
            </a:extLst>
          </p:cNvPr>
          <p:cNvSpPr>
            <a:spLocks xmlns:a="http://schemas.openxmlformats.org/drawingml/2006/main" noGrp="1"/>
          </p:cNvSpPr>
          <p:nvPr/>
        </p:nvSpPr>
        <p:spPr>
          <a:xfrm xmlns:a="http://schemas.openxmlformats.org/drawingml/2006/main">
            <a:off x="5842175" y="174726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sección de </a:t>
            </a:r>
            <a:r>
              <a:rPr sz="600" b="1" i="0">
                <a:solidFill>
                  <a:srgbClr val="1F6F66"/>
                </a:solidFill>
                <a:latin typeface="Noto Sans"/>
                <a:ea typeface="Noto Sans"/>
                <a:cs typeface="Noto Sans"/>
              </a:rPr>
              <a:t>“Panorama de Consumo de Televisión y Radio”</a:t>
            </a:r>
            <a:r>
              <a:rPr sz="600" b="0" i="0">
                <a:solidFill>
                  <a:srgbClr val="26312F"/>
                </a:solidFill>
                <a:latin typeface="Noto Sans"/>
                <a:ea typeface="Noto Sans"/>
                <a:cs typeface="Noto Sans"/>
              </a:rPr>
              <a:t> fue </a:t>
            </a:r>
          </a:p>
        </p:txBody>
      </p:sp>
      <p:sp>
        <p:nvSpPr>
          <p:cNvPr id="92" name="LEGALES_TEXTO_74">
            <a:extLst xmlns:a="http://schemas.openxmlformats.org/drawingml/2006/main">
              <a:ext uri="{FF2B5EF4-FFF2-40B4-BE49-F238E27FC236}">
                <a16:creationId xmlns:a16="http://schemas.microsoft.com/office/drawing/2014/main" id="{156F81B9-A05A-47C3-9363-5D5943BA8B41}"/>
              </a:ext>
            </a:extLst>
          </p:cNvPr>
          <p:cNvSpPr>
            <a:spLocks xmlns:a="http://schemas.openxmlformats.org/drawingml/2006/main" noGrp="1"/>
          </p:cNvSpPr>
          <p:nvPr/>
        </p:nvSpPr>
        <p:spPr>
          <a:xfrm xmlns:a="http://schemas.openxmlformats.org/drawingml/2006/main">
            <a:off x="5842175" y="184769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generada por la Unidad de Medios y Contenidos Audiovisuales del </a:t>
            </a:r>
          </a:p>
        </p:txBody>
      </p:sp>
      <p:sp>
        <p:nvSpPr>
          <p:cNvPr id="93" name="LEGALES_TEXTO_75">
            <a:extLst xmlns:a="http://schemas.openxmlformats.org/drawingml/2006/main">
              <a:ext uri="{FF2B5EF4-FFF2-40B4-BE49-F238E27FC236}">
                <a16:creationId xmlns:a16="http://schemas.microsoft.com/office/drawing/2014/main" id="{B9710AFD-3D44-4C42-A664-1C6E2FE9B5AD}"/>
              </a:ext>
            </a:extLst>
          </p:cNvPr>
          <p:cNvSpPr>
            <a:spLocks xmlns:a="http://schemas.openxmlformats.org/drawingml/2006/main" noGrp="1"/>
          </p:cNvSpPr>
          <p:nvPr/>
        </p:nvSpPr>
        <p:spPr>
          <a:xfrm xmlns:a="http://schemas.openxmlformats.org/drawingml/2006/main">
            <a:off x="5842175" y="194814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Federal de Telecomunicaciones, a partir de datos recopilados a </a:t>
            </a:r>
          </a:p>
        </p:txBody>
      </p:sp>
      <p:sp>
        <p:nvSpPr>
          <p:cNvPr id="94" name="LEGALES_TEXTO_76">
            <a:extLst xmlns:a="http://schemas.openxmlformats.org/drawingml/2006/main">
              <a:ext uri="{FF2B5EF4-FFF2-40B4-BE49-F238E27FC236}">
                <a16:creationId xmlns:a16="http://schemas.microsoft.com/office/drawing/2014/main" id="{629CF789-2DE9-4EAE-9AAE-CD1573B535CB}"/>
              </a:ext>
            </a:extLst>
          </p:cNvPr>
          <p:cNvSpPr>
            <a:spLocks xmlns:a="http://schemas.openxmlformats.org/drawingml/2006/main" noGrp="1"/>
          </p:cNvSpPr>
          <p:nvPr/>
        </p:nvSpPr>
        <p:spPr>
          <a:xfrm xmlns:a="http://schemas.openxmlformats.org/drawingml/2006/main">
            <a:off x="5842175" y="204858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través de muestreo por la empresa Nielsen IBOPE México S.A. de C.V. </a:t>
            </a:r>
          </a:p>
        </p:txBody>
      </p:sp>
      <p:sp>
        <p:nvSpPr>
          <p:cNvPr id="95" name="LEGALES_TEXTO_77">
            <a:extLst xmlns:a="http://schemas.openxmlformats.org/drawingml/2006/main">
              <a:ext uri="{FF2B5EF4-FFF2-40B4-BE49-F238E27FC236}">
                <a16:creationId xmlns:a16="http://schemas.microsoft.com/office/drawing/2014/main" id="{D2CF7B25-53B2-4110-B8FC-BBA164B3BE85}"/>
              </a:ext>
            </a:extLst>
          </p:cNvPr>
          <p:cNvSpPr>
            <a:spLocks xmlns:a="http://schemas.openxmlformats.org/drawingml/2006/main" noGrp="1"/>
          </p:cNvSpPr>
          <p:nvPr/>
        </p:nvSpPr>
        <p:spPr>
          <a:xfrm xmlns:a="http://schemas.openxmlformats.org/drawingml/2006/main">
            <a:off x="5842175" y="214901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e Investigación de Mercados INRA, por lo cual la </a:t>
            </a:r>
          </a:p>
        </p:txBody>
      </p:sp>
      <p:sp>
        <p:nvSpPr>
          <p:cNvPr id="96" name="LEGALES_TEXTO_78">
            <a:extLst xmlns:a="http://schemas.openxmlformats.org/drawingml/2006/main">
              <a:ext uri="{FF2B5EF4-FFF2-40B4-BE49-F238E27FC236}">
                <a16:creationId xmlns:a16="http://schemas.microsoft.com/office/drawing/2014/main" id="{B9000ACF-949B-4FE7-856B-FA85A9EF6351}"/>
              </a:ext>
            </a:extLst>
          </p:cNvPr>
          <p:cNvSpPr>
            <a:spLocks xmlns:a="http://schemas.openxmlformats.org/drawingml/2006/main" noGrp="1"/>
          </p:cNvSpPr>
          <p:nvPr/>
        </p:nvSpPr>
        <p:spPr>
          <a:xfrm xmlns:a="http://schemas.openxmlformats.org/drawingml/2006/main">
            <a:off x="5842175" y="224946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información presentada debe ser considerada como estimaciones. Se le </a:t>
            </a:r>
          </a:p>
        </p:txBody>
      </p:sp>
      <p:sp>
        <p:nvSpPr>
          <p:cNvPr id="97" name="LEGALES_TEXTO_79">
            <a:extLst xmlns:a="http://schemas.openxmlformats.org/drawingml/2006/main">
              <a:ext uri="{FF2B5EF4-FFF2-40B4-BE49-F238E27FC236}">
                <a16:creationId xmlns:a16="http://schemas.microsoft.com/office/drawing/2014/main" id="{7CCE6EA6-CDF9-4AE4-B481-792D32123FE2}"/>
              </a:ext>
            </a:extLst>
          </p:cNvPr>
          <p:cNvSpPr>
            <a:spLocks xmlns:a="http://schemas.openxmlformats.org/drawingml/2006/main" noGrp="1"/>
          </p:cNvSpPr>
          <p:nvPr/>
        </p:nvSpPr>
        <p:spPr>
          <a:xfrm xmlns:a="http://schemas.openxmlformats.org/drawingml/2006/main">
            <a:off x="5842175" y="234990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recomienda al lector consultar el Anexo: Definiciones para su mejor </a:t>
            </a:r>
          </a:p>
        </p:txBody>
      </p:sp>
      <p:sp>
        <p:nvSpPr>
          <p:cNvPr id="98" name="LEGALES_TEXTO_80">
            <a:extLst xmlns:a="http://schemas.openxmlformats.org/drawingml/2006/main">
              <a:ext uri="{FF2B5EF4-FFF2-40B4-BE49-F238E27FC236}">
                <a16:creationId xmlns:a16="http://schemas.microsoft.com/office/drawing/2014/main" id="{07F3746D-D964-49E2-9C37-B094463B0F14}"/>
              </a:ext>
            </a:extLst>
          </p:cNvPr>
          <p:cNvSpPr>
            <a:spLocks xmlns:a="http://schemas.openxmlformats.org/drawingml/2006/main" noGrp="1"/>
          </p:cNvSpPr>
          <p:nvPr/>
        </p:nvSpPr>
        <p:spPr>
          <a:xfrm xmlns:a="http://schemas.openxmlformats.org/drawingml/2006/main">
            <a:off x="5842175" y="245033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a:t>
            </a:r>
          </a:p>
        </p:txBody>
      </p:sp>
      <p:sp>
        <p:nvSpPr>
          <p:cNvPr id="99" name="LEGALES_TEXTO_81">
            <a:extLst xmlns:a="http://schemas.openxmlformats.org/drawingml/2006/main">
              <a:ext uri="{FF2B5EF4-FFF2-40B4-BE49-F238E27FC236}">
                <a16:creationId xmlns:a16="http://schemas.microsoft.com/office/drawing/2014/main" id="{0705E1B7-D2EC-43CE-84C0-D32278AA3074}"/>
              </a:ext>
            </a:extLst>
          </p:cNvPr>
          <p:cNvSpPr>
            <a:spLocks xmlns:a="http://schemas.openxmlformats.org/drawingml/2006/main" noGrp="1"/>
          </p:cNvSpPr>
          <p:nvPr/>
        </p:nvSpPr>
        <p:spPr>
          <a:xfrm xmlns:a="http://schemas.openxmlformats.org/drawingml/2006/main">
            <a:off x="5842175" y="2724952"/>
            <a:ext cx="2946400" cy="13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48">
                <a:solidFill>
                  <a:srgbClr val="263632"/>
                </a:solidFill>
                <a:latin typeface="Noto Sans"/>
                <a:ea typeface="Noto Sans"/>
                <a:cs typeface="Noto Sans"/>
              </a:defRPr>
            </a:pPr>
            <a:r>
              <a:rPr sz="748" b="1" i="0">
                <a:solidFill>
                  <a:srgbClr val="1A4043"/>
                </a:solidFill>
                <a:latin typeface="Noto Sans"/>
                <a:ea typeface="Noto Sans"/>
                <a:cs typeface="Noto Sans"/>
              </a:rPr>
              <a:t>Notas sobre audiencias de televisión (Nielsen IBOPE)</a:t>
            </a:r>
          </a:p>
        </p:txBody>
      </p:sp>
      <p:sp>
        <p:nvSpPr>
          <p:cNvPr id="100" name="LEGALES_TEXTO_82">
            <a:extLst xmlns:a="http://schemas.openxmlformats.org/drawingml/2006/main">
              <a:ext uri="{FF2B5EF4-FFF2-40B4-BE49-F238E27FC236}">
                <a16:creationId xmlns:a16="http://schemas.microsoft.com/office/drawing/2014/main" id="{D8BA4F0A-5054-424A-8C6B-1EB1CBFBA0B4}"/>
              </a:ext>
            </a:extLst>
          </p:cNvPr>
          <p:cNvSpPr>
            <a:spLocks xmlns:a="http://schemas.openxmlformats.org/drawingml/2006/main" noGrp="1"/>
          </p:cNvSpPr>
          <p:nvPr/>
        </p:nvSpPr>
        <p:spPr>
          <a:xfrm xmlns:a="http://schemas.openxmlformats.org/drawingml/2006/main">
            <a:off x="5842175" y="28908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La información que contiene el presente reporte en cuanto a su análisis e </a:t>
            </a:r>
          </a:p>
        </p:txBody>
      </p:sp>
      <p:sp>
        <p:nvSpPr>
          <p:cNvPr id="101" name="LEGALES_TEXTO_83">
            <a:extLst xmlns:a="http://schemas.openxmlformats.org/drawingml/2006/main">
              <a:ext uri="{FF2B5EF4-FFF2-40B4-BE49-F238E27FC236}">
                <a16:creationId xmlns:a16="http://schemas.microsoft.com/office/drawing/2014/main" id="{DE77F7C0-8FCA-49D6-8B07-2EB34C313662}"/>
              </a:ext>
            </a:extLst>
          </p:cNvPr>
          <p:cNvSpPr>
            <a:spLocks xmlns:a="http://schemas.openxmlformats.org/drawingml/2006/main" noGrp="1"/>
          </p:cNvSpPr>
          <p:nvPr/>
        </p:nvSpPr>
        <p:spPr>
          <a:xfrm xmlns:a="http://schemas.openxmlformats.org/drawingml/2006/main">
            <a:off x="5842175" y="29897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interpretación fue realizada bajo la responsabilidad del Instituto Federal </a:t>
            </a:r>
          </a:p>
        </p:txBody>
      </p:sp>
      <p:sp>
        <p:nvSpPr>
          <p:cNvPr id="102" name="LEGALES_TEXTO_84">
            <a:extLst xmlns:a="http://schemas.openxmlformats.org/drawingml/2006/main">
              <a:ext uri="{FF2B5EF4-FFF2-40B4-BE49-F238E27FC236}">
                <a16:creationId xmlns:a16="http://schemas.microsoft.com/office/drawing/2014/main" id="{E47B8FD3-F41A-474A-8078-1EEDE80EA698}"/>
              </a:ext>
            </a:extLst>
          </p:cNvPr>
          <p:cNvSpPr>
            <a:spLocks xmlns:a="http://schemas.openxmlformats.org/drawingml/2006/main" noGrp="1"/>
          </p:cNvSpPr>
          <p:nvPr/>
        </p:nvSpPr>
        <p:spPr>
          <a:xfrm xmlns:a="http://schemas.openxmlformats.org/drawingml/2006/main">
            <a:off x="5842175" y="30887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de Telecomunicaciones (IFT) con información de audiencias propiedad de </a:t>
            </a:r>
          </a:p>
        </p:txBody>
      </p:sp>
      <p:sp>
        <p:nvSpPr>
          <p:cNvPr id="103" name="LEGALES_TEXTO_85">
            <a:extLst xmlns:a="http://schemas.openxmlformats.org/drawingml/2006/main">
              <a:ext uri="{FF2B5EF4-FFF2-40B4-BE49-F238E27FC236}">
                <a16:creationId xmlns:a16="http://schemas.microsoft.com/office/drawing/2014/main" id="{2600AE3C-89A2-4429-B1F7-63CD6E20515D}"/>
              </a:ext>
            </a:extLst>
          </p:cNvPr>
          <p:cNvSpPr>
            <a:spLocks xmlns:a="http://schemas.openxmlformats.org/drawingml/2006/main" noGrp="1"/>
          </p:cNvSpPr>
          <p:nvPr/>
        </p:nvSpPr>
        <p:spPr>
          <a:xfrm xmlns:a="http://schemas.openxmlformats.org/drawingml/2006/main">
            <a:off x="5842175" y="318765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 Bajo los términos contractuales del </a:t>
            </a:r>
          </a:p>
        </p:txBody>
      </p:sp>
      <p:sp>
        <p:nvSpPr>
          <p:cNvPr id="104" name="LEGALES_TEXTO_86">
            <a:extLst xmlns:a="http://schemas.openxmlformats.org/drawingml/2006/main">
              <a:ext uri="{FF2B5EF4-FFF2-40B4-BE49-F238E27FC236}">
                <a16:creationId xmlns:a16="http://schemas.microsoft.com/office/drawing/2014/main" id="{6D381704-7446-4964-AE66-5460B39FA41E}"/>
              </a:ext>
            </a:extLst>
          </p:cNvPr>
          <p:cNvSpPr>
            <a:spLocks xmlns:a="http://schemas.openxmlformats.org/drawingml/2006/main" noGrp="1"/>
          </p:cNvSpPr>
          <p:nvPr/>
        </p:nvSpPr>
        <p:spPr>
          <a:xfrm xmlns:a="http://schemas.openxmlformats.org/drawingml/2006/main">
            <a:off x="5842175" y="32865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licenciamiento de las Bases de datos de audiencias de televisión, Nielsen </a:t>
            </a:r>
          </a:p>
        </p:txBody>
      </p:sp>
      <p:sp>
        <p:nvSpPr>
          <p:cNvPr id="105" name="LEGALES_TEXTO_87">
            <a:extLst xmlns:a="http://schemas.openxmlformats.org/drawingml/2006/main">
              <a:ext uri="{FF2B5EF4-FFF2-40B4-BE49-F238E27FC236}">
                <a16:creationId xmlns:a16="http://schemas.microsoft.com/office/drawing/2014/main" id="{D33530D2-EDEA-4610-9529-09441555AFA5}"/>
              </a:ext>
            </a:extLst>
          </p:cNvPr>
          <p:cNvSpPr>
            <a:spLocks xmlns:a="http://schemas.openxmlformats.org/drawingml/2006/main" noGrp="1"/>
          </p:cNvSpPr>
          <p:nvPr/>
        </p:nvSpPr>
        <p:spPr>
          <a:xfrm xmlns:a="http://schemas.openxmlformats.org/drawingml/2006/main">
            <a:off x="5842175" y="338553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IBOPE México, S.A. De C.V. ha validado al IFT que la información </a:t>
            </a:r>
          </a:p>
        </p:txBody>
      </p:sp>
      <p:sp>
        <p:nvSpPr>
          <p:cNvPr id="106" name="LEGALES_TEXTO_88">
            <a:extLst xmlns:a="http://schemas.openxmlformats.org/drawingml/2006/main">
              <a:ext uri="{FF2B5EF4-FFF2-40B4-BE49-F238E27FC236}">
                <a16:creationId xmlns:a16="http://schemas.microsoft.com/office/drawing/2014/main" id="{6E9D6700-BF1F-4066-9D50-0680827F7226}"/>
              </a:ext>
            </a:extLst>
          </p:cNvPr>
          <p:cNvSpPr>
            <a:spLocks xmlns:a="http://schemas.openxmlformats.org/drawingml/2006/main" noGrp="1"/>
          </p:cNvSpPr>
          <p:nvPr/>
        </p:nvSpPr>
        <p:spPr>
          <a:xfrm xmlns:a="http://schemas.openxmlformats.org/drawingml/2006/main">
            <a:off x="5842175" y="3484456"/>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estadística de audiencias de televisión contenida en el mencionado </a:t>
            </a:r>
          </a:p>
        </p:txBody>
      </p:sp>
      <p:sp>
        <p:nvSpPr>
          <p:cNvPr id="107" name="LEGALES_TEXTO_89">
            <a:extLst xmlns:a="http://schemas.openxmlformats.org/drawingml/2006/main">
              <a:ext uri="{FF2B5EF4-FFF2-40B4-BE49-F238E27FC236}">
                <a16:creationId xmlns:a16="http://schemas.microsoft.com/office/drawing/2014/main" id="{78A4BF30-D981-4932-8ED5-DC4863B7E0B4}"/>
              </a:ext>
            </a:extLst>
          </p:cNvPr>
          <p:cNvSpPr>
            <a:spLocks xmlns:a="http://schemas.openxmlformats.org/drawingml/2006/main" noGrp="1"/>
          </p:cNvSpPr>
          <p:nvPr/>
        </p:nvSpPr>
        <p:spPr>
          <a:xfrm xmlns:a="http://schemas.openxmlformats.org/drawingml/2006/main">
            <a:off x="5842175" y="3583393"/>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reporte concuerda con aquellas bases de datos licenciadas al IFT por </a:t>
            </a:r>
          </a:p>
        </p:txBody>
      </p:sp>
      <p:sp>
        <p:nvSpPr>
          <p:cNvPr id="108" name="LEGALES_TEXTO_90">
            <a:extLst xmlns:a="http://schemas.openxmlformats.org/drawingml/2006/main">
              <a:ext uri="{FF2B5EF4-FFF2-40B4-BE49-F238E27FC236}">
                <a16:creationId xmlns:a16="http://schemas.microsoft.com/office/drawing/2014/main" id="{72EC4A6F-3ED2-4E58-AFD0-DE94CCF8589D}"/>
              </a:ext>
            </a:extLst>
          </p:cNvPr>
          <p:cNvSpPr>
            <a:spLocks xmlns:a="http://schemas.openxmlformats.org/drawingml/2006/main" noGrp="1"/>
          </p:cNvSpPr>
          <p:nvPr/>
        </p:nvSpPr>
        <p:spPr>
          <a:xfrm xmlns:a="http://schemas.openxmlformats.org/drawingml/2006/main">
            <a:off x="5842175" y="3682331"/>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Nielsen IBOPE México, S.A. De C.V.</a:t>
            </a:r>
          </a:p>
        </p:txBody>
      </p:sp>
      <p:sp>
        <p:nvSpPr>
          <p:cNvPr id="109" name="LEGALES_TEXTO_91">
            <a:extLst xmlns:a="http://schemas.openxmlformats.org/drawingml/2006/main">
              <a:ext uri="{FF2B5EF4-FFF2-40B4-BE49-F238E27FC236}">
                <a16:creationId xmlns:a16="http://schemas.microsoft.com/office/drawing/2014/main" id="{3F2B4ADB-6731-4B15-8BCF-82CACFDA0026}"/>
              </a:ext>
            </a:extLst>
          </p:cNvPr>
          <p:cNvSpPr>
            <a:spLocks xmlns:a="http://schemas.openxmlformats.org/drawingml/2006/main" noGrp="1"/>
          </p:cNvSpPr>
          <p:nvPr/>
        </p:nvSpPr>
        <p:spPr>
          <a:xfrm xmlns:a="http://schemas.openxmlformats.org/drawingml/2006/main">
            <a:off x="5842175" y="38312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El Instituto Federal de Telecomunicaciones recuerda al lector que al </a:t>
            </a:r>
          </a:p>
        </p:txBody>
      </p:sp>
      <p:sp>
        <p:nvSpPr>
          <p:cNvPr id="110" name="LEGALES_TEXTO_92">
            <a:extLst xmlns:a="http://schemas.openxmlformats.org/drawingml/2006/main">
              <a:ext uri="{FF2B5EF4-FFF2-40B4-BE49-F238E27FC236}">
                <a16:creationId xmlns:a16="http://schemas.microsoft.com/office/drawing/2014/main" id="{5288253F-5212-4F87-89BF-7C8921D8BEEC}"/>
              </a:ext>
            </a:extLst>
          </p:cNvPr>
          <p:cNvSpPr>
            <a:spLocks xmlns:a="http://schemas.openxmlformats.org/drawingml/2006/main" noGrp="1"/>
          </p:cNvSpPr>
          <p:nvPr/>
        </p:nvSpPr>
        <p:spPr>
          <a:xfrm xmlns:a="http://schemas.openxmlformats.org/drawingml/2006/main">
            <a:off x="5842175" y="3930194"/>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momento de realizar análisis de la información contenida en la presente </a:t>
            </a:r>
          </a:p>
        </p:txBody>
      </p:sp>
      <p:sp>
        <p:nvSpPr>
          <p:cNvPr id="111" name="LEGALES_TEXTO_93">
            <a:extLst xmlns:a="http://schemas.openxmlformats.org/drawingml/2006/main">
              <a:ext uri="{FF2B5EF4-FFF2-40B4-BE49-F238E27FC236}">
                <a16:creationId xmlns:a16="http://schemas.microsoft.com/office/drawing/2014/main" id="{345A5E08-26AF-4BD5-9C20-3E0213E58B83}"/>
              </a:ext>
            </a:extLst>
          </p:cNvPr>
          <p:cNvSpPr>
            <a:spLocks xmlns:a="http://schemas.openxmlformats.org/drawingml/2006/main" noGrp="1"/>
          </p:cNvSpPr>
          <p:nvPr/>
        </p:nvSpPr>
        <p:spPr>
          <a:xfrm xmlns:a="http://schemas.openxmlformats.org/drawingml/2006/main">
            <a:off x="5842175" y="4029119"/>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publicación debe tomar en cuenta la existencia de distintos factores de </a:t>
            </a:r>
          </a:p>
        </p:txBody>
      </p:sp>
      <p:sp>
        <p:nvSpPr>
          <p:cNvPr id="112" name="LEGALES_TEXTO_94">
            <a:extLst xmlns:a="http://schemas.openxmlformats.org/drawingml/2006/main">
              <a:ext uri="{FF2B5EF4-FFF2-40B4-BE49-F238E27FC236}">
                <a16:creationId xmlns:a16="http://schemas.microsoft.com/office/drawing/2014/main" id="{121D9F6A-D871-4639-B011-EDDF2D8B29C1}"/>
              </a:ext>
            </a:extLst>
          </p:cNvPr>
          <p:cNvSpPr>
            <a:spLocks xmlns:a="http://schemas.openxmlformats.org/drawingml/2006/main" noGrp="1"/>
          </p:cNvSpPr>
          <p:nvPr/>
        </p:nvSpPr>
        <p:spPr>
          <a:xfrm xmlns:a="http://schemas.openxmlformats.org/drawingml/2006/main">
            <a:off x="5842175" y="41280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cambio en el mercado televisivo, así como en el estudio de medición de </a:t>
            </a:r>
          </a:p>
        </p:txBody>
      </p:sp>
      <p:sp>
        <p:nvSpPr>
          <p:cNvPr id="113" name="LEGALES_TEXTO_95">
            <a:extLst xmlns:a="http://schemas.openxmlformats.org/drawingml/2006/main">
              <a:ext uri="{FF2B5EF4-FFF2-40B4-BE49-F238E27FC236}">
                <a16:creationId xmlns:a16="http://schemas.microsoft.com/office/drawing/2014/main" id="{8434DF72-DFAD-4AE4-96A9-4821245C8516}"/>
              </a:ext>
            </a:extLst>
          </p:cNvPr>
          <p:cNvSpPr>
            <a:spLocks xmlns:a="http://schemas.openxmlformats.org/drawingml/2006/main" noGrp="1"/>
          </p:cNvSpPr>
          <p:nvPr/>
        </p:nvSpPr>
        <p:spPr>
          <a:xfrm xmlns:a="http://schemas.openxmlformats.org/drawingml/2006/main">
            <a:off x="5842175" y="42269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audiencias de Nielsen IBOPE México, para las conclusiones que se </a:t>
            </a:r>
          </a:p>
        </p:txBody>
      </p:sp>
      <p:sp>
        <p:nvSpPr>
          <p:cNvPr id="114" name="LEGALES_TEXTO_96">
            <a:extLst xmlns:a="http://schemas.openxmlformats.org/drawingml/2006/main">
              <a:ext uri="{FF2B5EF4-FFF2-40B4-BE49-F238E27FC236}">
                <a16:creationId xmlns:a16="http://schemas.microsoft.com/office/drawing/2014/main" id="{529DBD6F-2A47-4BD2-A5F0-B06022B47494}"/>
              </a:ext>
            </a:extLst>
          </p:cNvPr>
          <p:cNvSpPr>
            <a:spLocks xmlns:a="http://schemas.openxmlformats.org/drawingml/2006/main" noGrp="1"/>
          </p:cNvSpPr>
          <p:nvPr/>
        </p:nvSpPr>
        <p:spPr>
          <a:xfrm xmlns:a="http://schemas.openxmlformats.org/drawingml/2006/main">
            <a:off x="5842175" y="43259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formulen con la información reportada en los documentos que emita el </a:t>
            </a:r>
          </a:p>
        </p:txBody>
      </p:sp>
      <p:sp>
        <p:nvSpPr>
          <p:cNvPr id="115" name="LEGALES_TEXTO_97">
            <a:extLst xmlns:a="http://schemas.openxmlformats.org/drawingml/2006/main">
              <a:ext uri="{FF2B5EF4-FFF2-40B4-BE49-F238E27FC236}">
                <a16:creationId xmlns:a16="http://schemas.microsoft.com/office/drawing/2014/main" id="{F978ADF3-A783-4EE0-8C9D-A8A89471E346}"/>
              </a:ext>
            </a:extLst>
          </p:cNvPr>
          <p:cNvSpPr>
            <a:spLocks xmlns:a="http://schemas.openxmlformats.org/drawingml/2006/main" noGrp="1"/>
          </p:cNvSpPr>
          <p:nvPr/>
        </p:nvSpPr>
        <p:spPr>
          <a:xfrm xmlns:a="http://schemas.openxmlformats.org/drawingml/2006/main">
            <a:off x="5842175" y="4424857"/>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Instituto por distintos periodos. El Instituto Federal de </a:t>
            </a:r>
          </a:p>
        </p:txBody>
      </p:sp>
      <p:sp>
        <p:nvSpPr>
          <p:cNvPr id="116" name="LEGALES_TEXTO_98">
            <a:extLst xmlns:a="http://schemas.openxmlformats.org/drawingml/2006/main">
              <a:ext uri="{FF2B5EF4-FFF2-40B4-BE49-F238E27FC236}">
                <a16:creationId xmlns:a16="http://schemas.microsoft.com/office/drawing/2014/main" id="{852B498E-F1A1-41F3-9B39-504CEE4B7610}"/>
              </a:ext>
            </a:extLst>
          </p:cNvPr>
          <p:cNvSpPr>
            <a:spLocks xmlns:a="http://schemas.openxmlformats.org/drawingml/2006/main" noGrp="1"/>
          </p:cNvSpPr>
          <p:nvPr/>
        </p:nvSpPr>
        <p:spPr>
          <a:xfrm xmlns:a="http://schemas.openxmlformats.org/drawingml/2006/main">
            <a:off x="5842175" y="4523795"/>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Telecomunicaciones, derivado de su relación comercial con Nielsen IBOPE </a:t>
            </a:r>
          </a:p>
        </p:txBody>
      </p:sp>
      <p:sp>
        <p:nvSpPr>
          <p:cNvPr id="117" name="LEGALES_TEXTO_99">
            <a:extLst xmlns:a="http://schemas.openxmlformats.org/drawingml/2006/main">
              <a:ext uri="{FF2B5EF4-FFF2-40B4-BE49-F238E27FC236}">
                <a16:creationId xmlns:a16="http://schemas.microsoft.com/office/drawing/2014/main" id="{B58804A9-499F-43A9-8244-2F2FFA638CA6}"/>
              </a:ext>
            </a:extLst>
          </p:cNvPr>
          <p:cNvSpPr>
            <a:spLocks xmlns:a="http://schemas.openxmlformats.org/drawingml/2006/main" noGrp="1"/>
          </p:cNvSpPr>
          <p:nvPr/>
        </p:nvSpPr>
        <p:spPr>
          <a:xfrm xmlns:a="http://schemas.openxmlformats.org/drawingml/2006/main">
            <a:off x="5842175" y="4622720"/>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México, S.A. De C.V. no se hace responsable de la interpretación que </a:t>
            </a:r>
          </a:p>
        </p:txBody>
      </p:sp>
      <p:sp>
        <p:nvSpPr>
          <p:cNvPr id="118" name="LEGALES_TEXTO_100">
            <a:extLst xmlns:a="http://schemas.openxmlformats.org/drawingml/2006/main">
              <a:ext uri="{FF2B5EF4-FFF2-40B4-BE49-F238E27FC236}">
                <a16:creationId xmlns:a16="http://schemas.microsoft.com/office/drawing/2014/main" id="{462D49E8-51DE-40AF-B2E6-14D566BE9440}"/>
              </a:ext>
            </a:extLst>
          </p:cNvPr>
          <p:cNvSpPr>
            <a:spLocks xmlns:a="http://schemas.openxmlformats.org/drawingml/2006/main" noGrp="1"/>
          </p:cNvSpPr>
          <p:nvPr/>
        </p:nvSpPr>
        <p:spPr>
          <a:xfrm xmlns:a="http://schemas.openxmlformats.org/drawingml/2006/main">
            <a:off x="5842175" y="4721658"/>
            <a:ext cx="29464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00">
                <a:solidFill>
                  <a:srgbClr val="263632"/>
                </a:solidFill>
                <a:latin typeface="Noto Sans"/>
                <a:ea typeface="Noto Sans"/>
                <a:cs typeface="Noto Sans"/>
              </a:defRPr>
            </a:pPr>
            <a:r>
              <a:rPr sz="600" b="0" i="0">
                <a:solidFill>
                  <a:srgbClr val="26312F"/>
                </a:solidFill>
                <a:latin typeface="Noto Sans"/>
                <a:ea typeface="Noto Sans"/>
                <a:cs typeface="Noto Sans"/>
              </a:rPr>
              <a:t>terceras personas puedan hacer sobre los datos publicados.</a:t>
            </a:r>
          </a:p>
        </p:txBody>
      </p:sp>
      <p:sp>
        <p:nvSpPr>
          <p:cNvPr id="119" name="ANUARIO_PAGE_NUMBER">
            <a:extLst xmlns:a="http://schemas.openxmlformats.org/drawingml/2006/main">
              <a:ext uri="{FF2B5EF4-FFF2-40B4-BE49-F238E27FC236}">
                <a16:creationId xmlns:a16="http://schemas.microsoft.com/office/drawing/2014/main" id="{15C8D55E-458C-4FD9-96A3-BD9900637CD5}"/>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3</a:t>
            </a:r>
          </a:p>
        </p:txBody>
      </p:sp>
      <p:sp>
        <p:nvSpPr>
          <p:cNvPr id="120" name="LEGALES_EDICION_PIE">
            <a:extLst xmlns:a="http://schemas.openxmlformats.org/drawingml/2006/main">
              <a:ext uri="{FF2B5EF4-FFF2-40B4-BE49-F238E27FC236}">
                <a16:creationId xmlns:a16="http://schemas.microsoft.com/office/drawing/2014/main" id="{4D88EDE6-3043-49E6-BCA2-CBDBB9DB3A4F}"/>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1569216563"/>
      </p:ext>
    </p:extLst>
  </p:cSld>
</p:sld>
</file>

<file path=ppt/slides/slide4.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9d5d72c38924a16"/>
          <a:srcRect xmlns:a="http://schemas.openxmlformats.org/drawingml/2006/main" l="0" t="37" r="0" b="37"/>
          <a:stretch xmlns:a="http://schemas.openxmlformats.org/drawingml/2006/main">
            <a:fillRect l="0" t="0" r="0" b="0"/>
          </a:stretch>
        </p:blipFill>
        <p:spPr>
          <a:xfrm xmlns:a="http://schemas.openxmlformats.org/drawingml/2006/main">
            <a:off x="0" y="0"/>
            <a:ext cx="9143644" cy="456844"/>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c444f1c6cb476e"/>
          <a:srcRect xmlns:a="http://schemas.openxmlformats.org/drawingml/2006/main" l="0" t="156" r="0" b="156"/>
          <a:stretch xmlns:a="http://schemas.openxmlformats.org/drawingml/2006/main">
            <a:fillRect l="0" t="0" r="0" b="0"/>
          </a:stretch>
        </p:blipFill>
        <p:spPr>
          <a:xfrm xmlns:a="http://schemas.openxmlformats.org/drawingml/2006/main">
            <a:off x="0" y="4990683"/>
            <a:ext cx="9143644" cy="151917"/>
          </a:xfrm>
          <a:prstGeom xmlns:a="http://schemas.openxmlformats.org/drawingml/2006/main" prst="rect">
            <a:avLst/>
          </a:prstGeom>
        </p:spPr>
      </p:pic>
      <p:sp>
        <p:nvSpPr>
          <p:cNvPr id="3" name="ANUARIO_QR_FONDO">
            <a:extLst xmlns:a="http://schemas.openxmlformats.org/drawingml/2006/main">
              <a:ext uri="{FF2B5EF4-FFF2-40B4-BE49-F238E27FC236}">
                <a16:creationId xmlns:a16="http://schemas.microsoft.com/office/drawing/2014/main" id="{EE1B343B-CBB7-4ADB-A4DD-3473AA5B9F8E}"/>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5279ff6ee7f4af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298c0e75084c3d"/>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TITULO">
            <a:extLst xmlns:a="http://schemas.openxmlformats.org/drawingml/2006/main">
              <a:ext uri="{FF2B5EF4-FFF2-40B4-BE49-F238E27FC236}">
                <a16:creationId xmlns:a16="http://schemas.microsoft.com/office/drawing/2014/main" id="{E13A28F4-B26D-46B7-A110-4EE4FA2EF88D}"/>
              </a:ext>
            </a:extLst>
          </p:cNvPr>
          <p:cNvSpPr>
            <a:spLocks xmlns:a="http://schemas.openxmlformats.org/drawingml/2006/main" noGrp="1"/>
          </p:cNvSpPr>
          <p:nvPr/>
        </p:nvSpPr>
        <p:spPr>
          <a:xfrm xmlns:a="http://schemas.openxmlformats.org/drawingml/2006/main">
            <a:off x="304800" y="1270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a:solidFill>
                  <a:srgbClr val="FFFFFF"/>
                </a:solidFill>
                <a:latin typeface="Noto Sans"/>
                <a:ea typeface="Noto Sans"/>
                <a:cs typeface="Noto Sans"/>
              </a:defRPr>
            </a:pPr>
            <a:r>
              <a:rPr sz="1500" b="1">
                <a:solidFill>
                  <a:srgbClr val="FFFFFF"/>
                </a:solidFill>
                <a:latin typeface="Noto Sans"/>
                <a:ea typeface="Noto Sans"/>
                <a:cs typeface="Noto Sans"/>
              </a:rPr>
              <a:t>LEGALES</a:t>
            </a:r>
          </a:p>
        </p:txBody>
      </p:sp>
      <p:sp>
        <p:nvSpPr>
          <p:cNvPr id="7" name="ANUARIO_ENCABEZADO_1">
            <a:extLst xmlns:a="http://schemas.openxmlformats.org/drawingml/2006/main">
              <a:ext uri="{FF2B5EF4-FFF2-40B4-BE49-F238E27FC236}">
                <a16:creationId xmlns:a16="http://schemas.microsoft.com/office/drawing/2014/main" id="{C4F4D267-61DF-4126-BBDD-0A466628648D}"/>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8" name="ANUARIO_ENCABEZADO_2">
            <a:extLst xmlns:a="http://schemas.openxmlformats.org/drawingml/2006/main">
              <a:ext uri="{FF2B5EF4-FFF2-40B4-BE49-F238E27FC236}">
                <a16:creationId xmlns:a16="http://schemas.microsoft.com/office/drawing/2014/main" id="{5B40B105-5F7E-4F78-8C44-8648894E5734}"/>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44a62cbf7b934b2e"/>
              </a:rPr>
              <a:t>BIT CRT · bit.crt.gob.mx/BitWebApp</a:t>
            </a:r>
          </a:p>
        </p:txBody>
      </p:sp>
      <p:sp>
        <p:nvSpPr>
          <p:cNvPr id="9" name="ANUARIO_PAGE_NUMBER">
            <a:extLst xmlns:a="http://schemas.openxmlformats.org/drawingml/2006/main">
              <a:ext uri="{FF2B5EF4-FFF2-40B4-BE49-F238E27FC236}">
                <a16:creationId xmlns:a16="http://schemas.microsoft.com/office/drawing/2014/main" id="{33691248-A250-49AD-A4F7-917A83E6C27F}"/>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FFFFFF"/>
                </a:solidFill>
                <a:latin typeface="Noto Sans"/>
                <a:ea typeface="Noto Sans"/>
                <a:cs typeface="Noto Sans"/>
              </a:defRPr>
            </a:pPr>
            <a:r>
              <a:rPr sz="700" b="1">
                <a:solidFill>
                  <a:srgbClr val="FFFFFF"/>
                </a:solidFill>
                <a:latin typeface="Noto Sans"/>
                <a:ea typeface="Noto Sans"/>
                <a:cs typeface="Noto Sans"/>
              </a:rPr>
              <a:t>4</a:t>
            </a:r>
          </a:p>
        </p:txBody>
      </p:sp>
      <p:sp>
        <p:nvSpPr>
          <p:cNvPr id="10" name="ANUARIO_EDICION_PIE">
            <a:extLst xmlns:a="http://schemas.openxmlformats.org/drawingml/2006/main">
              <a:ext uri="{FF2B5EF4-FFF2-40B4-BE49-F238E27FC236}">
                <a16:creationId xmlns:a16="http://schemas.microsoft.com/office/drawing/2014/main" id="{A167F292-1B2D-4E85-8DB7-8EFF6FC0870E}"/>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FFFFFF"/>
                </a:solidFill>
                <a:latin typeface="Noto Sans"/>
                <a:ea typeface="Noto Sans"/>
                <a:cs typeface="Noto Sans"/>
              </a:defRPr>
            </a:pPr>
            <a:r>
              <a:rPr sz="565">
                <a:solidFill>
                  <a:srgbClr val="FFFFFF"/>
                </a:solidFill>
                <a:latin typeface="Noto Sans"/>
                <a:ea typeface="Noto Sans"/>
                <a:cs typeface="Noto Sans"/>
              </a:rPr>
              <a:t>A N U A R I O   E S T A D Í S T I C O   2 0 2 6</a:t>
            </a:r>
          </a:p>
        </p:txBody>
      </p:sp>
      <p:sp xmlns:a="http://schemas.openxmlformats.org/drawingml/2006/main">
        <p:nvSpPr>
          <p:cNvPr id="16" name="ANUARIO_LEGALES_CONT_DESIGN_2026"/>
          <p:cNvSpPr txBox="1"/>
          <p:nvPr/>
        </p:nvSpPr>
        <p:spPr>
          <a:xfrm>
            <a:off x="2709365" y="947629"/>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Adicional a estas consideraciones, es importante mencionar que el año 2016 se identifica como un periodo de adaptación para los hogares frente a </a:t>
            </a:r>
          </a:p>
        </p:txBody>
      </p:sp>
      <p:sp xmlns:a="http://schemas.openxmlformats.org/drawingml/2006/main">
        <p:nvSpPr>
          <p:cNvPr id="17" name="ANUARIO_REFERENCIA_2024_P4_L002"/>
          <p:cNvSpPr txBox="1"/>
          <p:nvPr/>
        </p:nvSpPr>
        <p:spPr>
          <a:xfrm>
            <a:off x="2709365" y="1050181"/>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los cambios presentados por el apagón analógico; por lo cual no podrá ser comparado con el total de los años anteriores, ni realizar comparaciones </a:t>
            </a:r>
          </a:p>
        </p:txBody>
      </p:sp>
      <p:sp xmlns:a="http://schemas.openxmlformats.org/drawingml/2006/main">
        <p:nvSpPr>
          <p:cNvPr id="18" name="ANUARIO_REFERENCIA_2024_P4_L003"/>
          <p:cNvSpPr txBox="1"/>
          <p:nvPr/>
        </p:nvSpPr>
        <p:spPr>
          <a:xfrm>
            <a:off x="2709365" y="1152732"/>
            <a:ext cx="423832"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lineales.</a:t>
            </a:r>
          </a:p>
        </p:txBody>
      </p:sp>
      <p:sp xmlns:a="http://schemas.openxmlformats.org/drawingml/2006/main">
        <p:nvSpPr>
          <p:cNvPr id="19" name="ANUARIO_REFERENCIA_2024_P4_L004"/>
          <p:cNvSpPr txBox="1"/>
          <p:nvPr/>
        </p:nvSpPr>
        <p:spPr>
          <a:xfrm>
            <a:off x="2709365" y="1357836"/>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También es importante considerar que en los análisis realizados a partir del 2017 y 2018 las Bases de Datos que contienen información de audiencias </a:t>
            </a:r>
          </a:p>
        </p:txBody>
      </p:sp>
      <p:sp xmlns:a="http://schemas.openxmlformats.org/drawingml/2006/main">
        <p:nvSpPr>
          <p:cNvPr id="20" name="ANUARIO_REFERENCIA_2024_P4_L005"/>
          <p:cNvSpPr txBox="1"/>
          <p:nvPr/>
        </p:nvSpPr>
        <p:spPr>
          <a:xfrm>
            <a:off x="2709365" y="1460388"/>
            <a:ext cx="6023154" cy="135764"/>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de televisión, son un producto nuevo mediante el cual Nielsen IBOPE compila su información y que son distintas de aquellas que hasta el año </a:t>
            </a:r>
          </a:p>
        </p:txBody>
      </p:sp>
      <p:sp xmlns:a="http://schemas.openxmlformats.org/drawingml/2006/main">
        <p:nvSpPr>
          <p:cNvPr id="21" name="ANUARIO_REFERENCIA_2024_P4_L006"/>
          <p:cNvSpPr txBox="1"/>
          <p:nvPr/>
        </p:nvSpPr>
        <p:spPr>
          <a:xfrm>
            <a:off x="2709365" y="1562939"/>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2016 pudo haber licenciado al IFT, esto ya que a partir del 1 de enero de 2017 se cuenta con nuevos elementos para su definición y asignación, </a:t>
            </a:r>
          </a:p>
        </p:txBody>
      </p:sp>
      <p:sp xmlns:a="http://schemas.openxmlformats.org/drawingml/2006/main">
        <p:nvSpPr>
          <p:cNvPr id="22" name="ANUARIO_REFERENCIA_2024_P4_L007"/>
          <p:cNvSpPr txBox="1"/>
          <p:nvPr/>
        </p:nvSpPr>
        <p:spPr>
          <a:xfrm>
            <a:off x="2709365" y="1665491"/>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como son los aspectos tecnológicos y de definición de hogares; por lo cual no podrá ser comparado con el total de los años anteriores, ni realizar </a:t>
            </a:r>
          </a:p>
        </p:txBody>
      </p:sp>
      <p:sp xmlns:a="http://schemas.openxmlformats.org/drawingml/2006/main">
        <p:nvSpPr>
          <p:cNvPr id="23" name="ANUARIO_REFERENCIA_2024_P4_L008"/>
          <p:cNvSpPr txBox="1"/>
          <p:nvPr/>
        </p:nvSpPr>
        <p:spPr>
          <a:xfrm>
            <a:off x="2709365" y="1768043"/>
            <a:ext cx="1073208"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comparaciones lineales.</a:t>
            </a:r>
          </a:p>
        </p:txBody>
      </p:sp>
      <p:sp xmlns:a="http://schemas.openxmlformats.org/drawingml/2006/main">
        <p:nvSpPr>
          <p:cNvPr id="24" name="ANUARIO_REFERENCIA_2024_P4_L009"/>
          <p:cNvSpPr txBox="1"/>
          <p:nvPr/>
        </p:nvSpPr>
        <p:spPr>
          <a:xfrm>
            <a:off x="2709365" y="1973146"/>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El lector puede consultar las recomendaciones respecto al uso de la información propiedad de Nielsen IBOPE México, S.A. De C.V. contenidas en </a:t>
            </a:r>
          </a:p>
        </p:txBody>
      </p:sp>
      <p:sp xmlns:a="http://schemas.openxmlformats.org/drawingml/2006/main">
        <p:nvSpPr>
          <p:cNvPr id="25" name="ANUARIO_REFERENCIA_2024_P4_L010"/>
          <p:cNvSpPr txBox="1"/>
          <p:nvPr/>
        </p:nvSpPr>
        <p:spPr>
          <a:xfrm>
            <a:off x="2709365" y="2075698"/>
            <a:ext cx="6023154" cy="135763"/>
          </a:xfrm>
          <a:prstGeom prst="rect">
            <a:avLst/>
          </a:prstGeom>
          <a:noFill/>
        </p:spPr>
        <p:txBody>
          <a:bodyPr wrap="none" anchor="t" lIns="0" rIns="0" tIns="0" bIns="0">
            <a:noAutofit/>
          </a:bodyPr>
          <a:lstStyle/>
          <a:p>
            <a:pPr>
              <a:spcBef>
                <a:spcPts val="0"/>
              </a:spcBef>
              <a:spcAft>
                <a:spcPts val="0"/>
              </a:spcAft>
            </a:pPr>
            <a:r>
              <a:rPr sz="688" b="0" i="0">
                <a:solidFill>
                  <a:srgbClr val="1C2829"/>
                </a:solidFill>
                <a:latin typeface="Noto Sans"/>
              </a:rPr>
              <a:t>la “Guía para el uso de datos de audiencia Nielsen IBOPE México” que puede descargar descargar en </a:t>
            </a:r>
            <a:r>
              <a:rPr sz="688" b="0" i="0">
                <a:solidFill>
                  <a:srgbClr val="0563C1"/>
                </a:solidFill>
                <a:latin typeface="Noto Sans"/>
              </a:rPr>
              <a:t>https://www.nielsenibope.com/wp-content/</a:t>
            </a:r>
          </a:p>
        </p:txBody>
      </p:sp>
      <p:sp xmlns:a="http://schemas.openxmlformats.org/drawingml/2006/main">
        <p:nvSpPr>
          <p:cNvPr id="26" name="ANUARIO_REFERENCIA_2024_P4_L011"/>
          <p:cNvSpPr txBox="1"/>
          <p:nvPr/>
        </p:nvSpPr>
        <p:spPr>
          <a:xfrm>
            <a:off x="2709365" y="2178249"/>
            <a:ext cx="3098689" cy="135763"/>
          </a:xfrm>
          <a:prstGeom prst="rect">
            <a:avLst/>
          </a:prstGeom>
          <a:noFill/>
        </p:spPr>
        <p:txBody>
          <a:bodyPr wrap="none" anchor="t" lIns="0" rIns="0" tIns="0" bIns="0">
            <a:noAutofit/>
          </a:bodyPr>
          <a:lstStyle/>
          <a:p>
            <a:pPr>
              <a:spcBef>
                <a:spcPts val="0"/>
              </a:spcBef>
              <a:spcAft>
                <a:spcPts val="0"/>
              </a:spcAft>
            </a:pPr>
            <a:r>
              <a:rPr sz="688" b="0" i="0">
                <a:solidFill>
                  <a:srgbClr val="0563C1"/>
                </a:solidFill>
                <a:latin typeface="Noto Sans"/>
              </a:rPr>
              <a:t>uploads/sites/14/2020/08/Gui%CC%81a-de-uso-de-datos-NIM-2020.pdf</a:t>
            </a:r>
            <a:r>
              <a:rPr sz="688" b="0" i="0">
                <a:solidFill>
                  <a:srgbClr val="1C2829"/>
                </a:solidFill>
                <a:latin typeface="Noto Sans"/>
              </a:rPr>
              <a:t>.</a:t>
            </a:r>
          </a:p>
        </p:txBody>
      </p:sp>
    </p:spTree>
    <p:extLst>
      <p:ext uri="{BB962C8B-B14F-4D97-AF65-F5344CB8AC3E}">
        <p14:creationId xmlns:p14="http://schemas.microsoft.com/office/powerpoint/2010/main" val="323097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5.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d0c2a94fb7504565"/>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053ec0800dab470a"/>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b21366084f1421c"/>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30bbdc5925644f1f"/>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A52027BC-6A47-44A1-AAA5-072193A5651E}"/>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ECE57C74-B73B-4552-96C1-368EF002ADA5}"/>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CD640ADB-FF74-4F25-BE94-FCCC658AC292}"/>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063e77096b704b59"/>
              </a:rPr>
              <a:t>BIT CRT · bit.crt.gob.mx/BitWebApp</a:t>
            </a:r>
          </a:p>
        </p:txBody>
      </p:sp>
      <p:sp>
        <p:nvSpPr>
          <p:cNvPr id="8" name="GLOSARIO_LATERAL_RECTO">
            <a:extLst xmlns:a="http://schemas.openxmlformats.org/drawingml/2006/main">
              <a:ext uri="{FF2B5EF4-FFF2-40B4-BE49-F238E27FC236}">
                <a16:creationId xmlns:a16="http://schemas.microsoft.com/office/drawing/2014/main" id="{699C2FCA-C9C4-4AF6-ABA6-D6F2BFCD49D1}"/>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0AC81507-881F-4EDF-BB67-8DF3A81185E3}"/>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f7ecf3039b54788"/>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ca2af74a4db24cd7">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0E6172A9-F67F-4B8E-90F9-C32B5388C9C6}"/>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141D10EE-5C75-47C0-B92C-5F63A861D14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17eda56c66264122">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1A92E49E-789C-4286-A024-BA5584A5F2A8}"/>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0C260FF1-6926-4D51-98D7-271F4E65104F}"/>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pic>
        <p:nvPicPr>
          <p:cNvPr id="72" name=""/>
          <p:cNvPicPr>
            <a:picLocks xmlns:a="http://schemas.openxmlformats.org/drawingml/2006/main" noChangeAspect="1"/>
          </p:cNvPicPr>
          <p:nvPr/>
        </p:nvPicPr>
        <p:blipFill>
          <a:blip xmlns:r="http://schemas.openxmlformats.org/officeDocument/2006/relationships" xmlns:a="http://schemas.openxmlformats.org/drawingml/2006/main" r:embed="R0598c2e78d6345bf">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8" name="ANUARIO_GLOSARIO_DESIGN_2026">
            <a:extLst xmlns:a="http://schemas.openxmlformats.org/drawingml/2006/main">
              <a:ext uri="{FF2B5EF4-FFF2-40B4-BE49-F238E27FC236}">
                <a16:creationId xmlns:a16="http://schemas.microsoft.com/office/drawing/2014/main" id="{48BA1C1B-8330-4327-9FCE-B139C29FE229}"/>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19" name="GLOSARIO_DIVISOR_COLUMNAS">
            <a:extLst xmlns:a="http://schemas.openxmlformats.org/drawingml/2006/main">
              <a:ext uri="{FF2B5EF4-FFF2-40B4-BE49-F238E27FC236}">
                <a16:creationId xmlns:a16="http://schemas.microsoft.com/office/drawing/2014/main" id="{98822660-0FB6-438D-AE91-8F863314B2FC}"/>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0" name="GLOSARIO_left_1_1">
            <a:extLst xmlns:a="http://schemas.openxmlformats.org/drawingml/2006/main">
              <a:ext uri="{FF2B5EF4-FFF2-40B4-BE49-F238E27FC236}">
                <a16:creationId xmlns:a16="http://schemas.microsoft.com/office/drawing/2014/main" id="{D2E84C62-40C7-4290-8F1D-BDCC6C2944DD}"/>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ARPU: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promedio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suscriptor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Average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Revenue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User</a:t>
            </a:r>
            <a:r>
              <a:rPr sz="720" b="0" i="0">
                <a:solidFill>
                  <a:srgbClr val="263632"/>
                </a:solidFill>
                <a:latin typeface="Noto Sans"/>
                <a:ea typeface="Noto Sans"/>
                <a:cs typeface="Noto Sans"/>
              </a:rPr>
              <a:t>,</a:t>
            </a:r>
          </a:p>
        </p:txBody>
      </p:sp>
      <p:sp>
        <p:nvSpPr>
          <p:cNvPr id="21" name="GLOSARIO_left_1_2">
            <a:extLst xmlns:a="http://schemas.openxmlformats.org/drawingml/2006/main">
              <a:ext uri="{FF2B5EF4-FFF2-40B4-BE49-F238E27FC236}">
                <a16:creationId xmlns:a16="http://schemas.microsoft.com/office/drawing/2014/main" id="{30652296-330A-4FAC-A15A-D8FBCE001304}"/>
              </a:ext>
            </a:extLst>
          </p:cNvPr>
          <p:cNvSpPr>
            <a:spLocks xmlns:a="http://schemas.openxmlformats.org/drawingml/2006/main" noGrp="1"/>
          </p:cNvSpPr>
          <p:nvPr/>
        </p:nvSpPr>
        <p:spPr>
          <a:xfrm xmlns:a="http://schemas.openxmlformats.org/drawingml/2006/main">
            <a:off x="2742844"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ARPU)</a:t>
            </a:r>
          </a:p>
        </p:txBody>
      </p:sp>
      <p:sp>
        <p:nvSpPr>
          <p:cNvPr id="22" name="GLOSARIO_left_2_1">
            <a:extLst xmlns:a="http://schemas.openxmlformats.org/drawingml/2006/main">
              <a:ext uri="{FF2B5EF4-FFF2-40B4-BE49-F238E27FC236}">
                <a16:creationId xmlns:a16="http://schemas.microsoft.com/office/drawing/2014/main" id="{071C1390-31F8-4B69-AAD9-43F652A30DFB}"/>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BARD</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DE</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GOOGLE: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23" name="GLOSARIO_left_2_2">
            <a:extLst xmlns:a="http://schemas.openxmlformats.org/drawingml/2006/main">
              <a:ext uri="{FF2B5EF4-FFF2-40B4-BE49-F238E27FC236}">
                <a16:creationId xmlns:a16="http://schemas.microsoft.com/office/drawing/2014/main" id="{EEC876AC-76F1-4063-9597-B1F5984C4BEC}"/>
              </a:ext>
            </a:extLst>
          </p:cNvPr>
          <p:cNvSpPr>
            <a:spLocks xmlns:a="http://schemas.openxmlformats.org/drawingml/2006/main" noGrp="1"/>
          </p:cNvSpPr>
          <p:nvPr/>
        </p:nvSpPr>
        <p:spPr>
          <a:xfrm xmlns:a="http://schemas.openxmlformats.org/drawingml/2006/main">
            <a:off x="2742844" y="18465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Google</a:t>
            </a:r>
          </a:p>
        </p:txBody>
      </p:sp>
      <p:sp>
        <p:nvSpPr>
          <p:cNvPr id="24" name="GLOSARIO_left_3_1">
            <a:extLst xmlns:a="http://schemas.openxmlformats.org/drawingml/2006/main">
              <a:ext uri="{FF2B5EF4-FFF2-40B4-BE49-F238E27FC236}">
                <a16:creationId xmlns:a16="http://schemas.microsoft.com/office/drawing/2014/main" id="{78C9500A-426C-4134-A665-7DDE8E460DD7}"/>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BEAUTIFUL.AI: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Herramienta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presentación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p>
        </p:txBody>
      </p:sp>
      <p:sp>
        <p:nvSpPr>
          <p:cNvPr id="25" name="GLOSARIO_left_3_2">
            <a:extLst xmlns:a="http://schemas.openxmlformats.org/drawingml/2006/main">
              <a:ext uri="{FF2B5EF4-FFF2-40B4-BE49-F238E27FC236}">
                <a16:creationId xmlns:a16="http://schemas.microsoft.com/office/drawing/2014/main" id="{113D92FC-BFBB-4B46-89CF-860F59A582EC}"/>
              </a:ext>
            </a:extLst>
          </p:cNvPr>
          <p:cNvSpPr>
            <a:spLocks xmlns:a="http://schemas.openxmlformats.org/drawingml/2006/main" noGrp="1"/>
          </p:cNvSpPr>
          <p:nvPr/>
        </p:nvSpPr>
        <p:spPr>
          <a:xfrm xmlns:a="http://schemas.openxmlformats.org/drawingml/2006/main">
            <a:off x="2742844" y="21590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Artificial</a:t>
            </a:r>
          </a:p>
        </p:txBody>
      </p:sp>
      <p:sp>
        <p:nvSpPr>
          <p:cNvPr id="26" name="GLOSARIO_left_4_1">
            <a:extLst xmlns:a="http://schemas.openxmlformats.org/drawingml/2006/main">
              <a:ext uri="{FF2B5EF4-FFF2-40B4-BE49-F238E27FC236}">
                <a16:creationId xmlns:a16="http://schemas.microsoft.com/office/drawing/2014/main" id="{A623A67D-3CA0-48C2-BC55-A11A4C8EEFB7}"/>
              </a:ext>
            </a:extLst>
          </p:cNvPr>
          <p:cNvSpPr>
            <a:spLocks xmlns:a="http://schemas.openxmlformats.org/drawingml/2006/main" noGrp="1"/>
          </p:cNvSpPr>
          <p:nvPr/>
        </p:nvSpPr>
        <p:spPr>
          <a:xfrm xmlns:a="http://schemas.openxmlformats.org/drawingml/2006/main">
            <a:off x="2742844" y="23596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BIT: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Banco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27" name="GLOSARIO_left_5_1">
            <a:extLst xmlns:a="http://schemas.openxmlformats.org/drawingml/2006/main">
              <a:ext uri="{FF2B5EF4-FFF2-40B4-BE49-F238E27FC236}">
                <a16:creationId xmlns:a16="http://schemas.microsoft.com/office/drawing/2014/main" id="{39A0E94F-063D-4270-8C59-957AA6D65884}"/>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BRAND24:</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Software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monitorear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identificar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eventos</a:t>
            </a:r>
          </a:p>
        </p:txBody>
      </p:sp>
      <p:sp>
        <p:nvSpPr>
          <p:cNvPr id="28" name="GLOSARIO_left_5_2">
            <a:extLst xmlns:a="http://schemas.openxmlformats.org/drawingml/2006/main">
              <a:ext uri="{FF2B5EF4-FFF2-40B4-BE49-F238E27FC236}">
                <a16:creationId xmlns:a16="http://schemas.microsoft.com/office/drawing/2014/main" id="{0914911E-23EA-45D3-8B23-C5CF11DE2D54}"/>
              </a:ext>
            </a:extLst>
          </p:cNvPr>
          <p:cNvSpPr>
            <a:spLocks xmlns:a="http://schemas.openxmlformats.org/drawingml/2006/main" noGrp="1"/>
          </p:cNvSpPr>
          <p:nvPr/>
        </p:nvSpPr>
        <p:spPr>
          <a:xfrm xmlns:a="http://schemas.openxmlformats.org/drawingml/2006/main">
            <a:off x="2742844" y="26720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relacionados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p>
        </p:txBody>
      </p:sp>
      <p:sp>
        <p:nvSpPr>
          <p:cNvPr id="29" name="GLOSARIO_left_6_1">
            <a:extLst xmlns:a="http://schemas.openxmlformats.org/drawingml/2006/main">
              <a:ext uri="{FF2B5EF4-FFF2-40B4-BE49-F238E27FC236}">
                <a16:creationId xmlns:a16="http://schemas.microsoft.com/office/drawing/2014/main" id="{D2C5D36A-B9F7-4821-86A5-0F9149E4AFA0}"/>
              </a:ext>
            </a:extLst>
          </p:cNvPr>
          <p:cNvSpPr>
            <a:spLocks xmlns:a="http://schemas.openxmlformats.org/drawingml/2006/main" noGrp="1"/>
          </p:cNvSpPr>
          <p:nvPr/>
        </p:nvSpPr>
        <p:spPr>
          <a:xfrm xmlns:a="http://schemas.openxmlformats.org/drawingml/2006/main">
            <a:off x="2742844" y="28727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CANVA: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Web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diseño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gráfico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imágenes</a:t>
            </a:r>
          </a:p>
        </p:txBody>
      </p:sp>
      <p:sp>
        <p:nvSpPr>
          <p:cNvPr id="30" name="GLOSARIO_left_7_1">
            <a:extLst xmlns:a="http://schemas.openxmlformats.org/drawingml/2006/main">
              <a:ext uri="{FF2B5EF4-FFF2-40B4-BE49-F238E27FC236}">
                <a16:creationId xmlns:a16="http://schemas.microsoft.com/office/drawing/2014/main" id="{B6202D1B-723D-482A-8CB6-6F8BA8F3E10D}"/>
              </a:ext>
            </a:extLst>
          </p:cNvPr>
          <p:cNvSpPr>
            <a:spLocks xmlns:a="http://schemas.openxmlformats.org/drawingml/2006/main" noGrp="1"/>
          </p:cNvSpPr>
          <p:nvPr/>
        </p:nvSpPr>
        <p:spPr>
          <a:xfrm xmlns:a="http://schemas.openxmlformats.org/drawingml/2006/main">
            <a:off x="2742844" y="3073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CONAPO: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Consejo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p>
        </p:txBody>
      </p:sp>
      <p:sp>
        <p:nvSpPr>
          <p:cNvPr id="31" name="GLOSARIO_left_8_1">
            <a:extLst xmlns:a="http://schemas.openxmlformats.org/drawingml/2006/main">
              <a:ext uri="{FF2B5EF4-FFF2-40B4-BE49-F238E27FC236}">
                <a16:creationId xmlns:a16="http://schemas.microsoft.com/office/drawing/2014/main" id="{704296A2-A02D-4998-8265-C9E12157DEC3}"/>
              </a:ext>
            </a:extLst>
          </p:cNvPr>
          <p:cNvSpPr>
            <a:spLocks xmlns:a="http://schemas.openxmlformats.org/drawingml/2006/main" noGrp="1"/>
          </p:cNvSpPr>
          <p:nvPr/>
        </p:nvSpPr>
        <p:spPr>
          <a:xfrm xmlns:a="http://schemas.openxmlformats.org/drawingml/2006/main">
            <a:off x="2742844" y="3274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Planeación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Estratégica</a:t>
            </a:r>
          </a:p>
        </p:txBody>
      </p:sp>
      <p:sp>
        <p:nvSpPr>
          <p:cNvPr id="32" name="GLOSARIO_left_9_1">
            <a:extLst xmlns:a="http://schemas.openxmlformats.org/drawingml/2006/main">
              <a:ext uri="{FF2B5EF4-FFF2-40B4-BE49-F238E27FC236}">
                <a16:creationId xmlns:a16="http://schemas.microsoft.com/office/drawing/2014/main" id="{4D97EECB-4D8F-48E3-90A5-9E7B2E336241}"/>
              </a:ext>
            </a:extLst>
          </p:cNvPr>
          <p:cNvSpPr>
            <a:spLocks xmlns:a="http://schemas.openxmlformats.org/drawingml/2006/main" noGrp="1"/>
          </p:cNvSpPr>
          <p:nvPr/>
        </p:nvSpPr>
        <p:spPr>
          <a:xfrm xmlns:a="http://schemas.openxmlformats.org/drawingml/2006/main">
            <a:off x="2742844" y="34747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CGPU: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Coordinación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Política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a:t>
            </a:r>
          </a:p>
        </p:txBody>
      </p:sp>
      <p:sp>
        <p:nvSpPr>
          <p:cNvPr id="33" name="GLOSARIO_left_10_1">
            <a:extLst xmlns:a="http://schemas.openxmlformats.org/drawingml/2006/main">
              <a:ext uri="{FF2B5EF4-FFF2-40B4-BE49-F238E27FC236}">
                <a16:creationId xmlns:a16="http://schemas.microsoft.com/office/drawing/2014/main" id="{792FAAF8-9AC2-4CBA-B81B-54B850F3F4B7}"/>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CHATGPT: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generativo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pre-entrenado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Chat</a:t>
            </a:r>
          </a:p>
        </p:txBody>
      </p:sp>
      <p:sp>
        <p:nvSpPr>
          <p:cNvPr id="34" name="GLOSARIO_left_10_2">
            <a:extLst xmlns:a="http://schemas.openxmlformats.org/drawingml/2006/main">
              <a:ext uri="{FF2B5EF4-FFF2-40B4-BE49-F238E27FC236}">
                <a16:creationId xmlns:a16="http://schemas.microsoft.com/office/drawing/2014/main" id="{5E005B0F-6756-43CD-902B-628938E1FF63}"/>
              </a:ext>
            </a:extLst>
          </p:cNvPr>
          <p:cNvSpPr>
            <a:spLocks xmlns:a="http://schemas.openxmlformats.org/drawingml/2006/main" noGrp="1"/>
          </p:cNvSpPr>
          <p:nvPr/>
        </p:nvSpPr>
        <p:spPr>
          <a:xfrm xmlns:a="http://schemas.openxmlformats.org/drawingml/2006/main">
            <a:off x="2742844" y="3787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Generative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Pre-Trained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Transformer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5" name="GLOSARIO_left_11_1">
            <a:extLst xmlns:a="http://schemas.openxmlformats.org/drawingml/2006/main">
              <a:ext uri="{FF2B5EF4-FFF2-40B4-BE49-F238E27FC236}">
                <a16:creationId xmlns:a16="http://schemas.microsoft.com/office/drawing/2014/main" id="{56321304-CD8C-4028-9F86-45BE92FCDC6E}"/>
              </a:ext>
            </a:extLst>
          </p:cNvPr>
          <p:cNvSpPr>
            <a:spLocks xmlns:a="http://schemas.openxmlformats.org/drawingml/2006/main" noGrp="1"/>
          </p:cNvSpPr>
          <p:nvPr/>
        </p:nvSpPr>
        <p:spPr>
          <a:xfrm xmlns:a="http://schemas.openxmlformats.org/drawingml/2006/main">
            <a:off x="2742844" y="3987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DENUE: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Directorio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36" name="GLOSARIO_left_12_1">
            <a:extLst xmlns:a="http://schemas.openxmlformats.org/drawingml/2006/main">
              <a:ext uri="{FF2B5EF4-FFF2-40B4-BE49-F238E27FC236}">
                <a16:creationId xmlns:a16="http://schemas.microsoft.com/office/drawing/2014/main" id="{076C8C86-41EA-4950-98E3-1B2ACC5BE94A}"/>
              </a:ext>
            </a:extLst>
          </p:cNvPr>
          <p:cNvSpPr>
            <a:spLocks xmlns:a="http://schemas.openxmlformats.org/drawingml/2006/main" noGrp="1"/>
          </p:cNvSpPr>
          <p:nvPr/>
        </p:nvSpPr>
        <p:spPr>
          <a:xfrm xmlns:a="http://schemas.openxmlformats.org/drawingml/2006/main">
            <a:off x="2742844" y="41884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DSL: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suscripción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Suscriber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Line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37" name="GLOSARIO_left_12_2">
            <a:extLst xmlns:a="http://schemas.openxmlformats.org/drawingml/2006/main">
              <a:ext uri="{FF2B5EF4-FFF2-40B4-BE49-F238E27FC236}">
                <a16:creationId xmlns:a16="http://schemas.microsoft.com/office/drawing/2014/main" id="{4C2B7A6A-9BBA-4A0D-B1A9-E321CF251DA1}"/>
              </a:ext>
            </a:extLst>
          </p:cNvPr>
          <p:cNvSpPr>
            <a:spLocks xmlns:a="http://schemas.openxmlformats.org/drawingml/2006/main" noGrp="1"/>
          </p:cNvSpPr>
          <p:nvPr/>
        </p:nvSpPr>
        <p:spPr>
          <a:xfrm xmlns:a="http://schemas.openxmlformats.org/drawingml/2006/main">
            <a:off x="2742844" y="4300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DSL)</a:t>
            </a:r>
          </a:p>
        </p:txBody>
      </p:sp>
      <p:sp>
        <p:nvSpPr>
          <p:cNvPr id="38" name="GLOSARIO_right_1_1">
            <a:extLst xmlns:a="http://schemas.openxmlformats.org/drawingml/2006/main">
              <a:ext uri="{FF2B5EF4-FFF2-40B4-BE49-F238E27FC236}">
                <a16:creationId xmlns:a16="http://schemas.microsoft.com/office/drawing/2014/main" id="{262187B2-9926-42D7-8E5C-92613FB92745}"/>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ENDUTIH: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Disponibilidad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DD04441E-F2E8-4281-BBF0-B179206D87BE}"/>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0" name="GLOSARIO_right_2_1">
            <a:extLst xmlns:a="http://schemas.openxmlformats.org/drawingml/2006/main">
              <a:ext uri="{FF2B5EF4-FFF2-40B4-BE49-F238E27FC236}">
                <a16:creationId xmlns:a16="http://schemas.microsoft.com/office/drawing/2014/main" id="{B3DE5079-6828-4F4E-A61B-3C86A4FD163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ENIGH: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Ingresos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Gastos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Hogares</a:t>
            </a:r>
          </a:p>
        </p:txBody>
      </p:sp>
      <p:sp>
        <p:nvSpPr>
          <p:cNvPr id="41" name="GLOSARIO_right_3_1">
            <a:extLst xmlns:a="http://schemas.openxmlformats.org/drawingml/2006/main">
              <a:ext uri="{FF2B5EF4-FFF2-40B4-BE49-F238E27FC236}">
                <a16:creationId xmlns:a16="http://schemas.microsoft.com/office/drawing/2014/main" id="{DF7A6659-582D-44F8-9C37-8ABAA85AF30F}"/>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ENOE: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Encuesta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Ocupación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Empleo</a:t>
            </a:r>
          </a:p>
        </p:txBody>
      </p:sp>
      <p:sp>
        <p:nvSpPr>
          <p:cNvPr id="42" name="GLOSARIO_right_4_1">
            <a:extLst xmlns:a="http://schemas.openxmlformats.org/drawingml/2006/main">
              <a:ext uri="{FF2B5EF4-FFF2-40B4-BE49-F238E27FC236}">
                <a16:creationId xmlns:a16="http://schemas.microsoft.com/office/drawing/2014/main" id="{29682737-2AB5-434B-B2DE-E4A98254AF89}"/>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p>
        </p:txBody>
      </p:sp>
      <p:sp>
        <p:nvSpPr>
          <p:cNvPr id="43" name="GLOSARIO_right_5_1">
            <a:extLst xmlns:a="http://schemas.openxmlformats.org/drawingml/2006/main">
              <a:ext uri="{FF2B5EF4-FFF2-40B4-BE49-F238E27FC236}">
                <a16:creationId xmlns:a16="http://schemas.microsoft.com/office/drawing/2014/main" id="{DC9ABA5C-049E-49B6-8412-CCF28B603198}"/>
              </a:ext>
            </a:extLst>
          </p:cNvPr>
          <p:cNvSpPr>
            <a:spLocks xmlns:a="http://schemas.openxmlformats.org/drawingml/2006/main" noGrp="1"/>
          </p:cNvSpPr>
          <p:nvPr/>
        </p:nvSpPr>
        <p:spPr>
          <a:xfrm xmlns:a="http://schemas.openxmlformats.org/drawingml/2006/main">
            <a:off x="5852160" y="23368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IA</a:t>
            </a:r>
            <a:r>
              <a:rPr sz="720" b="0" i="0">
                <a:solidFill>
                  <a:srgbClr val="263632"/>
                </a:solidFill>
                <a:latin typeface="Noto Sans"/>
                <a:ea typeface="Noto Sans"/>
                <a:cs typeface="Noto Sans"/>
              </a:rPr>
              <a:t> </a:t>
            </a:r>
            <a:r>
              <a:rPr sz="720" b="1" i="0">
                <a:solidFill>
                  <a:srgbClr val="153B3C"/>
                </a:solidFill>
                <a:latin typeface="Noto Sans"/>
                <a:ea typeface="Noto Sans"/>
                <a:cs typeface="Noto Sans"/>
              </a:rPr>
              <a:t>BING:</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Modelo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lenguaje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44" name="GLOSARIO_right_5_2">
            <a:extLst xmlns:a="http://schemas.openxmlformats.org/drawingml/2006/main">
              <a:ext uri="{FF2B5EF4-FFF2-40B4-BE49-F238E27FC236}">
                <a16:creationId xmlns:a16="http://schemas.microsoft.com/office/drawing/2014/main" id="{6BE13D77-88DC-4EC4-AFC1-E3CE5153B0ED}"/>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búsqueda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misma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página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Microsoft</a:t>
            </a:r>
          </a:p>
        </p:txBody>
      </p:sp>
      <p:sp>
        <p:nvSpPr>
          <p:cNvPr id="45" name="GLOSARIO_right_6_1">
            <a:extLst xmlns:a="http://schemas.openxmlformats.org/drawingml/2006/main">
              <a:ext uri="{FF2B5EF4-FFF2-40B4-BE49-F238E27FC236}">
                <a16:creationId xmlns:a16="http://schemas.microsoft.com/office/drawing/2014/main" id="{D65AD992-3126-47BA-AF6A-FCD3378CE793}"/>
              </a:ext>
            </a:extLst>
          </p:cNvPr>
          <p:cNvSpPr>
            <a:spLocks xmlns:a="http://schemas.openxmlformats.org/drawingml/2006/main" noGrp="1"/>
          </p:cNvSpPr>
          <p:nvPr/>
        </p:nvSpPr>
        <p:spPr>
          <a:xfrm xmlns:a="http://schemas.openxmlformats.org/drawingml/2006/main">
            <a:off x="5852160" y="26492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IED: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Inversión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Extranjera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Directa</a:t>
            </a:r>
          </a:p>
        </p:txBody>
      </p:sp>
      <p:sp>
        <p:nvSpPr>
          <p:cNvPr id="46" name="GLOSARIO_right_7_1">
            <a:extLst xmlns:a="http://schemas.openxmlformats.org/drawingml/2006/main">
              <a:ext uri="{FF2B5EF4-FFF2-40B4-BE49-F238E27FC236}">
                <a16:creationId xmlns:a16="http://schemas.microsoft.com/office/drawing/2014/main" id="{11013531-D72E-4C79-99AF-2E4B4A927960}"/>
              </a:ext>
            </a:extLst>
          </p:cNvPr>
          <p:cNvSpPr>
            <a:spLocks xmlns:a="http://schemas.openxmlformats.org/drawingml/2006/main" noGrp="1"/>
          </p:cNvSpPr>
          <p:nvPr/>
        </p:nvSpPr>
        <p:spPr>
          <a:xfrm xmlns:a="http://schemas.openxmlformats.org/drawingml/2006/main">
            <a:off x="5852160" y="28498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IFT: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p>
        </p:txBody>
      </p:sp>
      <p:sp>
        <p:nvSpPr>
          <p:cNvPr id="47" name="GLOSARIO_right_8_1">
            <a:extLst xmlns:a="http://schemas.openxmlformats.org/drawingml/2006/main">
              <a:ext uri="{FF2B5EF4-FFF2-40B4-BE49-F238E27FC236}">
                <a16:creationId xmlns:a16="http://schemas.microsoft.com/office/drawing/2014/main" id="{B710E0C1-BFFD-45A4-948A-7B4B9B5D2FD8}"/>
              </a:ext>
            </a:extLst>
          </p:cNvPr>
          <p:cNvSpPr>
            <a:spLocks xmlns:a="http://schemas.openxmlformats.org/drawingml/2006/main" noGrp="1"/>
          </p:cNvSpPr>
          <p:nvPr/>
        </p:nvSpPr>
        <p:spPr>
          <a:xfrm xmlns:a="http://schemas.openxmlformats.org/drawingml/2006/main">
            <a:off x="5852160" y="30505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IHH:</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Herfindahl-Hirschman</a:t>
            </a:r>
          </a:p>
        </p:txBody>
      </p:sp>
      <p:sp>
        <p:nvSpPr>
          <p:cNvPr id="48" name="GLOSARIO_right_9_1">
            <a:extLst xmlns:a="http://schemas.openxmlformats.org/drawingml/2006/main">
              <a:ext uri="{FF2B5EF4-FFF2-40B4-BE49-F238E27FC236}">
                <a16:creationId xmlns:a16="http://schemas.microsoft.com/office/drawing/2014/main" id="{185579AF-B6FD-47BC-BDC9-B8845C5EB14C}"/>
              </a:ext>
            </a:extLst>
          </p:cNvPr>
          <p:cNvSpPr>
            <a:spLocks xmlns:a="http://schemas.openxmlformats.org/drawingml/2006/main" noGrp="1"/>
          </p:cNvSpPr>
          <p:nvPr/>
        </p:nvSpPr>
        <p:spPr>
          <a:xfrm xmlns:a="http://schemas.openxmlformats.org/drawingml/2006/main">
            <a:off x="5852160" y="32512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IMT: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Internacionales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International</a:t>
            </a:r>
          </a:p>
        </p:txBody>
      </p:sp>
      <p:sp>
        <p:nvSpPr>
          <p:cNvPr id="49" name="GLOSARIO_right_9_2">
            <a:extLst xmlns:a="http://schemas.openxmlformats.org/drawingml/2006/main">
              <a:ext uri="{FF2B5EF4-FFF2-40B4-BE49-F238E27FC236}">
                <a16:creationId xmlns:a16="http://schemas.microsoft.com/office/drawing/2014/main" id="{C766DF5A-C1D6-4863-9648-2A43E24D2E49}"/>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Mobile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Telecommunications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IMT)</a:t>
            </a:r>
          </a:p>
        </p:txBody>
      </p:sp>
      <p:sp>
        <p:nvSpPr>
          <p:cNvPr id="50" name="GLOSARIO_right_10_1">
            <a:extLst xmlns:a="http://schemas.openxmlformats.org/drawingml/2006/main">
              <a:ext uri="{FF2B5EF4-FFF2-40B4-BE49-F238E27FC236}">
                <a16:creationId xmlns:a16="http://schemas.microsoft.com/office/drawing/2014/main" id="{455CE990-BB99-4AC1-93DA-125FA333F9B5}"/>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INEGI:</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Instituto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Estadística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Geografía</a:t>
            </a:r>
          </a:p>
        </p:txBody>
      </p:sp>
      <p:sp>
        <p:nvSpPr>
          <p:cNvPr id="51" name="GLOSARIO_right_11_1">
            <a:extLst xmlns:a="http://schemas.openxmlformats.org/drawingml/2006/main">
              <a:ext uri="{FF2B5EF4-FFF2-40B4-BE49-F238E27FC236}">
                <a16:creationId xmlns:a16="http://schemas.microsoft.com/office/drawing/2014/main" id="{E16CACFA-2675-4181-9BCF-F7A4524D0A4D}"/>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INPC: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Nacional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Consumidor</a:t>
            </a:r>
          </a:p>
        </p:txBody>
      </p:sp>
      <p:sp>
        <p:nvSpPr>
          <p:cNvPr id="52" name="GLOSARIO_right_12_1">
            <a:extLst xmlns:a="http://schemas.openxmlformats.org/drawingml/2006/main">
              <a:ext uri="{FF2B5EF4-FFF2-40B4-BE49-F238E27FC236}">
                <a16:creationId xmlns:a16="http://schemas.microsoft.com/office/drawing/2014/main" id="{43849EA2-50D1-4DE7-A1F0-9C566B939AFF}"/>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IGS: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p>
        </p:txBody>
      </p:sp>
      <p:sp>
        <p:nvSpPr>
          <p:cNvPr id="53" name="GLOSARIO_right_13_1">
            <a:extLst xmlns:a="http://schemas.openxmlformats.org/drawingml/2006/main">
              <a:ext uri="{FF2B5EF4-FFF2-40B4-BE49-F238E27FC236}">
                <a16:creationId xmlns:a16="http://schemas.microsoft.com/office/drawing/2014/main" id="{B53140D2-AB35-45C3-81A7-3053494A0D2F}"/>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JASPER: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Biblioteca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escrita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Java</a:t>
            </a:r>
          </a:p>
        </p:txBody>
      </p:sp>
      <p:sp>
        <p:nvSpPr>
          <p:cNvPr id="54" name="ANUARIO_PAGE_NUMBER">
            <a:extLst xmlns:a="http://schemas.openxmlformats.org/drawingml/2006/main">
              <a:ext uri="{FF2B5EF4-FFF2-40B4-BE49-F238E27FC236}">
                <a16:creationId xmlns:a16="http://schemas.microsoft.com/office/drawing/2014/main" id="{7B8F292A-9186-46E0-AFD0-46B4CB4D3801}"/>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5</a:t>
            </a:r>
          </a:p>
        </p:txBody>
      </p:sp>
      <p:sp>
        <p:nvSpPr>
          <p:cNvPr id="55" name="ANUARIO_EDICION_PIE">
            <a:extLst xmlns:a="http://schemas.openxmlformats.org/drawingml/2006/main">
              <a:ext uri="{FF2B5EF4-FFF2-40B4-BE49-F238E27FC236}">
                <a16:creationId xmlns:a16="http://schemas.microsoft.com/office/drawing/2014/main" id="{D82C8C6F-147F-4FF7-AB40-49AE9A8337EB}"/>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72682934"/>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6.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a85e1c9945e94a7e"/>
          <a:srcRect xmlns:a="http://schemas.openxmlformats.org/drawingml/2006/main" l="5315" t="0" r="5315" b="0"/>
          <a:stretch xmlns:a="http://schemas.openxmlformats.org/drawingml/2006/main">
            <a:fillRect l="0" t="0" r="0" b="0"/>
          </a:stretch>
        </p:blipFill>
        <p:spPr>
          <a:xfrm xmlns:a="http://schemas.openxmlformats.org/drawingml/2006/main">
            <a:off x="0" y="0"/>
            <a:ext cx="9143644" cy="511556"/>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5101691e18134900"/>
          <a:srcRect xmlns:a="http://schemas.openxmlformats.org/drawingml/2006/main" l="8254" t="0" r="8254" b="0"/>
          <a:stretch xmlns:a="http://schemas.openxmlformats.org/drawingml/2006/main">
            <a:fillRect l="0" t="0" r="0" b="0"/>
          </a:stretch>
        </p:blipFill>
        <p:spPr>
          <a:xfrm xmlns:a="http://schemas.openxmlformats.org/drawingml/2006/main">
            <a:off x="0" y="4960431"/>
            <a:ext cx="9143644" cy="182525"/>
          </a:xfrm>
          <a:prstGeom xmlns:a="http://schemas.openxmlformats.org/drawingml/2006/main" prst="rect">
            <a:avLst/>
          </a:prstGeom>
        </p:spPr>
      </p:pic>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d1fc5a8caa9402d"/>
          <a:stretch xmlns:a="http://schemas.openxmlformats.org/drawingml/2006/main"/>
        </p:blipFill>
        <p:spPr>
          <a:xfrm xmlns:a="http://schemas.openxmlformats.org/drawingml/2006/main">
            <a:off x="7772400" y="63731"/>
            <a:ext cx="383756" cy="383756"/>
          </a:xfrm>
          <a:prstGeom xmlns:a="http://schemas.openxmlformats.org/drawingml/2006/main" prst="rect">
            <a:avLst/>
          </a:prstGeom>
        </p:spPr>
      </p:pic>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a902198852794fa7"/>
          <a:stretch xmlns:a="http://schemas.openxmlformats.org/drawingml/2006/main"/>
        </p:blipFill>
        <p:spPr>
          <a:xfrm xmlns:a="http://schemas.openxmlformats.org/drawingml/2006/main">
            <a:off x="8275629" y="91074"/>
            <a:ext cx="593385" cy="333362"/>
          </a:xfrm>
          <a:prstGeom xmlns:a="http://schemas.openxmlformats.org/drawingml/2006/main" prst="rect">
            <a:avLst/>
          </a:prstGeom>
        </p:spPr>
      </p:pic>
      <p:sp>
        <p:nvSpPr>
          <p:cNvPr id="5" name="ANUARIO_TITULO">
            <a:extLst xmlns:a="http://schemas.openxmlformats.org/drawingml/2006/main">
              <a:ext uri="{FF2B5EF4-FFF2-40B4-BE49-F238E27FC236}">
                <a16:creationId xmlns:a16="http://schemas.microsoft.com/office/drawing/2014/main" id="{F883BFF5-67ED-47FC-8BA7-E4E07EBD6368}"/>
              </a:ext>
            </a:extLst>
          </p:cNvPr>
          <p:cNvSpPr>
            <a:spLocks xmlns:a="http://schemas.openxmlformats.org/drawingml/2006/main" noGrp="1"/>
          </p:cNvSpPr>
          <p:nvPr/>
        </p:nvSpPr>
        <p:spPr>
          <a:xfrm xmlns:a="http://schemas.openxmlformats.org/drawingml/2006/main">
            <a:off x="304800" y="127000"/>
            <a:ext cx="2667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00" b="1">
                <a:solidFill>
                  <a:srgbClr val="263632"/>
                </a:solidFill>
                <a:latin typeface="Noto Sans"/>
                <a:ea typeface="Noto Sans"/>
                <a:cs typeface="Noto Sans"/>
              </a:defRPr>
            </a:pPr>
            <a:r>
              <a:rPr sz="1700" b="1">
                <a:solidFill>
                  <a:srgbClr val="FFFFFF"/>
                </a:solidFill>
                <a:latin typeface="Noto Sans"/>
                <a:ea typeface="Noto Sans"/>
                <a:cs typeface="Noto Sans"/>
              </a:rPr>
              <a:t>GLOSARIO</a:t>
            </a:r>
          </a:p>
        </p:txBody>
      </p:sp>
      <p:sp>
        <p:nvSpPr>
          <p:cNvPr id="6" name="ANUARIO_ENCABEZADO_1">
            <a:extLst xmlns:a="http://schemas.openxmlformats.org/drawingml/2006/main">
              <a:ext uri="{FF2B5EF4-FFF2-40B4-BE49-F238E27FC236}">
                <a16:creationId xmlns:a16="http://schemas.microsoft.com/office/drawing/2014/main" id="{14057280-D4CF-4514-A2FF-CEDF5C793794}"/>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a:solidFill>
                  <a:srgbClr val="CFE7E1"/>
                </a:solidFill>
                <a:latin typeface="Noto Sans"/>
                <a:ea typeface="Noto Sans"/>
                <a:cs typeface="Noto Sans"/>
              </a:rPr>
              <a:t>Para consultar información con mayor desagregación, visita</a:t>
            </a:r>
          </a:p>
        </p:txBody>
      </p:sp>
      <p:sp>
        <p:nvSpPr>
          <p:cNvPr id="7" name="ANUARIO_ENCABEZADO_2">
            <a:extLst xmlns:a="http://schemas.openxmlformats.org/drawingml/2006/main">
              <a:ext uri="{FF2B5EF4-FFF2-40B4-BE49-F238E27FC236}">
                <a16:creationId xmlns:a16="http://schemas.microsoft.com/office/drawing/2014/main" id="{B8EF6B10-EFC3-4432-AAE9-52BE2B4C4B0B}"/>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a:solidFill>
                  <a:srgbClr val="FFFFFF"/>
                </a:solidFill>
                <a:latin typeface="Noto Sans"/>
                <a:ea typeface="Noto Sans"/>
                <a:cs typeface="Noto Sans"/>
                <a:hlinkClick xmlns:r="http://schemas.openxmlformats.org/officeDocument/2006/relationships" r:id="Rbf38f4683d754baf"/>
              </a:rPr>
              <a:t>BIT CRT · bit.crt.gob.mx/BitWebApp</a:t>
            </a:r>
          </a:p>
        </p:txBody>
      </p:sp>
      <p:sp>
        <p:nvSpPr>
          <p:cNvPr id="8" name="GLOSARIO_LATERAL_RECTO">
            <a:extLst xmlns:a="http://schemas.openxmlformats.org/drawingml/2006/main">
              <a:ext uri="{FF2B5EF4-FFF2-40B4-BE49-F238E27FC236}">
                <a16:creationId xmlns:a16="http://schemas.microsoft.com/office/drawing/2014/main" id="{858539AE-EE15-457B-B081-2DEC2AF77BFE}"/>
              </a:ext>
            </a:extLst>
          </p:cNvPr>
          <p:cNvSpPr>
            <a:spLocks xmlns:a="http://schemas.openxmlformats.org/drawingml/2006/main" noGrp="1"/>
          </p:cNvSpPr>
          <p:nvPr/>
        </p:nvSpPr>
        <p:spPr>
          <a:xfrm xmlns:a="http://schemas.openxmlformats.org/drawingml/2006/main">
            <a:off x="0" y="1032840"/>
            <a:ext cx="1701800" cy="3657600"/>
          </a:xfrm>
          <a:prstGeom xmlns:a="http://schemas.openxmlformats.org/drawingml/2006/main" prst="rect">
            <a:avLst/>
          </a:prstGeom>
          <a:solidFill xmlns:a="http://schemas.openxmlformats.org/drawingml/2006/main">
            <a:srgbClr val="D9E9E6"/>
          </a:solidFill>
          <a:ln xmlns:a="http://schemas.openxmlformats.org/drawingml/2006/main" w="0">
            <a:noFill/>
          </a:ln>
        </p:spPr>
      </p:sp>
      <p:sp>
        <p:nvSpPr>
          <p:cNvPr id="9" name="GLOSARIO_LATERAL_REDONDEADO">
            <a:extLst xmlns:a="http://schemas.openxmlformats.org/drawingml/2006/main">
              <a:ext uri="{FF2B5EF4-FFF2-40B4-BE49-F238E27FC236}">
                <a16:creationId xmlns:a16="http://schemas.microsoft.com/office/drawing/2014/main" id="{EE342DF5-0EC0-4C3B-A5A4-C33EBE8E6B55}"/>
              </a:ext>
            </a:extLst>
          </p:cNvPr>
          <p:cNvSpPr>
            <a:spLocks xmlns:a="http://schemas.openxmlformats.org/drawingml/2006/main" noGrp="1"/>
          </p:cNvSpPr>
          <p:nvPr/>
        </p:nvSpPr>
        <p:spPr>
          <a:xfrm xmlns:a="http://schemas.openxmlformats.org/drawingml/2006/main">
            <a:off x="1346200" y="1032840"/>
            <a:ext cx="683844" cy="3657600"/>
          </a:xfrm>
          <a:prstGeom xmlns:a="http://schemas.openxmlformats.org/drawingml/2006/main" prst="roundRect">
            <a:avLst>
              <a:gd name="adj" fmla="val 50000"/>
            </a:avLst>
          </a:prstGeom>
          <a:solidFill xmlns:a="http://schemas.openxmlformats.org/drawingml/2006/main">
            <a:srgbClr val="D9E9E6"/>
          </a:solidFill>
          <a:ln xmlns:a="http://schemas.openxmlformats.org/drawingml/2006/main" w="0">
            <a:no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c151f4e85cd14391"/>
          <a:stretch xmlns:a="http://schemas.openxmlformats.org/drawingml/2006/main"/>
        </p:blipFill>
        <p:spPr>
          <a:xfrm xmlns:a="http://schemas.openxmlformats.org/drawingml/2006/main">
            <a:off x="508000" y="736600"/>
            <a:ext cx="1079500" cy="1003300"/>
          </a:xfrm>
          <a:prstGeom xmlns:a="http://schemas.openxmlformats.org/drawingml/2006/main" prst="rect">
            <a:avLst/>
          </a:prstGeom>
        </p:spPr>
      </p:pic>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8e1ef3adc9d843cd">
            <a:alphaModFix amt="13000"/>
          </a:blip>
          <a:stretch xmlns:a="http://schemas.openxmlformats.org/drawingml/2006/main"/>
        </p:blipFill>
        <p:spPr>
          <a:xfrm xmlns:a="http://schemas.openxmlformats.org/drawingml/2006/main">
            <a:off x="159712" y="1654558"/>
            <a:ext cx="2360048" cy="745922"/>
          </a:xfrm>
          <a:prstGeom xmlns:a="http://schemas.openxmlformats.org/drawingml/2006/main" prst="rect">
            <a:avLst/>
          </a:prstGeom>
        </p:spPr>
      </p:pic>
      <p:sp>
        <p:nvSpPr>
          <p:cNvPr id="12" name="GLOSARIO_ROTULO_LATERAL">
            <a:extLst xmlns:a="http://schemas.openxmlformats.org/drawingml/2006/main">
              <a:ext uri="{FF2B5EF4-FFF2-40B4-BE49-F238E27FC236}">
                <a16:creationId xmlns:a16="http://schemas.microsoft.com/office/drawing/2014/main" id="{EBEEC178-35EA-46FF-9731-E9C4AB9C384A}"/>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oundRect">
            <a:avLst>
              <a:gd name="adj" fmla="val 28721"/>
            </a:avLst>
          </a:prstGeom>
          <a:solidFill xmlns:a="http://schemas.openxmlformats.org/drawingml/2006/main">
            <a:srgbClr val="F7FAF9"/>
          </a:solidFill>
          <a:ln xmlns:a="http://schemas.openxmlformats.org/drawingml/2006/main" w="0">
            <a:noFill/>
          </a:ln>
        </p:spPr>
      </p:sp>
      <p:sp>
        <p:nvSpPr>
          <p:cNvPr id="13" name="GLOSARIO_LATERAL_TITULO">
            <a:extLst xmlns:a="http://schemas.openxmlformats.org/drawingml/2006/main">
              <a:ext uri="{FF2B5EF4-FFF2-40B4-BE49-F238E27FC236}">
                <a16:creationId xmlns:a16="http://schemas.microsoft.com/office/drawing/2014/main" id="{7AD70741-077A-4D91-981B-7C1DDA20B35E}"/>
              </a:ext>
            </a:extLst>
          </p:cNvPr>
          <p:cNvSpPr>
            <a:spLocks xmlns:a="http://schemas.openxmlformats.org/drawingml/2006/main" noGrp="1"/>
          </p:cNvSpPr>
          <p:nvPr/>
        </p:nvSpPr>
        <p:spPr>
          <a:xfrm xmlns:a="http://schemas.openxmlformats.org/drawingml/2006/main">
            <a:off x="264960" y="1737004"/>
            <a:ext cx="2149196" cy="5306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50" b="1">
                <a:solidFill>
                  <a:srgbClr val="263632"/>
                </a:solidFill>
                <a:latin typeface="Noto Sans"/>
                <a:ea typeface="Noto Sans"/>
                <a:cs typeface="Noto Sans"/>
              </a:defRPr>
            </a:pPr>
            <a:r>
              <a:rPr sz="1550" b="1">
                <a:solidFill>
                  <a:srgbClr val="153B3C"/>
                </a:solidFill>
                <a:latin typeface="Noto Sans"/>
                <a:ea typeface="Noto Sans"/>
                <a:cs typeface="Noto Sans"/>
              </a:rPr>
              <a:t>GLOSARIO</a:t>
            </a:r>
          </a:p>
        </p:txBody>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f9341f9b5c94c17">
            <a:alphaModFix amt="13000"/>
          </a:blip>
          <a:stretch xmlns:a="http://schemas.openxmlformats.org/drawingml/2006/main"/>
        </p:blipFill>
        <p:spPr>
          <a:xfrm xmlns:a="http://schemas.openxmlformats.org/drawingml/2006/main">
            <a:off x="2454834" y="606313"/>
            <a:ext cx="6519240" cy="620496"/>
          </a:xfrm>
          <a:prstGeom xmlns:a="http://schemas.openxmlformats.org/drawingml/2006/main" prst="rect">
            <a:avLst/>
          </a:prstGeom>
        </p:spPr>
      </p:pic>
      <p:sp>
        <p:nvSpPr>
          <p:cNvPr id="15" name="GLOSARIO_RECUADRO_TITULO">
            <a:extLst xmlns:a="http://schemas.openxmlformats.org/drawingml/2006/main">
              <a:ext uri="{FF2B5EF4-FFF2-40B4-BE49-F238E27FC236}">
                <a16:creationId xmlns:a16="http://schemas.microsoft.com/office/drawing/2014/main" id="{52D0C20F-671D-481B-8FFF-B5E5F0AEEE52}"/>
              </a:ext>
            </a:extLst>
          </p:cNvPr>
          <p:cNvSpPr>
            <a:spLocks xmlns:a="http://schemas.openxmlformats.org/drawingml/2006/main" noGrp="1"/>
          </p:cNvSpPr>
          <p:nvPr/>
        </p:nvSpPr>
        <p:spPr>
          <a:xfrm xmlns:a="http://schemas.openxmlformats.org/drawingml/2006/main">
            <a:off x="2559596" y="685444"/>
            <a:ext cx="6309728" cy="411836"/>
          </a:xfrm>
          <a:prstGeom xmlns:a="http://schemas.openxmlformats.org/drawingml/2006/main" prst="roundRect">
            <a:avLst>
              <a:gd name="adj" fmla="val 21586"/>
            </a:avLst>
          </a:prstGeom>
          <a:solidFill xmlns:a="http://schemas.openxmlformats.org/drawingml/2006/main">
            <a:srgbClr val="FFFFFF"/>
          </a:solidFill>
          <a:ln xmlns:a="http://schemas.openxmlformats.org/drawingml/2006/main" w="6350">
            <a:solidFill>
              <a:srgbClr val="DFE8E6"/>
            </a:solidFill>
          </a:ln>
        </p:spPr>
      </p:sp>
      <p:sp>
        <p:nvSpPr>
          <p:cNvPr id="16" name="GLOSARIO_TITULO_CONTENIDO">
            <a:extLst xmlns:a="http://schemas.openxmlformats.org/drawingml/2006/main">
              <a:ext uri="{FF2B5EF4-FFF2-40B4-BE49-F238E27FC236}">
                <a16:creationId xmlns:a16="http://schemas.microsoft.com/office/drawing/2014/main" id="{83D1B68D-F8D4-4AF0-AB9B-52908CF1890B}"/>
              </a:ext>
            </a:extLst>
          </p:cNvPr>
          <p:cNvSpPr>
            <a:spLocks xmlns:a="http://schemas.openxmlformats.org/drawingml/2006/main" noGrp="1"/>
          </p:cNvSpPr>
          <p:nvPr/>
        </p:nvSpPr>
        <p:spPr>
          <a:xfrm xmlns:a="http://schemas.openxmlformats.org/drawingml/2006/main">
            <a:off x="2788564" y="792480"/>
            <a:ext cx="58293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1">
                <a:solidFill>
                  <a:srgbClr val="263632"/>
                </a:solidFill>
                <a:latin typeface="Noto Sans"/>
                <a:ea typeface="Noto Sans"/>
                <a:cs typeface="Noto Sans"/>
              </a:defRPr>
            </a:pPr>
            <a:r>
              <a:rPr sz="1350" b="1">
                <a:solidFill>
                  <a:srgbClr val="153B3C"/>
                </a:solidFill>
                <a:latin typeface="Noto Sans"/>
                <a:ea typeface="Noto Sans"/>
                <a:cs typeface="Noto Sans"/>
              </a:rPr>
              <a:t>Siglas y Acrónimos utilizados</a:t>
            </a:r>
          </a:p>
        </p:txBody>
      </p:sp>
      <p:sp>
        <p:nvSpPr>
          <p:cNvPr id="17" name="GLOSARIO_CONTINUACION">
            <a:extLst xmlns:a="http://schemas.openxmlformats.org/drawingml/2006/main">
              <a:ext uri="{FF2B5EF4-FFF2-40B4-BE49-F238E27FC236}">
                <a16:creationId xmlns:a16="http://schemas.microsoft.com/office/drawing/2014/main" id="{1D360054-6A45-445E-8BD1-88FFF2C08756}"/>
              </a:ext>
            </a:extLst>
          </p:cNvPr>
          <p:cNvSpPr>
            <a:spLocks xmlns:a="http://schemas.openxmlformats.org/drawingml/2006/main" noGrp="1"/>
          </p:cNvSpPr>
          <p:nvPr/>
        </p:nvSpPr>
        <p:spPr>
          <a:xfrm xmlns:a="http://schemas.openxmlformats.org/drawingml/2006/main">
            <a:off x="7493000" y="835660"/>
            <a:ext cx="1143000" cy="165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720">
                <a:solidFill>
                  <a:srgbClr val="263632"/>
                </a:solidFill>
                <a:latin typeface="Noto Sans"/>
                <a:ea typeface="Noto Sans"/>
                <a:cs typeface="Noto Sans"/>
              </a:defRPr>
            </a:pPr>
            <a:r>
              <a:rPr sz="720" b="0">
                <a:solidFill>
                  <a:srgbClr val="4A7D76"/>
                </a:solidFill>
                <a:latin typeface="Noto Sans"/>
                <a:ea typeface="Noto Sans"/>
                <a:cs typeface="Noto Sans"/>
              </a:rPr>
              <a:t>Continuación</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8bf096c142f478e">
            <a:alphaModFix amt="13000"/>
          </a:blip>
          <a:stretch xmlns:a="http://schemas.openxmlformats.org/drawingml/2006/main"/>
        </p:blipFill>
        <p:spPr>
          <a:xfrm xmlns:a="http://schemas.openxmlformats.org/drawingml/2006/main">
            <a:off x="2456153" y="1218605"/>
            <a:ext cx="6516601" cy="3757676"/>
          </a:xfrm>
          <a:prstGeom xmlns:a="http://schemas.openxmlformats.org/drawingml/2006/main" prst="rect">
            <a:avLst/>
          </a:prstGeom>
        </p:spPr>
      </p:pic>
      <p:sp>
        <p:nvSpPr>
          <p:cNvPr id="19" name="ANUARIO_GLOSARIO_CONT_DESIGN_2026">
            <a:extLst xmlns:a="http://schemas.openxmlformats.org/drawingml/2006/main">
              <a:ext uri="{FF2B5EF4-FFF2-40B4-BE49-F238E27FC236}">
                <a16:creationId xmlns:a16="http://schemas.microsoft.com/office/drawing/2014/main" id="{4BF3652A-400F-48F3-912C-66C15ABAF386}"/>
              </a:ext>
            </a:extLst>
          </p:cNvPr>
          <p:cNvSpPr>
            <a:spLocks xmlns:a="http://schemas.openxmlformats.org/drawingml/2006/main" noGrp="1"/>
          </p:cNvSpPr>
          <p:nvPr/>
        </p:nvSpPr>
        <p:spPr>
          <a:xfrm xmlns:a="http://schemas.openxmlformats.org/drawingml/2006/main">
            <a:off x="2559596" y="1298156"/>
            <a:ext cx="6309728" cy="3548164"/>
          </a:xfrm>
          <a:prstGeom xmlns:a="http://schemas.openxmlformats.org/drawingml/2006/main" prst="roundRect">
            <a:avLst>
              <a:gd name="adj" fmla="val 2506"/>
            </a:avLst>
          </a:prstGeom>
          <a:solidFill xmlns:a="http://schemas.openxmlformats.org/drawingml/2006/main">
            <a:srgbClr val="F7FAF9"/>
          </a:solidFill>
          <a:ln xmlns:a="http://schemas.openxmlformats.org/drawingml/2006/main" w="6350">
            <a:solidFill>
              <a:srgbClr val="DFE8E6"/>
            </a:solidFill>
          </a:ln>
        </p:spPr>
      </p:sp>
      <p:sp>
        <p:nvSpPr>
          <p:cNvPr id="20" name="GLOSARIO_DIVISOR_COLUMNAS">
            <a:extLst xmlns:a="http://schemas.openxmlformats.org/drawingml/2006/main">
              <a:ext uri="{FF2B5EF4-FFF2-40B4-BE49-F238E27FC236}">
                <a16:creationId xmlns:a16="http://schemas.microsoft.com/office/drawing/2014/main" id="{BC67FC0B-947D-41EB-B1C1-8824C1C0F915}"/>
              </a:ext>
            </a:extLst>
          </p:cNvPr>
          <p:cNvSpPr>
            <a:spLocks xmlns:a="http://schemas.openxmlformats.org/drawingml/2006/main" noGrp="1"/>
          </p:cNvSpPr>
          <p:nvPr/>
        </p:nvSpPr>
        <p:spPr>
          <a:xfrm xmlns:a="http://schemas.openxmlformats.org/drawingml/2006/main">
            <a:off x="5715000" y="1435100"/>
            <a:ext cx="6350" cy="32385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GLOSARIO_left_1_1">
            <a:extLst xmlns:a="http://schemas.openxmlformats.org/drawingml/2006/main">
              <a:ext uri="{FF2B5EF4-FFF2-40B4-BE49-F238E27FC236}">
                <a16:creationId xmlns:a16="http://schemas.microsoft.com/office/drawing/2014/main" id="{0C2EF6C7-874B-49CA-AE72-E1B811AA1DD8}"/>
              </a:ext>
            </a:extLst>
          </p:cNvPr>
          <p:cNvSpPr>
            <a:spLocks xmlns:a="http://schemas.openxmlformats.org/drawingml/2006/main" noGrp="1"/>
          </p:cNvSpPr>
          <p:nvPr/>
        </p:nvSpPr>
        <p:spPr>
          <a:xfrm xmlns:a="http://schemas.openxmlformats.org/drawingml/2006/main">
            <a:off x="2742844"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Micro,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pequeñas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empresas</a:t>
            </a:r>
          </a:p>
        </p:txBody>
      </p:sp>
      <p:sp>
        <p:nvSpPr>
          <p:cNvPr id="22" name="GLOSARIO_left_2_1">
            <a:extLst xmlns:a="http://schemas.openxmlformats.org/drawingml/2006/main">
              <a:ext uri="{FF2B5EF4-FFF2-40B4-BE49-F238E27FC236}">
                <a16:creationId xmlns:a16="http://schemas.microsoft.com/office/drawing/2014/main" id="{253C5165-02D3-4863-8802-BAA3BF279B71}"/>
              </a:ext>
            </a:extLst>
          </p:cNvPr>
          <p:cNvSpPr>
            <a:spLocks xmlns:a="http://schemas.openxmlformats.org/drawingml/2006/main" noGrp="1"/>
          </p:cNvSpPr>
          <p:nvPr/>
        </p:nvSpPr>
        <p:spPr>
          <a:xfrm xmlns:a="http://schemas.openxmlformats.org/drawingml/2006/main">
            <a:off x="2742844" y="16230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ManyChat: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automatización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chatbots</a:t>
            </a:r>
          </a:p>
        </p:txBody>
      </p:sp>
      <p:sp>
        <p:nvSpPr>
          <p:cNvPr id="23" name="GLOSARIO_left_2_2">
            <a:extLst xmlns:a="http://schemas.openxmlformats.org/drawingml/2006/main">
              <a:ext uri="{FF2B5EF4-FFF2-40B4-BE49-F238E27FC236}">
                <a16:creationId xmlns:a16="http://schemas.microsoft.com/office/drawing/2014/main" id="{9FCF245C-A973-48AE-8FE9-80AF82A660C1}"/>
              </a:ext>
            </a:extLst>
          </p:cNvPr>
          <p:cNvSpPr>
            <a:spLocks xmlns:a="http://schemas.openxmlformats.org/drawingml/2006/main" noGrp="1"/>
          </p:cNvSpPr>
          <p:nvPr/>
        </p:nvSpPr>
        <p:spPr>
          <a:xfrm xmlns:a="http://schemas.openxmlformats.org/drawingml/2006/main">
            <a:off x="2742844"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Facebook</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Messenger,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Instagram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WhatsApp</a:t>
            </a:r>
          </a:p>
        </p:txBody>
      </p:sp>
      <p:sp>
        <p:nvSpPr>
          <p:cNvPr id="24" name="GLOSARIO_left_3_1">
            <a:extLst xmlns:a="http://schemas.openxmlformats.org/drawingml/2006/main">
              <a:ext uri="{FF2B5EF4-FFF2-40B4-BE49-F238E27FC236}">
                <a16:creationId xmlns:a16="http://schemas.microsoft.com/office/drawing/2014/main" id="{A17C0660-9816-4186-BC8D-EE2D4F9A94D7}"/>
              </a:ext>
            </a:extLst>
          </p:cNvPr>
          <p:cNvSpPr>
            <a:spLocks xmlns:a="http://schemas.openxmlformats.org/drawingml/2006/main" noGrp="1"/>
          </p:cNvSpPr>
          <p:nvPr/>
        </p:nvSpPr>
        <p:spPr>
          <a:xfrm xmlns:a="http://schemas.openxmlformats.org/drawingml/2006/main">
            <a:off x="2742844"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IoT: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Cosas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Things</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p>
        </p:txBody>
      </p:sp>
      <p:sp>
        <p:nvSpPr>
          <p:cNvPr id="25" name="GLOSARIO_left_3_2">
            <a:extLst xmlns:a="http://schemas.openxmlformats.org/drawingml/2006/main">
              <a:ext uri="{FF2B5EF4-FFF2-40B4-BE49-F238E27FC236}">
                <a16:creationId xmlns:a16="http://schemas.microsoft.com/office/drawing/2014/main" id="{C51E6591-8DB2-427A-B85F-C9509360D5C0}"/>
              </a:ext>
            </a:extLst>
          </p:cNvPr>
          <p:cNvSpPr>
            <a:spLocks xmlns:a="http://schemas.openxmlformats.org/drawingml/2006/main" noGrp="1"/>
          </p:cNvSpPr>
          <p:nvPr/>
        </p:nvSpPr>
        <p:spPr>
          <a:xfrm xmlns:a="http://schemas.openxmlformats.org/drawingml/2006/main">
            <a:off x="2742844" y="20472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IoT)</a:t>
            </a:r>
          </a:p>
        </p:txBody>
      </p:sp>
      <p:sp>
        <p:nvSpPr>
          <p:cNvPr id="26" name="GLOSARIO_left_4_1">
            <a:extLst xmlns:a="http://schemas.openxmlformats.org/drawingml/2006/main">
              <a:ext uri="{FF2B5EF4-FFF2-40B4-BE49-F238E27FC236}">
                <a16:creationId xmlns:a16="http://schemas.microsoft.com/office/drawing/2014/main" id="{63B129E8-1914-4C4B-89AD-B753EB3FE9EC}"/>
              </a:ext>
            </a:extLst>
          </p:cNvPr>
          <p:cNvSpPr>
            <a:spLocks xmlns:a="http://schemas.openxmlformats.org/drawingml/2006/main" noGrp="1"/>
          </p:cNvSpPr>
          <p:nvPr/>
        </p:nvSpPr>
        <p:spPr>
          <a:xfrm xmlns:a="http://schemas.openxmlformats.org/drawingml/2006/main">
            <a:off x="2742844"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IPCOM: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Índice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Comunicaciones</a:t>
            </a:r>
          </a:p>
        </p:txBody>
      </p:sp>
      <p:sp>
        <p:nvSpPr>
          <p:cNvPr id="27" name="GLOSARIO_left_5_1">
            <a:extLst xmlns:a="http://schemas.openxmlformats.org/drawingml/2006/main">
              <a:ext uri="{FF2B5EF4-FFF2-40B4-BE49-F238E27FC236}">
                <a16:creationId xmlns:a16="http://schemas.microsoft.com/office/drawing/2014/main" id="{8946F43A-DD6B-4778-B592-6E027AC54E0D}"/>
              </a:ext>
            </a:extLst>
          </p:cNvPr>
          <p:cNvSpPr>
            <a:spLocks xmlns:a="http://schemas.openxmlformats.org/drawingml/2006/main" noGrp="1"/>
          </p:cNvSpPr>
          <p:nvPr/>
        </p:nvSpPr>
        <p:spPr>
          <a:xfrm xmlns:a="http://schemas.openxmlformats.org/drawingml/2006/main">
            <a:off x="2742844"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IPTV: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protocolo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Protocol</a:t>
            </a:r>
          </a:p>
        </p:txBody>
      </p:sp>
      <p:sp>
        <p:nvSpPr>
          <p:cNvPr id="28" name="GLOSARIO_left_5_2">
            <a:extLst xmlns:a="http://schemas.openxmlformats.org/drawingml/2006/main">
              <a:ext uri="{FF2B5EF4-FFF2-40B4-BE49-F238E27FC236}">
                <a16:creationId xmlns:a16="http://schemas.microsoft.com/office/drawing/2014/main" id="{1B1E59AC-4925-4298-AAAF-BFC8615E543B}"/>
              </a:ext>
            </a:extLst>
          </p:cNvPr>
          <p:cNvSpPr>
            <a:spLocks xmlns:a="http://schemas.openxmlformats.org/drawingml/2006/main" noGrp="1"/>
          </p:cNvSpPr>
          <p:nvPr/>
        </p:nvSpPr>
        <p:spPr>
          <a:xfrm xmlns:a="http://schemas.openxmlformats.org/drawingml/2006/main">
            <a:off x="2742844"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1">
                <a:solidFill>
                  <a:srgbClr val="263632"/>
                </a:solidFill>
                <a:latin typeface="Noto Sans"/>
                <a:ea typeface="Noto Sans"/>
                <a:cs typeface="Noto Sans"/>
              </a:rPr>
              <a:t>Television</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IPTV)</a:t>
            </a:r>
          </a:p>
        </p:txBody>
      </p:sp>
      <p:sp>
        <p:nvSpPr>
          <p:cNvPr id="29" name="GLOSARIO_left_6_1">
            <a:extLst xmlns:a="http://schemas.openxmlformats.org/drawingml/2006/main">
              <a:ext uri="{FF2B5EF4-FFF2-40B4-BE49-F238E27FC236}">
                <a16:creationId xmlns:a16="http://schemas.microsoft.com/office/drawing/2014/main" id="{F7205DD0-FBC3-4C9F-9C6B-D11397ED9251}"/>
              </a:ext>
            </a:extLst>
          </p:cNvPr>
          <p:cNvSpPr>
            <a:spLocks xmlns:a="http://schemas.openxmlformats.org/drawingml/2006/main" noGrp="1"/>
          </p:cNvSpPr>
          <p:nvPr/>
        </p:nvSpPr>
        <p:spPr>
          <a:xfrm xmlns:a="http://schemas.openxmlformats.org/drawingml/2006/main">
            <a:off x="2742844"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LFTR: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Ley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Federal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30" name="GLOSARIO_left_7_1">
            <a:extLst xmlns:a="http://schemas.openxmlformats.org/drawingml/2006/main">
              <a:ext uri="{FF2B5EF4-FFF2-40B4-BE49-F238E27FC236}">
                <a16:creationId xmlns:a16="http://schemas.microsoft.com/office/drawing/2014/main" id="{0BE27991-AB85-4CDB-B891-F1B9D8F2CAA0}"/>
              </a:ext>
            </a:extLst>
          </p:cNvPr>
          <p:cNvSpPr>
            <a:spLocks xmlns:a="http://schemas.openxmlformats.org/drawingml/2006/main" noGrp="1"/>
          </p:cNvSpPr>
          <p:nvPr/>
        </p:nvSpPr>
        <p:spPr>
          <a:xfrm xmlns:a="http://schemas.openxmlformats.org/drawingml/2006/main">
            <a:off x="2742844"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Megabyte</a:t>
            </a:r>
          </a:p>
        </p:txBody>
      </p:sp>
      <p:sp>
        <p:nvSpPr>
          <p:cNvPr id="31" name="GLOSARIO_left_8_1">
            <a:extLst xmlns:a="http://schemas.openxmlformats.org/drawingml/2006/main">
              <a:ext uri="{FF2B5EF4-FFF2-40B4-BE49-F238E27FC236}">
                <a16:creationId xmlns:a16="http://schemas.microsoft.com/office/drawing/2014/main" id="{DD59973D-F693-4FF7-A20F-6A320E57DD93}"/>
              </a:ext>
            </a:extLst>
          </p:cNvPr>
          <p:cNvSpPr>
            <a:spLocks xmlns:a="http://schemas.openxmlformats.org/drawingml/2006/main" noGrp="1"/>
          </p:cNvSpPr>
          <p:nvPr/>
        </p:nvSpPr>
        <p:spPr>
          <a:xfrm xmlns:a="http://schemas.openxmlformats.org/drawingml/2006/main">
            <a:off x="2742844"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MHz:</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Megahertz</a:t>
            </a:r>
          </a:p>
        </p:txBody>
      </p:sp>
      <p:sp>
        <p:nvSpPr>
          <p:cNvPr id="32" name="GLOSARIO_left_9_1">
            <a:extLst xmlns:a="http://schemas.openxmlformats.org/drawingml/2006/main">
              <a:ext uri="{FF2B5EF4-FFF2-40B4-BE49-F238E27FC236}">
                <a16:creationId xmlns:a16="http://schemas.microsoft.com/office/drawing/2014/main" id="{EED8D146-EB43-47F4-9339-51184F974E91}"/>
              </a:ext>
            </a:extLst>
          </p:cNvPr>
          <p:cNvSpPr>
            <a:spLocks xmlns:a="http://schemas.openxmlformats.org/drawingml/2006/main" noGrp="1"/>
          </p:cNvSpPr>
          <p:nvPr/>
        </p:nvSpPr>
        <p:spPr>
          <a:xfrm xmlns:a="http://schemas.openxmlformats.org/drawingml/2006/main">
            <a:off x="2742844"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MOCIBA: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Módulo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p>
        </p:txBody>
      </p:sp>
      <p:sp>
        <p:nvSpPr>
          <p:cNvPr id="33" name="GLOSARIO_left_10_1">
            <a:extLst xmlns:a="http://schemas.openxmlformats.org/drawingml/2006/main">
              <a:ext uri="{FF2B5EF4-FFF2-40B4-BE49-F238E27FC236}">
                <a16:creationId xmlns:a16="http://schemas.microsoft.com/office/drawing/2014/main" id="{C2E53825-8B09-44C8-8E76-9F48DBE922AB}"/>
              </a:ext>
            </a:extLst>
          </p:cNvPr>
          <p:cNvSpPr>
            <a:spLocks xmlns:a="http://schemas.openxmlformats.org/drawingml/2006/main" noGrp="1"/>
          </p:cNvSpPr>
          <p:nvPr/>
        </p:nvSpPr>
        <p:spPr>
          <a:xfrm xmlns:a="http://schemas.openxmlformats.org/drawingml/2006/main">
            <a:off x="2742844"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MOU:</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Minutos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Minutes</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of</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Use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p>
        </p:txBody>
      </p:sp>
      <p:sp>
        <p:nvSpPr>
          <p:cNvPr id="34" name="GLOSARIO_left_10_2">
            <a:extLst xmlns:a="http://schemas.openxmlformats.org/drawingml/2006/main">
              <a:ext uri="{FF2B5EF4-FFF2-40B4-BE49-F238E27FC236}">
                <a16:creationId xmlns:a16="http://schemas.microsoft.com/office/drawing/2014/main" id="{C8AD18E1-5738-4D56-A335-4F59CE25E15A}"/>
              </a:ext>
            </a:extLst>
          </p:cNvPr>
          <p:cNvSpPr>
            <a:spLocks xmlns:a="http://schemas.openxmlformats.org/drawingml/2006/main" noGrp="1"/>
          </p:cNvSpPr>
          <p:nvPr/>
        </p:nvSpPr>
        <p:spPr>
          <a:xfrm xmlns:a="http://schemas.openxmlformats.org/drawingml/2006/main">
            <a:off x="2742844" y="36753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MOU)</a:t>
            </a:r>
          </a:p>
        </p:txBody>
      </p:sp>
      <p:sp>
        <p:nvSpPr>
          <p:cNvPr id="35" name="GLOSARIO_left_11_1">
            <a:extLst xmlns:a="http://schemas.openxmlformats.org/drawingml/2006/main">
              <a:ext uri="{FF2B5EF4-FFF2-40B4-BE49-F238E27FC236}">
                <a16:creationId xmlns:a16="http://schemas.microsoft.com/office/drawing/2014/main" id="{7F622D61-AC84-4583-A454-25ADCB55E0CD}"/>
              </a:ext>
            </a:extLst>
          </p:cNvPr>
          <p:cNvSpPr>
            <a:spLocks xmlns:a="http://schemas.openxmlformats.org/drawingml/2006/main" noGrp="1"/>
          </p:cNvSpPr>
          <p:nvPr/>
        </p:nvSpPr>
        <p:spPr>
          <a:xfrm xmlns:a="http://schemas.openxmlformats.org/drawingml/2006/main">
            <a:off x="2742844" y="38760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OMV:</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Operador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Virtual</a:t>
            </a:r>
          </a:p>
        </p:txBody>
      </p:sp>
      <p:sp>
        <p:nvSpPr>
          <p:cNvPr id="36" name="GLOSARIO_left_12_1">
            <a:extLst xmlns:a="http://schemas.openxmlformats.org/drawingml/2006/main">
              <a:ext uri="{FF2B5EF4-FFF2-40B4-BE49-F238E27FC236}">
                <a16:creationId xmlns:a16="http://schemas.microsoft.com/office/drawing/2014/main" id="{144E5B24-9572-452F-B662-B205649C45EF}"/>
              </a:ext>
            </a:extLst>
          </p:cNvPr>
          <p:cNvSpPr>
            <a:spLocks xmlns:a="http://schemas.openxmlformats.org/drawingml/2006/main" noGrp="1"/>
          </p:cNvSpPr>
          <p:nvPr/>
        </p:nvSpPr>
        <p:spPr>
          <a:xfrm xmlns:a="http://schemas.openxmlformats.org/drawingml/2006/main">
            <a:off x="2742844" y="40767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OTT: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Over</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the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Top</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OTT)</a:t>
            </a:r>
          </a:p>
        </p:txBody>
      </p:sp>
      <p:sp>
        <p:nvSpPr>
          <p:cNvPr id="37" name="GLOSARIO_left_13_1">
            <a:extLst xmlns:a="http://schemas.openxmlformats.org/drawingml/2006/main">
              <a:ext uri="{FF2B5EF4-FFF2-40B4-BE49-F238E27FC236}">
                <a16:creationId xmlns:a16="http://schemas.microsoft.com/office/drawing/2014/main" id="{6C44E656-CF25-451B-9FFF-5D71194D869A}"/>
              </a:ext>
            </a:extLst>
          </p:cNvPr>
          <p:cNvSpPr>
            <a:spLocks xmlns:a="http://schemas.openxmlformats.org/drawingml/2006/main" noGrp="1"/>
          </p:cNvSpPr>
          <p:nvPr/>
        </p:nvSpPr>
        <p:spPr>
          <a:xfrm xmlns:a="http://schemas.openxmlformats.org/drawingml/2006/main">
            <a:off x="2742844" y="42773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PIB:</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Producto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Bruto</a:t>
            </a:r>
          </a:p>
        </p:txBody>
      </p:sp>
      <p:sp>
        <p:nvSpPr>
          <p:cNvPr id="38" name="GLOSARIO_right_1_1">
            <a:extLst xmlns:a="http://schemas.openxmlformats.org/drawingml/2006/main">
              <a:ext uri="{FF2B5EF4-FFF2-40B4-BE49-F238E27FC236}">
                <a16:creationId xmlns:a16="http://schemas.microsoft.com/office/drawing/2014/main" id="{93D93936-CDA1-48D6-8CAB-B4DC549453EB}"/>
              </a:ext>
            </a:extLst>
          </p:cNvPr>
          <p:cNvSpPr>
            <a:spLocks xmlns:a="http://schemas.openxmlformats.org/drawingml/2006/main" noGrp="1"/>
          </p:cNvSpPr>
          <p:nvPr/>
        </p:nvSpPr>
        <p:spPr>
          <a:xfrm xmlns:a="http://schemas.openxmlformats.org/drawingml/2006/main">
            <a:off x="5852160" y="14224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PICTORY: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línea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edición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39" name="GLOSARIO_right_1_2">
            <a:extLst xmlns:a="http://schemas.openxmlformats.org/drawingml/2006/main">
              <a:ext uri="{FF2B5EF4-FFF2-40B4-BE49-F238E27FC236}">
                <a16:creationId xmlns:a16="http://schemas.microsoft.com/office/drawing/2014/main" id="{99C1885C-2FB9-48EC-A89E-5B07B443B9E6}"/>
              </a:ext>
            </a:extLst>
          </p:cNvPr>
          <p:cNvSpPr>
            <a:spLocks xmlns:a="http://schemas.openxmlformats.org/drawingml/2006/main" noGrp="1"/>
          </p:cNvSpPr>
          <p:nvPr/>
        </p:nvSpPr>
        <p:spPr>
          <a:xfrm xmlns:a="http://schemas.openxmlformats.org/drawingml/2006/main">
            <a:off x="5852160" y="15341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imágenes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0" name="GLOSARIO_right_2_1">
            <a:extLst xmlns:a="http://schemas.openxmlformats.org/drawingml/2006/main">
              <a:ext uri="{FF2B5EF4-FFF2-40B4-BE49-F238E27FC236}">
                <a16:creationId xmlns:a16="http://schemas.microsoft.com/office/drawing/2014/main" id="{F10AD116-67E6-4AB7-A884-BA1FE5992BB7}"/>
              </a:ext>
            </a:extLst>
          </p:cNvPr>
          <p:cNvSpPr>
            <a:spLocks xmlns:a="http://schemas.openxmlformats.org/drawingml/2006/main" noGrp="1"/>
          </p:cNvSpPr>
          <p:nvPr/>
        </p:nvSpPr>
        <p:spPr>
          <a:xfrm xmlns:a="http://schemas.openxmlformats.org/drawingml/2006/main">
            <a:off x="5852160" y="17348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SCIAN: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Sistema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Clasificación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Industrial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América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Norte</a:t>
            </a:r>
          </a:p>
        </p:txBody>
      </p:sp>
      <p:sp>
        <p:nvSpPr>
          <p:cNvPr id="41" name="GLOSARIO_right_3_1">
            <a:extLst xmlns:a="http://schemas.openxmlformats.org/drawingml/2006/main">
              <a:ext uri="{FF2B5EF4-FFF2-40B4-BE49-F238E27FC236}">
                <a16:creationId xmlns:a16="http://schemas.microsoft.com/office/drawing/2014/main" id="{76F3ED9A-787E-463F-AF7E-B33596B9574C}"/>
              </a:ext>
            </a:extLst>
          </p:cNvPr>
          <p:cNvSpPr>
            <a:spLocks xmlns:a="http://schemas.openxmlformats.org/drawingml/2006/main" noGrp="1"/>
          </p:cNvSpPr>
          <p:nvPr/>
        </p:nvSpPr>
        <p:spPr>
          <a:xfrm xmlns:a="http://schemas.openxmlformats.org/drawingml/2006/main">
            <a:off x="5852160" y="19354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Secretaría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Economía</a:t>
            </a:r>
          </a:p>
        </p:txBody>
      </p:sp>
      <p:sp>
        <p:nvSpPr>
          <p:cNvPr id="42" name="GLOSARIO_right_4_1">
            <a:extLst xmlns:a="http://schemas.openxmlformats.org/drawingml/2006/main">
              <a:ext uri="{FF2B5EF4-FFF2-40B4-BE49-F238E27FC236}">
                <a16:creationId xmlns:a16="http://schemas.microsoft.com/office/drawing/2014/main" id="{413F936E-F71F-40FD-9CBD-28732EF56EC3}"/>
              </a:ext>
            </a:extLst>
          </p:cNvPr>
          <p:cNvSpPr>
            <a:spLocks xmlns:a="http://schemas.openxmlformats.org/drawingml/2006/main" noGrp="1"/>
          </p:cNvSpPr>
          <p:nvPr/>
        </p:nvSpPr>
        <p:spPr>
          <a:xfrm xmlns:a="http://schemas.openxmlformats.org/drawingml/2006/main">
            <a:off x="5852160" y="21361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SYNTHESIA: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Plataforma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videos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p>
        </p:txBody>
      </p:sp>
      <p:sp>
        <p:nvSpPr>
          <p:cNvPr id="43" name="GLOSARIO_right_4_2">
            <a:extLst xmlns:a="http://schemas.openxmlformats.org/drawingml/2006/main">
              <a:ext uri="{FF2B5EF4-FFF2-40B4-BE49-F238E27FC236}">
                <a16:creationId xmlns:a16="http://schemas.microsoft.com/office/drawing/2014/main" id="{84BA95DE-4E80-4B06-92EC-7A4C232F867B}"/>
              </a:ext>
            </a:extLst>
          </p:cNvPr>
          <p:cNvSpPr>
            <a:spLocks xmlns:a="http://schemas.openxmlformats.org/drawingml/2006/main" noGrp="1"/>
          </p:cNvSpPr>
          <p:nvPr/>
        </p:nvSpPr>
        <p:spPr>
          <a:xfrm xmlns:a="http://schemas.openxmlformats.org/drawingml/2006/main">
            <a:off x="5852160" y="22479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sintéticas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p>
        </p:txBody>
      </p:sp>
      <p:sp>
        <p:nvSpPr>
          <p:cNvPr id="44" name="GLOSARIO_right_5_1">
            <a:extLst xmlns:a="http://schemas.openxmlformats.org/drawingml/2006/main">
              <a:ext uri="{FF2B5EF4-FFF2-40B4-BE49-F238E27FC236}">
                <a16:creationId xmlns:a16="http://schemas.microsoft.com/office/drawing/2014/main" id="{E4748B60-9371-4380-A539-AA6CB000EBE3}"/>
              </a:ext>
            </a:extLst>
          </p:cNvPr>
          <p:cNvSpPr>
            <a:spLocks xmlns:a="http://schemas.openxmlformats.org/drawingml/2006/main" noGrp="1"/>
          </p:cNvSpPr>
          <p:nvPr/>
        </p:nvSpPr>
        <p:spPr>
          <a:xfrm xmlns:a="http://schemas.openxmlformats.org/drawingml/2006/main">
            <a:off x="5852160" y="24485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SMS: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Mensaje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Texto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Short</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Message</a:t>
            </a:r>
            <a:r>
              <a:rPr sz="720" b="0" i="0">
                <a:solidFill>
                  <a:srgbClr val="263632"/>
                </a:solidFill>
                <a:latin typeface="Noto Sans"/>
                <a:ea typeface="Noto Sans"/>
                <a:cs typeface="Noto Sans"/>
              </a:rPr>
              <a:t> </a:t>
            </a:r>
            <a:r>
              <a:rPr sz="720" b="0" i="1">
                <a:solidFill>
                  <a:srgbClr val="263632"/>
                </a:solidFill>
                <a:latin typeface="Noto Sans"/>
                <a:ea typeface="Noto Sans"/>
                <a:cs typeface="Noto Sans"/>
              </a:rPr>
              <a:t>Service</a:t>
            </a:r>
            <a:r>
              <a:rPr sz="720" b="0" i="0">
                <a:solidFill>
                  <a:srgbClr val="263632"/>
                </a:solidFill>
                <a:latin typeface="Noto Sans"/>
                <a:ea typeface="Noto Sans"/>
                <a:cs typeface="Noto Sans"/>
              </a:rPr>
              <a: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p>
        </p:txBody>
      </p:sp>
      <p:sp>
        <p:nvSpPr>
          <p:cNvPr id="45" name="GLOSARIO_right_5_2">
            <a:extLst xmlns:a="http://schemas.openxmlformats.org/drawingml/2006/main">
              <a:ext uri="{FF2B5EF4-FFF2-40B4-BE49-F238E27FC236}">
                <a16:creationId xmlns:a16="http://schemas.microsoft.com/office/drawing/2014/main" id="{AA1B58F8-07DC-41ED-AF7A-06610A750AFE}"/>
              </a:ext>
            </a:extLst>
          </p:cNvPr>
          <p:cNvSpPr>
            <a:spLocks xmlns:a="http://schemas.openxmlformats.org/drawingml/2006/main" noGrp="1"/>
          </p:cNvSpPr>
          <p:nvPr/>
        </p:nvSpPr>
        <p:spPr>
          <a:xfrm xmlns:a="http://schemas.openxmlformats.org/drawingml/2006/main">
            <a:off x="5852160" y="25603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siglas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inglés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SMS)</a:t>
            </a:r>
          </a:p>
        </p:txBody>
      </p:sp>
      <p:sp>
        <p:nvSpPr>
          <p:cNvPr id="46" name="GLOSARIO_right_6_1">
            <a:extLst xmlns:a="http://schemas.openxmlformats.org/drawingml/2006/main">
              <a:ext uri="{FF2B5EF4-FFF2-40B4-BE49-F238E27FC236}">
                <a16:creationId xmlns:a16="http://schemas.microsoft.com/office/drawing/2014/main" id="{C6D85338-1C8E-4385-8307-D91A5833C205}"/>
              </a:ext>
            </a:extLst>
          </p:cNvPr>
          <p:cNvSpPr>
            <a:spLocks xmlns:a="http://schemas.openxmlformats.org/drawingml/2006/main" noGrp="1"/>
          </p:cNvSpPr>
          <p:nvPr/>
        </p:nvSpPr>
        <p:spPr>
          <a:xfrm xmlns:a="http://schemas.openxmlformats.org/drawingml/2006/main">
            <a:off x="5852160" y="27609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Tasa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Crecimiento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Anual</a:t>
            </a:r>
          </a:p>
        </p:txBody>
      </p:sp>
      <p:sp>
        <p:nvSpPr>
          <p:cNvPr id="47" name="GLOSARIO_right_7_1">
            <a:extLst xmlns:a="http://schemas.openxmlformats.org/drawingml/2006/main">
              <a:ext uri="{FF2B5EF4-FFF2-40B4-BE49-F238E27FC236}">
                <a16:creationId xmlns:a16="http://schemas.microsoft.com/office/drawing/2014/main" id="{F305028A-C6FD-4F9C-AD6C-F95DD45B71CA}"/>
              </a:ext>
            </a:extLst>
          </p:cNvPr>
          <p:cNvSpPr>
            <a:spLocks xmlns:a="http://schemas.openxmlformats.org/drawingml/2006/main" noGrp="1"/>
          </p:cNvSpPr>
          <p:nvPr/>
        </p:nvSpPr>
        <p:spPr>
          <a:xfrm xmlns:a="http://schemas.openxmlformats.org/drawingml/2006/main">
            <a:off x="5852160" y="29616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TDT: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Terrestre</a:t>
            </a:r>
          </a:p>
        </p:txBody>
      </p:sp>
      <p:sp>
        <p:nvSpPr>
          <p:cNvPr id="48" name="GLOSARIO_right_8_1">
            <a:extLst xmlns:a="http://schemas.openxmlformats.org/drawingml/2006/main">
              <a:ext uri="{FF2B5EF4-FFF2-40B4-BE49-F238E27FC236}">
                <a16:creationId xmlns:a16="http://schemas.microsoft.com/office/drawing/2014/main" id="{8D0A407C-EEC1-45EC-8B90-3F540633ABA8}"/>
              </a:ext>
            </a:extLst>
          </p:cNvPr>
          <p:cNvSpPr>
            <a:spLocks xmlns:a="http://schemas.openxmlformats.org/drawingml/2006/main" noGrp="1"/>
          </p:cNvSpPr>
          <p:nvPr/>
        </p:nvSpPr>
        <p:spPr>
          <a:xfrm xmlns:a="http://schemas.openxmlformats.org/drawingml/2006/main">
            <a:off x="5852160" y="31623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TIC:</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Tecnologías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Comunicación</a:t>
            </a:r>
          </a:p>
        </p:txBody>
      </p:sp>
      <p:sp>
        <p:nvSpPr>
          <p:cNvPr id="49" name="GLOSARIO_right_9_1">
            <a:extLst xmlns:a="http://schemas.openxmlformats.org/drawingml/2006/main">
              <a:ext uri="{FF2B5EF4-FFF2-40B4-BE49-F238E27FC236}">
                <a16:creationId xmlns:a16="http://schemas.microsoft.com/office/drawing/2014/main" id="{B0EC5F07-BDF7-4A21-99D8-53B5579D6D46}"/>
              </a:ext>
            </a:extLst>
          </p:cNvPr>
          <p:cNvSpPr>
            <a:spLocks xmlns:a="http://schemas.openxmlformats.org/drawingml/2006/main" noGrp="1"/>
          </p:cNvSpPr>
          <p:nvPr/>
        </p:nvSpPr>
        <p:spPr>
          <a:xfrm xmlns:a="http://schemas.openxmlformats.org/drawingml/2006/main">
            <a:off x="5852160" y="336296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TyR: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p>
        </p:txBody>
      </p:sp>
      <p:sp>
        <p:nvSpPr>
          <p:cNvPr id="50" name="GLOSARIO_right_10_1">
            <a:extLst xmlns:a="http://schemas.openxmlformats.org/drawingml/2006/main">
              <a:ext uri="{FF2B5EF4-FFF2-40B4-BE49-F238E27FC236}">
                <a16:creationId xmlns:a16="http://schemas.microsoft.com/office/drawing/2014/main" id="{15E9B818-2C7C-4263-B3A8-92BC5CD4ED2B}"/>
              </a:ext>
            </a:extLst>
          </p:cNvPr>
          <p:cNvSpPr>
            <a:spLocks xmlns:a="http://schemas.openxmlformats.org/drawingml/2006/main" noGrp="1"/>
          </p:cNvSpPr>
          <p:nvPr/>
        </p:nvSpPr>
        <p:spPr>
          <a:xfrm xmlns:a="http://schemas.openxmlformats.org/drawingml/2006/main">
            <a:off x="5852160" y="356362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Económicas</a:t>
            </a:r>
          </a:p>
        </p:txBody>
      </p:sp>
      <p:sp>
        <p:nvSpPr>
          <p:cNvPr id="51" name="GLOSARIO_right_11_1">
            <a:extLst xmlns:a="http://schemas.openxmlformats.org/drawingml/2006/main">
              <a:ext uri="{FF2B5EF4-FFF2-40B4-BE49-F238E27FC236}">
                <a16:creationId xmlns:a16="http://schemas.microsoft.com/office/drawing/2014/main" id="{2518C1A0-ABCD-4004-B656-887D23CE27CC}"/>
              </a:ext>
            </a:extLst>
          </p:cNvPr>
          <p:cNvSpPr>
            <a:spLocks xmlns:a="http://schemas.openxmlformats.org/drawingml/2006/main" noGrp="1"/>
          </p:cNvSpPr>
          <p:nvPr/>
        </p:nvSpPr>
        <p:spPr>
          <a:xfrm xmlns:a="http://schemas.openxmlformats.org/drawingml/2006/main">
            <a:off x="5852160" y="376428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Espectro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Radioeléctrico</a:t>
            </a:r>
          </a:p>
        </p:txBody>
      </p:sp>
      <p:sp>
        <p:nvSpPr>
          <p:cNvPr id="52" name="GLOSARIO_right_12_1">
            <a:extLst xmlns:a="http://schemas.openxmlformats.org/drawingml/2006/main">
              <a:ext uri="{FF2B5EF4-FFF2-40B4-BE49-F238E27FC236}">
                <a16:creationId xmlns:a16="http://schemas.microsoft.com/office/drawing/2014/main" id="{3349765E-9618-496F-854F-CD53A78071F0}"/>
              </a:ext>
            </a:extLst>
          </p:cNvPr>
          <p:cNvSpPr>
            <a:spLocks xmlns:a="http://schemas.openxmlformats.org/drawingml/2006/main" noGrp="1"/>
          </p:cNvSpPr>
          <p:nvPr/>
        </p:nvSpPr>
        <p:spPr>
          <a:xfrm xmlns:a="http://schemas.openxmlformats.org/drawingml/2006/main">
            <a:off x="5852160" y="396494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UCS: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p>
        </p:txBody>
      </p:sp>
      <p:sp>
        <p:nvSpPr>
          <p:cNvPr id="53" name="GLOSARIO_right_13_1">
            <a:extLst xmlns:a="http://schemas.openxmlformats.org/drawingml/2006/main">
              <a:ext uri="{FF2B5EF4-FFF2-40B4-BE49-F238E27FC236}">
                <a16:creationId xmlns:a16="http://schemas.microsoft.com/office/drawing/2014/main" id="{10BB834E-AD04-4470-8236-71E0D502AAE9}"/>
              </a:ext>
            </a:extLst>
          </p:cNvPr>
          <p:cNvSpPr>
            <a:spLocks xmlns:a="http://schemas.openxmlformats.org/drawingml/2006/main" noGrp="1"/>
          </p:cNvSpPr>
          <p:nvPr/>
        </p:nvSpPr>
        <p:spPr>
          <a:xfrm xmlns:a="http://schemas.openxmlformats.org/drawingml/2006/main">
            <a:off x="5852160" y="4165600"/>
            <a:ext cx="28829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1" i="0">
                <a:solidFill>
                  <a:srgbClr val="153B3C"/>
                </a:solidFill>
                <a:latin typeface="Noto Sans"/>
                <a:ea typeface="Noto Sans"/>
                <a:cs typeface="Noto Sans"/>
              </a:rPr>
              <a:t>UMCA: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Unidad</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Contenidos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Audiovisuales</a:t>
            </a:r>
          </a:p>
        </p:txBody>
      </p:sp>
      <p:sp>
        <p:nvSpPr>
          <p:cNvPr id="54" name="ANUARIO_PAGE_NUMBER">
            <a:extLst xmlns:a="http://schemas.openxmlformats.org/drawingml/2006/main">
              <a:ext uri="{FF2B5EF4-FFF2-40B4-BE49-F238E27FC236}">
                <a16:creationId xmlns:a16="http://schemas.microsoft.com/office/drawing/2014/main" id="{E1455A6A-EBA4-4834-BC3A-5ECD78444352}"/>
              </a:ext>
            </a:extLst>
          </p:cNvPr>
          <p:cNvSpPr>
            <a:spLocks xmlns:a="http://schemas.openxmlformats.org/drawingml/2006/main" noGrp="1"/>
          </p:cNvSpPr>
          <p:nvPr/>
        </p:nvSpPr>
        <p:spPr>
          <a:xfrm xmlns:a="http://schemas.openxmlformats.org/drawingml/2006/main">
            <a:off x="304800" y="499745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6</a:t>
            </a:r>
          </a:p>
        </p:txBody>
      </p:sp>
      <p:sp>
        <p:nvSpPr>
          <p:cNvPr id="55" name="ANUARIO_EDICION_PIE">
            <a:extLst xmlns:a="http://schemas.openxmlformats.org/drawingml/2006/main">
              <a:ext uri="{FF2B5EF4-FFF2-40B4-BE49-F238E27FC236}">
                <a16:creationId xmlns:a16="http://schemas.microsoft.com/office/drawing/2014/main" id="{916E9D32-8FCF-454B-91DC-97F4E81C61D1}"/>
              </a:ext>
            </a:extLst>
          </p:cNvPr>
          <p:cNvSpPr>
            <a:spLocks xmlns:a="http://schemas.openxmlformats.org/drawingml/2006/main" noGrp="1"/>
          </p:cNvSpPr>
          <p:nvPr/>
        </p:nvSpPr>
        <p:spPr>
          <a:xfrm xmlns:a="http://schemas.openxmlformats.org/drawingml/2006/main">
            <a:off x="6858000" y="499745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861836591"/>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7.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7" name=""/>
          <p:cNvPicPr>
            <a:picLocks xmlns:a="http://schemas.openxmlformats.org/drawingml/2006/main" noChangeAspect="1"/>
          </p:cNvPicPr>
          <p:nvPr/>
        </p:nvPicPr>
        <p:blipFill>
          <a:blip xmlns:r="http://schemas.openxmlformats.org/officeDocument/2006/relationships" xmlns:a="http://schemas.openxmlformats.org/drawingml/2006/main" r:embed="Ra2f113fc51c24590"/>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5124f4555e354735"/>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_QR_FONDO">
            <a:extLst xmlns:a="http://schemas.openxmlformats.org/drawingml/2006/main">
              <a:ext uri="{FF2B5EF4-FFF2-40B4-BE49-F238E27FC236}">
                <a16:creationId xmlns:a16="http://schemas.microsoft.com/office/drawing/2014/main" id="{0385387C-CD2F-4D6E-A9E9-D0114DF4FAC8}"/>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055272988eb84dce"/>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648ba0efd3e4fb5"/>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ANUARIO_INTRO_DESIGN_2026">
            <a:extLst xmlns:a="http://schemas.openxmlformats.org/drawingml/2006/main">
              <a:ext uri="{FF2B5EF4-FFF2-40B4-BE49-F238E27FC236}">
                <a16:creationId xmlns:a16="http://schemas.microsoft.com/office/drawing/2014/main" id="{D2E56BA8-34C0-4D45-8C82-A58470D01637}"/>
              </a:ext>
            </a:extLst>
          </p:cNvPr>
          <p:cNvSpPr>
            <a:spLocks xmlns:a="http://schemas.openxmlformats.org/drawingml/2006/main" noGrp="1"/>
          </p:cNvSpPr>
          <p:nvPr/>
        </p:nvSpPr>
        <p:spPr>
          <a:xfrm xmlns:a="http://schemas.openxmlformats.org/drawingml/2006/main">
            <a:off x="304800" y="609600"/>
            <a:ext cx="2032000" cy="4267200"/>
          </a:xfrm>
          <a:prstGeom xmlns:a="http://schemas.openxmlformats.org/drawingml/2006/main" prst="roundRect">
            <a:avLst>
              <a:gd name="adj" fmla="val 3750"/>
            </a:avLst>
          </a:prstGeom>
          <a:solidFill xmlns:a="http://schemas.openxmlformats.org/drawingml/2006/main">
            <a:srgbClr val="1A4043"/>
          </a:solidFill>
          <a:ln xmlns:a="http://schemas.openxmlformats.org/drawingml/2006/main" w="8890">
            <a:solidFill>
              <a:srgbClr val="1A4043"/>
            </a:solidFill>
          </a:ln>
        </p:spPr>
      </p:sp>
      <p:sp>
        <p:nvSpPr>
          <p:cNvPr id="7" name="INTRO_DIVISOR_LATERAL">
            <a:extLst xmlns:a="http://schemas.openxmlformats.org/drawingml/2006/main">
              <a:ext uri="{FF2B5EF4-FFF2-40B4-BE49-F238E27FC236}">
                <a16:creationId xmlns:a16="http://schemas.microsoft.com/office/drawing/2014/main" id="{A0D154AD-E861-4067-9A80-8713D001C5DA}"/>
              </a:ext>
            </a:extLst>
          </p:cNvPr>
          <p:cNvSpPr>
            <a:spLocks xmlns:a="http://schemas.openxmlformats.org/drawingml/2006/main" noGrp="1"/>
          </p:cNvSpPr>
          <p:nvPr/>
        </p:nvSpPr>
        <p:spPr>
          <a:xfrm xmlns:a="http://schemas.openxmlformats.org/drawingml/2006/main">
            <a:off x="482600" y="990600"/>
            <a:ext cx="355600" cy="10160"/>
          </a:xfrm>
          <a:prstGeom xmlns:a="http://schemas.openxmlformats.org/drawingml/2006/main" prst="rect">
            <a:avLst/>
          </a:prstGeom>
          <a:solidFill xmlns:a="http://schemas.openxmlformats.org/drawingml/2006/main">
            <a:srgbClr val="9FD3C7"/>
          </a:solidFill>
          <a:ln xmlns:a="http://schemas.openxmlformats.org/drawingml/2006/main" w="0">
            <a:noFill/>
          </a:ln>
        </p:spPr>
      </p:sp>
      <p:sp>
        <p:nvSpPr>
          <p:cNvPr id="8" name="INTRO_RECUADRO_RESUMEN">
            <a:extLst xmlns:a="http://schemas.openxmlformats.org/drawingml/2006/main">
              <a:ext uri="{FF2B5EF4-FFF2-40B4-BE49-F238E27FC236}">
                <a16:creationId xmlns:a16="http://schemas.microsoft.com/office/drawing/2014/main" id="{B02C55A4-B8E8-4019-95D0-C677E45EAB4F}"/>
              </a:ext>
            </a:extLst>
          </p:cNvPr>
          <p:cNvSpPr>
            <a:spLocks xmlns:a="http://schemas.openxmlformats.org/drawingml/2006/main" noGrp="1"/>
          </p:cNvSpPr>
          <p:nvPr/>
        </p:nvSpPr>
        <p:spPr>
          <a:xfrm xmlns:a="http://schemas.openxmlformats.org/drawingml/2006/main">
            <a:off x="2489200" y="609600"/>
            <a:ext cx="6350000" cy="482600"/>
          </a:xfrm>
          <a:prstGeom xmlns:a="http://schemas.openxmlformats.org/drawingml/2006/main" prst="roundRect">
            <a:avLst>
              <a:gd name="adj" fmla="val 15789"/>
            </a:avLst>
          </a:prstGeom>
          <a:solidFill xmlns:a="http://schemas.openxmlformats.org/drawingml/2006/main">
            <a:srgbClr val="EAF3F1"/>
          </a:solidFill>
          <a:ln xmlns:a="http://schemas.openxmlformats.org/drawingml/2006/main" w="8890">
            <a:solidFill>
              <a:srgbClr val="EAF3F1"/>
            </a:solidFill>
          </a:ln>
        </p:spPr>
      </p:sp>
      <p:sp>
        <p:nvSpPr>
          <p:cNvPr id="9" name="INTRO_ACENTO_RESUMEN">
            <a:extLst xmlns:a="http://schemas.openxmlformats.org/drawingml/2006/main">
              <a:ext uri="{FF2B5EF4-FFF2-40B4-BE49-F238E27FC236}">
                <a16:creationId xmlns:a16="http://schemas.microsoft.com/office/drawing/2014/main" id="{7F9FF756-7030-4ACD-955B-50DA09E43F2A}"/>
              </a:ext>
            </a:extLst>
          </p:cNvPr>
          <p:cNvSpPr>
            <a:spLocks xmlns:a="http://schemas.openxmlformats.org/drawingml/2006/main" noGrp="1"/>
          </p:cNvSpPr>
          <p:nvPr/>
        </p:nvSpPr>
        <p:spPr>
          <a:xfrm xmlns:a="http://schemas.openxmlformats.org/drawingml/2006/main">
            <a:off x="2489200" y="685800"/>
            <a:ext cx="38100" cy="330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0" name="INTRO_RECUADRO_1">
            <a:extLst xmlns:a="http://schemas.openxmlformats.org/drawingml/2006/main">
              <a:ext uri="{FF2B5EF4-FFF2-40B4-BE49-F238E27FC236}">
                <a16:creationId xmlns:a16="http://schemas.microsoft.com/office/drawing/2014/main" id="{67720E19-437C-4106-BF4D-CD921195373C}"/>
              </a:ext>
            </a:extLst>
          </p:cNvPr>
          <p:cNvSpPr>
            <a:spLocks xmlns:a="http://schemas.openxmlformats.org/drawingml/2006/main" noGrp="1"/>
          </p:cNvSpPr>
          <p:nvPr/>
        </p:nvSpPr>
        <p:spPr>
          <a:xfrm xmlns:a="http://schemas.openxmlformats.org/drawingml/2006/main">
            <a:off x="2489200" y="1193800"/>
            <a:ext cx="6350000" cy="609600"/>
          </a:xfrm>
          <a:prstGeom xmlns:a="http://schemas.openxmlformats.org/drawingml/2006/main" prst="roundRect">
            <a:avLst>
              <a:gd name="adj" fmla="val 6250"/>
            </a:avLst>
          </a:prstGeom>
          <a:solidFill xmlns:a="http://schemas.openxmlformats.org/drawingml/2006/main">
            <a:srgbClr val="F6FAF9"/>
          </a:solidFill>
          <a:ln xmlns:a="http://schemas.openxmlformats.org/drawingml/2006/main" w="8890">
            <a:solidFill>
              <a:srgbClr val="DCE9E6"/>
            </a:solidFill>
          </a:ln>
        </p:spPr>
      </p:sp>
      <p:sp>
        <p:nvSpPr>
          <p:cNvPr id="11" name="INTRO_ACENTO_1">
            <a:extLst xmlns:a="http://schemas.openxmlformats.org/drawingml/2006/main">
              <a:ext uri="{FF2B5EF4-FFF2-40B4-BE49-F238E27FC236}">
                <a16:creationId xmlns:a16="http://schemas.microsoft.com/office/drawing/2014/main" id="{24323903-7799-4BD3-9875-4CD2FA212D99}"/>
              </a:ext>
            </a:extLst>
          </p:cNvPr>
          <p:cNvSpPr>
            <a:spLocks xmlns:a="http://schemas.openxmlformats.org/drawingml/2006/main" noGrp="1"/>
          </p:cNvSpPr>
          <p:nvPr/>
        </p:nvSpPr>
        <p:spPr>
          <a:xfrm xmlns:a="http://schemas.openxmlformats.org/drawingml/2006/main">
            <a:off x="2489200" y="1270000"/>
            <a:ext cx="38100" cy="457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2" name="INTRO_SEPARADOR_1">
            <a:extLst xmlns:a="http://schemas.openxmlformats.org/drawingml/2006/main">
              <a:ext uri="{FF2B5EF4-FFF2-40B4-BE49-F238E27FC236}">
                <a16:creationId xmlns:a16="http://schemas.microsoft.com/office/drawing/2014/main" id="{E4E544F4-BE6C-4C19-8225-FA4091D83B5D}"/>
              </a:ext>
            </a:extLst>
          </p:cNvPr>
          <p:cNvSpPr>
            <a:spLocks xmlns:a="http://schemas.openxmlformats.org/drawingml/2006/main" noGrp="1"/>
          </p:cNvSpPr>
          <p:nvPr/>
        </p:nvSpPr>
        <p:spPr>
          <a:xfrm xmlns:a="http://schemas.openxmlformats.org/drawingml/2006/main">
            <a:off x="4546600" y="1295400"/>
            <a:ext cx="6985" cy="406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3" name="INTRO_NUMERO_FONDO_1">
            <a:extLst xmlns:a="http://schemas.openxmlformats.org/drawingml/2006/main">
              <a:ext uri="{FF2B5EF4-FFF2-40B4-BE49-F238E27FC236}">
                <a16:creationId xmlns:a16="http://schemas.microsoft.com/office/drawing/2014/main" id="{DD71E86F-A603-4AD0-AC0C-84A6E72518F4}"/>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4" name="INTRO_RECUADRO_2">
            <a:extLst xmlns:a="http://schemas.openxmlformats.org/drawingml/2006/main">
              <a:ext uri="{FF2B5EF4-FFF2-40B4-BE49-F238E27FC236}">
                <a16:creationId xmlns:a16="http://schemas.microsoft.com/office/drawing/2014/main" id="{41AF621E-E608-4D88-8A23-A65F33875DF6}"/>
              </a:ext>
            </a:extLst>
          </p:cNvPr>
          <p:cNvSpPr>
            <a:spLocks xmlns:a="http://schemas.openxmlformats.org/drawingml/2006/main" noGrp="1"/>
          </p:cNvSpPr>
          <p:nvPr/>
        </p:nvSpPr>
        <p:spPr>
          <a:xfrm xmlns:a="http://schemas.openxmlformats.org/drawingml/2006/main">
            <a:off x="2489200" y="1905000"/>
            <a:ext cx="6350000" cy="111760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8890">
            <a:solidFill>
              <a:srgbClr val="DCE9E6"/>
            </a:solidFill>
          </a:ln>
        </p:spPr>
      </p:sp>
      <p:sp>
        <p:nvSpPr>
          <p:cNvPr id="15" name="INTRO_ACENTO_2">
            <a:extLst xmlns:a="http://schemas.openxmlformats.org/drawingml/2006/main">
              <a:ext uri="{FF2B5EF4-FFF2-40B4-BE49-F238E27FC236}">
                <a16:creationId xmlns:a16="http://schemas.microsoft.com/office/drawing/2014/main" id="{61728129-C923-4AE3-B872-3F9512475F8F}"/>
              </a:ext>
            </a:extLst>
          </p:cNvPr>
          <p:cNvSpPr>
            <a:spLocks xmlns:a="http://schemas.openxmlformats.org/drawingml/2006/main" noGrp="1"/>
          </p:cNvSpPr>
          <p:nvPr/>
        </p:nvSpPr>
        <p:spPr>
          <a:xfrm xmlns:a="http://schemas.openxmlformats.org/drawingml/2006/main">
            <a:off x="2489200" y="1981200"/>
            <a:ext cx="38100" cy="965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6" name="INTRO_SEPARADOR_2">
            <a:extLst xmlns:a="http://schemas.openxmlformats.org/drawingml/2006/main">
              <a:ext uri="{FF2B5EF4-FFF2-40B4-BE49-F238E27FC236}">
                <a16:creationId xmlns:a16="http://schemas.microsoft.com/office/drawing/2014/main" id="{FCA12AE9-6DE3-4CBA-87FA-0FEC7376A968}"/>
              </a:ext>
            </a:extLst>
          </p:cNvPr>
          <p:cNvSpPr>
            <a:spLocks xmlns:a="http://schemas.openxmlformats.org/drawingml/2006/main" noGrp="1"/>
          </p:cNvSpPr>
          <p:nvPr/>
        </p:nvSpPr>
        <p:spPr>
          <a:xfrm xmlns:a="http://schemas.openxmlformats.org/drawingml/2006/main">
            <a:off x="4546600" y="2006600"/>
            <a:ext cx="6985" cy="9144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7" name="INTRO_NUMERO_FONDO_2">
            <a:extLst xmlns:a="http://schemas.openxmlformats.org/drawingml/2006/main">
              <a:ext uri="{FF2B5EF4-FFF2-40B4-BE49-F238E27FC236}">
                <a16:creationId xmlns:a16="http://schemas.microsoft.com/office/drawing/2014/main" id="{BCFC4FE7-D950-4860-B879-00A5F467326C}"/>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8" name="INTRO_RECUADRO_3">
            <a:extLst xmlns:a="http://schemas.openxmlformats.org/drawingml/2006/main">
              <a:ext uri="{FF2B5EF4-FFF2-40B4-BE49-F238E27FC236}">
                <a16:creationId xmlns:a16="http://schemas.microsoft.com/office/drawing/2014/main" id="{D75E72D0-845E-490E-A7D3-645ED3843907}"/>
              </a:ext>
            </a:extLst>
          </p:cNvPr>
          <p:cNvSpPr>
            <a:spLocks xmlns:a="http://schemas.openxmlformats.org/drawingml/2006/main" noGrp="1"/>
          </p:cNvSpPr>
          <p:nvPr/>
        </p:nvSpPr>
        <p:spPr>
          <a:xfrm xmlns:a="http://schemas.openxmlformats.org/drawingml/2006/main">
            <a:off x="2489200" y="3124200"/>
            <a:ext cx="6350000" cy="711200"/>
          </a:xfrm>
          <a:prstGeom xmlns:a="http://schemas.openxmlformats.org/drawingml/2006/main" prst="roundRect">
            <a:avLst>
              <a:gd name="adj" fmla="val 5357"/>
            </a:avLst>
          </a:prstGeom>
          <a:solidFill xmlns:a="http://schemas.openxmlformats.org/drawingml/2006/main">
            <a:srgbClr val="F6FAF9"/>
          </a:solidFill>
          <a:ln xmlns:a="http://schemas.openxmlformats.org/drawingml/2006/main" w="8890">
            <a:solidFill>
              <a:srgbClr val="DCE9E6"/>
            </a:solidFill>
          </a:ln>
        </p:spPr>
      </p:sp>
      <p:sp>
        <p:nvSpPr>
          <p:cNvPr id="19" name="INTRO_ACENTO_3">
            <a:extLst xmlns:a="http://schemas.openxmlformats.org/drawingml/2006/main">
              <a:ext uri="{FF2B5EF4-FFF2-40B4-BE49-F238E27FC236}">
                <a16:creationId xmlns:a16="http://schemas.microsoft.com/office/drawing/2014/main" id="{75B0D7BD-2865-4FCD-B213-CFEE7A5EC5D8}"/>
              </a:ext>
            </a:extLst>
          </p:cNvPr>
          <p:cNvSpPr>
            <a:spLocks xmlns:a="http://schemas.openxmlformats.org/drawingml/2006/main" noGrp="1"/>
          </p:cNvSpPr>
          <p:nvPr/>
        </p:nvSpPr>
        <p:spPr>
          <a:xfrm xmlns:a="http://schemas.openxmlformats.org/drawingml/2006/main">
            <a:off x="2489200" y="3200400"/>
            <a:ext cx="38100" cy="5588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0" name="INTRO_SEPARADOR_3">
            <a:extLst xmlns:a="http://schemas.openxmlformats.org/drawingml/2006/main">
              <a:ext uri="{FF2B5EF4-FFF2-40B4-BE49-F238E27FC236}">
                <a16:creationId xmlns:a16="http://schemas.microsoft.com/office/drawing/2014/main" id="{5DEFE68D-640A-4EF7-B111-356AE1457D92}"/>
              </a:ext>
            </a:extLst>
          </p:cNvPr>
          <p:cNvSpPr>
            <a:spLocks xmlns:a="http://schemas.openxmlformats.org/drawingml/2006/main" noGrp="1"/>
          </p:cNvSpPr>
          <p:nvPr/>
        </p:nvSpPr>
        <p:spPr>
          <a:xfrm xmlns:a="http://schemas.openxmlformats.org/drawingml/2006/main">
            <a:off x="4546600" y="3225800"/>
            <a:ext cx="6985" cy="5080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1" name="INTRO_NUMERO_FONDO_3">
            <a:extLst xmlns:a="http://schemas.openxmlformats.org/drawingml/2006/main">
              <a:ext uri="{FF2B5EF4-FFF2-40B4-BE49-F238E27FC236}">
                <a16:creationId xmlns:a16="http://schemas.microsoft.com/office/drawing/2014/main" id="{684DDF26-0094-45B8-AF9C-7197FF172D92}"/>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2" name="INTRO_RECUADRO_4">
            <a:extLst xmlns:a="http://schemas.openxmlformats.org/drawingml/2006/main">
              <a:ext uri="{FF2B5EF4-FFF2-40B4-BE49-F238E27FC236}">
                <a16:creationId xmlns:a16="http://schemas.microsoft.com/office/drawing/2014/main" id="{35202227-5020-46FB-B93C-ADFC0BF96C9E}"/>
              </a:ext>
            </a:extLst>
          </p:cNvPr>
          <p:cNvSpPr>
            <a:spLocks xmlns:a="http://schemas.openxmlformats.org/drawingml/2006/main" noGrp="1"/>
          </p:cNvSpPr>
          <p:nvPr/>
        </p:nvSpPr>
        <p:spPr>
          <a:xfrm xmlns:a="http://schemas.openxmlformats.org/drawingml/2006/main">
            <a:off x="2489200" y="3937000"/>
            <a:ext cx="6350000" cy="939800"/>
          </a:xfrm>
          <a:prstGeom xmlns:a="http://schemas.openxmlformats.org/drawingml/2006/main" prst="roundRect">
            <a:avLst>
              <a:gd name="adj" fmla="val 4054"/>
            </a:avLst>
          </a:prstGeom>
          <a:solidFill xmlns:a="http://schemas.openxmlformats.org/drawingml/2006/main">
            <a:srgbClr val="FFFFFF"/>
          </a:solidFill>
          <a:ln xmlns:a="http://schemas.openxmlformats.org/drawingml/2006/main" w="8890">
            <a:solidFill>
              <a:srgbClr val="DCE9E6"/>
            </a:solidFill>
          </a:ln>
        </p:spPr>
      </p:sp>
      <p:sp>
        <p:nvSpPr>
          <p:cNvPr id="23" name="INTRO_ACENTO_4">
            <a:extLst xmlns:a="http://schemas.openxmlformats.org/drawingml/2006/main">
              <a:ext uri="{FF2B5EF4-FFF2-40B4-BE49-F238E27FC236}">
                <a16:creationId xmlns:a16="http://schemas.microsoft.com/office/drawing/2014/main" id="{58F85FE1-4115-405B-A138-0582579952C2}"/>
              </a:ext>
            </a:extLst>
          </p:cNvPr>
          <p:cNvSpPr>
            <a:spLocks xmlns:a="http://schemas.openxmlformats.org/drawingml/2006/main" noGrp="1"/>
          </p:cNvSpPr>
          <p:nvPr/>
        </p:nvSpPr>
        <p:spPr>
          <a:xfrm xmlns:a="http://schemas.openxmlformats.org/drawingml/2006/main">
            <a:off x="2489200" y="4013200"/>
            <a:ext cx="38100" cy="7874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4" name="INTRO_SEPARADOR_4">
            <a:extLst xmlns:a="http://schemas.openxmlformats.org/drawingml/2006/main">
              <a:ext uri="{FF2B5EF4-FFF2-40B4-BE49-F238E27FC236}">
                <a16:creationId xmlns:a16="http://schemas.microsoft.com/office/drawing/2014/main" id="{995BE7EE-0661-403A-AC1E-2F6EB4E2FEA0}"/>
              </a:ext>
            </a:extLst>
          </p:cNvPr>
          <p:cNvSpPr>
            <a:spLocks xmlns:a="http://schemas.openxmlformats.org/drawingml/2006/main" noGrp="1"/>
          </p:cNvSpPr>
          <p:nvPr/>
        </p:nvSpPr>
        <p:spPr>
          <a:xfrm xmlns:a="http://schemas.openxmlformats.org/drawingml/2006/main">
            <a:off x="4546600" y="4038600"/>
            <a:ext cx="6985" cy="736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5" name="INTRO_NUMERO_FONDO_4">
            <a:extLst xmlns:a="http://schemas.openxmlformats.org/drawingml/2006/main">
              <a:ext uri="{FF2B5EF4-FFF2-40B4-BE49-F238E27FC236}">
                <a16:creationId xmlns:a16="http://schemas.microsoft.com/office/drawing/2014/main" id="{C8E650B4-8E56-4ECA-A798-B9FA6DA0AFC4}"/>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6" name="INTRO_TEXTO_1">
            <a:extLst xmlns:a="http://schemas.openxmlformats.org/drawingml/2006/main">
              <a:ext uri="{FF2B5EF4-FFF2-40B4-BE49-F238E27FC236}">
                <a16:creationId xmlns:a16="http://schemas.microsoft.com/office/drawing/2014/main" id="{0936628E-1D72-4C14-AF7F-6AEAD61F4725}"/>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99">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27" name="INTRO_TEXTO_2">
            <a:extLst xmlns:a="http://schemas.openxmlformats.org/drawingml/2006/main">
              <a:ext uri="{FF2B5EF4-FFF2-40B4-BE49-F238E27FC236}">
                <a16:creationId xmlns:a16="http://schemas.microsoft.com/office/drawing/2014/main" id="{875C8661-FE82-41D0-9071-B3890EC46261}"/>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81">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28" name="INTRO_TEXTO_3">
            <a:extLst xmlns:a="http://schemas.openxmlformats.org/drawingml/2006/main">
              <a:ext uri="{FF2B5EF4-FFF2-40B4-BE49-F238E27FC236}">
                <a16:creationId xmlns:a16="http://schemas.microsoft.com/office/drawing/2014/main" id="{2EBA0193-91BD-4DF8-AE47-002BD46651FF}"/>
              </a:ext>
            </a:extLst>
          </p:cNvPr>
          <p:cNvSpPr>
            <a:spLocks xmlns:a="http://schemas.openxmlformats.org/drawingml/2006/main" noGrp="1"/>
          </p:cNvSpPr>
          <p:nvPr/>
        </p:nvSpPr>
        <p:spPr>
          <a:xfrm xmlns:a="http://schemas.openxmlformats.org/drawingml/2006/main">
            <a:off x="5924880" y="225645"/>
            <a:ext cx="18288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4fd49cd4a32425c"/>
              </a:rPr>
              <a:t>BIT CRT · bit.crt.gob.mx/BitWebApp</a:t>
            </a:r>
          </a:p>
        </p:txBody>
      </p:sp>
      <p:sp>
        <p:nvSpPr>
          <p:cNvPr id="29" name="INTRO_SOBRE_TITULO">
            <a:extLst xmlns:a="http://schemas.openxmlformats.org/drawingml/2006/main">
              <a:ext uri="{FF2B5EF4-FFF2-40B4-BE49-F238E27FC236}">
                <a16:creationId xmlns:a16="http://schemas.microsoft.com/office/drawing/2014/main" id="{6AD782A6-78E1-4072-A3B9-2744407D92B6}"/>
              </a:ext>
            </a:extLst>
          </p:cNvPr>
          <p:cNvSpPr>
            <a:spLocks xmlns:a="http://schemas.openxmlformats.org/drawingml/2006/main" noGrp="1"/>
          </p:cNvSpPr>
          <p:nvPr/>
        </p:nvSpPr>
        <p:spPr>
          <a:xfrm xmlns:a="http://schemas.openxmlformats.org/drawingml/2006/main">
            <a:off x="482600" y="819150"/>
            <a:ext cx="1778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25">
                <a:solidFill>
                  <a:srgbClr val="263632"/>
                </a:solidFill>
                <a:latin typeface="Noto Sans"/>
                <a:ea typeface="Noto Sans"/>
                <a:cs typeface="Noto Sans"/>
              </a:defRPr>
            </a:pPr>
            <a:r>
              <a:rPr sz="625" b="1">
                <a:solidFill>
                  <a:srgbClr val="9FD3C7"/>
                </a:solidFill>
              </a:rPr>
              <a:t>S O B R E  E L  A N U A R I O</a:t>
            </a:r>
          </a:p>
        </p:txBody>
      </p:sp>
      <p:sp>
        <p:nvSpPr>
          <p:cNvPr id="30" name="INTRO_TEXTO_4">
            <a:extLst xmlns:a="http://schemas.openxmlformats.org/drawingml/2006/main">
              <a:ext uri="{FF2B5EF4-FFF2-40B4-BE49-F238E27FC236}">
                <a16:creationId xmlns:a16="http://schemas.microsoft.com/office/drawing/2014/main" id="{52216F8A-766E-4906-993B-05F1F8C3E9BD}"/>
              </a:ext>
            </a:extLst>
          </p:cNvPr>
          <p:cNvSpPr>
            <a:spLocks xmlns:a="http://schemas.openxmlformats.org/drawingml/2006/main" noGrp="1"/>
          </p:cNvSpPr>
          <p:nvPr/>
        </p:nvSpPr>
        <p:spPr>
          <a:xfrm xmlns:a="http://schemas.openxmlformats.org/drawingml/2006/main">
            <a:off x="482765" y="111718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Anuario Estadístico 2024 </a:t>
            </a:r>
          </a:p>
        </p:txBody>
      </p:sp>
      <p:sp>
        <p:nvSpPr>
          <p:cNvPr id="31" name="INTRO_TEXTO_5">
            <a:extLst xmlns:a="http://schemas.openxmlformats.org/drawingml/2006/main">
              <a:ext uri="{FF2B5EF4-FFF2-40B4-BE49-F238E27FC236}">
                <a16:creationId xmlns:a16="http://schemas.microsoft.com/office/drawing/2014/main" id="{6BD90689-F106-4D78-96B9-D99D17C93A77}"/>
              </a:ext>
            </a:extLst>
          </p:cNvPr>
          <p:cNvSpPr>
            <a:spLocks xmlns:a="http://schemas.openxmlformats.org/drawingml/2006/main" noGrp="1"/>
          </p:cNvSpPr>
          <p:nvPr/>
        </p:nvSpPr>
        <p:spPr>
          <a:xfrm xmlns:a="http://schemas.openxmlformats.org/drawingml/2006/main">
            <a:off x="482765" y="125147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presenta los principales </a:t>
            </a:r>
          </a:p>
        </p:txBody>
      </p:sp>
      <p:sp>
        <p:nvSpPr>
          <p:cNvPr id="32" name="INTRO_TEXTO_6">
            <a:extLst xmlns:a="http://schemas.openxmlformats.org/drawingml/2006/main">
              <a:ext uri="{FF2B5EF4-FFF2-40B4-BE49-F238E27FC236}">
                <a16:creationId xmlns:a16="http://schemas.microsoft.com/office/drawing/2014/main" id="{211F8CC9-11CC-4601-BE7C-63563AFEAD06}"/>
              </a:ext>
            </a:extLst>
          </p:cNvPr>
          <p:cNvSpPr>
            <a:spLocks xmlns:a="http://schemas.openxmlformats.org/drawingml/2006/main" noGrp="1"/>
          </p:cNvSpPr>
          <p:nvPr/>
        </p:nvSpPr>
        <p:spPr>
          <a:xfrm xmlns:a="http://schemas.openxmlformats.org/drawingml/2006/main">
            <a:off x="482765" y="138575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con los cuales el </a:t>
            </a:r>
          </a:p>
        </p:txBody>
      </p:sp>
      <p:sp>
        <p:nvSpPr>
          <p:cNvPr id="33" name="INTRO_TEXTO_7">
            <a:extLst xmlns:a="http://schemas.openxmlformats.org/drawingml/2006/main">
              <a:ext uri="{FF2B5EF4-FFF2-40B4-BE49-F238E27FC236}">
                <a16:creationId xmlns:a16="http://schemas.microsoft.com/office/drawing/2014/main" id="{536C90CD-CA37-4F83-940E-848F8B2BA1DE}"/>
              </a:ext>
            </a:extLst>
          </p:cNvPr>
          <p:cNvSpPr>
            <a:spLocks xmlns:a="http://schemas.openxmlformats.org/drawingml/2006/main" noGrp="1"/>
          </p:cNvSpPr>
          <p:nvPr/>
        </p:nvSpPr>
        <p:spPr>
          <a:xfrm xmlns:a="http://schemas.openxmlformats.org/drawingml/2006/main">
            <a:off x="482765" y="152002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Instituto Federal de </a:t>
            </a:r>
          </a:p>
        </p:txBody>
      </p:sp>
      <p:sp>
        <p:nvSpPr>
          <p:cNvPr id="34" name="INTRO_TEXTO_8">
            <a:extLst xmlns:a="http://schemas.openxmlformats.org/drawingml/2006/main">
              <a:ext uri="{FF2B5EF4-FFF2-40B4-BE49-F238E27FC236}">
                <a16:creationId xmlns:a16="http://schemas.microsoft.com/office/drawing/2014/main" id="{FD42C724-83B2-4138-BABA-7BD8C01261C1}"/>
              </a:ext>
            </a:extLst>
          </p:cNvPr>
          <p:cNvSpPr>
            <a:spLocks xmlns:a="http://schemas.openxmlformats.org/drawingml/2006/main" noGrp="1"/>
          </p:cNvSpPr>
          <p:nvPr/>
        </p:nvSpPr>
        <p:spPr>
          <a:xfrm xmlns:a="http://schemas.openxmlformats.org/drawingml/2006/main">
            <a:off x="482765" y="165430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(IFT) </a:t>
            </a:r>
          </a:p>
        </p:txBody>
      </p:sp>
      <p:sp>
        <p:nvSpPr>
          <p:cNvPr id="35" name="INTRO_TEXTO_9">
            <a:extLst xmlns:a="http://schemas.openxmlformats.org/drawingml/2006/main">
              <a:ext uri="{FF2B5EF4-FFF2-40B4-BE49-F238E27FC236}">
                <a16:creationId xmlns:a16="http://schemas.microsoft.com/office/drawing/2014/main" id="{DF84B6F4-7CED-4BB0-B780-5E6268BF34C9}"/>
              </a:ext>
            </a:extLst>
          </p:cNvPr>
          <p:cNvSpPr>
            <a:spLocks xmlns:a="http://schemas.openxmlformats.org/drawingml/2006/main" noGrp="1"/>
          </p:cNvSpPr>
          <p:nvPr/>
        </p:nvSpPr>
        <p:spPr>
          <a:xfrm xmlns:a="http://schemas.openxmlformats.org/drawingml/2006/main">
            <a:off x="482765" y="178858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monitorea la evolución de los </a:t>
            </a:r>
          </a:p>
        </p:txBody>
      </p:sp>
      <p:sp>
        <p:nvSpPr>
          <p:cNvPr id="36" name="INTRO_TEXTO_10">
            <a:extLst xmlns:a="http://schemas.openxmlformats.org/drawingml/2006/main">
              <a:ext uri="{FF2B5EF4-FFF2-40B4-BE49-F238E27FC236}">
                <a16:creationId xmlns:a16="http://schemas.microsoft.com/office/drawing/2014/main" id="{C03417EB-44CA-4D79-BB58-F8B351A2FC07}"/>
              </a:ext>
            </a:extLst>
          </p:cNvPr>
          <p:cNvSpPr>
            <a:spLocks xmlns:a="http://schemas.openxmlformats.org/drawingml/2006/main" noGrp="1"/>
          </p:cNvSpPr>
          <p:nvPr/>
        </p:nvSpPr>
        <p:spPr>
          <a:xfrm xmlns:a="http://schemas.openxmlformats.org/drawingml/2006/main">
            <a:off x="482765" y="192287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sectores de las </a:t>
            </a:r>
          </a:p>
        </p:txBody>
      </p:sp>
      <p:sp>
        <p:nvSpPr>
          <p:cNvPr id="37" name="INTRO_TEXTO_11">
            <a:extLst xmlns:a="http://schemas.openxmlformats.org/drawingml/2006/main">
              <a:ext uri="{FF2B5EF4-FFF2-40B4-BE49-F238E27FC236}">
                <a16:creationId xmlns:a16="http://schemas.microsoft.com/office/drawing/2014/main" id="{2AFDC85B-F3D3-4D87-BC6C-8D59FBBF7F2B}"/>
              </a:ext>
            </a:extLst>
          </p:cNvPr>
          <p:cNvSpPr>
            <a:spLocks xmlns:a="http://schemas.openxmlformats.org/drawingml/2006/main" noGrp="1"/>
          </p:cNvSpPr>
          <p:nvPr/>
        </p:nvSpPr>
        <p:spPr>
          <a:xfrm xmlns:a="http://schemas.openxmlformats.org/drawingml/2006/main">
            <a:off x="482765" y="205714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la </a:t>
            </a:r>
          </a:p>
        </p:txBody>
      </p:sp>
      <p:sp>
        <p:nvSpPr>
          <p:cNvPr id="38" name="INTRO_TEXTO_12">
            <a:extLst xmlns:a="http://schemas.openxmlformats.org/drawingml/2006/main">
              <a:ext uri="{FF2B5EF4-FFF2-40B4-BE49-F238E27FC236}">
                <a16:creationId xmlns:a16="http://schemas.microsoft.com/office/drawing/2014/main" id="{DAC77413-34AF-4358-B218-0DE67E23F091}"/>
              </a:ext>
            </a:extLst>
          </p:cNvPr>
          <p:cNvSpPr>
            <a:spLocks xmlns:a="http://schemas.openxmlformats.org/drawingml/2006/main" noGrp="1"/>
          </p:cNvSpPr>
          <p:nvPr/>
        </p:nvSpPr>
        <p:spPr>
          <a:xfrm xmlns:a="http://schemas.openxmlformats.org/drawingml/2006/main">
            <a:off x="482765" y="219142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 (TyR) a nivel </a:t>
            </a:r>
          </a:p>
        </p:txBody>
      </p:sp>
      <p:sp>
        <p:nvSpPr>
          <p:cNvPr id="39" name="INTRO_TEXTO_13">
            <a:extLst xmlns:a="http://schemas.openxmlformats.org/drawingml/2006/main">
              <a:ext uri="{FF2B5EF4-FFF2-40B4-BE49-F238E27FC236}">
                <a16:creationId xmlns:a16="http://schemas.microsoft.com/office/drawing/2014/main" id="{2880C6F5-850C-4338-9989-F687515D82C2}"/>
              </a:ext>
            </a:extLst>
          </p:cNvPr>
          <p:cNvSpPr>
            <a:spLocks xmlns:a="http://schemas.openxmlformats.org/drawingml/2006/main" noGrp="1"/>
          </p:cNvSpPr>
          <p:nvPr/>
        </p:nvSpPr>
        <p:spPr>
          <a:xfrm xmlns:a="http://schemas.openxmlformats.org/drawingml/2006/main">
            <a:off x="482765" y="232570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nacional y para algunos </a:t>
            </a:r>
          </a:p>
        </p:txBody>
      </p:sp>
      <p:sp>
        <p:nvSpPr>
          <p:cNvPr id="40" name="INTRO_TEXTO_14">
            <a:extLst xmlns:a="http://schemas.openxmlformats.org/drawingml/2006/main">
              <a:ext uri="{FF2B5EF4-FFF2-40B4-BE49-F238E27FC236}">
                <a16:creationId xmlns:a16="http://schemas.microsoft.com/office/drawing/2014/main" id="{C2812C43-6634-42CD-A078-9F68137E8AEE}"/>
              </a:ext>
            </a:extLst>
          </p:cNvPr>
          <p:cNvSpPr>
            <a:spLocks xmlns:a="http://schemas.openxmlformats.org/drawingml/2006/main" noGrp="1"/>
          </p:cNvSpPr>
          <p:nvPr/>
        </p:nvSpPr>
        <p:spPr>
          <a:xfrm xmlns:a="http://schemas.openxmlformats.org/drawingml/2006/main">
            <a:off x="482765" y="245999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indicadores a nivel entidad </a:t>
            </a:r>
          </a:p>
        </p:txBody>
      </p:sp>
      <p:sp>
        <p:nvSpPr>
          <p:cNvPr id="41" name="INTRO_TEXTO_15">
            <a:extLst xmlns:a="http://schemas.openxmlformats.org/drawingml/2006/main">
              <a:ext uri="{FF2B5EF4-FFF2-40B4-BE49-F238E27FC236}">
                <a16:creationId xmlns:a16="http://schemas.microsoft.com/office/drawing/2014/main" id="{9764DC29-6C4D-4758-8F65-EC118DCDDC92}"/>
              </a:ext>
            </a:extLst>
          </p:cNvPr>
          <p:cNvSpPr>
            <a:spLocks xmlns:a="http://schemas.openxmlformats.org/drawingml/2006/main" noGrp="1"/>
          </p:cNvSpPr>
          <p:nvPr/>
        </p:nvSpPr>
        <p:spPr>
          <a:xfrm xmlns:a="http://schemas.openxmlformats.org/drawingml/2006/main">
            <a:off x="482765" y="259426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federativa. Con ello el IFT, a </a:t>
            </a:r>
          </a:p>
        </p:txBody>
      </p:sp>
      <p:sp>
        <p:nvSpPr>
          <p:cNvPr id="42" name="INTRO_TEXTO_16">
            <a:extLst xmlns:a="http://schemas.openxmlformats.org/drawingml/2006/main">
              <a:ext uri="{FF2B5EF4-FFF2-40B4-BE49-F238E27FC236}">
                <a16:creationId xmlns:a16="http://schemas.microsoft.com/office/drawing/2014/main" id="{E2EAF48C-37E7-4F90-84EB-E956FE5CF668}"/>
              </a:ext>
            </a:extLst>
          </p:cNvPr>
          <p:cNvSpPr>
            <a:spLocks xmlns:a="http://schemas.openxmlformats.org/drawingml/2006/main" noGrp="1"/>
          </p:cNvSpPr>
          <p:nvPr/>
        </p:nvSpPr>
        <p:spPr>
          <a:xfrm xmlns:a="http://schemas.openxmlformats.org/drawingml/2006/main">
            <a:off x="482765" y="2728546"/>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través de la Coordinación General </a:t>
            </a:r>
          </a:p>
        </p:txBody>
      </p:sp>
      <p:sp>
        <p:nvSpPr>
          <p:cNvPr id="43" name="INTRO_TEXTO_17">
            <a:extLst xmlns:a="http://schemas.openxmlformats.org/drawingml/2006/main">
              <a:ext uri="{FF2B5EF4-FFF2-40B4-BE49-F238E27FC236}">
                <a16:creationId xmlns:a16="http://schemas.microsoft.com/office/drawing/2014/main" id="{3E981804-BA50-4EEE-A4F7-85252A027F37}"/>
              </a:ext>
            </a:extLst>
          </p:cNvPr>
          <p:cNvSpPr>
            <a:spLocks xmlns:a="http://schemas.openxmlformats.org/drawingml/2006/main" noGrp="1"/>
          </p:cNvSpPr>
          <p:nvPr/>
        </p:nvSpPr>
        <p:spPr>
          <a:xfrm xmlns:a="http://schemas.openxmlformats.org/drawingml/2006/main">
            <a:off x="482765" y="286282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Planeación Estratégica </a:t>
            </a:r>
          </a:p>
        </p:txBody>
      </p:sp>
      <p:sp>
        <p:nvSpPr>
          <p:cNvPr id="44" name="INTRO_TEXTO_18">
            <a:extLst xmlns:a="http://schemas.openxmlformats.org/drawingml/2006/main">
              <a:ext uri="{FF2B5EF4-FFF2-40B4-BE49-F238E27FC236}">
                <a16:creationId xmlns:a16="http://schemas.microsoft.com/office/drawing/2014/main" id="{66D1E505-90C1-4F64-A9CE-D99EB71B192F}"/>
              </a:ext>
            </a:extLst>
          </p:cNvPr>
          <p:cNvSpPr>
            <a:spLocks xmlns:a="http://schemas.openxmlformats.org/drawingml/2006/main" noGrp="1"/>
          </p:cNvSpPr>
          <p:nvPr/>
        </p:nvSpPr>
        <p:spPr>
          <a:xfrm xmlns:a="http://schemas.openxmlformats.org/drawingml/2006/main">
            <a:off x="482765" y="299711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proporciona información puntual y </a:t>
            </a:r>
          </a:p>
        </p:txBody>
      </p:sp>
      <p:sp>
        <p:nvSpPr>
          <p:cNvPr id="45" name="INTRO_TEXTO_19">
            <a:extLst xmlns:a="http://schemas.openxmlformats.org/drawingml/2006/main">
              <a:ext uri="{FF2B5EF4-FFF2-40B4-BE49-F238E27FC236}">
                <a16:creationId xmlns:a16="http://schemas.microsoft.com/office/drawing/2014/main" id="{F6B19A7F-2D2C-4130-86A5-26B32DB7B22D}"/>
              </a:ext>
            </a:extLst>
          </p:cNvPr>
          <p:cNvSpPr>
            <a:spLocks xmlns:a="http://schemas.openxmlformats.org/drawingml/2006/main" noGrp="1"/>
          </p:cNvSpPr>
          <p:nvPr/>
        </p:nvSpPr>
        <p:spPr>
          <a:xfrm xmlns:a="http://schemas.openxmlformats.org/drawingml/2006/main">
            <a:off x="482765" y="3131390"/>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confiable a los diferentes actores </a:t>
            </a:r>
          </a:p>
        </p:txBody>
      </p:sp>
      <p:sp>
        <p:nvSpPr>
          <p:cNvPr id="46" name="INTRO_TEXTO_20">
            <a:extLst xmlns:a="http://schemas.openxmlformats.org/drawingml/2006/main">
              <a:ext uri="{FF2B5EF4-FFF2-40B4-BE49-F238E27FC236}">
                <a16:creationId xmlns:a16="http://schemas.microsoft.com/office/drawing/2014/main" id="{A9ED9EF3-5D71-4FFB-9CC0-BE7CE00E2680}"/>
              </a:ext>
            </a:extLst>
          </p:cNvPr>
          <p:cNvSpPr>
            <a:spLocks xmlns:a="http://schemas.openxmlformats.org/drawingml/2006/main" noGrp="1"/>
          </p:cNvSpPr>
          <p:nvPr/>
        </p:nvSpPr>
        <p:spPr>
          <a:xfrm xmlns:a="http://schemas.openxmlformats.org/drawingml/2006/main">
            <a:off x="482765" y="3265667"/>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públicos y privados que participan </a:t>
            </a:r>
          </a:p>
        </p:txBody>
      </p:sp>
      <p:sp>
        <p:nvSpPr>
          <p:cNvPr id="47" name="INTRO_TEXTO_21">
            <a:extLst xmlns:a="http://schemas.openxmlformats.org/drawingml/2006/main">
              <a:ext uri="{FF2B5EF4-FFF2-40B4-BE49-F238E27FC236}">
                <a16:creationId xmlns:a16="http://schemas.microsoft.com/office/drawing/2014/main" id="{79C4BC74-A88B-4B2A-A278-31CF769F5866}"/>
              </a:ext>
            </a:extLst>
          </p:cNvPr>
          <p:cNvSpPr>
            <a:spLocks xmlns:a="http://schemas.openxmlformats.org/drawingml/2006/main" noGrp="1"/>
          </p:cNvSpPr>
          <p:nvPr/>
        </p:nvSpPr>
        <p:spPr>
          <a:xfrm xmlns:a="http://schemas.openxmlformats.org/drawingml/2006/main">
            <a:off x="482765" y="3399944"/>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en dichos sectores para </a:t>
            </a:r>
          </a:p>
        </p:txBody>
      </p:sp>
      <p:sp>
        <p:nvSpPr>
          <p:cNvPr id="48" name="INTRO_TEXTO_22">
            <a:extLst xmlns:a="http://schemas.openxmlformats.org/drawingml/2006/main">
              <a:ext uri="{FF2B5EF4-FFF2-40B4-BE49-F238E27FC236}">
                <a16:creationId xmlns:a16="http://schemas.microsoft.com/office/drawing/2014/main" id="{9F6A05EB-15F4-4E1F-B076-CC3F5D455BAA}"/>
              </a:ext>
            </a:extLst>
          </p:cNvPr>
          <p:cNvSpPr>
            <a:spLocks xmlns:a="http://schemas.openxmlformats.org/drawingml/2006/main" noGrp="1"/>
          </p:cNvSpPr>
          <p:nvPr/>
        </p:nvSpPr>
        <p:spPr>
          <a:xfrm xmlns:a="http://schemas.openxmlformats.org/drawingml/2006/main">
            <a:off x="482765" y="353422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robustecer la toma de decisiones, </a:t>
            </a:r>
          </a:p>
        </p:txBody>
      </p:sp>
      <p:sp>
        <p:nvSpPr>
          <p:cNvPr id="49" name="INTRO_TEXTO_23">
            <a:extLst xmlns:a="http://schemas.openxmlformats.org/drawingml/2006/main">
              <a:ext uri="{FF2B5EF4-FFF2-40B4-BE49-F238E27FC236}">
                <a16:creationId xmlns:a16="http://schemas.microsoft.com/office/drawing/2014/main" id="{A144D5CB-03AA-44AE-BADE-E4153C392037}"/>
              </a:ext>
            </a:extLst>
          </p:cNvPr>
          <p:cNvSpPr>
            <a:spLocks xmlns:a="http://schemas.openxmlformats.org/drawingml/2006/main" noGrp="1"/>
          </p:cNvSpPr>
          <p:nvPr/>
        </p:nvSpPr>
        <p:spPr>
          <a:xfrm xmlns:a="http://schemas.openxmlformats.org/drawingml/2006/main">
            <a:off x="482765" y="3668511"/>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el diseño de nuevas políticas </a:t>
            </a:r>
          </a:p>
        </p:txBody>
      </p:sp>
      <p:sp>
        <p:nvSpPr>
          <p:cNvPr id="50" name="INTRO_TEXTO_24">
            <a:extLst xmlns:a="http://schemas.openxmlformats.org/drawingml/2006/main">
              <a:ext uri="{FF2B5EF4-FFF2-40B4-BE49-F238E27FC236}">
                <a16:creationId xmlns:a16="http://schemas.microsoft.com/office/drawing/2014/main" id="{DFED4B78-00CC-4EF5-94BF-A8C00373ED06}"/>
              </a:ext>
            </a:extLst>
          </p:cNvPr>
          <p:cNvSpPr>
            <a:spLocks xmlns:a="http://schemas.openxmlformats.org/drawingml/2006/main" noGrp="1"/>
          </p:cNvSpPr>
          <p:nvPr/>
        </p:nvSpPr>
        <p:spPr>
          <a:xfrm xmlns:a="http://schemas.openxmlformats.org/drawingml/2006/main">
            <a:off x="482765" y="3802788"/>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públicas y regulatorias con el fin </a:t>
            </a:r>
          </a:p>
        </p:txBody>
      </p:sp>
      <p:sp>
        <p:nvSpPr>
          <p:cNvPr id="51" name="INTRO_TEXTO_25">
            <a:extLst xmlns:a="http://schemas.openxmlformats.org/drawingml/2006/main">
              <a:ext uri="{FF2B5EF4-FFF2-40B4-BE49-F238E27FC236}">
                <a16:creationId xmlns:a16="http://schemas.microsoft.com/office/drawing/2014/main" id="{74F91674-2B7A-4779-BEF9-675E54A872D7}"/>
              </a:ext>
            </a:extLst>
          </p:cNvPr>
          <p:cNvSpPr>
            <a:spLocks xmlns:a="http://schemas.openxmlformats.org/drawingml/2006/main" noGrp="1"/>
          </p:cNvSpPr>
          <p:nvPr/>
        </p:nvSpPr>
        <p:spPr>
          <a:xfrm xmlns:a="http://schemas.openxmlformats.org/drawingml/2006/main">
            <a:off x="482765" y="3937065"/>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mejorar y garantizar la calidad </a:t>
            </a:r>
          </a:p>
        </p:txBody>
      </p:sp>
      <p:sp>
        <p:nvSpPr>
          <p:cNvPr id="52" name="INTRO_TEXTO_26">
            <a:extLst xmlns:a="http://schemas.openxmlformats.org/drawingml/2006/main">
              <a:ext uri="{FF2B5EF4-FFF2-40B4-BE49-F238E27FC236}">
                <a16:creationId xmlns:a16="http://schemas.microsoft.com/office/drawing/2014/main" id="{F9B0123F-B07D-4A91-8EEE-10AE48E5B72F}"/>
              </a:ext>
            </a:extLst>
          </p:cNvPr>
          <p:cNvSpPr>
            <a:spLocks xmlns:a="http://schemas.openxmlformats.org/drawingml/2006/main" noGrp="1"/>
          </p:cNvSpPr>
          <p:nvPr/>
        </p:nvSpPr>
        <p:spPr>
          <a:xfrm xmlns:a="http://schemas.openxmlformats.org/drawingml/2006/main">
            <a:off x="482765" y="4071343"/>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de los servicios de </a:t>
            </a:r>
          </a:p>
        </p:txBody>
      </p:sp>
      <p:sp>
        <p:nvSpPr>
          <p:cNvPr id="53" name="INTRO_TEXTO_27">
            <a:extLst xmlns:a="http://schemas.openxmlformats.org/drawingml/2006/main">
              <a:ext uri="{FF2B5EF4-FFF2-40B4-BE49-F238E27FC236}">
                <a16:creationId xmlns:a16="http://schemas.microsoft.com/office/drawing/2014/main" id="{C28A19A7-B4B7-4753-B6CA-93635324508A}"/>
              </a:ext>
            </a:extLst>
          </p:cNvPr>
          <p:cNvSpPr>
            <a:spLocks xmlns:a="http://schemas.openxmlformats.org/drawingml/2006/main" noGrp="1"/>
          </p:cNvSpPr>
          <p:nvPr/>
        </p:nvSpPr>
        <p:spPr>
          <a:xfrm xmlns:a="http://schemas.openxmlformats.org/drawingml/2006/main">
            <a:off x="482765" y="4205632"/>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Telecomunicaciones y </a:t>
            </a:r>
          </a:p>
        </p:txBody>
      </p:sp>
      <p:sp>
        <p:nvSpPr>
          <p:cNvPr id="54" name="INTRO_TEXTO_28">
            <a:extLst xmlns:a="http://schemas.openxmlformats.org/drawingml/2006/main">
              <a:ext uri="{FF2B5EF4-FFF2-40B4-BE49-F238E27FC236}">
                <a16:creationId xmlns:a16="http://schemas.microsoft.com/office/drawing/2014/main" id="{BBAE18BD-1B28-49D9-B073-764D41076BC0}"/>
              </a:ext>
            </a:extLst>
          </p:cNvPr>
          <p:cNvSpPr>
            <a:spLocks xmlns:a="http://schemas.openxmlformats.org/drawingml/2006/main" noGrp="1"/>
          </p:cNvSpPr>
          <p:nvPr/>
        </p:nvSpPr>
        <p:spPr>
          <a:xfrm xmlns:a="http://schemas.openxmlformats.org/drawingml/2006/main">
            <a:off x="482765" y="4339909"/>
            <a:ext cx="1841500" cy="1398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0">
                <a:solidFill>
                  <a:srgbClr val="263632"/>
                </a:solidFill>
                <a:latin typeface="Noto Sans"/>
                <a:ea typeface="Noto Sans"/>
                <a:cs typeface="Noto Sans"/>
              </a:defRPr>
            </a:pPr>
            <a:r>
              <a:rPr sz="760" b="0" i="0">
                <a:solidFill>
                  <a:srgbClr val="FFFFFF"/>
                </a:solidFill>
                <a:latin typeface="Noto Sans"/>
                <a:ea typeface="Noto Sans"/>
                <a:cs typeface="Noto Sans"/>
              </a:rPr>
              <a:t>Radiodifusión.</a:t>
            </a:r>
          </a:p>
        </p:txBody>
      </p:sp>
      <p:sp>
        <p:nvSpPr>
          <p:cNvPr id="55" name="INTRO_TEXTO_29">
            <a:extLst xmlns:a="http://schemas.openxmlformats.org/drawingml/2006/main">
              <a:ext uri="{FF2B5EF4-FFF2-40B4-BE49-F238E27FC236}">
                <a16:creationId xmlns:a16="http://schemas.microsoft.com/office/drawing/2014/main" id="{3B9C67BC-D953-4DEA-ACBE-40A011D92208}"/>
              </a:ext>
            </a:extLst>
          </p:cNvPr>
          <p:cNvSpPr>
            <a:spLocks xmlns:a="http://schemas.openxmlformats.org/drawingml/2006/main" noGrp="1"/>
          </p:cNvSpPr>
          <p:nvPr/>
        </p:nvSpPr>
        <p:spPr>
          <a:xfrm xmlns:a="http://schemas.openxmlformats.org/drawingml/2006/main">
            <a:off x="2666886" y="67061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El Anuario se divide en ocho secciones, las cuales presentan indicadores relevantes para el análisis a nivel </a:t>
            </a:r>
          </a:p>
        </p:txBody>
      </p:sp>
      <p:sp>
        <p:nvSpPr>
          <p:cNvPr id="56" name="INTRO_TEXTO_30">
            <a:extLst xmlns:a="http://schemas.openxmlformats.org/drawingml/2006/main">
              <a:ext uri="{FF2B5EF4-FFF2-40B4-BE49-F238E27FC236}">
                <a16:creationId xmlns:a16="http://schemas.microsoft.com/office/drawing/2014/main" id="{7192D7B4-3601-4AB1-A89D-38A83CAA5152}"/>
              </a:ext>
            </a:extLst>
          </p:cNvPr>
          <p:cNvSpPr>
            <a:spLocks xmlns:a="http://schemas.openxmlformats.org/drawingml/2006/main" noGrp="1"/>
          </p:cNvSpPr>
          <p:nvPr/>
        </p:nvSpPr>
        <p:spPr>
          <a:xfrm xmlns:a="http://schemas.openxmlformats.org/drawingml/2006/main">
            <a:off x="2666886" y="795541"/>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nacional y algunos para el análisis por entidad federativa. A continuación, se da una breve descripción de cada </a:t>
            </a:r>
          </a:p>
        </p:txBody>
      </p:sp>
      <p:sp>
        <p:nvSpPr>
          <p:cNvPr id="57" name="INTRO_TEXTO_31">
            <a:extLst xmlns:a="http://schemas.openxmlformats.org/drawingml/2006/main">
              <a:ext uri="{FF2B5EF4-FFF2-40B4-BE49-F238E27FC236}">
                <a16:creationId xmlns:a16="http://schemas.microsoft.com/office/drawing/2014/main" id="{65E1647B-BCC2-430B-958F-857C94BF4767}"/>
              </a:ext>
            </a:extLst>
          </p:cNvPr>
          <p:cNvSpPr>
            <a:spLocks xmlns:a="http://schemas.openxmlformats.org/drawingml/2006/main" noGrp="1"/>
          </p:cNvSpPr>
          <p:nvPr/>
        </p:nvSpPr>
        <p:spPr>
          <a:xfrm xmlns:a="http://schemas.openxmlformats.org/drawingml/2006/main">
            <a:off x="2666886" y="920458"/>
            <a:ext cx="6019800" cy="1508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0" i="1">
                <a:solidFill>
                  <a:srgbClr val="1A4043"/>
                </a:solidFill>
                <a:latin typeface="Noto Sans"/>
                <a:ea typeface="Noto Sans"/>
                <a:cs typeface="Noto Sans"/>
              </a:rPr>
              <a:t>una:</a:t>
            </a:r>
          </a:p>
        </p:txBody>
      </p:sp>
      <p:sp>
        <p:nvSpPr>
          <p:cNvPr id="58" name="INTRO_NUMERO_1">
            <a:extLst xmlns:a="http://schemas.openxmlformats.org/drawingml/2006/main">
              <a:ext uri="{FF2B5EF4-FFF2-40B4-BE49-F238E27FC236}">
                <a16:creationId xmlns:a16="http://schemas.microsoft.com/office/drawing/2014/main" id="{B2541F9D-9050-4678-AFD4-EA1568263D41}"/>
              </a:ext>
            </a:extLst>
          </p:cNvPr>
          <p:cNvSpPr>
            <a:spLocks xmlns:a="http://schemas.openxmlformats.org/drawingml/2006/main" noGrp="1"/>
          </p:cNvSpPr>
          <p:nvPr/>
        </p:nvSpPr>
        <p:spPr>
          <a:xfrm xmlns:a="http://schemas.openxmlformats.org/drawingml/2006/main">
            <a:off x="2641600" y="13843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1</a:t>
            </a:r>
          </a:p>
        </p:txBody>
      </p:sp>
      <p:sp>
        <p:nvSpPr>
          <p:cNvPr id="59" name="INTRO_SECCION_1_1">
            <a:extLst xmlns:a="http://schemas.openxmlformats.org/drawingml/2006/main">
              <a:ext uri="{FF2B5EF4-FFF2-40B4-BE49-F238E27FC236}">
                <a16:creationId xmlns:a16="http://schemas.microsoft.com/office/drawing/2014/main" id="{6F0B13B8-95A6-44CB-AD62-DFCAED5F3B1A}"/>
              </a:ext>
            </a:extLst>
          </p:cNvPr>
          <p:cNvSpPr>
            <a:spLocks xmlns:a="http://schemas.openxmlformats.org/drawingml/2006/main" noGrp="1"/>
          </p:cNvSpPr>
          <p:nvPr/>
        </p:nvSpPr>
        <p:spPr>
          <a:xfrm xmlns:a="http://schemas.openxmlformats.org/drawingml/2006/main">
            <a:off x="2971800" y="13639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Indicadores Económicos </a:t>
            </a:r>
          </a:p>
        </p:txBody>
      </p:sp>
      <p:sp>
        <p:nvSpPr>
          <p:cNvPr id="60" name="INTRO_SECCION_1_2">
            <a:extLst xmlns:a="http://schemas.openxmlformats.org/drawingml/2006/main">
              <a:ext uri="{FF2B5EF4-FFF2-40B4-BE49-F238E27FC236}">
                <a16:creationId xmlns:a16="http://schemas.microsoft.com/office/drawing/2014/main" id="{31F2C968-5A63-4778-84E9-C74850330BC8}"/>
              </a:ext>
            </a:extLst>
          </p:cNvPr>
          <p:cNvSpPr>
            <a:spLocks xmlns:a="http://schemas.openxmlformats.org/drawingml/2006/main" noGrp="1"/>
          </p:cNvSpPr>
          <p:nvPr/>
        </p:nvSpPr>
        <p:spPr>
          <a:xfrm xmlns:a="http://schemas.openxmlformats.org/drawingml/2006/main">
            <a:off x="2971800" y="14986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de las TyR:</a:t>
            </a:r>
          </a:p>
        </p:txBody>
      </p:sp>
      <p:sp>
        <p:nvSpPr>
          <p:cNvPr id="61" name="INTRO_TEXTO_32">
            <a:extLst xmlns:a="http://schemas.openxmlformats.org/drawingml/2006/main">
              <a:ext uri="{FF2B5EF4-FFF2-40B4-BE49-F238E27FC236}">
                <a16:creationId xmlns:a16="http://schemas.microsoft.com/office/drawing/2014/main" id="{CDEF6A0C-4025-4B76-97C8-EB344B40305F}"/>
              </a:ext>
            </a:extLst>
          </p:cNvPr>
          <p:cNvSpPr>
            <a:spLocks xmlns:a="http://schemas.openxmlformats.org/drawingml/2006/main" noGrp="1"/>
          </p:cNvSpPr>
          <p:nvPr/>
        </p:nvSpPr>
        <p:spPr>
          <a:xfrm xmlns:a="http://schemas.openxmlformats.org/drawingml/2006/main">
            <a:off x="4673600" y="127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Producto Interno Bruto (PIB); número de personas empleadas; índices de </a:t>
            </a:r>
          </a:p>
        </p:txBody>
      </p:sp>
      <p:sp>
        <p:nvSpPr>
          <p:cNvPr id="62" name="INTRO_TEXTO_33">
            <a:extLst xmlns:a="http://schemas.openxmlformats.org/drawingml/2006/main">
              <a:ext uri="{FF2B5EF4-FFF2-40B4-BE49-F238E27FC236}">
                <a16:creationId xmlns:a16="http://schemas.microsoft.com/office/drawing/2014/main" id="{CB041FC1-1B59-466E-AB8A-216C6D4B3824}"/>
              </a:ext>
            </a:extLst>
          </p:cNvPr>
          <p:cNvSpPr>
            <a:spLocks xmlns:a="http://schemas.openxmlformats.org/drawingml/2006/main" noGrp="1"/>
          </p:cNvSpPr>
          <p:nvPr/>
        </p:nvSpPr>
        <p:spPr>
          <a:xfrm xmlns:a="http://schemas.openxmlformats.org/drawingml/2006/main">
            <a:off x="4673600" y="138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precios; inversión privada en telecomunicaciones; Inversión Extranjera Directa (IED); </a:t>
            </a:r>
          </a:p>
        </p:txBody>
      </p:sp>
      <p:sp>
        <p:nvSpPr>
          <p:cNvPr id="63" name="INTRO_TEXTO_34">
            <a:extLst xmlns:a="http://schemas.openxmlformats.org/drawingml/2006/main">
              <a:ext uri="{FF2B5EF4-FFF2-40B4-BE49-F238E27FC236}">
                <a16:creationId xmlns:a16="http://schemas.microsoft.com/office/drawing/2014/main" id="{F3B691B4-13E6-4D97-9BF8-D624F901A6F4}"/>
              </a:ext>
            </a:extLst>
          </p:cNvPr>
          <p:cNvSpPr>
            <a:spLocks xmlns:a="http://schemas.openxmlformats.org/drawingml/2006/main" noGrp="1"/>
          </p:cNvSpPr>
          <p:nvPr/>
        </p:nvSpPr>
        <p:spPr>
          <a:xfrm xmlns:a="http://schemas.openxmlformats.org/drawingml/2006/main">
            <a:off x="4673600" y="149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ingresos, egresos y margen del sector; y el ingreso y gasto en los hogares de los </a:t>
            </a:r>
          </a:p>
        </p:txBody>
      </p:sp>
      <p:sp>
        <p:nvSpPr>
          <p:cNvPr id="64" name="INTRO_TEXTO_35">
            <a:extLst xmlns:a="http://schemas.openxmlformats.org/drawingml/2006/main">
              <a:ext uri="{FF2B5EF4-FFF2-40B4-BE49-F238E27FC236}">
                <a16:creationId xmlns:a16="http://schemas.microsoft.com/office/drawing/2014/main" id="{CEBC33AE-C347-439E-AA34-7926D4113DAF}"/>
              </a:ext>
            </a:extLst>
          </p:cNvPr>
          <p:cNvSpPr>
            <a:spLocks xmlns:a="http://schemas.openxmlformats.org/drawingml/2006/main" noGrp="1"/>
          </p:cNvSpPr>
          <p:nvPr/>
        </p:nvSpPr>
        <p:spPr>
          <a:xfrm xmlns:a="http://schemas.openxmlformats.org/drawingml/2006/main">
            <a:off x="4673600" y="16052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servicios de telecomunicaciones fijas y móviles.</a:t>
            </a:r>
          </a:p>
        </p:txBody>
      </p:sp>
      <p:sp>
        <p:nvSpPr>
          <p:cNvPr id="65" name="INTRO_NUMERO_2">
            <a:extLst xmlns:a="http://schemas.openxmlformats.org/drawingml/2006/main">
              <a:ext uri="{FF2B5EF4-FFF2-40B4-BE49-F238E27FC236}">
                <a16:creationId xmlns:a16="http://schemas.microsoft.com/office/drawing/2014/main" id="{10044063-37DE-45C0-9296-26CACE0D658D}"/>
              </a:ext>
            </a:extLst>
          </p:cNvPr>
          <p:cNvSpPr>
            <a:spLocks xmlns:a="http://schemas.openxmlformats.org/drawingml/2006/main" noGrp="1"/>
          </p:cNvSpPr>
          <p:nvPr/>
        </p:nvSpPr>
        <p:spPr>
          <a:xfrm xmlns:a="http://schemas.openxmlformats.org/drawingml/2006/main">
            <a:off x="2641600" y="2349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2</a:t>
            </a:r>
          </a:p>
        </p:txBody>
      </p:sp>
      <p:sp>
        <p:nvSpPr>
          <p:cNvPr id="66" name="INTRO_SECCION_2_1">
            <a:extLst xmlns:a="http://schemas.openxmlformats.org/drawingml/2006/main">
              <a:ext uri="{FF2B5EF4-FFF2-40B4-BE49-F238E27FC236}">
                <a16:creationId xmlns:a16="http://schemas.microsoft.com/office/drawing/2014/main" id="{E7A0210B-79BA-49E7-B34D-F84F743641DB}"/>
              </a:ext>
            </a:extLst>
          </p:cNvPr>
          <p:cNvSpPr>
            <a:spLocks xmlns:a="http://schemas.openxmlformats.org/drawingml/2006/main" noGrp="1"/>
          </p:cNvSpPr>
          <p:nvPr/>
        </p:nvSpPr>
        <p:spPr>
          <a:xfrm xmlns:a="http://schemas.openxmlformats.org/drawingml/2006/main">
            <a:off x="2971800" y="2329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Fijos de </a:t>
            </a:r>
          </a:p>
        </p:txBody>
      </p:sp>
      <p:sp>
        <p:nvSpPr>
          <p:cNvPr id="67" name="INTRO_SECCION_2_2">
            <a:extLst xmlns:a="http://schemas.openxmlformats.org/drawingml/2006/main">
              <a:ext uri="{FF2B5EF4-FFF2-40B4-BE49-F238E27FC236}">
                <a16:creationId xmlns:a16="http://schemas.microsoft.com/office/drawing/2014/main" id="{B69FD241-09E4-4FC9-847C-1FF47188FABC}"/>
              </a:ext>
            </a:extLst>
          </p:cNvPr>
          <p:cNvSpPr>
            <a:spLocks xmlns:a="http://schemas.openxmlformats.org/drawingml/2006/main" noGrp="1"/>
          </p:cNvSpPr>
          <p:nvPr/>
        </p:nvSpPr>
        <p:spPr>
          <a:xfrm xmlns:a="http://schemas.openxmlformats.org/drawingml/2006/main">
            <a:off x="2971800" y="2463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68" name="INTRO_TEXTO_36">
            <a:extLst xmlns:a="http://schemas.openxmlformats.org/drawingml/2006/main">
              <a:ext uri="{FF2B5EF4-FFF2-40B4-BE49-F238E27FC236}">
                <a16:creationId xmlns:a16="http://schemas.microsoft.com/office/drawing/2014/main" id="{AC519C1A-51C6-4781-B14F-8AA4A32A00A6}"/>
              </a:ext>
            </a:extLst>
          </p:cNvPr>
          <p:cNvSpPr>
            <a:spLocks xmlns:a="http://schemas.openxmlformats.org/drawingml/2006/main" noGrp="1"/>
          </p:cNvSpPr>
          <p:nvPr/>
        </p:nvSpPr>
        <p:spPr>
          <a:xfrm xmlns:a="http://schemas.openxmlformats.org/drawingml/2006/main">
            <a:off x="4673600" y="1981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Comprende la distribución de los servicios fijos en los hogares; números de </a:t>
            </a:r>
          </a:p>
        </p:txBody>
      </p:sp>
      <p:sp>
        <p:nvSpPr>
          <p:cNvPr id="69" name="INTRO_TEXTO_37">
            <a:extLst xmlns:a="http://schemas.openxmlformats.org/drawingml/2006/main">
              <a:ext uri="{FF2B5EF4-FFF2-40B4-BE49-F238E27FC236}">
                <a16:creationId xmlns:a16="http://schemas.microsoft.com/office/drawing/2014/main" id="{6CFA896A-3F88-470E-85EE-E7AB1337F06F}"/>
              </a:ext>
            </a:extLst>
          </p:cNvPr>
          <p:cNvSpPr>
            <a:spLocks xmlns:a="http://schemas.openxmlformats.org/drawingml/2006/main" noGrp="1"/>
          </p:cNvSpPr>
          <p:nvPr/>
        </p:nvSpPr>
        <p:spPr>
          <a:xfrm xmlns:a="http://schemas.openxmlformats.org/drawingml/2006/main">
            <a:off x="4673600" y="2092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totales; participación y concentración de mercado; números de </a:t>
            </a:r>
          </a:p>
        </p:txBody>
      </p:sp>
      <p:sp>
        <p:nvSpPr>
          <p:cNvPr id="70" name="INTRO_TEXTO_38">
            <a:extLst xmlns:a="http://schemas.openxmlformats.org/drawingml/2006/main">
              <a:ext uri="{FF2B5EF4-FFF2-40B4-BE49-F238E27FC236}">
                <a16:creationId xmlns:a16="http://schemas.microsoft.com/office/drawing/2014/main" id="{D1D873C7-942E-4CD8-9540-24B9F5939835}"/>
              </a:ext>
            </a:extLst>
          </p:cNvPr>
          <p:cNvSpPr>
            <a:spLocks xmlns:a="http://schemas.openxmlformats.org/drawingml/2006/main" noGrp="1"/>
          </p:cNvSpPr>
          <p:nvPr/>
        </p:nvSpPr>
        <p:spPr>
          <a:xfrm xmlns:a="http://schemas.openxmlformats.org/drawingml/2006/main">
            <a:off x="4673600" y="2204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accesos/líneas por cada 100 hogares a nivel nacional; números de accesos/líneas por </a:t>
            </a:r>
          </a:p>
        </p:txBody>
      </p:sp>
      <p:sp>
        <p:nvSpPr>
          <p:cNvPr id="71" name="INTRO_TEXTO_39">
            <a:extLst xmlns:a="http://schemas.openxmlformats.org/drawingml/2006/main">
              <a:ext uri="{FF2B5EF4-FFF2-40B4-BE49-F238E27FC236}">
                <a16:creationId xmlns:a16="http://schemas.microsoft.com/office/drawing/2014/main" id="{3A52A9E6-0E13-4D8D-8BC8-6A010B9B9B72}"/>
              </a:ext>
            </a:extLst>
          </p:cNvPr>
          <p:cNvSpPr>
            <a:spLocks xmlns:a="http://schemas.openxmlformats.org/drawingml/2006/main" noGrp="1"/>
          </p:cNvSpPr>
          <p:nvPr/>
        </p:nvSpPr>
        <p:spPr>
          <a:xfrm xmlns:a="http://schemas.openxmlformats.org/drawingml/2006/main">
            <a:off x="4673600" y="2316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cada 100 hogares/unidades económicas en los segmentos residencial y no residencial </a:t>
            </a:r>
          </a:p>
        </p:txBody>
      </p:sp>
      <p:sp>
        <p:nvSpPr>
          <p:cNvPr id="72" name="INTRO_TEXTO_40">
            <a:extLst xmlns:a="http://schemas.openxmlformats.org/drawingml/2006/main">
              <a:ext uri="{FF2B5EF4-FFF2-40B4-BE49-F238E27FC236}">
                <a16:creationId xmlns:a16="http://schemas.microsoft.com/office/drawing/2014/main" id="{CE5BAF5E-6CEF-4B14-8B47-133C4D5DA8CB}"/>
              </a:ext>
            </a:extLst>
          </p:cNvPr>
          <p:cNvSpPr>
            <a:spLocks xmlns:a="http://schemas.openxmlformats.org/drawingml/2006/main" noGrp="1"/>
          </p:cNvSpPr>
          <p:nvPr/>
        </p:nvSpPr>
        <p:spPr>
          <a:xfrm xmlns:a="http://schemas.openxmlformats.org/drawingml/2006/main">
            <a:off x="4673600" y="2428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a nivel entidad federativa de los servicios fijos de telefonía, acceso a Internet y </a:t>
            </a:r>
          </a:p>
        </p:txBody>
      </p:sp>
      <p:sp>
        <p:nvSpPr>
          <p:cNvPr id="73" name="INTRO_TEXTO_41">
            <a:extLst xmlns:a="http://schemas.openxmlformats.org/drawingml/2006/main">
              <a:ext uri="{FF2B5EF4-FFF2-40B4-BE49-F238E27FC236}">
                <a16:creationId xmlns:a16="http://schemas.microsoft.com/office/drawing/2014/main" id="{290DAABE-A5CD-4458-92F4-7FF1F55C122F}"/>
              </a:ext>
            </a:extLst>
          </p:cNvPr>
          <p:cNvSpPr>
            <a:spLocks xmlns:a="http://schemas.openxmlformats.org/drawingml/2006/main" noGrp="1"/>
          </p:cNvSpPr>
          <p:nvPr/>
        </p:nvSpPr>
        <p:spPr>
          <a:xfrm xmlns:a="http://schemas.openxmlformats.org/drawingml/2006/main">
            <a:off x="4673600" y="2540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televisión restringida; así como el tráfico del servicio fijo de telefonía; y la participación </a:t>
            </a:r>
          </a:p>
        </p:txBody>
      </p:sp>
      <p:sp>
        <p:nvSpPr>
          <p:cNvPr id="74" name="INTRO_TEXTO_42">
            <a:extLst xmlns:a="http://schemas.openxmlformats.org/drawingml/2006/main">
              <a:ext uri="{FF2B5EF4-FFF2-40B4-BE49-F238E27FC236}">
                <a16:creationId xmlns:a16="http://schemas.microsoft.com/office/drawing/2014/main" id="{A2B33632-BE8E-47DC-B375-9DACABEA28B4}"/>
              </a:ext>
            </a:extLst>
          </p:cNvPr>
          <p:cNvSpPr>
            <a:spLocks xmlns:a="http://schemas.openxmlformats.org/drawingml/2006/main" noGrp="1"/>
          </p:cNvSpPr>
          <p:nvPr/>
        </p:nvSpPr>
        <p:spPr>
          <a:xfrm xmlns:a="http://schemas.openxmlformats.org/drawingml/2006/main">
            <a:off x="4673600" y="2651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las tecnologías y rangos de velocidad utilizadas para la prestación del servicio fijo </a:t>
            </a:r>
          </a:p>
        </p:txBody>
      </p:sp>
      <p:sp>
        <p:nvSpPr>
          <p:cNvPr id="75" name="INTRO_TEXTO_43">
            <a:extLst xmlns:a="http://schemas.openxmlformats.org/drawingml/2006/main">
              <a:ext uri="{FF2B5EF4-FFF2-40B4-BE49-F238E27FC236}">
                <a16:creationId xmlns:a16="http://schemas.microsoft.com/office/drawing/2014/main" id="{CCB8D276-D1DB-4BCC-A815-08FDD99136E0}"/>
              </a:ext>
            </a:extLst>
          </p:cNvPr>
          <p:cNvSpPr>
            <a:spLocks xmlns:a="http://schemas.openxmlformats.org/drawingml/2006/main" noGrp="1"/>
          </p:cNvSpPr>
          <p:nvPr/>
        </p:nvSpPr>
        <p:spPr>
          <a:xfrm xmlns:a="http://schemas.openxmlformats.org/drawingml/2006/main">
            <a:off x="4673600" y="27635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 acceso a Internet y del servicio de televisión restringida.</a:t>
            </a:r>
          </a:p>
        </p:txBody>
      </p:sp>
      <p:sp>
        <p:nvSpPr>
          <p:cNvPr id="76" name="INTRO_NUMERO_3">
            <a:extLst xmlns:a="http://schemas.openxmlformats.org/drawingml/2006/main">
              <a:ext uri="{FF2B5EF4-FFF2-40B4-BE49-F238E27FC236}">
                <a16:creationId xmlns:a16="http://schemas.microsoft.com/office/drawing/2014/main" id="{4E0CE3D0-19FB-405D-BCA5-F5D9FA2A8908}"/>
              </a:ext>
            </a:extLst>
          </p:cNvPr>
          <p:cNvSpPr>
            <a:spLocks xmlns:a="http://schemas.openxmlformats.org/drawingml/2006/main" noGrp="1"/>
          </p:cNvSpPr>
          <p:nvPr/>
        </p:nvSpPr>
        <p:spPr>
          <a:xfrm xmlns:a="http://schemas.openxmlformats.org/drawingml/2006/main">
            <a:off x="2641600" y="3365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3</a:t>
            </a:r>
          </a:p>
        </p:txBody>
      </p:sp>
      <p:sp>
        <p:nvSpPr>
          <p:cNvPr id="77" name="INTRO_SECCION_3_1">
            <a:extLst xmlns:a="http://schemas.openxmlformats.org/drawingml/2006/main">
              <a:ext uri="{FF2B5EF4-FFF2-40B4-BE49-F238E27FC236}">
                <a16:creationId xmlns:a16="http://schemas.microsoft.com/office/drawing/2014/main" id="{A274F237-CF90-4FFF-9A27-A2133ED0E35F}"/>
              </a:ext>
            </a:extLst>
          </p:cNvPr>
          <p:cNvSpPr>
            <a:spLocks xmlns:a="http://schemas.openxmlformats.org/drawingml/2006/main" noGrp="1"/>
          </p:cNvSpPr>
          <p:nvPr/>
        </p:nvSpPr>
        <p:spPr>
          <a:xfrm xmlns:a="http://schemas.openxmlformats.org/drawingml/2006/main">
            <a:off x="2971800" y="334518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Servicios Móviles de </a:t>
            </a:r>
          </a:p>
        </p:txBody>
      </p:sp>
      <p:sp>
        <p:nvSpPr>
          <p:cNvPr id="78" name="INTRO_SECCION_3_2">
            <a:extLst xmlns:a="http://schemas.openxmlformats.org/drawingml/2006/main">
              <a:ext uri="{FF2B5EF4-FFF2-40B4-BE49-F238E27FC236}">
                <a16:creationId xmlns:a16="http://schemas.microsoft.com/office/drawing/2014/main" id="{62CF09A8-B8F2-4B26-BDA2-255BC627FA0A}"/>
              </a:ext>
            </a:extLst>
          </p:cNvPr>
          <p:cNvSpPr>
            <a:spLocks xmlns:a="http://schemas.openxmlformats.org/drawingml/2006/main" noGrp="1"/>
          </p:cNvSpPr>
          <p:nvPr/>
        </p:nvSpPr>
        <p:spPr>
          <a:xfrm xmlns:a="http://schemas.openxmlformats.org/drawingml/2006/main">
            <a:off x="2971800" y="347980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Telecomunicaciones:</a:t>
            </a:r>
          </a:p>
        </p:txBody>
      </p:sp>
      <p:sp>
        <p:nvSpPr>
          <p:cNvPr id="79" name="INTRO_TEXTO_44">
            <a:extLst xmlns:a="http://schemas.openxmlformats.org/drawingml/2006/main">
              <a:ext uri="{FF2B5EF4-FFF2-40B4-BE49-F238E27FC236}">
                <a16:creationId xmlns:a16="http://schemas.microsoft.com/office/drawing/2014/main" id="{AC35FFD4-5E9A-454E-A12B-FA4C3E3DA713}"/>
              </a:ext>
            </a:extLst>
          </p:cNvPr>
          <p:cNvSpPr>
            <a:spLocks xmlns:a="http://schemas.openxmlformats.org/drawingml/2006/main" noGrp="1"/>
          </p:cNvSpPr>
          <p:nvPr/>
        </p:nvSpPr>
        <p:spPr>
          <a:xfrm xmlns:a="http://schemas.openxmlformats.org/drawingml/2006/main">
            <a:off x="4673600" y="32004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Incluye la distribución del espectro radioeléctrico por banda de frecuencia y por </a:t>
            </a:r>
          </a:p>
        </p:txBody>
      </p:sp>
      <p:sp>
        <p:nvSpPr>
          <p:cNvPr id="80" name="INTRO_TEXTO_45">
            <a:extLst xmlns:a="http://schemas.openxmlformats.org/drawingml/2006/main">
              <a:ext uri="{FF2B5EF4-FFF2-40B4-BE49-F238E27FC236}">
                <a16:creationId xmlns:a16="http://schemas.microsoft.com/office/drawing/2014/main" id="{CDFCF6B8-AA49-4D10-A598-E2AAF6B99DF0}"/>
              </a:ext>
            </a:extLst>
          </p:cNvPr>
          <p:cNvSpPr>
            <a:spLocks xmlns:a="http://schemas.openxmlformats.org/drawingml/2006/main" noGrp="1"/>
          </p:cNvSpPr>
          <p:nvPr/>
        </p:nvSpPr>
        <p:spPr>
          <a:xfrm xmlns:a="http://schemas.openxmlformats.org/drawingml/2006/main">
            <a:off x="4673600" y="33121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operador; el uso de los servicios móviles de telecomunicaciones por la población; el </a:t>
            </a:r>
          </a:p>
        </p:txBody>
      </p:sp>
      <p:sp>
        <p:nvSpPr>
          <p:cNvPr id="81" name="INTRO_TEXTO_46">
            <a:extLst xmlns:a="http://schemas.openxmlformats.org/drawingml/2006/main">
              <a:ext uri="{FF2B5EF4-FFF2-40B4-BE49-F238E27FC236}">
                <a16:creationId xmlns:a16="http://schemas.microsoft.com/office/drawing/2014/main" id="{66078D7F-686B-4C96-9DDA-F22F0C149268}"/>
              </a:ext>
            </a:extLst>
          </p:cNvPr>
          <p:cNvSpPr>
            <a:spLocks xmlns:a="http://schemas.openxmlformats.org/drawingml/2006/main" noGrp="1"/>
          </p:cNvSpPr>
          <p:nvPr/>
        </p:nvSpPr>
        <p:spPr>
          <a:xfrm xmlns:a="http://schemas.openxmlformats.org/drawingml/2006/main">
            <a:off x="4673600" y="34239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número de líneas totales; la participación y concentración de mercado; el número de </a:t>
            </a:r>
          </a:p>
        </p:txBody>
      </p:sp>
      <p:sp>
        <p:nvSpPr>
          <p:cNvPr id="82" name="INTRO_TEXTO_47">
            <a:extLst xmlns:a="http://schemas.openxmlformats.org/drawingml/2006/main">
              <a:ext uri="{FF2B5EF4-FFF2-40B4-BE49-F238E27FC236}">
                <a16:creationId xmlns:a16="http://schemas.microsoft.com/office/drawing/2014/main" id="{57DAE001-AFE5-4D03-B5D0-C3F94AD69631}"/>
              </a:ext>
            </a:extLst>
          </p:cNvPr>
          <p:cNvSpPr>
            <a:spLocks xmlns:a="http://schemas.openxmlformats.org/drawingml/2006/main" noGrp="1"/>
          </p:cNvSpPr>
          <p:nvPr/>
        </p:nvSpPr>
        <p:spPr>
          <a:xfrm xmlns:a="http://schemas.openxmlformats.org/drawingml/2006/main">
            <a:off x="4673600" y="35356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líneas por cada 100 habitantes a nivel nacional y por entidad federativa; y el tráfico de </a:t>
            </a:r>
          </a:p>
        </p:txBody>
      </p:sp>
      <p:sp>
        <p:nvSpPr>
          <p:cNvPr id="83" name="INTRO_TEXTO_48">
            <a:extLst xmlns:a="http://schemas.openxmlformats.org/drawingml/2006/main">
              <a:ext uri="{FF2B5EF4-FFF2-40B4-BE49-F238E27FC236}">
                <a16:creationId xmlns:a16="http://schemas.microsoft.com/office/drawing/2014/main" id="{DD0A7A0A-BDC1-484E-9159-43D09EDC6170}"/>
              </a:ext>
            </a:extLst>
          </p:cNvPr>
          <p:cNvSpPr>
            <a:spLocks xmlns:a="http://schemas.openxmlformats.org/drawingml/2006/main" noGrp="1"/>
          </p:cNvSpPr>
          <p:nvPr/>
        </p:nvSpPr>
        <p:spPr>
          <a:xfrm xmlns:a="http://schemas.openxmlformats.org/drawingml/2006/main">
            <a:off x="4673600" y="36474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los servicios móviles de telefonía y de acceso a Internet.</a:t>
            </a:r>
          </a:p>
        </p:txBody>
      </p:sp>
      <p:sp>
        <p:nvSpPr>
          <p:cNvPr id="84" name="INTRO_NUMERO_4">
            <a:extLst xmlns:a="http://schemas.openxmlformats.org/drawingml/2006/main">
              <a:ext uri="{FF2B5EF4-FFF2-40B4-BE49-F238E27FC236}">
                <a16:creationId xmlns:a16="http://schemas.microsoft.com/office/drawing/2014/main" id="{AF896CD7-66ED-4125-8776-E7031F378327}"/>
              </a:ext>
            </a:extLst>
          </p:cNvPr>
          <p:cNvSpPr>
            <a:spLocks xmlns:a="http://schemas.openxmlformats.org/drawingml/2006/main" noGrp="1"/>
          </p:cNvSpPr>
          <p:nvPr/>
        </p:nvSpPr>
        <p:spPr>
          <a:xfrm xmlns:a="http://schemas.openxmlformats.org/drawingml/2006/main">
            <a:off x="2641600" y="4292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a:solidFill>
                  <a:srgbClr val="263632"/>
                </a:solidFill>
                <a:latin typeface="Noto Sans"/>
                <a:ea typeface="Noto Sans"/>
                <a:cs typeface="Noto Sans"/>
              </a:defRPr>
            </a:pPr>
            <a:r>
              <a:rPr sz="850" b="1">
                <a:solidFill>
                  <a:srgbClr val="FFFFFF"/>
                </a:solidFill>
              </a:rPr>
              <a:t>4</a:t>
            </a:r>
          </a:p>
        </p:txBody>
      </p:sp>
      <p:sp>
        <p:nvSpPr>
          <p:cNvPr id="85" name="INTRO_SECCION_4_1">
            <a:extLst xmlns:a="http://schemas.openxmlformats.org/drawingml/2006/main">
              <a:ext uri="{FF2B5EF4-FFF2-40B4-BE49-F238E27FC236}">
                <a16:creationId xmlns:a16="http://schemas.microsoft.com/office/drawing/2014/main" id="{4A56839D-729E-46E3-8F78-6EC30AA53485}"/>
              </a:ext>
            </a:extLst>
          </p:cNvPr>
          <p:cNvSpPr>
            <a:spLocks xmlns:a="http://schemas.openxmlformats.org/drawingml/2006/main" noGrp="1"/>
          </p:cNvSpPr>
          <p:nvPr/>
        </p:nvSpPr>
        <p:spPr>
          <a:xfrm xmlns:a="http://schemas.openxmlformats.org/drawingml/2006/main">
            <a:off x="2971800" y="420497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Tecnologías de la </a:t>
            </a:r>
          </a:p>
        </p:txBody>
      </p:sp>
      <p:sp>
        <p:nvSpPr>
          <p:cNvPr id="86" name="INTRO_SECCION_4_2">
            <a:extLst xmlns:a="http://schemas.openxmlformats.org/drawingml/2006/main">
              <a:ext uri="{FF2B5EF4-FFF2-40B4-BE49-F238E27FC236}">
                <a16:creationId xmlns:a16="http://schemas.microsoft.com/office/drawing/2014/main" id="{9A252672-72B8-455D-94F2-BD33B18CD7A9}"/>
              </a:ext>
            </a:extLst>
          </p:cNvPr>
          <p:cNvSpPr>
            <a:spLocks xmlns:a="http://schemas.openxmlformats.org/drawingml/2006/main" noGrp="1"/>
          </p:cNvSpPr>
          <p:nvPr/>
        </p:nvSpPr>
        <p:spPr>
          <a:xfrm xmlns:a="http://schemas.openxmlformats.org/drawingml/2006/main">
            <a:off x="2971800" y="433959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Información y </a:t>
            </a:r>
          </a:p>
        </p:txBody>
      </p:sp>
      <p:sp>
        <p:nvSpPr>
          <p:cNvPr id="87" name="INTRO_SECCION_4_3">
            <a:extLst xmlns:a="http://schemas.openxmlformats.org/drawingml/2006/main">
              <a:ext uri="{FF2B5EF4-FFF2-40B4-BE49-F238E27FC236}">
                <a16:creationId xmlns:a16="http://schemas.microsoft.com/office/drawing/2014/main" id="{7DDB1388-4B0D-4F03-8955-1BF2D45E6D9D}"/>
              </a:ext>
            </a:extLst>
          </p:cNvPr>
          <p:cNvSpPr>
            <a:spLocks xmlns:a="http://schemas.openxmlformats.org/drawingml/2006/main" noGrp="1"/>
          </p:cNvSpPr>
          <p:nvPr/>
        </p:nvSpPr>
        <p:spPr>
          <a:xfrm xmlns:a="http://schemas.openxmlformats.org/drawingml/2006/main">
            <a:off x="2971800" y="4474210"/>
            <a:ext cx="1524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a:solidFill>
                  <a:srgbClr val="263632"/>
                </a:solidFill>
                <a:latin typeface="Noto Sans"/>
                <a:ea typeface="Noto Sans"/>
                <a:cs typeface="Noto Sans"/>
              </a:defRPr>
            </a:pPr>
            <a:r>
              <a:rPr sz="819" b="1" i="0">
                <a:solidFill>
                  <a:srgbClr val="1A4043"/>
                </a:solidFill>
                <a:latin typeface="Noto Sans"/>
                <a:ea typeface="Noto Sans"/>
                <a:cs typeface="Noto Sans"/>
              </a:rPr>
              <a:t>Comunicación (TIC):</a:t>
            </a:r>
          </a:p>
        </p:txBody>
      </p:sp>
      <p:sp>
        <p:nvSpPr>
          <p:cNvPr id="88" name="INTRO_TEXTO_49">
            <a:extLst xmlns:a="http://schemas.openxmlformats.org/drawingml/2006/main">
              <a:ext uri="{FF2B5EF4-FFF2-40B4-BE49-F238E27FC236}">
                <a16:creationId xmlns:a16="http://schemas.microsoft.com/office/drawing/2014/main" id="{27AA3831-3A73-4B14-A6B7-2D8E210E5547}"/>
              </a:ext>
            </a:extLst>
          </p:cNvPr>
          <p:cNvSpPr>
            <a:spLocks xmlns:a="http://schemas.openxmlformats.org/drawingml/2006/main" noGrp="1"/>
          </p:cNvSpPr>
          <p:nvPr/>
        </p:nvSpPr>
        <p:spPr>
          <a:xfrm xmlns:a="http://schemas.openxmlformats.org/drawingml/2006/main">
            <a:off x="4673600" y="40132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Contiene información de la disponibilidad de aparatos de radio, equipo de cómputo, </a:t>
            </a:r>
          </a:p>
        </p:txBody>
      </p:sp>
      <p:sp>
        <p:nvSpPr>
          <p:cNvPr id="89" name="INTRO_TEXTO_50">
            <a:extLst xmlns:a="http://schemas.openxmlformats.org/drawingml/2006/main">
              <a:ext uri="{FF2B5EF4-FFF2-40B4-BE49-F238E27FC236}">
                <a16:creationId xmlns:a16="http://schemas.microsoft.com/office/drawing/2014/main" id="{669FAFE1-94F0-4D1D-B3C4-DF395C98F748}"/>
              </a:ext>
            </a:extLst>
          </p:cNvPr>
          <p:cNvSpPr>
            <a:spLocks xmlns:a="http://schemas.openxmlformats.org/drawingml/2006/main" noGrp="1"/>
          </p:cNvSpPr>
          <p:nvPr/>
        </p:nvSpPr>
        <p:spPr>
          <a:xfrm xmlns:a="http://schemas.openxmlformats.org/drawingml/2006/main">
            <a:off x="4673600" y="41249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teléfono móvil, televisores digitales y analógicos en los hogares, porcentaje de </a:t>
            </a:r>
          </a:p>
        </p:txBody>
      </p:sp>
      <p:sp>
        <p:nvSpPr>
          <p:cNvPr id="90" name="INTRO_TEXTO_51">
            <a:extLst xmlns:a="http://schemas.openxmlformats.org/drawingml/2006/main">
              <a:ext uri="{FF2B5EF4-FFF2-40B4-BE49-F238E27FC236}">
                <a16:creationId xmlns:a16="http://schemas.microsoft.com/office/drawing/2014/main" id="{CC930FD8-74EE-482E-8EB2-37C902CC2214}"/>
              </a:ext>
            </a:extLst>
          </p:cNvPr>
          <p:cNvSpPr>
            <a:spLocks xmlns:a="http://schemas.openxmlformats.org/drawingml/2006/main" noGrp="1"/>
          </p:cNvSpPr>
          <p:nvPr/>
        </p:nvSpPr>
        <p:spPr>
          <a:xfrm xmlns:a="http://schemas.openxmlformats.org/drawingml/2006/main">
            <a:off x="4673600" y="423672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usuarios de Internet y </a:t>
            </a:r>
            <a:r>
              <a:rPr sz="720" b="0" i="1">
                <a:solidFill>
                  <a:srgbClr val="26312F"/>
                </a:solidFill>
                <a:latin typeface="Noto Sans"/>
                <a:ea typeface="Noto Sans"/>
                <a:cs typeface="Noto Sans"/>
              </a:rPr>
              <a:t>Smartphone</a:t>
            </a:r>
            <a:r>
              <a:rPr sz="720" b="0" i="0">
                <a:solidFill>
                  <a:srgbClr val="26312F"/>
                </a:solidFill>
                <a:latin typeface="Noto Sans"/>
                <a:ea typeface="Noto Sans"/>
                <a:cs typeface="Noto Sans"/>
              </a:rPr>
              <a:t>; y horas promedio de uso de Internet por grupos de </a:t>
            </a:r>
          </a:p>
        </p:txBody>
      </p:sp>
      <p:sp>
        <p:nvSpPr>
          <p:cNvPr id="91" name="INTRO_TEXTO_52">
            <a:extLst xmlns:a="http://schemas.openxmlformats.org/drawingml/2006/main">
              <a:ext uri="{FF2B5EF4-FFF2-40B4-BE49-F238E27FC236}">
                <a16:creationId xmlns:a16="http://schemas.microsoft.com/office/drawing/2014/main" id="{64152F2E-E0E2-4244-9601-3110C008B44B}"/>
              </a:ext>
            </a:extLst>
          </p:cNvPr>
          <p:cNvSpPr>
            <a:spLocks xmlns:a="http://schemas.openxmlformats.org/drawingml/2006/main" noGrp="1"/>
          </p:cNvSpPr>
          <p:nvPr/>
        </p:nvSpPr>
        <p:spPr>
          <a:xfrm xmlns:a="http://schemas.openxmlformats.org/drawingml/2006/main">
            <a:off x="4673600" y="434848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edad, uso de dispositivos inteligentes (bocina o asistente del hogar, sistema de video </a:t>
            </a:r>
          </a:p>
        </p:txBody>
      </p:sp>
      <p:sp>
        <p:nvSpPr>
          <p:cNvPr id="92" name="INTRO_TEXTO_53">
            <a:extLst xmlns:a="http://schemas.openxmlformats.org/drawingml/2006/main">
              <a:ext uri="{FF2B5EF4-FFF2-40B4-BE49-F238E27FC236}">
                <a16:creationId xmlns:a16="http://schemas.microsoft.com/office/drawing/2014/main" id="{F8556B8C-7CC4-4E14-93DA-C3CFA46636F0}"/>
              </a:ext>
            </a:extLst>
          </p:cNvPr>
          <p:cNvSpPr>
            <a:spLocks xmlns:a="http://schemas.openxmlformats.org/drawingml/2006/main" noGrp="1"/>
          </p:cNvSpPr>
          <p:nvPr/>
        </p:nvSpPr>
        <p:spPr>
          <a:xfrm xmlns:a="http://schemas.openxmlformats.org/drawingml/2006/main">
            <a:off x="4673600" y="446024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vigilancia, puertas o ventanas de cerrado digital, termostato, dispositivos de ahorro de </a:t>
            </a:r>
          </a:p>
        </p:txBody>
      </p:sp>
      <p:sp>
        <p:nvSpPr>
          <p:cNvPr id="93" name="INTRO_TEXTO_54">
            <a:extLst xmlns:a="http://schemas.openxmlformats.org/drawingml/2006/main">
              <a:ext uri="{FF2B5EF4-FFF2-40B4-BE49-F238E27FC236}">
                <a16:creationId xmlns:a16="http://schemas.microsoft.com/office/drawing/2014/main" id="{68665F53-C432-4926-BC53-EEF332706F88}"/>
              </a:ext>
            </a:extLst>
          </p:cNvPr>
          <p:cNvSpPr>
            <a:spLocks xmlns:a="http://schemas.openxmlformats.org/drawingml/2006/main" noGrp="1"/>
          </p:cNvSpPr>
          <p:nvPr/>
        </p:nvSpPr>
        <p:spPr>
          <a:xfrm xmlns:a="http://schemas.openxmlformats.org/drawingml/2006/main">
            <a:off x="4673600" y="457200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energía, conexión eléctrica, electrodomésticos) por grupo de edad, y los efectos de la </a:t>
            </a:r>
          </a:p>
        </p:txBody>
      </p:sp>
      <p:sp>
        <p:nvSpPr>
          <p:cNvPr id="94" name="INTRO_TEXTO_55">
            <a:extLst xmlns:a="http://schemas.openxmlformats.org/drawingml/2006/main">
              <a:ext uri="{FF2B5EF4-FFF2-40B4-BE49-F238E27FC236}">
                <a16:creationId xmlns:a16="http://schemas.microsoft.com/office/drawing/2014/main" id="{F7DF738E-9E69-43CD-938B-DB8E966F3472}"/>
              </a:ext>
            </a:extLst>
          </p:cNvPr>
          <p:cNvSpPr>
            <a:spLocks xmlns:a="http://schemas.openxmlformats.org/drawingml/2006/main" noGrp="1"/>
          </p:cNvSpPr>
          <p:nvPr/>
        </p:nvSpPr>
        <p:spPr>
          <a:xfrm xmlns:a="http://schemas.openxmlformats.org/drawingml/2006/main">
            <a:off x="4673600" y="4683760"/>
            <a:ext cx="40132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12F"/>
                </a:solidFill>
                <a:latin typeface="Noto Sans"/>
                <a:ea typeface="Noto Sans"/>
                <a:cs typeface="Noto Sans"/>
              </a:rPr>
              <a:t>desconfianza en Internet sobre las actividades en línea que realizan los usuarios.</a:t>
            </a:r>
          </a:p>
        </p:txBody>
      </p:sp>
      <p:sp>
        <p:nvSpPr>
          <p:cNvPr id="95" name="ANUARIO_PAGE_NUMBER">
            <a:extLst xmlns:a="http://schemas.openxmlformats.org/drawingml/2006/main">
              <a:ext uri="{FF2B5EF4-FFF2-40B4-BE49-F238E27FC236}">
                <a16:creationId xmlns:a16="http://schemas.microsoft.com/office/drawing/2014/main" id="{D3448042-EACC-4FBB-B0E1-633233EA86E8}"/>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a:solidFill>
                  <a:srgbClr val="263632"/>
                </a:solidFill>
                <a:latin typeface="Noto Sans"/>
                <a:ea typeface="Noto Sans"/>
                <a:cs typeface="Noto Sans"/>
              </a:defRPr>
            </a:pPr>
            <a:r>
              <a:rPr sz="700" b="1">
                <a:solidFill>
                  <a:srgbClr val="FFFFFF"/>
                </a:solidFill>
              </a:rPr>
              <a:t>7</a:t>
            </a:r>
          </a:p>
        </p:txBody>
      </p:sp>
      <p:sp>
        <p:nvSpPr>
          <p:cNvPr id="96" name="INTRO_EDICION_PIE">
            <a:extLst xmlns:a="http://schemas.openxmlformats.org/drawingml/2006/main">
              <a:ext uri="{FF2B5EF4-FFF2-40B4-BE49-F238E27FC236}">
                <a16:creationId xmlns:a16="http://schemas.microsoft.com/office/drawing/2014/main" id="{284C3B4B-9391-4E08-924A-C3A44D04AB3B}"/>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a:solidFill>
                  <a:srgbClr val="FFFFFF"/>
                </a:solidFill>
              </a:rPr>
              <a:t>A N U A R I O   E S T A D Í S T I C O   2 0 2 6</a:t>
            </a:r>
          </a:p>
        </p:txBody>
      </p:sp>
    </p:spTree>
    <p:extLst>
      <p:ext uri="{BB962C8B-B14F-4D97-AF65-F5344CB8AC3E}">
        <p14:creationId xmlns:p14="http://schemas.microsoft.com/office/powerpoint/2010/main" val="35039390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8.xml><?xml version="1.0" encoding="utf-8"?>
<p:sld xmlns:p="http://schemas.openxmlformats.org/presentationml/2006/main" showMasterSp="0">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ab0adeb70d7b4625"/>
          <a:stretch xmlns:a="http://schemas.openxmlformats.org/drawingml/2006/main"/>
        </p:blipFill>
        <p:spPr>
          <a:xfrm xmlns:a="http://schemas.openxmlformats.org/drawingml/2006/main">
            <a:off x="3378" y="0"/>
            <a:ext cx="9136888" cy="456844"/>
          </a:xfrm>
          <a:prstGeom xmlns:a="http://schemas.openxmlformats.org/drawingml/2006/main" prst="rect">
            <a:avLst/>
          </a:prstGeom>
        </p:spPr>
      </p:pic>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ea391cf12914453e"/>
          <a:stretch xmlns:a="http://schemas.openxmlformats.org/drawingml/2006/main"/>
        </p:blipFill>
        <p:spPr>
          <a:xfrm xmlns:a="http://schemas.openxmlformats.org/drawingml/2006/main">
            <a:off x="14298" y="4990683"/>
            <a:ext cx="9115048" cy="151917"/>
          </a:xfrm>
          <a:prstGeom xmlns:a="http://schemas.openxmlformats.org/drawingml/2006/main" prst="rect">
            <a:avLst/>
          </a:prstGeom>
        </p:spPr>
      </p:pic>
      <p:sp>
        <p:nvSpPr>
          <p:cNvPr id="3" name="INTRO8_QR_FONDO">
            <a:extLst xmlns:a="http://schemas.openxmlformats.org/drawingml/2006/main">
              <a:ext uri="{FF2B5EF4-FFF2-40B4-BE49-F238E27FC236}">
                <a16:creationId xmlns:a16="http://schemas.microsoft.com/office/drawing/2014/main" id="{6C171A84-A6B9-4E34-849A-B13DB2FC9A31}"/>
              </a:ext>
            </a:extLst>
          </p:cNvPr>
          <p:cNvSpPr>
            <a:spLocks xmlns:a="http://schemas.openxmlformats.org/drawingml/2006/main" noGrp="1"/>
          </p:cNvSpPr>
          <p:nvPr/>
        </p:nvSpPr>
        <p:spPr>
          <a:xfrm xmlns:a="http://schemas.openxmlformats.org/drawingml/2006/main">
            <a:off x="7785100" y="50800"/>
            <a:ext cx="355600" cy="3556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8890">
            <a:solidFill>
              <a:srgbClr val="FFFFFF"/>
            </a:solidFill>
          </a:ln>
        </p:spPr>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4f2cbbb30dda4051"/>
          <a:stretch xmlns:a="http://schemas.openxmlformats.org/drawingml/2006/main"/>
        </p:blipFill>
        <p:spPr>
          <a:xfrm xmlns:a="http://schemas.openxmlformats.org/drawingml/2006/main">
            <a:off x="7810564" y="75961"/>
            <a:ext cx="304559" cy="304559"/>
          </a:xfrm>
          <a:prstGeom xmlns:a="http://schemas.openxmlformats.org/drawingml/2006/main" prst="rect">
            <a:avLst/>
          </a:prstGeom>
        </p:spPr>
      </p:pic>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4d12f4a07a004500"/>
          <a:stretch xmlns:a="http://schemas.openxmlformats.org/drawingml/2006/main"/>
        </p:blipFill>
        <p:spPr>
          <a:xfrm xmlns:a="http://schemas.openxmlformats.org/drawingml/2006/main">
            <a:off x="8294782" y="75961"/>
            <a:ext cx="542115" cy="304559"/>
          </a:xfrm>
          <a:prstGeom xmlns:a="http://schemas.openxmlformats.org/drawingml/2006/main" prst="rect">
            <a:avLst/>
          </a:prstGeom>
        </p:spPr>
      </p:pic>
      <p:sp>
        <p:nvSpPr>
          <p:cNvPr id="6" name="INTRO8_ENCABEZADO_0">
            <a:extLst xmlns:a="http://schemas.openxmlformats.org/drawingml/2006/main">
              <a:ext uri="{FF2B5EF4-FFF2-40B4-BE49-F238E27FC236}">
                <a16:creationId xmlns:a16="http://schemas.microsoft.com/office/drawing/2014/main" id="{2086B35C-CC9A-4539-9BE8-B6BF92A7A8A8}"/>
              </a:ext>
            </a:extLst>
          </p:cNvPr>
          <p:cNvSpPr>
            <a:spLocks xmlns:a="http://schemas.openxmlformats.org/drawingml/2006/main" noGrp="1"/>
          </p:cNvSpPr>
          <p:nvPr/>
        </p:nvSpPr>
        <p:spPr>
          <a:xfrm xmlns:a="http://schemas.openxmlformats.org/drawingml/2006/main">
            <a:off x="304914" y="127480"/>
            <a:ext cx="2540000" cy="2761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1500" b="1" i="0">
                <a:solidFill>
                  <a:srgbClr val="FFFFFF"/>
                </a:solidFill>
                <a:latin typeface="Noto Sans"/>
                <a:ea typeface="Noto Sans"/>
                <a:cs typeface="Noto Sans"/>
              </a:rPr>
              <a:t>INTRODUCCIÓN</a:t>
            </a:r>
          </a:p>
        </p:txBody>
      </p:sp>
      <p:sp>
        <p:nvSpPr>
          <p:cNvPr id="7" name="INTRO8_ENCABEZADO_1">
            <a:extLst xmlns:a="http://schemas.openxmlformats.org/drawingml/2006/main">
              <a:ext uri="{FF2B5EF4-FFF2-40B4-BE49-F238E27FC236}">
                <a16:creationId xmlns:a16="http://schemas.microsoft.com/office/drawing/2014/main" id="{35EB97AC-FD4D-4190-A884-228E8ADF1338}"/>
              </a:ext>
            </a:extLst>
          </p:cNvPr>
          <p:cNvSpPr>
            <a:spLocks xmlns:a="http://schemas.openxmlformats.org/drawingml/2006/main" noGrp="1"/>
          </p:cNvSpPr>
          <p:nvPr/>
        </p:nvSpPr>
        <p:spPr>
          <a:xfrm xmlns:a="http://schemas.openxmlformats.org/drawingml/2006/main">
            <a:off x="5501157" y="135999"/>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581" b="0" i="0">
                <a:solidFill>
                  <a:srgbClr val="CFE7E1"/>
                </a:solidFill>
                <a:latin typeface="Noto Sans"/>
                <a:ea typeface="Noto Sans"/>
                <a:cs typeface="Noto Sans"/>
              </a:rPr>
              <a:t>Para consultar información con mayor desagregación, visita</a:t>
            </a:r>
          </a:p>
        </p:txBody>
      </p:sp>
      <p:sp>
        <p:nvSpPr>
          <p:cNvPr id="8" name="INTRO8_ENCABEZADO_2">
            <a:extLst xmlns:a="http://schemas.openxmlformats.org/drawingml/2006/main">
              <a:ext uri="{FF2B5EF4-FFF2-40B4-BE49-F238E27FC236}">
                <a16:creationId xmlns:a16="http://schemas.microsoft.com/office/drawing/2014/main" id="{D3387CBA-FF9E-4760-86D9-A567A5A929A8}"/>
              </a:ext>
            </a:extLst>
          </p:cNvPr>
          <p:cNvSpPr>
            <a:spLocks xmlns:a="http://schemas.openxmlformats.org/drawingml/2006/main" noGrp="1"/>
          </p:cNvSpPr>
          <p:nvPr/>
        </p:nvSpPr>
        <p:spPr>
          <a:xfrm xmlns:a="http://schemas.openxmlformats.org/drawingml/2006/main">
            <a:off x="5924880" y="225645"/>
            <a:ext cx="2286000" cy="13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00" b="1" i="0">
                <a:solidFill>
                  <a:srgbClr val="FFFFFF"/>
                </a:solidFill>
                <a:latin typeface="Noto Sans"/>
                <a:ea typeface="Noto Sans"/>
                <a:cs typeface="Noto Sans"/>
                <a:hlinkClick xmlns:r="http://schemas.openxmlformats.org/officeDocument/2006/relationships" r:id="R4e3103bf1d6a40b8"/>
              </a:rPr>
              <a:t>BIT CRT · bit.crt.gob.mx/BitWebApp</a:t>
            </a:r>
          </a:p>
        </p:txBody>
      </p:sp>
      <p:sp>
        <p:nvSpPr>
          <p:cNvPr id="9" name="ANUARIO_INTRO_CONT_DESIGN_2026">
            <a:extLst xmlns:a="http://schemas.openxmlformats.org/drawingml/2006/main">
              <a:ext uri="{FF2B5EF4-FFF2-40B4-BE49-F238E27FC236}">
                <a16:creationId xmlns:a16="http://schemas.microsoft.com/office/drawing/2014/main" id="{A11C40A5-9D0A-4D73-87AF-FAC4A236F82F}"/>
              </a:ext>
            </a:extLst>
          </p:cNvPr>
          <p:cNvSpPr>
            <a:spLocks xmlns:a="http://schemas.openxmlformats.org/drawingml/2006/main" noGrp="1"/>
          </p:cNvSpPr>
          <p:nvPr/>
        </p:nvSpPr>
        <p:spPr>
          <a:xfrm xmlns:a="http://schemas.openxmlformats.org/drawingml/2006/main">
            <a:off x="304800" y="609600"/>
            <a:ext cx="8534400" cy="736600"/>
          </a:xfrm>
          <a:prstGeom xmlns:a="http://schemas.openxmlformats.org/drawingml/2006/main" prst="roundRect">
            <a:avLst>
              <a:gd name="adj" fmla="val 5172"/>
            </a:avLst>
          </a:prstGeom>
          <a:solidFill xmlns:a="http://schemas.openxmlformats.org/drawingml/2006/main">
            <a:srgbClr val="F6FAF9"/>
          </a:solidFill>
          <a:ln xmlns:a="http://schemas.openxmlformats.org/drawingml/2006/main" w="8890">
            <a:solidFill>
              <a:srgbClr val="DCE9E6"/>
            </a:solidFill>
          </a:ln>
        </p:spPr>
      </p:sp>
      <p:sp>
        <p:nvSpPr>
          <p:cNvPr id="10" name="INTRO8_ACENTO_5">
            <a:extLst xmlns:a="http://schemas.openxmlformats.org/drawingml/2006/main">
              <a:ext uri="{FF2B5EF4-FFF2-40B4-BE49-F238E27FC236}">
                <a16:creationId xmlns:a16="http://schemas.microsoft.com/office/drawing/2014/main" id="{67D82827-C7B5-4679-9C01-9B762941C046}"/>
              </a:ext>
            </a:extLst>
          </p:cNvPr>
          <p:cNvSpPr>
            <a:spLocks xmlns:a="http://schemas.openxmlformats.org/drawingml/2006/main" noGrp="1"/>
          </p:cNvSpPr>
          <p:nvPr/>
        </p:nvSpPr>
        <p:spPr>
          <a:xfrm xmlns:a="http://schemas.openxmlformats.org/drawingml/2006/main">
            <a:off x="304800" y="6858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11" name="INTRO8_SEPARADOR_5">
            <a:extLst xmlns:a="http://schemas.openxmlformats.org/drawingml/2006/main">
              <a:ext uri="{FF2B5EF4-FFF2-40B4-BE49-F238E27FC236}">
                <a16:creationId xmlns:a16="http://schemas.microsoft.com/office/drawing/2014/main" id="{C1EF825E-D6B0-4C4F-8878-9048EF40CC6A}"/>
              </a:ext>
            </a:extLst>
          </p:cNvPr>
          <p:cNvSpPr>
            <a:spLocks xmlns:a="http://schemas.openxmlformats.org/drawingml/2006/main" noGrp="1"/>
          </p:cNvSpPr>
          <p:nvPr/>
        </p:nvSpPr>
        <p:spPr>
          <a:xfrm xmlns:a="http://schemas.openxmlformats.org/drawingml/2006/main">
            <a:off x="2654300" y="6985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12" name="INTRO8_NUMERO_FONDO_5">
            <a:extLst xmlns:a="http://schemas.openxmlformats.org/drawingml/2006/main">
              <a:ext uri="{FF2B5EF4-FFF2-40B4-BE49-F238E27FC236}">
                <a16:creationId xmlns:a16="http://schemas.microsoft.com/office/drawing/2014/main" id="{663D2CCC-F102-4850-B065-A4491F80D7EE}"/>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13" name="INTRO8_NUMERO_5">
            <a:extLst xmlns:a="http://schemas.openxmlformats.org/drawingml/2006/main">
              <a:ext uri="{FF2B5EF4-FFF2-40B4-BE49-F238E27FC236}">
                <a16:creationId xmlns:a16="http://schemas.microsoft.com/office/drawing/2014/main" id="{376FF3D5-4306-4632-8635-FB865E407D16}"/>
              </a:ext>
            </a:extLst>
          </p:cNvPr>
          <p:cNvSpPr>
            <a:spLocks xmlns:a="http://schemas.openxmlformats.org/drawingml/2006/main" noGrp="1"/>
          </p:cNvSpPr>
          <p:nvPr/>
        </p:nvSpPr>
        <p:spPr>
          <a:xfrm xmlns:a="http://schemas.openxmlformats.org/drawingml/2006/main">
            <a:off x="457200" y="8636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5</a:t>
            </a:r>
          </a:p>
        </p:txBody>
      </p:sp>
      <p:sp>
        <p:nvSpPr>
          <p:cNvPr id="14" name="INTRO8_SECCION_5_1">
            <a:extLst xmlns:a="http://schemas.openxmlformats.org/drawingml/2006/main">
              <a:ext uri="{FF2B5EF4-FFF2-40B4-BE49-F238E27FC236}">
                <a16:creationId xmlns:a16="http://schemas.microsoft.com/office/drawing/2014/main" id="{E5AC784F-7E2F-4BEE-B0B3-1C2DB4C47D7B}"/>
              </a:ext>
            </a:extLst>
          </p:cNvPr>
          <p:cNvSpPr>
            <a:spLocks xmlns:a="http://schemas.openxmlformats.org/drawingml/2006/main" noGrp="1"/>
          </p:cNvSpPr>
          <p:nvPr/>
        </p:nvSpPr>
        <p:spPr>
          <a:xfrm xmlns:a="http://schemas.openxmlformats.org/drawingml/2006/main">
            <a:off x="787400" y="8432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Usuarios de Servicios de</a:t>
            </a:r>
          </a:p>
        </p:txBody>
      </p:sp>
      <p:sp>
        <p:nvSpPr>
          <p:cNvPr id="15" name="INTRO8_SECCION_5_2">
            <a:extLst xmlns:a="http://schemas.openxmlformats.org/drawingml/2006/main">
              <a:ext uri="{FF2B5EF4-FFF2-40B4-BE49-F238E27FC236}">
                <a16:creationId xmlns:a16="http://schemas.microsoft.com/office/drawing/2014/main" id="{85369A02-3C6D-43EB-BA0B-E1A3E93A7F56}"/>
              </a:ext>
            </a:extLst>
          </p:cNvPr>
          <p:cNvSpPr>
            <a:spLocks xmlns:a="http://schemas.openxmlformats.org/drawingml/2006/main" noGrp="1"/>
          </p:cNvSpPr>
          <p:nvPr/>
        </p:nvSpPr>
        <p:spPr>
          <a:xfrm xmlns:a="http://schemas.openxmlformats.org/drawingml/2006/main">
            <a:off x="787400" y="9779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Telecomunicaciones:</a:t>
            </a:r>
          </a:p>
        </p:txBody>
      </p:sp>
      <p:sp>
        <p:nvSpPr>
          <p:cNvPr id="16" name="INTRO8_CUERPO_5_1">
            <a:extLst xmlns:a="http://schemas.openxmlformats.org/drawingml/2006/main">
              <a:ext uri="{FF2B5EF4-FFF2-40B4-BE49-F238E27FC236}">
                <a16:creationId xmlns:a16="http://schemas.microsoft.com/office/drawing/2014/main" id="{3BC6DD94-A716-4EE6-9D55-646911FC33B6}"/>
              </a:ext>
            </a:extLst>
          </p:cNvPr>
          <p:cNvSpPr>
            <a:spLocks xmlns:a="http://schemas.openxmlformats.org/drawingml/2006/main" noGrp="1"/>
          </p:cNvSpPr>
          <p:nvPr/>
        </p:nvSpPr>
        <p:spPr>
          <a:xfrm xmlns:a="http://schemas.openxmlformats.org/drawingml/2006/main">
            <a:off x="2819400" y="6883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satisfacción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17" name="INTRO8_CUERPO_5_2">
            <a:extLst xmlns:a="http://schemas.openxmlformats.org/drawingml/2006/main">
              <a:ext uri="{FF2B5EF4-FFF2-40B4-BE49-F238E27FC236}">
                <a16:creationId xmlns:a16="http://schemas.microsoft.com/office/drawing/2014/main" id="{D6AC3CA9-40DD-418A-B860-240B32398B3B}"/>
              </a:ext>
            </a:extLst>
          </p:cNvPr>
          <p:cNvSpPr>
            <a:spLocks xmlns:a="http://schemas.openxmlformats.org/drawingml/2006/main" noGrp="1"/>
          </p:cNvSpPr>
          <p:nvPr/>
        </p:nvSpPr>
        <p:spPr>
          <a:xfrm xmlns:a="http://schemas.openxmlformats.org/drawingml/2006/main">
            <a:off x="2819400" y="8001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paga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telefonía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beneficios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p>
        </p:txBody>
      </p:sp>
      <p:sp>
        <p:nvSpPr>
          <p:cNvPr id="18" name="INTRO8_CUERPO_5_3">
            <a:extLst xmlns:a="http://schemas.openxmlformats.org/drawingml/2006/main">
              <a:ext uri="{FF2B5EF4-FFF2-40B4-BE49-F238E27FC236}">
                <a16:creationId xmlns:a16="http://schemas.microsoft.com/office/drawing/2014/main" id="{092D800A-4C32-484A-8FE9-90C86B8756CD}"/>
              </a:ext>
            </a:extLst>
          </p:cNvPr>
          <p:cNvSpPr>
            <a:spLocks xmlns:a="http://schemas.openxmlformats.org/drawingml/2006/main" noGrp="1"/>
          </p:cNvSpPr>
          <p:nvPr/>
        </p:nvSpPr>
        <p:spPr>
          <a:xfrm xmlns:a="http://schemas.openxmlformats.org/drawingml/2006/main">
            <a:off x="2819400" y="9118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vender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fijo,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dispositivos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utilizan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MiPymes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sus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ventajas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contar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p>
        </p:txBody>
      </p:sp>
      <p:sp>
        <p:nvSpPr>
          <p:cNvPr id="19" name="INTRO8_CUERPO_5_4">
            <a:extLst xmlns:a="http://schemas.openxmlformats.org/drawingml/2006/main">
              <a:ext uri="{FF2B5EF4-FFF2-40B4-BE49-F238E27FC236}">
                <a16:creationId xmlns:a16="http://schemas.microsoft.com/office/drawing/2014/main" id="{0C582FBB-11BF-4F86-A0F8-EAADF44763E2}"/>
              </a:ext>
            </a:extLst>
          </p:cNvPr>
          <p:cNvSpPr>
            <a:spLocks xmlns:a="http://schemas.openxmlformats.org/drawingml/2006/main" noGrp="1"/>
          </p:cNvSpPr>
          <p:nvPr/>
        </p:nvSpPr>
        <p:spPr>
          <a:xfrm xmlns:a="http://schemas.openxmlformats.org/drawingml/2006/main">
            <a:off x="2819400" y="10236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aplicación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servicios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importación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exportación,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así</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como</a:t>
            </a:r>
          </a:p>
        </p:txBody>
      </p:sp>
      <p:sp>
        <p:nvSpPr>
          <p:cNvPr id="20" name="INTRO8_CUERPO_5_5">
            <a:extLst xmlns:a="http://schemas.openxmlformats.org/drawingml/2006/main">
              <a:ext uri="{FF2B5EF4-FFF2-40B4-BE49-F238E27FC236}">
                <a16:creationId xmlns:a16="http://schemas.microsoft.com/office/drawing/2014/main" id="{EEC164AF-13FC-45C9-AD42-89075D851B0C}"/>
              </a:ext>
            </a:extLst>
          </p:cNvPr>
          <p:cNvSpPr>
            <a:spLocks xmlns:a="http://schemas.openxmlformats.org/drawingml/2006/main" noGrp="1"/>
          </p:cNvSpPr>
          <p:nvPr/>
        </p:nvSpPr>
        <p:spPr>
          <a:xfrm xmlns:a="http://schemas.openxmlformats.org/drawingml/2006/main">
            <a:off x="2819400" y="11353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también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conocimiento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Artificial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ChatGPT.</a:t>
            </a:r>
          </a:p>
        </p:txBody>
      </p:sp>
      <p:sp>
        <p:nvSpPr>
          <p:cNvPr id="21" name="INTRO8_RECUADRO_6">
            <a:extLst xmlns:a="http://schemas.openxmlformats.org/drawingml/2006/main">
              <a:ext uri="{FF2B5EF4-FFF2-40B4-BE49-F238E27FC236}">
                <a16:creationId xmlns:a16="http://schemas.microsoft.com/office/drawing/2014/main" id="{96F8B077-FE5D-4ACA-B1E8-CE4DB6312980}"/>
              </a:ext>
            </a:extLst>
          </p:cNvPr>
          <p:cNvSpPr>
            <a:spLocks xmlns:a="http://schemas.openxmlformats.org/drawingml/2006/main" noGrp="1"/>
          </p:cNvSpPr>
          <p:nvPr/>
        </p:nvSpPr>
        <p:spPr>
          <a:xfrm xmlns:a="http://schemas.openxmlformats.org/drawingml/2006/main">
            <a:off x="304800" y="1447800"/>
            <a:ext cx="8534400" cy="736600"/>
          </a:xfrm>
          <a:prstGeom xmlns:a="http://schemas.openxmlformats.org/drawingml/2006/main" prst="roundRect">
            <a:avLst>
              <a:gd name="adj" fmla="val 5172"/>
            </a:avLst>
          </a:prstGeom>
          <a:solidFill xmlns:a="http://schemas.openxmlformats.org/drawingml/2006/main">
            <a:srgbClr val="FFFFFF"/>
          </a:solidFill>
          <a:ln xmlns:a="http://schemas.openxmlformats.org/drawingml/2006/main" w="8890">
            <a:solidFill>
              <a:srgbClr val="DCE9E6"/>
            </a:solidFill>
          </a:ln>
        </p:spPr>
      </p:sp>
      <p:sp>
        <p:nvSpPr>
          <p:cNvPr id="22" name="INTRO8_ACENTO_6">
            <a:extLst xmlns:a="http://schemas.openxmlformats.org/drawingml/2006/main">
              <a:ext uri="{FF2B5EF4-FFF2-40B4-BE49-F238E27FC236}">
                <a16:creationId xmlns:a16="http://schemas.microsoft.com/office/drawing/2014/main" id="{AE1BAD2E-B6CE-449A-B9B8-CBE3E5BD54AD}"/>
              </a:ext>
            </a:extLst>
          </p:cNvPr>
          <p:cNvSpPr>
            <a:spLocks xmlns:a="http://schemas.openxmlformats.org/drawingml/2006/main" noGrp="1"/>
          </p:cNvSpPr>
          <p:nvPr/>
        </p:nvSpPr>
        <p:spPr>
          <a:xfrm xmlns:a="http://schemas.openxmlformats.org/drawingml/2006/main">
            <a:off x="304800" y="1524000"/>
            <a:ext cx="38100" cy="5842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23" name="INTRO8_SEPARADOR_6">
            <a:extLst xmlns:a="http://schemas.openxmlformats.org/drawingml/2006/main">
              <a:ext uri="{FF2B5EF4-FFF2-40B4-BE49-F238E27FC236}">
                <a16:creationId xmlns:a16="http://schemas.microsoft.com/office/drawing/2014/main" id="{CB4A3015-EB46-4483-BA67-AE0388B92FC7}"/>
              </a:ext>
            </a:extLst>
          </p:cNvPr>
          <p:cNvSpPr>
            <a:spLocks xmlns:a="http://schemas.openxmlformats.org/drawingml/2006/main" noGrp="1"/>
          </p:cNvSpPr>
          <p:nvPr/>
        </p:nvSpPr>
        <p:spPr>
          <a:xfrm xmlns:a="http://schemas.openxmlformats.org/drawingml/2006/main">
            <a:off x="2654300" y="1536700"/>
            <a:ext cx="6985" cy="5588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24" name="INTRO8_NUMERO_FONDO_6">
            <a:extLst xmlns:a="http://schemas.openxmlformats.org/drawingml/2006/main">
              <a:ext uri="{FF2B5EF4-FFF2-40B4-BE49-F238E27FC236}">
                <a16:creationId xmlns:a16="http://schemas.microsoft.com/office/drawing/2014/main" id="{193E46C0-ED9C-4558-B792-1AED3405DE8D}"/>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25" name="INTRO8_NUMERO_6">
            <a:extLst xmlns:a="http://schemas.openxmlformats.org/drawingml/2006/main">
              <a:ext uri="{FF2B5EF4-FFF2-40B4-BE49-F238E27FC236}">
                <a16:creationId xmlns:a16="http://schemas.microsoft.com/office/drawing/2014/main" id="{9ECE3B86-B511-47F8-848F-73F0E3E85848}"/>
              </a:ext>
            </a:extLst>
          </p:cNvPr>
          <p:cNvSpPr>
            <a:spLocks xmlns:a="http://schemas.openxmlformats.org/drawingml/2006/main" noGrp="1"/>
          </p:cNvSpPr>
          <p:nvPr/>
        </p:nvSpPr>
        <p:spPr>
          <a:xfrm xmlns:a="http://schemas.openxmlformats.org/drawingml/2006/main">
            <a:off x="457200" y="17018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6</a:t>
            </a:r>
          </a:p>
        </p:txBody>
      </p:sp>
      <p:sp>
        <p:nvSpPr>
          <p:cNvPr id="26" name="INTRO8_SECCION_6_1">
            <a:extLst xmlns:a="http://schemas.openxmlformats.org/drawingml/2006/main">
              <a:ext uri="{FF2B5EF4-FFF2-40B4-BE49-F238E27FC236}">
                <a16:creationId xmlns:a16="http://schemas.microsoft.com/office/drawing/2014/main" id="{04303C32-004A-4646-98B1-86B508BAF8B7}"/>
              </a:ext>
            </a:extLst>
          </p:cNvPr>
          <p:cNvSpPr>
            <a:spLocks xmlns:a="http://schemas.openxmlformats.org/drawingml/2006/main" noGrp="1"/>
          </p:cNvSpPr>
          <p:nvPr/>
        </p:nvSpPr>
        <p:spPr>
          <a:xfrm xmlns:a="http://schemas.openxmlformats.org/drawingml/2006/main">
            <a:off x="787400" y="16814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con Perspectiva</a:t>
            </a:r>
          </a:p>
        </p:txBody>
      </p:sp>
      <p:sp>
        <p:nvSpPr>
          <p:cNvPr id="27" name="INTRO8_SECCION_6_2">
            <a:extLst xmlns:a="http://schemas.openxmlformats.org/drawingml/2006/main">
              <a:ext uri="{FF2B5EF4-FFF2-40B4-BE49-F238E27FC236}">
                <a16:creationId xmlns:a16="http://schemas.microsoft.com/office/drawing/2014/main" id="{4F896681-9B41-4207-BDEC-34D94449DE5C}"/>
              </a:ext>
            </a:extLst>
          </p:cNvPr>
          <p:cNvSpPr>
            <a:spLocks xmlns:a="http://schemas.openxmlformats.org/drawingml/2006/main" noGrp="1"/>
          </p:cNvSpPr>
          <p:nvPr/>
        </p:nvSpPr>
        <p:spPr>
          <a:xfrm xmlns:a="http://schemas.openxmlformats.org/drawingml/2006/main">
            <a:off x="787400" y="18161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de Género:</a:t>
            </a:r>
          </a:p>
        </p:txBody>
      </p:sp>
      <p:sp>
        <p:nvSpPr>
          <p:cNvPr id="28" name="INTRO8_CUERPO_6_1">
            <a:extLst xmlns:a="http://schemas.openxmlformats.org/drawingml/2006/main">
              <a:ext uri="{FF2B5EF4-FFF2-40B4-BE49-F238E27FC236}">
                <a16:creationId xmlns:a16="http://schemas.microsoft.com/office/drawing/2014/main" id="{973153BB-98AE-4BBB-93F5-7C194309ED37}"/>
              </a:ext>
            </a:extLst>
          </p:cNvPr>
          <p:cNvSpPr>
            <a:spLocks xmlns:a="http://schemas.openxmlformats.org/drawingml/2006/main" noGrp="1"/>
          </p:cNvSpPr>
          <p:nvPr/>
        </p:nvSpPr>
        <p:spPr>
          <a:xfrm xmlns:a="http://schemas.openxmlformats.org/drawingml/2006/main">
            <a:off x="2819400" y="15265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Incluye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desagregada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referente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actividades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celular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inteligente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t>
            </a:r>
            <a:r>
              <a:rPr sz="720" b="0" i="1">
                <a:solidFill>
                  <a:srgbClr val="263632"/>
                </a:solidFill>
                <a:latin typeface="Noto Sans"/>
                <a:ea typeface="Noto Sans"/>
                <a:cs typeface="Noto Sans"/>
              </a:rPr>
              <a:t>Smartphone</a:t>
            </a:r>
            <a:r>
              <a:rPr sz="720" b="0" i="0">
                <a:solidFill>
                  <a:srgbClr val="263632"/>
                </a:solidFill>
                <a:latin typeface="Noto Sans"/>
                <a:ea typeface="Noto Sans"/>
                <a:cs typeface="Noto Sans"/>
              </a:rPr>
              <a:t>),</a:t>
            </a:r>
          </a:p>
        </p:txBody>
      </p:sp>
      <p:sp>
        <p:nvSpPr>
          <p:cNvPr id="29" name="INTRO8_CUERPO_6_2">
            <a:extLst xmlns:a="http://schemas.openxmlformats.org/drawingml/2006/main">
              <a:ext uri="{FF2B5EF4-FFF2-40B4-BE49-F238E27FC236}">
                <a16:creationId xmlns:a16="http://schemas.microsoft.com/office/drawing/2014/main" id="{3A351773-BD57-4EDA-8469-F6DEC14A4604}"/>
              </a:ext>
            </a:extLst>
          </p:cNvPr>
          <p:cNvSpPr>
            <a:spLocks xmlns:a="http://schemas.openxmlformats.org/drawingml/2006/main" noGrp="1"/>
          </p:cNvSpPr>
          <p:nvPr/>
        </p:nvSpPr>
        <p:spPr>
          <a:xfrm xmlns:a="http://schemas.openxmlformats.org/drawingml/2006/main">
            <a:off x="2819400" y="163830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Internet,</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computadora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redes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sociales,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empleadas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sectores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telecomunicaciones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p>
        </p:txBody>
      </p:sp>
      <p:sp>
        <p:nvSpPr>
          <p:cNvPr id="30" name="INTRO8_CUERPO_6_3">
            <a:extLst xmlns:a="http://schemas.openxmlformats.org/drawingml/2006/main">
              <a:ext uri="{FF2B5EF4-FFF2-40B4-BE49-F238E27FC236}">
                <a16:creationId xmlns:a16="http://schemas.microsoft.com/office/drawing/2014/main" id="{5D7AFBDA-5329-4DA1-A648-D8AD9B7416D9}"/>
              </a:ext>
            </a:extLst>
          </p:cNvPr>
          <p:cNvSpPr>
            <a:spLocks xmlns:a="http://schemas.openxmlformats.org/drawingml/2006/main" noGrp="1"/>
          </p:cNvSpPr>
          <p:nvPr/>
        </p:nvSpPr>
        <p:spPr>
          <a:xfrm xmlns:a="http://schemas.openxmlformats.org/drawingml/2006/main">
            <a:off x="2819400" y="17500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ciberacoso,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mayor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riesgo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víctimas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1" name="INTRO8_CUERPO_6_4">
            <a:extLst xmlns:a="http://schemas.openxmlformats.org/drawingml/2006/main">
              <a:ext uri="{FF2B5EF4-FFF2-40B4-BE49-F238E27FC236}">
                <a16:creationId xmlns:a16="http://schemas.microsoft.com/office/drawing/2014/main" id="{2421FBFA-6E88-4AD9-9468-92EE46E6E053}"/>
              </a:ext>
            </a:extLst>
          </p:cNvPr>
          <p:cNvSpPr>
            <a:spLocks xmlns:a="http://schemas.openxmlformats.org/drawingml/2006/main" noGrp="1"/>
          </p:cNvSpPr>
          <p:nvPr/>
        </p:nvSpPr>
        <p:spPr>
          <a:xfrm xmlns:a="http://schemas.openxmlformats.org/drawingml/2006/main">
            <a:off x="2819400" y="186182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teléfono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móvil,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manera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general,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medias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protección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que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toman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personas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ante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p>
        </p:txBody>
      </p:sp>
      <p:sp>
        <p:nvSpPr>
          <p:cNvPr id="32" name="INTRO8_CUERPO_6_5">
            <a:extLst xmlns:a="http://schemas.openxmlformats.org/drawingml/2006/main">
              <a:ext uri="{FF2B5EF4-FFF2-40B4-BE49-F238E27FC236}">
                <a16:creationId xmlns:a16="http://schemas.microsoft.com/office/drawing/2014/main" id="{7443B538-5A5C-4FA7-90A8-E4075A8791F4}"/>
              </a:ext>
            </a:extLst>
          </p:cNvPr>
          <p:cNvSpPr>
            <a:spLocks xmlns:a="http://schemas.openxmlformats.org/drawingml/2006/main" noGrp="1"/>
          </p:cNvSpPr>
          <p:nvPr/>
        </p:nvSpPr>
        <p:spPr>
          <a:xfrm xmlns:a="http://schemas.openxmlformats.org/drawingml/2006/main">
            <a:off x="2819400" y="19735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acciones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realizadas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usuarios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protegerse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prevenir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violencia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digital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través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Internet.</a:t>
            </a:r>
          </a:p>
        </p:txBody>
      </p:sp>
      <p:sp>
        <p:nvSpPr>
          <p:cNvPr id="33" name="INTRO8_RECUADRO_7">
            <a:extLst xmlns:a="http://schemas.openxmlformats.org/drawingml/2006/main">
              <a:ext uri="{FF2B5EF4-FFF2-40B4-BE49-F238E27FC236}">
                <a16:creationId xmlns:a16="http://schemas.microsoft.com/office/drawing/2014/main" id="{382676B6-5B0C-4405-B1CD-B34DFF69D1EC}"/>
              </a:ext>
            </a:extLst>
          </p:cNvPr>
          <p:cNvSpPr>
            <a:spLocks xmlns:a="http://schemas.openxmlformats.org/drawingml/2006/main" noGrp="1"/>
          </p:cNvSpPr>
          <p:nvPr/>
        </p:nvSpPr>
        <p:spPr>
          <a:xfrm xmlns:a="http://schemas.openxmlformats.org/drawingml/2006/main">
            <a:off x="304800" y="2286000"/>
            <a:ext cx="8534400" cy="381000"/>
          </a:xfrm>
          <a:prstGeom xmlns:a="http://schemas.openxmlformats.org/drawingml/2006/main" prst="roundRect">
            <a:avLst>
              <a:gd name="adj" fmla="val 10000"/>
            </a:avLst>
          </a:prstGeom>
          <a:solidFill xmlns:a="http://schemas.openxmlformats.org/drawingml/2006/main">
            <a:srgbClr val="F6FAF9"/>
          </a:solidFill>
          <a:ln xmlns:a="http://schemas.openxmlformats.org/drawingml/2006/main" w="8890">
            <a:solidFill>
              <a:srgbClr val="DCE9E6"/>
            </a:solidFill>
          </a:ln>
        </p:spPr>
      </p:sp>
      <p:sp>
        <p:nvSpPr>
          <p:cNvPr id="34" name="INTRO8_ACENTO_7">
            <a:extLst xmlns:a="http://schemas.openxmlformats.org/drawingml/2006/main">
              <a:ext uri="{FF2B5EF4-FFF2-40B4-BE49-F238E27FC236}">
                <a16:creationId xmlns:a16="http://schemas.microsoft.com/office/drawing/2014/main" id="{92523961-9110-43EC-9CA8-C5ED3ACF5420}"/>
              </a:ext>
            </a:extLst>
          </p:cNvPr>
          <p:cNvSpPr>
            <a:spLocks xmlns:a="http://schemas.openxmlformats.org/drawingml/2006/main" noGrp="1"/>
          </p:cNvSpPr>
          <p:nvPr/>
        </p:nvSpPr>
        <p:spPr>
          <a:xfrm xmlns:a="http://schemas.openxmlformats.org/drawingml/2006/main">
            <a:off x="304800" y="2362200"/>
            <a:ext cx="38100" cy="2286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35" name="INTRO8_SEPARADOR_7">
            <a:extLst xmlns:a="http://schemas.openxmlformats.org/drawingml/2006/main">
              <a:ext uri="{FF2B5EF4-FFF2-40B4-BE49-F238E27FC236}">
                <a16:creationId xmlns:a16="http://schemas.microsoft.com/office/drawing/2014/main" id="{71B4E807-9BBB-4943-B1E5-CC4453D7476F}"/>
              </a:ext>
            </a:extLst>
          </p:cNvPr>
          <p:cNvSpPr>
            <a:spLocks xmlns:a="http://schemas.openxmlformats.org/drawingml/2006/main" noGrp="1"/>
          </p:cNvSpPr>
          <p:nvPr/>
        </p:nvSpPr>
        <p:spPr>
          <a:xfrm xmlns:a="http://schemas.openxmlformats.org/drawingml/2006/main">
            <a:off x="2654300" y="2374900"/>
            <a:ext cx="6985" cy="2032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36" name="INTRO8_NUMERO_FONDO_7">
            <a:extLst xmlns:a="http://schemas.openxmlformats.org/drawingml/2006/main">
              <a:ext uri="{FF2B5EF4-FFF2-40B4-BE49-F238E27FC236}">
                <a16:creationId xmlns:a16="http://schemas.microsoft.com/office/drawing/2014/main" id="{6D37B86E-7C67-4FFE-8288-37C681EEBBEC}"/>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37" name="INTRO8_NUMERO_7">
            <a:extLst xmlns:a="http://schemas.openxmlformats.org/drawingml/2006/main">
              <a:ext uri="{FF2B5EF4-FFF2-40B4-BE49-F238E27FC236}">
                <a16:creationId xmlns:a16="http://schemas.microsoft.com/office/drawing/2014/main" id="{C2257BA2-CA07-4D79-948A-F214E295B28E}"/>
              </a:ext>
            </a:extLst>
          </p:cNvPr>
          <p:cNvSpPr>
            <a:spLocks xmlns:a="http://schemas.openxmlformats.org/drawingml/2006/main" noGrp="1"/>
          </p:cNvSpPr>
          <p:nvPr/>
        </p:nvSpPr>
        <p:spPr>
          <a:xfrm xmlns:a="http://schemas.openxmlformats.org/drawingml/2006/main">
            <a:off x="457200" y="23622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7</a:t>
            </a:r>
          </a:p>
        </p:txBody>
      </p:sp>
      <p:sp>
        <p:nvSpPr>
          <p:cNvPr id="38" name="INTRO8_SECCION_7_1">
            <a:extLst xmlns:a="http://schemas.openxmlformats.org/drawingml/2006/main">
              <a:ext uri="{FF2B5EF4-FFF2-40B4-BE49-F238E27FC236}">
                <a16:creationId xmlns:a16="http://schemas.microsoft.com/office/drawing/2014/main" id="{265222B4-EF76-4B5E-946C-2B73874FE5FF}"/>
              </a:ext>
            </a:extLst>
          </p:cNvPr>
          <p:cNvSpPr>
            <a:spLocks xmlns:a="http://schemas.openxmlformats.org/drawingml/2006/main" noGrp="1"/>
          </p:cNvSpPr>
          <p:nvPr/>
        </p:nvSpPr>
        <p:spPr>
          <a:xfrm xmlns:a="http://schemas.openxmlformats.org/drawingml/2006/main">
            <a:off x="787400" y="23418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Indicadores de</a:t>
            </a:r>
          </a:p>
        </p:txBody>
      </p:sp>
      <p:sp>
        <p:nvSpPr>
          <p:cNvPr id="39" name="INTRO8_SECCION_7_2">
            <a:extLst xmlns:a="http://schemas.openxmlformats.org/drawingml/2006/main">
              <a:ext uri="{FF2B5EF4-FFF2-40B4-BE49-F238E27FC236}">
                <a16:creationId xmlns:a16="http://schemas.microsoft.com/office/drawing/2014/main" id="{972F580E-6A4D-435D-8E1F-F1AAB52D0C25}"/>
              </a:ext>
            </a:extLst>
          </p:cNvPr>
          <p:cNvSpPr>
            <a:spLocks xmlns:a="http://schemas.openxmlformats.org/drawingml/2006/main" noGrp="1"/>
          </p:cNvSpPr>
          <p:nvPr/>
        </p:nvSpPr>
        <p:spPr>
          <a:xfrm xmlns:a="http://schemas.openxmlformats.org/drawingml/2006/main">
            <a:off x="787400" y="24765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Radiodifusión:</a:t>
            </a:r>
          </a:p>
        </p:txBody>
      </p:sp>
      <p:sp>
        <p:nvSpPr>
          <p:cNvPr id="40" name="INTRO8_CUERPO_7_1">
            <a:extLst xmlns:a="http://schemas.openxmlformats.org/drawingml/2006/main">
              <a:ext uri="{FF2B5EF4-FFF2-40B4-BE49-F238E27FC236}">
                <a16:creationId xmlns:a16="http://schemas.microsoft.com/office/drawing/2014/main" id="{23FCE93B-440D-474E-8E51-48B3542CDC61}"/>
              </a:ext>
            </a:extLst>
          </p:cNvPr>
          <p:cNvSpPr>
            <a:spLocks xmlns:a="http://schemas.openxmlformats.org/drawingml/2006/main" noGrp="1"/>
          </p:cNvSpPr>
          <p:nvPr/>
        </p:nvSpPr>
        <p:spPr>
          <a:xfrm xmlns:a="http://schemas.openxmlformats.org/drawingml/2006/main">
            <a:off x="2819400" y="241046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Expone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relativa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concesiones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otorgadas</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radiodifusión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para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FM</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TDT.</a:t>
            </a:r>
          </a:p>
        </p:txBody>
      </p:sp>
      <p:sp>
        <p:nvSpPr>
          <p:cNvPr id="41" name="INTRO8_RECUADRO_8">
            <a:extLst xmlns:a="http://schemas.openxmlformats.org/drawingml/2006/main">
              <a:ext uri="{FF2B5EF4-FFF2-40B4-BE49-F238E27FC236}">
                <a16:creationId xmlns:a16="http://schemas.microsoft.com/office/drawing/2014/main" id="{ED0B5167-A919-4269-8110-5423CD08BA24}"/>
              </a:ext>
            </a:extLst>
          </p:cNvPr>
          <p:cNvSpPr>
            <a:spLocks xmlns:a="http://schemas.openxmlformats.org/drawingml/2006/main" noGrp="1"/>
          </p:cNvSpPr>
          <p:nvPr/>
        </p:nvSpPr>
        <p:spPr>
          <a:xfrm xmlns:a="http://schemas.openxmlformats.org/drawingml/2006/main">
            <a:off x="304800" y="2768600"/>
            <a:ext cx="8534400" cy="4064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8890">
            <a:solidFill>
              <a:srgbClr val="DCE9E6"/>
            </a:solidFill>
          </a:ln>
        </p:spPr>
      </p:sp>
      <p:sp>
        <p:nvSpPr>
          <p:cNvPr id="42" name="INTRO8_ACENTO_8">
            <a:extLst xmlns:a="http://schemas.openxmlformats.org/drawingml/2006/main">
              <a:ext uri="{FF2B5EF4-FFF2-40B4-BE49-F238E27FC236}">
                <a16:creationId xmlns:a16="http://schemas.microsoft.com/office/drawing/2014/main" id="{D98DFFE3-F62E-49B8-B865-19541EC17AA4}"/>
              </a:ext>
            </a:extLst>
          </p:cNvPr>
          <p:cNvSpPr>
            <a:spLocks xmlns:a="http://schemas.openxmlformats.org/drawingml/2006/main" noGrp="1"/>
          </p:cNvSpPr>
          <p:nvPr/>
        </p:nvSpPr>
        <p:spPr>
          <a:xfrm xmlns:a="http://schemas.openxmlformats.org/drawingml/2006/main">
            <a:off x="304800" y="2844800"/>
            <a:ext cx="38100" cy="254000"/>
          </a:xfrm>
          <a:prstGeom xmlns:a="http://schemas.openxmlformats.org/drawingml/2006/main" prst="rect">
            <a:avLst/>
          </a:prstGeom>
          <a:solidFill xmlns:a="http://schemas.openxmlformats.org/drawingml/2006/main">
            <a:srgbClr val="4A7D76"/>
          </a:solidFill>
          <a:ln xmlns:a="http://schemas.openxmlformats.org/drawingml/2006/main" w="0">
            <a:noFill/>
          </a:ln>
        </p:spPr>
      </p:sp>
      <p:sp>
        <p:nvSpPr>
          <p:cNvPr id="43" name="INTRO8_SEPARADOR_8">
            <a:extLst xmlns:a="http://schemas.openxmlformats.org/drawingml/2006/main">
              <a:ext uri="{FF2B5EF4-FFF2-40B4-BE49-F238E27FC236}">
                <a16:creationId xmlns:a16="http://schemas.microsoft.com/office/drawing/2014/main" id="{C2D50FC0-B282-498C-AFAF-3CBE468E38D7}"/>
              </a:ext>
            </a:extLst>
          </p:cNvPr>
          <p:cNvSpPr>
            <a:spLocks xmlns:a="http://schemas.openxmlformats.org/drawingml/2006/main" noGrp="1"/>
          </p:cNvSpPr>
          <p:nvPr/>
        </p:nvSpPr>
        <p:spPr>
          <a:xfrm xmlns:a="http://schemas.openxmlformats.org/drawingml/2006/main">
            <a:off x="2654300" y="2857500"/>
            <a:ext cx="6985" cy="228600"/>
          </a:xfrm>
          <a:prstGeom xmlns:a="http://schemas.openxmlformats.org/drawingml/2006/main" prst="rect">
            <a:avLst/>
          </a:prstGeom>
          <a:solidFill xmlns:a="http://schemas.openxmlformats.org/drawingml/2006/main">
            <a:srgbClr val="DCE9E6"/>
          </a:solidFill>
          <a:ln xmlns:a="http://schemas.openxmlformats.org/drawingml/2006/main" w="0">
            <a:noFill/>
          </a:ln>
        </p:spPr>
      </p:sp>
      <p:sp>
        <p:nvSpPr>
          <p:cNvPr id="44" name="INTRO8_NUMERO_FONDO_8">
            <a:extLst xmlns:a="http://schemas.openxmlformats.org/drawingml/2006/main">
              <a:ext uri="{FF2B5EF4-FFF2-40B4-BE49-F238E27FC236}">
                <a16:creationId xmlns:a16="http://schemas.microsoft.com/office/drawing/2014/main" id="{EEC64BD8-B959-4CDA-849D-0D983215C8E1}"/>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ellipse">
            <a:avLst/>
          </a:prstGeom>
          <a:solidFill xmlns:a="http://schemas.openxmlformats.org/drawingml/2006/main">
            <a:srgbClr val="1F6F66"/>
          </a:solidFill>
          <a:ln xmlns:a="http://schemas.openxmlformats.org/drawingml/2006/main" w="0">
            <a:noFill/>
          </a:ln>
        </p:spPr>
      </p:sp>
      <p:sp>
        <p:nvSpPr>
          <p:cNvPr id="45" name="INTRO8_NUMERO_8">
            <a:extLst xmlns:a="http://schemas.openxmlformats.org/drawingml/2006/main">
              <a:ext uri="{FF2B5EF4-FFF2-40B4-BE49-F238E27FC236}">
                <a16:creationId xmlns:a16="http://schemas.microsoft.com/office/drawing/2014/main" id="{93790D28-07AD-437C-8364-E038DF1ABF75}"/>
              </a:ext>
            </a:extLst>
          </p:cNvPr>
          <p:cNvSpPr>
            <a:spLocks xmlns:a="http://schemas.openxmlformats.org/drawingml/2006/main" noGrp="1"/>
          </p:cNvSpPr>
          <p:nvPr/>
        </p:nvSpPr>
        <p:spPr>
          <a:xfrm xmlns:a="http://schemas.openxmlformats.org/drawingml/2006/main">
            <a:off x="457200" y="2857500"/>
            <a:ext cx="228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850" b="1">
                <a:solidFill>
                  <a:srgbClr val="263632"/>
                </a:solidFill>
                <a:latin typeface="Noto Sans"/>
                <a:ea typeface="Noto Sans"/>
                <a:cs typeface="Noto Sans"/>
              </a:defRPr>
            </a:pPr>
            <a:r>
              <a:rPr sz="850" b="1">
                <a:solidFill>
                  <a:srgbClr val="FFFFFF"/>
                </a:solidFill>
                <a:latin typeface="Noto Sans"/>
                <a:ea typeface="Noto Sans"/>
                <a:cs typeface="Noto Sans"/>
              </a:rPr>
              <a:t>8</a:t>
            </a:r>
          </a:p>
        </p:txBody>
      </p:sp>
      <p:sp>
        <p:nvSpPr>
          <p:cNvPr id="46" name="INTRO8_SECCION_8_1">
            <a:extLst xmlns:a="http://schemas.openxmlformats.org/drawingml/2006/main">
              <a:ext uri="{FF2B5EF4-FFF2-40B4-BE49-F238E27FC236}">
                <a16:creationId xmlns:a16="http://schemas.microsoft.com/office/drawing/2014/main" id="{B8FB4775-C4D2-4E0A-A2F1-281F19384612}"/>
              </a:ext>
            </a:extLst>
          </p:cNvPr>
          <p:cNvSpPr>
            <a:spLocks xmlns:a="http://schemas.openxmlformats.org/drawingml/2006/main" noGrp="1"/>
          </p:cNvSpPr>
          <p:nvPr/>
        </p:nvSpPr>
        <p:spPr>
          <a:xfrm xmlns:a="http://schemas.openxmlformats.org/drawingml/2006/main">
            <a:off x="787400" y="283718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Consumo de Radio y</a:t>
            </a:r>
          </a:p>
        </p:txBody>
      </p:sp>
      <p:sp>
        <p:nvSpPr>
          <p:cNvPr id="47" name="INTRO8_SECCION_8_2">
            <a:extLst xmlns:a="http://schemas.openxmlformats.org/drawingml/2006/main">
              <a:ext uri="{FF2B5EF4-FFF2-40B4-BE49-F238E27FC236}">
                <a16:creationId xmlns:a16="http://schemas.microsoft.com/office/drawing/2014/main" id="{2F980B17-F481-4DFA-8450-7B3E1FC1A34E}"/>
              </a:ext>
            </a:extLst>
          </p:cNvPr>
          <p:cNvSpPr>
            <a:spLocks xmlns:a="http://schemas.openxmlformats.org/drawingml/2006/main" noGrp="1"/>
          </p:cNvSpPr>
          <p:nvPr/>
        </p:nvSpPr>
        <p:spPr>
          <a:xfrm xmlns:a="http://schemas.openxmlformats.org/drawingml/2006/main">
            <a:off x="787400" y="2971800"/>
            <a:ext cx="17907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819" b="1">
                <a:solidFill>
                  <a:srgbClr val="263632"/>
                </a:solidFill>
                <a:latin typeface="Noto Sans"/>
                <a:ea typeface="Noto Sans"/>
                <a:cs typeface="Noto Sans"/>
              </a:defRPr>
            </a:pPr>
            <a:r>
              <a:rPr sz="819" b="1">
                <a:solidFill>
                  <a:srgbClr val="1A4043"/>
                </a:solidFill>
                <a:latin typeface="Noto Sans"/>
                <a:ea typeface="Noto Sans"/>
                <a:cs typeface="Noto Sans"/>
              </a:rPr>
              <a:t>Televisión:</a:t>
            </a:r>
          </a:p>
        </p:txBody>
      </p:sp>
      <p:sp>
        <p:nvSpPr>
          <p:cNvPr id="48" name="INTRO8_CUERPO_8_1">
            <a:extLst xmlns:a="http://schemas.openxmlformats.org/drawingml/2006/main">
              <a:ext uri="{FF2B5EF4-FFF2-40B4-BE49-F238E27FC236}">
                <a16:creationId xmlns:a16="http://schemas.microsoft.com/office/drawing/2014/main" id="{CCFFA60D-D93D-48BC-A9B1-DAAF45AE3522}"/>
              </a:ext>
            </a:extLst>
          </p:cNvPr>
          <p:cNvSpPr>
            <a:spLocks xmlns:a="http://schemas.openxmlformats.org/drawingml/2006/main" noGrp="1"/>
          </p:cNvSpPr>
          <p:nvPr/>
        </p:nvSpPr>
        <p:spPr>
          <a:xfrm xmlns:a="http://schemas.openxmlformats.org/drawingml/2006/main">
            <a:off x="2819400" y="284988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Comprende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información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sobre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nivel</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exposición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televisión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radio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la</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población,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con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desagregación</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por</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sexo</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y</a:t>
            </a:r>
            <a:r>
              <a:rPr sz="720" b="0" i="0">
                <a:solidFill>
                  <a:srgbClr val="263632"/>
                </a:solidFill>
                <a:latin typeface="Noto Sans"/>
                <a:ea typeface="Noto Sans"/>
                <a:cs typeface="Noto Sans"/>
              </a:rPr>
              <a:t> </a:t>
            </a:r>
            <a:r>
              <a:rPr sz="720" b="0" i="0">
                <a:solidFill>
                  <a:srgbClr val="263632"/>
                </a:solidFill>
                <a:latin typeface="Noto Sans"/>
                <a:ea typeface="Noto Sans"/>
                <a:cs typeface="Noto Sans"/>
              </a:rPr>
              <a:t>ciudad</a:t>
            </a:r>
          </a:p>
        </p:txBody>
      </p:sp>
      <p:sp>
        <p:nvSpPr>
          <p:cNvPr id="49" name="INTRO8_CUERPO_8_2">
            <a:extLst xmlns:a="http://schemas.openxmlformats.org/drawingml/2006/main">
              <a:ext uri="{FF2B5EF4-FFF2-40B4-BE49-F238E27FC236}">
                <a16:creationId xmlns:a16="http://schemas.microsoft.com/office/drawing/2014/main" id="{7D528F66-0E70-45A0-9224-702BC7C52FFE}"/>
              </a:ext>
            </a:extLst>
          </p:cNvPr>
          <p:cNvSpPr>
            <a:spLocks xmlns:a="http://schemas.openxmlformats.org/drawingml/2006/main" noGrp="1"/>
          </p:cNvSpPr>
          <p:nvPr/>
        </p:nvSpPr>
        <p:spPr>
          <a:xfrm xmlns:a="http://schemas.openxmlformats.org/drawingml/2006/main">
            <a:off x="2819400" y="2961640"/>
            <a:ext cx="58674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a:solidFill>
                  <a:srgbClr val="263632"/>
                </a:solidFill>
                <a:latin typeface="Noto Sans"/>
                <a:ea typeface="Noto Sans"/>
                <a:cs typeface="Noto Sans"/>
              </a:defRPr>
            </a:pPr>
            <a:r>
              <a:rPr sz="720" b="0" i="0">
                <a:solidFill>
                  <a:srgbClr val="263632"/>
                </a:solidFill>
                <a:latin typeface="Noto Sans"/>
                <a:ea typeface="Noto Sans"/>
                <a:cs typeface="Noto Sans"/>
              </a:rPr>
              <a:t>seleccionada.</a:t>
            </a:r>
          </a:p>
        </p:txBody>
      </p:sp>
      <p:sp>
        <p:nvSpPr>
          <p:cNvPr id="50" name="INTRO8_INFORMACION_COMPLEMENTARIA">
            <a:extLst xmlns:a="http://schemas.openxmlformats.org/drawingml/2006/main">
              <a:ext uri="{FF2B5EF4-FFF2-40B4-BE49-F238E27FC236}">
                <a16:creationId xmlns:a16="http://schemas.microsoft.com/office/drawing/2014/main" id="{712BA54F-1217-4094-AF0F-3CD1AD5B680C}"/>
              </a:ext>
            </a:extLst>
          </p:cNvPr>
          <p:cNvSpPr>
            <a:spLocks xmlns:a="http://schemas.openxmlformats.org/drawingml/2006/main" noGrp="1"/>
          </p:cNvSpPr>
          <p:nvPr/>
        </p:nvSpPr>
        <p:spPr>
          <a:xfrm xmlns:a="http://schemas.openxmlformats.org/drawingml/2006/main">
            <a:off x="304800" y="3302000"/>
            <a:ext cx="8534400" cy="1574800"/>
          </a:xfrm>
          <a:prstGeom xmlns:a="http://schemas.openxmlformats.org/drawingml/2006/main" prst="roundRect">
            <a:avLst>
              <a:gd name="adj" fmla="val 2419"/>
            </a:avLst>
          </a:prstGeom>
          <a:solidFill xmlns:a="http://schemas.openxmlformats.org/drawingml/2006/main">
            <a:srgbClr val="EAF3F1"/>
          </a:solidFill>
          <a:ln xmlns:a="http://schemas.openxmlformats.org/drawingml/2006/main" w="8890">
            <a:solidFill>
              <a:srgbClr val="EAF3F1"/>
            </a:solidFill>
          </a:ln>
        </p:spPr>
      </p:sp>
      <p:sp>
        <p:nvSpPr>
          <p:cNvPr id="51" name="INTRO8_INFORMACION_DIVISOR">
            <a:extLst xmlns:a="http://schemas.openxmlformats.org/drawingml/2006/main">
              <a:ext uri="{FF2B5EF4-FFF2-40B4-BE49-F238E27FC236}">
                <a16:creationId xmlns:a16="http://schemas.microsoft.com/office/drawing/2014/main" id="{B6A84195-E264-4775-966E-59325B41007C}"/>
              </a:ext>
            </a:extLst>
          </p:cNvPr>
          <p:cNvSpPr>
            <a:spLocks xmlns:a="http://schemas.openxmlformats.org/drawingml/2006/main" noGrp="1"/>
          </p:cNvSpPr>
          <p:nvPr/>
        </p:nvSpPr>
        <p:spPr>
          <a:xfrm xmlns:a="http://schemas.openxmlformats.org/drawingml/2006/main">
            <a:off x="1828800" y="3403600"/>
            <a:ext cx="6985" cy="1358900"/>
          </a:xfrm>
          <a:prstGeom xmlns:a="http://schemas.openxmlformats.org/drawingml/2006/main" prst="rect">
            <a:avLst/>
          </a:prstGeom>
          <a:solidFill xmlns:a="http://schemas.openxmlformats.org/drawingml/2006/main">
            <a:srgbClr val="CFDFDA"/>
          </a:solidFill>
          <a:ln xmlns:a="http://schemas.openxmlformats.org/drawingml/2006/main" w="0">
            <a:noFill/>
          </a:ln>
        </p:spPr>
      </p:sp>
      <p:sp>
        <p:nvSpPr>
          <p:cNvPr id="52" name="INTRO8_ROTULO_2_0">
            <a:extLst xmlns:a="http://schemas.openxmlformats.org/drawingml/2006/main">
              <a:ext uri="{FF2B5EF4-FFF2-40B4-BE49-F238E27FC236}">
                <a16:creationId xmlns:a16="http://schemas.microsoft.com/office/drawing/2014/main" id="{15C22A9C-A947-4480-8AF3-3636BC33E767}"/>
              </a:ext>
            </a:extLst>
          </p:cNvPr>
          <p:cNvSpPr>
            <a:spLocks xmlns:a="http://schemas.openxmlformats.org/drawingml/2006/main" noGrp="1"/>
          </p:cNvSpPr>
          <p:nvPr/>
        </p:nvSpPr>
        <p:spPr>
          <a:xfrm xmlns:a="http://schemas.openxmlformats.org/drawingml/2006/main">
            <a:off x="482600" y="33782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Anexos</a:t>
            </a:r>
          </a:p>
        </p:txBody>
      </p:sp>
      <p:sp>
        <p:nvSpPr>
          <p:cNvPr id="53" name="INTRO8_NOTA_2_1">
            <a:extLst xmlns:a="http://schemas.openxmlformats.org/drawingml/2006/main">
              <a:ext uri="{FF2B5EF4-FFF2-40B4-BE49-F238E27FC236}">
                <a16:creationId xmlns:a16="http://schemas.microsoft.com/office/drawing/2014/main" id="{26BEF6F5-9E72-42F8-B0C1-A40675E8312D}"/>
              </a:ext>
            </a:extLst>
          </p:cNvPr>
          <p:cNvSpPr>
            <a:spLocks xmlns:a="http://schemas.openxmlformats.org/drawingml/2006/main" noGrp="1"/>
          </p:cNvSpPr>
          <p:nvPr/>
        </p:nvSpPr>
        <p:spPr>
          <a:xfrm xmlns:a="http://schemas.openxmlformats.org/drawingml/2006/main">
            <a:off x="1981200" y="33782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tablas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resumen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definiciones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conceptos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utilizados</a:t>
            </a:r>
          </a:p>
        </p:txBody>
      </p:sp>
      <p:sp>
        <p:nvSpPr>
          <p:cNvPr id="54" name="INTRO8_NOTA_2_2">
            <a:extLst xmlns:a="http://schemas.openxmlformats.org/drawingml/2006/main">
              <a:ext uri="{FF2B5EF4-FFF2-40B4-BE49-F238E27FC236}">
                <a16:creationId xmlns:a16="http://schemas.microsoft.com/office/drawing/2014/main" id="{77399D4A-9038-441E-A26A-C35017235B7E}"/>
              </a:ext>
            </a:extLst>
          </p:cNvPr>
          <p:cNvSpPr>
            <a:spLocks xmlns:a="http://schemas.openxmlformats.org/drawingml/2006/main" noGrp="1"/>
          </p:cNvSpPr>
          <p:nvPr/>
        </p:nvSpPr>
        <p:spPr>
          <a:xfrm xmlns:a="http://schemas.openxmlformats.org/drawingml/2006/main">
            <a:off x="1981200" y="34874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metodologías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III)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métodos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cálculo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indicadores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(Anexo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IV).</a:t>
            </a:r>
          </a:p>
        </p:txBody>
      </p:sp>
      <p:sp>
        <p:nvSpPr>
          <p:cNvPr id="55" name="INTRO8_ROTULO_3_0">
            <a:extLst xmlns:a="http://schemas.openxmlformats.org/drawingml/2006/main">
              <a:ext uri="{FF2B5EF4-FFF2-40B4-BE49-F238E27FC236}">
                <a16:creationId xmlns:a16="http://schemas.microsoft.com/office/drawing/2014/main" id="{24B3C505-2EDA-43B1-B8F3-91CA818ED76F}"/>
              </a:ext>
            </a:extLst>
          </p:cNvPr>
          <p:cNvSpPr>
            <a:spLocks xmlns:a="http://schemas.openxmlformats.org/drawingml/2006/main" noGrp="1"/>
          </p:cNvSpPr>
          <p:nvPr/>
        </p:nvSpPr>
        <p:spPr>
          <a:xfrm xmlns:a="http://schemas.openxmlformats.org/drawingml/2006/main">
            <a:off x="482600" y="365252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Fuentes</a:t>
            </a:r>
          </a:p>
        </p:txBody>
      </p:sp>
      <p:sp>
        <p:nvSpPr>
          <p:cNvPr id="56" name="INTRO8_NOTA_3_1">
            <a:extLst xmlns:a="http://schemas.openxmlformats.org/drawingml/2006/main">
              <a:ext uri="{FF2B5EF4-FFF2-40B4-BE49-F238E27FC236}">
                <a16:creationId xmlns:a16="http://schemas.microsoft.com/office/drawing/2014/main" id="{5BBC5CD8-4425-4438-B05A-A885A868DC63}"/>
              </a:ext>
            </a:extLst>
          </p:cNvPr>
          <p:cNvSpPr>
            <a:spLocks xmlns:a="http://schemas.openxmlformats.org/drawingml/2006/main" noGrp="1"/>
          </p:cNvSpPr>
          <p:nvPr/>
        </p:nvSpPr>
        <p:spPr>
          <a:xfrm xmlns:a="http://schemas.openxmlformats.org/drawingml/2006/main">
            <a:off x="1981200" y="36525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presentada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proviene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distintas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fuentes,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reportados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operadores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p>
        </p:txBody>
      </p:sp>
      <p:sp>
        <p:nvSpPr>
          <p:cNvPr id="57" name="INTRO8_NOTA_3_2">
            <a:extLst xmlns:a="http://schemas.openxmlformats.org/drawingml/2006/main">
              <a:ext uri="{FF2B5EF4-FFF2-40B4-BE49-F238E27FC236}">
                <a16:creationId xmlns:a16="http://schemas.microsoft.com/office/drawing/2014/main" id="{BB98F7CC-2ED8-4C43-A0A0-8070A9F8072F}"/>
              </a:ext>
            </a:extLst>
          </p:cNvPr>
          <p:cNvSpPr>
            <a:spLocks xmlns:a="http://schemas.openxmlformats.org/drawingml/2006/main" noGrp="1"/>
          </p:cNvSpPr>
          <p:nvPr/>
        </p:nvSpPr>
        <p:spPr>
          <a:xfrm xmlns:a="http://schemas.openxmlformats.org/drawingml/2006/main">
            <a:off x="1981200" y="37617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fecha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publicación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encuentran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sujetos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revisión;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datos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Instituto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Nacional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Geografía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(INEGI)</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Secretaría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Economía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p>
        </p:txBody>
      </p:sp>
      <p:sp>
        <p:nvSpPr>
          <p:cNvPr id="58" name="INTRO8_ROTULO_4_0">
            <a:extLst xmlns:a="http://schemas.openxmlformats.org/drawingml/2006/main">
              <a:ext uri="{FF2B5EF4-FFF2-40B4-BE49-F238E27FC236}">
                <a16:creationId xmlns:a16="http://schemas.microsoft.com/office/drawing/2014/main" id="{FFD48A0B-FEA0-49E0-8B72-F64C7CEBDF23}"/>
              </a:ext>
            </a:extLst>
          </p:cNvPr>
          <p:cNvSpPr>
            <a:spLocks xmlns:a="http://schemas.openxmlformats.org/drawingml/2006/main" noGrp="1"/>
          </p:cNvSpPr>
          <p:nvPr/>
        </p:nvSpPr>
        <p:spPr>
          <a:xfrm xmlns:a="http://schemas.openxmlformats.org/drawingml/2006/main">
            <a:off x="482600" y="392684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Elaboración</a:t>
            </a:r>
          </a:p>
        </p:txBody>
      </p:sp>
      <p:sp>
        <p:nvSpPr>
          <p:cNvPr id="59" name="INTRO8_NOTA_4_1">
            <a:extLst xmlns:a="http://schemas.openxmlformats.org/drawingml/2006/main">
              <a:ext uri="{FF2B5EF4-FFF2-40B4-BE49-F238E27FC236}">
                <a16:creationId xmlns:a16="http://schemas.microsoft.com/office/drawing/2014/main" id="{4FF06F85-A2FB-4215-AAF1-F16990EBF240}"/>
              </a:ext>
            </a:extLst>
          </p:cNvPr>
          <p:cNvSpPr>
            <a:spLocks xmlns:a="http://schemas.openxmlformats.org/drawingml/2006/main" noGrp="1"/>
          </p:cNvSpPr>
          <p:nvPr/>
        </p:nvSpPr>
        <p:spPr>
          <a:xfrm xmlns:a="http://schemas.openxmlformats.org/drawingml/2006/main">
            <a:off x="1981200" y="39268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Esta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edición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noveno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volumen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elaborado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Planeación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Estratégica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p>
        </p:txBody>
      </p:sp>
      <p:sp>
        <p:nvSpPr>
          <p:cNvPr id="60" name="INTRO8_NOTA_4_2">
            <a:extLst xmlns:a="http://schemas.openxmlformats.org/drawingml/2006/main">
              <a:ext uri="{FF2B5EF4-FFF2-40B4-BE49-F238E27FC236}">
                <a16:creationId xmlns:a16="http://schemas.microsoft.com/office/drawing/2014/main" id="{9407BDF3-4428-4F39-B4CE-37B3D60897C4}"/>
              </a:ext>
            </a:extLst>
          </p:cNvPr>
          <p:cNvSpPr>
            <a:spLocks xmlns:a="http://schemas.openxmlformats.org/drawingml/2006/main" noGrp="1"/>
          </p:cNvSpPr>
          <p:nvPr/>
        </p:nvSpPr>
        <p:spPr>
          <a:xfrm xmlns:a="http://schemas.openxmlformats.org/drawingml/2006/main">
            <a:off x="1981200" y="403606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elaboración,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contó</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apoyo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Coordinación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General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Política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Usuario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(CGPU),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Espectro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Radioeléctrico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(UER),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1" name="INTRO8_NOTA_4_3">
            <a:extLst xmlns:a="http://schemas.openxmlformats.org/drawingml/2006/main">
              <a:ext uri="{FF2B5EF4-FFF2-40B4-BE49-F238E27FC236}">
                <a16:creationId xmlns:a16="http://schemas.microsoft.com/office/drawing/2014/main" id="{C109183A-EA05-45C6-ABBD-370D8AC2F465}"/>
              </a:ext>
            </a:extLst>
          </p:cNvPr>
          <p:cNvSpPr>
            <a:spLocks xmlns:a="http://schemas.openxmlformats.org/drawingml/2006/main" noGrp="1"/>
          </p:cNvSpPr>
          <p:nvPr/>
        </p:nvSpPr>
        <p:spPr>
          <a:xfrm xmlns:a="http://schemas.openxmlformats.org/drawingml/2006/main">
            <a:off x="1981200" y="41452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Concesiones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Servicios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(UCS)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Unidad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Medios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Contenidos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Audiovisuales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(UMCA)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p>
        </p:txBody>
      </p:sp>
      <p:sp>
        <p:nvSpPr>
          <p:cNvPr id="62" name="INTRO8_ROTULO_5_0">
            <a:extLst xmlns:a="http://schemas.openxmlformats.org/drawingml/2006/main">
              <a:ext uri="{FF2B5EF4-FFF2-40B4-BE49-F238E27FC236}">
                <a16:creationId xmlns:a16="http://schemas.microsoft.com/office/drawing/2014/main" id="{87C74B79-9AD6-4EB4-A9EE-954CEB6F9AD1}"/>
              </a:ext>
            </a:extLst>
          </p:cNvPr>
          <p:cNvSpPr>
            <a:spLocks xmlns:a="http://schemas.openxmlformats.org/drawingml/2006/main" noGrp="1"/>
          </p:cNvSpPr>
          <p:nvPr/>
        </p:nvSpPr>
        <p:spPr>
          <a:xfrm xmlns:a="http://schemas.openxmlformats.org/drawingml/2006/main">
            <a:off x="482600" y="431038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Consulta</a:t>
            </a:r>
          </a:p>
        </p:txBody>
      </p:sp>
      <p:sp>
        <p:nvSpPr>
          <p:cNvPr id="63" name="INTRO8_ROTULO_5_1">
            <a:extLst xmlns:a="http://schemas.openxmlformats.org/drawingml/2006/main">
              <a:ext uri="{FF2B5EF4-FFF2-40B4-BE49-F238E27FC236}">
                <a16:creationId xmlns:a16="http://schemas.microsoft.com/office/drawing/2014/main" id="{DEA18FFF-84A3-4C1E-9B66-36731779C312}"/>
              </a:ext>
            </a:extLst>
          </p:cNvPr>
          <p:cNvSpPr>
            <a:spLocks xmlns:a="http://schemas.openxmlformats.org/drawingml/2006/main" noGrp="1"/>
          </p:cNvSpPr>
          <p:nvPr/>
        </p:nvSpPr>
        <p:spPr>
          <a:xfrm xmlns:a="http://schemas.openxmlformats.org/drawingml/2006/main">
            <a:off x="482600" y="4419600"/>
            <a:ext cx="127000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20" b="1">
                <a:solidFill>
                  <a:srgbClr val="263632"/>
                </a:solidFill>
                <a:latin typeface="Noto Sans"/>
                <a:ea typeface="Noto Sans"/>
                <a:cs typeface="Noto Sans"/>
              </a:defRPr>
            </a:pPr>
            <a:r>
              <a:rPr sz="720" b="1">
                <a:solidFill>
                  <a:srgbClr val="1A4043"/>
                </a:solidFill>
                <a:latin typeface="Noto Sans"/>
                <a:ea typeface="Noto Sans"/>
                <a:cs typeface="Noto Sans"/>
              </a:rPr>
              <a:t>interactiva</a:t>
            </a:r>
          </a:p>
        </p:txBody>
      </p:sp>
      <p:sp>
        <p:nvSpPr>
          <p:cNvPr id="64" name="INTRO8_NOTA_5_1">
            <a:extLst xmlns:a="http://schemas.openxmlformats.org/drawingml/2006/main">
              <a:ext uri="{FF2B5EF4-FFF2-40B4-BE49-F238E27FC236}">
                <a16:creationId xmlns:a16="http://schemas.microsoft.com/office/drawing/2014/main" id="{9693281B-0EF9-40F8-AF16-6C73C9C25268}"/>
              </a:ext>
            </a:extLst>
          </p:cNvPr>
          <p:cNvSpPr>
            <a:spLocks xmlns:a="http://schemas.openxmlformats.org/drawingml/2006/main" noGrp="1"/>
          </p:cNvSpPr>
          <p:nvPr/>
        </p:nvSpPr>
        <p:spPr>
          <a:xfrm xmlns:a="http://schemas.openxmlformats.org/drawingml/2006/main">
            <a:off x="1981200" y="431038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Cabe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mencionar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lector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complementar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análisis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documento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su</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versión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interactiva,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disponible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5" name="INTRO8_NOTA_5_2">
            <a:extLst xmlns:a="http://schemas.openxmlformats.org/drawingml/2006/main">
              <a:ext uri="{FF2B5EF4-FFF2-40B4-BE49-F238E27FC236}">
                <a16:creationId xmlns:a16="http://schemas.microsoft.com/office/drawing/2014/main" id="{AC989ACD-9234-4105-B46F-224DE8D05071}"/>
              </a:ext>
            </a:extLst>
          </p:cNvPr>
          <p:cNvSpPr>
            <a:spLocks xmlns:a="http://schemas.openxmlformats.org/drawingml/2006/main" noGrp="1"/>
          </p:cNvSpPr>
          <p:nvPr/>
        </p:nvSpPr>
        <p:spPr>
          <a:xfrm xmlns:a="http://schemas.openxmlformats.org/drawingml/2006/main">
            <a:off x="1981200" y="441960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siguiente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enlace:</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https://bit.ift.org.mx/BitWebApp/</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https://www.ift.org.mx/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-&gt;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Banco</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6" name="INTRO8_NOTA_5_3">
            <a:extLst xmlns:a="http://schemas.openxmlformats.org/drawingml/2006/main">
              <a:ext uri="{FF2B5EF4-FFF2-40B4-BE49-F238E27FC236}">
                <a16:creationId xmlns:a16="http://schemas.microsoft.com/office/drawing/2014/main" id="{0CC4CD07-9451-4D17-B7B3-0CEB506665EB}"/>
              </a:ext>
            </a:extLst>
          </p:cNvPr>
          <p:cNvSpPr>
            <a:spLocks xmlns:a="http://schemas.openxmlformats.org/drawingml/2006/main" noGrp="1"/>
          </p:cNvSpPr>
          <p:nvPr/>
        </p:nvSpPr>
        <p:spPr>
          <a:xfrm xmlns:a="http://schemas.openxmlformats.org/drawingml/2006/main">
            <a:off x="1981200" y="452882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Telecomunicaciones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Además,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descargar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sectores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regulados</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IFT,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actualización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trimestral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partir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a:t>
            </a:r>
          </a:p>
        </p:txBody>
      </p:sp>
      <p:sp>
        <p:nvSpPr>
          <p:cNvPr id="67" name="INTRO8_NOTA_5_4">
            <a:extLst xmlns:a="http://schemas.openxmlformats.org/drawingml/2006/main">
              <a:ext uri="{FF2B5EF4-FFF2-40B4-BE49-F238E27FC236}">
                <a16:creationId xmlns:a16="http://schemas.microsoft.com/office/drawing/2014/main" id="{36E650E6-B6E2-4827-951F-FF32D1AD9905}"/>
              </a:ext>
            </a:extLst>
          </p:cNvPr>
          <p:cNvSpPr>
            <a:spLocks xmlns:a="http://schemas.openxmlformats.org/drawingml/2006/main" noGrp="1"/>
          </p:cNvSpPr>
          <p:nvPr/>
        </p:nvSpPr>
        <p:spPr>
          <a:xfrm xmlns:a="http://schemas.openxmlformats.org/drawingml/2006/main">
            <a:off x="1981200" y="4638040"/>
            <a:ext cx="6680200" cy="132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5">
                <a:solidFill>
                  <a:srgbClr val="263632"/>
                </a:solidFill>
                <a:latin typeface="Noto Sans"/>
                <a:ea typeface="Noto Sans"/>
                <a:cs typeface="Noto Sans"/>
              </a:defRPr>
            </a:pPr>
            <a:r>
              <a:rPr sz="705" b="0" i="0">
                <a:solidFill>
                  <a:srgbClr val="263632"/>
                </a:solidFill>
                <a:latin typeface="Noto Sans"/>
                <a:ea typeface="Noto Sans"/>
                <a:cs typeface="Noto Sans"/>
              </a:rPr>
              <a:t>2013.</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Y</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puede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consultar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del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BIT</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estatal</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a:t>
            </a:r>
            <a:r>
              <a:rPr sz="705" b="0" i="0">
                <a:solidFill>
                  <a:srgbClr val="263632"/>
                </a:solidFill>
                <a:latin typeface="Noto Sans"/>
                <a:ea typeface="Noto Sans"/>
                <a:cs typeface="Noto Sans"/>
              </a:rPr>
              <a:t> </a:t>
            </a:r>
            <a:r>
              <a:rPr sz="705" b="0" i="0">
                <a:solidFill>
                  <a:srgbClr val="0563C1"/>
                </a:solidFill>
                <a:latin typeface="Noto Sans"/>
                <a:ea typeface="Noto Sans"/>
                <a:cs typeface="Noto Sans"/>
              </a:rPr>
              <a:t>https://bitestatal.ift.org.mx/#/</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que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contiene</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la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información</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estadística</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por</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entidad</a:t>
            </a:r>
            <a:r>
              <a:rPr sz="705" b="0" i="0">
                <a:solidFill>
                  <a:srgbClr val="263632"/>
                </a:solidFill>
                <a:latin typeface="Noto Sans"/>
                <a:ea typeface="Noto Sans"/>
                <a:cs typeface="Noto Sans"/>
              </a:rPr>
              <a:t> </a:t>
            </a:r>
            <a:r>
              <a:rPr sz="705" b="0" i="0">
                <a:solidFill>
                  <a:srgbClr val="263632"/>
                </a:solidFill>
                <a:latin typeface="Noto Sans"/>
                <a:ea typeface="Noto Sans"/>
                <a:cs typeface="Noto Sans"/>
              </a:rPr>
              <a:t>federativa.</a:t>
            </a:r>
          </a:p>
        </p:txBody>
      </p:sp>
      <p:sp>
        <p:nvSpPr>
          <p:cNvPr id="68" name="ANUARIO_PAGE_NUMBER">
            <a:extLst xmlns:a="http://schemas.openxmlformats.org/drawingml/2006/main">
              <a:ext uri="{FF2B5EF4-FFF2-40B4-BE49-F238E27FC236}">
                <a16:creationId xmlns:a16="http://schemas.microsoft.com/office/drawing/2014/main" id="{DCC81482-7B03-46C7-A79C-14C19B9D172A}"/>
              </a:ext>
            </a:extLst>
          </p:cNvPr>
          <p:cNvSpPr>
            <a:spLocks xmlns:a="http://schemas.openxmlformats.org/drawingml/2006/main" noGrp="1"/>
          </p:cNvSpPr>
          <p:nvPr/>
        </p:nvSpPr>
        <p:spPr>
          <a:xfrm xmlns:a="http://schemas.openxmlformats.org/drawingml/2006/main">
            <a:off x="304800" y="5019040"/>
            <a:ext cx="2540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00" b="1">
                <a:solidFill>
                  <a:srgbClr val="263632"/>
                </a:solidFill>
                <a:latin typeface="Noto Sans"/>
                <a:ea typeface="Noto Sans"/>
                <a:cs typeface="Noto Sans"/>
              </a:defRPr>
            </a:pPr>
            <a:r>
              <a:rPr sz="700" b="1">
                <a:solidFill>
                  <a:srgbClr val="FFFFFF"/>
                </a:solidFill>
                <a:latin typeface="Noto Sans"/>
                <a:ea typeface="Noto Sans"/>
                <a:cs typeface="Noto Sans"/>
              </a:rPr>
              <a:t>8</a:t>
            </a:r>
          </a:p>
        </p:txBody>
      </p:sp>
      <p:sp>
        <p:nvSpPr>
          <p:cNvPr id="69" name="INTRO8_EDICION_PIE">
            <a:extLst xmlns:a="http://schemas.openxmlformats.org/drawingml/2006/main">
              <a:ext uri="{FF2B5EF4-FFF2-40B4-BE49-F238E27FC236}">
                <a16:creationId xmlns:a16="http://schemas.microsoft.com/office/drawing/2014/main" id="{0B2371BB-C2A1-44D0-8D72-8E28361A9A93}"/>
              </a:ext>
            </a:extLst>
          </p:cNvPr>
          <p:cNvSpPr>
            <a:spLocks xmlns:a="http://schemas.openxmlformats.org/drawingml/2006/main" noGrp="1"/>
          </p:cNvSpPr>
          <p:nvPr/>
        </p:nvSpPr>
        <p:spPr>
          <a:xfrm xmlns:a="http://schemas.openxmlformats.org/drawingml/2006/main">
            <a:off x="6858000" y="5019040"/>
            <a:ext cx="20066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65">
                <a:solidFill>
                  <a:srgbClr val="263632"/>
                </a:solidFill>
                <a:latin typeface="Noto Sans"/>
                <a:ea typeface="Noto Sans"/>
                <a:cs typeface="Noto Sans"/>
              </a:defRPr>
            </a:pPr>
            <a:r>
              <a:rPr sz="565" b="0">
                <a:solidFill>
                  <a:srgbClr val="FFFFFF"/>
                </a:solidFill>
                <a:latin typeface="Noto Sans"/>
                <a:ea typeface="Noto Sans"/>
                <a:cs typeface="Noto Sans"/>
              </a:rPr>
              <a:t>A N U A R I O   E S T A D Í S T I C O   2 0 2 6</a:t>
            </a:r>
          </a:p>
        </p:txBody>
      </p:sp>
    </p:spTree>
    <p:extLst>
      <p:ext uri="{BB962C8B-B14F-4D97-AF65-F5344CB8AC3E}">
        <p14:creationId xmlns:p14="http://schemas.microsoft.com/office/powerpoint/2010/main" val="1209709162"/>
      </p:ext>
    </p:extLst>
  </p:cSld>
  <p:clrMapOvr>
    <ns0:overrideClrMapping xmlns:ns0="http://schemas.openxmlformats.org/drawingml/2006/main" bg1="lt1" tx1="dk1" bg2="lt2" tx2="dk2" accent1="accent1" accent2="accent2" accent3="accent3" accent4="accent4" accent5="accent5" accent6="accent6" hlink="lt1" folHlink="lt1"/>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F9"/>
        </a:solidFill>
        <a:effectLst/>
      </p:bgPr>
    </p:bg>
    <p:spTree>
      <p:nvGrpSpPr>
        <p:cNvPr id="1" name=""/>
        <p:cNvGrpSpPr/>
        <p:nvPr/>
      </p:nvGrpSpPr>
      <p:grpSpPr/>
      <p:pic>
        <p:nvPicPr>
          <p:cNvPr id="2" name="ANUARIO_PUNTOS_CLAVE_DESIGN_2026" descr="header.png"/>
          <p:cNvPicPr>
            <a:picLocks noChangeAspect="1"/>
          </p:cNvPicPr>
          <p:nvPr/>
        </p:nvPicPr>
        <p:blipFill>
          <a:blip r:embed="rId2"/>
          <a:stretch>
            <a:fillRect/>
          </a:stretch>
        </p:blipFill>
        <p:spPr>
          <a:xfrm>
            <a:off x="0" y="0"/>
            <a:ext cx="9144000" cy="457200"/>
          </a:xfrm>
          <a:prstGeom prst="rect">
            <a:avLst/>
          </a:prstGeom>
        </p:spPr>
      </p:pic>
      <p:pic>
        <p:nvPicPr>
          <p:cNvPr id="3" name="Picture 2" descr="footer.png"/>
          <p:cNvPicPr>
            <a:picLocks noChangeAspect="1"/>
          </p:cNvPicPr>
          <p:nvPr/>
        </p:nvPicPr>
        <p:blipFill>
          <a:blip r:embed="rId3"/>
          <a:stretch>
            <a:fillRect/>
          </a:stretch>
        </p:blipFill>
        <p:spPr>
          <a:xfrm>
            <a:off x="0" y="4991069"/>
            <a:ext cx="9144000" cy="152430"/>
          </a:xfrm>
          <a:prstGeom prst="rect">
            <a:avLst/>
          </a:prstGeom>
        </p:spPr>
      </p:pic>
      <p:sp>
        <p:nvSpPr>
          <p:cNvPr id="4" name="TextBox 3"/>
          <p:cNvSpPr txBox="1"/>
          <p:nvPr/>
        </p:nvSpPr>
        <p:spPr>
          <a:xfrm>
            <a:off x="310896" y="45720"/>
            <a:ext cx="3657600" cy="365760"/>
          </a:xfrm>
          <a:prstGeom prst="rect">
            <a:avLst/>
          </a:prstGeom>
          <a:noFill/>
        </p:spPr>
        <p:txBody>
          <a:bodyPr wrap="square" anchor="ctr" lIns="0" rIns="0" tIns="0" bIns="0">
            <a:spAutoFit/>
          </a:bodyPr>
          <a:lstStyle/>
          <a:p>
            <a:r>
              <a:rPr sz="1600" b="1">
                <a:solidFill>
                  <a:srgbClr val="FFFFFF"/>
                </a:solidFill>
                <a:latin typeface="DejaVu Sans"/>
              </a:rPr>
              <a:t>PUNTOS CLAVE</a:t>
            </a:r>
          </a:p>
        </p:txBody>
      </p:sp>
      <p:sp>
        <p:nvSpPr>
          <p:cNvPr id="5" name="TextBox 4"/>
          <p:cNvSpPr txBox="1"/>
          <p:nvPr/>
        </p:nvSpPr>
        <p:spPr>
          <a:xfrm>
            <a:off x="4572000" y="91440"/>
            <a:ext cx="3108960" cy="274320"/>
          </a:xfrm>
          <a:prstGeom prst="rect">
            <a:avLst/>
          </a:prstGeom>
          <a:noFill/>
        </p:spPr>
        <p:txBody>
          <a:bodyPr wrap="square" anchor="ctr" lIns="0" rIns="0" tIns="0" bIns="0">
            <a:spAutoFit/>
          </a:bodyPr>
          <a:lstStyle/>
          <a:p>
            <a:pPr algn="r"/>
            <a:r>
              <a:rPr sz="550" b="0">
                <a:solidFill>
                  <a:srgbClr val="D9E8E5"/>
                </a:solidFill>
                <a:latin typeface="DejaVu Sans"/>
              </a:rPr>
              <a:t>Para consultar información con mayor desagregación, visita</a:t>
            </a:r>
          </a:p>
          <a:p>
            <a:pPr algn="r"/>
            <a:r>
              <a:rPr sz="700" b="1">
                <a:solidFill>
                  <a:srgbClr val="FFFFFF"/>
                </a:solidFill>
                <a:latin typeface="DejaVu Sans"/>
              </a:rPr>
              <a:t>BIT CRT · bit.crt.gob.mx/BitWebApp</a:t>
            </a:r>
          </a:p>
        </p:txBody>
      </p:sp>
      <p:sp>
        <p:nvSpPr>
          <p:cNvPr id="6" name="Rounded Rectangle 5"/>
          <p:cNvSpPr/>
          <p:nvPr/>
        </p:nvSpPr>
        <p:spPr>
          <a:xfrm>
            <a:off x="7790688" y="45720"/>
            <a:ext cx="365760" cy="365760"/>
          </a:xfrm>
          <a:prstGeom prst="roundRect">
            <a:avLst>
              <a:gd name="adj" fmla="val 10000"/>
            </a:avLst>
          </a:prstGeom>
          <a:solidFill>
            <a:srgbClr val="FFFFFF"/>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png"/>
          <p:cNvPicPr>
            <a:picLocks noChangeAspect="1"/>
          </p:cNvPicPr>
          <p:nvPr/>
        </p:nvPicPr>
        <p:blipFill>
          <a:blip r:embed="rId4"/>
          <a:stretch>
            <a:fillRect/>
          </a:stretch>
        </p:blipFill>
        <p:spPr>
          <a:xfrm>
            <a:off x="7813548" y="68580"/>
            <a:ext cx="320040" cy="320040"/>
          </a:xfrm>
          <a:prstGeom prst="rect">
            <a:avLst/>
          </a:prstGeom>
        </p:spPr>
      </p:pic>
      <p:pic>
        <p:nvPicPr>
          <p:cNvPr id="8" name="Picture 7" descr="logo.png"/>
          <p:cNvPicPr>
            <a:picLocks noChangeAspect="1"/>
          </p:cNvPicPr>
          <p:nvPr/>
        </p:nvPicPr>
        <p:blipFill>
          <a:blip r:embed="rId5"/>
          <a:stretch>
            <a:fillRect/>
          </a:stretch>
        </p:blipFill>
        <p:spPr>
          <a:xfrm>
            <a:off x="8293608" y="64008"/>
            <a:ext cx="566928" cy="318211"/>
          </a:xfrm>
          <a:prstGeom prst="rect">
            <a:avLst/>
          </a:prstGeom>
        </p:spPr>
      </p:pic>
      <p:sp>
        <p:nvSpPr>
          <p:cNvPr id="9" name="TextBox 8"/>
          <p:cNvSpPr txBox="1"/>
          <p:nvPr/>
        </p:nvSpPr>
        <p:spPr>
          <a:xfrm>
            <a:off x="274320" y="4997196"/>
            <a:ext cx="457200" cy="137160"/>
          </a:xfrm>
          <a:prstGeom prst="rect">
            <a:avLst/>
          </a:prstGeom>
          <a:noFill/>
        </p:spPr>
        <p:txBody>
          <a:bodyPr wrap="square" anchor="ctr" lIns="0" rIns="0" tIns="0" bIns="0">
            <a:spAutoFit/>
          </a:bodyPr>
          <a:lstStyle/>
          <a:p>
            <a:r>
              <a:rPr sz="700" b="1">
                <a:solidFill>
                  <a:srgbClr val="FFFFFF"/>
                </a:solidFill>
                <a:latin typeface="DejaVu Sans"/>
              </a:rPr>
              <a:t>9</a:t>
            </a:r>
          </a:p>
        </p:txBody>
      </p:sp>
      <p:sp>
        <p:nvSpPr>
          <p:cNvPr id="10" name="TextBox 9"/>
          <p:cNvSpPr txBox="1"/>
          <p:nvPr/>
        </p:nvSpPr>
        <p:spPr>
          <a:xfrm>
            <a:off x="5486400" y="4997196"/>
            <a:ext cx="3383280" cy="137160"/>
          </a:xfrm>
          <a:prstGeom prst="rect">
            <a:avLst/>
          </a:prstGeom>
          <a:noFill/>
        </p:spPr>
        <p:txBody>
          <a:bodyPr wrap="square" anchor="ctr" lIns="0" rIns="0" tIns="0" bIns="0">
            <a:spAutoFit/>
          </a:bodyPr>
          <a:lstStyle/>
          <a:p>
            <a:pPr algn="r"/>
            <a:r>
              <a:rPr sz="550" b="0">
                <a:solidFill>
                  <a:srgbClr val="E6F0EE"/>
                </a:solidFill>
                <a:latin typeface="DejaVu Sans"/>
              </a:rPr>
              <a:t>A N U A R I O   E S T A D Í S T I C O   2 0 2 6</a:t>
            </a:r>
          </a:p>
        </p:txBody>
      </p:sp>
      <p:sp>
        <p:nvSpPr>
          <p:cNvPr id="11" name="TextBox 10"/>
          <p:cNvSpPr txBox="1"/>
          <p:nvPr/>
        </p:nvSpPr>
        <p:spPr>
          <a:xfrm>
            <a:off x="274320" y="548640"/>
            <a:ext cx="4160520" cy="182880"/>
          </a:xfrm>
          <a:prstGeom prst="rect">
            <a:avLst/>
          </a:prstGeom>
          <a:noFill/>
        </p:spPr>
        <p:txBody>
          <a:bodyPr wrap="square" anchor="ctr" lIns="0" rIns="0" tIns="0" bIns="0">
            <a:spAutoFit/>
          </a:bodyPr>
          <a:lstStyle/>
          <a:p>
            <a:r>
              <a:rPr sz="850" b="1">
                <a:solidFill>
                  <a:srgbClr val="1A4043"/>
                </a:solidFill>
                <a:latin typeface="DejaVu Sans"/>
              </a:rPr>
              <a:t>INDICADORES ECONÓMICOS</a:t>
            </a:r>
          </a:p>
        </p:txBody>
      </p:sp>
      <p:sp>
        <p:nvSpPr>
          <p:cNvPr id="12" name="Rectangle 11"/>
          <p:cNvSpPr/>
          <p:nvPr/>
        </p:nvSpPr>
        <p:spPr>
          <a:xfrm>
            <a:off x="27432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4320"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4320"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2023, los ingresos de las empresas del sector de telecomunicaciones sumaron </a:t>
            </a:r>
            <a:r>
              <a:rPr sz="680" b="1">
                <a:solidFill>
                  <a:srgbClr val="1A4043"/>
                </a:solidFill>
                <a:latin typeface="DejaVu Sans"/>
              </a:rPr>
              <a:t>$603 mil millones de pesos</a:t>
            </a:r>
            <a:r>
              <a:rPr sz="680" b="0">
                <a:solidFill>
                  <a:srgbClr val="23373A"/>
                </a:solidFill>
                <a:latin typeface="DejaVu Sans"/>
              </a:rPr>
              <a:t>. Lo que representó un crecimiento anual del </a:t>
            </a:r>
            <a:r>
              <a:rPr sz="680" b="1">
                <a:solidFill>
                  <a:srgbClr val="1A4043"/>
                </a:solidFill>
                <a:latin typeface="DejaVu Sans"/>
              </a:rPr>
              <a:t>6.8%</a:t>
            </a:r>
            <a:r>
              <a:rPr sz="680" b="0">
                <a:solidFill>
                  <a:srgbClr val="23373A"/>
                </a:solidFill>
                <a:latin typeface="DejaVu Sans"/>
              </a:rPr>
              <a:t>.</a:t>
            </a:r>
          </a:p>
          <a:p>
            <a:pPr>
              <a:spcBef>
                <a:spcPts val="150"/>
              </a:spcBef>
            </a:pPr>
            <a:r>
              <a:rPr sz="480" b="0">
                <a:solidFill>
                  <a:srgbClr val="5F7476"/>
                </a:solidFill>
                <a:latin typeface="DejaVu Sans"/>
              </a:rPr>
              <a:t>Fuente: IFT con datos de los operadores de telecomunicaciones, 2023.</a:t>
            </a:r>
          </a:p>
        </p:txBody>
      </p:sp>
      <p:sp>
        <p:nvSpPr>
          <p:cNvPr id="16" name="Rounded Rectangle 15"/>
          <p:cNvSpPr/>
          <p:nvPr/>
        </p:nvSpPr>
        <p:spPr>
          <a:xfrm>
            <a:off x="2391156" y="832103"/>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91156" y="886968"/>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9172" y="896112"/>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En junio de 2024, el PIB de telecomunicaciones y radiodifusión (TyR) fue de </a:t>
            </a:r>
            <a:r>
              <a:rPr sz="680" b="1">
                <a:solidFill>
                  <a:srgbClr val="1A4043"/>
                </a:solidFill>
                <a:latin typeface="DejaVu Sans"/>
              </a:rPr>
              <a:t>$404 mil millones de pesos</a:t>
            </a:r>
            <a:r>
              <a:rPr sz="680" b="0">
                <a:solidFill>
                  <a:srgbClr val="23373A"/>
                </a:solidFill>
                <a:latin typeface="DejaVu Sans"/>
              </a:rPr>
              <a:t>, lo que representó un crecimiento anual de </a:t>
            </a:r>
            <a:r>
              <a:rPr sz="680" b="1">
                <a:solidFill>
                  <a:srgbClr val="1A4043"/>
                </a:solidFill>
                <a:latin typeface="DejaVu Sans"/>
              </a:rPr>
              <a:t>0.4%</a:t>
            </a:r>
            <a:r>
              <a:rPr sz="680" b="0">
                <a:solidFill>
                  <a:srgbClr val="23373A"/>
                </a:solidFill>
                <a:latin typeface="DejaVu Sans"/>
              </a:rPr>
              <a:t>.</a:t>
            </a:r>
          </a:p>
          <a:p>
            <a:pPr>
              <a:spcBef>
                <a:spcPts val="150"/>
              </a:spcBef>
            </a:pPr>
            <a:r>
              <a:rPr sz="480" b="0">
                <a:solidFill>
                  <a:srgbClr val="5F7476"/>
                </a:solidFill>
                <a:latin typeface="DejaVu Sans"/>
              </a:rPr>
              <a:t>Fuente: IFT con datos a junio de 2024, del INEGI.</a:t>
            </a:r>
          </a:p>
        </p:txBody>
      </p:sp>
      <p:sp>
        <p:nvSpPr>
          <p:cNvPr id="19" name="Rounded Rectangle 18"/>
          <p:cNvSpPr/>
          <p:nvPr/>
        </p:nvSpPr>
        <p:spPr>
          <a:xfrm>
            <a:off x="274320"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A junio de 2024, el </a:t>
            </a:r>
            <a:r>
              <a:rPr sz="680" b="1">
                <a:solidFill>
                  <a:srgbClr val="1A4043"/>
                </a:solidFill>
                <a:latin typeface="DejaVu Sans"/>
              </a:rPr>
              <a:t>82%</a:t>
            </a:r>
            <a:r>
              <a:rPr sz="680" b="0">
                <a:solidFill>
                  <a:srgbClr val="23373A"/>
                </a:solidFill>
                <a:latin typeface="DejaVu Sans"/>
              </a:rPr>
              <a:t> de los empleos pertenecieron al sector de telecomunicaciones y el </a:t>
            </a:r>
            <a:r>
              <a:rPr sz="680" b="1">
                <a:solidFill>
                  <a:srgbClr val="1A4043"/>
                </a:solidFill>
                <a:latin typeface="DejaVu Sans"/>
              </a:rPr>
              <a:t>18%</a:t>
            </a:r>
            <a:r>
              <a:rPr sz="680" b="0">
                <a:solidFill>
                  <a:srgbClr val="23373A"/>
                </a:solidFill>
                <a:latin typeface="DejaVu Sans"/>
              </a:rPr>
              <a:t> al de radiodifusión.</a:t>
            </a:r>
          </a:p>
          <a:p>
            <a:pPr>
              <a:spcBef>
                <a:spcPts val="150"/>
              </a:spcBef>
            </a:pPr>
            <a:r>
              <a:rPr sz="480" b="0">
                <a:solidFill>
                  <a:srgbClr val="5F7476"/>
                </a:solidFill>
                <a:latin typeface="DejaVu Sans"/>
              </a:rPr>
              <a:t>Fuente: IFT con datos a junio de 2024 de la ENOE-INEGI.</a:t>
            </a:r>
          </a:p>
        </p:txBody>
      </p:sp>
      <p:sp>
        <p:nvSpPr>
          <p:cNvPr id="22" name="Rounded Rectangle 21"/>
          <p:cNvSpPr/>
          <p:nvPr/>
        </p:nvSpPr>
        <p:spPr>
          <a:xfrm>
            <a:off x="2391156" y="1691639"/>
            <a:ext cx="2043684" cy="786384"/>
          </a:xfrm>
          <a:prstGeom prst="roundRect">
            <a:avLst>
              <a:gd name="adj" fmla="val 6976"/>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391156" y="1746504"/>
            <a:ext cx="41148" cy="676656"/>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19172" y="1755648"/>
            <a:ext cx="1842515" cy="694944"/>
          </a:xfrm>
          <a:prstGeom prst="rect">
            <a:avLst/>
          </a:prstGeom>
          <a:noFill/>
        </p:spPr>
        <p:txBody>
          <a:bodyPr wrap="square" anchor="t" lIns="0" rIns="0" tIns="0" bIns="0">
            <a:spAutoFit/>
          </a:bodyPr>
          <a:lstStyle/>
          <a:p>
            <a:pPr>
              <a:lnSpc>
                <a:spcPct val="105000"/>
              </a:lnSpc>
            </a:pPr>
            <a:r>
              <a:rPr sz="680" b="0">
                <a:solidFill>
                  <a:srgbClr val="23373A"/>
                </a:solidFill>
                <a:latin typeface="DejaVu Sans"/>
              </a:rPr>
              <a:t>De junio de 2013 a julio de 2024, los precios de comunicaciones en su conjunto disminuyeron </a:t>
            </a:r>
            <a:r>
              <a:rPr sz="680" b="1">
                <a:solidFill>
                  <a:srgbClr val="1A4043"/>
                </a:solidFill>
                <a:latin typeface="DejaVu Sans"/>
              </a:rPr>
              <a:t>49.3%</a:t>
            </a:r>
            <a:r>
              <a:rPr sz="680" b="0">
                <a:solidFill>
                  <a:srgbClr val="23373A"/>
                </a:solidFill>
                <a:latin typeface="DejaVu Sans"/>
              </a:rPr>
              <a:t>, mientras que la inflación general fue de </a:t>
            </a:r>
            <a:r>
              <a:rPr sz="680" b="1">
                <a:solidFill>
                  <a:srgbClr val="1A4043"/>
                </a:solidFill>
                <a:latin typeface="DejaVu Sans"/>
              </a:rPr>
              <a:t>66.6%</a:t>
            </a:r>
            <a:r>
              <a:rPr sz="680" b="0">
                <a:solidFill>
                  <a:srgbClr val="23373A"/>
                </a:solidFill>
                <a:latin typeface="DejaVu Sans"/>
              </a:rPr>
              <a:t>.</a:t>
            </a:r>
          </a:p>
          <a:p>
            <a:pPr>
              <a:spcBef>
                <a:spcPts val="150"/>
              </a:spcBef>
            </a:pPr>
            <a:r>
              <a:rPr sz="480" b="0">
                <a:solidFill>
                  <a:srgbClr val="5F7476"/>
                </a:solidFill>
                <a:latin typeface="DejaVu Sans"/>
              </a:rPr>
              <a:t>Fuente: IFT con datos a julio de 2024, del INEGI.</a:t>
            </a:r>
          </a:p>
        </p:txBody>
      </p:sp>
      <p:sp>
        <p:nvSpPr>
          <p:cNvPr id="25" name="TextBox 24"/>
          <p:cNvSpPr txBox="1"/>
          <p:nvPr/>
        </p:nvSpPr>
        <p:spPr>
          <a:xfrm>
            <a:off x="274320" y="2606040"/>
            <a:ext cx="4160520" cy="182880"/>
          </a:xfrm>
          <a:prstGeom prst="rect">
            <a:avLst/>
          </a:prstGeom>
          <a:noFill/>
        </p:spPr>
        <p:txBody>
          <a:bodyPr wrap="square" anchor="ctr" lIns="0" rIns="0" tIns="0" bIns="0">
            <a:spAutoFit/>
          </a:bodyPr>
          <a:lstStyle/>
          <a:p>
            <a:r>
              <a:rPr sz="850" b="1">
                <a:solidFill>
                  <a:srgbClr val="1A4043"/>
                </a:solidFill>
                <a:latin typeface="DejaVu Sans"/>
              </a:rPr>
              <a:t>ESPECTRO RADIOELÉCTRICO</a:t>
            </a:r>
          </a:p>
        </p:txBody>
      </p:sp>
      <p:sp>
        <p:nvSpPr>
          <p:cNvPr id="26" name="Rectangle 25"/>
          <p:cNvSpPr/>
          <p:nvPr/>
        </p:nvSpPr>
        <p:spPr>
          <a:xfrm>
            <a:off x="274320" y="27934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74320" y="2889504"/>
            <a:ext cx="4160520" cy="914400"/>
          </a:xfrm>
          <a:prstGeom prst="roundRect">
            <a:avLst>
              <a:gd name="adj" fmla="val 6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74320" y="2944368"/>
            <a:ext cx="41148" cy="804672"/>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459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0Hz</a:t>
            </a:r>
          </a:p>
        </p:txBody>
      </p:sp>
      <p:sp>
        <p:nvSpPr>
          <p:cNvPr id="30" name="TextBox 29"/>
          <p:cNvSpPr txBox="1"/>
          <p:nvPr/>
        </p:nvSpPr>
        <p:spPr>
          <a:xfrm>
            <a:off x="57150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50Hz</a:t>
            </a:r>
          </a:p>
        </p:txBody>
      </p:sp>
      <p:sp>
        <p:nvSpPr>
          <p:cNvPr id="31" name="TextBox 30"/>
          <p:cNvSpPr txBox="1"/>
          <p:nvPr/>
        </p:nvSpPr>
        <p:spPr>
          <a:xfrm>
            <a:off x="978408"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3KHz</a:t>
            </a:r>
          </a:p>
        </p:txBody>
      </p:sp>
      <p:sp>
        <p:nvSpPr>
          <p:cNvPr id="32" name="TextBox 31"/>
          <p:cNvSpPr txBox="1"/>
          <p:nvPr/>
        </p:nvSpPr>
        <p:spPr>
          <a:xfrm>
            <a:off x="1385316"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Radiofrecuencia</a:t>
            </a:r>
          </a:p>
        </p:txBody>
      </p:sp>
      <p:sp>
        <p:nvSpPr>
          <p:cNvPr id="33" name="TextBox 32"/>
          <p:cNvSpPr txBox="1"/>
          <p:nvPr/>
        </p:nvSpPr>
        <p:spPr>
          <a:xfrm>
            <a:off x="1792223"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300GHz</a:t>
            </a:r>
          </a:p>
        </p:txBody>
      </p:sp>
      <p:sp>
        <p:nvSpPr>
          <p:cNvPr id="34" name="TextBox 33"/>
          <p:cNvSpPr txBox="1"/>
          <p:nvPr/>
        </p:nvSpPr>
        <p:spPr>
          <a:xfrm>
            <a:off x="2199132"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3,000THz</a:t>
            </a:r>
          </a:p>
        </p:txBody>
      </p:sp>
      <p:sp>
        <p:nvSpPr>
          <p:cNvPr id="35" name="TextBox 34"/>
          <p:cNvSpPr txBox="1"/>
          <p:nvPr/>
        </p:nvSpPr>
        <p:spPr>
          <a:xfrm>
            <a:off x="2606040" y="2962656"/>
            <a:ext cx="548640" cy="109728"/>
          </a:xfrm>
          <a:prstGeom prst="rect">
            <a:avLst/>
          </a:prstGeom>
          <a:noFill/>
        </p:spPr>
        <p:txBody>
          <a:bodyPr wrap="square" anchor="ctr" lIns="0" rIns="0" tIns="0" bIns="0">
            <a:spAutoFit/>
          </a:bodyPr>
          <a:lstStyle/>
          <a:p>
            <a:pPr algn="ctr"/>
            <a:r>
              <a:rPr sz="459" b="0">
                <a:solidFill>
                  <a:srgbClr val="5F7476"/>
                </a:solidFill>
                <a:latin typeface="DejaVu Sans"/>
              </a:rPr>
              <a:t>30EHz</a:t>
            </a:r>
          </a:p>
        </p:txBody>
      </p:sp>
      <p:sp>
        <p:nvSpPr>
          <p:cNvPr id="36" name="Freeform 35"/>
          <p:cNvSpPr/>
          <p:nvPr/>
        </p:nvSpPr>
        <p:spPr>
          <a:xfrm>
            <a:off x="438912" y="3157111"/>
            <a:ext cx="2441448" cy="302030"/>
          </a:xfrm>
          <a:custGeom>
            <a:avLst/>
            <a:gdLst/>
            <a:ahLst/>
            <a:cxnLst/>
            <a:rect l="l" t="t" r="r" b="b"/>
            <a:pathLst>
              <a:path w="2441448" h="302030">
                <a:moveTo>
                  <a:pt x="0" y="155330"/>
                </a:moveTo>
                <a:lnTo>
                  <a:pt x="9390" y="157657"/>
                </a:lnTo>
                <a:lnTo>
                  <a:pt x="18780" y="159996"/>
                </a:lnTo>
                <a:lnTo>
                  <a:pt x="28170" y="162347"/>
                </a:lnTo>
                <a:lnTo>
                  <a:pt x="37560" y="164708"/>
                </a:lnTo>
                <a:lnTo>
                  <a:pt x="46950" y="167080"/>
                </a:lnTo>
                <a:lnTo>
                  <a:pt x="56341" y="169460"/>
                </a:lnTo>
                <a:lnTo>
                  <a:pt x="65731" y="171849"/>
                </a:lnTo>
                <a:lnTo>
                  <a:pt x="75121" y="174246"/>
                </a:lnTo>
                <a:lnTo>
                  <a:pt x="84511" y="176650"/>
                </a:lnTo>
                <a:lnTo>
                  <a:pt x="93901" y="179060"/>
                </a:lnTo>
                <a:lnTo>
                  <a:pt x="103292" y="181475"/>
                </a:lnTo>
                <a:lnTo>
                  <a:pt x="112682" y="183895"/>
                </a:lnTo>
                <a:lnTo>
                  <a:pt x="122072" y="186319"/>
                </a:lnTo>
                <a:lnTo>
                  <a:pt x="131462" y="188744"/>
                </a:lnTo>
                <a:lnTo>
                  <a:pt x="140852" y="191171"/>
                </a:lnTo>
                <a:lnTo>
                  <a:pt x="150242" y="193598"/>
                </a:lnTo>
                <a:lnTo>
                  <a:pt x="159633" y="196024"/>
                </a:lnTo>
                <a:lnTo>
                  <a:pt x="169023" y="198446"/>
                </a:lnTo>
                <a:lnTo>
                  <a:pt x="178413" y="200863"/>
                </a:lnTo>
                <a:lnTo>
                  <a:pt x="187803" y="203273"/>
                </a:lnTo>
                <a:lnTo>
                  <a:pt x="197193" y="205674"/>
                </a:lnTo>
                <a:lnTo>
                  <a:pt x="206584" y="208064"/>
                </a:lnTo>
                <a:lnTo>
                  <a:pt x="215974" y="210440"/>
                </a:lnTo>
                <a:lnTo>
                  <a:pt x="225364" y="212800"/>
                </a:lnTo>
                <a:lnTo>
                  <a:pt x="234754" y="215139"/>
                </a:lnTo>
                <a:lnTo>
                  <a:pt x="244144" y="217456"/>
                </a:lnTo>
                <a:lnTo>
                  <a:pt x="253534" y="219746"/>
                </a:lnTo>
                <a:lnTo>
                  <a:pt x="262925" y="222005"/>
                </a:lnTo>
                <a:lnTo>
                  <a:pt x="272315" y="224230"/>
                </a:lnTo>
                <a:lnTo>
                  <a:pt x="281705" y="226415"/>
                </a:lnTo>
                <a:lnTo>
                  <a:pt x="291095" y="228556"/>
                </a:lnTo>
                <a:lnTo>
                  <a:pt x="300485" y="230647"/>
                </a:lnTo>
                <a:lnTo>
                  <a:pt x="309876" y="232683"/>
                </a:lnTo>
                <a:lnTo>
                  <a:pt x="319266" y="234657"/>
                </a:lnTo>
                <a:lnTo>
                  <a:pt x="328656" y="236563"/>
                </a:lnTo>
                <a:lnTo>
                  <a:pt x="338046" y="238395"/>
                </a:lnTo>
                <a:lnTo>
                  <a:pt x="347436" y="240144"/>
                </a:lnTo>
                <a:lnTo>
                  <a:pt x="356827" y="241802"/>
                </a:lnTo>
                <a:lnTo>
                  <a:pt x="366217" y="243362"/>
                </a:lnTo>
                <a:lnTo>
                  <a:pt x="375607" y="244815"/>
                </a:lnTo>
                <a:lnTo>
                  <a:pt x="384997" y="246152"/>
                </a:lnTo>
                <a:lnTo>
                  <a:pt x="394387" y="247362"/>
                </a:lnTo>
                <a:lnTo>
                  <a:pt x="403777" y="248436"/>
                </a:lnTo>
                <a:lnTo>
                  <a:pt x="413168" y="249363"/>
                </a:lnTo>
                <a:lnTo>
                  <a:pt x="422558" y="250132"/>
                </a:lnTo>
                <a:lnTo>
                  <a:pt x="431948" y="250732"/>
                </a:lnTo>
                <a:lnTo>
                  <a:pt x="441338" y="251150"/>
                </a:lnTo>
                <a:lnTo>
                  <a:pt x="450728" y="251376"/>
                </a:lnTo>
                <a:lnTo>
                  <a:pt x="460119" y="251395"/>
                </a:lnTo>
                <a:lnTo>
                  <a:pt x="469509" y="251197"/>
                </a:lnTo>
                <a:lnTo>
                  <a:pt x="478899" y="250767"/>
                </a:lnTo>
                <a:lnTo>
                  <a:pt x="488289" y="250094"/>
                </a:lnTo>
                <a:lnTo>
                  <a:pt x="497679" y="249163"/>
                </a:lnTo>
                <a:lnTo>
                  <a:pt x="507069" y="247963"/>
                </a:lnTo>
                <a:lnTo>
                  <a:pt x="516460" y="246481"/>
                </a:lnTo>
                <a:lnTo>
                  <a:pt x="525850" y="244703"/>
                </a:lnTo>
                <a:lnTo>
                  <a:pt x="535240" y="242619"/>
                </a:lnTo>
                <a:lnTo>
                  <a:pt x="544630" y="240217"/>
                </a:lnTo>
                <a:lnTo>
                  <a:pt x="554020" y="237487"/>
                </a:lnTo>
                <a:lnTo>
                  <a:pt x="563411" y="234418"/>
                </a:lnTo>
                <a:lnTo>
                  <a:pt x="572801" y="231003"/>
                </a:lnTo>
                <a:lnTo>
                  <a:pt x="582191" y="227235"/>
                </a:lnTo>
                <a:lnTo>
                  <a:pt x="591581" y="223108"/>
                </a:lnTo>
                <a:lnTo>
                  <a:pt x="600971" y="218618"/>
                </a:lnTo>
                <a:lnTo>
                  <a:pt x="610362" y="213765"/>
                </a:lnTo>
                <a:lnTo>
                  <a:pt x="619752" y="208549"/>
                </a:lnTo>
                <a:lnTo>
                  <a:pt x="629142" y="202974"/>
                </a:lnTo>
                <a:lnTo>
                  <a:pt x="638532" y="197047"/>
                </a:lnTo>
                <a:lnTo>
                  <a:pt x="647922" y="190778"/>
                </a:lnTo>
                <a:lnTo>
                  <a:pt x="657312" y="184180"/>
                </a:lnTo>
                <a:lnTo>
                  <a:pt x="666703" y="177270"/>
                </a:lnTo>
                <a:lnTo>
                  <a:pt x="676093" y="170072"/>
                </a:lnTo>
                <a:lnTo>
                  <a:pt x="685483" y="162610"/>
                </a:lnTo>
                <a:lnTo>
                  <a:pt x="694873" y="154916"/>
                </a:lnTo>
                <a:lnTo>
                  <a:pt x="704263" y="147026"/>
                </a:lnTo>
                <a:lnTo>
                  <a:pt x="713654" y="138982"/>
                </a:lnTo>
                <a:lnTo>
                  <a:pt x="723044" y="130829"/>
                </a:lnTo>
                <a:lnTo>
                  <a:pt x="732434" y="122621"/>
                </a:lnTo>
                <a:lnTo>
                  <a:pt x="741824" y="114414"/>
                </a:lnTo>
                <a:lnTo>
                  <a:pt x="751214" y="106273"/>
                </a:lnTo>
                <a:lnTo>
                  <a:pt x="760604" y="98266"/>
                </a:lnTo>
                <a:lnTo>
                  <a:pt x="769995" y="90467"/>
                </a:lnTo>
                <a:lnTo>
                  <a:pt x="779385" y="82955"/>
                </a:lnTo>
                <a:lnTo>
                  <a:pt x="788775" y="75812"/>
                </a:lnTo>
                <a:lnTo>
                  <a:pt x="798165" y="69127"/>
                </a:lnTo>
                <a:lnTo>
                  <a:pt x="807555" y="62987"/>
                </a:lnTo>
                <a:lnTo>
                  <a:pt x="816946" y="57487"/>
                </a:lnTo>
                <a:lnTo>
                  <a:pt x="826336" y="52718"/>
                </a:lnTo>
                <a:lnTo>
                  <a:pt x="835726" y="48773"/>
                </a:lnTo>
                <a:lnTo>
                  <a:pt x="845116" y="45743"/>
                </a:lnTo>
                <a:lnTo>
                  <a:pt x="854506" y="43716"/>
                </a:lnTo>
                <a:lnTo>
                  <a:pt x="863896" y="42773"/>
                </a:lnTo>
                <a:lnTo>
                  <a:pt x="873287" y="42989"/>
                </a:lnTo>
                <a:lnTo>
                  <a:pt x="882677" y="44430"/>
                </a:lnTo>
                <a:lnTo>
                  <a:pt x="892067" y="47150"/>
                </a:lnTo>
                <a:lnTo>
                  <a:pt x="901457" y="51188"/>
                </a:lnTo>
                <a:lnTo>
                  <a:pt x="910847" y="56566"/>
                </a:lnTo>
                <a:lnTo>
                  <a:pt x="920238" y="63290"/>
                </a:lnTo>
                <a:lnTo>
                  <a:pt x="929628" y="71343"/>
                </a:lnTo>
                <a:lnTo>
                  <a:pt x="939018" y="80683"/>
                </a:lnTo>
                <a:lnTo>
                  <a:pt x="948408" y="91244"/>
                </a:lnTo>
                <a:lnTo>
                  <a:pt x="957798" y="102934"/>
                </a:lnTo>
                <a:lnTo>
                  <a:pt x="967189" y="115629"/>
                </a:lnTo>
                <a:lnTo>
                  <a:pt x="976579" y="129178"/>
                </a:lnTo>
                <a:lnTo>
                  <a:pt x="985969" y="143401"/>
                </a:lnTo>
                <a:lnTo>
                  <a:pt x="995359" y="158086"/>
                </a:lnTo>
                <a:lnTo>
                  <a:pt x="1004749" y="172996"/>
                </a:lnTo>
                <a:lnTo>
                  <a:pt x="1014139" y="187866"/>
                </a:lnTo>
                <a:lnTo>
                  <a:pt x="1023530" y="202412"/>
                </a:lnTo>
                <a:lnTo>
                  <a:pt x="1032920" y="216328"/>
                </a:lnTo>
                <a:lnTo>
                  <a:pt x="1042310" y="229299"/>
                </a:lnTo>
                <a:lnTo>
                  <a:pt x="1051700" y="241002"/>
                </a:lnTo>
                <a:lnTo>
                  <a:pt x="1061090" y="251118"/>
                </a:lnTo>
                <a:lnTo>
                  <a:pt x="1070481" y="259338"/>
                </a:lnTo>
                <a:lnTo>
                  <a:pt x="1079871" y="265372"/>
                </a:lnTo>
                <a:lnTo>
                  <a:pt x="1089261" y="268964"/>
                </a:lnTo>
                <a:lnTo>
                  <a:pt x="1098651" y="269898"/>
                </a:lnTo>
                <a:lnTo>
                  <a:pt x="1108041" y="268013"/>
                </a:lnTo>
                <a:lnTo>
                  <a:pt x="1117431" y="263210"/>
                </a:lnTo>
                <a:lnTo>
                  <a:pt x="1126822" y="255466"/>
                </a:lnTo>
                <a:lnTo>
                  <a:pt x="1136212" y="244843"/>
                </a:lnTo>
                <a:lnTo>
                  <a:pt x="1145602" y="231491"/>
                </a:lnTo>
                <a:lnTo>
                  <a:pt x="1154992" y="215659"/>
                </a:lnTo>
                <a:lnTo>
                  <a:pt x="1164382" y="197694"/>
                </a:lnTo>
                <a:lnTo>
                  <a:pt x="1173773" y="178038"/>
                </a:lnTo>
                <a:lnTo>
                  <a:pt x="1183163" y="157229"/>
                </a:lnTo>
                <a:lnTo>
                  <a:pt x="1192553" y="135885"/>
                </a:lnTo>
                <a:lnTo>
                  <a:pt x="1201943" y="114692"/>
                </a:lnTo>
                <a:lnTo>
                  <a:pt x="1211333" y="94387"/>
                </a:lnTo>
                <a:lnTo>
                  <a:pt x="1220724" y="75732"/>
                </a:lnTo>
                <a:lnTo>
                  <a:pt x="1230114" y="59486"/>
                </a:lnTo>
                <a:lnTo>
                  <a:pt x="1239504" y="46373"/>
                </a:lnTo>
                <a:lnTo>
                  <a:pt x="1248894" y="37049"/>
                </a:lnTo>
                <a:lnTo>
                  <a:pt x="1258284" y="32064"/>
                </a:lnTo>
                <a:lnTo>
                  <a:pt x="1267674" y="31829"/>
                </a:lnTo>
                <a:lnTo>
                  <a:pt x="1277065" y="36578"/>
                </a:lnTo>
                <a:lnTo>
                  <a:pt x="1286455" y="46343"/>
                </a:lnTo>
                <a:lnTo>
                  <a:pt x="1295845" y="60929"/>
                </a:lnTo>
                <a:lnTo>
                  <a:pt x="1305235" y="79900"/>
                </a:lnTo>
                <a:lnTo>
                  <a:pt x="1314625" y="102577"/>
                </a:lnTo>
                <a:lnTo>
                  <a:pt x="1324016" y="128046"/>
                </a:lnTo>
                <a:lnTo>
                  <a:pt x="1333406" y="155184"/>
                </a:lnTo>
                <a:lnTo>
                  <a:pt x="1342796" y="182698"/>
                </a:lnTo>
                <a:lnTo>
                  <a:pt x="1352186" y="209180"/>
                </a:lnTo>
                <a:lnTo>
                  <a:pt x="1361576" y="233174"/>
                </a:lnTo>
                <a:lnTo>
                  <a:pt x="1370966" y="253257"/>
                </a:lnTo>
                <a:lnTo>
                  <a:pt x="1380357" y="268128"/>
                </a:lnTo>
                <a:lnTo>
                  <a:pt x="1389747" y="276700"/>
                </a:lnTo>
                <a:lnTo>
                  <a:pt x="1399137" y="278185"/>
                </a:lnTo>
                <a:lnTo>
                  <a:pt x="1408527" y="272181"/>
                </a:lnTo>
                <a:lnTo>
                  <a:pt x="1417917" y="258733"/>
                </a:lnTo>
                <a:lnTo>
                  <a:pt x="1427308" y="238370"/>
                </a:lnTo>
                <a:lnTo>
                  <a:pt x="1436698" y="212125"/>
                </a:lnTo>
                <a:lnTo>
                  <a:pt x="1446088" y="181502"/>
                </a:lnTo>
                <a:lnTo>
                  <a:pt x="1455478" y="148419"/>
                </a:lnTo>
                <a:lnTo>
                  <a:pt x="1464868" y="115104"/>
                </a:lnTo>
                <a:lnTo>
                  <a:pt x="1474258" y="83953"/>
                </a:lnTo>
                <a:lnTo>
                  <a:pt x="1483649" y="57367"/>
                </a:lnTo>
                <a:lnTo>
                  <a:pt x="1493039" y="37559"/>
                </a:lnTo>
                <a:lnTo>
                  <a:pt x="1502429" y="26355"/>
                </a:lnTo>
                <a:lnTo>
                  <a:pt x="1511819" y="25007"/>
                </a:lnTo>
                <a:lnTo>
                  <a:pt x="1521209" y="34036"/>
                </a:lnTo>
                <a:lnTo>
                  <a:pt x="1530600" y="53115"/>
                </a:lnTo>
                <a:lnTo>
                  <a:pt x="1539990" y="81022"/>
                </a:lnTo>
                <a:lnTo>
                  <a:pt x="1549380" y="115668"/>
                </a:lnTo>
                <a:lnTo>
                  <a:pt x="1558770" y="154210"/>
                </a:lnTo>
                <a:lnTo>
                  <a:pt x="1568160" y="193256"/>
                </a:lnTo>
                <a:lnTo>
                  <a:pt x="1577551" y="229145"/>
                </a:lnTo>
                <a:lnTo>
                  <a:pt x="1586941" y="258283"/>
                </a:lnTo>
                <a:lnTo>
                  <a:pt x="1596331" y="277521"/>
                </a:lnTo>
                <a:lnTo>
                  <a:pt x="1605721" y="284519"/>
                </a:lnTo>
                <a:lnTo>
                  <a:pt x="1615111" y="278068"/>
                </a:lnTo>
                <a:lnTo>
                  <a:pt x="1624501" y="258323"/>
                </a:lnTo>
                <a:lnTo>
                  <a:pt x="1633892" y="226902"/>
                </a:lnTo>
                <a:lnTo>
                  <a:pt x="1643282" y="186835"/>
                </a:lnTo>
                <a:lnTo>
                  <a:pt x="1652672" y="142335"/>
                </a:lnTo>
                <a:lnTo>
                  <a:pt x="1662062" y="98393"/>
                </a:lnTo>
                <a:lnTo>
                  <a:pt x="1671452" y="60248"/>
                </a:lnTo>
                <a:lnTo>
                  <a:pt x="1680843" y="32753"/>
                </a:lnTo>
                <a:lnTo>
                  <a:pt x="1690233" y="19725"/>
                </a:lnTo>
                <a:lnTo>
                  <a:pt x="1699623" y="23366"/>
                </a:lnTo>
                <a:lnTo>
                  <a:pt x="1709013" y="43832"/>
                </a:lnTo>
                <a:lnTo>
                  <a:pt x="1718403" y="79039"/>
                </a:lnTo>
                <a:lnTo>
                  <a:pt x="1727793" y="124763"/>
                </a:lnTo>
                <a:lnTo>
                  <a:pt x="1737184" y="175060"/>
                </a:lnTo>
                <a:lnTo>
                  <a:pt x="1746574" y="222978"/>
                </a:lnTo>
                <a:lnTo>
                  <a:pt x="1755964" y="261494"/>
                </a:lnTo>
                <a:lnTo>
                  <a:pt x="1765354" y="284571"/>
                </a:lnTo>
                <a:lnTo>
                  <a:pt x="1774744" y="288163"/>
                </a:lnTo>
                <a:lnTo>
                  <a:pt x="1784135" y="271007"/>
                </a:lnTo>
                <a:lnTo>
                  <a:pt x="1793525" y="235058"/>
                </a:lnTo>
                <a:lnTo>
                  <a:pt x="1802915" y="185428"/>
                </a:lnTo>
                <a:lnTo>
                  <a:pt x="1812305" y="129784"/>
                </a:lnTo>
                <a:lnTo>
                  <a:pt x="1821695" y="77249"/>
                </a:lnTo>
                <a:lnTo>
                  <a:pt x="1831086" y="36935"/>
                </a:lnTo>
                <a:lnTo>
                  <a:pt x="1840476" y="16325"/>
                </a:lnTo>
                <a:lnTo>
                  <a:pt x="1849866" y="19789"/>
                </a:lnTo>
                <a:lnTo>
                  <a:pt x="1859256" y="47537"/>
                </a:lnTo>
                <a:lnTo>
                  <a:pt x="1868646" y="95249"/>
                </a:lnTo>
                <a:lnTo>
                  <a:pt x="1878036" y="154559"/>
                </a:lnTo>
                <a:lnTo>
                  <a:pt x="1887427" y="214376"/>
                </a:lnTo>
                <a:lnTo>
                  <a:pt x="1896817" y="262893"/>
                </a:lnTo>
                <a:lnTo>
                  <a:pt x="1906207" y="289943"/>
                </a:lnTo>
                <a:lnTo>
                  <a:pt x="1915597" y="289231"/>
                </a:lnTo>
                <a:lnTo>
                  <a:pt x="1924987" y="259971"/>
                </a:lnTo>
                <a:lnTo>
                  <a:pt x="1934378" y="207466"/>
                </a:lnTo>
                <a:lnTo>
                  <a:pt x="1943768" y="142399"/>
                </a:lnTo>
                <a:lnTo>
                  <a:pt x="1953158" y="78839"/>
                </a:lnTo>
                <a:lnTo>
                  <a:pt x="1962548" y="31261"/>
                </a:lnTo>
                <a:lnTo>
                  <a:pt x="1971938" y="11206"/>
                </a:lnTo>
                <a:lnTo>
                  <a:pt x="1981328" y="24307"/>
                </a:lnTo>
                <a:lnTo>
                  <a:pt x="1990719" y="68497"/>
                </a:lnTo>
                <a:lnTo>
                  <a:pt x="2000109" y="133951"/>
                </a:lnTo>
                <a:lnTo>
                  <a:pt x="2009499" y="204999"/>
                </a:lnTo>
                <a:lnTo>
                  <a:pt x="2018889" y="263725"/>
                </a:lnTo>
                <a:lnTo>
                  <a:pt x="2028279" y="294492"/>
                </a:lnTo>
                <a:lnTo>
                  <a:pt x="2037670" y="288270"/>
                </a:lnTo>
                <a:lnTo>
                  <a:pt x="2047060" y="245562"/>
                </a:lnTo>
                <a:lnTo>
                  <a:pt x="2056450" y="176941"/>
                </a:lnTo>
                <a:lnTo>
                  <a:pt x="2065840" y="100784"/>
                </a:lnTo>
                <a:lnTo>
                  <a:pt x="2075230" y="38554"/>
                </a:lnTo>
                <a:lnTo>
                  <a:pt x="2084620" y="8744"/>
                </a:lnTo>
                <a:lnTo>
                  <a:pt x="2094011" y="21171"/>
                </a:lnTo>
                <a:lnTo>
                  <a:pt x="2103401" y="73396"/>
                </a:lnTo>
                <a:lnTo>
                  <a:pt x="2112791" y="150635"/>
                </a:lnTo>
                <a:lnTo>
                  <a:pt x="2122181" y="229547"/>
                </a:lnTo>
                <a:lnTo>
                  <a:pt x="2131571" y="285107"/>
                </a:lnTo>
                <a:lnTo>
                  <a:pt x="2140962" y="298633"/>
                </a:lnTo>
                <a:lnTo>
                  <a:pt x="2150352" y="264404"/>
                </a:lnTo>
                <a:lnTo>
                  <a:pt x="2159742" y="192462"/>
                </a:lnTo>
                <a:lnTo>
                  <a:pt x="2169132" y="106227"/>
                </a:lnTo>
                <a:lnTo>
                  <a:pt x="2178522" y="35220"/>
                </a:lnTo>
                <a:lnTo>
                  <a:pt x="2187913" y="4984"/>
                </a:lnTo>
                <a:lnTo>
                  <a:pt x="2197303" y="27593"/>
                </a:lnTo>
                <a:lnTo>
                  <a:pt x="2206693" y="96322"/>
                </a:lnTo>
                <a:lnTo>
                  <a:pt x="2216083" y="186929"/>
                </a:lnTo>
                <a:lnTo>
                  <a:pt x="2225473" y="265733"/>
                </a:lnTo>
                <a:lnTo>
                  <a:pt x="2234863" y="302030"/>
                </a:lnTo>
                <a:lnTo>
                  <a:pt x="2244254" y="280374"/>
                </a:lnTo>
                <a:lnTo>
                  <a:pt x="2253644" y="207738"/>
                </a:lnTo>
                <a:lnTo>
                  <a:pt x="2263034" y="112120"/>
                </a:lnTo>
                <a:lnTo>
                  <a:pt x="2272424" y="32293"/>
                </a:lnTo>
                <a:lnTo>
                  <a:pt x="2281814" y="2170"/>
                </a:lnTo>
                <a:lnTo>
                  <a:pt x="2291205" y="35991"/>
                </a:lnTo>
                <a:lnTo>
                  <a:pt x="2300595" y="120880"/>
                </a:lnTo>
                <a:lnTo>
                  <a:pt x="2309985" y="220846"/>
                </a:lnTo>
                <a:lnTo>
                  <a:pt x="2319375" y="291521"/>
                </a:lnTo>
                <a:lnTo>
                  <a:pt x="2328765" y="299910"/>
                </a:lnTo>
                <a:lnTo>
                  <a:pt x="2338155" y="240423"/>
                </a:lnTo>
                <a:lnTo>
                  <a:pt x="2347546" y="139200"/>
                </a:lnTo>
                <a:lnTo>
                  <a:pt x="2356936" y="43509"/>
                </a:lnTo>
                <a:lnTo>
                  <a:pt x="2366326" y="0"/>
                </a:lnTo>
                <a:lnTo>
                  <a:pt x="2375716" y="31561"/>
                </a:lnTo>
                <a:lnTo>
                  <a:pt x="2385106" y="124364"/>
                </a:lnTo>
                <a:lnTo>
                  <a:pt x="2394497" y="232727"/>
                </a:lnTo>
                <a:lnTo>
                  <a:pt x="2403887" y="300939"/>
                </a:lnTo>
                <a:lnTo>
                  <a:pt x="2413277" y="292052"/>
                </a:lnTo>
                <a:lnTo>
                  <a:pt x="2422667" y="208794"/>
                </a:lnTo>
                <a:lnTo>
                  <a:pt x="2432057" y="94425"/>
                </a:lnTo>
                <a:lnTo>
                  <a:pt x="2441448" y="11200"/>
                </a:lnTo>
              </a:path>
            </a:pathLst>
          </a:custGeom>
          <a:noFill/>
          <a:ln w="17780">
            <a:solidFill>
              <a:srgbClr val="4A7D76"/>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 y="3621024"/>
            <a:ext cx="2560320" cy="128016"/>
          </a:xfrm>
          <a:prstGeom prst="rect">
            <a:avLst/>
          </a:prstGeom>
          <a:noFill/>
        </p:spPr>
        <p:txBody>
          <a:bodyPr wrap="square" anchor="ctr" lIns="0" rIns="0" tIns="0" bIns="0">
            <a:spAutoFit/>
          </a:bodyPr>
          <a:lstStyle/>
          <a:p>
            <a:pPr>
              <a:spcBef>
                <a:spcPts val="150"/>
              </a:spcBef>
            </a:pPr>
            <a:r>
              <a:rPr sz="480" b="0">
                <a:solidFill>
                  <a:srgbClr val="5F7476"/>
                </a:solidFill>
                <a:latin typeface="DejaVu Sans"/>
              </a:rPr>
              <a:t>Fuente: IFT con datos a diciembre de 2023.</a:t>
            </a:r>
          </a:p>
        </p:txBody>
      </p:sp>
      <p:sp>
        <p:nvSpPr>
          <p:cNvPr id="38" name="Rounded Rectangle 37"/>
          <p:cNvSpPr/>
          <p:nvPr/>
        </p:nvSpPr>
        <p:spPr>
          <a:xfrm>
            <a:off x="3063239" y="3017520"/>
            <a:ext cx="1243584" cy="658368"/>
          </a:xfrm>
          <a:prstGeom prst="roundRect">
            <a:avLst>
              <a:gd name="adj" fmla="val 11111"/>
            </a:avLst>
          </a:prstGeom>
          <a:solidFill>
            <a:srgbClr val="E3F0ED"/>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54679" y="3017520"/>
            <a:ext cx="1060704" cy="658368"/>
          </a:xfrm>
          <a:prstGeom prst="rect">
            <a:avLst/>
          </a:prstGeom>
          <a:noFill/>
        </p:spPr>
        <p:txBody>
          <a:bodyPr wrap="square" anchor="ctr" lIns="0" rIns="0" tIns="0" bIns="0">
            <a:spAutoFit/>
          </a:bodyPr>
          <a:lstStyle/>
          <a:p>
            <a:pPr>
              <a:lnSpc>
                <a:spcPct val="110000"/>
              </a:lnSpc>
            </a:pPr>
            <a:r>
              <a:rPr sz="700" b="0">
                <a:solidFill>
                  <a:srgbClr val="23373A"/>
                </a:solidFill>
                <a:latin typeface="DejaVu Sans"/>
              </a:rPr>
              <a:t>El </a:t>
            </a:r>
            <a:r>
              <a:rPr sz="700" b="1">
                <a:solidFill>
                  <a:srgbClr val="1A4043"/>
                </a:solidFill>
                <a:latin typeface="DejaVu Sans"/>
              </a:rPr>
              <a:t>21.7%</a:t>
            </a:r>
            <a:r>
              <a:rPr sz="700" b="0">
                <a:solidFill>
                  <a:srgbClr val="23373A"/>
                </a:solidFill>
                <a:latin typeface="DejaVu Sans"/>
              </a:rPr>
              <a:t> del espectro radioeléctrico es asignado a la banda de </a:t>
            </a:r>
            <a:r>
              <a:rPr sz="700" b="1">
                <a:solidFill>
                  <a:srgbClr val="1A4043"/>
                </a:solidFill>
                <a:latin typeface="DejaVu Sans"/>
              </a:rPr>
              <a:t>2,500 MHz</a:t>
            </a:r>
            <a:r>
              <a:rPr sz="700" b="0">
                <a:solidFill>
                  <a:srgbClr val="23373A"/>
                </a:solidFill>
                <a:latin typeface="DejaVu Sans"/>
              </a:rPr>
              <a:t>.</a:t>
            </a:r>
          </a:p>
        </p:txBody>
      </p:sp>
      <p:sp>
        <p:nvSpPr>
          <p:cNvPr id="40" name="TextBox 39"/>
          <p:cNvSpPr txBox="1"/>
          <p:nvPr/>
        </p:nvSpPr>
        <p:spPr>
          <a:xfrm>
            <a:off x="4572000" y="548640"/>
            <a:ext cx="4297680" cy="182880"/>
          </a:xfrm>
          <a:prstGeom prst="rect">
            <a:avLst/>
          </a:prstGeom>
          <a:noFill/>
        </p:spPr>
        <p:txBody>
          <a:bodyPr wrap="square" anchor="ctr" lIns="0" rIns="0" tIns="0" bIns="0">
            <a:spAutoFit/>
          </a:bodyPr>
          <a:lstStyle/>
          <a:p>
            <a:r>
              <a:rPr sz="850" b="1">
                <a:solidFill>
                  <a:srgbClr val="1A4043"/>
                </a:solidFill>
                <a:latin typeface="DejaVu Sans"/>
              </a:rPr>
              <a:t>SERVICIOS MÓVILES DE TELECOMUNICACIONES</a:t>
            </a:r>
          </a:p>
        </p:txBody>
      </p:sp>
      <p:sp>
        <p:nvSpPr>
          <p:cNvPr id="41" name="Rectangle 40"/>
          <p:cNvSpPr/>
          <p:nvPr/>
        </p:nvSpPr>
        <p:spPr>
          <a:xfrm>
            <a:off x="4572000" y="73609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572000" y="83210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654296" y="89154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phone_w.png"/>
          <p:cNvPicPr>
            <a:picLocks noChangeAspect="1"/>
          </p:cNvPicPr>
          <p:nvPr/>
        </p:nvPicPr>
        <p:blipFill>
          <a:blip r:embed="rId6"/>
          <a:stretch>
            <a:fillRect/>
          </a:stretch>
        </p:blipFill>
        <p:spPr>
          <a:xfrm>
            <a:off x="4709159" y="946403"/>
            <a:ext cx="164592" cy="164592"/>
          </a:xfrm>
          <a:prstGeom prst="rect">
            <a:avLst/>
          </a:prstGeom>
        </p:spPr>
      </p:pic>
      <p:sp>
        <p:nvSpPr>
          <p:cNvPr id="45" name="TextBox 44"/>
          <p:cNvSpPr txBox="1"/>
          <p:nvPr/>
        </p:nvSpPr>
        <p:spPr>
          <a:xfrm>
            <a:off x="5029200" y="85953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diciembre de 2023, se tuvieron </a:t>
            </a:r>
            <a:r>
              <a:rPr sz="660" b="1">
                <a:solidFill>
                  <a:srgbClr val="1A4043"/>
                </a:solidFill>
                <a:latin typeface="DejaVu Sans"/>
              </a:rPr>
              <a:t>110 líneas</a:t>
            </a:r>
            <a:r>
              <a:rPr sz="660" b="0">
                <a:solidFill>
                  <a:srgbClr val="23373A"/>
                </a:solidFill>
                <a:latin typeface="DejaVu Sans"/>
              </a:rPr>
              <a:t> del servicio móvil de telefonía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46" name="Rounded Rectangle 45"/>
          <p:cNvSpPr/>
          <p:nvPr/>
        </p:nvSpPr>
        <p:spPr>
          <a:xfrm>
            <a:off x="4572000" y="1266443"/>
            <a:ext cx="4297680" cy="530352"/>
          </a:xfrm>
          <a:prstGeom prst="roundRect">
            <a:avLst>
              <a:gd name="adj" fmla="val 10344"/>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54296" y="13944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ic_call_w.png"/>
          <p:cNvPicPr>
            <a:picLocks noChangeAspect="1"/>
          </p:cNvPicPr>
          <p:nvPr/>
        </p:nvPicPr>
        <p:blipFill>
          <a:blip r:embed="rId7"/>
          <a:stretch>
            <a:fillRect/>
          </a:stretch>
        </p:blipFill>
        <p:spPr>
          <a:xfrm>
            <a:off x="4709159" y="1449323"/>
            <a:ext cx="164592" cy="164592"/>
          </a:xfrm>
          <a:prstGeom prst="rect">
            <a:avLst/>
          </a:prstGeom>
        </p:spPr>
      </p:pic>
      <p:sp>
        <p:nvSpPr>
          <p:cNvPr id="49" name="TextBox 48"/>
          <p:cNvSpPr txBox="1"/>
          <p:nvPr/>
        </p:nvSpPr>
        <p:spPr>
          <a:xfrm>
            <a:off x="5029200" y="1293875"/>
            <a:ext cx="3749040" cy="47548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2023, el </a:t>
            </a:r>
            <a:r>
              <a:rPr sz="660" b="1">
                <a:solidFill>
                  <a:srgbClr val="1A4043"/>
                </a:solidFill>
                <a:latin typeface="DejaVu Sans"/>
              </a:rPr>
              <a:t>29.6%</a:t>
            </a:r>
            <a:r>
              <a:rPr sz="660" b="0">
                <a:solidFill>
                  <a:srgbClr val="23373A"/>
                </a:solidFill>
                <a:latin typeface="DejaVu Sans"/>
              </a:rPr>
              <a:t> de las MiPymes contrató el servicio de telefonía móvil y el </a:t>
            </a:r>
            <a:r>
              <a:rPr sz="660" b="1">
                <a:solidFill>
                  <a:srgbClr val="1A4043"/>
                </a:solidFill>
                <a:latin typeface="DejaVu Sans"/>
              </a:rPr>
              <a:t>19.6%</a:t>
            </a:r>
            <a:r>
              <a:rPr sz="660" b="0">
                <a:solidFill>
                  <a:srgbClr val="23373A"/>
                </a:solidFill>
                <a:latin typeface="DejaVu Sans"/>
              </a:rPr>
              <a:t> contrató conexión a Internet por datos móviles (telefonía móvil). Ambos servicios les permiten tener diferentes beneficios para sus negocios.</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p:txBody>
      </p:sp>
      <p:sp>
        <p:nvSpPr>
          <p:cNvPr id="50" name="Rounded Rectangle 49"/>
          <p:cNvSpPr/>
          <p:nvPr/>
        </p:nvSpPr>
        <p:spPr>
          <a:xfrm>
            <a:off x="4572000" y="1837943"/>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654296" y="1897379"/>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2" name="Picture 51" descr="ic_pin_w.png"/>
          <p:cNvPicPr>
            <a:picLocks noChangeAspect="1"/>
          </p:cNvPicPr>
          <p:nvPr/>
        </p:nvPicPr>
        <p:blipFill>
          <a:blip r:embed="rId8"/>
          <a:stretch>
            <a:fillRect/>
          </a:stretch>
        </p:blipFill>
        <p:spPr>
          <a:xfrm>
            <a:off x="4709159" y="1952243"/>
            <a:ext cx="164592" cy="164592"/>
          </a:xfrm>
          <a:prstGeom prst="rect">
            <a:avLst/>
          </a:prstGeom>
        </p:spPr>
      </p:pic>
      <p:sp>
        <p:nvSpPr>
          <p:cNvPr id="53" name="TextBox 52"/>
          <p:cNvSpPr txBox="1"/>
          <p:nvPr/>
        </p:nvSpPr>
        <p:spPr>
          <a:xfrm>
            <a:off x="5029200" y="186537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La Ciudad de México fue la entidad federativa con el </a:t>
            </a:r>
            <a:r>
              <a:rPr sz="660" b="1">
                <a:solidFill>
                  <a:srgbClr val="1A4043"/>
                </a:solidFill>
                <a:latin typeface="DejaVu Sans"/>
              </a:rPr>
              <a:t>mayor número de líneas del servicio móvil</a:t>
            </a:r>
            <a:r>
              <a:rPr sz="660" b="0">
                <a:solidFill>
                  <a:srgbClr val="23373A"/>
                </a:solidFill>
                <a:latin typeface="DejaVu Sans"/>
              </a:rPr>
              <a:t> de telefonía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54" name="Rounded Rectangle 53"/>
          <p:cNvSpPr/>
          <p:nvPr/>
        </p:nvSpPr>
        <p:spPr>
          <a:xfrm>
            <a:off x="4572000" y="227228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654296" y="233172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c_wifi_w.png"/>
          <p:cNvPicPr>
            <a:picLocks noChangeAspect="1"/>
          </p:cNvPicPr>
          <p:nvPr/>
        </p:nvPicPr>
        <p:blipFill>
          <a:blip r:embed="rId9"/>
          <a:stretch>
            <a:fillRect/>
          </a:stretch>
        </p:blipFill>
        <p:spPr>
          <a:xfrm>
            <a:off x="4709159" y="2386584"/>
            <a:ext cx="164592" cy="164592"/>
          </a:xfrm>
          <a:prstGeom prst="rect">
            <a:avLst/>
          </a:prstGeom>
        </p:spPr>
      </p:pic>
      <p:sp>
        <p:nvSpPr>
          <p:cNvPr id="57" name="TextBox 56"/>
          <p:cNvSpPr txBox="1"/>
          <p:nvPr/>
        </p:nvSpPr>
        <p:spPr>
          <a:xfrm>
            <a:off x="5029200" y="2299715"/>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En el servicio móvil de acceso a Internet se tuvieron </a:t>
            </a:r>
            <a:r>
              <a:rPr sz="660" b="1">
                <a:solidFill>
                  <a:srgbClr val="1A4043"/>
                </a:solidFill>
                <a:latin typeface="DejaVu Sans"/>
              </a:rPr>
              <a:t>96 líneas</a:t>
            </a:r>
            <a:r>
              <a:rPr sz="660" b="0">
                <a:solidFill>
                  <a:srgbClr val="23373A"/>
                </a:solidFill>
                <a:latin typeface="DejaVu Sans"/>
              </a:rPr>
              <a:t> por cada 100 habitantes.</a:t>
            </a:r>
          </a:p>
          <a:p>
            <a:pPr>
              <a:spcBef>
                <a:spcPts val="150"/>
              </a:spcBef>
            </a:pPr>
            <a:r>
              <a:rPr sz="450" b="0">
                <a:solidFill>
                  <a:srgbClr val="5F7476"/>
                </a:solidFill>
                <a:latin typeface="DejaVu Sans"/>
              </a:rPr>
              <a:t>Fuente: IFT con datos de los operadores de telecomunicaciones a diciembre de 2023, proyecciones de población del CONAPO y del INEGI 2023.</a:t>
            </a:r>
          </a:p>
        </p:txBody>
      </p:sp>
      <p:sp>
        <p:nvSpPr>
          <p:cNvPr id="58" name="Rounded Rectangle 57"/>
          <p:cNvSpPr/>
          <p:nvPr/>
        </p:nvSpPr>
        <p:spPr>
          <a:xfrm>
            <a:off x="4572000" y="2706624"/>
            <a:ext cx="4297680" cy="393192"/>
          </a:xfrm>
          <a:prstGeom prst="roundRect">
            <a:avLst>
              <a:gd name="adj" fmla="val 13953"/>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654296" y="2766060"/>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ic_pin_w.png"/>
          <p:cNvPicPr>
            <a:picLocks noChangeAspect="1"/>
          </p:cNvPicPr>
          <p:nvPr/>
        </p:nvPicPr>
        <p:blipFill>
          <a:blip r:embed="rId8"/>
          <a:stretch>
            <a:fillRect/>
          </a:stretch>
        </p:blipFill>
        <p:spPr>
          <a:xfrm>
            <a:off x="4709159" y="2820924"/>
            <a:ext cx="164592" cy="164592"/>
          </a:xfrm>
          <a:prstGeom prst="rect">
            <a:avLst/>
          </a:prstGeom>
        </p:spPr>
      </p:pic>
      <p:sp>
        <p:nvSpPr>
          <p:cNvPr id="61" name="TextBox 60"/>
          <p:cNvSpPr txBox="1"/>
          <p:nvPr/>
        </p:nvSpPr>
        <p:spPr>
          <a:xfrm>
            <a:off x="5029200" y="2734056"/>
            <a:ext cx="3749040" cy="338328"/>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Chiapas fue la entidad federativa con el </a:t>
            </a:r>
            <a:r>
              <a:rPr sz="660" b="1">
                <a:solidFill>
                  <a:srgbClr val="1A4043"/>
                </a:solidFill>
                <a:latin typeface="DejaVu Sans"/>
              </a:rPr>
              <a:t>menor número de líneas del servicio móvil</a:t>
            </a:r>
            <a:r>
              <a:rPr sz="660" b="0">
                <a:solidFill>
                  <a:srgbClr val="23373A"/>
                </a:solidFill>
                <a:latin typeface="DejaVu Sans"/>
              </a:rPr>
              <a:t> de acceso a Internet por cada 100 habitantes.</a:t>
            </a:r>
          </a:p>
          <a:p>
            <a:pPr>
              <a:spcBef>
                <a:spcPts val="150"/>
              </a:spcBef>
            </a:pPr>
            <a:r>
              <a:rPr sz="450" b="0">
                <a:solidFill>
                  <a:srgbClr val="5F7476"/>
                </a:solidFill>
                <a:latin typeface="DejaVu Sans"/>
              </a:rPr>
              <a:t>Fuente: IFT con datos de los operadores de telecomunicaciones a diciembre de 2023 y de la ENDUTIH 2023.</a:t>
            </a:r>
          </a:p>
        </p:txBody>
      </p:sp>
      <p:sp>
        <p:nvSpPr>
          <p:cNvPr id="62" name="Rounded Rectangle 61"/>
          <p:cNvSpPr/>
          <p:nvPr/>
        </p:nvSpPr>
        <p:spPr>
          <a:xfrm>
            <a:off x="4572000" y="3140964"/>
            <a:ext cx="4297680" cy="548640"/>
          </a:xfrm>
          <a:prstGeom prst="roundRect">
            <a:avLst>
              <a:gd name="adj" fmla="val 10000"/>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654296" y="3278124"/>
            <a:ext cx="274320" cy="27432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c_app_w.png"/>
          <p:cNvPicPr>
            <a:picLocks noChangeAspect="1"/>
          </p:cNvPicPr>
          <p:nvPr/>
        </p:nvPicPr>
        <p:blipFill>
          <a:blip r:embed="rId10"/>
          <a:stretch>
            <a:fillRect/>
          </a:stretch>
        </p:blipFill>
        <p:spPr>
          <a:xfrm>
            <a:off x="4709159" y="3332988"/>
            <a:ext cx="164592" cy="164592"/>
          </a:xfrm>
          <a:prstGeom prst="rect">
            <a:avLst/>
          </a:prstGeom>
        </p:spPr>
      </p:pic>
      <p:sp>
        <p:nvSpPr>
          <p:cNvPr id="65" name="TextBox 64"/>
          <p:cNvSpPr txBox="1"/>
          <p:nvPr/>
        </p:nvSpPr>
        <p:spPr>
          <a:xfrm>
            <a:off x="5029200" y="3168396"/>
            <a:ext cx="3749040" cy="493776"/>
          </a:xfrm>
          <a:prstGeom prst="rect">
            <a:avLst/>
          </a:prstGeom>
          <a:noFill/>
        </p:spPr>
        <p:txBody>
          <a:bodyPr wrap="square" anchor="ctr" lIns="0" rIns="0" tIns="0" bIns="0">
            <a:spAutoFit/>
          </a:bodyPr>
          <a:lstStyle/>
          <a:p>
            <a:pPr>
              <a:lnSpc>
                <a:spcPct val="103000"/>
              </a:lnSpc>
            </a:pPr>
            <a:r>
              <a:rPr sz="660" b="0">
                <a:solidFill>
                  <a:srgbClr val="23373A"/>
                </a:solidFill>
                <a:latin typeface="DejaVu Sans"/>
              </a:rPr>
              <a:t>El </a:t>
            </a:r>
            <a:r>
              <a:rPr sz="660" b="1">
                <a:solidFill>
                  <a:srgbClr val="1A4043"/>
                </a:solidFill>
                <a:latin typeface="DejaVu Sans"/>
              </a:rPr>
              <a:t>62.7%</a:t>
            </a:r>
            <a:r>
              <a:rPr sz="660" b="0">
                <a:solidFill>
                  <a:srgbClr val="23373A"/>
                </a:solidFill>
                <a:latin typeface="DejaVu Sans"/>
              </a:rPr>
              <a:t> de las MiPymes señaló que contar con una aplicación móvil para su empresa o negocio tiene como beneficio que el contacto con los clientes es más rápido.</a:t>
            </a:r>
          </a:p>
          <a:p>
            <a:pPr>
              <a:spcBef>
                <a:spcPts val="150"/>
              </a:spcBef>
            </a:pPr>
            <a:r>
              <a:rPr sz="450" b="0">
                <a:solidFill>
                  <a:srgbClr val="5F7476"/>
                </a:solidFill>
                <a:latin typeface="DejaVu Sans"/>
              </a:rPr>
              <a:t>Fuente: IFT con datos de la “Cuarta Encuesta 2023. Usuarios de Servicios de Telecomunicaciones (micro, pequeñas y medianas empresas)”. Para mayor información consultar: https://www.ift.org.mx/usuarios-y-audiencias/encuestas-trimestrales.</a:t>
            </a:r>
          </a:p>
          <a:p>
            <a:pPr>
              <a:spcBef>
                <a:spcPts val="0"/>
              </a:spcBef>
            </a:pPr>
            <a:r>
              <a:rPr sz="450" b="0">
                <a:solidFill>
                  <a:srgbClr val="5F7476"/>
                </a:solidFill>
                <a:latin typeface="DejaVu Sans"/>
              </a:rPr>
              <a:t>Nota: Indicadores medidos en una escala de 0 a 100.</a:t>
            </a:r>
          </a:p>
        </p:txBody>
      </p:sp>
      <p:sp>
        <p:nvSpPr>
          <p:cNvPr id="66" name="TextBox 65"/>
          <p:cNvSpPr txBox="1"/>
          <p:nvPr/>
        </p:nvSpPr>
        <p:spPr>
          <a:xfrm>
            <a:off x="274320" y="3886200"/>
            <a:ext cx="5486400" cy="182880"/>
          </a:xfrm>
          <a:prstGeom prst="rect">
            <a:avLst/>
          </a:prstGeom>
          <a:noFill/>
        </p:spPr>
        <p:txBody>
          <a:bodyPr wrap="square" anchor="ctr" lIns="0" rIns="0" tIns="0" bIns="0">
            <a:spAutoFit/>
          </a:bodyPr>
          <a:lstStyle/>
          <a:p>
            <a:r>
              <a:rPr sz="850" b="1">
                <a:solidFill>
                  <a:srgbClr val="1A4043"/>
                </a:solidFill>
                <a:latin typeface="DejaVu Sans"/>
              </a:rPr>
              <a:t>CONSUMO DE RADIO Y TELEVISIÓN</a:t>
            </a:r>
          </a:p>
        </p:txBody>
      </p:sp>
      <p:sp>
        <p:nvSpPr>
          <p:cNvPr id="67" name="Rectangle 66"/>
          <p:cNvSpPr/>
          <p:nvPr/>
        </p:nvSpPr>
        <p:spPr>
          <a:xfrm>
            <a:off x="274320" y="4073652"/>
            <a:ext cx="457200" cy="2286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274320" y="4169663"/>
            <a:ext cx="416052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7432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02336" y="4224527"/>
            <a:ext cx="2468879"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Escucharon la radio</a:t>
            </a:r>
          </a:p>
          <a:p>
            <a:pPr>
              <a:lnSpc>
                <a:spcPct val="103000"/>
              </a:lnSpc>
            </a:pPr>
            <a:r>
              <a:rPr sz="660" b="0">
                <a:solidFill>
                  <a:srgbClr val="23373A"/>
                </a:solidFill>
                <a:latin typeface="DejaVu Sans"/>
              </a:rPr>
              <a:t>La proporción de personas que escucharon la radio alcanzó su máximo entre las </a:t>
            </a:r>
            <a:r>
              <a:rPr sz="660" b="1">
                <a:solidFill>
                  <a:srgbClr val="1A4043"/>
                </a:solidFill>
                <a:latin typeface="DejaVu Sans"/>
              </a:rPr>
              <a:t>9 y 10 de la mañana</a:t>
            </a:r>
            <a:r>
              <a:rPr sz="660" b="0">
                <a:solidFill>
                  <a:srgbClr val="23373A"/>
                </a:solidFill>
                <a:latin typeface="DejaVu Sans"/>
              </a:rPr>
              <a:t>.</a:t>
            </a:r>
          </a:p>
        </p:txBody>
      </p:sp>
      <p:sp>
        <p:nvSpPr>
          <p:cNvPr id="71" name="Oval 70"/>
          <p:cNvSpPr/>
          <p:nvPr/>
        </p:nvSpPr>
        <p:spPr>
          <a:xfrm>
            <a:off x="300837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2" name="Picture 71" descr="ic_user_w.png"/>
          <p:cNvPicPr>
            <a:picLocks noChangeAspect="1"/>
          </p:cNvPicPr>
          <p:nvPr/>
        </p:nvPicPr>
        <p:blipFill>
          <a:blip r:embed="rId11"/>
          <a:stretch>
            <a:fillRect/>
          </a:stretch>
        </p:blipFill>
        <p:spPr>
          <a:xfrm>
            <a:off x="3040379" y="4256531"/>
            <a:ext cx="118872" cy="118872"/>
          </a:xfrm>
          <a:prstGeom prst="rect">
            <a:avLst/>
          </a:prstGeom>
        </p:spPr>
      </p:pic>
      <p:sp>
        <p:nvSpPr>
          <p:cNvPr id="73" name="TextBox 72"/>
          <p:cNvSpPr txBox="1"/>
          <p:nvPr/>
        </p:nvSpPr>
        <p:spPr>
          <a:xfrm>
            <a:off x="321868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74" name="TextBox 73"/>
          <p:cNvSpPr txBox="1"/>
          <p:nvPr/>
        </p:nvSpPr>
        <p:spPr>
          <a:xfrm>
            <a:off x="295351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8.5%</a:t>
            </a:r>
          </a:p>
        </p:txBody>
      </p:sp>
      <p:sp>
        <p:nvSpPr>
          <p:cNvPr id="75" name="Oval 74"/>
          <p:cNvSpPr/>
          <p:nvPr/>
        </p:nvSpPr>
        <p:spPr>
          <a:xfrm>
            <a:off x="3739895"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c_user_w.png"/>
          <p:cNvPicPr>
            <a:picLocks noChangeAspect="1"/>
          </p:cNvPicPr>
          <p:nvPr/>
        </p:nvPicPr>
        <p:blipFill>
          <a:blip r:embed="rId11"/>
          <a:stretch>
            <a:fillRect/>
          </a:stretch>
        </p:blipFill>
        <p:spPr>
          <a:xfrm>
            <a:off x="3771899" y="4256531"/>
            <a:ext cx="118872" cy="118872"/>
          </a:xfrm>
          <a:prstGeom prst="rect">
            <a:avLst/>
          </a:prstGeom>
        </p:spPr>
      </p:pic>
      <p:sp>
        <p:nvSpPr>
          <p:cNvPr id="77" name="TextBox 76"/>
          <p:cNvSpPr txBox="1"/>
          <p:nvPr/>
        </p:nvSpPr>
        <p:spPr>
          <a:xfrm>
            <a:off x="395020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78" name="TextBox 77"/>
          <p:cNvSpPr txBox="1"/>
          <p:nvPr/>
        </p:nvSpPr>
        <p:spPr>
          <a:xfrm>
            <a:off x="368503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11.09%</a:t>
            </a:r>
          </a:p>
        </p:txBody>
      </p:sp>
      <p:sp>
        <p:nvSpPr>
          <p:cNvPr id="79" name="Rounded Rectangle 78"/>
          <p:cNvSpPr/>
          <p:nvPr/>
        </p:nvSpPr>
        <p:spPr>
          <a:xfrm>
            <a:off x="4572000" y="4169663"/>
            <a:ext cx="4297680" cy="566928"/>
          </a:xfrm>
          <a:prstGeom prst="roundRect">
            <a:avLst>
              <a:gd name="adj" fmla="val 9677"/>
            </a:avLst>
          </a:prstGeom>
          <a:solidFill>
            <a:srgbClr val="FFFFFF"/>
          </a:solidFill>
          <a:ln w="9525">
            <a:solidFill>
              <a:srgbClr val="D3E3E0"/>
            </a:solid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572000" y="4224527"/>
            <a:ext cx="41148" cy="457200"/>
          </a:xfrm>
          <a:prstGeom prst="rect">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700016" y="4224527"/>
            <a:ext cx="2606040" cy="475488"/>
          </a:xfrm>
          <a:prstGeom prst="rect">
            <a:avLst/>
          </a:prstGeom>
          <a:noFill/>
        </p:spPr>
        <p:txBody>
          <a:bodyPr wrap="square" anchor="ctr" lIns="0" rIns="0" tIns="0" bIns="0">
            <a:spAutoFit/>
          </a:bodyPr>
          <a:lstStyle/>
          <a:p>
            <a:pPr>
              <a:spcAft>
                <a:spcPts val="150"/>
              </a:spcAft>
            </a:pPr>
            <a:r>
              <a:rPr sz="750" b="1">
                <a:solidFill>
                  <a:srgbClr val="1A4043"/>
                </a:solidFill>
                <a:latin typeface="DejaVu Sans"/>
              </a:rPr>
              <a:t>Vieron la televisión</a:t>
            </a:r>
          </a:p>
          <a:p>
            <a:pPr>
              <a:lnSpc>
                <a:spcPct val="103000"/>
              </a:lnSpc>
            </a:pPr>
            <a:r>
              <a:rPr sz="660" b="0">
                <a:solidFill>
                  <a:srgbClr val="23373A"/>
                </a:solidFill>
                <a:latin typeface="DejaVu Sans"/>
              </a:rPr>
              <a:t>Por su parte, el mayor porcentaje de personas viendo la televisión se alcanzó entre las </a:t>
            </a:r>
            <a:r>
              <a:rPr sz="660" b="1">
                <a:solidFill>
                  <a:srgbClr val="1A4043"/>
                </a:solidFill>
                <a:latin typeface="DejaVu Sans"/>
              </a:rPr>
              <a:t>9 y 10 de la noche</a:t>
            </a:r>
            <a:r>
              <a:rPr sz="660" b="0">
                <a:solidFill>
                  <a:srgbClr val="23373A"/>
                </a:solidFill>
                <a:latin typeface="DejaVu Sans"/>
              </a:rPr>
              <a:t>.</a:t>
            </a:r>
          </a:p>
        </p:txBody>
      </p:sp>
      <p:sp>
        <p:nvSpPr>
          <p:cNvPr id="82" name="Oval 81"/>
          <p:cNvSpPr/>
          <p:nvPr/>
        </p:nvSpPr>
        <p:spPr>
          <a:xfrm>
            <a:off x="7443215" y="4224527"/>
            <a:ext cx="182880" cy="182880"/>
          </a:xfrm>
          <a:prstGeom prst="ellipse">
            <a:avLst/>
          </a:prstGeom>
          <a:solidFill>
            <a:srgbClr val="4A7D76"/>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3" name="Picture 82" descr="ic_user_w.png"/>
          <p:cNvPicPr>
            <a:picLocks noChangeAspect="1"/>
          </p:cNvPicPr>
          <p:nvPr/>
        </p:nvPicPr>
        <p:blipFill>
          <a:blip r:embed="rId11"/>
          <a:stretch>
            <a:fillRect/>
          </a:stretch>
        </p:blipFill>
        <p:spPr>
          <a:xfrm>
            <a:off x="7475219" y="4256531"/>
            <a:ext cx="118872" cy="118872"/>
          </a:xfrm>
          <a:prstGeom prst="rect">
            <a:avLst/>
          </a:prstGeom>
        </p:spPr>
      </p:pic>
      <p:sp>
        <p:nvSpPr>
          <p:cNvPr id="84" name="TextBox 83"/>
          <p:cNvSpPr txBox="1"/>
          <p:nvPr/>
        </p:nvSpPr>
        <p:spPr>
          <a:xfrm>
            <a:off x="7653527" y="4224527"/>
            <a:ext cx="457200" cy="182880"/>
          </a:xfrm>
          <a:prstGeom prst="rect">
            <a:avLst/>
          </a:prstGeom>
          <a:noFill/>
        </p:spPr>
        <p:txBody>
          <a:bodyPr wrap="square" anchor="ctr" lIns="0" rIns="0" tIns="0" bIns="0">
            <a:spAutoFit/>
          </a:bodyPr>
          <a:lstStyle/>
          <a:p>
            <a:r>
              <a:rPr sz="580" b="0">
                <a:solidFill>
                  <a:srgbClr val="5F7476"/>
                </a:solidFill>
                <a:latin typeface="DejaVu Sans"/>
              </a:rPr>
              <a:t>Mujeres</a:t>
            </a:r>
          </a:p>
        </p:txBody>
      </p:sp>
      <p:sp>
        <p:nvSpPr>
          <p:cNvPr id="85" name="TextBox 84"/>
          <p:cNvSpPr txBox="1"/>
          <p:nvPr/>
        </p:nvSpPr>
        <p:spPr>
          <a:xfrm>
            <a:off x="7388351" y="4443983"/>
            <a:ext cx="694944" cy="237744"/>
          </a:xfrm>
          <a:prstGeom prst="rect">
            <a:avLst/>
          </a:prstGeom>
          <a:noFill/>
        </p:spPr>
        <p:txBody>
          <a:bodyPr wrap="square" anchor="ctr" lIns="0" rIns="0" tIns="0" bIns="0">
            <a:spAutoFit/>
          </a:bodyPr>
          <a:lstStyle/>
          <a:p>
            <a:pPr algn="ctr"/>
            <a:r>
              <a:rPr sz="1150" b="1">
                <a:solidFill>
                  <a:srgbClr val="4A7D76"/>
                </a:solidFill>
                <a:latin typeface="DejaVu Sans"/>
              </a:rPr>
              <a:t>16.46%</a:t>
            </a:r>
          </a:p>
        </p:txBody>
      </p:sp>
      <p:sp>
        <p:nvSpPr>
          <p:cNvPr id="86" name="Oval 85"/>
          <p:cNvSpPr/>
          <p:nvPr/>
        </p:nvSpPr>
        <p:spPr>
          <a:xfrm>
            <a:off x="8174736" y="4224527"/>
            <a:ext cx="182880" cy="182880"/>
          </a:xfrm>
          <a:prstGeom prst="ellipse">
            <a:avLst/>
          </a:prstGeom>
          <a:solidFill>
            <a:srgbClr val="1A4043"/>
          </a:solidFill>
          <a:ln>
            <a:noFill/>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7" name="Picture 86" descr="ic_user_w.png"/>
          <p:cNvPicPr>
            <a:picLocks noChangeAspect="1"/>
          </p:cNvPicPr>
          <p:nvPr/>
        </p:nvPicPr>
        <p:blipFill>
          <a:blip r:embed="rId11"/>
          <a:stretch>
            <a:fillRect/>
          </a:stretch>
        </p:blipFill>
        <p:spPr>
          <a:xfrm>
            <a:off x="8206740" y="4256531"/>
            <a:ext cx="118872" cy="118872"/>
          </a:xfrm>
          <a:prstGeom prst="rect">
            <a:avLst/>
          </a:prstGeom>
        </p:spPr>
      </p:pic>
      <p:sp>
        <p:nvSpPr>
          <p:cNvPr id="88" name="TextBox 87"/>
          <p:cNvSpPr txBox="1"/>
          <p:nvPr/>
        </p:nvSpPr>
        <p:spPr>
          <a:xfrm>
            <a:off x="8385047" y="4224527"/>
            <a:ext cx="457200" cy="182880"/>
          </a:xfrm>
          <a:prstGeom prst="rect">
            <a:avLst/>
          </a:prstGeom>
          <a:noFill/>
        </p:spPr>
        <p:txBody>
          <a:bodyPr wrap="square" anchor="ctr" lIns="0" rIns="0" tIns="0" bIns="0">
            <a:spAutoFit/>
          </a:bodyPr>
          <a:lstStyle/>
          <a:p>
            <a:r>
              <a:rPr sz="580" b="0">
                <a:solidFill>
                  <a:srgbClr val="5F7476"/>
                </a:solidFill>
                <a:latin typeface="DejaVu Sans"/>
              </a:rPr>
              <a:t>Hombres</a:t>
            </a:r>
          </a:p>
        </p:txBody>
      </p:sp>
      <p:sp>
        <p:nvSpPr>
          <p:cNvPr id="89" name="TextBox 88"/>
          <p:cNvSpPr txBox="1"/>
          <p:nvPr/>
        </p:nvSpPr>
        <p:spPr>
          <a:xfrm>
            <a:off x="8119871" y="4443983"/>
            <a:ext cx="694944" cy="237744"/>
          </a:xfrm>
          <a:prstGeom prst="rect">
            <a:avLst/>
          </a:prstGeom>
          <a:noFill/>
        </p:spPr>
        <p:txBody>
          <a:bodyPr wrap="square" anchor="ctr" lIns="0" rIns="0" tIns="0" bIns="0">
            <a:spAutoFit/>
          </a:bodyPr>
          <a:lstStyle/>
          <a:p>
            <a:pPr algn="ctr"/>
            <a:r>
              <a:rPr sz="1150" b="1">
                <a:solidFill>
                  <a:srgbClr val="1A4043"/>
                </a:solidFill>
                <a:latin typeface="DejaVu Sans"/>
              </a:rPr>
              <a:t>14.95%</a:t>
            </a:r>
          </a:p>
        </p:txBody>
      </p:sp>
      <p:sp>
        <p:nvSpPr>
          <p:cNvPr id="90" name="TextBox 89"/>
          <p:cNvSpPr txBox="1"/>
          <p:nvPr/>
        </p:nvSpPr>
        <p:spPr>
          <a:xfrm>
            <a:off x="274320" y="4773168"/>
            <a:ext cx="8595360" cy="128016"/>
          </a:xfrm>
          <a:prstGeom prst="rect">
            <a:avLst/>
          </a:prstGeom>
          <a:noFill/>
        </p:spPr>
        <p:txBody>
          <a:bodyPr wrap="square" anchor="t" lIns="0" rIns="0" tIns="0" bIns="0">
            <a:spAutoFit/>
          </a:bodyPr>
          <a:lstStyle/>
          <a:p>
            <a:pPr>
              <a:spcBef>
                <a:spcPts val="150"/>
              </a:spcBef>
            </a:pPr>
            <a:r>
              <a:rPr sz="459" b="0">
                <a:solidFill>
                  <a:srgbClr val="5F7476"/>
                </a:solidFill>
                <a:latin typeface="DejaVu Sans"/>
              </a:rPr>
              <a:t>Fuente: El consumo de radio se obtuvo de la base de datos de INRA a través de software INRAM. El consumo de televisión se obtuvo de la base de datos de Audiencias-Ratings TV de Nielsen IBOPE, software de explotación MSS TV. Datos de julio 2023 a junio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PUNTOS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PUNTOS CLAVE</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a:t>
            </a:r>
          </a:p>
        </p:txBody>
      </p:sp>
      <p:sp>
        <p:nvSpPr>
          <p:cNvPr id="227" name="ANUARIO_REFERENCIA_2024_P10_L001"/>
          <p:cNvSpPr txBox="1"/>
          <p:nvPr/>
        </p:nvSpPr>
        <p:spPr>
          <a:xfrm>
            <a:off x="1000353" y="617172"/>
            <a:ext cx="2527978"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SERVICIOS FIJOS DE TELECOMUNICACIONES</a:t>
            </a:r>
          </a:p>
        </p:txBody>
      </p:sp>
      <p:sp>
        <p:nvSpPr>
          <p:cNvPr id="228" name="ANUARIO_REFERENCIA_2024_P10_L002"/>
          <p:cNvSpPr txBox="1"/>
          <p:nvPr/>
        </p:nvSpPr>
        <p:spPr>
          <a:xfrm>
            <a:off x="1347900" y="4061473"/>
            <a:ext cx="1988175"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DE RADIODIFUSIÓN</a:t>
            </a:r>
          </a:p>
        </p:txBody>
      </p:sp>
      <p:sp>
        <p:nvSpPr>
          <p:cNvPr id="229" name="ANUARIO_REFERENCIA_2024_P10_L003"/>
          <p:cNvSpPr txBox="1"/>
          <p:nvPr/>
        </p:nvSpPr>
        <p:spPr>
          <a:xfrm>
            <a:off x="5184893" y="617172"/>
            <a:ext cx="260450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INDICADORES CON PERSPECTIVA DE GÉNERO</a:t>
            </a:r>
          </a:p>
        </p:txBody>
      </p:sp>
      <p:sp>
        <p:nvSpPr>
          <p:cNvPr id="230" name="ANUARIO_REFERENCIA_2024_P10_L004"/>
          <p:cNvSpPr txBox="1"/>
          <p:nvPr/>
        </p:nvSpPr>
        <p:spPr>
          <a:xfrm>
            <a:off x="4735245" y="2367524"/>
            <a:ext cx="2540137"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USO, CONOCIMIENTO Y PERCEPCIÓN DE LA</a:t>
            </a:r>
          </a:p>
        </p:txBody>
      </p:sp>
      <p:sp>
        <p:nvSpPr>
          <p:cNvPr id="231" name="ANUARIO_REFERENCIA_2024_P10_L005"/>
          <p:cNvSpPr txBox="1"/>
          <p:nvPr/>
        </p:nvSpPr>
        <p:spPr>
          <a:xfrm>
            <a:off x="4735245" y="2490586"/>
            <a:ext cx="2408996" cy="161073"/>
          </a:xfrm>
          <a:prstGeom prst="rect">
            <a:avLst/>
          </a:prstGeom>
          <a:noFill/>
        </p:spPr>
        <p:txBody>
          <a:bodyPr wrap="none" anchor="t" lIns="0" rIns="0" tIns="0" bIns="0">
            <a:noAutofit/>
          </a:bodyPr>
          <a:lstStyle/>
          <a:p>
            <a:pPr>
              <a:spcBef>
                <a:spcPts val="0"/>
              </a:spcBef>
              <a:spcAft>
                <a:spcPts val="0"/>
              </a:spcAft>
            </a:pPr>
            <a:r>
              <a:rPr sz="860" b="1" i="0">
                <a:solidFill>
                  <a:srgbClr val="484979"/>
                </a:solidFill>
                <a:latin typeface="Noto Sans"/>
              </a:rPr>
              <a:t>INTELIGENCIA ARTIFICIAL (IA) Y CHATGPT</a:t>
            </a:r>
          </a:p>
        </p:txBody>
      </p:sp>
      <p:sp>
        <p:nvSpPr>
          <p:cNvPr id="232" name="ANUARIO_REFERENCIA_2024_P10_L006"/>
          <p:cNvSpPr txBox="1"/>
          <p:nvPr/>
        </p:nvSpPr>
        <p:spPr>
          <a:xfrm>
            <a:off x="5262901" y="825016"/>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2023, las mujeres superaron por primera vez a los hombres en el porcentaje uso de Internet. </a:t>
            </a:r>
          </a:p>
        </p:txBody>
      </p:sp>
      <p:sp>
        <p:nvSpPr>
          <p:cNvPr id="233" name="ANUARIO_REFERENCIA_2024_P10_L007"/>
          <p:cNvSpPr txBox="1"/>
          <p:nvPr/>
        </p:nvSpPr>
        <p:spPr>
          <a:xfrm>
            <a:off x="5195296" y="917333"/>
            <a:ext cx="353722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diferencia fue de 0.4 puntos porcentuales, con 81.4% de mujeres conectadas, mientras que los </a:t>
            </a:r>
          </a:p>
        </p:txBody>
      </p:sp>
      <p:sp>
        <p:nvSpPr>
          <p:cNvPr id="234" name="ANUARIO_REFERENCIA_2024_P10_L008"/>
          <p:cNvSpPr txBox="1"/>
          <p:nvPr/>
        </p:nvSpPr>
        <p:spPr>
          <a:xfrm>
            <a:off x="5195296" y="1009651"/>
            <a:ext cx="118361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hombres alcanzaron un 81.0%.</a:t>
            </a:r>
          </a:p>
        </p:txBody>
      </p:sp>
      <p:sp>
        <p:nvSpPr>
          <p:cNvPr id="235" name="ANUARIO_REFERENCIA_2024_P10_L009"/>
          <p:cNvSpPr txBox="1"/>
          <p:nvPr/>
        </p:nvSpPr>
        <p:spPr>
          <a:xfrm>
            <a:off x="5195285" y="1118607"/>
            <a:ext cx="1679586"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Fuente: IFT con datos de la ENDUTIH 2023, del INEGI. </a:t>
            </a:r>
          </a:p>
        </p:txBody>
      </p:sp>
      <p:sp>
        <p:nvSpPr>
          <p:cNvPr id="236" name="ANUARIO_REFERENCIA_2024_P10_L010"/>
          <p:cNvSpPr txBox="1"/>
          <p:nvPr/>
        </p:nvSpPr>
        <p:spPr>
          <a:xfrm>
            <a:off x="1152649" y="1359512"/>
            <a:ext cx="332303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Querétaro fue la entidad federativa con el mayor número de accesos residenciales de </a:t>
            </a:r>
          </a:p>
        </p:txBody>
      </p:sp>
      <p:sp>
        <p:nvSpPr>
          <p:cNvPr id="237" name="ANUARIO_REFERENCIA_2024_P10_L011"/>
          <p:cNvSpPr txBox="1"/>
          <p:nvPr/>
        </p:nvSpPr>
        <p:spPr>
          <a:xfrm>
            <a:off x="1085044" y="1441225"/>
            <a:ext cx="1911049"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televisión restringida por cada 100 hogares con </a:t>
            </a:r>
            <a:r>
              <a:rPr sz="688" b="1" i="0">
                <a:solidFill>
                  <a:srgbClr val="1C2829"/>
                </a:solidFill>
                <a:latin typeface="Noto Sans"/>
              </a:rPr>
              <a:t>94</a:t>
            </a:r>
            <a:r>
              <a:rPr sz="602" b="0" i="0">
                <a:solidFill>
                  <a:srgbClr val="1C2829"/>
                </a:solidFill>
                <a:latin typeface="Noto Sans"/>
              </a:rPr>
              <a:t>.</a:t>
            </a:r>
          </a:p>
        </p:txBody>
      </p:sp>
      <p:sp>
        <p:nvSpPr>
          <p:cNvPr id="238" name="ANUARIO_REFERENCIA_2024_P10_L012"/>
          <p:cNvSpPr txBox="1"/>
          <p:nvPr/>
        </p:nvSpPr>
        <p:spPr>
          <a:xfrm>
            <a:off x="1085033" y="1560752"/>
            <a:ext cx="3385309"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población por entidad federativa del INEGI </a:t>
            </a:r>
          </a:p>
        </p:txBody>
      </p:sp>
      <p:sp>
        <p:nvSpPr>
          <p:cNvPr id="239" name="ANUARIO_REFERENCIA_2024_P10_L013"/>
          <p:cNvSpPr txBox="1"/>
          <p:nvPr/>
        </p:nvSpPr>
        <p:spPr>
          <a:xfrm>
            <a:off x="1085033" y="1622283"/>
            <a:ext cx="591968"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y la ENDUTIH 2023.</a:t>
            </a:r>
          </a:p>
        </p:txBody>
      </p:sp>
      <p:sp>
        <p:nvSpPr>
          <p:cNvPr id="240" name="ANUARIO_REFERENCIA_2024_P10_L014"/>
          <p:cNvSpPr txBox="1"/>
          <p:nvPr/>
        </p:nvSpPr>
        <p:spPr>
          <a:xfrm>
            <a:off x="1152649" y="1021507"/>
            <a:ext cx="332240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En el año 2000, se tenían 14 accesos del servicio por cada 100 hogares. Para diciembre de </a:t>
            </a:r>
          </a:p>
        </p:txBody>
      </p:sp>
      <p:sp>
        <p:nvSpPr>
          <p:cNvPr id="241" name="ANUARIO_REFERENCIA_2024_P10_L015"/>
          <p:cNvSpPr txBox="1"/>
          <p:nvPr/>
        </p:nvSpPr>
        <p:spPr>
          <a:xfrm>
            <a:off x="1085044" y="1103220"/>
            <a:ext cx="1692318"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son </a:t>
            </a:r>
            <a:r>
              <a:rPr sz="688" b="1" i="0">
                <a:solidFill>
                  <a:srgbClr val="1C2829"/>
                </a:solidFill>
                <a:latin typeface="Noto Sans"/>
              </a:rPr>
              <a:t>61 los accesos</a:t>
            </a:r>
            <a:r>
              <a:rPr sz="602" b="0" i="0">
                <a:solidFill>
                  <a:srgbClr val="1C2829"/>
                </a:solidFill>
                <a:latin typeface="Noto Sans"/>
              </a:rPr>
              <a:t> para este servicio. </a:t>
            </a:r>
          </a:p>
        </p:txBody>
      </p:sp>
      <p:sp>
        <p:nvSpPr>
          <p:cNvPr id="242" name="ANUARIO_REFERENCIA_2024_P10_L016"/>
          <p:cNvSpPr txBox="1"/>
          <p:nvPr/>
        </p:nvSpPr>
        <p:spPr>
          <a:xfrm>
            <a:off x="1085033" y="1238134"/>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43" name="ANUARIO_REFERENCIA_2024_P10_L017"/>
          <p:cNvSpPr txBox="1"/>
          <p:nvPr/>
        </p:nvSpPr>
        <p:spPr>
          <a:xfrm>
            <a:off x="1085033" y="879953"/>
            <a:ext cx="98469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Televisión restringida</a:t>
            </a:r>
          </a:p>
        </p:txBody>
      </p:sp>
      <p:sp>
        <p:nvSpPr>
          <p:cNvPr id="244" name="ANUARIO_REFERENCIA_2024_P10_L018"/>
          <p:cNvSpPr txBox="1"/>
          <p:nvPr/>
        </p:nvSpPr>
        <p:spPr>
          <a:xfrm>
            <a:off x="1152649" y="2249708"/>
            <a:ext cx="226914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a:t>
            </a:r>
            <a:r>
              <a:rPr sz="688" b="1" i="0">
                <a:solidFill>
                  <a:srgbClr val="1C2829"/>
                </a:solidFill>
                <a:latin typeface="Noto Sans"/>
              </a:rPr>
              <a:t>89.4%</a:t>
            </a:r>
            <a:r>
              <a:rPr sz="602" b="0" i="0">
                <a:solidFill>
                  <a:srgbClr val="1C2829"/>
                </a:solidFill>
                <a:latin typeface="Noto Sans"/>
              </a:rPr>
              <a:t> de las MiPymes contrata el servicio de Internet fijo.</a:t>
            </a:r>
          </a:p>
        </p:txBody>
      </p:sp>
      <p:sp>
        <p:nvSpPr>
          <p:cNvPr id="245" name="ANUARIO_REFERENCIA_2024_P10_L019"/>
          <p:cNvSpPr txBox="1"/>
          <p:nvPr/>
        </p:nvSpPr>
        <p:spPr>
          <a:xfrm>
            <a:off x="1085044" y="2373068"/>
            <a:ext cx="33900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Consideran que el contar con el servicio trae como beneficios tener más cercanía con sus </a:t>
            </a:r>
          </a:p>
        </p:txBody>
      </p:sp>
      <p:sp>
        <p:nvSpPr>
          <p:cNvPr id="246" name="ANUARIO_REFERENCIA_2024_P10_L020"/>
          <p:cNvSpPr txBox="1"/>
          <p:nvPr/>
        </p:nvSpPr>
        <p:spPr>
          <a:xfrm>
            <a:off x="1085044" y="2460216"/>
            <a:ext cx="877920"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clientes y más ventas. </a:t>
            </a:r>
          </a:p>
        </p:txBody>
      </p:sp>
      <p:sp>
        <p:nvSpPr>
          <p:cNvPr id="247" name="ANUARIO_REFERENCIA_2024_P10_L021"/>
          <p:cNvSpPr txBox="1"/>
          <p:nvPr/>
        </p:nvSpPr>
        <p:spPr>
          <a:xfrm>
            <a:off x="1085033" y="2567200"/>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48" name="ANUARIO_REFERENCIA_2024_P10_L022"/>
          <p:cNvSpPr txBox="1"/>
          <p:nvPr/>
        </p:nvSpPr>
        <p:spPr>
          <a:xfrm>
            <a:off x="1085033" y="2628731"/>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49" name="ANUARIO_REFERENCIA_2024_P10_L023"/>
          <p:cNvSpPr txBox="1"/>
          <p:nvPr/>
        </p:nvSpPr>
        <p:spPr>
          <a:xfrm>
            <a:off x="1085033" y="2690262"/>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0" name="ANUARIO_REFERENCIA_2024_P10_L024"/>
          <p:cNvSpPr txBox="1"/>
          <p:nvPr/>
        </p:nvSpPr>
        <p:spPr>
          <a:xfrm>
            <a:off x="1152649" y="2014644"/>
            <a:ext cx="2518847" cy="137322"/>
          </a:xfrm>
          <a:prstGeom prst="rect">
            <a:avLst/>
          </a:prstGeom>
          <a:noFill/>
        </p:spPr>
        <p:txBody>
          <a:bodyPr wrap="none" anchor="t" lIns="0" rIns="0" tIns="0" bIns="0">
            <a:noAutofit/>
          </a:bodyPr>
          <a:lstStyle/>
          <a:p>
            <a:pPr>
              <a:spcBef>
                <a:spcPts val="0"/>
              </a:spcBef>
              <a:spcAft>
                <a:spcPts val="0"/>
              </a:spcAft>
            </a:pPr>
            <a:r>
              <a:rPr sz="688" b="1" i="0">
                <a:solidFill>
                  <a:srgbClr val="1C2829"/>
                </a:solidFill>
                <a:latin typeface="Noto Sans"/>
              </a:rPr>
              <a:t>65.0%</a:t>
            </a:r>
            <a:r>
              <a:rPr sz="602" b="0" i="0">
                <a:solidFill>
                  <a:srgbClr val="1C2829"/>
                </a:solidFill>
                <a:latin typeface="Noto Sans"/>
              </a:rPr>
              <a:t> de los accesos del servicio se dieron a través de fibra óptica. </a:t>
            </a:r>
          </a:p>
        </p:txBody>
      </p:sp>
      <p:sp>
        <p:nvSpPr>
          <p:cNvPr id="251" name="ANUARIO_REFERENCIA_2024_P10_L025"/>
          <p:cNvSpPr txBox="1"/>
          <p:nvPr/>
        </p:nvSpPr>
        <p:spPr>
          <a:xfrm>
            <a:off x="1085033" y="2126243"/>
            <a:ext cx="1643455"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a diciembre de 2023.</a:t>
            </a:r>
          </a:p>
        </p:txBody>
      </p:sp>
      <p:sp>
        <p:nvSpPr>
          <p:cNvPr id="252" name="ANUARIO_REFERENCIA_2024_P10_L026"/>
          <p:cNvSpPr txBox="1"/>
          <p:nvPr/>
        </p:nvSpPr>
        <p:spPr>
          <a:xfrm>
            <a:off x="1085033" y="1881269"/>
            <a:ext cx="594684"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Internet fijo</a:t>
            </a:r>
          </a:p>
        </p:txBody>
      </p:sp>
      <p:sp>
        <p:nvSpPr>
          <p:cNvPr id="253" name="ANUARIO_REFERENCIA_2024_P10_L027"/>
          <p:cNvSpPr txBox="1"/>
          <p:nvPr/>
        </p:nvSpPr>
        <p:spPr>
          <a:xfrm>
            <a:off x="1152649" y="3413741"/>
            <a:ext cx="3322346"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El Índice General de Satisfacción del servicio de Internet fijo para empresas medianas se </a:t>
            </a:r>
          </a:p>
        </p:txBody>
      </p:sp>
      <p:sp>
        <p:nvSpPr>
          <p:cNvPr id="254" name="ANUARIO_REFERENCIA_2024_P10_L028"/>
          <p:cNvSpPr txBox="1"/>
          <p:nvPr/>
        </p:nvSpPr>
        <p:spPr>
          <a:xfrm>
            <a:off x="1085044" y="3490326"/>
            <a:ext cx="3390404"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ubicó en 2023 con 79.2 puntos; lo que representa un crecimiento del </a:t>
            </a:r>
            <a:r>
              <a:rPr sz="688" b="1" i="0">
                <a:solidFill>
                  <a:srgbClr val="1C2829"/>
                </a:solidFill>
                <a:latin typeface="Noto Sans"/>
              </a:rPr>
              <a:t>7.2%</a:t>
            </a:r>
            <a:r>
              <a:rPr sz="602" b="0" i="0">
                <a:solidFill>
                  <a:srgbClr val="1C2829"/>
                </a:solidFill>
                <a:latin typeface="Noto Sans"/>
              </a:rPr>
              <a:t> respecto a 2022. </a:t>
            </a:r>
          </a:p>
        </p:txBody>
      </p:sp>
      <p:sp>
        <p:nvSpPr>
          <p:cNvPr id="255" name="ANUARIO_REFERENCIA_2024_P10_L029"/>
          <p:cNvSpPr txBox="1"/>
          <p:nvPr/>
        </p:nvSpPr>
        <p:spPr>
          <a:xfrm>
            <a:off x="1085016" y="3588058"/>
            <a:ext cx="2728653"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Esto indica que quienes lo contratan están más satisfechos con el servicio.</a:t>
            </a:r>
          </a:p>
        </p:txBody>
      </p:sp>
      <p:sp>
        <p:nvSpPr>
          <p:cNvPr id="256" name="ANUARIO_REFERENCIA_2024_P10_L030"/>
          <p:cNvSpPr txBox="1"/>
          <p:nvPr/>
        </p:nvSpPr>
        <p:spPr>
          <a:xfrm>
            <a:off x="1085033" y="3697307"/>
            <a:ext cx="3385074"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“Cuarta Encuesta 2023. Usuarios de Servicios de Telecomunicaciones (micro, pequeñas y medianas </a:t>
            </a:r>
          </a:p>
        </p:txBody>
      </p:sp>
      <p:sp>
        <p:nvSpPr>
          <p:cNvPr id="257" name="ANUARIO_REFERENCIA_2024_P10_L031"/>
          <p:cNvSpPr txBox="1"/>
          <p:nvPr/>
        </p:nvSpPr>
        <p:spPr>
          <a:xfrm>
            <a:off x="1085033" y="3758838"/>
            <a:ext cx="303127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empresas”. Para mayor información consultar: </a:t>
            </a:r>
            <a:r>
              <a:rPr sz="430" b="0" i="0">
                <a:solidFill>
                  <a:srgbClr val="484979"/>
                </a:solidFill>
                <a:latin typeface="Noto Sans"/>
              </a:rPr>
              <a:t>https://www.ift.org.mx/usuarios-y-audiencias/encuestas-trimestrales</a:t>
            </a:r>
            <a:r>
              <a:rPr sz="430" b="0" i="0">
                <a:solidFill>
                  <a:srgbClr val="1C2829"/>
                </a:solidFill>
                <a:latin typeface="Noto Sans"/>
              </a:rPr>
              <a:t>. </a:t>
            </a:r>
          </a:p>
        </p:txBody>
      </p:sp>
      <p:sp>
        <p:nvSpPr>
          <p:cNvPr id="258" name="ANUARIO_REFERENCIA_2024_P10_L032"/>
          <p:cNvSpPr txBox="1"/>
          <p:nvPr/>
        </p:nvSpPr>
        <p:spPr>
          <a:xfrm>
            <a:off x="1085033" y="3820369"/>
            <a:ext cx="1418801"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Nota: Indicadores medidos en una escala de 0 a 100.</a:t>
            </a:r>
          </a:p>
        </p:txBody>
      </p:sp>
      <p:sp>
        <p:nvSpPr>
          <p:cNvPr id="259" name="ANUARIO_REFERENCIA_2024_P10_L033"/>
          <p:cNvSpPr txBox="1"/>
          <p:nvPr/>
        </p:nvSpPr>
        <p:spPr>
          <a:xfrm>
            <a:off x="1152649" y="3094278"/>
            <a:ext cx="3322732"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A nivel nacional se tenía en 1971, un total de 11 líneas del servicio por cada 100 hogares. Para </a:t>
            </a:r>
          </a:p>
        </p:txBody>
      </p:sp>
      <p:sp>
        <p:nvSpPr>
          <p:cNvPr id="260" name="ANUARIO_REFERENCIA_2024_P10_L034"/>
          <p:cNvSpPr txBox="1"/>
          <p:nvPr/>
        </p:nvSpPr>
        <p:spPr>
          <a:xfrm>
            <a:off x="1085044" y="3175991"/>
            <a:ext cx="1806501"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2023, se tienen</a:t>
            </a:r>
            <a:r>
              <a:rPr sz="688" b="1" i="0">
                <a:solidFill>
                  <a:srgbClr val="1C2829"/>
                </a:solidFill>
                <a:latin typeface="Noto Sans"/>
              </a:rPr>
              <a:t> 75 líneas</a:t>
            </a:r>
            <a:r>
              <a:rPr sz="602" b="0" i="0">
                <a:solidFill>
                  <a:srgbClr val="1C2829"/>
                </a:solidFill>
                <a:latin typeface="Noto Sans"/>
              </a:rPr>
              <a:t> por cada 100 hogares.</a:t>
            </a:r>
          </a:p>
        </p:txBody>
      </p:sp>
      <p:sp>
        <p:nvSpPr>
          <p:cNvPr id="261" name="ANUARIO_REFERENCIA_2024_P10_L035"/>
          <p:cNvSpPr txBox="1"/>
          <p:nvPr/>
        </p:nvSpPr>
        <p:spPr>
          <a:xfrm>
            <a:off x="1085033" y="3292363"/>
            <a:ext cx="3132402"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los operadores de telecomunicaciones a diciembre de 2023, CONAPO y estimaciones propias. </a:t>
            </a:r>
          </a:p>
        </p:txBody>
      </p:sp>
      <p:sp>
        <p:nvSpPr>
          <p:cNvPr id="262" name="ANUARIO_REFERENCIA_2024_P10_L036"/>
          <p:cNvSpPr txBox="1"/>
          <p:nvPr/>
        </p:nvSpPr>
        <p:spPr>
          <a:xfrm>
            <a:off x="1085033" y="2952733"/>
            <a:ext cx="651121" cy="137322"/>
          </a:xfrm>
          <a:prstGeom prst="rect">
            <a:avLst/>
          </a:prstGeom>
          <a:noFill/>
        </p:spPr>
        <p:txBody>
          <a:bodyPr wrap="none" anchor="t" lIns="0" rIns="0" tIns="0" bIns="0">
            <a:noAutofit/>
          </a:bodyPr>
          <a:lstStyle/>
          <a:p>
            <a:pPr>
              <a:spcBef>
                <a:spcPts val="0"/>
              </a:spcBef>
              <a:spcAft>
                <a:spcPts val="0"/>
              </a:spcAft>
            </a:pPr>
            <a:r>
              <a:rPr sz="688" b="1" i="0">
                <a:solidFill>
                  <a:srgbClr val="484979"/>
                </a:solidFill>
                <a:latin typeface="Noto Sans"/>
              </a:rPr>
              <a:t>Telefonía fija </a:t>
            </a:r>
          </a:p>
        </p:txBody>
      </p:sp>
      <p:sp>
        <p:nvSpPr>
          <p:cNvPr id="263" name="ANUARIO_REFERENCIA_2024_P10_L037"/>
          <p:cNvSpPr txBox="1"/>
          <p:nvPr/>
        </p:nvSpPr>
        <p:spPr>
          <a:xfrm>
            <a:off x="432136" y="4566513"/>
            <a:ext cx="36303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BIT Estatal Concesiones otorgadas de radio AM, FM, y TDT a diciembre de 2023: </a:t>
            </a:r>
            <a:r>
              <a:rPr sz="430" b="0" i="0">
                <a:solidFill>
                  <a:srgbClr val="484979"/>
                </a:solidFill>
                <a:latin typeface="Noto Sans"/>
              </a:rPr>
              <a:t>https://bitestatal.ift.org.mx/#/estado/Nacional </a:t>
            </a:r>
          </a:p>
        </p:txBody>
      </p:sp>
      <p:sp>
        <p:nvSpPr>
          <p:cNvPr id="264" name="ANUARIO_REFERENCIA_2024_P10_L038"/>
          <p:cNvSpPr txBox="1"/>
          <p:nvPr/>
        </p:nvSpPr>
        <p:spPr>
          <a:xfrm>
            <a:off x="4735244" y="2673766"/>
            <a:ext cx="282623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De acuerdo con un Estudio cualitativo de conocimiento y percepción de IA y </a:t>
            </a:r>
          </a:p>
        </p:txBody>
      </p:sp>
      <p:sp>
        <p:nvSpPr>
          <p:cNvPr id="265" name="ANUARIO_REFERENCIA_2024_P10_L039"/>
          <p:cNvSpPr txBox="1"/>
          <p:nvPr/>
        </p:nvSpPr>
        <p:spPr>
          <a:xfrm>
            <a:off x="4735244" y="2766083"/>
            <a:ext cx="2826475"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ChatGPT, las personas participantes consideraron que estas herramientas son </a:t>
            </a:r>
          </a:p>
        </p:txBody>
      </p:sp>
      <p:sp>
        <p:nvSpPr>
          <p:cNvPr id="266" name="ANUARIO_REFERENCIA_2024_P10_L040"/>
          <p:cNvSpPr txBox="1"/>
          <p:nvPr/>
        </p:nvSpPr>
        <p:spPr>
          <a:xfrm>
            <a:off x="4735244" y="2858400"/>
            <a:ext cx="2826780"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accesibles y aportan beneficios significativos en diferentes áreas de la vida como </a:t>
            </a:r>
          </a:p>
        </p:txBody>
      </p:sp>
      <p:sp>
        <p:nvSpPr>
          <p:cNvPr id="267" name="ANUARIO_REFERENCIA_2024_P10_L041"/>
          <p:cNvSpPr txBox="1"/>
          <p:nvPr/>
        </p:nvSpPr>
        <p:spPr>
          <a:xfrm>
            <a:off x="4735244" y="2950717"/>
            <a:ext cx="282628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son; laboral, escolar, salud y hogar. Algunas desventajas que se mencionaron, es </a:t>
            </a:r>
          </a:p>
        </p:txBody>
      </p:sp>
      <p:sp>
        <p:nvSpPr>
          <p:cNvPr id="268" name="ANUARIO_REFERENCIA_2024_P10_L042"/>
          <p:cNvSpPr txBox="1"/>
          <p:nvPr/>
        </p:nvSpPr>
        <p:spPr>
          <a:xfrm>
            <a:off x="4735244" y="3043034"/>
            <a:ext cx="2374304"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que no se da la protección de privacidad de datos y los ciberdelitos.</a:t>
            </a:r>
          </a:p>
        </p:txBody>
      </p:sp>
      <p:sp>
        <p:nvSpPr>
          <p:cNvPr id="269" name="ANUARIO_REFERENCIA_2024_P10_L043"/>
          <p:cNvSpPr txBox="1"/>
          <p:nvPr/>
        </p:nvSpPr>
        <p:spPr>
          <a:xfrm>
            <a:off x="4735244" y="3185445"/>
            <a:ext cx="2821724" cy="109728"/>
          </a:xfrm>
          <a:prstGeom prst="rect">
            <a:avLst/>
          </a:prstGeom>
          <a:noFill/>
        </p:spPr>
        <p:txBody>
          <a:bodyPr wrap="none" anchor="t" lIns="0" rIns="0" tIns="0" bIns="0">
            <a:noAutofit/>
          </a:bodyPr>
          <a:lstStyle/>
          <a:p>
            <a:pPr>
              <a:spcBef>
                <a:spcPts val="0"/>
              </a:spcBef>
              <a:spcAft>
                <a:spcPts val="0"/>
              </a:spcAft>
            </a:pPr>
            <a:r>
              <a:rPr sz="421" b="0" i="0">
                <a:solidFill>
                  <a:srgbClr val="1C2829"/>
                </a:solidFill>
                <a:latin typeface="Noto Sans"/>
              </a:rPr>
              <a:t>Fuente: IFT, con información del Estudio Cualitativo. Conocimiento y Percepción Sobre La Inteligencia Artificial </a:t>
            </a:r>
          </a:p>
        </p:txBody>
      </p:sp>
      <p:sp>
        <p:nvSpPr>
          <p:cNvPr id="270" name="ANUARIO_REFERENCIA_2024_P10_L044"/>
          <p:cNvSpPr txBox="1"/>
          <p:nvPr/>
        </p:nvSpPr>
        <p:spPr>
          <a:xfrm>
            <a:off x="4735244" y="3246976"/>
            <a:ext cx="2809419" cy="109728"/>
          </a:xfrm>
          <a:prstGeom prst="rect">
            <a:avLst/>
          </a:prstGeom>
          <a:noFill/>
        </p:spPr>
        <p:txBody>
          <a:bodyPr wrap="none" anchor="t" lIns="0" rIns="0" tIns="0" bIns="0">
            <a:noAutofit/>
          </a:bodyPr>
          <a:lstStyle/>
          <a:p>
            <a:pPr>
              <a:spcBef>
                <a:spcPts val="0"/>
              </a:spcBef>
              <a:spcAft>
                <a:spcPts val="0"/>
              </a:spcAft>
            </a:pPr>
            <a:r>
              <a:rPr sz="428" b="0" i="0">
                <a:solidFill>
                  <a:srgbClr val="1C2829"/>
                </a:solidFill>
                <a:latin typeface="Noto Sans"/>
              </a:rPr>
              <a:t>(IA) y ChatGPT 2023. Para más información consultar: </a:t>
            </a:r>
            <a:r>
              <a:rPr sz="428" b="0" i="0">
                <a:solidFill>
                  <a:srgbClr val="484979"/>
                </a:solidFill>
                <a:latin typeface="Noto Sans"/>
              </a:rPr>
              <a:t>https://www.ift.org.mx/usuarios-y-audiencias/estudio-</a:t>
            </a:r>
          </a:p>
        </p:txBody>
      </p:sp>
      <p:sp>
        <p:nvSpPr>
          <p:cNvPr id="271" name="ANUARIO_REFERENCIA_2024_P10_L045"/>
          <p:cNvSpPr txBox="1"/>
          <p:nvPr/>
        </p:nvSpPr>
        <p:spPr>
          <a:xfrm>
            <a:off x="4735244" y="3308507"/>
            <a:ext cx="2355336" cy="109728"/>
          </a:xfrm>
          <a:prstGeom prst="rect">
            <a:avLst/>
          </a:prstGeom>
          <a:noFill/>
        </p:spPr>
        <p:txBody>
          <a:bodyPr wrap="none" anchor="t" lIns="0" rIns="0" tIns="0" bIns="0">
            <a:noAutofit/>
          </a:bodyPr>
          <a:lstStyle/>
          <a:p>
            <a:pPr>
              <a:spcBef>
                <a:spcPts val="0"/>
              </a:spcBef>
              <a:spcAft>
                <a:spcPts val="0"/>
              </a:spcAft>
            </a:pPr>
            <a:r>
              <a:rPr sz="430" b="0" i="0">
                <a:solidFill>
                  <a:srgbClr val="484979"/>
                </a:solidFill>
                <a:latin typeface="Noto Sans"/>
              </a:rPr>
              <a:t>cualitativo-conocimiento-y-percepcion-sobre-la-inteligencia-artificial-ia-y-chatgpt-2023</a:t>
            </a:r>
          </a:p>
        </p:txBody>
      </p:sp>
      <p:sp>
        <p:nvSpPr>
          <p:cNvPr id="272" name="ANUARIO_REFERENCIA_2024_P10_L046"/>
          <p:cNvSpPr txBox="1"/>
          <p:nvPr/>
        </p:nvSpPr>
        <p:spPr>
          <a:xfrm>
            <a:off x="5262901" y="1223220"/>
            <a:ext cx="3469618" cy="123221"/>
          </a:xfrm>
          <a:prstGeom prst="rect">
            <a:avLst/>
          </a:prstGeom>
          <a:noFill/>
        </p:spPr>
        <p:txBody>
          <a:bodyPr wrap="none" anchor="t" lIns="0" rIns="0" tIns="0" bIns="0">
            <a:noAutofit/>
          </a:bodyPr>
          <a:lstStyle/>
          <a:p>
            <a:pPr>
              <a:spcBef>
                <a:spcPts val="0"/>
              </a:spcBef>
              <a:spcAft>
                <a:spcPts val="0"/>
              </a:spcAft>
            </a:pPr>
            <a:r>
              <a:rPr sz="596" b="0" i="0">
                <a:solidFill>
                  <a:srgbClr val="1C2829"/>
                </a:solidFill>
                <a:latin typeface="Noto Sans"/>
              </a:rPr>
              <a:t>Las mujeres (38%) leen más periódicos, revistas o libros a través de Internet que los hombres (36%).</a:t>
            </a:r>
          </a:p>
        </p:txBody>
      </p:sp>
      <p:sp>
        <p:nvSpPr>
          <p:cNvPr id="273" name="ANUARIO_REFERENCIA_2024_P10_L047"/>
          <p:cNvSpPr txBox="1"/>
          <p:nvPr/>
        </p:nvSpPr>
        <p:spPr>
          <a:xfrm>
            <a:off x="5195274" y="1337241"/>
            <a:ext cx="1461743"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2023, del INEGI.</a:t>
            </a:r>
          </a:p>
        </p:txBody>
      </p:sp>
      <p:sp>
        <p:nvSpPr>
          <p:cNvPr id="274" name="ANUARIO_REFERENCIA_2024_P10_L048"/>
          <p:cNvSpPr txBox="1"/>
          <p:nvPr/>
        </p:nvSpPr>
        <p:spPr>
          <a:xfrm>
            <a:off x="5262901" y="1508547"/>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Los hombres utilizan en mayor proporción (88%) la computadora para descargar contenido de </a:t>
            </a:r>
          </a:p>
        </p:txBody>
      </p:sp>
      <p:sp>
        <p:nvSpPr>
          <p:cNvPr id="275" name="ANUARIO_REFERENCIA_2024_P10_L049"/>
          <p:cNvSpPr txBox="1"/>
          <p:nvPr/>
        </p:nvSpPr>
        <p:spPr>
          <a:xfrm>
            <a:off x="5195296" y="1600865"/>
            <a:ext cx="120175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Internet que las mujeres (87%).</a:t>
            </a:r>
          </a:p>
        </p:txBody>
      </p:sp>
      <p:sp>
        <p:nvSpPr>
          <p:cNvPr id="276" name="ANUARIO_REFERENCIA_2024_P10_L050"/>
          <p:cNvSpPr txBox="1"/>
          <p:nvPr/>
        </p:nvSpPr>
        <p:spPr>
          <a:xfrm>
            <a:off x="5195285" y="1710278"/>
            <a:ext cx="1490040"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 la ENDUTIH 2022, del INEGI.  </a:t>
            </a:r>
          </a:p>
        </p:txBody>
      </p:sp>
      <p:sp>
        <p:nvSpPr>
          <p:cNvPr id="277" name="ANUARIO_REFERENCIA_2024_P10_L051"/>
          <p:cNvSpPr txBox="1"/>
          <p:nvPr/>
        </p:nvSpPr>
        <p:spPr>
          <a:xfrm>
            <a:off x="5262901" y="1916125"/>
            <a:ext cx="3469618"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La población de 12 años y más que vivió ciberacoso en mayor medida, se presentó en el Estado de </a:t>
            </a:r>
          </a:p>
        </p:txBody>
      </p:sp>
      <p:sp>
        <p:nvSpPr>
          <p:cNvPr id="278" name="ANUARIO_REFERENCIA_2024_P10_L052"/>
          <p:cNvSpPr txBox="1"/>
          <p:nvPr/>
        </p:nvSpPr>
        <p:spPr>
          <a:xfrm>
            <a:off x="5195296" y="2008442"/>
            <a:ext cx="2059079"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México (13.1%), Jalisco (7.8%) y Ciudad de México (7.1%).</a:t>
            </a:r>
          </a:p>
        </p:txBody>
      </p:sp>
      <p:sp>
        <p:nvSpPr>
          <p:cNvPr id="279" name="ANUARIO_REFERENCIA_2024_P10_L053"/>
          <p:cNvSpPr txBox="1"/>
          <p:nvPr/>
        </p:nvSpPr>
        <p:spPr>
          <a:xfrm>
            <a:off x="5195291" y="2114931"/>
            <a:ext cx="1420667" cy="109728"/>
          </a:xfrm>
          <a:prstGeom prst="rect">
            <a:avLst/>
          </a:prstGeom>
          <a:noFill/>
        </p:spPr>
        <p:txBody>
          <a:bodyPr wrap="none" anchor="t" lIns="0" rIns="0" tIns="0" bIns="0">
            <a:noAutofit/>
          </a:bodyPr>
          <a:lstStyle/>
          <a:p>
            <a:pPr>
              <a:spcBef>
                <a:spcPts val="0"/>
              </a:spcBef>
              <a:spcAft>
                <a:spcPts val="0"/>
              </a:spcAft>
            </a:pPr>
            <a:r>
              <a:rPr sz="430" b="0" i="0">
                <a:solidFill>
                  <a:srgbClr val="1C2829"/>
                </a:solidFill>
                <a:latin typeface="Noto Sans"/>
              </a:rPr>
              <a:t>Fuente: IFT con datos del MOCIBA 2023, del INEGI.  </a:t>
            </a:r>
          </a:p>
        </p:txBody>
      </p:sp>
      <p:sp>
        <p:nvSpPr>
          <p:cNvPr id="280" name="ANUARIO_REFERENCIA_2024_P10_L054"/>
          <p:cNvSpPr txBox="1"/>
          <p:nvPr/>
        </p:nvSpPr>
        <p:spPr>
          <a:xfrm>
            <a:off x="1447177" y="4306721"/>
            <a:ext cx="2945375" cy="137322"/>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Existen </a:t>
            </a:r>
            <a:r>
              <a:rPr sz="688" b="1" i="0">
                <a:solidFill>
                  <a:srgbClr val="1C2829"/>
                </a:solidFill>
                <a:latin typeface="Noto Sans"/>
              </a:rPr>
              <a:t>368 concesiones</a:t>
            </a:r>
            <a:r>
              <a:rPr sz="602" b="0" i="0">
                <a:solidFill>
                  <a:srgbClr val="1C2829"/>
                </a:solidFill>
                <a:latin typeface="Noto Sans"/>
              </a:rPr>
              <a:t> AM 1,912 concesiones FM y 934 concesiones TDT </a:t>
            </a:r>
          </a:p>
        </p:txBody>
      </p:sp>
      <p:sp>
        <p:nvSpPr>
          <p:cNvPr id="281" name="ANUARIO_REFERENCIA_2024_P10_L055"/>
          <p:cNvSpPr txBox="1"/>
          <p:nvPr/>
        </p:nvSpPr>
        <p:spPr>
          <a:xfrm>
            <a:off x="1447153" y="4409622"/>
            <a:ext cx="1049891" cy="123221"/>
          </a:xfrm>
          <a:prstGeom prst="rect">
            <a:avLst/>
          </a:prstGeom>
          <a:noFill/>
        </p:spPr>
        <p:txBody>
          <a:bodyPr wrap="none" anchor="t" lIns="0" rIns="0" tIns="0" bIns="0">
            <a:noAutofit/>
          </a:bodyPr>
          <a:lstStyle/>
          <a:p>
            <a:pPr>
              <a:spcBef>
                <a:spcPts val="0"/>
              </a:spcBef>
              <a:spcAft>
                <a:spcPts val="0"/>
              </a:spcAft>
            </a:pPr>
            <a:r>
              <a:rPr sz="602" b="0" i="0">
                <a:solidFill>
                  <a:srgbClr val="1C2829"/>
                </a:solidFill>
                <a:latin typeface="Noto Sans"/>
              </a:rPr>
              <a:t>otorgadas de radiodifusión</a:t>
            </a:r>
          </a:p>
        </p:txBody>
      </p:sp>
      <p:sp>
        <p:nvSpPr>
          <p:cNvPr id="282" name="ANUARIO_REFERENCIA_2024_P10_L056"/>
          <p:cNvSpPr txBox="1"/>
          <p:nvPr/>
        </p:nvSpPr>
        <p:spPr>
          <a:xfrm>
            <a:off x="5280466" y="3609665"/>
            <a:ext cx="3452053"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Los usuarios de dispositivos IoT prefieren las tecnologías que tienen la finalidad de entretenimiento </a:t>
            </a:r>
          </a:p>
        </p:txBody>
      </p:sp>
      <p:sp>
        <p:nvSpPr>
          <p:cNvPr id="283" name="ANUARIO_REFERENCIA_2024_P10_L057"/>
          <p:cNvSpPr txBox="1"/>
          <p:nvPr/>
        </p:nvSpPr>
        <p:spPr>
          <a:xfrm>
            <a:off x="5280466" y="3701265"/>
            <a:ext cx="1859470"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a:t>
            </a:r>
            <a:r>
              <a:rPr sz="596" b="1" i="0">
                <a:solidFill>
                  <a:srgbClr val="1A403D"/>
                </a:solidFill>
                <a:latin typeface="Noto Sans"/>
              </a:rPr>
              <a:t>59.6%</a:t>
            </a:r>
            <a:r>
              <a:rPr sz="596" b="0" i="0">
                <a:solidFill>
                  <a:srgbClr val="1A403D"/>
                </a:solidFill>
                <a:latin typeface="Noto Sans"/>
              </a:rPr>
              <a:t>) y las bocinas o asistentes del hogar (</a:t>
            </a:r>
            <a:r>
              <a:rPr sz="596" b="1" i="0">
                <a:solidFill>
                  <a:srgbClr val="1A403D"/>
                </a:solidFill>
                <a:latin typeface="Noto Sans"/>
              </a:rPr>
              <a:t>55.0%</a:t>
            </a:r>
            <a:r>
              <a:rPr sz="596" b="0" i="0">
                <a:solidFill>
                  <a:srgbClr val="1A403D"/>
                </a:solidFill>
                <a:latin typeface="Noto Sans"/>
              </a:rPr>
              <a:t>)</a:t>
            </a:r>
          </a:p>
        </p:txBody>
      </p:sp>
      <p:sp>
        <p:nvSpPr>
          <p:cNvPr id="284" name="ANUARIO_REFERENCIA_2024_P10_L058"/>
          <p:cNvSpPr txBox="1"/>
          <p:nvPr/>
        </p:nvSpPr>
        <p:spPr>
          <a:xfrm>
            <a:off x="5279409" y="3824996"/>
            <a:ext cx="3333939"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datos de la ENDUTIH 2023, del INEGI. Datos disponibles en https://www.inegi.org.mx/programas/endutih/2023/ </a:t>
            </a:r>
          </a:p>
        </p:txBody>
      </p:sp>
      <p:sp>
        <p:nvSpPr>
          <p:cNvPr id="285" name="ANUARIO_REFERENCIA_2024_P10_L059"/>
          <p:cNvSpPr txBox="1"/>
          <p:nvPr/>
        </p:nvSpPr>
        <p:spPr>
          <a:xfrm>
            <a:off x="5280212" y="4179253"/>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acuerdo con la </a:t>
            </a:r>
            <a:r>
              <a:rPr sz="596" b="0" i="1">
                <a:solidFill>
                  <a:srgbClr val="1A403D"/>
                </a:solidFill>
                <a:latin typeface="Noto Sans"/>
              </a:rPr>
              <a:t>Encuesta de Confianza en el Servicio de Internet (ECSI) 2024</a:t>
            </a:r>
            <a:r>
              <a:rPr sz="596" b="0" i="0">
                <a:solidFill>
                  <a:srgbClr val="1A403D"/>
                </a:solidFill>
                <a:latin typeface="Noto Sans"/>
              </a:rPr>
              <a:t>; el grado de </a:t>
            </a:r>
          </a:p>
        </p:txBody>
      </p:sp>
      <p:sp>
        <p:nvSpPr>
          <p:cNvPr id="286" name="ANUARIO_REFERENCIA_2024_P10_L060"/>
          <p:cNvSpPr txBox="1"/>
          <p:nvPr/>
        </p:nvSpPr>
        <p:spPr>
          <a:xfrm>
            <a:off x="5280212" y="4271570"/>
            <a:ext cx="3452307" cy="123221"/>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confianza que las personas tienen al hacer uso de Internet registró que aproximadamente la mitad </a:t>
            </a:r>
          </a:p>
        </p:txBody>
      </p:sp>
      <p:sp>
        <p:nvSpPr>
          <p:cNvPr id="287" name="ANUARIO_REFERENCIA_2024_P10_L061"/>
          <p:cNvSpPr txBox="1"/>
          <p:nvPr/>
        </p:nvSpPr>
        <p:spPr>
          <a:xfrm>
            <a:off x="5280212" y="4363169"/>
            <a:ext cx="3452307" cy="124729"/>
          </a:xfrm>
          <a:prstGeom prst="rect">
            <a:avLst/>
          </a:prstGeom>
          <a:noFill/>
        </p:spPr>
        <p:txBody>
          <a:bodyPr wrap="none" anchor="t" lIns="0" rIns="0" tIns="0" bIns="0">
            <a:noAutofit/>
          </a:bodyPr>
          <a:lstStyle/>
          <a:p>
            <a:pPr>
              <a:spcBef>
                <a:spcPts val="0"/>
              </a:spcBef>
              <a:spcAft>
                <a:spcPts val="0"/>
              </a:spcAft>
            </a:pPr>
            <a:r>
              <a:rPr sz="596" b="0" i="0">
                <a:solidFill>
                  <a:srgbClr val="1A403D"/>
                </a:solidFill>
                <a:latin typeface="Noto Sans"/>
              </a:rPr>
              <a:t>de la población considera tener poco (</a:t>
            </a:r>
            <a:r>
              <a:rPr sz="596" b="1" i="0">
                <a:solidFill>
                  <a:srgbClr val="1A403D"/>
                </a:solidFill>
                <a:latin typeface="Noto Sans"/>
              </a:rPr>
              <a:t>38.5%</a:t>
            </a:r>
            <a:r>
              <a:rPr sz="596" b="0" i="0">
                <a:solidFill>
                  <a:srgbClr val="1A403D"/>
                </a:solidFill>
                <a:latin typeface="Noto Sans"/>
              </a:rPr>
              <a:t>) o nada (</a:t>
            </a:r>
            <a:r>
              <a:rPr sz="596" b="1" i="0">
                <a:solidFill>
                  <a:srgbClr val="1A403D"/>
                </a:solidFill>
                <a:latin typeface="Noto Sans"/>
              </a:rPr>
              <a:t>13.6%</a:t>
            </a:r>
            <a:r>
              <a:rPr sz="596" b="0" i="0">
                <a:solidFill>
                  <a:srgbClr val="1A403D"/>
                </a:solidFill>
                <a:latin typeface="Noto Sans"/>
              </a:rPr>
              <a:t>) de confianza al hacer uso del Internet.</a:t>
            </a:r>
          </a:p>
        </p:txBody>
      </p:sp>
      <p:sp>
        <p:nvSpPr>
          <p:cNvPr id="288" name="ANUARIO_REFERENCIA_2024_P10_L062"/>
          <p:cNvSpPr txBox="1"/>
          <p:nvPr/>
        </p:nvSpPr>
        <p:spPr>
          <a:xfrm>
            <a:off x="5281104" y="4486259"/>
            <a:ext cx="2536263" cy="109728"/>
          </a:xfrm>
          <a:prstGeom prst="rect">
            <a:avLst/>
          </a:prstGeom>
          <a:noFill/>
        </p:spPr>
        <p:txBody>
          <a:bodyPr wrap="none" anchor="t" lIns="0" rIns="0" tIns="0" bIns="0">
            <a:noAutofit/>
          </a:bodyPr>
          <a:lstStyle/>
          <a:p>
            <a:pPr>
              <a:spcBef>
                <a:spcPts val="0"/>
              </a:spcBef>
              <a:spcAft>
                <a:spcPts val="0"/>
              </a:spcAft>
            </a:pPr>
            <a:r>
              <a:rPr sz="430" b="0" i="0">
                <a:solidFill>
                  <a:srgbClr val="1A403D"/>
                </a:solidFill>
                <a:latin typeface="Noto Sans"/>
              </a:rPr>
              <a:t>Fuente: IFT, con información de la Encuesta de Confianza en el Servicio de Internet (ECSI), 2024.</a:t>
            </a:r>
          </a:p>
        </p:txBody>
      </p:sp>
      <p:sp>
        <p:nvSpPr>
          <p:cNvPr id="289" name="ANUARIO_REFERENCIA_2024_P10_L063"/>
          <p:cNvSpPr txBox="1"/>
          <p:nvPr/>
        </p:nvSpPr>
        <p:spPr>
          <a:xfrm>
            <a:off x="5281021" y="4031517"/>
            <a:ext cx="3451498"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Percepción o grado de confianza que tienen las personas al hacer uso de internet</a:t>
            </a:r>
          </a:p>
        </p:txBody>
      </p:sp>
      <p:sp>
        <p:nvSpPr>
          <p:cNvPr id="290" name="ANUARIO_REFERENCIA_2024_P10_L064"/>
          <p:cNvSpPr txBox="1"/>
          <p:nvPr/>
        </p:nvSpPr>
        <p:spPr>
          <a:xfrm>
            <a:off x="5280841" y="3469123"/>
            <a:ext cx="2059335" cy="137322"/>
          </a:xfrm>
          <a:prstGeom prst="rect">
            <a:avLst/>
          </a:prstGeom>
          <a:noFill/>
        </p:spPr>
        <p:txBody>
          <a:bodyPr wrap="none" anchor="t" lIns="0" rIns="0" tIns="0" bIns="0">
            <a:noAutofit/>
          </a:bodyPr>
          <a:lstStyle/>
          <a:p>
            <a:pPr>
              <a:spcBef>
                <a:spcPts val="0"/>
              </a:spcBef>
              <a:spcAft>
                <a:spcPts val="0"/>
              </a:spcAft>
            </a:pPr>
            <a:r>
              <a:rPr sz="688" b="1" i="0">
                <a:solidFill>
                  <a:srgbClr val="B4DEE1"/>
                </a:solidFill>
                <a:latin typeface="Noto Sans"/>
              </a:rPr>
              <a:t>Dispositivos inteligentes conectados a Internet</a:t>
            </a:r>
          </a:p>
        </p:txBody>
      </p:sp>
      <p:sp>
        <p:nvSpPr>
          <p:cNvPr id="291" name="ANUARIO_ENLACE_BIT_CRT"/>
          <p:cNvSpPr txBox="1"/>
          <p:nvPr/>
        </p:nvSpPr>
        <p:spPr>
          <a:xfrm>
            <a:off x="4983480" y="384048"/>
            <a:ext cx="3822191" cy="128016"/>
          </a:xfrm>
          <a:prstGeom prst="rect">
            <a:avLst/>
          </a:prstGeom>
          <a:noFill/>
        </p:spPr>
        <p:txBody>
          <a:bodyPr wrap="none" lIns="0" rIns="0" tIns="0" bIns="0">
            <a:spAutoFit/>
          </a:bodyPr>
          <a:lstStyle/>
          <a:p>
            <a:r>
              <a:rPr sz="610">
                <a:solidFill>
                  <a:srgbClr val="EFF3EF"/>
                </a:solidFill>
                <a:latin typeface="Noto Sans"/>
                <a:hlinkClick r:id="rId2"/>
              </a:rPr>
              <a:t>BIT CRT: https://bit.crt.gob.mx/BitWebApp/</a:t>
            </a:r>
          </a:p>
        </p:txBody>
      </p:sp>
    </p:spTree>
  </p:cSld>
  <p:clrMapOvr>
    <a:masterClrMapping/>
  </p:clrMapOvr>
</p:sld>
</file>

<file path=ppt/slides/slide1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 descr="ANUARIO_FIGURE_ID=A.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a:t>
            </a:r>
          </a:p>
          <a:p>
            <a:pPr>
              <a:spcBef>
                <a:spcPts val="0"/>
              </a:spcBef>
              <a:spcAft>
                <a:spcPts val="600"/>
              </a:spcAft>
            </a:pPr>
            <a:r>
              <a:rPr sz="950" b="1">
                <a:solidFill>
                  <a:srgbClr val="203634"/>
                </a:solidFill>
                <a:latin typeface="Noto Sans"/>
              </a:rPr>
              <a:t>PRODUCTO INTERNO BRUTO Y CONTRIBUCIÓN DE TELECOMUNICACIONES Y RADIODIFUSIÓN</a:t>
            </a:r>
          </a:p>
          <a:p>
            <a:pPr>
              <a:lnSpc>
                <a:spcPct val="100000"/>
              </a:lnSpc>
              <a:spcBef>
                <a:spcPts val="0"/>
              </a:spcBef>
              <a:spcAft>
                <a:spcPts val="400"/>
              </a:spcAft>
            </a:pPr>
            <a:r>
              <a:rPr sz="819" b="0">
                <a:solidFill>
                  <a:srgbClr val="434343"/>
                </a:solidFill>
                <a:latin typeface="Noto Sans"/>
              </a:rPr>
              <a:t>En el segundo trimestre de 2026, el PIB de México fue de $ 26,144.13 miles de millones de pesos, de los cuales $ 440.42 miles de millones (1.7%) correspondieron a la contribución de los Subsectores de las Telecomunicaciones y la Radiodifusión (TyR) en su conjunto.</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 descr="ANUARIO_FIGURE_ID=A.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 descr="Capa accesible con el texto del SVG de la figura A.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15,000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25,000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PIB Nacional en miles de millones de pesos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Porcentaje de participación de los subsectores de las TyR</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Figura A.1.</a:t>
            </a:r>
          </a:p>
          <a:p>
            <a:pPr>
              <a:spcBef>
                <a:spcPts val="0"/>
              </a:spcBef>
              <a:spcAft>
                <a:spcPts val="0"/>
              </a:spcAft>
            </a:pPr>
            <a:r>
              <a:rPr sz="100">
                <a:solidFill>
                  <a:srgbClr val="FFFFFF"/>
                </a:solidFill>
                <a:latin typeface="Noto Sans"/>
              </a:rPr>
              <a:t>Producto Interno Bruto (PIB) y contribución del PIB de los subsectores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junio de 2026. Datos disponibles en: https://www.inegi.org.mx/programas/pib/.</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PIB a precios constantes de 2018. La participación de los subsectores de TyR corresponde a la contribución del sector 51 (Información en medios masivos) de acuerdo con el Sistema de Clasificación Industrial de</a:t>
            </a:r>
          </a:p>
          <a:p>
            <a:pPr>
              <a:spcBef>
                <a:spcPts val="0"/>
              </a:spcBef>
              <a:spcAft>
                <a:spcPts val="0"/>
              </a:spcAft>
            </a:pPr>
            <a:r>
              <a:rPr sz="100">
                <a:solidFill>
                  <a:srgbClr val="FFFFFF"/>
                </a:solidFill>
                <a:latin typeface="Noto Sans"/>
              </a:rPr>
              <a:t>América del Norte, México SCIAN 2023, el cual puede consultarse en Clasificadores - Catálogo SCIAN.</a:t>
            </a:r>
          </a:p>
          <a:p>
            <a:pPr>
              <a:spcBef>
                <a:spcPts val="0"/>
              </a:spcBef>
              <a:spcAft>
                <a:spcPts val="0"/>
              </a:spcAft>
            </a:pPr>
            <a:r>
              <a:rPr sz="100">
                <a:solidFill>
                  <a:srgbClr val="FFFFFF"/>
                </a:solidFill>
                <a:latin typeface="Noto Sans"/>
              </a:rPr>
              <a:t>PIB nacional</a:t>
            </a:r>
          </a:p>
          <a:p>
            <a:pPr>
              <a:spcBef>
                <a:spcPts val="0"/>
              </a:spcBef>
              <a:spcAft>
                <a:spcPts val="0"/>
              </a:spcAft>
            </a:pPr>
            <a:r>
              <a:rPr sz="100">
                <a:solidFill>
                  <a:srgbClr val="FFFFFF"/>
                </a:solidFill>
                <a:latin typeface="Noto Sans"/>
              </a:rPr>
              <a:t>Participación TyR</a:t>
            </a:r>
          </a:p>
        </p:txBody>
      </p:sp>
      <p:pic>
        <p:nvPicPr>
          <p:cNvPr id="223" name="ANUARIO_IMAGE_A_1" descr="Figura A.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a:t>
            </a:r>
          </a:p>
        </p:txBody>
      </p:sp>
    </p:spTree>
  </p:cSld>
  <p:clrMapOvr>
    <a:masterClrMapping/>
  </p:clrMapOvr>
</p:sld>
</file>

<file path=ppt/slides/slide1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2" descr="ANUARIO_FIGURE_ID=A.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A.2</a:t>
            </a:r>
          </a:p>
          <a:p>
            <a:pPr>
              <a:spcBef>
                <a:spcPts val="0"/>
              </a:spcBef>
              <a:spcAft>
                <a:spcPts val="600"/>
              </a:spcAft>
            </a:pPr>
            <a:r>
              <a:rPr sz="950" b="1">
                <a:solidFill>
                  <a:srgbClr val="203634"/>
                </a:solidFill>
                <a:latin typeface="Noto Sans"/>
              </a:rPr>
              <a:t>EMPLEO EN LOS SECTORES DE TELECOMUNICACIONES Y RADIODIFUSIÓN</a:t>
            </a:r>
          </a:p>
          <a:p>
            <a:pPr>
              <a:lnSpc>
                <a:spcPct val="100000"/>
              </a:lnSpc>
              <a:spcBef>
                <a:spcPts val="0"/>
              </a:spcBef>
              <a:spcAft>
                <a:spcPts val="400"/>
              </a:spcAft>
            </a:pPr>
            <a:r>
              <a:rPr sz="819" b="0">
                <a:solidFill>
                  <a:srgbClr val="434343"/>
                </a:solidFill>
                <a:latin typeface="Noto Sans"/>
              </a:rPr>
              <a:t>Al segundo trimestre de 2026, los resultados de la Encuesta Nacional de Ocupación y Empleo (ENOE) indican que el 87% de las personas empleadas se registran en el sector de telecomunicaciones y el 13% restante en el sector de radiodifusión, lo que en su conjunto representa un total de 279,069 personas empleadas en TyR.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2" descr="ANUARIO_FIGURE_ID=A.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2" descr="Capa accesible con el texto del SVG de la figura A.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A.2</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Distribución porcentual del empleo</a:t>
            </a:r>
          </a:p>
          <a:p>
            <a:pPr>
              <a:spcBef>
                <a:spcPts val="0"/>
              </a:spcBef>
              <a:spcAft>
                <a:spcPts val="0"/>
              </a:spcAft>
            </a:pPr>
            <a:r>
              <a:rPr sz="100">
                <a:solidFill>
                  <a:srgbClr val="FFFFFF"/>
                </a:solidFill>
                <a:latin typeface="Noto Sans"/>
              </a:rPr>
              <a:t>268,376</a:t>
            </a:r>
          </a:p>
          <a:p>
            <a:pPr>
              <a:spcBef>
                <a:spcPts val="0"/>
              </a:spcBef>
              <a:spcAft>
                <a:spcPts val="0"/>
              </a:spcAft>
            </a:pPr>
            <a:r>
              <a:rPr sz="100">
                <a:solidFill>
                  <a:srgbClr val="FFFFFF"/>
                </a:solidFill>
                <a:latin typeface="Noto Sans"/>
              </a:rPr>
              <a:t>246,877</a:t>
            </a:r>
          </a:p>
          <a:p>
            <a:pPr>
              <a:spcBef>
                <a:spcPts val="0"/>
              </a:spcBef>
              <a:spcAft>
                <a:spcPts val="0"/>
              </a:spcAft>
            </a:pPr>
            <a:r>
              <a:rPr sz="100">
                <a:solidFill>
                  <a:srgbClr val="FFFFFF"/>
                </a:solidFill>
                <a:latin typeface="Noto Sans"/>
              </a:rPr>
              <a:t>224,106</a:t>
            </a:r>
          </a:p>
          <a:p>
            <a:pPr>
              <a:spcBef>
                <a:spcPts val="0"/>
              </a:spcBef>
              <a:spcAft>
                <a:spcPts val="0"/>
              </a:spcAft>
            </a:pPr>
            <a:r>
              <a:rPr sz="100">
                <a:solidFill>
                  <a:srgbClr val="FFFFFF"/>
                </a:solidFill>
                <a:latin typeface="Noto Sans"/>
              </a:rPr>
              <a:t>216,150</a:t>
            </a:r>
          </a:p>
          <a:p>
            <a:pPr>
              <a:spcBef>
                <a:spcPts val="0"/>
              </a:spcBef>
              <a:spcAft>
                <a:spcPts val="0"/>
              </a:spcAft>
            </a:pPr>
            <a:r>
              <a:rPr sz="100">
                <a:solidFill>
                  <a:srgbClr val="FFFFFF"/>
                </a:solidFill>
                <a:latin typeface="Noto Sans"/>
              </a:rPr>
              <a:t>221,344</a:t>
            </a:r>
          </a:p>
          <a:p>
            <a:pPr>
              <a:spcBef>
                <a:spcPts val="0"/>
              </a:spcBef>
              <a:spcAft>
                <a:spcPts val="0"/>
              </a:spcAft>
            </a:pPr>
            <a:r>
              <a:rPr sz="100">
                <a:solidFill>
                  <a:srgbClr val="FFFFFF"/>
                </a:solidFill>
                <a:latin typeface="Noto Sans"/>
              </a:rPr>
              <a:t>254,322</a:t>
            </a:r>
          </a:p>
          <a:p>
            <a:pPr>
              <a:spcBef>
                <a:spcPts val="0"/>
              </a:spcBef>
              <a:spcAft>
                <a:spcPts val="0"/>
              </a:spcAft>
            </a:pPr>
            <a:r>
              <a:rPr sz="100">
                <a:solidFill>
                  <a:srgbClr val="FFFFFF"/>
                </a:solidFill>
                <a:latin typeface="Noto Sans"/>
              </a:rPr>
              <a:t>260,185</a:t>
            </a:r>
          </a:p>
          <a:p>
            <a:pPr>
              <a:spcBef>
                <a:spcPts val="0"/>
              </a:spcBef>
              <a:spcAft>
                <a:spcPts val="0"/>
              </a:spcAft>
            </a:pPr>
            <a:r>
              <a:rPr sz="100">
                <a:solidFill>
                  <a:srgbClr val="FFFFFF"/>
                </a:solidFill>
                <a:latin typeface="Noto Sans"/>
              </a:rPr>
              <a:t>268,581</a:t>
            </a:r>
          </a:p>
          <a:p>
            <a:pPr>
              <a:spcBef>
                <a:spcPts val="0"/>
              </a:spcBef>
              <a:spcAft>
                <a:spcPts val="0"/>
              </a:spcAft>
            </a:pPr>
            <a:r>
              <a:rPr sz="100">
                <a:solidFill>
                  <a:srgbClr val="FFFFFF"/>
                </a:solidFill>
                <a:latin typeface="Noto Sans"/>
              </a:rPr>
              <a:t>251,790</a:t>
            </a:r>
          </a:p>
          <a:p>
            <a:pPr>
              <a:spcBef>
                <a:spcPts val="0"/>
              </a:spcBef>
              <a:spcAft>
                <a:spcPts val="0"/>
              </a:spcAft>
            </a:pPr>
            <a:r>
              <a:rPr sz="100">
                <a:solidFill>
                  <a:srgbClr val="FFFFFF"/>
                </a:solidFill>
                <a:latin typeface="Noto Sans"/>
              </a:rPr>
              <a:t>242,235</a:t>
            </a:r>
          </a:p>
          <a:p>
            <a:pPr>
              <a:spcBef>
                <a:spcPts val="0"/>
              </a:spcBef>
              <a:spcAft>
                <a:spcPts val="0"/>
              </a:spcAft>
            </a:pPr>
            <a:r>
              <a:rPr sz="100">
                <a:solidFill>
                  <a:srgbClr val="FFFFFF"/>
                </a:solidFill>
                <a:latin typeface="Noto Sans"/>
              </a:rPr>
              <a:t>267,214</a:t>
            </a:r>
          </a:p>
          <a:p>
            <a:pPr>
              <a:spcBef>
                <a:spcPts val="0"/>
              </a:spcBef>
              <a:spcAft>
                <a:spcPts val="0"/>
              </a:spcAft>
            </a:pPr>
            <a:r>
              <a:rPr sz="100">
                <a:solidFill>
                  <a:srgbClr val="FFFFFF"/>
                </a:solidFill>
                <a:latin typeface="Noto Sans"/>
              </a:rPr>
              <a:t>251,093</a:t>
            </a:r>
          </a:p>
          <a:p>
            <a:pPr>
              <a:spcBef>
                <a:spcPts val="0"/>
              </a:spcBef>
              <a:spcAft>
                <a:spcPts val="0"/>
              </a:spcAft>
            </a:pPr>
            <a:r>
              <a:rPr sz="100">
                <a:solidFill>
                  <a:srgbClr val="FFFFFF"/>
                </a:solidFill>
                <a:latin typeface="Noto Sans"/>
              </a:rPr>
              <a:t>244,121</a:t>
            </a:r>
          </a:p>
          <a:p>
            <a:pPr>
              <a:spcBef>
                <a:spcPts val="0"/>
              </a:spcBef>
              <a:spcAft>
                <a:spcPts val="0"/>
              </a:spcAft>
            </a:pPr>
            <a:r>
              <a:rPr sz="100">
                <a:solidFill>
                  <a:srgbClr val="FFFFFF"/>
                </a:solidFill>
                <a:latin typeface="Noto Sans"/>
              </a:rPr>
              <a:t>263,482</a:t>
            </a:r>
          </a:p>
          <a:p>
            <a:pPr>
              <a:spcBef>
                <a:spcPts val="0"/>
              </a:spcBef>
              <a:spcAft>
                <a:spcPts val="0"/>
              </a:spcAft>
            </a:pPr>
            <a:r>
              <a:rPr sz="100">
                <a:solidFill>
                  <a:srgbClr val="FFFFFF"/>
                </a:solidFill>
                <a:latin typeface="Noto Sans"/>
              </a:rPr>
              <a:t>252,969</a:t>
            </a:r>
          </a:p>
          <a:p>
            <a:pPr>
              <a:spcBef>
                <a:spcPts val="0"/>
              </a:spcBef>
              <a:spcAft>
                <a:spcPts val="0"/>
              </a:spcAft>
            </a:pPr>
            <a:r>
              <a:rPr sz="100">
                <a:solidFill>
                  <a:srgbClr val="FFFFFF"/>
                </a:solidFill>
                <a:latin typeface="Noto Sans"/>
              </a:rPr>
              <a:t>300,301</a:t>
            </a:r>
          </a:p>
          <a:p>
            <a:pPr>
              <a:spcBef>
                <a:spcPts val="0"/>
              </a:spcBef>
              <a:spcAft>
                <a:spcPts val="0"/>
              </a:spcAft>
            </a:pPr>
            <a:r>
              <a:rPr sz="100">
                <a:solidFill>
                  <a:srgbClr val="FFFFFF"/>
                </a:solidFill>
                <a:latin typeface="Noto Sans"/>
              </a:rPr>
              <a:t>285,439</a:t>
            </a:r>
          </a:p>
          <a:p>
            <a:pPr>
              <a:spcBef>
                <a:spcPts val="0"/>
              </a:spcBef>
              <a:spcAft>
                <a:spcPts val="0"/>
              </a:spcAft>
            </a:pPr>
            <a:r>
              <a:rPr sz="100">
                <a:solidFill>
                  <a:srgbClr val="FFFFFF"/>
                </a:solidFill>
                <a:latin typeface="Noto Sans"/>
              </a:rPr>
              <a:t>323,048</a:t>
            </a:r>
          </a:p>
          <a:p>
            <a:pPr>
              <a:spcBef>
                <a:spcPts val="0"/>
              </a:spcBef>
              <a:spcAft>
                <a:spcPts val="0"/>
              </a:spcAft>
            </a:pPr>
            <a:r>
              <a:rPr sz="100">
                <a:solidFill>
                  <a:srgbClr val="FFFFFF"/>
                </a:solidFill>
                <a:latin typeface="Noto Sans"/>
              </a:rPr>
              <a:t>301,030</a:t>
            </a:r>
          </a:p>
          <a:p>
            <a:pPr>
              <a:spcBef>
                <a:spcPts val="0"/>
              </a:spcBef>
              <a:spcAft>
                <a:spcPts val="0"/>
              </a:spcAft>
            </a:pPr>
            <a:r>
              <a:rPr sz="100">
                <a:solidFill>
                  <a:srgbClr val="FFFFFF"/>
                </a:solidFill>
                <a:latin typeface="Noto Sans"/>
              </a:rPr>
              <a:t>290,958</a:t>
            </a:r>
          </a:p>
          <a:p>
            <a:pPr>
              <a:spcBef>
                <a:spcPts val="0"/>
              </a:spcBef>
              <a:spcAft>
                <a:spcPts val="0"/>
              </a:spcAft>
            </a:pPr>
            <a:r>
              <a:rPr sz="100">
                <a:solidFill>
                  <a:srgbClr val="FFFFFF"/>
                </a:solidFill>
                <a:latin typeface="Noto Sans"/>
              </a:rPr>
              <a:t>293,930</a:t>
            </a:r>
          </a:p>
          <a:p>
            <a:pPr>
              <a:spcBef>
                <a:spcPts val="0"/>
              </a:spcBef>
              <a:spcAft>
                <a:spcPts val="0"/>
              </a:spcAft>
            </a:pPr>
            <a:r>
              <a:rPr sz="100">
                <a:solidFill>
                  <a:srgbClr val="FFFFFF"/>
                </a:solidFill>
                <a:latin typeface="Noto Sans"/>
              </a:rPr>
              <a:t>316,612</a:t>
            </a:r>
          </a:p>
          <a:p>
            <a:pPr>
              <a:spcBef>
                <a:spcPts val="0"/>
              </a:spcBef>
              <a:spcAft>
                <a:spcPts val="0"/>
              </a:spcAft>
            </a:pPr>
            <a:r>
              <a:rPr sz="100">
                <a:solidFill>
                  <a:srgbClr val="FFFFFF"/>
                </a:solidFill>
                <a:latin typeface="Noto Sans"/>
              </a:rPr>
              <a:t>301,866</a:t>
            </a:r>
          </a:p>
          <a:p>
            <a:pPr>
              <a:spcBef>
                <a:spcPts val="0"/>
              </a:spcBef>
              <a:spcAft>
                <a:spcPts val="0"/>
              </a:spcAft>
            </a:pPr>
            <a:r>
              <a:rPr sz="100">
                <a:solidFill>
                  <a:srgbClr val="FFFFFF"/>
                </a:solidFill>
                <a:latin typeface="Noto Sans"/>
              </a:rPr>
              <a:t>314,794</a:t>
            </a:r>
          </a:p>
          <a:p>
            <a:pPr>
              <a:spcBef>
                <a:spcPts val="0"/>
              </a:spcBef>
              <a:spcAft>
                <a:spcPts val="0"/>
              </a:spcAft>
            </a:pPr>
            <a:r>
              <a:rPr sz="100">
                <a:solidFill>
                  <a:srgbClr val="FFFFFF"/>
                </a:solidFill>
                <a:latin typeface="Noto Sans"/>
              </a:rPr>
              <a:t>291,646</a:t>
            </a:r>
          </a:p>
          <a:p>
            <a:pPr>
              <a:spcBef>
                <a:spcPts val="0"/>
              </a:spcBef>
              <a:spcAft>
                <a:spcPts val="0"/>
              </a:spcAft>
            </a:pPr>
            <a:r>
              <a:rPr sz="100">
                <a:solidFill>
                  <a:srgbClr val="FFFFFF"/>
                </a:solidFill>
                <a:latin typeface="Noto Sans"/>
              </a:rPr>
              <a:t>258,149</a:t>
            </a:r>
          </a:p>
          <a:p>
            <a:pPr>
              <a:spcBef>
                <a:spcPts val="0"/>
              </a:spcBef>
              <a:spcAft>
                <a:spcPts val="0"/>
              </a:spcAft>
            </a:pPr>
            <a:r>
              <a:rPr sz="100">
                <a:solidFill>
                  <a:srgbClr val="FFFFFF"/>
                </a:solidFill>
                <a:latin typeface="Noto Sans"/>
              </a:rPr>
              <a:t>279,069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A.2.</a:t>
            </a:r>
          </a:p>
          <a:p>
            <a:pPr>
              <a:spcBef>
                <a:spcPts val="0"/>
              </a:spcBef>
              <a:spcAft>
                <a:spcPts val="0"/>
              </a:spcAft>
            </a:pPr>
            <a:r>
              <a:rPr sz="100">
                <a:solidFill>
                  <a:srgbClr val="FFFFFF"/>
                </a:solidFill>
                <a:latin typeface="Noto Sans"/>
              </a:rPr>
              <a:t>Empleo en los sectores de telecomunicaciones y radiodifusión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del INEGI, con cifras a junio 2026. Datos disponibles en: https://www.inegi.org.mx/programas/enoe/15ymas/#microdatos</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Para el año 2020 se considera la información al primer y cuarto trimestre.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Radiodifusión</a:t>
            </a:r>
          </a:p>
        </p:txBody>
      </p:sp>
      <p:pic>
        <p:nvPicPr>
          <p:cNvPr id="223" name="ANUARIO_IMAGE_A_2" descr="Figura A.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a:t>
            </a:r>
          </a:p>
        </p:txBody>
      </p:sp>
    </p:spTree>
  </p:cSld>
  <p:clrMapOvr>
    <a:masterClrMapping/>
  </p:clrMapOvr>
</p:sld>
</file>

<file path=ppt/slides/slide1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3" descr="ANUARIO_FIGURE_ID=A.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A.3</a:t>
            </a:r>
          </a:p>
          <a:p>
            <a:pPr>
              <a:spcBef>
                <a:spcPts val="0"/>
              </a:spcBef>
              <a:spcAft>
                <a:spcPts val="600"/>
              </a:spcAft>
            </a:pPr>
            <a:r>
              <a:rPr sz="950" b="1">
                <a:solidFill>
                  <a:srgbClr val="203634"/>
                </a:solidFill>
                <a:latin typeface="Noto Sans"/>
              </a:rPr>
              <a:t>ÍNDICES DE PRECIOS (INPC E IPCOM)</a:t>
            </a:r>
          </a:p>
          <a:p>
            <a:pPr>
              <a:lnSpc>
                <a:spcPct val="100000"/>
              </a:lnSpc>
              <a:spcBef>
                <a:spcPts val="0"/>
              </a:spcBef>
              <a:spcAft>
                <a:spcPts val="400"/>
              </a:spcAft>
            </a:pPr>
            <a:r>
              <a:rPr sz="819" b="0">
                <a:solidFill>
                  <a:srgbClr val="434343"/>
                </a:solidFill>
                <a:latin typeface="Noto Sans"/>
              </a:rPr>
              <a:t>En agosto de 2026, el Índice Nacional de Precios al Consumidor (INPC) aumentó 3.3% respecto del mismo mes de 2025. El Índice de Precios de Comunicaciones (IPCOM) disminuyó 1.5% entre diciembre de 2023 y julio de 2024. Los dos indicadores tienen cortes diferentes y se presentan con sus periodos originales.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3" descr="ANUARIO_FIGURE_ID=A.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3" descr="Capa accesible con el texto del SVG de la figura A.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A.3</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109</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Figura A.3.</a:t>
            </a:r>
          </a:p>
          <a:p>
            <a:pPr>
              <a:spcBef>
                <a:spcPts val="0"/>
              </a:spcBef>
              <a:spcAft>
                <a:spcPts val="0"/>
              </a:spcAft>
            </a:pPr>
            <a:r>
              <a:rPr sz="100">
                <a:solidFill>
                  <a:srgbClr val="FFFFFF"/>
                </a:solidFill>
                <a:latin typeface="Noto Sans"/>
              </a:rPr>
              <a:t>Índices de precios (INPC e IPCOM)</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INEGI a agosto de 2026. Datos disponibles en: https://www.inegi.org.mx/programas/inpc/2018a/</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Base segunda quincena de julio 2018 = 100. Los índices de 2010 a 2023 corresponden a diciembre y en 2024 a julio. Para 2025 se usa diciembre y para 2026, agosto. La serie IPCOM está disponible hasta julio de 2024.</a:t>
            </a:r>
          </a:p>
          <a:p>
            <a:pPr>
              <a:spcBef>
                <a:spcPts val="0"/>
              </a:spcBef>
              <a:spcAft>
                <a:spcPts val="0"/>
              </a:spcAft>
            </a:pPr>
            <a:r>
              <a:rPr sz="100">
                <a:solidFill>
                  <a:srgbClr val="FFFFFF"/>
                </a:solidFill>
                <a:latin typeface="Noto Sans"/>
              </a:rPr>
              <a:t>Índice Nacional de Precios al Consumidor (INPC)</a:t>
            </a:r>
          </a:p>
          <a:p>
            <a:pPr>
              <a:spcBef>
                <a:spcPts val="0"/>
              </a:spcBef>
              <a:spcAft>
                <a:spcPts val="0"/>
              </a:spcAft>
            </a:pPr>
            <a:r>
              <a:rPr sz="100">
                <a:solidFill>
                  <a:srgbClr val="FFFFFF"/>
                </a:solidFill>
                <a:latin typeface="Noto Sans"/>
              </a:rPr>
              <a:t>Índice de Precios de Comunicaciones (IPCOM)</a:t>
            </a:r>
          </a:p>
        </p:txBody>
      </p:sp>
      <p:pic>
        <p:nvPicPr>
          <p:cNvPr id="223" name="ANUARIO_IMAGE_A_3" descr="Figura A.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a:t>
            </a:r>
          </a:p>
        </p:txBody>
      </p:sp>
    </p:spTree>
  </p:cSld>
  <p:clrMapOvr>
    <a:masterClrMapping/>
  </p:clrMapOvr>
</p:sld>
</file>

<file path=ppt/slides/slide1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4" descr="ANUARIO_FIGURE_ID=A.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A.4</a:t>
            </a:r>
          </a:p>
          <a:p>
            <a:pPr>
              <a:spcBef>
                <a:spcPts val="0"/>
              </a:spcBef>
              <a:spcAft>
                <a:spcPts val="600"/>
              </a:spcAft>
            </a:pPr>
            <a:r>
              <a:rPr sz="950" b="1">
                <a:solidFill>
                  <a:srgbClr val="203634"/>
                </a:solidFill>
                <a:latin typeface="Noto Sans"/>
              </a:rPr>
              <a:t>INVERSIÓN PRIVADA EN TELECOMUNICACIONES POR TIPO DE INVERSIÓN</a:t>
            </a:r>
          </a:p>
          <a:p>
            <a:pPr>
              <a:lnSpc>
                <a:spcPct val="100000"/>
              </a:lnSpc>
              <a:spcBef>
                <a:spcPts val="0"/>
              </a:spcBef>
              <a:spcAft>
                <a:spcPts val="400"/>
              </a:spcAft>
            </a:pPr>
            <a:r>
              <a:rPr sz="880" b="0">
                <a:solidFill>
                  <a:srgbClr val="434343"/>
                </a:solidFill>
                <a:latin typeface="Noto Sans"/>
              </a:rPr>
              <a:t>La inversión privada total realizada por los operadores de telecomunicaciones en 2024 fue de $43.4 mil millones de pesos. De la cual, la mayor parte fue dirigida a infraestructura con un 77.8% del total de la inversión en el sector.</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4" descr="ANUARIO_FIGURE_ID=A.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4" descr="Capa accesible con el texto del SVG de la figura A.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98.4%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19.0%</a:t>
            </a:r>
          </a:p>
          <a:p>
            <a:pPr>
              <a:spcBef>
                <a:spcPts val="0"/>
              </a:spcBef>
              <a:spcAft>
                <a:spcPts val="0"/>
              </a:spcAft>
            </a:pPr>
            <a:r>
              <a:rPr sz="100">
                <a:solidFill>
                  <a:srgbClr val="FFFFFF"/>
                </a:solidFill>
                <a:latin typeface="Noto Sans"/>
              </a:rPr>
              <a:t>46.9%</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44.3%</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74.6%</a:t>
            </a:r>
          </a:p>
          <a:p>
            <a:pPr>
              <a:spcBef>
                <a:spcPts val="0"/>
              </a:spcBef>
              <a:spcAft>
                <a:spcPts val="0"/>
              </a:spcAft>
            </a:pPr>
            <a:r>
              <a:rPr sz="100">
                <a:solidFill>
                  <a:srgbClr val="FFFFFF"/>
                </a:solidFill>
                <a:latin typeface="Noto Sans"/>
              </a:rPr>
              <a:t>13.7%</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69.4%</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73.2%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77.8%</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$64.1</a:t>
            </a:r>
          </a:p>
          <a:p>
            <a:pPr>
              <a:spcBef>
                <a:spcPts val="0"/>
              </a:spcBef>
              <a:spcAft>
                <a:spcPts val="0"/>
              </a:spcAft>
            </a:pPr>
            <a:r>
              <a:rPr sz="100">
                <a:solidFill>
                  <a:srgbClr val="FFFFFF"/>
                </a:solidFill>
                <a:latin typeface="Noto Sans"/>
              </a:rPr>
              <a:t>$51.9</a:t>
            </a:r>
          </a:p>
          <a:p>
            <a:pPr>
              <a:spcBef>
                <a:spcPts val="0"/>
              </a:spcBef>
              <a:spcAft>
                <a:spcPts val="0"/>
              </a:spcAft>
            </a:pPr>
            <a:r>
              <a:rPr sz="100">
                <a:solidFill>
                  <a:srgbClr val="FFFFFF"/>
                </a:solidFill>
                <a:latin typeface="Noto Sans"/>
              </a:rPr>
              <a:t>$86.2</a:t>
            </a:r>
          </a:p>
          <a:p>
            <a:pPr>
              <a:spcBef>
                <a:spcPts val="0"/>
              </a:spcBef>
              <a:spcAft>
                <a:spcPts val="0"/>
              </a:spcAft>
            </a:pPr>
            <a:r>
              <a:rPr sz="100">
                <a:solidFill>
                  <a:srgbClr val="FFFFFF"/>
                </a:solidFill>
                <a:latin typeface="Noto Sans"/>
              </a:rPr>
              <a:t>$101.0</a:t>
            </a:r>
          </a:p>
          <a:p>
            <a:pPr>
              <a:spcBef>
                <a:spcPts val="0"/>
              </a:spcBef>
              <a:spcAft>
                <a:spcPts val="0"/>
              </a:spcAft>
            </a:pPr>
            <a:r>
              <a:rPr sz="100">
                <a:solidFill>
                  <a:srgbClr val="FFFFFF"/>
                </a:solidFill>
                <a:latin typeface="Noto Sans"/>
              </a:rPr>
              <a:t>$85.0</a:t>
            </a:r>
          </a:p>
          <a:p>
            <a:pPr>
              <a:spcBef>
                <a:spcPts val="0"/>
              </a:spcBef>
              <a:spcAft>
                <a:spcPts val="0"/>
              </a:spcAft>
            </a:pPr>
            <a:r>
              <a:rPr sz="100">
                <a:solidFill>
                  <a:srgbClr val="FFFFFF"/>
                </a:solidFill>
                <a:latin typeface="Noto Sans"/>
              </a:rPr>
              <a:t>$81.2</a:t>
            </a:r>
          </a:p>
          <a:p>
            <a:pPr>
              <a:spcBef>
                <a:spcPts val="0"/>
              </a:spcBef>
              <a:spcAft>
                <a:spcPts val="0"/>
              </a:spcAft>
            </a:pPr>
            <a:r>
              <a:rPr sz="100">
                <a:solidFill>
                  <a:srgbClr val="FFFFFF"/>
                </a:solidFill>
                <a:latin typeface="Noto Sans"/>
              </a:rPr>
              <a:t>$81.4</a:t>
            </a:r>
          </a:p>
          <a:p>
            <a:pPr>
              <a:spcBef>
                <a:spcPts val="0"/>
              </a:spcBef>
              <a:spcAft>
                <a:spcPts val="0"/>
              </a:spcAft>
            </a:pPr>
            <a:r>
              <a:rPr sz="100">
                <a:solidFill>
                  <a:srgbClr val="FFFFFF"/>
                </a:solidFill>
                <a:latin typeface="Noto Sans"/>
              </a:rPr>
              <a:t>$84.8</a:t>
            </a:r>
          </a:p>
          <a:p>
            <a:pPr>
              <a:spcBef>
                <a:spcPts val="0"/>
              </a:spcBef>
              <a:spcAft>
                <a:spcPts val="0"/>
              </a:spcAft>
            </a:pPr>
            <a:r>
              <a:rPr sz="100">
                <a:solidFill>
                  <a:srgbClr val="FFFFFF"/>
                </a:solidFill>
                <a:latin typeface="Noto Sans"/>
              </a:rPr>
              <a:t>$76.6</a:t>
            </a:r>
          </a:p>
          <a:p>
            <a:pPr>
              <a:spcBef>
                <a:spcPts val="0"/>
              </a:spcBef>
              <a:spcAft>
                <a:spcPts val="0"/>
              </a:spcAft>
            </a:pPr>
            <a:r>
              <a:rPr sz="100">
                <a:solidFill>
                  <a:srgbClr val="FFFFFF"/>
                </a:solidFill>
                <a:latin typeface="Noto Sans"/>
              </a:rPr>
              <a:t>$69.6</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Figura A.4.</a:t>
            </a:r>
          </a:p>
          <a:p>
            <a:pPr>
              <a:spcBef>
                <a:spcPts val="0"/>
              </a:spcBef>
              <a:spcAft>
                <a:spcPts val="0"/>
              </a:spcAft>
            </a:pPr>
            <a:r>
              <a:rPr sz="100">
                <a:solidFill>
                  <a:srgbClr val="FFFFFF"/>
                </a:solidFill>
                <a:latin typeface="Noto Sans"/>
              </a:rPr>
              <a:t>Inversión privada en Telecomunicaciones por tipo de inversión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Para cada año la inversión se presenta acumulada al mes de diciembre.</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 Solo se considera la inversión realizada por operadores de servicios de telecomunicaciones.</a:t>
            </a:r>
          </a:p>
          <a:p>
            <a:pPr>
              <a:spcBef>
                <a:spcPts val="0"/>
              </a:spcBef>
              <a:spcAft>
                <a:spcPts val="0"/>
              </a:spcAft>
            </a:pPr>
            <a:r>
              <a:rPr sz="100">
                <a:solidFill>
                  <a:srgbClr val="FFFFFF"/>
                </a:solidFill>
                <a:latin typeface="Noto Sans"/>
              </a:rPr>
              <a:t>Infraestructura</a:t>
            </a:r>
          </a:p>
          <a:p>
            <a:pPr>
              <a:spcBef>
                <a:spcPts val="0"/>
              </a:spcBef>
              <a:spcAft>
                <a:spcPts val="0"/>
              </a:spcAft>
            </a:pPr>
            <a:r>
              <a:rPr sz="100">
                <a:solidFill>
                  <a:srgbClr val="FFFFFF"/>
                </a:solidFill>
                <a:latin typeface="Noto Sans"/>
              </a:rPr>
              <a:t>Otros Activos</a:t>
            </a:r>
          </a:p>
          <a:p>
            <a:pPr>
              <a:spcBef>
                <a:spcPts val="0"/>
              </a:spcBef>
              <a:spcAft>
                <a:spcPts val="0"/>
              </a:spcAft>
            </a:pPr>
            <a:r>
              <a:rPr sz="100">
                <a:solidFill>
                  <a:srgbClr val="FFFFFF"/>
                </a:solidFill>
                <a:latin typeface="Noto Sans"/>
              </a:rPr>
              <a:t>Activos No Tangibles</a:t>
            </a:r>
          </a:p>
          <a:p>
            <a:pPr>
              <a:spcBef>
                <a:spcPts val="0"/>
              </a:spcBef>
              <a:spcAft>
                <a:spcPts val="0"/>
              </a:spcAft>
            </a:pPr>
            <a:r>
              <a:rPr sz="100">
                <a:solidFill>
                  <a:srgbClr val="FFFFFF"/>
                </a:solidFill>
                <a:latin typeface="Noto Sans"/>
              </a:rPr>
              <a:t>No Especificada</a:t>
            </a:r>
          </a:p>
        </p:txBody>
      </p:sp>
      <p:pic>
        <p:nvPicPr>
          <p:cNvPr id="223" name="ANUARIO_IMAGE_A_4" descr="Figura A.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14</a:t>
            </a:r>
          </a:p>
        </p:txBody>
      </p:sp>
    </p:spTree>
  </p:cSld>
  <p:clrMapOvr>
    <a:masterClrMapping/>
  </p:clrMapOvr>
</p:sld>
</file>

<file path=ppt/slides/slide1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5" descr="ANUARIO_FIGURE_ID=A.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A.5</a:t>
            </a:r>
          </a:p>
          <a:p>
            <a:pPr>
              <a:spcBef>
                <a:spcPts val="0"/>
              </a:spcBef>
              <a:spcAft>
                <a:spcPts val="600"/>
              </a:spcAft>
            </a:pPr>
            <a:r>
              <a:rPr sz="950" b="1">
                <a:solidFill>
                  <a:srgbClr val="203634"/>
                </a:solidFill>
                <a:latin typeface="Noto Sans"/>
              </a:rPr>
              <a:t>INVERSIÓN EXTRANJERA DIRECTA (IED) EN TELECOMUNICACIONES</a:t>
            </a:r>
          </a:p>
          <a:p>
            <a:pPr>
              <a:lnSpc>
                <a:spcPct val="100000"/>
              </a:lnSpc>
              <a:spcBef>
                <a:spcPts val="0"/>
              </a:spcBef>
              <a:spcAft>
                <a:spcPts val="400"/>
              </a:spcAft>
            </a:pPr>
            <a:r>
              <a:rPr sz="880" b="0">
                <a:solidFill>
                  <a:srgbClr val="434343"/>
                </a:solidFill>
                <a:latin typeface="Noto Sans"/>
              </a:rPr>
              <a:t>Para 2026, la Inversión Extranjera Directa (IED) en el sector de telecomunicaciones acumulada al mes de marzo fue de $-22.36 millones de dólares estadounidenses, lo que representó el -0.09% de la IED nacional.</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5" descr="ANUARIO_FIGURE_ID=A.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5" descr="Capa accesible con el texto del SVG de la figura A.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A.5</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20,000</a:t>
            </a:r>
          </a:p>
          <a:p>
            <a:pPr>
              <a:spcBef>
                <a:spcPts val="0"/>
              </a:spcBef>
              <a:spcAft>
                <a:spcPts val="0"/>
              </a:spcAft>
            </a:pPr>
            <a:r>
              <a:rPr sz="100">
                <a:solidFill>
                  <a:srgbClr val="FFFFFF"/>
                </a:solidFill>
                <a:latin typeface="Noto Sans"/>
              </a:rPr>
              <a:t>30,000</a:t>
            </a:r>
          </a:p>
          <a:p>
            <a:pPr>
              <a:spcBef>
                <a:spcPts val="0"/>
              </a:spcBef>
              <a:spcAft>
                <a:spcPts val="0"/>
              </a:spcAft>
            </a:pPr>
            <a:r>
              <a:rPr sz="100">
                <a:solidFill>
                  <a:srgbClr val="FFFFFF"/>
                </a:solidFill>
                <a:latin typeface="Noto Sans"/>
              </a:rPr>
              <a:t>40,000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60,000</a:t>
            </a:r>
          </a:p>
          <a:p>
            <a:pPr>
              <a:spcBef>
                <a:spcPts val="0"/>
              </a:spcBef>
              <a:spcAft>
                <a:spcPts val="0"/>
              </a:spcAft>
            </a:pPr>
            <a:r>
              <a:rPr sz="100">
                <a:solidFill>
                  <a:srgbClr val="FFFFFF"/>
                </a:solidFill>
                <a:latin typeface="Noto Sans"/>
              </a:rPr>
              <a:t>Millones de dólares</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2026</a:t>
            </a:r>
          </a:p>
          <a:p>
            <a:pPr>
              <a:spcBef>
                <a:spcPts val="0"/>
              </a:spcBef>
              <a:spcAft>
                <a:spcPts val="0"/>
              </a:spcAft>
            </a:pPr>
            <a:r>
              <a:rPr sz="100">
                <a:solidFill>
                  <a:srgbClr val="FFFFFF"/>
                </a:solidFill>
                <a:latin typeface="Noto Sans"/>
              </a:rPr>
              <a:t>Año</a:t>
            </a:r>
          </a:p>
          <a:p>
            <a:pPr>
              <a:spcBef>
                <a:spcPts val="0"/>
              </a:spcBef>
              <a:spcAft>
                <a:spcPts val="0"/>
              </a:spcAft>
            </a:pPr>
            <a:r>
              <a:rPr sz="100">
                <a:solidFill>
                  <a:srgbClr val="FFFFFF"/>
                </a:solidFill>
                <a:latin typeface="Noto Sans"/>
              </a:rPr>
              <a:t>48,357</a:t>
            </a:r>
          </a:p>
          <a:p>
            <a:pPr>
              <a:spcBef>
                <a:spcPts val="0"/>
              </a:spcBef>
              <a:spcAft>
                <a:spcPts val="0"/>
              </a:spcAft>
            </a:pPr>
            <a:r>
              <a:rPr sz="100">
                <a:solidFill>
                  <a:srgbClr val="FFFFFF"/>
                </a:solidFill>
                <a:latin typeface="Noto Sans"/>
              </a:rPr>
              <a:t>2,682.65</a:t>
            </a:r>
          </a:p>
          <a:p>
            <a:pPr>
              <a:spcBef>
                <a:spcPts val="0"/>
              </a:spcBef>
              <a:spcAft>
                <a:spcPts val="0"/>
              </a:spcAft>
            </a:pPr>
            <a:r>
              <a:rPr sz="100">
                <a:solidFill>
                  <a:srgbClr val="FFFFFF"/>
                </a:solidFill>
                <a:latin typeface="Noto Sans"/>
              </a:rPr>
              <a:t>30,352</a:t>
            </a:r>
          </a:p>
          <a:p>
            <a:pPr>
              <a:spcBef>
                <a:spcPts val="0"/>
              </a:spcBef>
              <a:spcAft>
                <a:spcPts val="0"/>
              </a:spcAft>
            </a:pPr>
            <a:r>
              <a:rPr sz="100">
                <a:solidFill>
                  <a:srgbClr val="FFFFFF"/>
                </a:solidFill>
                <a:latin typeface="Noto Sans"/>
              </a:rPr>
              <a:t>-4,272.79</a:t>
            </a:r>
          </a:p>
          <a:p>
            <a:pPr>
              <a:spcBef>
                <a:spcPts val="0"/>
              </a:spcBef>
              <a:spcAft>
                <a:spcPts val="0"/>
              </a:spcAft>
            </a:pPr>
            <a:r>
              <a:rPr sz="100">
                <a:solidFill>
                  <a:srgbClr val="FFFFFF"/>
                </a:solidFill>
                <a:latin typeface="Noto Sans"/>
              </a:rPr>
              <a:t>35,946</a:t>
            </a:r>
          </a:p>
          <a:p>
            <a:pPr>
              <a:spcBef>
                <a:spcPts val="0"/>
              </a:spcBef>
              <a:spcAft>
                <a:spcPts val="0"/>
              </a:spcAft>
            </a:pPr>
            <a:r>
              <a:rPr sz="100">
                <a:solidFill>
                  <a:srgbClr val="FFFFFF"/>
                </a:solidFill>
                <a:latin typeface="Noto Sans"/>
              </a:rPr>
              <a:t>2,749.70</a:t>
            </a:r>
          </a:p>
          <a:p>
            <a:pPr>
              <a:spcBef>
                <a:spcPts val="0"/>
              </a:spcBef>
              <a:spcAft>
                <a:spcPts val="0"/>
              </a:spcAft>
            </a:pPr>
            <a:r>
              <a:rPr sz="100">
                <a:solidFill>
                  <a:srgbClr val="FFFFFF"/>
                </a:solidFill>
                <a:latin typeface="Noto Sans"/>
              </a:rPr>
              <a:t>31,192</a:t>
            </a:r>
          </a:p>
          <a:p>
            <a:pPr>
              <a:spcBef>
                <a:spcPts val="0"/>
              </a:spcBef>
              <a:spcAft>
                <a:spcPts val="0"/>
              </a:spcAft>
            </a:pPr>
            <a:r>
              <a:rPr sz="100">
                <a:solidFill>
                  <a:srgbClr val="FFFFFF"/>
                </a:solidFill>
                <a:latin typeface="Noto Sans"/>
              </a:rPr>
              <a:t>684.60</a:t>
            </a:r>
          </a:p>
          <a:p>
            <a:pPr>
              <a:spcBef>
                <a:spcPts val="0"/>
              </a:spcBef>
              <a:spcAft>
                <a:spcPts val="0"/>
              </a:spcAft>
            </a:pPr>
            <a:r>
              <a:rPr sz="100">
                <a:solidFill>
                  <a:srgbClr val="FFFFFF"/>
                </a:solidFill>
                <a:latin typeface="Noto Sans"/>
              </a:rPr>
              <a:t>34,065</a:t>
            </a:r>
          </a:p>
          <a:p>
            <a:pPr>
              <a:spcBef>
                <a:spcPts val="0"/>
              </a:spcBef>
              <a:spcAft>
                <a:spcPts val="0"/>
              </a:spcAft>
            </a:pPr>
            <a:r>
              <a:rPr sz="100">
                <a:solidFill>
                  <a:srgbClr val="FFFFFF"/>
                </a:solidFill>
                <a:latin typeface="Noto Sans"/>
              </a:rPr>
              <a:t>321.48</a:t>
            </a:r>
          </a:p>
          <a:p>
            <a:pPr>
              <a:spcBef>
                <a:spcPts val="0"/>
              </a:spcBef>
              <a:spcAft>
                <a:spcPts val="0"/>
              </a:spcAft>
            </a:pPr>
            <a:r>
              <a:rPr sz="100">
                <a:solidFill>
                  <a:srgbClr val="FFFFFF"/>
                </a:solidFill>
                <a:latin typeface="Noto Sans"/>
              </a:rPr>
              <a:t>34,114</a:t>
            </a:r>
          </a:p>
          <a:p>
            <a:pPr>
              <a:spcBef>
                <a:spcPts val="0"/>
              </a:spcBef>
              <a:spcAft>
                <a:spcPts val="0"/>
              </a:spcAft>
            </a:pPr>
            <a:r>
              <a:rPr sz="100">
                <a:solidFill>
                  <a:srgbClr val="FFFFFF"/>
                </a:solidFill>
                <a:latin typeface="Noto Sans"/>
              </a:rPr>
              <a:t>1,062.24</a:t>
            </a:r>
          </a:p>
          <a:p>
            <a:pPr>
              <a:spcBef>
                <a:spcPts val="0"/>
              </a:spcBef>
              <a:spcAft>
                <a:spcPts val="0"/>
              </a:spcAft>
            </a:pPr>
            <a:r>
              <a:rPr sz="100">
                <a:solidFill>
                  <a:srgbClr val="FFFFFF"/>
                </a:solidFill>
                <a:latin typeface="Noto Sans"/>
              </a:rPr>
              <a:t>34,799</a:t>
            </a:r>
          </a:p>
          <a:p>
            <a:pPr>
              <a:spcBef>
                <a:spcPts val="0"/>
              </a:spcBef>
              <a:spcAft>
                <a:spcPts val="0"/>
              </a:spcAft>
            </a:pPr>
            <a:r>
              <a:rPr sz="100">
                <a:solidFill>
                  <a:srgbClr val="FFFFFF"/>
                </a:solidFill>
                <a:latin typeface="Noto Sans"/>
              </a:rPr>
              <a:t>1,661.18</a:t>
            </a:r>
          </a:p>
          <a:p>
            <a:pPr>
              <a:spcBef>
                <a:spcPts val="0"/>
              </a:spcBef>
              <a:spcAft>
                <a:spcPts val="0"/>
              </a:spcAft>
            </a:pPr>
            <a:r>
              <a:rPr sz="100">
                <a:solidFill>
                  <a:srgbClr val="FFFFFF"/>
                </a:solidFill>
                <a:latin typeface="Noto Sans"/>
              </a:rPr>
              <a:t>28,284</a:t>
            </a:r>
          </a:p>
          <a:p>
            <a:pPr>
              <a:spcBef>
                <a:spcPts val="0"/>
              </a:spcBef>
              <a:spcAft>
                <a:spcPts val="0"/>
              </a:spcAft>
            </a:pPr>
            <a:r>
              <a:rPr sz="100">
                <a:solidFill>
                  <a:srgbClr val="FFFFFF"/>
                </a:solidFill>
                <a:latin typeface="Noto Sans"/>
              </a:rPr>
              <a:t>1,107.76</a:t>
            </a:r>
          </a:p>
          <a:p>
            <a:pPr>
              <a:spcBef>
                <a:spcPts val="0"/>
              </a:spcBef>
              <a:spcAft>
                <a:spcPts val="0"/>
              </a:spcAft>
            </a:pPr>
            <a:r>
              <a:rPr sz="100">
                <a:solidFill>
                  <a:srgbClr val="FFFFFF"/>
                </a:solidFill>
                <a:latin typeface="Noto Sans"/>
              </a:rPr>
              <a:t>33,855</a:t>
            </a:r>
          </a:p>
          <a:p>
            <a:pPr>
              <a:spcBef>
                <a:spcPts val="0"/>
              </a:spcBef>
              <a:spcAft>
                <a:spcPts val="0"/>
              </a:spcAft>
            </a:pPr>
            <a:r>
              <a:rPr sz="100">
                <a:solidFill>
                  <a:srgbClr val="FFFFFF"/>
                </a:solidFill>
                <a:latin typeface="Noto Sans"/>
              </a:rPr>
              <a:t>392.33</a:t>
            </a:r>
          </a:p>
          <a:p>
            <a:pPr>
              <a:spcBef>
                <a:spcPts val="0"/>
              </a:spcBef>
              <a:spcAft>
                <a:spcPts val="0"/>
              </a:spcAft>
            </a:pPr>
            <a:r>
              <a:rPr sz="100">
                <a:solidFill>
                  <a:srgbClr val="FFFFFF"/>
                </a:solidFill>
                <a:latin typeface="Noto Sans"/>
              </a:rPr>
              <a:t>36,421</a:t>
            </a:r>
          </a:p>
          <a:p>
            <a:pPr>
              <a:spcBef>
                <a:spcPts val="0"/>
              </a:spcBef>
              <a:spcAft>
                <a:spcPts val="0"/>
              </a:spcAft>
            </a:pPr>
            <a:r>
              <a:rPr sz="100">
                <a:solidFill>
                  <a:srgbClr val="FFFFFF"/>
                </a:solidFill>
                <a:latin typeface="Noto Sans"/>
              </a:rPr>
              <a:t>74.34</a:t>
            </a:r>
          </a:p>
          <a:p>
            <a:pPr>
              <a:spcBef>
                <a:spcPts val="0"/>
              </a:spcBef>
              <a:spcAft>
                <a:spcPts val="0"/>
              </a:spcAft>
            </a:pPr>
            <a:r>
              <a:rPr sz="100">
                <a:solidFill>
                  <a:srgbClr val="FFFFFF"/>
                </a:solidFill>
                <a:latin typeface="Noto Sans"/>
              </a:rPr>
              <a:t>36,507</a:t>
            </a:r>
          </a:p>
          <a:p>
            <a:pPr>
              <a:spcBef>
                <a:spcPts val="0"/>
              </a:spcBef>
              <a:spcAft>
                <a:spcPts val="0"/>
              </a:spcAft>
            </a:pPr>
            <a:r>
              <a:rPr sz="100">
                <a:solidFill>
                  <a:srgbClr val="FFFFFF"/>
                </a:solidFill>
                <a:latin typeface="Noto Sans"/>
              </a:rPr>
              <a:t>-959.05</a:t>
            </a:r>
          </a:p>
          <a:p>
            <a:pPr>
              <a:spcBef>
                <a:spcPts val="0"/>
              </a:spcBef>
              <a:spcAft>
                <a:spcPts val="0"/>
              </a:spcAft>
            </a:pPr>
            <a:r>
              <a:rPr sz="100">
                <a:solidFill>
                  <a:srgbClr val="FFFFFF"/>
                </a:solidFill>
                <a:latin typeface="Noto Sans"/>
              </a:rPr>
              <a:t>37,969</a:t>
            </a:r>
          </a:p>
          <a:p>
            <a:pPr>
              <a:spcBef>
                <a:spcPts val="0"/>
              </a:spcBef>
              <a:spcAft>
                <a:spcPts val="0"/>
              </a:spcAft>
            </a:pPr>
            <a:r>
              <a:rPr sz="100">
                <a:solidFill>
                  <a:srgbClr val="FFFFFF"/>
                </a:solidFill>
                <a:latin typeface="Noto Sans"/>
              </a:rPr>
              <a:t>148.56</a:t>
            </a:r>
          </a:p>
          <a:p>
            <a:pPr>
              <a:spcBef>
                <a:spcPts val="0"/>
              </a:spcBef>
              <a:spcAft>
                <a:spcPts val="0"/>
              </a:spcAft>
            </a:pPr>
            <a:r>
              <a:rPr sz="100">
                <a:solidFill>
                  <a:srgbClr val="FFFFFF"/>
                </a:solidFill>
                <a:latin typeface="Noto Sans"/>
              </a:rPr>
              <a:t>41,917</a:t>
            </a:r>
          </a:p>
          <a:p>
            <a:pPr>
              <a:spcBef>
                <a:spcPts val="0"/>
              </a:spcBef>
              <a:spcAft>
                <a:spcPts val="0"/>
              </a:spcAft>
            </a:pPr>
            <a:r>
              <a:rPr sz="100">
                <a:solidFill>
                  <a:srgbClr val="FFFFFF"/>
                </a:solidFill>
                <a:latin typeface="Noto Sans"/>
              </a:rPr>
              <a:t>-73.84</a:t>
            </a:r>
          </a:p>
          <a:p>
            <a:pPr>
              <a:spcBef>
                <a:spcPts val="0"/>
              </a:spcBef>
              <a:spcAft>
                <a:spcPts val="0"/>
              </a:spcAft>
            </a:pPr>
            <a:r>
              <a:rPr sz="100">
                <a:solidFill>
                  <a:srgbClr val="FFFFFF"/>
                </a:solidFill>
                <a:latin typeface="Noto Sans"/>
              </a:rPr>
              <a:t>24,503</a:t>
            </a:r>
          </a:p>
          <a:p>
            <a:pPr>
              <a:spcBef>
                <a:spcPts val="0"/>
              </a:spcBef>
              <a:spcAft>
                <a:spcPts val="0"/>
              </a:spcAft>
            </a:pPr>
            <a:r>
              <a:rPr sz="100">
                <a:solidFill>
                  <a:srgbClr val="FFFFFF"/>
                </a:solidFill>
                <a:latin typeface="Noto Sans"/>
              </a:rPr>
              <a:t>-22.36</a:t>
            </a:r>
          </a:p>
          <a:p>
            <a:pPr>
              <a:spcBef>
                <a:spcPts val="0"/>
              </a:spcBef>
              <a:spcAft>
                <a:spcPts val="0"/>
              </a:spcAft>
            </a:pPr>
            <a:r>
              <a:rPr sz="100">
                <a:solidFill>
                  <a:srgbClr val="FFFFFF"/>
                </a:solidFill>
                <a:latin typeface="Noto Sans"/>
              </a:rPr>
              <a:t>Figura A.5.</a:t>
            </a:r>
          </a:p>
          <a:p>
            <a:pPr>
              <a:spcBef>
                <a:spcPts val="0"/>
              </a:spcBef>
              <a:spcAft>
                <a:spcPts val="0"/>
              </a:spcAft>
            </a:pPr>
            <a:r>
              <a:rPr sz="100">
                <a:solidFill>
                  <a:srgbClr val="FFFFFF"/>
                </a:solidFill>
                <a:latin typeface="Noto Sans"/>
              </a:rPr>
              <a:t>Inversión Extranjera Directa (IED) en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Secretaría de Economía, actualizados al segundo trimestre de 2026. Datos disponibles en: https://www.gob.mx/se/acciones-y-programas/competitividad-y-normatividad-inversion-extranjera-</a:t>
            </a:r>
          </a:p>
          <a:p>
            <a:pPr>
              <a:spcBef>
                <a:spcPts val="0"/>
              </a:spcBef>
              <a:spcAft>
                <a:spcPts val="0"/>
              </a:spcAft>
            </a:pPr>
            <a:r>
              <a:rPr sz="100">
                <a:solidFill>
                  <a:srgbClr val="FFFFFF"/>
                </a:solidFill>
                <a:latin typeface="Noto Sans"/>
              </a:rPr>
              <a:t>directa?state=published.</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millones de dólares (dólares corrientes). Rama 5151 Transmisión de programas de radio y televisión, y Subsector 517 Telecomunicaciones. Para 2026 las cifras son acumuladas de enero-marzo; para</a:t>
            </a:r>
          </a:p>
          <a:p>
            <a:pPr>
              <a:spcBef>
                <a:spcPts val="0"/>
              </a:spcBef>
              <a:spcAft>
                <a:spcPts val="0"/>
              </a:spcAft>
            </a:pPr>
            <a:r>
              <a:rPr sz="100">
                <a:solidFill>
                  <a:srgbClr val="FFFFFF"/>
                </a:solidFill>
                <a:latin typeface="Noto Sans"/>
              </a:rPr>
              <a:t>los años anteriores se utiliza el último trimestre común disponible.</a:t>
            </a:r>
          </a:p>
          <a:p>
            <a:pPr>
              <a:spcBef>
                <a:spcPts val="0"/>
              </a:spcBef>
              <a:spcAft>
                <a:spcPts val="0"/>
              </a:spcAft>
            </a:pPr>
            <a:r>
              <a:rPr sz="100">
                <a:solidFill>
                  <a:srgbClr val="FFFFFF"/>
                </a:solidFill>
                <a:latin typeface="Noto Sans"/>
              </a:rPr>
              <a:t>Inversión Extranjera Directa de México</a:t>
            </a:r>
          </a:p>
          <a:p>
            <a:pPr>
              <a:spcBef>
                <a:spcPts val="0"/>
              </a:spcBef>
              <a:spcAft>
                <a:spcPts val="0"/>
              </a:spcAft>
            </a:pPr>
            <a:r>
              <a:rPr sz="100">
                <a:solidFill>
                  <a:srgbClr val="FFFFFF"/>
                </a:solidFill>
                <a:latin typeface="Noto Sans"/>
              </a:rPr>
              <a:t>Inversión Extranjera Directa en Telecomunicaciones</a:t>
            </a:r>
          </a:p>
        </p:txBody>
      </p:sp>
      <p:pic>
        <p:nvPicPr>
          <p:cNvPr id="223" name="ANUARIO_IMAGE_A_5" descr="Figura A.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15</a:t>
            </a:r>
          </a:p>
        </p:txBody>
      </p:sp>
    </p:spTree>
  </p:cSld>
  <p:clrMapOvr>
    <a:masterClrMapping/>
  </p:clrMapOvr>
</p:sld>
</file>

<file path=ppt/slides/slide1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6" descr="ANUARIO_FIGURE_ID=A.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A.6</a:t>
            </a:r>
          </a:p>
          <a:p>
            <a:pPr>
              <a:spcBef>
                <a:spcPts val="0"/>
              </a:spcBef>
              <a:spcAft>
                <a:spcPts val="600"/>
              </a:spcAft>
            </a:pPr>
            <a:r>
              <a:rPr sz="950" b="1">
                <a:solidFill>
                  <a:srgbClr val="203634"/>
                </a:solidFill>
                <a:latin typeface="Noto Sans"/>
              </a:rPr>
              <a:t>INGRESOS, EGRESOS Y MARGEN EN EL SECTOR DE TELECOMUNICACIONES</a:t>
            </a:r>
          </a:p>
          <a:p>
            <a:pPr>
              <a:lnSpc>
                <a:spcPct val="100000"/>
              </a:lnSpc>
              <a:spcBef>
                <a:spcPts val="0"/>
              </a:spcBef>
              <a:spcAft>
                <a:spcPts val="400"/>
              </a:spcAft>
            </a:pPr>
            <a:r>
              <a:rPr sz="819" b="0">
                <a:solidFill>
                  <a:srgbClr val="434343"/>
                </a:solidFill>
                <a:latin typeface="Noto Sans"/>
              </a:rPr>
              <a:t>Los operadores de telecomunicaciones en 2024 reportaron en conjunto aproximadamente $163.1 mil millones de pesos de ingresos y $115.8 mil millones de pesos de egresos, por lo que el margen de utilidad fue de $47.3 mil millones de pesos, lo que equivale a 29% de los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6" descr="ANUARIO_FIGURE_ID=A.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6" descr="Capa accesible con el texto del SVG de la figura A.6"/>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A.6</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I</a:t>
            </a:r>
          </a:p>
          <a:p>
            <a:pPr>
              <a:spcBef>
                <a:spcPts val="0"/>
              </a:spcBef>
              <a:spcAft>
                <a:spcPts val="0"/>
              </a:spcAft>
            </a:pPr>
            <a:r>
              <a:rPr sz="100">
                <a:solidFill>
                  <a:srgbClr val="FFFFFF"/>
                </a:solidFill>
                <a:latin typeface="Noto Sans"/>
              </a:rPr>
              <a:t>II</a:t>
            </a:r>
          </a:p>
          <a:p>
            <a:pPr>
              <a:spcBef>
                <a:spcPts val="0"/>
              </a:spcBef>
              <a:spcAft>
                <a:spcPts val="0"/>
              </a:spcAft>
            </a:pPr>
            <a:r>
              <a:rPr sz="100">
                <a:solidFill>
                  <a:srgbClr val="FFFFFF"/>
                </a:solidFill>
                <a:latin typeface="Noto Sans"/>
              </a:rPr>
              <a:t>III</a:t>
            </a:r>
          </a:p>
          <a:p>
            <a:pPr>
              <a:spcBef>
                <a:spcPts val="0"/>
              </a:spcBef>
              <a:spcAft>
                <a:spcPts val="0"/>
              </a:spcAft>
            </a:pPr>
            <a:r>
              <a:rPr sz="100">
                <a:solidFill>
                  <a:srgbClr val="FFFFFF"/>
                </a:solidFill>
                <a:latin typeface="Noto Sans"/>
              </a:rPr>
              <a:t>IV</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175</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Miles de millones de pesos</a:t>
            </a:r>
          </a:p>
          <a:p>
            <a:pPr>
              <a:spcBef>
                <a:spcPts val="0"/>
              </a:spcBef>
              <a:spcAft>
                <a:spcPts val="0"/>
              </a:spcAft>
            </a:pPr>
            <a:r>
              <a:rPr sz="100">
                <a:solidFill>
                  <a:srgbClr val="FFFFFF"/>
                </a:solidFill>
                <a:latin typeface="Noto Sans"/>
              </a:rPr>
              <a:t>113,046</a:t>
            </a:r>
          </a:p>
          <a:p>
            <a:pPr>
              <a:spcBef>
                <a:spcPts val="0"/>
              </a:spcBef>
              <a:spcAft>
                <a:spcPts val="0"/>
              </a:spcAft>
            </a:pPr>
            <a:r>
              <a:rPr sz="100">
                <a:solidFill>
                  <a:srgbClr val="FFFFFF"/>
                </a:solidFill>
                <a:latin typeface="Noto Sans"/>
              </a:rPr>
              <a:t>114,038</a:t>
            </a:r>
          </a:p>
          <a:p>
            <a:pPr>
              <a:spcBef>
                <a:spcPts val="0"/>
              </a:spcBef>
              <a:spcAft>
                <a:spcPts val="0"/>
              </a:spcAft>
            </a:pPr>
            <a:r>
              <a:rPr sz="100">
                <a:solidFill>
                  <a:srgbClr val="FFFFFF"/>
                </a:solidFill>
                <a:latin typeface="Noto Sans"/>
              </a:rPr>
              <a:t>114,089</a:t>
            </a:r>
          </a:p>
          <a:p>
            <a:pPr>
              <a:spcBef>
                <a:spcPts val="0"/>
              </a:spcBef>
              <a:spcAft>
                <a:spcPts val="0"/>
              </a:spcAft>
            </a:pPr>
            <a:r>
              <a:rPr sz="100">
                <a:solidFill>
                  <a:srgbClr val="FFFFFF"/>
                </a:solidFill>
                <a:latin typeface="Noto Sans"/>
              </a:rPr>
              <a:t>124,743</a:t>
            </a:r>
          </a:p>
          <a:p>
            <a:pPr>
              <a:spcBef>
                <a:spcPts val="0"/>
              </a:spcBef>
              <a:spcAft>
                <a:spcPts val="0"/>
              </a:spcAft>
            </a:pPr>
            <a:r>
              <a:rPr sz="100">
                <a:solidFill>
                  <a:srgbClr val="FFFFFF"/>
                </a:solidFill>
                <a:latin typeface="Noto Sans"/>
              </a:rPr>
              <a:t>114,166</a:t>
            </a:r>
          </a:p>
          <a:p>
            <a:pPr>
              <a:spcBef>
                <a:spcPts val="0"/>
              </a:spcBef>
              <a:spcAft>
                <a:spcPts val="0"/>
              </a:spcAft>
            </a:pPr>
            <a:r>
              <a:rPr sz="100">
                <a:solidFill>
                  <a:srgbClr val="FFFFFF"/>
                </a:solidFill>
                <a:latin typeface="Noto Sans"/>
              </a:rPr>
              <a:t>123,769</a:t>
            </a:r>
          </a:p>
          <a:p>
            <a:pPr>
              <a:spcBef>
                <a:spcPts val="0"/>
              </a:spcBef>
              <a:spcAft>
                <a:spcPts val="0"/>
              </a:spcAft>
            </a:pPr>
            <a:r>
              <a:rPr sz="100">
                <a:solidFill>
                  <a:srgbClr val="FFFFFF"/>
                </a:solidFill>
                <a:latin typeface="Noto Sans"/>
              </a:rPr>
              <a:t>125,106</a:t>
            </a:r>
          </a:p>
          <a:p>
            <a:pPr>
              <a:spcBef>
                <a:spcPts val="0"/>
              </a:spcBef>
              <a:spcAft>
                <a:spcPts val="0"/>
              </a:spcAft>
            </a:pPr>
            <a:r>
              <a:rPr sz="100">
                <a:solidFill>
                  <a:srgbClr val="FFFFFF"/>
                </a:solidFill>
                <a:latin typeface="Noto Sans"/>
              </a:rPr>
              <a:t>130,446</a:t>
            </a:r>
          </a:p>
          <a:p>
            <a:pPr>
              <a:spcBef>
                <a:spcPts val="0"/>
              </a:spcBef>
              <a:spcAft>
                <a:spcPts val="0"/>
              </a:spcAft>
            </a:pPr>
            <a:r>
              <a:rPr sz="100">
                <a:solidFill>
                  <a:srgbClr val="FFFFFF"/>
                </a:solidFill>
                <a:latin typeface="Noto Sans"/>
              </a:rPr>
              <a:t>119,323</a:t>
            </a:r>
          </a:p>
          <a:p>
            <a:pPr>
              <a:spcBef>
                <a:spcPts val="0"/>
              </a:spcBef>
              <a:spcAft>
                <a:spcPts val="0"/>
              </a:spcAft>
            </a:pPr>
            <a:r>
              <a:rPr sz="100">
                <a:solidFill>
                  <a:srgbClr val="FFFFFF"/>
                </a:solidFill>
                <a:latin typeface="Noto Sans"/>
              </a:rPr>
              <a:t>127,379</a:t>
            </a:r>
          </a:p>
          <a:p>
            <a:pPr>
              <a:spcBef>
                <a:spcPts val="0"/>
              </a:spcBef>
              <a:spcAft>
                <a:spcPts val="0"/>
              </a:spcAft>
            </a:pPr>
            <a:r>
              <a:rPr sz="100">
                <a:solidFill>
                  <a:srgbClr val="FFFFFF"/>
                </a:solidFill>
                <a:latin typeface="Noto Sans"/>
              </a:rPr>
              <a:t>131,935</a:t>
            </a:r>
          </a:p>
          <a:p>
            <a:pPr>
              <a:spcBef>
                <a:spcPts val="0"/>
              </a:spcBef>
              <a:spcAft>
                <a:spcPts val="0"/>
              </a:spcAft>
            </a:pPr>
            <a:r>
              <a:rPr sz="100">
                <a:solidFill>
                  <a:srgbClr val="FFFFFF"/>
                </a:solidFill>
                <a:latin typeface="Noto Sans"/>
              </a:rPr>
              <a:t>138,337</a:t>
            </a:r>
          </a:p>
          <a:p>
            <a:pPr>
              <a:spcBef>
                <a:spcPts val="0"/>
              </a:spcBef>
              <a:spcAft>
                <a:spcPts val="0"/>
              </a:spcAft>
            </a:pPr>
            <a:r>
              <a:rPr sz="100">
                <a:solidFill>
                  <a:srgbClr val="FFFFFF"/>
                </a:solidFill>
                <a:latin typeface="Noto Sans"/>
              </a:rPr>
              <a:t>132,154</a:t>
            </a:r>
          </a:p>
          <a:p>
            <a:pPr>
              <a:spcBef>
                <a:spcPts val="0"/>
              </a:spcBef>
              <a:spcAft>
                <a:spcPts val="0"/>
              </a:spcAft>
            </a:pPr>
            <a:r>
              <a:rPr sz="100">
                <a:solidFill>
                  <a:srgbClr val="FFFFFF"/>
                </a:solidFill>
                <a:latin typeface="Noto Sans"/>
              </a:rPr>
              <a:t>118,927</a:t>
            </a:r>
          </a:p>
          <a:p>
            <a:pPr>
              <a:spcBef>
                <a:spcPts val="0"/>
              </a:spcBef>
              <a:spcAft>
                <a:spcPts val="0"/>
              </a:spcAft>
            </a:pPr>
            <a:r>
              <a:rPr sz="100">
                <a:solidFill>
                  <a:srgbClr val="FFFFFF"/>
                </a:solidFill>
                <a:latin typeface="Noto Sans"/>
              </a:rPr>
              <a:t>132,484</a:t>
            </a:r>
          </a:p>
          <a:p>
            <a:pPr>
              <a:spcBef>
                <a:spcPts val="0"/>
              </a:spcBef>
              <a:spcAft>
                <a:spcPts val="0"/>
              </a:spcAft>
            </a:pPr>
            <a:r>
              <a:rPr sz="100">
                <a:solidFill>
                  <a:srgbClr val="FFFFFF"/>
                </a:solidFill>
                <a:latin typeface="Noto Sans"/>
              </a:rPr>
              <a:t>137,441</a:t>
            </a:r>
          </a:p>
          <a:p>
            <a:pPr>
              <a:spcBef>
                <a:spcPts val="0"/>
              </a:spcBef>
              <a:spcAft>
                <a:spcPts val="0"/>
              </a:spcAft>
            </a:pPr>
            <a:r>
              <a:rPr sz="100">
                <a:solidFill>
                  <a:srgbClr val="FFFFFF"/>
                </a:solidFill>
                <a:latin typeface="Noto Sans"/>
              </a:rPr>
              <a:t>131,243</a:t>
            </a:r>
          </a:p>
          <a:p>
            <a:pPr>
              <a:spcBef>
                <a:spcPts val="0"/>
              </a:spcBef>
              <a:spcAft>
                <a:spcPts val="0"/>
              </a:spcAft>
            </a:pPr>
            <a:r>
              <a:rPr sz="100">
                <a:solidFill>
                  <a:srgbClr val="FFFFFF"/>
                </a:solidFill>
                <a:latin typeface="Noto Sans"/>
              </a:rPr>
              <a:t>125,606</a:t>
            </a:r>
          </a:p>
          <a:p>
            <a:pPr>
              <a:spcBef>
                <a:spcPts val="0"/>
              </a:spcBef>
              <a:spcAft>
                <a:spcPts val="0"/>
              </a:spcAft>
            </a:pPr>
            <a:r>
              <a:rPr sz="100">
                <a:solidFill>
                  <a:srgbClr val="FFFFFF"/>
                </a:solidFill>
                <a:latin typeface="Noto Sans"/>
              </a:rPr>
              <a:t>134,757</a:t>
            </a:r>
          </a:p>
          <a:p>
            <a:pPr>
              <a:spcBef>
                <a:spcPts val="0"/>
              </a:spcBef>
              <a:spcAft>
                <a:spcPts val="0"/>
              </a:spcAft>
            </a:pPr>
            <a:r>
              <a:rPr sz="100">
                <a:solidFill>
                  <a:srgbClr val="FFFFFF"/>
                </a:solidFill>
                <a:latin typeface="Noto Sans"/>
              </a:rPr>
              <a:t>146,900</a:t>
            </a:r>
          </a:p>
          <a:p>
            <a:pPr>
              <a:spcBef>
                <a:spcPts val="0"/>
              </a:spcBef>
              <a:spcAft>
                <a:spcPts val="0"/>
              </a:spcAft>
            </a:pPr>
            <a:r>
              <a:rPr sz="100">
                <a:solidFill>
                  <a:srgbClr val="FFFFFF"/>
                </a:solidFill>
                <a:latin typeface="Noto Sans"/>
              </a:rPr>
              <a:t>134,419</a:t>
            </a:r>
          </a:p>
          <a:p>
            <a:pPr>
              <a:spcBef>
                <a:spcPts val="0"/>
              </a:spcBef>
              <a:spcAft>
                <a:spcPts val="0"/>
              </a:spcAft>
            </a:pPr>
            <a:r>
              <a:rPr sz="100">
                <a:solidFill>
                  <a:srgbClr val="FFFFFF"/>
                </a:solidFill>
                <a:latin typeface="Noto Sans"/>
              </a:rPr>
              <a:t>141,731</a:t>
            </a:r>
          </a:p>
          <a:p>
            <a:pPr>
              <a:spcBef>
                <a:spcPts val="0"/>
              </a:spcBef>
              <a:spcAft>
                <a:spcPts val="0"/>
              </a:spcAft>
            </a:pPr>
            <a:r>
              <a:rPr sz="100">
                <a:solidFill>
                  <a:srgbClr val="FFFFFF"/>
                </a:solidFill>
                <a:latin typeface="Noto Sans"/>
              </a:rPr>
              <a:t>134,660</a:t>
            </a:r>
          </a:p>
          <a:p>
            <a:pPr>
              <a:spcBef>
                <a:spcPts val="0"/>
              </a:spcBef>
              <a:spcAft>
                <a:spcPts val="0"/>
              </a:spcAft>
            </a:pPr>
            <a:r>
              <a:rPr sz="100">
                <a:solidFill>
                  <a:srgbClr val="FFFFFF"/>
                </a:solidFill>
                <a:latin typeface="Noto Sans"/>
              </a:rPr>
              <a:t>154,251</a:t>
            </a:r>
          </a:p>
          <a:p>
            <a:pPr>
              <a:spcBef>
                <a:spcPts val="0"/>
              </a:spcBef>
              <a:spcAft>
                <a:spcPts val="0"/>
              </a:spcAft>
            </a:pPr>
            <a:r>
              <a:rPr sz="100">
                <a:solidFill>
                  <a:srgbClr val="FFFFFF"/>
                </a:solidFill>
                <a:latin typeface="Noto Sans"/>
              </a:rPr>
              <a:t>145,835</a:t>
            </a:r>
          </a:p>
          <a:p>
            <a:pPr>
              <a:spcBef>
                <a:spcPts val="0"/>
              </a:spcBef>
              <a:spcAft>
                <a:spcPts val="0"/>
              </a:spcAft>
            </a:pPr>
            <a:r>
              <a:rPr sz="100">
                <a:solidFill>
                  <a:srgbClr val="FFFFFF"/>
                </a:solidFill>
                <a:latin typeface="Noto Sans"/>
              </a:rPr>
              <a:t>148,403</a:t>
            </a:r>
          </a:p>
          <a:p>
            <a:pPr>
              <a:spcBef>
                <a:spcPts val="0"/>
              </a:spcBef>
              <a:spcAft>
                <a:spcPts val="0"/>
              </a:spcAft>
            </a:pPr>
            <a:r>
              <a:rPr sz="100">
                <a:solidFill>
                  <a:srgbClr val="FFFFFF"/>
                </a:solidFill>
                <a:latin typeface="Noto Sans"/>
              </a:rPr>
              <a:t>150,042</a:t>
            </a:r>
          </a:p>
          <a:p>
            <a:pPr>
              <a:spcBef>
                <a:spcPts val="0"/>
              </a:spcBef>
              <a:spcAft>
                <a:spcPts val="0"/>
              </a:spcAft>
            </a:pPr>
            <a:r>
              <a:rPr sz="100">
                <a:solidFill>
                  <a:srgbClr val="FFFFFF"/>
                </a:solidFill>
                <a:latin typeface="Noto Sans"/>
              </a:rPr>
              <a:t>159,144</a:t>
            </a:r>
          </a:p>
          <a:p>
            <a:pPr>
              <a:spcBef>
                <a:spcPts val="0"/>
              </a:spcBef>
              <a:spcAft>
                <a:spcPts val="0"/>
              </a:spcAft>
            </a:pPr>
            <a:r>
              <a:rPr sz="100">
                <a:solidFill>
                  <a:srgbClr val="FFFFFF"/>
                </a:solidFill>
                <a:latin typeface="Noto Sans"/>
              </a:rPr>
              <a:t>154,525</a:t>
            </a:r>
          </a:p>
          <a:p>
            <a:pPr>
              <a:spcBef>
                <a:spcPts val="0"/>
              </a:spcBef>
              <a:spcAft>
                <a:spcPts val="0"/>
              </a:spcAft>
            </a:pPr>
            <a:r>
              <a:rPr sz="100">
                <a:solidFill>
                  <a:srgbClr val="FFFFFF"/>
                </a:solidFill>
                <a:latin typeface="Noto Sans"/>
              </a:rPr>
              <a:t>150,579</a:t>
            </a:r>
          </a:p>
          <a:p>
            <a:pPr>
              <a:spcBef>
                <a:spcPts val="0"/>
              </a:spcBef>
              <a:spcAft>
                <a:spcPts val="0"/>
              </a:spcAft>
            </a:pPr>
            <a:r>
              <a:rPr sz="100">
                <a:solidFill>
                  <a:srgbClr val="FFFFFF"/>
                </a:solidFill>
                <a:latin typeface="Noto Sans"/>
              </a:rPr>
              <a:t>157,729</a:t>
            </a:r>
          </a:p>
          <a:p>
            <a:pPr>
              <a:spcBef>
                <a:spcPts val="0"/>
              </a:spcBef>
              <a:spcAft>
                <a:spcPts val="0"/>
              </a:spcAft>
            </a:pPr>
            <a:r>
              <a:rPr sz="100">
                <a:solidFill>
                  <a:srgbClr val="FFFFFF"/>
                </a:solidFill>
                <a:latin typeface="Noto Sans"/>
              </a:rPr>
              <a:t>163,138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Figura A.6.</a:t>
            </a:r>
          </a:p>
          <a:p>
            <a:pPr>
              <a:spcBef>
                <a:spcPts val="0"/>
              </a:spcBef>
              <a:spcAft>
                <a:spcPts val="0"/>
              </a:spcAft>
            </a:pPr>
            <a:r>
              <a:rPr sz="100">
                <a:solidFill>
                  <a:srgbClr val="FFFFFF"/>
                </a:solidFill>
                <a:latin typeface="Noto Sans"/>
              </a:rPr>
              <a:t>Ingresos, egresos y margen en el sector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BIT actualizado a diciembre de 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Cifras en miles de millones de pesos (pesos corrientes de cada año).</a:t>
            </a:r>
          </a:p>
          <a:p>
            <a:pPr>
              <a:spcBef>
                <a:spcPts val="0"/>
              </a:spcBef>
              <a:spcAft>
                <a:spcPts val="0"/>
              </a:spcAft>
            </a:pPr>
            <a:r>
              <a:rPr sz="100">
                <a:solidFill>
                  <a:srgbClr val="FFFFFF"/>
                </a:solidFill>
                <a:latin typeface="Noto Sans"/>
              </a:rPr>
              <a:t>Egresos</a:t>
            </a:r>
          </a:p>
          <a:p>
            <a:pPr>
              <a:spcBef>
                <a:spcPts val="0"/>
              </a:spcBef>
              <a:spcAft>
                <a:spcPts val="0"/>
              </a:spcAft>
            </a:pPr>
            <a:r>
              <a:rPr sz="100">
                <a:solidFill>
                  <a:srgbClr val="FFFFFF"/>
                </a:solidFill>
                <a:latin typeface="Noto Sans"/>
              </a:rPr>
              <a:t>Margen</a:t>
            </a:r>
          </a:p>
          <a:p>
            <a:pPr>
              <a:spcBef>
                <a:spcPts val="0"/>
              </a:spcBef>
              <a:spcAft>
                <a:spcPts val="0"/>
              </a:spcAft>
            </a:pPr>
            <a:r>
              <a:rPr sz="100">
                <a:solidFill>
                  <a:srgbClr val="FFFFFF"/>
                </a:solidFill>
                <a:latin typeface="Noto Sans"/>
              </a:rPr>
              <a:t>Ingresos totales (sin desglose)</a:t>
            </a:r>
          </a:p>
        </p:txBody>
      </p:sp>
      <p:pic>
        <p:nvPicPr>
          <p:cNvPr id="223" name="ANUARIO_IMAGE_A_6" descr="Figura A.6.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16</a:t>
            </a:r>
          </a:p>
        </p:txBody>
      </p:sp>
    </p:spTree>
  </p:cSld>
  <p:clrMapOvr>
    <a:masterClrMapping/>
  </p:clrMapOvr>
</p:sld>
</file>

<file path=ppt/slides/slide1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7" descr="ANUARIO_FIGURE_ID=A.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A.7</a:t>
            </a:r>
          </a:p>
          <a:p>
            <a:pPr>
              <a:spcBef>
                <a:spcPts val="0"/>
              </a:spcBef>
              <a:spcAft>
                <a:spcPts val="600"/>
              </a:spcAft>
            </a:pPr>
            <a:r>
              <a:rPr sz="950" b="1">
                <a:solidFill>
                  <a:srgbClr val="203634"/>
                </a:solidFill>
                <a:latin typeface="Noto Sans"/>
              </a:rPr>
              <a:t>PORCENTAJE DE HOGARES CON SERVICIOS DE TELECOMUNICACIONES FIJAS POR DECIL DE INGRESO</a:t>
            </a:r>
          </a:p>
          <a:p>
            <a:pPr>
              <a:lnSpc>
                <a:spcPct val="100000"/>
              </a:lnSpc>
              <a:spcBef>
                <a:spcPts val="0"/>
              </a:spcBef>
              <a:spcAft>
                <a:spcPts val="400"/>
              </a:spcAft>
            </a:pPr>
            <a:r>
              <a:rPr sz="819" b="0">
                <a:solidFill>
                  <a:srgbClr val="434343"/>
                </a:solidFill>
                <a:latin typeface="Noto Sans"/>
              </a:rPr>
              <a:t>Los resultados de la Encuesta Nacional de Ingresos y Gastos de los Hogares (ENIGH) 2024 indican que, en el segmento de las telecomunicaciones fijas, a mayor nivel de ingresos, mayor es el porcentaje de hogares que gastan y disponen de servicios fijos de telecomunicaciones1.</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7" descr="ANUARIO_FIGURE_ID=A.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7" descr="Capa accesible con el texto del SVG de la figura A.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A.7</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42.2%</a:t>
            </a:r>
          </a:p>
          <a:p>
            <a:pPr>
              <a:spcBef>
                <a:spcPts val="0"/>
              </a:spcBef>
              <a:spcAft>
                <a:spcPts val="0"/>
              </a:spcAft>
            </a:pPr>
            <a:r>
              <a:rPr sz="100">
                <a:solidFill>
                  <a:srgbClr val="FFFFFF"/>
                </a:solidFill>
                <a:latin typeface="Noto Sans"/>
              </a:rPr>
              <a:t>31.3%</a:t>
            </a:r>
          </a:p>
          <a:p>
            <a:pPr>
              <a:spcBef>
                <a:spcPts val="0"/>
              </a:spcBef>
              <a:spcAft>
                <a:spcPts val="0"/>
              </a:spcAft>
            </a:pPr>
            <a:r>
              <a:rPr sz="100">
                <a:solidFill>
                  <a:srgbClr val="FFFFFF"/>
                </a:solidFill>
                <a:latin typeface="Noto Sans"/>
              </a:rPr>
              <a:t>57.5%</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67.2%</a:t>
            </a:r>
          </a:p>
          <a:p>
            <a:pPr>
              <a:spcBef>
                <a:spcPts val="0"/>
              </a:spcBef>
              <a:spcAft>
                <a:spcPts val="0"/>
              </a:spcAft>
            </a:pPr>
            <a:r>
              <a:rPr sz="100">
                <a:solidFill>
                  <a:srgbClr val="FFFFFF"/>
                </a:solidFill>
                <a:latin typeface="Noto Sans"/>
              </a:rPr>
              <a:t>57.3%</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65.6%</a:t>
            </a:r>
          </a:p>
          <a:p>
            <a:pPr>
              <a:spcBef>
                <a:spcPts val="0"/>
              </a:spcBef>
              <a:spcAft>
                <a:spcPts val="0"/>
              </a:spcAft>
            </a:pPr>
            <a:r>
              <a:rPr sz="100">
                <a:solidFill>
                  <a:srgbClr val="FFFFFF"/>
                </a:solidFill>
                <a:latin typeface="Noto Sans"/>
              </a:rPr>
              <a:t>80.8%</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77.7%</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83.0%</a:t>
            </a:r>
          </a:p>
          <a:p>
            <a:pPr>
              <a:spcBef>
                <a:spcPts val="0"/>
              </a:spcBef>
              <a:spcAft>
                <a:spcPts val="0"/>
              </a:spcAft>
            </a:pPr>
            <a:r>
              <a:rPr sz="100">
                <a:solidFill>
                  <a:srgbClr val="FFFFFF"/>
                </a:solidFill>
                <a:latin typeface="Noto Sans"/>
              </a:rPr>
              <a:t>92.6%</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91.7%</a:t>
            </a:r>
          </a:p>
          <a:p>
            <a:pPr>
              <a:spcBef>
                <a:spcPts val="0"/>
              </a:spcBef>
              <a:spcAft>
                <a:spcPts val="0"/>
              </a:spcAft>
            </a:pPr>
            <a:r>
              <a:rPr sz="100">
                <a:solidFill>
                  <a:srgbClr val="FFFFFF"/>
                </a:solidFill>
                <a:latin typeface="Noto Sans"/>
              </a:rPr>
              <a:t>98.6%</a:t>
            </a:r>
          </a:p>
          <a:p>
            <a:pPr>
              <a:spcBef>
                <a:spcPts val="0"/>
              </a:spcBef>
              <a:spcAft>
                <a:spcPts val="0"/>
              </a:spcAft>
            </a:pPr>
            <a:r>
              <a:rPr sz="100">
                <a:solidFill>
                  <a:srgbClr val="FFFFFF"/>
                </a:solidFill>
                <a:latin typeface="Noto Sans"/>
              </a:rPr>
              <a:t>94.5%</a:t>
            </a:r>
          </a:p>
          <a:p>
            <a:pPr>
              <a:spcBef>
                <a:spcPts val="0"/>
              </a:spcBef>
              <a:spcAft>
                <a:spcPts val="0"/>
              </a:spcAft>
            </a:pPr>
            <a:r>
              <a:rPr sz="100">
                <a:solidFill>
                  <a:srgbClr val="FFFFFF"/>
                </a:solidFill>
                <a:latin typeface="Noto Sans"/>
              </a:rPr>
              <a:t>Figura A.7.</a:t>
            </a:r>
          </a:p>
          <a:p>
            <a:pPr>
              <a:spcBef>
                <a:spcPts val="0"/>
              </a:spcBef>
              <a:spcAft>
                <a:spcPts val="0"/>
              </a:spcAft>
            </a:pPr>
            <a:r>
              <a:rPr sz="100">
                <a:solidFill>
                  <a:srgbClr val="FFFFFF"/>
                </a:solidFill>
                <a:latin typeface="Noto Sans"/>
              </a:rPr>
              <a:t>Porcentaje de hogares con servicios de telecomunicaciones fijas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valor de los deciles de ingreso se determina con el factor de expansión de la encuesta.</a:t>
            </a:r>
          </a:p>
          <a:p>
            <a:pPr>
              <a:spcBef>
                <a:spcPts val="0"/>
              </a:spcBef>
              <a:spcAft>
                <a:spcPts val="0"/>
              </a:spcAft>
            </a:pPr>
            <a:r>
              <a:rPr sz="100">
                <a:solidFill>
                  <a:srgbClr val="FFFFFF"/>
                </a:solidFill>
                <a:latin typeface="Noto Sans"/>
              </a:rPr>
              <a:t>% Hogares con telecomunicaciones fijas</a:t>
            </a:r>
          </a:p>
          <a:p>
            <a:pPr>
              <a:spcBef>
                <a:spcPts val="0"/>
              </a:spcBef>
              <a:spcAft>
                <a:spcPts val="0"/>
              </a:spcAft>
            </a:pPr>
            <a:r>
              <a:rPr sz="100">
                <a:solidFill>
                  <a:srgbClr val="FFFFFF"/>
                </a:solidFill>
                <a:latin typeface="Noto Sans"/>
              </a:rPr>
              <a:t>% Hogares que disponen y gastan en telecomunicaciones fijas</a:t>
            </a:r>
          </a:p>
        </p:txBody>
      </p:sp>
      <p:pic>
        <p:nvPicPr>
          <p:cNvPr id="223" name="ANUARIO_IMAGE_A_7" descr="Figura A.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17</a:t>
            </a:r>
          </a:p>
        </p:txBody>
      </p:sp>
    </p:spTree>
  </p:cSld>
  <p:clrMapOvr>
    <a:masterClrMapping/>
  </p:clrMapOvr>
</p:sld>
</file>

<file path=ppt/slides/slide1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8" descr="ANUARIO_FIGURE_ID=A.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A.8</a:t>
            </a:r>
          </a:p>
          <a:p>
            <a:pPr>
              <a:spcBef>
                <a:spcPts val="0"/>
              </a:spcBef>
              <a:spcAft>
                <a:spcPts val="600"/>
              </a:spcAft>
            </a:pPr>
            <a:r>
              <a:rPr sz="950" b="1">
                <a:solidFill>
                  <a:srgbClr val="203634"/>
                </a:solidFill>
                <a:latin typeface="Noto Sans"/>
              </a:rPr>
              <a:t>GASTO PROMEDIO Y PORCENTAJE DE GASTO EN SERVICIOS DE TELECOMUNICACIONES FIJAS DE LOS HOGARES POR DECIL DE INGRESO</a:t>
            </a:r>
          </a:p>
          <a:p>
            <a:pPr>
              <a:lnSpc>
                <a:spcPct val="100000"/>
              </a:lnSpc>
              <a:spcBef>
                <a:spcPts val="0"/>
              </a:spcBef>
              <a:spcAft>
                <a:spcPts val="400"/>
              </a:spcAft>
            </a:pPr>
            <a:r>
              <a:rPr sz="760" b="0">
                <a:solidFill>
                  <a:srgbClr val="434343"/>
                </a:solidFill>
                <a:latin typeface="Noto Sans"/>
              </a:rPr>
              <a:t>En cuanto al gasto en servicios fijos de telecomunicaciones, la ENIGH 2024 indica que, en los hogares con ingresos bajos, el porcentaje que representa el gasto que tienen en servicios fijos de telecomunicaciones con respecto a su ingreso es mayor que en los hogares con mayores ingresos. Mientras que, los hogares en el decil 1 de ingresos gastan $340 pesos mensuales en servicios fijos de telecomunicaciones, que representa el 5.8% de sus ingresos, los hogares en el decil 10 de ingresos gastan $691 pesos mensuales en estos servicios, pero solo representa el 0.9%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8" descr="ANUARIO_FIGURE_ID=A.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8" descr="Capa accesible con el texto del SVG de la figura A.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A.8</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$340</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$416</a:t>
            </a:r>
          </a:p>
          <a:p>
            <a:pPr>
              <a:spcBef>
                <a:spcPts val="0"/>
              </a:spcBef>
              <a:spcAft>
                <a:spcPts val="0"/>
              </a:spcAft>
            </a:pPr>
            <a:r>
              <a:rPr sz="100">
                <a:solidFill>
                  <a:srgbClr val="FFFFFF"/>
                </a:solidFill>
                <a:latin typeface="Noto Sans"/>
              </a:rPr>
              <a:t>$434</a:t>
            </a:r>
          </a:p>
          <a:p>
            <a:pPr>
              <a:spcBef>
                <a:spcPts val="0"/>
              </a:spcBef>
              <a:spcAft>
                <a:spcPts val="0"/>
              </a:spcAft>
            </a:pPr>
            <a:r>
              <a:rPr sz="100">
                <a:solidFill>
                  <a:srgbClr val="FFFFFF"/>
                </a:solidFill>
                <a:latin typeface="Noto Sans"/>
              </a:rPr>
              <a:t>$459</a:t>
            </a:r>
          </a:p>
          <a:p>
            <a:pPr>
              <a:spcBef>
                <a:spcPts val="0"/>
              </a:spcBef>
              <a:spcAft>
                <a:spcPts val="0"/>
              </a:spcAft>
            </a:pPr>
            <a:r>
              <a:rPr sz="100">
                <a:solidFill>
                  <a:srgbClr val="FFFFFF"/>
                </a:solidFill>
                <a:latin typeface="Noto Sans"/>
              </a:rPr>
              <a:t>$481</a:t>
            </a:r>
          </a:p>
          <a:p>
            <a:pPr>
              <a:spcBef>
                <a:spcPts val="0"/>
              </a:spcBef>
              <a:spcAft>
                <a:spcPts val="0"/>
              </a:spcAft>
            </a:pPr>
            <a:r>
              <a:rPr sz="100">
                <a:solidFill>
                  <a:srgbClr val="FFFFFF"/>
                </a:solidFill>
                <a:latin typeface="Noto Sans"/>
              </a:rPr>
              <a:t>$506</a:t>
            </a:r>
          </a:p>
          <a:p>
            <a:pPr>
              <a:spcBef>
                <a:spcPts val="0"/>
              </a:spcBef>
              <a:spcAft>
                <a:spcPts val="0"/>
              </a:spcAft>
            </a:pPr>
            <a:r>
              <a:rPr sz="100">
                <a:solidFill>
                  <a:srgbClr val="FFFFFF"/>
                </a:solidFill>
                <a:latin typeface="Noto Sans"/>
              </a:rPr>
              <a:t>$548</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$691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A.8.</a:t>
            </a:r>
          </a:p>
          <a:p>
            <a:pPr>
              <a:spcBef>
                <a:spcPts val="0"/>
              </a:spcBef>
              <a:spcAft>
                <a:spcPts val="0"/>
              </a:spcAft>
            </a:pPr>
            <a:r>
              <a:rPr sz="100">
                <a:solidFill>
                  <a:srgbClr val="FFFFFF"/>
                </a:solidFill>
                <a:latin typeface="Noto Sans"/>
              </a:rPr>
              <a:t>Gasto promedio y porcentaje de gasto en Servicios de Telecomunicaciones Fijas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8" descr="Figura A.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18</a:t>
            </a:r>
          </a:p>
        </p:txBody>
      </p:sp>
    </p:spTree>
  </p:cSld>
  <p:clrMapOvr>
    <a:masterClrMapping/>
  </p:clrMapOvr>
</p:sld>
</file>

<file path=ppt/slides/slide1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9" descr="ANUARIO_FIGURE_ID=A.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A.9</a:t>
            </a:r>
          </a:p>
          <a:p>
            <a:pPr>
              <a:spcBef>
                <a:spcPts val="0"/>
              </a:spcBef>
              <a:spcAft>
                <a:spcPts val="600"/>
              </a:spcAft>
            </a:pPr>
            <a:r>
              <a:rPr sz="950" b="1">
                <a:solidFill>
                  <a:srgbClr val="203634"/>
                </a:solidFill>
                <a:latin typeface="Noto Sans"/>
              </a:rPr>
              <a:t>PORCENTAJE DE HOGARES CON SERVICIOS DE TELECOMUNICACIONES MÓVILES POR DECIL DE INGRESO</a:t>
            </a:r>
          </a:p>
          <a:p>
            <a:pPr>
              <a:lnSpc>
                <a:spcPct val="100000"/>
              </a:lnSpc>
              <a:spcBef>
                <a:spcPts val="0"/>
              </a:spcBef>
              <a:spcAft>
                <a:spcPts val="400"/>
              </a:spcAft>
            </a:pPr>
            <a:r>
              <a:rPr sz="880" b="0">
                <a:solidFill>
                  <a:srgbClr val="434343"/>
                </a:solidFill>
                <a:latin typeface="Noto Sans"/>
              </a:rPr>
              <a:t>En el segmento de las telecomunicaciones móviles, la ENIGH 2024 indica que, a un mayor nivel de ingresos, mayor es el porcentaje de hogares que disponen y gastan en servicios móviles de telecomunicaciones.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9" descr="ANUARIO_FIGURE_ID=A.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9" descr="Capa accesible con el texto del SVG de la figura A.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A.9</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59.2%</a:t>
            </a:r>
          </a:p>
          <a:p>
            <a:pPr>
              <a:spcBef>
                <a:spcPts val="0"/>
              </a:spcBef>
              <a:spcAft>
                <a:spcPts val="0"/>
              </a:spcAft>
            </a:pPr>
            <a:r>
              <a:rPr sz="100">
                <a:solidFill>
                  <a:srgbClr val="FFFFFF"/>
                </a:solidFill>
                <a:latin typeface="Noto Sans"/>
              </a:rPr>
              <a:t>89.9%</a:t>
            </a:r>
          </a:p>
          <a:p>
            <a:pPr>
              <a:spcBef>
                <a:spcPts val="0"/>
              </a:spcBef>
              <a:spcAft>
                <a:spcPts val="0"/>
              </a:spcAft>
            </a:pPr>
            <a:r>
              <a:rPr sz="100">
                <a:solidFill>
                  <a:srgbClr val="FFFFFF"/>
                </a:solidFill>
                <a:latin typeface="Noto Sans"/>
              </a:rPr>
              <a:t>73.5%</a:t>
            </a:r>
          </a:p>
          <a:p>
            <a:pPr>
              <a:spcBef>
                <a:spcPts val="0"/>
              </a:spcBef>
              <a:spcAft>
                <a:spcPts val="0"/>
              </a:spcAft>
            </a:pPr>
            <a:r>
              <a:rPr sz="100">
                <a:solidFill>
                  <a:srgbClr val="FFFFFF"/>
                </a:solidFill>
                <a:latin typeface="Noto Sans"/>
              </a:rPr>
              <a:t>93.9%</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82.7%</a:t>
            </a:r>
          </a:p>
          <a:p>
            <a:pPr>
              <a:spcBef>
                <a:spcPts val="0"/>
              </a:spcBef>
              <a:spcAft>
                <a:spcPts val="0"/>
              </a:spcAft>
            </a:pPr>
            <a:r>
              <a:rPr sz="100">
                <a:solidFill>
                  <a:srgbClr val="FFFFFF"/>
                </a:solidFill>
                <a:latin typeface="Noto Sans"/>
              </a:rPr>
              <a:t>96.4%</a:t>
            </a:r>
          </a:p>
          <a:p>
            <a:pPr>
              <a:spcBef>
                <a:spcPts val="0"/>
              </a:spcBef>
              <a:spcAft>
                <a:spcPts val="0"/>
              </a:spcAft>
            </a:pPr>
            <a:r>
              <a:rPr sz="100">
                <a:solidFill>
                  <a:srgbClr val="FFFFFF"/>
                </a:solidFill>
                <a:latin typeface="Noto Sans"/>
              </a:rPr>
              <a:t>84.5%</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86.6%</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88.0%</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89.6%</a:t>
            </a:r>
          </a:p>
          <a:p>
            <a:pPr>
              <a:spcBef>
                <a:spcPts val="0"/>
              </a:spcBef>
              <a:spcAft>
                <a:spcPts val="0"/>
              </a:spcAft>
            </a:pPr>
            <a:r>
              <a:rPr sz="100">
                <a:solidFill>
                  <a:srgbClr val="FFFFFF"/>
                </a:solidFill>
                <a:latin typeface="Noto Sans"/>
              </a:rPr>
              <a:t>99.0%</a:t>
            </a:r>
          </a:p>
          <a:p>
            <a:pPr>
              <a:spcBef>
                <a:spcPts val="0"/>
              </a:spcBef>
              <a:spcAft>
                <a:spcPts val="0"/>
              </a:spcAft>
            </a:pPr>
            <a:r>
              <a:rPr sz="100">
                <a:solidFill>
                  <a:srgbClr val="FFFFFF"/>
                </a:solidFill>
                <a:latin typeface="Noto Sans"/>
              </a:rPr>
              <a:t>90.9%</a:t>
            </a:r>
          </a:p>
          <a:p>
            <a:pPr>
              <a:spcBef>
                <a:spcPts val="0"/>
              </a:spcBef>
              <a:spcAft>
                <a:spcPts val="0"/>
              </a:spcAft>
            </a:pPr>
            <a:r>
              <a:rPr sz="100">
                <a:solidFill>
                  <a:srgbClr val="FFFFFF"/>
                </a:solidFill>
                <a:latin typeface="Noto Sans"/>
              </a:rPr>
              <a:t>99.3%</a:t>
            </a:r>
          </a:p>
          <a:p>
            <a:pPr>
              <a:spcBef>
                <a:spcPts val="0"/>
              </a:spcBef>
              <a:spcAft>
                <a:spcPts val="0"/>
              </a:spcAft>
            </a:pPr>
            <a:r>
              <a:rPr sz="100">
                <a:solidFill>
                  <a:srgbClr val="FFFFFF"/>
                </a:solidFill>
                <a:latin typeface="Noto Sans"/>
              </a:rPr>
              <a:t>91.1%</a:t>
            </a:r>
          </a:p>
          <a:p>
            <a:pPr>
              <a:spcBef>
                <a:spcPts val="0"/>
              </a:spcBef>
              <a:spcAft>
                <a:spcPts val="0"/>
              </a:spcAft>
            </a:pPr>
            <a:r>
              <a:rPr sz="100">
                <a:solidFill>
                  <a:srgbClr val="FFFFFF"/>
                </a:solidFill>
                <a:latin typeface="Noto Sans"/>
              </a:rPr>
              <a:t>Figura A.9.</a:t>
            </a:r>
          </a:p>
          <a:p>
            <a:pPr>
              <a:spcBef>
                <a:spcPts val="0"/>
              </a:spcBef>
              <a:spcAft>
                <a:spcPts val="0"/>
              </a:spcAft>
            </a:pPr>
            <a:r>
              <a:rPr sz="100">
                <a:solidFill>
                  <a:srgbClr val="FFFFFF"/>
                </a:solidFill>
                <a:latin typeface="Noto Sans"/>
              </a:rPr>
              <a:t>Porcentaje de hogares con Servicios de Telecomunicaciones Móviles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 Hogares con telecomunicaciones móviles</a:t>
            </a:r>
          </a:p>
          <a:p>
            <a:pPr>
              <a:spcBef>
                <a:spcPts val="0"/>
              </a:spcBef>
              <a:spcAft>
                <a:spcPts val="0"/>
              </a:spcAft>
            </a:pPr>
            <a:r>
              <a:rPr sz="100">
                <a:solidFill>
                  <a:srgbClr val="FFFFFF"/>
                </a:solidFill>
                <a:latin typeface="Noto Sans"/>
              </a:rPr>
              <a:t>% Hogares que disponen y gastan en telecomunicaciones móviles</a:t>
            </a:r>
          </a:p>
        </p:txBody>
      </p:sp>
      <p:pic>
        <p:nvPicPr>
          <p:cNvPr id="223" name="ANUARIO_IMAGE_A_9" descr="Figura A.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19</a:t>
            </a:r>
          </a:p>
        </p:txBody>
      </p:sp>
    </p:spTree>
  </p:cSld>
  <p:clrMapOvr>
    <a:masterClrMapping/>
  </p:clrMapOvr>
</p:sld>
</file>

<file path=ppt/slides/slide2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A_10" descr="ANUARIO_FIGURE_ID=A.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A.10</a:t>
            </a:r>
          </a:p>
          <a:p>
            <a:pPr>
              <a:spcBef>
                <a:spcPts val="0"/>
              </a:spcBef>
              <a:spcAft>
                <a:spcPts val="600"/>
              </a:spcAft>
            </a:pPr>
            <a:r>
              <a:rPr sz="950" b="1">
                <a:solidFill>
                  <a:srgbClr val="203634"/>
                </a:solidFill>
                <a:latin typeface="Noto Sans"/>
              </a:rPr>
              <a:t>GASTO PROMEDIO Y PORCENTAJE DE GASTO EN SERVICIOS DE TELECOMUNICACIONES MÓVILES DE LOS HOGARES POR DECIL DE INGRESO</a:t>
            </a:r>
          </a:p>
          <a:p>
            <a:pPr>
              <a:lnSpc>
                <a:spcPct val="100000"/>
              </a:lnSpc>
              <a:spcBef>
                <a:spcPts val="0"/>
              </a:spcBef>
              <a:spcAft>
                <a:spcPts val="400"/>
              </a:spcAft>
            </a:pPr>
            <a:r>
              <a:rPr sz="760" b="0">
                <a:solidFill>
                  <a:srgbClr val="434343"/>
                </a:solidFill>
                <a:latin typeface="Noto Sans"/>
              </a:rPr>
              <a:t>En cuanto al gasto en servicios móviles de telecomunicaciones, los resultados indican que, en los hogares con ingresos bajos, el porcentaje que representa el gasto que tienen en servicios móviles de telecomunicaciones con respecto a su ingreso es mayor que en los hogares con mayores ingresos. Mientras que, los hogares en el decil 1 de ingresos gastan $178 pesos mensuales en servicios móviles de telecomunicaciones, que representa el 3.0% de sus ingresos, los hogares en el decil 10 de ingresos gastan $948 pesos mensuales en estos servicios, pero solo representa el 1.2% de sus ingresos.</a:t>
            </a:r>
          </a:p>
        </p:txBody>
      </p:sp>
      <p:sp>
        <p:nvSpPr>
          <p:cNvPr id="202" name="ANUARIO_SECTION_HEADER_A" descr="ANUARIO_SECTION=A;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 INDICADORES ECONÓMICOS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A_10" descr="ANUARIO_FIGURE_ID=A.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A_10" descr="Capa accesible con el texto del SVG de la figura A.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A.10</a:t>
            </a:r>
          </a:p>
          <a:p>
            <a:pPr>
              <a:spcBef>
                <a:spcPts val="0"/>
              </a:spcBef>
              <a:spcAft>
                <a:spcPts val="0"/>
              </a:spcAft>
            </a:pPr>
            <a:r>
              <a:rPr sz="100">
                <a:solidFill>
                  <a:srgbClr val="FFFFFF"/>
                </a:solidFill>
                <a:latin typeface="Noto Sans"/>
              </a:rPr>
              <a:t>$-</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$1,100</a:t>
            </a:r>
          </a:p>
          <a:p>
            <a:pPr>
              <a:spcBef>
                <a:spcPts val="0"/>
              </a:spcBef>
              <a:spcAft>
                <a:spcPts val="0"/>
              </a:spcAft>
            </a:pPr>
            <a:r>
              <a:rPr sz="100">
                <a:solidFill>
                  <a:srgbClr val="FFFFFF"/>
                </a:solidFill>
                <a:latin typeface="Noto Sans"/>
              </a:rPr>
              <a:t>Gasto promedio mensual</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$347</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$442</a:t>
            </a:r>
          </a:p>
          <a:p>
            <a:pPr>
              <a:spcBef>
                <a:spcPts val="0"/>
              </a:spcBef>
              <a:spcAft>
                <a:spcPts val="0"/>
              </a:spcAft>
            </a:pPr>
            <a:r>
              <a:rPr sz="100">
                <a:solidFill>
                  <a:srgbClr val="FFFFFF"/>
                </a:solidFill>
                <a:latin typeface="Noto Sans"/>
              </a:rPr>
              <a:t>$523</a:t>
            </a:r>
          </a:p>
          <a:p>
            <a:pPr>
              <a:spcBef>
                <a:spcPts val="0"/>
              </a:spcBef>
              <a:spcAft>
                <a:spcPts val="0"/>
              </a:spcAft>
            </a:pPr>
            <a:r>
              <a:rPr sz="100">
                <a:solidFill>
                  <a:srgbClr val="FFFFFF"/>
                </a:solidFill>
                <a:latin typeface="Noto Sans"/>
              </a:rPr>
              <a:t>$630</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Decil de ingreso</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 Gasto con respecto al ingreso</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Figura A.10.</a:t>
            </a:r>
          </a:p>
          <a:p>
            <a:pPr>
              <a:spcBef>
                <a:spcPts val="0"/>
              </a:spcBef>
              <a:spcAft>
                <a:spcPts val="0"/>
              </a:spcAft>
            </a:pPr>
            <a:r>
              <a:rPr sz="100">
                <a:solidFill>
                  <a:srgbClr val="FFFFFF"/>
                </a:solidFill>
                <a:latin typeface="Noto Sans"/>
              </a:rPr>
              <a:t>Gasto promedio y porcentaje de gasto en Servicios de Telecomunicaciones Móviles de los hogares por decil de ingreso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ENIGH 2024, del INEGI. Datos disponibles en: https://www.inegi.org.mx/programas/enigh/nc/2024/</a:t>
            </a:r>
          </a:p>
          <a:p>
            <a:pPr>
              <a:spcBef>
                <a:spcPts val="0"/>
              </a:spcBef>
              <a:spcAft>
                <a:spcPts val="0"/>
              </a:spcAft>
            </a:pPr>
            <a:r>
              <a:rPr sz="100">
                <a:solidFill>
                  <a:srgbClr val="FFFFFF"/>
                </a:solidFill>
                <a:latin typeface="Noto Sans"/>
              </a:rPr>
              <a:t>Notas:</a:t>
            </a:r>
          </a:p>
          <a:p>
            <a:pPr>
              <a:spcBef>
                <a:spcPts val="0"/>
              </a:spcBef>
              <a:spcAft>
                <a:spcPts val="0"/>
              </a:spcAft>
            </a:pPr>
            <a:r>
              <a:rPr sz="100">
                <a:solidFill>
                  <a:srgbClr val="FFFFFF"/>
                </a:solidFill>
                <a:latin typeface="Noto Sans"/>
              </a:rPr>
              <a:t>El gasto e ingreso utilizados son promedios de los hogares de cada decil que disponen del servicio y gastan en él. Las cifras corresponden a 2024 y no se ajustan por inflación.</a:t>
            </a:r>
          </a:p>
          <a:p>
            <a:pPr>
              <a:spcBef>
                <a:spcPts val="0"/>
              </a:spcBef>
              <a:spcAft>
                <a:spcPts val="0"/>
              </a:spcAft>
            </a:pPr>
            <a:r>
              <a:rPr sz="100">
                <a:solidFill>
                  <a:srgbClr val="FFFFFF"/>
                </a:solidFill>
                <a:latin typeface="Noto Sans"/>
              </a:rPr>
              <a:t>Gasto mensual promedio</a:t>
            </a:r>
          </a:p>
          <a:p>
            <a:pPr>
              <a:spcBef>
                <a:spcPts val="0"/>
              </a:spcBef>
              <a:spcAft>
                <a:spcPts val="0"/>
              </a:spcAft>
            </a:pPr>
            <a:r>
              <a:rPr sz="100">
                <a:solidFill>
                  <a:srgbClr val="FFFFFF"/>
                </a:solidFill>
                <a:latin typeface="Noto Sans"/>
              </a:rPr>
              <a:t>% Gasto respecto al ingreso</a:t>
            </a:r>
          </a:p>
        </p:txBody>
      </p:sp>
      <p:pic>
        <p:nvPicPr>
          <p:cNvPr id="223" name="ANUARIO_IMAGE_A_10" descr="Figura A.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20</a:t>
            </a:r>
          </a:p>
        </p:txBody>
      </p:sp>
    </p:spTree>
  </p:cSld>
  <p:clrMapOvr>
    <a:masterClrMapping/>
  </p:clrMapOvr>
</p:sld>
</file>

<file path=ppt/slides/slide2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 descr="ANUARIO_FIGURE_ID=B.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a:t>
            </a:r>
          </a:p>
          <a:p>
            <a:pPr>
              <a:spcBef>
                <a:spcPts val="0"/>
              </a:spcBef>
              <a:spcAft>
                <a:spcPts val="600"/>
              </a:spcAft>
            </a:pPr>
            <a:r>
              <a:rPr sz="950" b="1">
                <a:solidFill>
                  <a:srgbClr val="203634"/>
                </a:solidFill>
                <a:latin typeface="Noto Sans"/>
              </a:rPr>
              <a:t>DISTRIBUCIÓN DE LOS SERVICIOS FIJOS CON RESPECTO DEL TOTAL DE HOGARES A NIVEL NACIONAL</a:t>
            </a:r>
          </a:p>
          <a:p>
            <a:pPr>
              <a:lnSpc>
                <a:spcPct val="100000"/>
              </a:lnSpc>
              <a:spcBef>
                <a:spcPts val="0"/>
              </a:spcBef>
              <a:spcAft>
                <a:spcPts val="400"/>
              </a:spcAft>
            </a:pPr>
            <a:r>
              <a:rPr sz="819" b="0">
                <a:solidFill>
                  <a:srgbClr val="434343"/>
                </a:solidFill>
                <a:latin typeface="Noto Sans"/>
              </a:rPr>
              <a:t>De acuerdo con datos de la ENDUTIH 2025, en México había 39.7 millones de hogares, de los cuales el 15% contaba con los servicios fijos de telefonía, televisión restringida y acceso a Internet; 30% contaba con dos de estos servicios; 34% contaba con solo un servicio; y el 20% restante no contaba con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 descr="ANUARIO_FIGURE_ID=B.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 descr="Capa accesible con el texto del SVG de la figura B.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a:t>
            </a:r>
          </a:p>
          <a:p>
            <a:pPr>
              <a:spcBef>
                <a:spcPts val="0"/>
              </a:spcBef>
              <a:spcAft>
                <a:spcPts val="0"/>
              </a:spcAft>
            </a:pPr>
            <a:r>
              <a:rPr sz="100">
                <a:solidFill>
                  <a:srgbClr val="FFFFFF"/>
                </a:solidFill>
                <a:latin typeface="Noto Sans"/>
              </a:rPr>
              <a:t>Total de hogares en México:</a:t>
            </a:r>
          </a:p>
          <a:p>
            <a:pPr>
              <a:spcBef>
                <a:spcPts val="0"/>
              </a:spcBef>
              <a:spcAft>
                <a:spcPts val="0"/>
              </a:spcAft>
            </a:pPr>
            <a:r>
              <a:rPr sz="100">
                <a:solidFill>
                  <a:srgbClr val="FFFFFF"/>
                </a:solidFill>
                <a:latin typeface="Noto Sans"/>
              </a:rPr>
              <a:t>39,677,498</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B.1.</a:t>
            </a:r>
          </a:p>
          <a:p>
            <a:pPr>
              <a:spcBef>
                <a:spcPts val="0"/>
              </a:spcBef>
              <a:spcAft>
                <a:spcPts val="0"/>
              </a:spcAft>
            </a:pPr>
            <a:r>
              <a:rPr sz="100">
                <a:solidFill>
                  <a:srgbClr val="FFFFFF"/>
                </a:solidFill>
                <a:latin typeface="Noto Sans"/>
              </a:rPr>
              <a:t>Distribución de los Servicios Fijos con respecto del total de hogares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 descr="Figura B.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21</a:t>
            </a:r>
          </a:p>
        </p:txBody>
      </p:sp>
    </p:spTree>
  </p:cSld>
  <p:clrMapOvr>
    <a:masterClrMapping/>
  </p:clrMapOvr>
</p:sld>
</file>

<file path=ppt/slides/slide2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 descr="ANUARIO_FIGURE_ID=B.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a:t>
            </a:r>
          </a:p>
          <a:p>
            <a:pPr>
              <a:spcBef>
                <a:spcPts val="0"/>
              </a:spcBef>
              <a:spcAft>
                <a:spcPts val="600"/>
              </a:spcAft>
            </a:pPr>
            <a:r>
              <a:rPr sz="950" b="1">
                <a:solidFill>
                  <a:srgbClr val="203634"/>
                </a:solidFill>
                <a:latin typeface="Noto Sans"/>
              </a:rPr>
              <a:t>DISTRIBUCIÓN DE LOS SERVICIOS FIJOS CON RESPECTO DEL TOTAL DE HOGARES EN LAS ZONAS RURALES</a:t>
            </a:r>
          </a:p>
          <a:p>
            <a:pPr>
              <a:lnSpc>
                <a:spcPct val="100000"/>
              </a:lnSpc>
              <a:spcBef>
                <a:spcPts val="0"/>
              </a:spcBef>
              <a:spcAft>
                <a:spcPts val="400"/>
              </a:spcAft>
            </a:pPr>
            <a:r>
              <a:rPr sz="819" b="0">
                <a:solidFill>
                  <a:srgbClr val="434343"/>
                </a:solidFill>
                <a:latin typeface="Noto Sans"/>
              </a:rPr>
              <a:t>En cuanto a las zonas rurales, en 2025, del total de los 8.1 millones de hogares que había en estas zonas, solo 3% contaba con los tres servicios fijos de telecomunicaciones; 14% contaba con dos servicios; 45% contaba solo con un servicio; y el 39%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 descr="ANUARIO_FIGURE_ID=B.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 descr="Capa accesible con el texto del SVG de la figura B.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8,054,749</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rurales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2" descr="Figura B.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22</a:t>
            </a:r>
          </a:p>
        </p:txBody>
      </p:sp>
    </p:spTree>
  </p:cSld>
  <p:clrMapOvr>
    <a:masterClrMapping/>
  </p:clrMapOvr>
</p:sld>
</file>

<file path=ppt/slides/slide2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3" descr="ANUARIO_FIGURE_ID=B.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B.3</a:t>
            </a:r>
          </a:p>
          <a:p>
            <a:pPr>
              <a:spcBef>
                <a:spcPts val="0"/>
              </a:spcBef>
              <a:spcAft>
                <a:spcPts val="600"/>
              </a:spcAft>
            </a:pPr>
            <a:r>
              <a:rPr sz="950" b="1">
                <a:solidFill>
                  <a:srgbClr val="203634"/>
                </a:solidFill>
                <a:latin typeface="Noto Sans"/>
              </a:rPr>
              <a:t>DISTRIBUCIÓN DE LOS SERVICIOS FIJOS CON RESPECTO DEL TOTAL DE HOGARES EN LAS ZONAS URBANAS</a:t>
            </a:r>
          </a:p>
          <a:p>
            <a:pPr>
              <a:lnSpc>
                <a:spcPct val="100000"/>
              </a:lnSpc>
              <a:spcBef>
                <a:spcPts val="0"/>
              </a:spcBef>
              <a:spcAft>
                <a:spcPts val="400"/>
              </a:spcAft>
            </a:pPr>
            <a:r>
              <a:rPr sz="819" b="0">
                <a:solidFill>
                  <a:srgbClr val="434343"/>
                </a:solidFill>
                <a:latin typeface="Noto Sans"/>
              </a:rPr>
              <a:t>Lo anterior contrasta con los porcentajes de disponibilidad de los servicios fijos de telecomunicaciones en los hogares de las zonas urbanas. De los 31.6 millones de hogares que había en estas zonas, el 19% contaba con los tres servicios fijos de telecomunicaciones; 35% contaba con dos servicios; 31% contaba solo con un servicio; y el 15% de los hogares restantes no disponían de servicios fijos de telecomunicaciones.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3" descr="ANUARIO_FIGURE_ID=B.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3" descr="Capa accesible con el texto del SVG de la figura B.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B.3</a:t>
            </a:r>
          </a:p>
          <a:p>
            <a:pPr>
              <a:spcBef>
                <a:spcPts val="0"/>
              </a:spcBef>
              <a:spcAft>
                <a:spcPts val="0"/>
              </a:spcAft>
            </a:pPr>
            <a:r>
              <a:rPr sz="100">
                <a:solidFill>
                  <a:srgbClr val="FFFFFF"/>
                </a:solidFill>
                <a:latin typeface="Noto Sans"/>
              </a:rPr>
              <a:t>Total de hogares en zonas</a:t>
            </a:r>
          </a:p>
          <a:p>
            <a:pPr>
              <a:spcBef>
                <a:spcPts val="0"/>
              </a:spcBef>
              <a:spcAft>
                <a:spcPts val="0"/>
              </a:spcAft>
            </a:pPr>
            <a:r>
              <a:rPr sz="100">
                <a:solidFill>
                  <a:srgbClr val="FFFFFF"/>
                </a:solidFill>
                <a:latin typeface="Noto Sans"/>
              </a:rPr>
              <a:t>rurales en México:</a:t>
            </a:r>
          </a:p>
          <a:p>
            <a:pPr>
              <a:spcBef>
                <a:spcPts val="0"/>
              </a:spcBef>
              <a:spcAft>
                <a:spcPts val="0"/>
              </a:spcAft>
            </a:pPr>
            <a:r>
              <a:rPr sz="100">
                <a:solidFill>
                  <a:srgbClr val="FFFFFF"/>
                </a:solidFill>
                <a:latin typeface="Noto Sans"/>
              </a:rPr>
              <a:t>31,622,749</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Tres servicios</a:t>
            </a:r>
          </a:p>
          <a:p>
            <a:pPr>
              <a:spcBef>
                <a:spcPts val="0"/>
              </a:spcBef>
              <a:spcAft>
                <a:spcPts val="0"/>
              </a:spcAft>
            </a:pPr>
            <a:r>
              <a:rPr sz="100">
                <a:solidFill>
                  <a:srgbClr val="FFFFFF"/>
                </a:solidFill>
                <a:latin typeface="Noto Sans"/>
              </a:rPr>
              <a:t>(Telefonía Fija +</a:t>
            </a:r>
          </a:p>
          <a:p>
            <a:pPr>
              <a:spcBef>
                <a:spcPts val="0"/>
              </a:spcBef>
              <a:spcAft>
                <a:spcPts val="0"/>
              </a:spcAft>
            </a:pPr>
            <a:r>
              <a:rPr sz="100">
                <a:solidFill>
                  <a:srgbClr val="FFFFFF"/>
                </a:solidFill>
                <a:latin typeface="Noto Sans"/>
              </a:rPr>
              <a:t>TV Restringida + Internet)</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Ninguno</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Solo</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Internet +</a:t>
            </a:r>
          </a:p>
          <a:p>
            <a:pPr>
              <a:spcBef>
                <a:spcPts val="0"/>
              </a:spcBef>
              <a:spcAft>
                <a:spcPts val="0"/>
              </a:spcAft>
            </a:pPr>
            <a:r>
              <a:rPr sz="100">
                <a:solidFill>
                  <a:srgbClr val="FFFFFF"/>
                </a:solidFill>
                <a:latin typeface="Noto Sans"/>
              </a:rPr>
              <a:t>Telefonía</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Internet</a:t>
            </a:r>
          </a:p>
          <a:p>
            <a:pPr>
              <a:spcBef>
                <a:spcPts val="0"/>
              </a:spcBef>
              <a:spcAft>
                <a:spcPts val="0"/>
              </a:spcAft>
            </a:pPr>
            <a:r>
              <a:rPr sz="100">
                <a:solidFill>
                  <a:srgbClr val="FFFFFF"/>
                </a:solidFill>
                <a:latin typeface="Noto Sans"/>
              </a:rPr>
              <a:t>TV Restringida</a:t>
            </a:r>
          </a:p>
          <a:p>
            <a:pPr>
              <a:spcBef>
                <a:spcPts val="0"/>
              </a:spcBef>
              <a:spcAft>
                <a:spcPts val="0"/>
              </a:spcAft>
            </a:pPr>
            <a:r>
              <a:rPr sz="100">
                <a:solidFill>
                  <a:srgbClr val="FFFFFF"/>
                </a:solidFill>
                <a:latin typeface="Noto Sans"/>
              </a:rPr>
              <a:t>+ Telefonía</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Figura B.2.</a:t>
            </a:r>
          </a:p>
          <a:p>
            <a:pPr>
              <a:spcBef>
                <a:spcPts val="0"/>
              </a:spcBef>
              <a:spcAft>
                <a:spcPts val="0"/>
              </a:spcAft>
            </a:pPr>
            <a:r>
              <a:rPr sz="100">
                <a:solidFill>
                  <a:srgbClr val="FFFFFF"/>
                </a:solidFill>
                <a:latin typeface="Noto Sans"/>
              </a:rPr>
              <a:t>Distribución de los Servicios Fijos con respecto del total de hogares en las zonas urbanas</a:t>
            </a:r>
          </a:p>
          <a:p>
            <a:pPr>
              <a:spcBef>
                <a:spcPts val="0"/>
              </a:spcBef>
              <a:spcAft>
                <a:spcPts val="0"/>
              </a:spcAft>
            </a:pPr>
            <a:r>
              <a:rPr sz="100">
                <a:solidFill>
                  <a:srgbClr val="FFFFFF"/>
                </a:solidFill>
                <a:latin typeface="Noto Sans"/>
              </a:rPr>
              <a:t>Un servicio</a:t>
            </a:r>
          </a:p>
          <a:p>
            <a:pPr>
              <a:spcBef>
                <a:spcPts val="0"/>
              </a:spcBef>
              <a:spcAft>
                <a:spcPts val="0"/>
              </a:spcAft>
            </a:pPr>
            <a:r>
              <a:rPr sz="100">
                <a:solidFill>
                  <a:srgbClr val="FFFFFF"/>
                </a:solidFill>
                <a:latin typeface="Noto Sans"/>
              </a:rPr>
              <a:t>Dos servicios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3" descr="Figura B.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23</a:t>
            </a:r>
          </a:p>
        </p:txBody>
      </p:sp>
    </p:spTree>
  </p:cSld>
  <p:clrMapOvr>
    <a:masterClrMapping/>
  </p:clrMapOvr>
</p:sld>
</file>

<file path=ppt/slides/slide2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4" descr="ANUARIO_FIGURE_ID=B.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B.4</a:t>
            </a:r>
          </a:p>
          <a:p>
            <a:pPr>
              <a:spcBef>
                <a:spcPts val="0"/>
              </a:spcBef>
              <a:spcAft>
                <a:spcPts val="600"/>
              </a:spcAft>
            </a:pPr>
            <a:r>
              <a:rPr sz="950" b="1">
                <a:solidFill>
                  <a:srgbClr val="203634"/>
                </a:solidFill>
                <a:latin typeface="Noto Sans"/>
              </a:rPr>
              <a:t>LÍNEAS DEL SERVICIO FIJO DE TELEFONÍA</a:t>
            </a:r>
          </a:p>
          <a:p>
            <a:pPr>
              <a:lnSpc>
                <a:spcPct val="100000"/>
              </a:lnSpc>
              <a:spcBef>
                <a:spcPts val="0"/>
              </a:spcBef>
              <a:spcAft>
                <a:spcPts val="400"/>
              </a:spcAft>
            </a:pPr>
            <a:r>
              <a:rPr sz="819" b="0">
                <a:solidFill>
                  <a:srgbClr val="434343"/>
                </a:solidFill>
                <a:latin typeface="Noto Sans"/>
              </a:rPr>
              <a:t>Con base en la información reportada por los operadores de telecomunicaciones al IFT, el número de líneas del servicio fijo de telefonía pasó de 28.8 millones en diciembre de 2023 a 31.4 millones en diciembre de 2024. Lo anterior representó una tasa de crecimiento anual del 8.9%, lo que equivale a un aumento de un poco más de 2.6 millones de líneas en un año.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4" descr="ANUARIO_FIGURE_ID=B.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4" descr="Capa accesible con el texto del SVG de la figura B.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B.4</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12,000,000</a:t>
            </a:r>
          </a:p>
          <a:p>
            <a:pPr>
              <a:spcBef>
                <a:spcPts val="0"/>
              </a:spcBef>
              <a:spcAft>
                <a:spcPts val="0"/>
              </a:spcAft>
            </a:pPr>
            <a:r>
              <a:rPr sz="100">
                <a:solidFill>
                  <a:srgbClr val="FFFFFF"/>
                </a:solidFill>
                <a:latin typeface="Noto Sans"/>
              </a:rPr>
              <a:t>14,000,000</a:t>
            </a:r>
          </a:p>
          <a:p>
            <a:pPr>
              <a:spcBef>
                <a:spcPts val="0"/>
              </a:spcBef>
              <a:spcAft>
                <a:spcPts val="0"/>
              </a:spcAft>
            </a:pPr>
            <a:r>
              <a:rPr sz="100">
                <a:solidFill>
                  <a:srgbClr val="FFFFFF"/>
                </a:solidFill>
                <a:latin typeface="Noto Sans"/>
              </a:rPr>
              <a:t>16,000,000</a:t>
            </a:r>
          </a:p>
          <a:p>
            <a:pPr>
              <a:spcBef>
                <a:spcPts val="0"/>
              </a:spcBef>
              <a:spcAft>
                <a:spcPts val="0"/>
              </a:spcAft>
            </a:pPr>
            <a:r>
              <a:rPr sz="100">
                <a:solidFill>
                  <a:srgbClr val="FFFFFF"/>
                </a:solidFill>
                <a:latin typeface="Noto Sans"/>
              </a:rPr>
              <a:t>18,000,000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22,000,000</a:t>
            </a:r>
          </a:p>
          <a:p>
            <a:pPr>
              <a:spcBef>
                <a:spcPts val="0"/>
              </a:spcBef>
              <a:spcAft>
                <a:spcPts val="0"/>
              </a:spcAft>
            </a:pPr>
            <a:r>
              <a:rPr sz="100">
                <a:solidFill>
                  <a:srgbClr val="FFFFFF"/>
                </a:solidFill>
                <a:latin typeface="Noto Sans"/>
              </a:rPr>
              <a:t>24,000,000</a:t>
            </a:r>
          </a:p>
          <a:p>
            <a:pPr>
              <a:spcBef>
                <a:spcPts val="0"/>
              </a:spcBef>
              <a:spcAft>
                <a:spcPts val="0"/>
              </a:spcAft>
            </a:pPr>
            <a:r>
              <a:rPr sz="100">
                <a:solidFill>
                  <a:srgbClr val="FFFFFF"/>
                </a:solidFill>
                <a:latin typeface="Noto Sans"/>
              </a:rPr>
              <a:t>26,000,000</a:t>
            </a:r>
          </a:p>
          <a:p>
            <a:pPr>
              <a:spcBef>
                <a:spcPts val="0"/>
              </a:spcBef>
              <a:spcAft>
                <a:spcPts val="0"/>
              </a:spcAft>
            </a:pPr>
            <a:r>
              <a:rPr sz="100">
                <a:solidFill>
                  <a:srgbClr val="FFFFFF"/>
                </a:solidFill>
                <a:latin typeface="Noto Sans"/>
              </a:rPr>
              <a:t>28,000,000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32,000,000</a:t>
            </a:r>
          </a:p>
          <a:p>
            <a:pPr>
              <a:spcBef>
                <a:spcPts val="0"/>
              </a:spcBef>
              <a:spcAft>
                <a:spcPts val="0"/>
              </a:spcAft>
            </a:pPr>
            <a:r>
              <a:rPr sz="100">
                <a:solidFill>
                  <a:srgbClr val="FFFFFF"/>
                </a:solidFill>
                <a:latin typeface="Noto Sans"/>
              </a:rPr>
              <a:t>34,000,000</a:t>
            </a:r>
          </a:p>
          <a:p>
            <a:pPr>
              <a:spcBef>
                <a:spcPts val="0"/>
              </a:spcBef>
              <a:spcAft>
                <a:spcPts val="0"/>
              </a:spcAft>
            </a:pPr>
            <a:r>
              <a:rPr sz="100">
                <a:solidFill>
                  <a:srgbClr val="FFFFFF"/>
                </a:solidFill>
                <a:latin typeface="Noto Sans"/>
              </a:rPr>
              <a:t>31,361,393</a:t>
            </a:r>
          </a:p>
          <a:p>
            <a:pPr>
              <a:spcBef>
                <a:spcPts val="0"/>
              </a:spcBef>
              <a:spcAft>
                <a:spcPts val="0"/>
              </a:spcAft>
            </a:pPr>
            <a:r>
              <a:rPr sz="100">
                <a:solidFill>
                  <a:srgbClr val="FFFFFF"/>
                </a:solidFill>
                <a:latin typeface="Noto Sans"/>
              </a:rPr>
              <a:t>12,330,180</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Figura B.4.</a:t>
            </a:r>
          </a:p>
          <a:p>
            <a:pPr>
              <a:spcBef>
                <a:spcPts val="0"/>
              </a:spcBef>
              <a:spcAft>
                <a:spcPts val="0"/>
              </a:spcAft>
            </a:pPr>
            <a:r>
              <a:rPr sz="100">
                <a:solidFill>
                  <a:srgbClr val="FFFFFF"/>
                </a:solidFill>
                <a:latin typeface="Noto Sans"/>
              </a:rPr>
              <a:t>Líneas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4" descr="Figura B.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24</a:t>
            </a:r>
          </a:p>
        </p:txBody>
      </p:sp>
    </p:spTree>
  </p:cSld>
  <p:clrMapOvr>
    <a:masterClrMapping/>
  </p:clrMapOvr>
</p:sld>
</file>

<file path=ppt/slides/slide2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5" descr="ANUARIO_FIGURE_ID=B.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B.5</a:t>
            </a:r>
          </a:p>
          <a:p>
            <a:pPr>
              <a:spcBef>
                <a:spcPts val="0"/>
              </a:spcBef>
              <a:spcAft>
                <a:spcPts val="600"/>
              </a:spcAft>
            </a:pPr>
            <a:r>
              <a:rPr sz="950" b="1">
                <a:solidFill>
                  <a:srgbClr val="203634"/>
                </a:solidFill>
                <a:latin typeface="Noto Sans"/>
              </a:rPr>
              <a:t>LÍNEAS DEL SERVICIO FIJO DE TELEFONÍA POR CADA 100 HOGARES</a:t>
            </a:r>
          </a:p>
          <a:p>
            <a:pPr>
              <a:lnSpc>
                <a:spcPct val="100000"/>
              </a:lnSpc>
              <a:spcBef>
                <a:spcPts val="0"/>
              </a:spcBef>
              <a:spcAft>
                <a:spcPts val="400"/>
              </a:spcAft>
            </a:pPr>
            <a:r>
              <a:rPr sz="880" b="0">
                <a:solidFill>
                  <a:srgbClr val="434343"/>
                </a:solidFill>
                <a:latin typeface="Noto Sans"/>
              </a:rPr>
              <a:t>Por otro lado, al obtener el número de líneas del servicio fijo de telefonía por cada 100 hogares a nivel nacional, se observa que en 2024 llegó a 80 líneas por cada 100 hogares, con lo cual se mantiene una tendencia al alza desde el año 2021.</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5" descr="ANUARIO_FIGURE_ID=B.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5" descr="Capa accesible con el texto del SVG de la figura B.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B.5</a:t>
            </a:r>
          </a:p>
          <a:p>
            <a:pPr>
              <a:spcBef>
                <a:spcPts val="0"/>
              </a:spcBef>
              <a:spcAft>
                <a:spcPts val="0"/>
              </a:spcAft>
            </a:pPr>
            <a:r>
              <a:rPr sz="100">
                <a:solidFill>
                  <a:srgbClr val="FFFFFF"/>
                </a:solidFill>
                <a:latin typeface="Noto Sans"/>
              </a:rPr>
              <a:t>1971</a:t>
            </a:r>
          </a:p>
          <a:p>
            <a:pPr>
              <a:spcBef>
                <a:spcPts val="0"/>
              </a:spcBef>
              <a:spcAft>
                <a:spcPts val="0"/>
              </a:spcAft>
            </a:pPr>
            <a:r>
              <a:rPr sz="100">
                <a:solidFill>
                  <a:srgbClr val="FFFFFF"/>
                </a:solidFill>
                <a:latin typeface="Noto Sans"/>
              </a:rPr>
              <a:t>1973</a:t>
            </a:r>
          </a:p>
          <a:p>
            <a:pPr>
              <a:spcBef>
                <a:spcPts val="0"/>
              </a:spcBef>
              <a:spcAft>
                <a:spcPts val="0"/>
              </a:spcAft>
            </a:pPr>
            <a:r>
              <a:rPr sz="100">
                <a:solidFill>
                  <a:srgbClr val="FFFFFF"/>
                </a:solidFill>
                <a:latin typeface="Noto Sans"/>
              </a:rPr>
              <a:t>1975</a:t>
            </a:r>
          </a:p>
          <a:p>
            <a:pPr>
              <a:spcBef>
                <a:spcPts val="0"/>
              </a:spcBef>
              <a:spcAft>
                <a:spcPts val="0"/>
              </a:spcAft>
            </a:pPr>
            <a:r>
              <a:rPr sz="100">
                <a:solidFill>
                  <a:srgbClr val="FFFFFF"/>
                </a:solidFill>
                <a:latin typeface="Noto Sans"/>
              </a:rPr>
              <a:t>1977</a:t>
            </a:r>
          </a:p>
          <a:p>
            <a:pPr>
              <a:spcBef>
                <a:spcPts val="0"/>
              </a:spcBef>
              <a:spcAft>
                <a:spcPts val="0"/>
              </a:spcAft>
            </a:pPr>
            <a:r>
              <a:rPr sz="100">
                <a:solidFill>
                  <a:srgbClr val="FFFFFF"/>
                </a:solidFill>
                <a:latin typeface="Noto Sans"/>
              </a:rPr>
              <a:t>1979</a:t>
            </a:r>
          </a:p>
          <a:p>
            <a:pPr>
              <a:spcBef>
                <a:spcPts val="0"/>
              </a:spcBef>
              <a:spcAft>
                <a:spcPts val="0"/>
              </a:spcAft>
            </a:pPr>
            <a:r>
              <a:rPr sz="100">
                <a:solidFill>
                  <a:srgbClr val="FFFFFF"/>
                </a:solidFill>
                <a:latin typeface="Noto Sans"/>
              </a:rPr>
              <a:t>1981</a:t>
            </a:r>
          </a:p>
          <a:p>
            <a:pPr>
              <a:spcBef>
                <a:spcPts val="0"/>
              </a:spcBef>
              <a:spcAft>
                <a:spcPts val="0"/>
              </a:spcAft>
            </a:pPr>
            <a:r>
              <a:rPr sz="100">
                <a:solidFill>
                  <a:srgbClr val="FFFFFF"/>
                </a:solidFill>
                <a:latin typeface="Noto Sans"/>
              </a:rPr>
              <a:t>1983</a:t>
            </a:r>
          </a:p>
          <a:p>
            <a:pPr>
              <a:spcBef>
                <a:spcPts val="0"/>
              </a:spcBef>
              <a:spcAft>
                <a:spcPts val="0"/>
              </a:spcAft>
            </a:pPr>
            <a:r>
              <a:rPr sz="100">
                <a:solidFill>
                  <a:srgbClr val="FFFFFF"/>
                </a:solidFill>
                <a:latin typeface="Noto Sans"/>
              </a:rPr>
              <a:t>1985</a:t>
            </a:r>
          </a:p>
          <a:p>
            <a:pPr>
              <a:spcBef>
                <a:spcPts val="0"/>
              </a:spcBef>
              <a:spcAft>
                <a:spcPts val="0"/>
              </a:spcAft>
            </a:pPr>
            <a:r>
              <a:rPr sz="100">
                <a:solidFill>
                  <a:srgbClr val="FFFFFF"/>
                </a:solidFill>
                <a:latin typeface="Noto Sans"/>
              </a:rPr>
              <a:t>1987</a:t>
            </a:r>
          </a:p>
          <a:p>
            <a:pPr>
              <a:spcBef>
                <a:spcPts val="0"/>
              </a:spcBef>
              <a:spcAft>
                <a:spcPts val="0"/>
              </a:spcAft>
            </a:pPr>
            <a:r>
              <a:rPr sz="100">
                <a:solidFill>
                  <a:srgbClr val="FFFFFF"/>
                </a:solidFill>
                <a:latin typeface="Noto Sans"/>
              </a:rPr>
              <a:t>1989</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Figura B.5.</a:t>
            </a:r>
          </a:p>
          <a:p>
            <a:pPr>
              <a:spcBef>
                <a:spcPts val="0"/>
              </a:spcBef>
              <a:spcAft>
                <a:spcPts val="0"/>
              </a:spcAft>
            </a:pPr>
            <a:r>
              <a:rPr sz="100">
                <a:solidFill>
                  <a:srgbClr val="FFFFFF"/>
                </a:solidFill>
                <a:latin typeface="Noto Sans"/>
              </a:rPr>
              <a:t>Líneas del Servicio Fijo de Telefonía por cada 100 hogares (1971-2024)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5" descr="Figura B.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25</a:t>
            </a:r>
          </a:p>
        </p:txBody>
      </p:sp>
    </p:spTree>
  </p:cSld>
  <p:clrMapOvr>
    <a:masterClrMapping/>
  </p:clrMapOvr>
</p:sld>
</file>

<file path=ppt/slides/slide2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6" descr="ANUARIO_FIGURE_ID=B.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B.6</a:t>
            </a:r>
          </a:p>
          <a:p>
            <a:pPr>
              <a:spcBef>
                <a:spcPts val="0"/>
              </a:spcBef>
              <a:spcAft>
                <a:spcPts val="600"/>
              </a:spcAft>
            </a:pPr>
            <a:r>
              <a:rPr sz="950" b="1">
                <a:solidFill>
                  <a:srgbClr val="203634"/>
                </a:solidFill>
                <a:latin typeface="Noto Sans"/>
              </a:rPr>
              <a:t>LÍNEAS DEL SERVICIO FIJO DE TELEFONÍA RESIDENCIAL POR CADA 100 HOGARES POR ENTIDAD FEDERATIVA</a:t>
            </a:r>
          </a:p>
          <a:p>
            <a:pPr>
              <a:lnSpc>
                <a:spcPct val="100000"/>
              </a:lnSpc>
              <a:spcBef>
                <a:spcPts val="0"/>
              </a:spcBef>
              <a:spcAft>
                <a:spcPts val="400"/>
              </a:spcAft>
            </a:pPr>
            <a:r>
              <a:rPr sz="760" b="0">
                <a:solidFill>
                  <a:srgbClr val="434343"/>
                </a:solidFill>
                <a:latin typeface="Noto Sans"/>
              </a:rPr>
              <a:t>En cuanto al segmento residencial del servicio fijo de telefonía, a finales de 2024 se estiman 56 líneas por cada 100 hogares a nivel nacional, siendo la Ciudad de México la entidad federativa con la mayor cantidad de líneas por cada 100 hogares con 87, seguida de Nuevo León con 79 y Baja California con 79. En contraste, las entidades con la menor cantidad de líneas residenciales por cada 100 hogares fueron Hidalgo, Tabasco, Oaxaca y Chiapas con 34, 25, 22 y 20,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6" descr="ANUARIO_FIGURE_ID=B.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6" descr="Capa accesible con el texto del SVG de la figura B.6"/>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B.6</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Menos de 29</a:t>
            </a:r>
          </a:p>
          <a:p>
            <a:pPr>
              <a:spcBef>
                <a:spcPts val="0"/>
              </a:spcBef>
              <a:spcAft>
                <a:spcPts val="0"/>
              </a:spcAft>
            </a:pPr>
            <a:r>
              <a:rPr sz="100">
                <a:solidFill>
                  <a:srgbClr val="FFFFFF"/>
                </a:solidFill>
                <a:latin typeface="Noto Sans"/>
              </a:rPr>
              <a:t>29 a 42</a:t>
            </a:r>
          </a:p>
          <a:p>
            <a:pPr>
              <a:spcBef>
                <a:spcPts val="0"/>
              </a:spcBef>
              <a:spcAft>
                <a:spcPts val="0"/>
              </a:spcAft>
            </a:pPr>
            <a:r>
              <a:rPr sz="100">
                <a:solidFill>
                  <a:srgbClr val="FFFFFF"/>
                </a:solidFill>
                <a:latin typeface="Noto Sans"/>
              </a:rPr>
              <a:t>43 a 55</a:t>
            </a:r>
          </a:p>
          <a:p>
            <a:pPr>
              <a:spcBef>
                <a:spcPts val="0"/>
              </a:spcBef>
              <a:spcAft>
                <a:spcPts val="0"/>
              </a:spcAft>
            </a:pPr>
            <a:r>
              <a:rPr sz="100">
                <a:solidFill>
                  <a:srgbClr val="FFFFFF"/>
                </a:solidFill>
                <a:latin typeface="Noto Sans"/>
              </a:rPr>
              <a:t>56 a 68</a:t>
            </a:r>
          </a:p>
          <a:p>
            <a:pPr>
              <a:spcBef>
                <a:spcPts val="0"/>
              </a:spcBef>
              <a:spcAft>
                <a:spcPts val="0"/>
              </a:spcAft>
            </a:pPr>
            <a:r>
              <a:rPr sz="100">
                <a:solidFill>
                  <a:srgbClr val="FFFFFF"/>
                </a:solidFill>
                <a:latin typeface="Noto Sans"/>
              </a:rPr>
              <a:t>Más de 68</a:t>
            </a:r>
          </a:p>
          <a:p>
            <a:pPr>
              <a:spcBef>
                <a:spcPts val="0"/>
              </a:spcBef>
              <a:spcAft>
                <a:spcPts val="0"/>
              </a:spcAft>
            </a:pPr>
            <a:r>
              <a:rPr sz="100">
                <a:solidFill>
                  <a:srgbClr val="FFFFFF"/>
                </a:solidFill>
                <a:latin typeface="Noto Sans"/>
              </a:rPr>
              <a:t>Figura B.6.</a:t>
            </a:r>
          </a:p>
          <a:p>
            <a:pPr>
              <a:spcBef>
                <a:spcPts val="0"/>
              </a:spcBef>
              <a:spcAft>
                <a:spcPts val="0"/>
              </a:spcAft>
            </a:pPr>
            <a:r>
              <a:rPr sz="100">
                <a:solidFill>
                  <a:srgbClr val="FFFFFF"/>
                </a:solidFill>
                <a:latin typeface="Noto Sans"/>
              </a:rPr>
              <a:t>Líneas del Servicio Fijo de Telefonía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Residencial por cada 100 hogares:</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5.7%</a:t>
            </a:r>
          </a:p>
        </p:txBody>
      </p:sp>
      <p:pic>
        <p:nvPicPr>
          <p:cNvPr id="223" name="ANUARIO_IMAGE_B_6" descr="Figura B.6.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26</a:t>
            </a:r>
          </a:p>
        </p:txBody>
      </p:sp>
    </p:spTree>
  </p:cSld>
  <p:clrMapOvr>
    <a:masterClrMapping/>
  </p:clrMapOvr>
</p:sld>
</file>

<file path=ppt/slides/slide2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7" descr="ANUARIO_FIGURE_ID=B.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B.7</a:t>
            </a:r>
          </a:p>
          <a:p>
            <a:pPr>
              <a:spcBef>
                <a:spcPts val="0"/>
              </a:spcBef>
              <a:spcAft>
                <a:spcPts val="600"/>
              </a:spcAft>
            </a:pPr>
            <a:r>
              <a:rPr sz="950" b="1">
                <a:solidFill>
                  <a:srgbClr val="203634"/>
                </a:solidFill>
                <a:latin typeface="Noto Sans"/>
              </a:rPr>
              <a:t>LÍNEAS DEL SERVICIO FIJO DE TELEFONÍA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se estiman 160 líneas por cada 100 unidades económicas a nivel nacional, siendo la Ciudad de México, Nuevo León y Querétaro las entidades federativas con la mayor cantidad de líneas por cada 100 unidades económicas con 630, 516 y 166, respectivamente. En contraste, las entidades federativas con la menor cantidad de líneas por cada 100 unidades económicas fueron Oaxaca, Guerrero y Chiapas con 28, 35 y 35,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7" descr="ANUARIO_FIGURE_ID=B.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7" descr="Capa accesible con el texto del SVG de la figura B.7"/>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B.7</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 100 unidades económicas:</a:t>
            </a:r>
          </a:p>
          <a:p>
            <a:pPr>
              <a:spcBef>
                <a:spcPts val="0"/>
              </a:spcBef>
              <a:spcAft>
                <a:spcPts val="0"/>
              </a:spcAft>
            </a:pPr>
            <a:r>
              <a:rPr sz="100">
                <a:solidFill>
                  <a:srgbClr val="FFFFFF"/>
                </a:solidFill>
                <a:latin typeface="Noto Sans"/>
              </a:rPr>
              <a:t>Menos de 39</a:t>
            </a:r>
          </a:p>
          <a:p>
            <a:pPr>
              <a:spcBef>
                <a:spcPts val="0"/>
              </a:spcBef>
              <a:spcAft>
                <a:spcPts val="0"/>
              </a:spcAft>
            </a:pPr>
            <a:r>
              <a:rPr sz="100">
                <a:solidFill>
                  <a:srgbClr val="FFFFFF"/>
                </a:solidFill>
                <a:latin typeface="Noto Sans"/>
              </a:rPr>
              <a:t>39 a 60</a:t>
            </a:r>
          </a:p>
          <a:p>
            <a:pPr>
              <a:spcBef>
                <a:spcPts val="0"/>
              </a:spcBef>
              <a:spcAft>
                <a:spcPts val="0"/>
              </a:spcAft>
            </a:pPr>
            <a:r>
              <a:rPr sz="100">
                <a:solidFill>
                  <a:srgbClr val="FFFFFF"/>
                </a:solidFill>
                <a:latin typeface="Noto Sans"/>
              </a:rPr>
              <a:t>61 a 97</a:t>
            </a:r>
          </a:p>
          <a:p>
            <a:pPr>
              <a:spcBef>
                <a:spcPts val="0"/>
              </a:spcBef>
              <a:spcAft>
                <a:spcPts val="0"/>
              </a:spcAft>
            </a:pPr>
            <a:r>
              <a:rPr sz="100">
                <a:solidFill>
                  <a:srgbClr val="FFFFFF"/>
                </a:solidFill>
                <a:latin typeface="Noto Sans"/>
              </a:rPr>
              <a:t>98 a 114</a:t>
            </a:r>
          </a:p>
          <a:p>
            <a:pPr>
              <a:spcBef>
                <a:spcPts val="0"/>
              </a:spcBef>
              <a:spcAft>
                <a:spcPts val="0"/>
              </a:spcAft>
            </a:pPr>
            <a:r>
              <a:rPr sz="100">
                <a:solidFill>
                  <a:srgbClr val="FFFFFF"/>
                </a:solidFill>
                <a:latin typeface="Noto Sans"/>
              </a:rPr>
              <a:t>Más de 114</a:t>
            </a:r>
          </a:p>
          <a:p>
            <a:pPr>
              <a:spcBef>
                <a:spcPts val="0"/>
              </a:spcBef>
              <a:spcAft>
                <a:spcPts val="0"/>
              </a:spcAft>
            </a:pPr>
            <a:r>
              <a:rPr sz="100">
                <a:solidFill>
                  <a:srgbClr val="FFFFFF"/>
                </a:solidFill>
                <a:latin typeface="Noto Sans"/>
              </a:rPr>
              <a:t>Figura B.7.</a:t>
            </a:r>
          </a:p>
          <a:p>
            <a:pPr>
              <a:spcBef>
                <a:spcPts val="0"/>
              </a:spcBef>
              <a:spcAft>
                <a:spcPts val="0"/>
              </a:spcAft>
            </a:pPr>
            <a:r>
              <a:rPr sz="100">
                <a:solidFill>
                  <a:srgbClr val="FFFFFF"/>
                </a:solidFill>
                <a:latin typeface="Noto Sans"/>
              </a:rPr>
              <a:t>Líneas del Servicio Fijo de Telefonía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Líneas del servicio fijo de Telefonía</a:t>
            </a:r>
          </a:p>
          <a:p>
            <a:pPr>
              <a:spcBef>
                <a:spcPts val="0"/>
              </a:spcBef>
              <a:spcAft>
                <a:spcPts val="0"/>
              </a:spcAft>
            </a:pPr>
            <a:r>
              <a:rPr sz="100">
                <a:solidFill>
                  <a:srgbClr val="FFFFFF"/>
                </a:solidFill>
                <a:latin typeface="Noto Sans"/>
              </a:rPr>
              <a:t>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25.0%</a:t>
            </a:r>
          </a:p>
        </p:txBody>
      </p:sp>
      <p:pic>
        <p:nvPicPr>
          <p:cNvPr id="223" name="ANUARIO_IMAGE_B_7" descr="Figura B.7.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27</a:t>
            </a:r>
          </a:p>
        </p:txBody>
      </p:sp>
    </p:spTree>
  </p:cSld>
  <p:clrMapOvr>
    <a:masterClrMapping/>
  </p:clrMapOvr>
</p:sld>
</file>

<file path=ppt/slides/slide2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8" descr="ANUARIO_FIGURE_ID=B.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B.8</a:t>
            </a:r>
          </a:p>
          <a:p>
            <a:pPr>
              <a:spcBef>
                <a:spcPts val="0"/>
              </a:spcBef>
              <a:spcAft>
                <a:spcPts val="600"/>
              </a:spcAft>
            </a:pPr>
            <a:r>
              <a:rPr sz="950" b="1">
                <a:solidFill>
                  <a:srgbClr val="203634"/>
                </a:solidFill>
                <a:latin typeface="Noto Sans"/>
              </a:rPr>
              <a:t>TRÁFICO DE MINUTOS DEL SERVICIO FIJO DE TELEFONÍA</a:t>
            </a:r>
          </a:p>
          <a:p>
            <a:pPr>
              <a:lnSpc>
                <a:spcPct val="100000"/>
              </a:lnSpc>
              <a:spcBef>
                <a:spcPts val="0"/>
              </a:spcBef>
              <a:spcAft>
                <a:spcPts val="400"/>
              </a:spcAft>
            </a:pPr>
            <a:r>
              <a:rPr sz="819" b="0">
                <a:solidFill>
                  <a:srgbClr val="434343"/>
                </a:solidFill>
                <a:latin typeface="Noto Sans"/>
              </a:rPr>
              <a:t>Adicionalmente, con base en la información proporcionada por los operadores al IFT, en 2024, el número de minutos de tráfico local del servicio fijo de telefonía fue de 938 millones, lo que representó una disminución del 5.2% con respecto al tráfico local presentado en el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8" descr="ANUARIO_FIGURE_ID=B.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8" descr="Capa accesible con el texto del SVG de la figura B.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B.8</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4,000</a:t>
            </a:r>
          </a:p>
          <a:p>
            <a:pPr>
              <a:spcBef>
                <a:spcPts val="0"/>
              </a:spcBef>
              <a:spcAft>
                <a:spcPts val="0"/>
              </a:spcAft>
            </a:pPr>
            <a:r>
              <a:rPr sz="100">
                <a:solidFill>
                  <a:srgbClr val="FFFFFF"/>
                </a:solidFill>
                <a:latin typeface="Noto Sans"/>
              </a:rPr>
              <a:t>6,000</a:t>
            </a:r>
          </a:p>
          <a:p>
            <a:pPr>
              <a:spcBef>
                <a:spcPts val="0"/>
              </a:spcBef>
              <a:spcAft>
                <a:spcPts val="0"/>
              </a:spcAft>
            </a:pPr>
            <a:r>
              <a:rPr sz="100">
                <a:solidFill>
                  <a:srgbClr val="FFFFFF"/>
                </a:solidFill>
                <a:latin typeface="Noto Sans"/>
              </a:rPr>
              <a:t>8,000</a:t>
            </a:r>
          </a:p>
          <a:p>
            <a:pPr>
              <a:spcBef>
                <a:spcPts val="0"/>
              </a:spcBef>
              <a:spcAft>
                <a:spcPts val="0"/>
              </a:spcAft>
            </a:pPr>
            <a:r>
              <a:rPr sz="100">
                <a:solidFill>
                  <a:srgbClr val="FFFFFF"/>
                </a:solidFill>
                <a:latin typeface="Noto Sans"/>
              </a:rPr>
              <a:t>10,000</a:t>
            </a:r>
          </a:p>
          <a:p>
            <a:pPr>
              <a:spcBef>
                <a:spcPts val="0"/>
              </a:spcBef>
              <a:spcAft>
                <a:spcPts val="0"/>
              </a:spcAft>
            </a:pPr>
            <a:r>
              <a:rPr sz="100">
                <a:solidFill>
                  <a:srgbClr val="FFFFFF"/>
                </a:solidFill>
                <a:latin typeface="Noto Sans"/>
              </a:rPr>
              <a:t>12,000</a:t>
            </a:r>
          </a:p>
          <a:p>
            <a:pPr>
              <a:spcBef>
                <a:spcPts val="0"/>
              </a:spcBef>
              <a:spcAft>
                <a:spcPts val="0"/>
              </a:spcAft>
            </a:pPr>
            <a:r>
              <a:rPr sz="100">
                <a:solidFill>
                  <a:srgbClr val="FFFFFF"/>
                </a:solidFill>
                <a:latin typeface="Noto Sans"/>
              </a:rPr>
              <a:t>938.1</a:t>
            </a:r>
          </a:p>
          <a:p>
            <a:pPr>
              <a:spcBef>
                <a:spcPts val="0"/>
              </a:spcBef>
              <a:spcAft>
                <a:spcPts val="0"/>
              </a:spcAft>
            </a:pPr>
            <a:r>
              <a:rPr sz="100">
                <a:solidFill>
                  <a:srgbClr val="FFFFFF"/>
                </a:solidFill>
                <a:latin typeface="Noto Sans"/>
              </a:rPr>
              <a:t>Tráfico local del servicio fijo de telefonía</a:t>
            </a:r>
          </a:p>
          <a:p>
            <a:pPr>
              <a:spcBef>
                <a:spcPts val="0"/>
              </a:spcBef>
              <a:spcAft>
                <a:spcPts val="0"/>
              </a:spcAft>
            </a:pPr>
            <a:r>
              <a:rPr sz="100">
                <a:solidFill>
                  <a:srgbClr val="FFFFFF"/>
                </a:solidFill>
                <a:latin typeface="Noto Sans"/>
              </a:rPr>
              <a:t>Figura B.8.</a:t>
            </a:r>
          </a:p>
          <a:p>
            <a:pPr>
              <a:spcBef>
                <a:spcPts val="0"/>
              </a:spcBef>
              <a:spcAft>
                <a:spcPts val="0"/>
              </a:spcAft>
            </a:pPr>
            <a:r>
              <a:rPr sz="100">
                <a:solidFill>
                  <a:srgbClr val="FFFFFF"/>
                </a:solidFill>
                <a:latin typeface="Noto Sans"/>
              </a:rPr>
              <a:t>Tráfico de minutos del Servicio Fijo de Telefonía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minutos. Para cada año los datos se presentan acumulados al mes de diciembre.</a:t>
            </a:r>
          </a:p>
        </p:txBody>
      </p:sp>
      <p:pic>
        <p:nvPicPr>
          <p:cNvPr id="223" name="ANUARIO_IMAGE_B_8" descr="Figura B.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28</a:t>
            </a:r>
          </a:p>
        </p:txBody>
      </p:sp>
    </p:spTree>
  </p:cSld>
  <p:clrMapOvr>
    <a:masterClrMapping/>
  </p:clrMapOvr>
</p:sld>
</file>

<file path=ppt/slides/slide2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9" descr="ANUARIO_FIGURE_ID=B.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B.9</a:t>
            </a:r>
          </a:p>
          <a:p>
            <a:pPr>
              <a:spcBef>
                <a:spcPts val="0"/>
              </a:spcBef>
              <a:spcAft>
                <a:spcPts val="600"/>
              </a:spcAft>
            </a:pPr>
            <a:r>
              <a:rPr sz="950" b="1">
                <a:solidFill>
                  <a:srgbClr val="203634"/>
                </a:solidFill>
                <a:latin typeface="Noto Sans"/>
              </a:rPr>
              <a:t>PARTICIPACIÓN DE MERCADO DEL SERVICIO FIJO DE TELEFONÍA</a:t>
            </a:r>
          </a:p>
          <a:p>
            <a:pPr>
              <a:lnSpc>
                <a:spcPct val="100000"/>
              </a:lnSpc>
              <a:spcBef>
                <a:spcPts val="0"/>
              </a:spcBef>
              <a:spcAft>
                <a:spcPts val="400"/>
              </a:spcAft>
            </a:pPr>
            <a:r>
              <a:rPr sz="760" b="0">
                <a:solidFill>
                  <a:srgbClr val="434343"/>
                </a:solidFill>
                <a:latin typeface="Noto Sans"/>
              </a:rPr>
              <a:t>En cuanto al consumo de este servicio, se observó que, en el cuarto trimestre de 2023, los minutos de uso por línea (MOU, por sus siglas en inglés) fueron, en promedio, 32 minutos mensuales.</a:t>
            </a:r>
          </a:p>
          <a:p>
            <a:pPr>
              <a:lnSpc>
                <a:spcPct val="100000"/>
              </a:lnSpc>
              <a:spcBef>
                <a:spcPts val="0"/>
              </a:spcBef>
              <a:spcAft>
                <a:spcPts val="400"/>
              </a:spcAft>
            </a:pPr>
            <a:r>
              <a:rPr sz="760" b="0">
                <a:solidFill>
                  <a:srgbClr val="434343"/>
                </a:solidFill>
                <a:latin typeface="Noto Sans"/>
              </a:rPr>
              <a:t>Con respecto de la participación de mercado del servicio fijo de telefonía, se observa que el agente económico preponderante perdió cerca de 38 puntos porcentuales en su participación de 2013 a 2024, incluso registrando en este último año una participación de mercado menor al 40%, lo cual refleja una mayor competencia en este servicio con el paso de los años.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9" descr="ANUARIO_FIGURE_ID=B.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9" descr="Capa accesible con el texto del SVG de la figura B.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70.1%</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14.8%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62.0%</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57.8%</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19.2%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53.2%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47.5%</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24.2%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15.3%</a:t>
            </a:r>
          </a:p>
          <a:p>
            <a:pPr>
              <a:spcBef>
                <a:spcPts val="0"/>
              </a:spcBef>
              <a:spcAft>
                <a:spcPts val="0"/>
              </a:spcAft>
            </a:pPr>
            <a:r>
              <a:rPr sz="100">
                <a:solidFill>
                  <a:srgbClr val="FFFFFF"/>
                </a:solidFill>
                <a:latin typeface="Noto Sans"/>
              </a:rPr>
              <a:t>0.05%</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35.1%</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27.6%</a:t>
            </a:r>
          </a:p>
          <a:p>
            <a:pPr>
              <a:spcBef>
                <a:spcPts val="0"/>
              </a:spcBef>
              <a:spcAft>
                <a:spcPts val="0"/>
              </a:spcAft>
            </a:pPr>
            <a:r>
              <a:rPr sz="100">
                <a:solidFill>
                  <a:srgbClr val="FFFFFF"/>
                </a:solidFill>
                <a:latin typeface="Noto Sans"/>
              </a:rPr>
              <a:t>17.4%</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32.4%</a:t>
            </a:r>
          </a:p>
          <a:p>
            <a:pPr>
              <a:spcBef>
                <a:spcPts val="0"/>
              </a:spcBef>
              <a:spcAft>
                <a:spcPts val="0"/>
              </a:spcAft>
            </a:pPr>
            <a:r>
              <a:rPr sz="100">
                <a:solidFill>
                  <a:srgbClr val="FFFFFF"/>
                </a:solidFill>
                <a:latin typeface="Noto Sans"/>
              </a:rPr>
              <a:t>19.5%</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26.6%</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Figura B.9.</a:t>
            </a:r>
          </a:p>
          <a:p>
            <a:pPr>
              <a:spcBef>
                <a:spcPts val="0"/>
              </a:spcBef>
              <a:spcAft>
                <a:spcPts val="0"/>
              </a:spcAft>
            </a:pPr>
            <a:r>
              <a:rPr sz="100">
                <a:solidFill>
                  <a:srgbClr val="FFFFFF"/>
                </a:solidFill>
                <a:latin typeface="Noto Sans"/>
              </a:rPr>
              <a:t>Participación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líneas del servicio.</a:t>
            </a:r>
          </a:p>
        </p:txBody>
      </p:sp>
      <p:pic>
        <p:nvPicPr>
          <p:cNvPr id="223" name="ANUARIO_IMAGE_B_9" descr="Figura B.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29</a:t>
            </a:r>
          </a:p>
        </p:txBody>
      </p:sp>
    </p:spTree>
  </p:cSld>
  <p:clrMapOvr>
    <a:masterClrMapping/>
  </p:clrMapOvr>
</p:sld>
</file>

<file path=ppt/slides/slide3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0" descr="ANUARIO_FIGURE_ID=B.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B.10</a:t>
            </a:r>
          </a:p>
          <a:p>
            <a:pPr>
              <a:spcBef>
                <a:spcPts val="0"/>
              </a:spcBef>
              <a:spcAft>
                <a:spcPts val="600"/>
              </a:spcAft>
            </a:pPr>
            <a:r>
              <a:rPr sz="950" b="1">
                <a:solidFill>
                  <a:srgbClr val="203634"/>
                </a:solidFill>
                <a:latin typeface="Noto Sans"/>
              </a:rPr>
              <a:t>HERFINDAHL-HIRSCHMAN (IHH) DEL SERVICIO FIJO DE TELEFONÍA</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de manera constante desde el 2013, lo cual indica que, en este periodo de tiempo, el servicio fijo de telefonía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0" descr="ANUARIO_FIGURE_ID=B.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0" descr="Capa accesible con el texto del SVG de la figura B.1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2,519</a:t>
            </a:r>
          </a:p>
          <a:p>
            <a:pPr>
              <a:spcBef>
                <a:spcPts val="0"/>
              </a:spcBef>
              <a:spcAft>
                <a:spcPts val="0"/>
              </a:spcAft>
            </a:pPr>
            <a:r>
              <a:rPr sz="100">
                <a:solidFill>
                  <a:srgbClr val="FFFFFF"/>
                </a:solidFill>
                <a:latin typeface="Noto Sans"/>
              </a:rPr>
              <a:t>2,613</a:t>
            </a:r>
          </a:p>
          <a:p>
            <a:pPr>
              <a:spcBef>
                <a:spcPts val="0"/>
              </a:spcBef>
              <a:spcAft>
                <a:spcPts val="0"/>
              </a:spcAft>
            </a:pPr>
            <a:r>
              <a:rPr sz="100">
                <a:solidFill>
                  <a:srgbClr val="FFFFFF"/>
                </a:solidFill>
                <a:latin typeface="Noto Sans"/>
              </a:rPr>
              <a:t>2,724</a:t>
            </a:r>
          </a:p>
          <a:p>
            <a:pPr>
              <a:spcBef>
                <a:spcPts val="0"/>
              </a:spcBef>
              <a:spcAft>
                <a:spcPts val="0"/>
              </a:spcAft>
            </a:pPr>
            <a:r>
              <a:rPr sz="100">
                <a:solidFill>
                  <a:srgbClr val="FFFFFF"/>
                </a:solidFill>
                <a:latin typeface="Noto Sans"/>
              </a:rPr>
              <a:t>2,919</a:t>
            </a:r>
          </a:p>
          <a:p>
            <a:pPr>
              <a:spcBef>
                <a:spcPts val="0"/>
              </a:spcBef>
              <a:spcAft>
                <a:spcPts val="0"/>
              </a:spcAft>
            </a:pPr>
            <a:r>
              <a:rPr sz="100">
                <a:solidFill>
                  <a:srgbClr val="FFFFFF"/>
                </a:solidFill>
                <a:latin typeface="Noto Sans"/>
              </a:rPr>
              <a:t>3,140</a:t>
            </a:r>
          </a:p>
          <a:p>
            <a:pPr>
              <a:spcBef>
                <a:spcPts val="0"/>
              </a:spcBef>
              <a:spcAft>
                <a:spcPts val="0"/>
              </a:spcAft>
            </a:pPr>
            <a:r>
              <a:rPr sz="100">
                <a:solidFill>
                  <a:srgbClr val="FFFFFF"/>
                </a:solidFill>
                <a:latin typeface="Noto Sans"/>
              </a:rPr>
              <a:t>3,559</a:t>
            </a:r>
          </a:p>
          <a:p>
            <a:pPr>
              <a:spcBef>
                <a:spcPts val="0"/>
              </a:spcBef>
              <a:spcAft>
                <a:spcPts val="0"/>
              </a:spcAft>
            </a:pPr>
            <a:r>
              <a:rPr sz="100">
                <a:solidFill>
                  <a:srgbClr val="FFFFFF"/>
                </a:solidFill>
                <a:latin typeface="Noto Sans"/>
              </a:rPr>
              <a:t>3,867</a:t>
            </a:r>
          </a:p>
          <a:p>
            <a:pPr>
              <a:spcBef>
                <a:spcPts val="0"/>
              </a:spcBef>
              <a:spcAft>
                <a:spcPts val="0"/>
              </a:spcAft>
            </a:pPr>
            <a:r>
              <a:rPr sz="100">
                <a:solidFill>
                  <a:srgbClr val="FFFFFF"/>
                </a:solidFill>
                <a:latin typeface="Noto Sans"/>
              </a:rPr>
              <a:t>4,055</a:t>
            </a:r>
          </a:p>
          <a:p>
            <a:pPr>
              <a:spcBef>
                <a:spcPts val="0"/>
              </a:spcBef>
              <a:spcAft>
                <a:spcPts val="0"/>
              </a:spcAft>
            </a:pPr>
            <a:r>
              <a:rPr sz="100">
                <a:solidFill>
                  <a:srgbClr val="FFFFFF"/>
                </a:solidFill>
                <a:latin typeface="Noto Sans"/>
              </a:rPr>
              <a:t>4,215</a:t>
            </a:r>
          </a:p>
          <a:p>
            <a:pPr>
              <a:spcBef>
                <a:spcPts val="0"/>
              </a:spcBef>
              <a:spcAft>
                <a:spcPts val="0"/>
              </a:spcAft>
            </a:pPr>
            <a:r>
              <a:rPr sz="100">
                <a:solidFill>
                  <a:srgbClr val="FFFFFF"/>
                </a:solidFill>
                <a:latin typeface="Noto Sans"/>
              </a:rPr>
              <a:t>4,307</a:t>
            </a:r>
          </a:p>
          <a:p>
            <a:pPr>
              <a:spcBef>
                <a:spcPts val="0"/>
              </a:spcBef>
              <a:spcAft>
                <a:spcPts val="0"/>
              </a:spcAft>
            </a:pPr>
            <a:r>
              <a:rPr sz="100">
                <a:solidFill>
                  <a:srgbClr val="FFFFFF"/>
                </a:solidFill>
                <a:latin typeface="Noto Sans"/>
              </a:rPr>
              <a:t>4,762</a:t>
            </a:r>
          </a:p>
          <a:p>
            <a:pPr>
              <a:spcBef>
                <a:spcPts val="0"/>
              </a:spcBef>
              <a:spcAft>
                <a:spcPts val="0"/>
              </a:spcAft>
            </a:pPr>
            <a:r>
              <a:rPr sz="100">
                <a:solidFill>
                  <a:srgbClr val="FFFFFF"/>
                </a:solidFill>
                <a:latin typeface="Noto Sans"/>
              </a:rPr>
              <a:t>5,089</a:t>
            </a:r>
          </a:p>
          <a:p>
            <a:pPr>
              <a:spcBef>
                <a:spcPts val="0"/>
              </a:spcBef>
              <a:spcAft>
                <a:spcPts val="0"/>
              </a:spcAft>
            </a:pPr>
            <a:r>
              <a:rPr sz="100">
                <a:solidFill>
                  <a:srgbClr val="FFFFFF"/>
                </a:solidFill>
                <a:latin typeface="Noto Sans"/>
              </a:rPr>
              <a:t>Figura B.10.</a:t>
            </a:r>
          </a:p>
          <a:p>
            <a:pPr>
              <a:spcBef>
                <a:spcPts val="0"/>
              </a:spcBef>
              <a:spcAft>
                <a:spcPts val="0"/>
              </a:spcAft>
            </a:pPr>
            <a:r>
              <a:rPr sz="100">
                <a:solidFill>
                  <a:srgbClr val="FFFFFF"/>
                </a:solidFill>
                <a:latin typeface="Noto Sans"/>
              </a:rPr>
              <a:t>Herfindahl-Hirschman (IHH). Concentración de mercado del Servicio Fijo de Telefonía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0" descr="Figura B.1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30</a:t>
            </a:r>
          </a:p>
        </p:txBody>
      </p:sp>
    </p:spTree>
  </p:cSld>
  <p:clrMapOvr>
    <a:masterClrMapping/>
  </p:clrMapOvr>
</p:sld>
</file>

<file path=ppt/slides/slide3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1" descr="ANUARIO_FIGURE_ID=B.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B.11</a:t>
            </a:r>
          </a:p>
          <a:p>
            <a:pPr>
              <a:spcBef>
                <a:spcPts val="0"/>
              </a:spcBef>
              <a:spcAft>
                <a:spcPts val="600"/>
              </a:spcAft>
            </a:pPr>
            <a:r>
              <a:rPr sz="950" b="1">
                <a:solidFill>
                  <a:srgbClr val="203634"/>
                </a:solidFill>
                <a:latin typeface="Noto Sans"/>
              </a:rPr>
              <a:t>ACCESOS DEL SERVICIO FIJO DE INTERNET</a:t>
            </a:r>
          </a:p>
          <a:p>
            <a:pPr>
              <a:lnSpc>
                <a:spcPct val="100000"/>
              </a:lnSpc>
              <a:spcBef>
                <a:spcPts val="0"/>
              </a:spcBef>
              <a:spcAft>
                <a:spcPts val="400"/>
              </a:spcAft>
            </a:pPr>
            <a:r>
              <a:rPr sz="819" b="0">
                <a:solidFill>
                  <a:srgbClr val="434343"/>
                </a:solidFill>
                <a:latin typeface="Noto Sans"/>
              </a:rPr>
              <a:t>De acuerdo con la información reportada por los operadores de telecomunicaciones al IFT, el número de accesos del servicio fijo de Internet en 2023 fue de 26.9 millones, mientras que, en 2024 fue de 29.0 millones de accesos. Lo anterior representó una tasa de crecimiento anual de 7.7%.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1" descr="ANUARIO_FIGURE_ID=B.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1" descr="Capa accesible con el texto del SVG de la figura B.11"/>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B.11</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29,003,240</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B.11.</a:t>
            </a:r>
          </a:p>
          <a:p>
            <a:pPr>
              <a:spcBef>
                <a:spcPts val="0"/>
              </a:spcBef>
              <a:spcAft>
                <a:spcPts val="0"/>
              </a:spcAft>
            </a:pPr>
            <a:r>
              <a:rPr sz="100">
                <a:solidFill>
                  <a:srgbClr val="FFFFFF"/>
                </a:solidFill>
                <a:latin typeface="Noto Sans"/>
              </a:rPr>
              <a:t>Accesos del Servicio Fijo de Internet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1" descr="Figura B.11.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31</a:t>
            </a:r>
          </a:p>
        </p:txBody>
      </p:sp>
    </p:spTree>
  </p:cSld>
  <p:clrMapOvr>
    <a:masterClrMapping/>
  </p:clrMapOvr>
</p:sld>
</file>

<file path=ppt/slides/slide3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2" descr="ANUARIO_FIGURE_ID=B.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B.12</a:t>
            </a:r>
          </a:p>
          <a:p>
            <a:pPr>
              <a:spcBef>
                <a:spcPts val="0"/>
              </a:spcBef>
              <a:spcAft>
                <a:spcPts val="600"/>
              </a:spcAft>
            </a:pPr>
            <a:r>
              <a:rPr sz="950" b="1">
                <a:solidFill>
                  <a:srgbClr val="203634"/>
                </a:solidFill>
                <a:latin typeface="Noto Sans"/>
              </a:rPr>
              <a:t>ACCESOS DEL SERVICIO FIJO DE INTERNET POR CADA 100 HOGARES</a:t>
            </a:r>
          </a:p>
          <a:p>
            <a:pPr>
              <a:lnSpc>
                <a:spcPct val="100000"/>
              </a:lnSpc>
              <a:spcBef>
                <a:spcPts val="0"/>
              </a:spcBef>
              <a:spcAft>
                <a:spcPts val="400"/>
              </a:spcAft>
            </a:pPr>
            <a:r>
              <a:rPr sz="819" b="0">
                <a:solidFill>
                  <a:srgbClr val="434343"/>
                </a:solidFill>
                <a:latin typeface="Noto Sans"/>
              </a:rPr>
              <a:t>Por otro lado, al obtener el número de accesos del servicio fijo de acceso a Internet por cada 100 hogares a nivel nacional, se observa que en 2024 llegó a 74 accesos por cada 100 hogares, el cual representa un aumento de 4 accesos por cada 100 hogares en comparación a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2" descr="ANUARIO_FIGURE_ID=B.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2" descr="Capa accesible con el texto del SVG de la figura B.1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B.12</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Accesos por cada 100 hogares</a:t>
            </a:r>
          </a:p>
          <a:p>
            <a:pPr>
              <a:spcBef>
                <a:spcPts val="0"/>
              </a:spcBef>
              <a:spcAft>
                <a:spcPts val="0"/>
              </a:spcAft>
            </a:pPr>
            <a:r>
              <a:rPr sz="100">
                <a:solidFill>
                  <a:srgbClr val="FFFFFF"/>
                </a:solidFill>
                <a:latin typeface="Noto Sans"/>
              </a:rPr>
              <a:t>Figura B.12.</a:t>
            </a:r>
          </a:p>
          <a:p>
            <a:pPr>
              <a:spcBef>
                <a:spcPts val="0"/>
              </a:spcBef>
              <a:spcAft>
                <a:spcPts val="0"/>
              </a:spcAft>
            </a:pPr>
            <a:r>
              <a:rPr sz="100">
                <a:solidFill>
                  <a:srgbClr val="FFFFFF"/>
                </a:solidFill>
                <a:latin typeface="Noto Sans"/>
              </a:rPr>
              <a:t>Accesos del Servicio Fijo de Internet por cada 100 hogares (2000-2024)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2" descr="Figura B.1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32</a:t>
            </a:r>
          </a:p>
        </p:txBody>
      </p:sp>
    </p:spTree>
  </p:cSld>
  <p:clrMapOvr>
    <a:masterClrMapping/>
  </p:clrMapOvr>
</p:sld>
</file>

<file path=ppt/slides/slide3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3" descr="ANUARIO_FIGURE_ID=B.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B.13</a:t>
            </a:r>
          </a:p>
          <a:p>
            <a:pPr>
              <a:spcBef>
                <a:spcPts val="0"/>
              </a:spcBef>
              <a:spcAft>
                <a:spcPts val="600"/>
              </a:spcAft>
            </a:pPr>
            <a:r>
              <a:rPr sz="950" b="1">
                <a:solidFill>
                  <a:srgbClr val="203634"/>
                </a:solidFill>
                <a:latin typeface="Noto Sans"/>
              </a:rPr>
              <a:t>ACCESOS DEL SERVICIO FIJO DE INTERNET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fijo de acceso a Internet, a diciembre de 2024, a nivel nacional, había 64 accesos por cada 100 hogares, siendo Baja California la entidad con la mayor cantidad de accesos por cada 100 hogares con 100, seguida de Ciudad de México con 90 y Nuevo León con 89. Por el contrario, las entidades con la menor cantidad de accesos por cada 100 hogares fueron Tabasco con 32, Oaxaca con 27 y Chiapas con solo 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3" descr="ANUARIO_FIGURE_ID=B.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3" descr="Capa accesible con el texto del SVG de la figura B.13"/>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B.13</a:t>
            </a:r>
          </a:p>
          <a:p>
            <a:pPr>
              <a:spcBef>
                <a:spcPts val="0"/>
              </a:spcBef>
              <a:spcAft>
                <a:spcPts val="0"/>
              </a:spcAft>
            </a:pPr>
            <a:r>
              <a:rPr sz="100">
                <a:solidFill>
                  <a:srgbClr val="FFFFFF"/>
                </a:solidFill>
                <a:latin typeface="Noto Sans"/>
              </a:rPr>
              <a:t>Accesos residenciales por cada 100 hogares:</a:t>
            </a:r>
          </a:p>
          <a:p>
            <a:pPr>
              <a:spcBef>
                <a:spcPts val="0"/>
              </a:spcBef>
              <a:spcAft>
                <a:spcPts val="0"/>
              </a:spcAft>
            </a:pPr>
            <a:r>
              <a:rPr sz="100">
                <a:solidFill>
                  <a:srgbClr val="FFFFFF"/>
                </a:solidFill>
                <a:latin typeface="Noto Sans"/>
              </a:rPr>
              <a:t>Menos de 36</a:t>
            </a:r>
          </a:p>
          <a:p>
            <a:pPr>
              <a:spcBef>
                <a:spcPts val="0"/>
              </a:spcBef>
              <a:spcAft>
                <a:spcPts val="0"/>
              </a:spcAft>
            </a:pPr>
            <a:r>
              <a:rPr sz="100">
                <a:solidFill>
                  <a:srgbClr val="FFFFFF"/>
                </a:solidFill>
                <a:latin typeface="Noto Sans"/>
              </a:rPr>
              <a:t>36 a 47</a:t>
            </a:r>
          </a:p>
          <a:p>
            <a:pPr>
              <a:spcBef>
                <a:spcPts val="0"/>
              </a:spcBef>
              <a:spcAft>
                <a:spcPts val="0"/>
              </a:spcAft>
            </a:pPr>
            <a:r>
              <a:rPr sz="100">
                <a:solidFill>
                  <a:srgbClr val="FFFFFF"/>
                </a:solidFill>
                <a:latin typeface="Noto Sans"/>
              </a:rPr>
              <a:t>48 a 59</a:t>
            </a:r>
          </a:p>
          <a:p>
            <a:pPr>
              <a:spcBef>
                <a:spcPts val="0"/>
              </a:spcBef>
              <a:spcAft>
                <a:spcPts val="0"/>
              </a:spcAft>
            </a:pPr>
            <a:r>
              <a:rPr sz="100">
                <a:solidFill>
                  <a:srgbClr val="FFFFFF"/>
                </a:solidFill>
                <a:latin typeface="Noto Sans"/>
              </a:rPr>
              <a:t>60 a 70</a:t>
            </a:r>
          </a:p>
          <a:p>
            <a:pPr>
              <a:spcBef>
                <a:spcPts val="0"/>
              </a:spcBef>
              <a:spcAft>
                <a:spcPts val="0"/>
              </a:spcAft>
            </a:pPr>
            <a:r>
              <a:rPr sz="100">
                <a:solidFill>
                  <a:srgbClr val="FFFFFF"/>
                </a:solidFill>
                <a:latin typeface="Noto Sans"/>
              </a:rPr>
              <a:t>Más de 70</a:t>
            </a:r>
          </a:p>
          <a:p>
            <a:pPr>
              <a:spcBef>
                <a:spcPts val="0"/>
              </a:spcBef>
              <a:spcAft>
                <a:spcPts val="0"/>
              </a:spcAft>
            </a:pPr>
            <a:r>
              <a:rPr sz="100">
                <a:solidFill>
                  <a:srgbClr val="FFFFFF"/>
                </a:solidFill>
                <a:latin typeface="Noto Sans"/>
              </a:rPr>
              <a:t>Figura B.13.</a:t>
            </a:r>
          </a:p>
          <a:p>
            <a:pPr>
              <a:spcBef>
                <a:spcPts val="0"/>
              </a:spcBef>
              <a:spcAft>
                <a:spcPts val="0"/>
              </a:spcAft>
            </a:pPr>
            <a:r>
              <a:rPr sz="100">
                <a:solidFill>
                  <a:srgbClr val="FFFFFF"/>
                </a:solidFill>
                <a:latin typeface="Noto Sans"/>
              </a:rPr>
              <a:t>Accesos del Servicio Fijo de Acceso a Internet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ENDUTIH 2025 del INEGI.</a:t>
            </a:r>
          </a:p>
          <a:p>
            <a:pPr>
              <a:spcBef>
                <a:spcPts val="0"/>
              </a:spcBef>
              <a:spcAft>
                <a:spcPts val="0"/>
              </a:spcAft>
            </a:pPr>
            <a:r>
              <a:rPr sz="100">
                <a:solidFill>
                  <a:srgbClr val="FFFFFF"/>
                </a:solidFill>
                <a:latin typeface="Noto Sans"/>
              </a:rPr>
              <a:t>Accesos residenciales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8.7%</a:t>
            </a:r>
          </a:p>
        </p:txBody>
      </p:sp>
      <p:pic>
        <p:nvPicPr>
          <p:cNvPr id="223" name="ANUARIO_IMAGE_B_13" descr="Figura B.13.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33</a:t>
            </a:r>
          </a:p>
        </p:txBody>
      </p:sp>
    </p:spTree>
  </p:cSld>
  <p:clrMapOvr>
    <a:masterClrMapping/>
  </p:clrMapOvr>
</p:sld>
</file>

<file path=ppt/slides/slide3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4" descr="ANUARIO_FIGURE_ID=B.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B.14</a:t>
            </a:r>
          </a:p>
          <a:p>
            <a:pPr>
              <a:spcBef>
                <a:spcPts val="0"/>
              </a:spcBef>
              <a:spcAft>
                <a:spcPts val="600"/>
              </a:spcAft>
            </a:pPr>
            <a:r>
              <a:rPr sz="950" b="1">
                <a:solidFill>
                  <a:srgbClr val="203634"/>
                </a:solidFill>
                <a:latin typeface="Noto Sans"/>
              </a:rPr>
              <a:t>ACCESOS DEL SERVICIO FIJO DE INTERNET NO RESIDENCIAL POR CADA 100 UNIDADES ECONÓMICAS POR ENTIDAD FEDERATIVA</a:t>
            </a:r>
          </a:p>
          <a:p>
            <a:pPr>
              <a:lnSpc>
                <a:spcPct val="100000"/>
              </a:lnSpc>
              <a:spcBef>
                <a:spcPts val="0"/>
              </a:spcBef>
              <a:spcAft>
                <a:spcPts val="400"/>
              </a:spcAft>
            </a:pPr>
            <a:r>
              <a:rPr sz="760" b="0">
                <a:solidFill>
                  <a:srgbClr val="434343"/>
                </a:solidFill>
                <a:latin typeface="Noto Sans"/>
              </a:rPr>
              <a:t>En el segmento no residencial de este servicio, al cierre de 2024, había 42 accesos por cada 100 unidades económicas a nivel nacional, siendo Baja California la entidad con la mayor cantidad de accesos por cada 100 unidades económicas con 87, seguida de Baja California Sur con 83, y de Quintana Roo con 82. En contraste, las entidades federativas con la menor cantidad de accesos por cada 100 unidades económicas fueron Tlaxcala con 21, Chiapas con 20 y Oaxaca con 17.</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4" descr="ANUARIO_FIGURE_ID=B.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4" descr="Capa accesible con el texto del SVG de la figura B.14"/>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B.14</a:t>
            </a:r>
          </a:p>
          <a:p>
            <a:pPr>
              <a:spcBef>
                <a:spcPts val="0"/>
              </a:spcBef>
              <a:spcAft>
                <a:spcPts val="0"/>
              </a:spcAft>
            </a:pPr>
            <a:r>
              <a:rPr sz="100">
                <a:solidFill>
                  <a:srgbClr val="FFFFFF"/>
                </a:solidFill>
                <a:latin typeface="Noto Sans"/>
              </a:rPr>
              <a:t>Accesos no residenciales por cada 100 unidades económicas:</a:t>
            </a:r>
          </a:p>
          <a:p>
            <a:pPr>
              <a:spcBef>
                <a:spcPts val="0"/>
              </a:spcBef>
              <a:spcAft>
                <a:spcPts val="0"/>
              </a:spcAft>
            </a:pPr>
            <a:r>
              <a:rPr sz="100">
                <a:solidFill>
                  <a:srgbClr val="FFFFFF"/>
                </a:solidFill>
                <a:latin typeface="Noto Sans"/>
              </a:rPr>
              <a:t>Menos de 28</a:t>
            </a:r>
          </a:p>
          <a:p>
            <a:pPr>
              <a:spcBef>
                <a:spcPts val="0"/>
              </a:spcBef>
              <a:spcAft>
                <a:spcPts val="0"/>
              </a:spcAft>
            </a:pPr>
            <a:r>
              <a:rPr sz="100">
                <a:solidFill>
                  <a:srgbClr val="FFFFFF"/>
                </a:solidFill>
                <a:latin typeface="Noto Sans"/>
              </a:rPr>
              <a:t>28 a 43</a:t>
            </a:r>
          </a:p>
          <a:p>
            <a:pPr>
              <a:spcBef>
                <a:spcPts val="0"/>
              </a:spcBef>
              <a:spcAft>
                <a:spcPts val="0"/>
              </a:spcAft>
            </a:pPr>
            <a:r>
              <a:rPr sz="100">
                <a:solidFill>
                  <a:srgbClr val="FFFFFF"/>
                </a:solidFill>
                <a:latin typeface="Noto Sans"/>
              </a:rPr>
              <a:t>44 a 59</a:t>
            </a:r>
          </a:p>
          <a:p>
            <a:pPr>
              <a:spcBef>
                <a:spcPts val="0"/>
              </a:spcBef>
              <a:spcAft>
                <a:spcPts val="0"/>
              </a:spcAft>
            </a:pPr>
            <a:r>
              <a:rPr sz="100">
                <a:solidFill>
                  <a:srgbClr val="FFFFFF"/>
                </a:solidFill>
                <a:latin typeface="Noto Sans"/>
              </a:rPr>
              <a:t>60 a 75</a:t>
            </a:r>
          </a:p>
          <a:p>
            <a:pPr>
              <a:spcBef>
                <a:spcPts val="0"/>
              </a:spcBef>
              <a:spcAft>
                <a:spcPts val="0"/>
              </a:spcAft>
            </a:pPr>
            <a:r>
              <a:rPr sz="100">
                <a:solidFill>
                  <a:srgbClr val="FFFFFF"/>
                </a:solidFill>
                <a:latin typeface="Noto Sans"/>
              </a:rPr>
              <a:t>Más de 75</a:t>
            </a:r>
          </a:p>
          <a:p>
            <a:pPr>
              <a:spcBef>
                <a:spcPts val="0"/>
              </a:spcBef>
              <a:spcAft>
                <a:spcPts val="0"/>
              </a:spcAft>
            </a:pPr>
            <a:r>
              <a:rPr sz="100">
                <a:solidFill>
                  <a:srgbClr val="FFFFFF"/>
                </a:solidFill>
                <a:latin typeface="Noto Sans"/>
              </a:rPr>
              <a:t>Figura B.14.</a:t>
            </a:r>
          </a:p>
          <a:p>
            <a:pPr>
              <a:spcBef>
                <a:spcPts val="0"/>
              </a:spcBef>
              <a:spcAft>
                <a:spcPts val="0"/>
              </a:spcAft>
            </a:pPr>
            <a:r>
              <a:rPr sz="100">
                <a:solidFill>
                  <a:srgbClr val="FFFFFF"/>
                </a:solidFill>
                <a:latin typeface="Noto Sans"/>
              </a:rPr>
              <a:t>Accesos del Servicio Fijo de Internet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2024 y DENUE del INEGI a noviembre de 2023.</a:t>
            </a:r>
          </a:p>
          <a:p>
            <a:pPr>
              <a:spcBef>
                <a:spcPts val="0"/>
              </a:spcBef>
              <a:spcAft>
                <a:spcPts val="0"/>
              </a:spcAft>
            </a:pPr>
            <a:r>
              <a:rPr sz="100">
                <a:solidFill>
                  <a:srgbClr val="FFFFFF"/>
                </a:solidFill>
                <a:latin typeface="Noto Sans"/>
              </a:rPr>
              <a:t>Accesos no residenciales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-9.6%</a:t>
            </a:r>
          </a:p>
        </p:txBody>
      </p:sp>
      <p:pic>
        <p:nvPicPr>
          <p:cNvPr id="223" name="ANUARIO_IMAGE_B_14" descr="Figura B.14.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34</a:t>
            </a:r>
          </a:p>
        </p:txBody>
      </p:sp>
    </p:spTree>
  </p:cSld>
  <p:clrMapOvr>
    <a:masterClrMapping/>
  </p:clrMapOvr>
</p:sld>
</file>

<file path=ppt/slides/slide3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5" descr="ANUARIO_FIGURE_ID=B.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B.15</a:t>
            </a:r>
          </a:p>
          <a:p>
            <a:pPr>
              <a:spcBef>
                <a:spcPts val="0"/>
              </a:spcBef>
              <a:spcAft>
                <a:spcPts val="600"/>
              </a:spcAft>
            </a:pPr>
            <a:r>
              <a:rPr sz="950" b="1">
                <a:solidFill>
                  <a:srgbClr val="203634"/>
                </a:solidFill>
                <a:latin typeface="Noto Sans"/>
              </a:rPr>
              <a:t>DISTRIBUCIÓN DE ACCESOS DEL SERVICIO FIJO DE INTERNET POR RANGOS DE VELOCIDAD</a:t>
            </a:r>
          </a:p>
          <a:p>
            <a:pPr>
              <a:lnSpc>
                <a:spcPct val="100000"/>
              </a:lnSpc>
              <a:spcBef>
                <a:spcPts val="0"/>
              </a:spcBef>
              <a:spcAft>
                <a:spcPts val="400"/>
              </a:spcAft>
            </a:pPr>
            <a:r>
              <a:rPr sz="819" b="0">
                <a:solidFill>
                  <a:srgbClr val="434343"/>
                </a:solidFill>
                <a:latin typeface="Noto Sans"/>
              </a:rPr>
              <a:t>Al analizar el número de accesos del servicio fijo de Internet por rangos de velocidad, los resultados indican que, a diciembre de 2024, 53% del total de los accesos reportaron una velocidad anunciada de bajada de entre 10 Mbps y 100 Mbps, mientras que, en 2023 el mismo rango representó el 64%. Por su parte, los accesos con velocidad mayores a 100 Mbps representaron el 41% en diciembre de 2024.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5" descr="ANUARIO_FIGURE_ID=B.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5" descr="Capa accesible con el texto del SVG de la figura B.15"/>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256 Kbps a 1.99 Mbps</a:t>
            </a:r>
          </a:p>
          <a:p>
            <a:pPr>
              <a:spcBef>
                <a:spcPts val="0"/>
              </a:spcBef>
              <a:spcAft>
                <a:spcPts val="0"/>
              </a:spcAft>
            </a:pPr>
            <a:r>
              <a:rPr sz="100">
                <a:solidFill>
                  <a:srgbClr val="FFFFFF"/>
                </a:solidFill>
                <a:latin typeface="Noto Sans"/>
              </a:rPr>
              <a:t>2 a 9.99 Mbps</a:t>
            </a:r>
          </a:p>
          <a:p>
            <a:pPr>
              <a:spcBef>
                <a:spcPts val="0"/>
              </a:spcBef>
              <a:spcAft>
                <a:spcPts val="0"/>
              </a:spcAft>
            </a:pPr>
            <a:r>
              <a:rPr sz="100">
                <a:solidFill>
                  <a:srgbClr val="FFFFFF"/>
                </a:solidFill>
                <a:latin typeface="Noto Sans"/>
              </a:rPr>
              <a:t>10 a 100 Mbps</a:t>
            </a:r>
          </a:p>
          <a:p>
            <a:pPr>
              <a:spcBef>
                <a:spcPts val="0"/>
              </a:spcBef>
              <a:spcAft>
                <a:spcPts val="0"/>
              </a:spcAft>
            </a:pPr>
            <a:r>
              <a:rPr sz="100">
                <a:solidFill>
                  <a:srgbClr val="FFFFFF"/>
                </a:solidFill>
                <a:latin typeface="Noto Sans"/>
              </a:rPr>
              <a:t>Mayores a 100 Mbps</a:t>
            </a:r>
          </a:p>
          <a:p>
            <a:pPr>
              <a:spcBef>
                <a:spcPts val="0"/>
              </a:spcBef>
              <a:spcAft>
                <a:spcPts val="0"/>
              </a:spcAft>
            </a:pPr>
            <a:r>
              <a:rPr sz="100">
                <a:solidFill>
                  <a:srgbClr val="FFFFFF"/>
                </a:solidFill>
                <a:latin typeface="Noto Sans"/>
              </a:rPr>
              <a:t>Sin información de velocidad</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85.7%</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83.3%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72.9%</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81.6%</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88.5%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79.7%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69.3%</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64.3%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0.01%</a:t>
            </a:r>
          </a:p>
          <a:p>
            <a:pPr>
              <a:spcBef>
                <a:spcPts val="0"/>
              </a:spcBef>
              <a:spcAft>
                <a:spcPts val="0"/>
              </a:spcAft>
            </a:pPr>
            <a:r>
              <a:rPr sz="100">
                <a:solidFill>
                  <a:srgbClr val="FFFFFF"/>
                </a:solidFill>
                <a:latin typeface="Noto Sans"/>
              </a:rPr>
              <a:t>52.9%</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40.6%</a:t>
            </a:r>
          </a:p>
          <a:p>
            <a:pPr>
              <a:spcBef>
                <a:spcPts val="0"/>
              </a:spcBef>
              <a:spcAft>
                <a:spcPts val="0"/>
              </a:spcAft>
            </a:pPr>
            <a:r>
              <a:rPr sz="100">
                <a:solidFill>
                  <a:srgbClr val="FFFFFF"/>
                </a:solidFill>
                <a:latin typeface="Noto Sans"/>
              </a:rPr>
              <a:t>Figura B.15.</a:t>
            </a:r>
          </a:p>
          <a:p>
            <a:pPr>
              <a:spcBef>
                <a:spcPts val="0"/>
              </a:spcBef>
              <a:spcAft>
                <a:spcPts val="0"/>
              </a:spcAft>
            </a:pPr>
            <a:r>
              <a:rPr sz="100">
                <a:solidFill>
                  <a:srgbClr val="FFFFFF"/>
                </a:solidFill>
                <a:latin typeface="Noto Sans"/>
              </a:rPr>
              <a:t>Distribución de los accesos del Servicio Fijo de Internet por rangos de velocidad (2013-2024)</a:t>
            </a:r>
          </a:p>
          <a:p>
            <a:pPr>
              <a:spcBef>
                <a:spcPts val="0"/>
              </a:spcBef>
              <a:spcAft>
                <a:spcPts val="0"/>
              </a:spcAft>
            </a:pPr>
            <a:r>
              <a:rPr sz="100">
                <a:solidFill>
                  <a:srgbClr val="FFFFFF"/>
                </a:solidFill>
                <a:latin typeface="Noto Sans"/>
              </a:rPr>
              <a:t>Total de accesos del Servicio Fijo de Internet a nivel nacional:</a:t>
            </a:r>
          </a:p>
          <a:p>
            <a:pPr>
              <a:spcBef>
                <a:spcPts val="0"/>
              </a:spcBef>
              <a:spcAft>
                <a:spcPts val="0"/>
              </a:spcAft>
            </a:pPr>
            <a:r>
              <a:rPr sz="100">
                <a:solidFill>
                  <a:srgbClr val="FFFFFF"/>
                </a:solidFill>
                <a:latin typeface="Noto Sans"/>
              </a:rPr>
              <a:t>28,764,249</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26.0%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5" descr="Figura B.15.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35</a:t>
            </a:r>
          </a:p>
        </p:txBody>
      </p:sp>
    </p:spTree>
  </p:cSld>
  <p:clrMapOvr>
    <a:masterClrMapping/>
  </p:clrMapOvr>
</p:sld>
</file>

<file path=ppt/slides/slide3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6" descr="ANUARIO_FIGURE_ID=B.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B.16</a:t>
            </a:r>
          </a:p>
          <a:p>
            <a:pPr>
              <a:spcBef>
                <a:spcPts val="0"/>
              </a:spcBef>
              <a:spcAft>
                <a:spcPts val="600"/>
              </a:spcAft>
            </a:pPr>
            <a:r>
              <a:rPr sz="950" b="1">
                <a:solidFill>
                  <a:srgbClr val="203634"/>
                </a:solidFill>
                <a:latin typeface="Noto Sans"/>
              </a:rPr>
              <a:t>DISTRIBUCIÓN DE ACCESOS DEL SERVICIO FIJO DE INTERNET POR TECNOLOGÍA Y SEGMENTO</a:t>
            </a:r>
          </a:p>
          <a:p>
            <a:pPr>
              <a:lnSpc>
                <a:spcPct val="100000"/>
              </a:lnSpc>
              <a:spcBef>
                <a:spcPts val="0"/>
              </a:spcBef>
              <a:spcAft>
                <a:spcPts val="400"/>
              </a:spcAft>
            </a:pPr>
            <a:r>
              <a:rPr sz="650" b="0">
                <a:solidFill>
                  <a:srgbClr val="434343"/>
                </a:solidFill>
                <a:latin typeface="Noto Sans"/>
              </a:rPr>
              <a:t>Con respecto de las tecnologías de conexión del servicio fijo de acceso a Internet, se observa que al cierre de 2024 el 72.2% fueron provistos mediante fibra óptica, es decir, un aumento del 18.5% anual, el 21.4% de los accesos del segmento residencial fueron provistos a través de cable coaxial, lo que representó un decremento de 0.5% anual; el 5.7% fueron provistos a través de DSL, lo que equivale a una disminución de 24.6% con respecto del cierre de 2023; y el 0.8% fueron provistos por tecnología móvil.</a:t>
            </a:r>
          </a:p>
          <a:p>
            <a:pPr>
              <a:lnSpc>
                <a:spcPct val="100000"/>
              </a:lnSpc>
              <a:spcBef>
                <a:spcPts val="0"/>
              </a:spcBef>
              <a:spcAft>
                <a:spcPts val="400"/>
              </a:spcAft>
            </a:pPr>
            <a:r>
              <a:rPr sz="650" b="0">
                <a:solidFill>
                  <a:srgbClr val="434343"/>
                </a:solidFill>
                <a:latin typeface="Noto Sans"/>
              </a:rPr>
              <a:t>Por otro lado, en el segmento no residencial, al cierre de 2024, el 80.1% de los accesos del servicio fijo de Internet fueron ofrecidos mediante fibra óptica, lo que implicó un decremento anual de 5.6%; el 10.5% fueron ofrecidos por medio de DSL, lo que representó un decremento anual de 32.9%; y el 9.1% fueron provistos por cable coaxial, lo que equivale a un decremento de 6.5% con respecto al cierre de 2023.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6" descr="ANUARIO_FIGURE_ID=B.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6" descr="Capa accesible con el texto del SVG de la figura B.16"/>
          <p:cNvSpPr txBox="1"/>
          <p:nvPr/>
        </p:nvSpPr>
        <p:spPr>
          <a:xfrm>
            <a:off x="3357372" y="1272298"/>
            <a:ext cx="5279136" cy="2932853"/>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B.16</a:t>
            </a:r>
          </a:p>
          <a:p>
            <a:pPr>
              <a:spcBef>
                <a:spcPts val="0"/>
              </a:spcBef>
              <a:spcAft>
                <a:spcPts val="0"/>
              </a:spcAft>
            </a:pPr>
            <a:r>
              <a:rPr sz="100">
                <a:solidFill>
                  <a:srgbClr val="FFFFFF"/>
                </a:solidFill>
                <a:latin typeface="Noto Sans"/>
              </a:rPr>
              <a:t>Figura B.16.</a:t>
            </a:r>
          </a:p>
          <a:p>
            <a:pPr>
              <a:spcBef>
                <a:spcPts val="0"/>
              </a:spcBef>
              <a:spcAft>
                <a:spcPts val="0"/>
              </a:spcAft>
            </a:pPr>
            <a:r>
              <a:rPr sz="100">
                <a:solidFill>
                  <a:srgbClr val="FFFFFF"/>
                </a:solidFill>
                <a:latin typeface="Noto Sans"/>
              </a:rPr>
              <a:t>Distribución de los accesos al servicio fijo de Internet por tecnología de conexión y por segmento</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25,296,582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8.2%</a:t>
            </a:r>
          </a:p>
          <a:p>
            <a:pPr>
              <a:spcBef>
                <a:spcPts val="0"/>
              </a:spcBef>
              <a:spcAft>
                <a:spcPts val="0"/>
              </a:spcAft>
            </a:pPr>
            <a:r>
              <a:rPr sz="100">
                <a:solidFill>
                  <a:srgbClr val="FFFFFF"/>
                </a:solidFill>
                <a:latin typeface="Noto Sans"/>
              </a:rPr>
              <a:t>No Residencial</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2,331,065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-9.8%</a:t>
            </a:r>
          </a:p>
          <a:p>
            <a:pPr>
              <a:spcBef>
                <a:spcPts val="0"/>
              </a:spcBef>
              <a:spcAft>
                <a:spcPts val="0"/>
              </a:spcAft>
            </a:pPr>
            <a:r>
              <a:rPr sz="100">
                <a:solidFill>
                  <a:srgbClr val="FFFFFF"/>
                </a:solidFill>
                <a:latin typeface="Noto Sans"/>
              </a:rPr>
              <a:t>72.2%</a:t>
            </a:r>
          </a:p>
          <a:p>
            <a:pPr>
              <a:spcBef>
                <a:spcPts val="0"/>
              </a:spcBef>
              <a:spcAft>
                <a:spcPts val="0"/>
              </a:spcAft>
            </a:pPr>
            <a:r>
              <a:rPr sz="100">
                <a:solidFill>
                  <a:srgbClr val="FFFFFF"/>
                </a:solidFill>
                <a:latin typeface="Noto Sans"/>
              </a:rPr>
              <a:t>21.4%</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a:t>
            </a:r>
          </a:p>
          <a:p>
            <a:pPr>
              <a:spcBef>
                <a:spcPts val="0"/>
              </a:spcBef>
              <a:spcAft>
                <a:spcPts val="0"/>
              </a:spcAft>
            </a:pPr>
            <a:r>
              <a:rPr sz="100">
                <a:solidFill>
                  <a:srgbClr val="FFFFFF"/>
                </a:solidFill>
                <a:latin typeface="Noto Sans"/>
              </a:rPr>
              <a:t>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-24.6%</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-99.2%</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80.1%</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Fibra óptica</a:t>
            </a:r>
          </a:p>
          <a:p>
            <a:pPr>
              <a:spcBef>
                <a:spcPts val="0"/>
              </a:spcBef>
              <a:spcAft>
                <a:spcPts val="0"/>
              </a:spcAft>
            </a:pPr>
            <a:r>
              <a:rPr sz="100">
                <a:solidFill>
                  <a:srgbClr val="FFFFFF"/>
                </a:solidFill>
                <a:latin typeface="Noto Sans"/>
              </a:rPr>
              <a:t>Cable 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Tecnología móvil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Fibra</a:t>
            </a:r>
          </a:p>
          <a:p>
            <a:pPr>
              <a:spcBef>
                <a:spcPts val="0"/>
              </a:spcBef>
              <a:spcAft>
                <a:spcPts val="0"/>
              </a:spcAft>
            </a:pPr>
            <a:r>
              <a:rPr sz="100">
                <a:solidFill>
                  <a:srgbClr val="FFFFFF"/>
                </a:solidFill>
                <a:latin typeface="Noto Sans"/>
              </a:rPr>
              <a:t>óptica</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coaxial</a:t>
            </a:r>
          </a:p>
          <a:p>
            <a:pPr>
              <a:spcBef>
                <a:spcPts val="0"/>
              </a:spcBef>
              <a:spcAft>
                <a:spcPts val="0"/>
              </a:spcAft>
            </a:pPr>
            <a:r>
              <a:rPr sz="100">
                <a:solidFill>
                  <a:srgbClr val="FFFFFF"/>
                </a:solidFill>
                <a:latin typeface="Noto Sans"/>
              </a:rPr>
              <a:t>DSL</a:t>
            </a:r>
          </a:p>
          <a:p>
            <a:pPr>
              <a:spcBef>
                <a:spcPts val="0"/>
              </a:spcBef>
              <a:spcAft>
                <a:spcPts val="0"/>
              </a:spcAft>
            </a:pPr>
            <a:r>
              <a:rPr sz="100">
                <a:solidFill>
                  <a:srgbClr val="FFFFFF"/>
                </a:solidFill>
                <a:latin typeface="Noto Sans"/>
              </a:rPr>
              <a:t>Satelital</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-32.9%</a:t>
            </a:r>
          </a:p>
          <a:p>
            <a:pPr>
              <a:spcBef>
                <a:spcPts val="0"/>
              </a:spcBef>
              <a:spcAft>
                <a:spcPts val="0"/>
              </a:spcAft>
            </a:pPr>
            <a:r>
              <a:rPr sz="100">
                <a:solidFill>
                  <a:srgbClr val="FFFFFF"/>
                </a:solidFill>
                <a:latin typeface="Noto Sans"/>
              </a:rPr>
              <a:t>-53.6%</a:t>
            </a:r>
          </a:p>
          <a:p>
            <a:pPr>
              <a:spcBef>
                <a:spcPts val="0"/>
              </a:spcBef>
              <a:spcAft>
                <a:spcPts val="0"/>
              </a:spcAft>
            </a:pPr>
            <a:r>
              <a:rPr sz="100">
                <a:solidFill>
                  <a:srgbClr val="FFFFFF"/>
                </a:solidFill>
                <a:latin typeface="Noto Sans"/>
              </a:rPr>
              <a:t>Tasa de crecimiento anual</a:t>
            </a:r>
          </a:p>
          <a:p>
            <a:pPr>
              <a:spcBef>
                <a:spcPts val="0"/>
              </a:spcBef>
              <a:spcAft>
                <a:spcPts val="0"/>
              </a:spcAft>
            </a:pPr>
            <a:r>
              <a:rPr sz="100">
                <a:solidFill>
                  <a:srgbClr val="FFFFFF"/>
                </a:solidFill>
                <a:latin typeface="Noto Sans"/>
              </a:rPr>
              <a:t>dic 2023 - dic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pueden no sumar 100% debido al redondeo.</a:t>
            </a:r>
          </a:p>
        </p:txBody>
      </p:sp>
      <p:pic>
        <p:nvPicPr>
          <p:cNvPr id="223" name="ANUARIO_IMAGE_B_16" descr="Figura B.16. SVG vectorial sin respaldo raster"/>
          <p:cNvPicPr>
            <a:picLocks noChangeAspect="1"/>
          </p:cNvPicPr>
          <p:nvPr/>
        </p:nvPicPr>
        <p:blipFill>
          <a:blip r:embed="rId2"/>
          <a:stretch>
            <a:fillRect/>
          </a:stretch>
        </p:blipFill>
        <p:spPr>
          <a:xfrm>
            <a:off x="3357372" y="1272298"/>
            <a:ext cx="5279136" cy="2932853"/>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36</a:t>
            </a:r>
          </a:p>
        </p:txBody>
      </p:sp>
    </p:spTree>
  </p:cSld>
  <p:clrMapOvr>
    <a:masterClrMapping/>
  </p:clrMapOvr>
</p:sld>
</file>

<file path=ppt/slides/slide3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7" descr="ANUARIO_FIGURE_ID=B.1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B.17</a:t>
            </a:r>
          </a:p>
          <a:p>
            <a:pPr>
              <a:spcBef>
                <a:spcPts val="0"/>
              </a:spcBef>
              <a:spcAft>
                <a:spcPts val="600"/>
              </a:spcAft>
            </a:pPr>
            <a:r>
              <a:rPr sz="950" b="1">
                <a:solidFill>
                  <a:srgbClr val="203634"/>
                </a:solidFill>
                <a:latin typeface="Noto Sans"/>
              </a:rPr>
              <a:t>PARTICIPACIÓN DE MERCADO DEL SERVICIO FIJO DE INTERNET</a:t>
            </a:r>
          </a:p>
          <a:p>
            <a:pPr>
              <a:lnSpc>
                <a:spcPct val="100000"/>
              </a:lnSpc>
              <a:spcBef>
                <a:spcPts val="0"/>
              </a:spcBef>
              <a:spcAft>
                <a:spcPts val="400"/>
              </a:spcAft>
            </a:pPr>
            <a:r>
              <a:rPr sz="819" b="0">
                <a:solidFill>
                  <a:srgbClr val="434343"/>
                </a:solidFill>
                <a:latin typeface="Noto Sans"/>
              </a:rPr>
              <a:t>En cuanto a la participación de mercado del servicio fijo de acceso a Internet, se observa que el agente económico preponderante perdió un poco más de 32 puntos porcentuales en su participación de 2013 a 2024, registrando en este último año una participación de mercado cercana al 38.7% lo que indica que al paso de los años la competencia en este servicio va en aumento.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7" descr="ANUARIO_FIGURE_ID=B.1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7" descr="Capa accesible con el texto del SVG de la figura B.17"/>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B.17</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Axtel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Maxcom</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71.4%</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65.4%</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58.0%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22.2%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52.4%</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23.0%</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0.04%</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24.3%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44.5%</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0.07%</a:t>
            </a:r>
          </a:p>
          <a:p>
            <a:pPr>
              <a:spcBef>
                <a:spcPts val="0"/>
              </a:spcBef>
              <a:spcAft>
                <a:spcPts val="0"/>
              </a:spcAft>
            </a:pPr>
            <a:r>
              <a:rPr sz="100">
                <a:solidFill>
                  <a:srgbClr val="FFFFFF"/>
                </a:solidFill>
                <a:latin typeface="Noto Sans"/>
              </a:rPr>
              <a:t>26.5%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40.4%</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0.06%</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0.03%</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39.0%</a:t>
            </a:r>
          </a:p>
          <a:p>
            <a:pPr>
              <a:spcBef>
                <a:spcPts val="0"/>
              </a:spcBef>
              <a:spcAft>
                <a:spcPts val="0"/>
              </a:spcAft>
            </a:pPr>
            <a:r>
              <a:rPr sz="100">
                <a:solidFill>
                  <a:srgbClr val="FFFFFF"/>
                </a:solidFill>
                <a:latin typeface="Noto Sans"/>
              </a:rPr>
              <a:t>17.3%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22.9%</a:t>
            </a:r>
          </a:p>
          <a:p>
            <a:pPr>
              <a:spcBef>
                <a:spcPts val="0"/>
              </a:spcBef>
              <a:spcAft>
                <a:spcPts val="0"/>
              </a:spcAft>
            </a:pPr>
            <a:r>
              <a:rPr sz="100">
                <a:solidFill>
                  <a:srgbClr val="FFFFFF"/>
                </a:solidFill>
                <a:latin typeface="Noto Sans"/>
              </a:rPr>
              <a:t>17.7%</a:t>
            </a:r>
          </a:p>
          <a:p>
            <a:pPr>
              <a:spcBef>
                <a:spcPts val="0"/>
              </a:spcBef>
              <a:spcAft>
                <a:spcPts val="0"/>
              </a:spcAft>
            </a:pPr>
            <a:r>
              <a:rPr sz="100">
                <a:solidFill>
                  <a:srgbClr val="FFFFFF"/>
                </a:solidFill>
                <a:latin typeface="Noto Sans"/>
              </a:rPr>
              <a:t>0.02%</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38.6%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Figura B.17.</a:t>
            </a:r>
          </a:p>
          <a:p>
            <a:pPr>
              <a:spcBef>
                <a:spcPts val="0"/>
              </a:spcBef>
              <a:spcAft>
                <a:spcPts val="0"/>
              </a:spcAft>
            </a:pPr>
            <a:r>
              <a:rPr sz="100">
                <a:solidFill>
                  <a:srgbClr val="FFFFFF"/>
                </a:solidFill>
                <a:latin typeface="Noto Sans"/>
              </a:rPr>
              <a:t>Participación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de mercado calculada con respecto al número de accesos del servicio fijo de Internet.</a:t>
            </a:r>
          </a:p>
        </p:txBody>
      </p:sp>
      <p:pic>
        <p:nvPicPr>
          <p:cNvPr id="223" name="ANUARIO_IMAGE_B_17" descr="Figura B.17.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37</a:t>
            </a:r>
          </a:p>
        </p:txBody>
      </p:sp>
    </p:spTree>
  </p:cSld>
  <p:clrMapOvr>
    <a:masterClrMapping/>
  </p:clrMapOvr>
</p:sld>
</file>

<file path=ppt/slides/slide3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8" descr="ANUARIO_FIGURE_ID=B.1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B.18</a:t>
            </a:r>
          </a:p>
          <a:p>
            <a:pPr>
              <a:spcBef>
                <a:spcPts val="0"/>
              </a:spcBef>
              <a:spcAft>
                <a:spcPts val="600"/>
              </a:spcAft>
            </a:pPr>
            <a:r>
              <a:rPr sz="950" b="1">
                <a:solidFill>
                  <a:srgbClr val="203634"/>
                </a:solidFill>
                <a:latin typeface="Noto Sans"/>
              </a:rPr>
              <a:t>HERFINDAHL-HIRSCHMAN (IHH) DEL SERVICIO FIJO DE INTERNET</a:t>
            </a:r>
          </a:p>
          <a:p>
            <a:pPr>
              <a:lnSpc>
                <a:spcPct val="100000"/>
              </a:lnSpc>
              <a:spcBef>
                <a:spcPts val="0"/>
              </a:spcBef>
              <a:spcAft>
                <a:spcPts val="400"/>
              </a:spcAft>
            </a:pPr>
            <a:r>
              <a:rPr sz="819" b="0">
                <a:solidFill>
                  <a:srgbClr val="434343"/>
                </a:solidFill>
                <a:latin typeface="Noto Sans"/>
              </a:rPr>
              <a:t>Complementario a lo anterior, se observa que el índice de Herfindahl-Hirschman (IHH) para este servicio ha disminuido en términos generales desde el año 2013, lo cual refleja que, en este periodo de tiempo, el servicio fijo de acceso a Internet ha tenido una mayor competencia de mercado.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8" descr="ANUARIO_FIGURE_ID=B.1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8" descr="Capa accesible con el texto del SVG de la figura B.18"/>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B.18</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2,591</a:t>
            </a:r>
          </a:p>
          <a:p>
            <a:pPr>
              <a:spcBef>
                <a:spcPts val="0"/>
              </a:spcBef>
              <a:spcAft>
                <a:spcPts val="0"/>
              </a:spcAft>
            </a:pPr>
            <a:r>
              <a:rPr sz="100">
                <a:solidFill>
                  <a:srgbClr val="FFFFFF"/>
                </a:solidFill>
                <a:latin typeface="Noto Sans"/>
              </a:rPr>
              <a:t>2,656</a:t>
            </a:r>
          </a:p>
          <a:p>
            <a:pPr>
              <a:spcBef>
                <a:spcPts val="0"/>
              </a:spcBef>
              <a:spcAft>
                <a:spcPts val="0"/>
              </a:spcAft>
            </a:pPr>
            <a:r>
              <a:rPr sz="100">
                <a:solidFill>
                  <a:srgbClr val="FFFFFF"/>
                </a:solidFill>
                <a:latin typeface="Noto Sans"/>
              </a:rPr>
              <a:t>2,579</a:t>
            </a:r>
          </a:p>
          <a:p>
            <a:pPr>
              <a:spcBef>
                <a:spcPts val="0"/>
              </a:spcBef>
              <a:spcAft>
                <a:spcPts val="0"/>
              </a:spcAft>
            </a:pPr>
            <a:r>
              <a:rPr sz="100">
                <a:solidFill>
                  <a:srgbClr val="FFFFFF"/>
                </a:solidFill>
                <a:latin typeface="Noto Sans"/>
              </a:rPr>
              <a:t>2,708</a:t>
            </a:r>
          </a:p>
          <a:p>
            <a:pPr>
              <a:spcBef>
                <a:spcPts val="0"/>
              </a:spcBef>
              <a:spcAft>
                <a:spcPts val="0"/>
              </a:spcAft>
            </a:pPr>
            <a:r>
              <a:rPr sz="100">
                <a:solidFill>
                  <a:srgbClr val="FFFFFF"/>
                </a:solidFill>
                <a:latin typeface="Noto Sans"/>
              </a:rPr>
              <a:t>3,055</a:t>
            </a:r>
          </a:p>
          <a:p>
            <a:pPr>
              <a:spcBef>
                <a:spcPts val="0"/>
              </a:spcBef>
              <a:spcAft>
                <a:spcPts val="0"/>
              </a:spcAft>
            </a:pPr>
            <a:r>
              <a:rPr sz="100">
                <a:solidFill>
                  <a:srgbClr val="FFFFFF"/>
                </a:solidFill>
                <a:latin typeface="Noto Sans"/>
              </a:rPr>
              <a:t>3,419</a:t>
            </a:r>
          </a:p>
          <a:p>
            <a:pPr>
              <a:spcBef>
                <a:spcPts val="0"/>
              </a:spcBef>
              <a:spcAft>
                <a:spcPts val="0"/>
              </a:spcAft>
            </a:pPr>
            <a:r>
              <a:rPr sz="100">
                <a:solidFill>
                  <a:srgbClr val="FFFFFF"/>
                </a:solidFill>
                <a:latin typeface="Noto Sans"/>
              </a:rPr>
              <a:t>3,577</a:t>
            </a:r>
          </a:p>
          <a:p>
            <a:pPr>
              <a:spcBef>
                <a:spcPts val="0"/>
              </a:spcBef>
              <a:spcAft>
                <a:spcPts val="0"/>
              </a:spcAft>
            </a:pPr>
            <a:r>
              <a:rPr sz="100">
                <a:solidFill>
                  <a:srgbClr val="FFFFFF"/>
                </a:solidFill>
                <a:latin typeface="Noto Sans"/>
              </a:rPr>
              <a:t>3,733</a:t>
            </a:r>
          </a:p>
          <a:p>
            <a:pPr>
              <a:spcBef>
                <a:spcPts val="0"/>
              </a:spcBef>
              <a:spcAft>
                <a:spcPts val="0"/>
              </a:spcAft>
            </a:pPr>
            <a:r>
              <a:rPr sz="100">
                <a:solidFill>
                  <a:srgbClr val="FFFFFF"/>
                </a:solidFill>
                <a:latin typeface="Noto Sans"/>
              </a:rPr>
              <a:t>4,009</a:t>
            </a:r>
          </a:p>
          <a:p>
            <a:pPr>
              <a:spcBef>
                <a:spcPts val="0"/>
              </a:spcBef>
              <a:spcAft>
                <a:spcPts val="0"/>
              </a:spcAft>
            </a:pPr>
            <a:r>
              <a:rPr sz="100">
                <a:solidFill>
                  <a:srgbClr val="FFFFFF"/>
                </a:solidFill>
                <a:latin typeface="Noto Sans"/>
              </a:rPr>
              <a:t>4,243</a:t>
            </a:r>
          </a:p>
          <a:p>
            <a:pPr>
              <a:spcBef>
                <a:spcPts val="0"/>
              </a:spcBef>
              <a:spcAft>
                <a:spcPts val="0"/>
              </a:spcAft>
            </a:pPr>
            <a:r>
              <a:rPr sz="100">
                <a:solidFill>
                  <a:srgbClr val="FFFFFF"/>
                </a:solidFill>
                <a:latin typeface="Noto Sans"/>
              </a:rPr>
              <a:t>4,693</a:t>
            </a:r>
          </a:p>
          <a:p>
            <a:pPr>
              <a:spcBef>
                <a:spcPts val="0"/>
              </a:spcBef>
              <a:spcAft>
                <a:spcPts val="0"/>
              </a:spcAft>
            </a:pPr>
            <a:r>
              <a:rPr sz="100">
                <a:solidFill>
                  <a:srgbClr val="FFFFFF"/>
                </a:solidFill>
                <a:latin typeface="Noto Sans"/>
              </a:rPr>
              <a:t>5,343</a:t>
            </a:r>
          </a:p>
          <a:p>
            <a:pPr>
              <a:spcBef>
                <a:spcPts val="0"/>
              </a:spcBef>
              <a:spcAft>
                <a:spcPts val="0"/>
              </a:spcAft>
            </a:pPr>
            <a:r>
              <a:rPr sz="100">
                <a:solidFill>
                  <a:srgbClr val="FFFFFF"/>
                </a:solidFill>
                <a:latin typeface="Noto Sans"/>
              </a:rPr>
              <a:t>Figura B.18.</a:t>
            </a:r>
          </a:p>
          <a:p>
            <a:pPr>
              <a:spcBef>
                <a:spcPts val="0"/>
              </a:spcBef>
              <a:spcAft>
                <a:spcPts val="0"/>
              </a:spcAft>
            </a:pPr>
            <a:r>
              <a:rPr sz="100">
                <a:solidFill>
                  <a:srgbClr val="FFFFFF"/>
                </a:solidFill>
                <a:latin typeface="Noto Sans"/>
              </a:rPr>
              <a:t>Herfindahl-Hirschman (IHH). Concentración de mercado del Servicio Fijo de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Herfindahl-Hirschman (IHH) estimado con respecto al número de líneas o accesos del servicio.</a:t>
            </a:r>
          </a:p>
        </p:txBody>
      </p:sp>
      <p:pic>
        <p:nvPicPr>
          <p:cNvPr id="223" name="ANUARIO_IMAGE_B_18" descr="Figura B.18.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38</a:t>
            </a:r>
          </a:p>
        </p:txBody>
      </p:sp>
    </p:spTree>
  </p:cSld>
  <p:clrMapOvr>
    <a:masterClrMapping/>
  </p:clrMapOvr>
</p:sld>
</file>

<file path=ppt/slides/slide3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19" descr="ANUARIO_FIGURE_ID=B.1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B.19</a:t>
            </a:r>
          </a:p>
          <a:p>
            <a:pPr>
              <a:spcBef>
                <a:spcPts val="0"/>
              </a:spcBef>
              <a:spcAft>
                <a:spcPts val="600"/>
              </a:spcAft>
            </a:pPr>
            <a:r>
              <a:rPr sz="950" b="1">
                <a:solidFill>
                  <a:srgbClr val="203634"/>
                </a:solidFill>
                <a:latin typeface="Noto Sans"/>
              </a:rPr>
              <a:t>ACCESOS DEL SERVICIO DE TELEVISIÓN RESTRINGIDA</a:t>
            </a:r>
          </a:p>
          <a:p>
            <a:pPr>
              <a:lnSpc>
                <a:spcPct val="100000"/>
              </a:lnSpc>
              <a:spcBef>
                <a:spcPts val="0"/>
              </a:spcBef>
              <a:spcAft>
                <a:spcPts val="400"/>
              </a:spcAft>
            </a:pPr>
            <a:r>
              <a:rPr sz="819" b="0">
                <a:solidFill>
                  <a:srgbClr val="434343"/>
                </a:solidFill>
                <a:latin typeface="Noto Sans"/>
              </a:rPr>
              <a:t>Con base en la información reportada al IFT por los operadores de telecomunicaciones, el número de accesos del servicio de televisión restringida fue de 21.8 millones en 2024. El dato de 2024 representa una disminución de 7.2% con respecto al cierre del año 2023, cuando se registraron 23.5 millones de accesos de este servicio.</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19" descr="ANUARIO_FIGURE_ID=B.1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19" descr="Capa accesible con el texto del SVG de la figura B.19"/>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B.19</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5,000,000</a:t>
            </a:r>
          </a:p>
          <a:p>
            <a:pPr>
              <a:spcBef>
                <a:spcPts val="0"/>
              </a:spcBef>
              <a:spcAft>
                <a:spcPts val="0"/>
              </a:spcAft>
            </a:pPr>
            <a:r>
              <a:rPr sz="100">
                <a:solidFill>
                  <a:srgbClr val="FFFFFF"/>
                </a:solidFill>
                <a:latin typeface="Noto Sans"/>
              </a:rPr>
              <a:t>10,000,000</a:t>
            </a:r>
          </a:p>
          <a:p>
            <a:pPr>
              <a:spcBef>
                <a:spcPts val="0"/>
              </a:spcBef>
              <a:spcAft>
                <a:spcPts val="0"/>
              </a:spcAft>
            </a:pPr>
            <a:r>
              <a:rPr sz="100">
                <a:solidFill>
                  <a:srgbClr val="FFFFFF"/>
                </a:solidFill>
                <a:latin typeface="Noto Sans"/>
              </a:rPr>
              <a:t>15,000,000</a:t>
            </a:r>
          </a:p>
          <a:p>
            <a:pPr>
              <a:spcBef>
                <a:spcPts val="0"/>
              </a:spcBef>
              <a:spcAft>
                <a:spcPts val="0"/>
              </a:spcAft>
            </a:pPr>
            <a:r>
              <a:rPr sz="100">
                <a:solidFill>
                  <a:srgbClr val="FFFFFF"/>
                </a:solidFill>
                <a:latin typeface="Noto Sans"/>
              </a:rPr>
              <a:t>20,000,000</a:t>
            </a:r>
          </a:p>
          <a:p>
            <a:pPr>
              <a:spcBef>
                <a:spcPts val="0"/>
              </a:spcBef>
              <a:spcAft>
                <a:spcPts val="0"/>
              </a:spcAft>
            </a:pPr>
            <a:r>
              <a:rPr sz="100">
                <a:solidFill>
                  <a:srgbClr val="FFFFFF"/>
                </a:solidFill>
                <a:latin typeface="Noto Sans"/>
              </a:rPr>
              <a:t>25,000,000</a:t>
            </a:r>
          </a:p>
          <a:p>
            <a:pPr>
              <a:spcBef>
                <a:spcPts val="0"/>
              </a:spcBef>
              <a:spcAft>
                <a:spcPts val="0"/>
              </a:spcAft>
            </a:pPr>
            <a:r>
              <a:rPr sz="100">
                <a:solidFill>
                  <a:srgbClr val="FFFFFF"/>
                </a:solidFill>
                <a:latin typeface="Noto Sans"/>
              </a:rPr>
              <a:t>30,000,000</a:t>
            </a:r>
          </a:p>
          <a:p>
            <a:pPr>
              <a:spcBef>
                <a:spcPts val="0"/>
              </a:spcBef>
              <a:spcAft>
                <a:spcPts val="0"/>
              </a:spcAft>
            </a:pPr>
            <a:r>
              <a:rPr sz="100">
                <a:solidFill>
                  <a:srgbClr val="FFFFFF"/>
                </a:solidFill>
                <a:latin typeface="Noto Sans"/>
              </a:rPr>
              <a:t>21,787,954</a:t>
            </a:r>
          </a:p>
          <a:p>
            <a:pPr>
              <a:spcBef>
                <a:spcPts val="0"/>
              </a:spcBef>
              <a:spcAft>
                <a:spcPts val="0"/>
              </a:spcAft>
            </a:pPr>
            <a:r>
              <a:rPr sz="100">
                <a:solidFill>
                  <a:srgbClr val="FFFFFF"/>
                </a:solidFill>
                <a:latin typeface="Noto Sans"/>
              </a:rPr>
              <a:t>Accesos totales</a:t>
            </a:r>
          </a:p>
          <a:p>
            <a:pPr>
              <a:spcBef>
                <a:spcPts val="0"/>
              </a:spcBef>
              <a:spcAft>
                <a:spcPts val="0"/>
              </a:spcAft>
            </a:pPr>
            <a:r>
              <a:rPr sz="100">
                <a:solidFill>
                  <a:srgbClr val="FFFFFF"/>
                </a:solidFill>
                <a:latin typeface="Noto Sans"/>
              </a:rPr>
              <a:t>Figura B.19.</a:t>
            </a:r>
          </a:p>
          <a:p>
            <a:pPr>
              <a:spcBef>
                <a:spcPts val="0"/>
              </a:spcBef>
              <a:spcAft>
                <a:spcPts val="0"/>
              </a:spcAft>
            </a:pPr>
            <a:r>
              <a:rPr sz="100">
                <a:solidFill>
                  <a:srgbClr val="FFFFFF"/>
                </a:solidFill>
                <a:latin typeface="Noto Sans"/>
              </a:rPr>
              <a:t>Accesos del Servicio de Televisión Restringida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19" descr="Figura B.19.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39</a:t>
            </a:r>
          </a:p>
        </p:txBody>
      </p:sp>
    </p:spTree>
  </p:cSld>
  <p:clrMapOvr>
    <a:masterClrMapping/>
  </p:clrMapOvr>
</p:sld>
</file>

<file path=ppt/slides/slide4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0" descr="ANUARIO_FIGURE_ID=B.2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B.20</a:t>
            </a:r>
          </a:p>
          <a:p>
            <a:pPr>
              <a:spcBef>
                <a:spcPts val="0"/>
              </a:spcBef>
              <a:spcAft>
                <a:spcPts val="600"/>
              </a:spcAft>
            </a:pPr>
            <a:r>
              <a:rPr sz="950" b="1">
                <a:solidFill>
                  <a:srgbClr val="203634"/>
                </a:solidFill>
                <a:latin typeface="Noto Sans"/>
              </a:rPr>
              <a:t>ACCESOS DEL SERVICIO DE TELEVISIÓN RESTRINGIDA POR CADA 100 HOGARES</a:t>
            </a:r>
          </a:p>
          <a:p>
            <a:pPr>
              <a:lnSpc>
                <a:spcPct val="100000"/>
              </a:lnSpc>
              <a:spcBef>
                <a:spcPts val="0"/>
              </a:spcBef>
              <a:spcAft>
                <a:spcPts val="400"/>
              </a:spcAft>
            </a:pPr>
            <a:r>
              <a:rPr sz="880" b="0">
                <a:solidFill>
                  <a:srgbClr val="434343"/>
                </a:solidFill>
                <a:latin typeface="Noto Sans"/>
              </a:rPr>
              <a:t>Por otro lado, al obtener el número de accesos del servicio de televisión restringida por cada 100 hogares a nivel nacional, se observa que en 2024 llegó a 56 accesos por cada 100 hogares.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0" descr="ANUARIO_FIGURE_ID=B.2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0" descr="Capa accesible con el texto del SVG de la figura B.20"/>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B.20</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Figura B.20.</a:t>
            </a:r>
          </a:p>
          <a:p>
            <a:pPr>
              <a:spcBef>
                <a:spcPts val="0"/>
              </a:spcBef>
              <a:spcAft>
                <a:spcPts val="0"/>
              </a:spcAft>
            </a:pPr>
            <a:r>
              <a:rPr sz="100">
                <a:solidFill>
                  <a:srgbClr val="FFFFFF"/>
                </a:solidFill>
                <a:latin typeface="Noto Sans"/>
              </a:rPr>
              <a:t>Accesos del Servicio de Televisión Restringida por cada 100 hogares (1998-2024)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proporcionados por los operadores de telecomunicaciones a diciembre de 2024.</a:t>
            </a:r>
          </a:p>
        </p:txBody>
      </p:sp>
      <p:pic>
        <p:nvPicPr>
          <p:cNvPr id="223" name="ANUARIO_IMAGE_B_20" descr="Figura B.20.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40</a:t>
            </a:r>
          </a:p>
        </p:txBody>
      </p:sp>
    </p:spTree>
  </p:cSld>
  <p:clrMapOvr>
    <a:masterClrMapping/>
  </p:clrMapOvr>
</p:sld>
</file>

<file path=ppt/slides/slide4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1" descr="ANUARIO_FIGURE_ID=B.2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B.21</a:t>
            </a:r>
          </a:p>
          <a:p>
            <a:pPr>
              <a:spcBef>
                <a:spcPts val="0"/>
              </a:spcBef>
              <a:spcAft>
                <a:spcPts val="600"/>
              </a:spcAft>
            </a:pPr>
            <a:r>
              <a:rPr sz="950" b="1">
                <a:solidFill>
                  <a:srgbClr val="203634"/>
                </a:solidFill>
                <a:latin typeface="Noto Sans"/>
              </a:rPr>
              <a:t>ACCESOS DEL SERVICIO DE TELEVISIÓN RESTRINGIDA RESIDENCIAL POR CADA 100 HOGARES POR ENTIDAD FEDERATIVA</a:t>
            </a:r>
          </a:p>
          <a:p>
            <a:pPr>
              <a:lnSpc>
                <a:spcPct val="100000"/>
              </a:lnSpc>
              <a:spcBef>
                <a:spcPts val="0"/>
              </a:spcBef>
              <a:spcAft>
                <a:spcPts val="400"/>
              </a:spcAft>
            </a:pPr>
            <a:r>
              <a:rPr sz="760" b="0">
                <a:solidFill>
                  <a:srgbClr val="434343"/>
                </a:solidFill>
                <a:latin typeface="Noto Sans"/>
              </a:rPr>
              <a:t>En el segmento residencial del servicio de televisión restringida, al cierre de 2024, había 48 accesos por cada 100 hogares a nivel nacional, siendo Querétaro la entidad con la mayor cantidad de accesos por cada 100 hogares con 83, seguida por Aguascalientes con 69 y Baja California con 68. Por el contrario, las entidades con la menor cantidad de accesos por cada 100 hogares fueron Ciudad de México, Tabasco y Chiapas con 32, 32 y 29 respectivamente.</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1" descr="ANUARIO_FIGURE_ID=B.2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1" descr="Capa accesible con el texto del SVG de la figura B.21"/>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B.21</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a:t>
            </a:r>
          </a:p>
          <a:p>
            <a:pPr>
              <a:spcBef>
                <a:spcPts val="0"/>
              </a:spcBef>
              <a:spcAft>
                <a:spcPts val="0"/>
              </a:spcAft>
            </a:pPr>
            <a:r>
              <a:rPr sz="100">
                <a:solidFill>
                  <a:srgbClr val="FFFFFF"/>
                </a:solidFill>
                <a:latin typeface="Noto Sans"/>
              </a:rPr>
              <a:t>por cada 100 hogares:</a:t>
            </a:r>
          </a:p>
          <a:p>
            <a:pPr>
              <a:spcBef>
                <a:spcPts val="0"/>
              </a:spcBef>
              <a:spcAft>
                <a:spcPts val="0"/>
              </a:spcAft>
            </a:pPr>
            <a:r>
              <a:rPr sz="100">
                <a:solidFill>
                  <a:srgbClr val="FFFFFF"/>
                </a:solidFill>
                <a:latin typeface="Noto Sans"/>
              </a:rPr>
              <a:t>Menos de 55</a:t>
            </a:r>
          </a:p>
          <a:p>
            <a:pPr>
              <a:spcBef>
                <a:spcPts val="0"/>
              </a:spcBef>
              <a:spcAft>
                <a:spcPts val="0"/>
              </a:spcAft>
            </a:pPr>
            <a:r>
              <a:rPr sz="100">
                <a:solidFill>
                  <a:srgbClr val="FFFFFF"/>
                </a:solidFill>
                <a:latin typeface="Noto Sans"/>
              </a:rPr>
              <a:t>56-65</a:t>
            </a:r>
          </a:p>
          <a:p>
            <a:pPr>
              <a:spcBef>
                <a:spcPts val="0"/>
              </a:spcBef>
              <a:spcAft>
                <a:spcPts val="0"/>
              </a:spcAft>
            </a:pPr>
            <a:r>
              <a:rPr sz="100">
                <a:solidFill>
                  <a:srgbClr val="FFFFFF"/>
                </a:solidFill>
                <a:latin typeface="Noto Sans"/>
              </a:rPr>
              <a:t>66-75</a:t>
            </a:r>
          </a:p>
          <a:p>
            <a:pPr>
              <a:spcBef>
                <a:spcPts val="0"/>
              </a:spcBef>
              <a:spcAft>
                <a:spcPts val="0"/>
              </a:spcAft>
            </a:pPr>
            <a:r>
              <a:rPr sz="100">
                <a:solidFill>
                  <a:srgbClr val="FFFFFF"/>
                </a:solidFill>
                <a:latin typeface="Noto Sans"/>
              </a:rPr>
              <a:t>76-85</a:t>
            </a:r>
          </a:p>
          <a:p>
            <a:pPr>
              <a:spcBef>
                <a:spcPts val="0"/>
              </a:spcBef>
              <a:spcAft>
                <a:spcPts val="0"/>
              </a:spcAft>
            </a:pPr>
            <a:r>
              <a:rPr sz="100">
                <a:solidFill>
                  <a:srgbClr val="FFFFFF"/>
                </a:solidFill>
                <a:latin typeface="Noto Sans"/>
              </a:rPr>
              <a:t>Más de 85</a:t>
            </a:r>
          </a:p>
          <a:p>
            <a:pPr>
              <a:spcBef>
                <a:spcPts val="0"/>
              </a:spcBef>
              <a:spcAft>
                <a:spcPts val="0"/>
              </a:spcAft>
            </a:pPr>
            <a:r>
              <a:rPr sz="100">
                <a:solidFill>
                  <a:srgbClr val="FFFFFF"/>
                </a:solidFill>
                <a:latin typeface="Noto Sans"/>
              </a:rPr>
              <a:t>Figura B.21.</a:t>
            </a:r>
          </a:p>
          <a:p>
            <a:pPr>
              <a:spcBef>
                <a:spcPts val="0"/>
              </a:spcBef>
              <a:spcAft>
                <a:spcPts val="0"/>
              </a:spcAft>
            </a:pPr>
            <a:r>
              <a:rPr sz="100">
                <a:solidFill>
                  <a:srgbClr val="FFFFFF"/>
                </a:solidFill>
                <a:latin typeface="Noto Sans"/>
              </a:rPr>
              <a:t>Accesos del Servicio de Televisión Restringida Residencial por cada 100 hogares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 la ENDUTIH 2025 del INEGI.</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residencial por cada</a:t>
            </a:r>
          </a:p>
          <a:p>
            <a:pPr>
              <a:spcBef>
                <a:spcPts val="0"/>
              </a:spcBef>
              <a:spcAft>
                <a:spcPts val="0"/>
              </a:spcAft>
            </a:pPr>
            <a:r>
              <a:rPr sz="100">
                <a:solidFill>
                  <a:srgbClr val="FFFFFF"/>
                </a:solidFill>
                <a:latin typeface="Noto Sans"/>
              </a:rPr>
              <a:t>100 hogares: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N/D</a:t>
            </a:r>
          </a:p>
        </p:txBody>
      </p:sp>
      <p:pic>
        <p:nvPicPr>
          <p:cNvPr id="223" name="ANUARIO_IMAGE_B_21" descr="Figura B.21.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41</a:t>
            </a:r>
          </a:p>
        </p:txBody>
      </p:sp>
    </p:spTree>
  </p:cSld>
  <p:clrMapOvr>
    <a:masterClrMapping/>
  </p:clrMapOvr>
</p:sld>
</file>

<file path=ppt/slides/slide4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2" descr="ANUARIO_FIGURE_ID=B.2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B.22</a:t>
            </a:r>
          </a:p>
          <a:p>
            <a:pPr>
              <a:spcBef>
                <a:spcPts val="0"/>
              </a:spcBef>
              <a:spcAft>
                <a:spcPts val="600"/>
              </a:spcAft>
            </a:pPr>
            <a:r>
              <a:rPr sz="950" b="1">
                <a:solidFill>
                  <a:srgbClr val="203634"/>
                </a:solidFill>
                <a:latin typeface="Noto Sans"/>
              </a:rPr>
              <a:t>ACCESOS DEL SERVICIO DE TELEVISIÓN RESTRINGIDA NO RESIDENCIAL POR CADA 100 UNIDADES ECONÓMICAS POR ENTIDAD FEDERATIVA</a:t>
            </a:r>
          </a:p>
          <a:p>
            <a:pPr>
              <a:lnSpc>
                <a:spcPct val="100000"/>
              </a:lnSpc>
              <a:spcBef>
                <a:spcPts val="0"/>
              </a:spcBef>
              <a:spcAft>
                <a:spcPts val="400"/>
              </a:spcAft>
            </a:pPr>
            <a:r>
              <a:rPr sz="760" b="0">
                <a:solidFill>
                  <a:srgbClr val="434343"/>
                </a:solidFill>
                <a:latin typeface="Noto Sans"/>
              </a:rPr>
              <a:t>En cuanto al segmento no residencial de este servicio, al cierre de 2024, había 34 accesos por cada 100 unidades económicas a nivel nacional, siendo Ciudad de México la entidad con la mayor cantidad de accesos por cada 100 unidades económicas con 273, seguida de México con 55 y Quintana Roo con 29. En contraste, las entidades federativas con la menor cantidad de accesos por cada 100 unidades económicas fueron Tabasco y Tlaxcala con solo 2 accesos por cada 100 unidades económicas.</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2" descr="ANUARIO_FIGURE_ID=B.2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2" descr="Capa accesible con el texto del SVG de la figura B.22"/>
          <p:cNvSpPr txBox="1"/>
          <p:nvPr/>
        </p:nvSpPr>
        <p:spPr>
          <a:xfrm>
            <a:off x="3357372" y="1306006"/>
            <a:ext cx="5279136" cy="2865438"/>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B.22</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Menos de 4</a:t>
            </a:r>
          </a:p>
          <a:p>
            <a:pPr>
              <a:spcBef>
                <a:spcPts val="0"/>
              </a:spcBef>
              <a:spcAft>
                <a:spcPts val="0"/>
              </a:spcAft>
            </a:pPr>
            <a:r>
              <a:rPr sz="100">
                <a:solidFill>
                  <a:srgbClr val="FFFFFF"/>
                </a:solidFill>
                <a:latin typeface="Noto Sans"/>
              </a:rPr>
              <a:t>4 a 6</a:t>
            </a:r>
          </a:p>
          <a:p>
            <a:pPr>
              <a:spcBef>
                <a:spcPts val="0"/>
              </a:spcBef>
              <a:spcAft>
                <a:spcPts val="0"/>
              </a:spcAft>
            </a:pPr>
            <a:r>
              <a:rPr sz="100">
                <a:solidFill>
                  <a:srgbClr val="FFFFFF"/>
                </a:solidFill>
                <a:latin typeface="Noto Sans"/>
              </a:rPr>
              <a:t>7 a 9</a:t>
            </a:r>
          </a:p>
          <a:p>
            <a:pPr>
              <a:spcBef>
                <a:spcPts val="0"/>
              </a:spcBef>
              <a:spcAft>
                <a:spcPts val="0"/>
              </a:spcAft>
            </a:pPr>
            <a:r>
              <a:rPr sz="100">
                <a:solidFill>
                  <a:srgbClr val="FFFFFF"/>
                </a:solidFill>
                <a:latin typeface="Noto Sans"/>
              </a:rPr>
              <a:t>10 a 12</a:t>
            </a:r>
          </a:p>
          <a:p>
            <a:pPr>
              <a:spcBef>
                <a:spcPts val="0"/>
              </a:spcBef>
              <a:spcAft>
                <a:spcPts val="0"/>
              </a:spcAft>
            </a:pPr>
            <a:r>
              <a:rPr sz="100">
                <a:solidFill>
                  <a:srgbClr val="FFFFFF"/>
                </a:solidFill>
                <a:latin typeface="Noto Sans"/>
              </a:rPr>
              <a:t>Más de 13</a:t>
            </a:r>
          </a:p>
          <a:p>
            <a:pPr>
              <a:spcBef>
                <a:spcPts val="0"/>
              </a:spcBef>
              <a:spcAft>
                <a:spcPts val="0"/>
              </a:spcAft>
            </a:pPr>
            <a:r>
              <a:rPr sz="100">
                <a:solidFill>
                  <a:srgbClr val="FFFFFF"/>
                </a:solidFill>
                <a:latin typeface="Noto Sans"/>
              </a:rPr>
              <a:t>Figura B.22.</a:t>
            </a:r>
          </a:p>
          <a:p>
            <a:pPr>
              <a:spcBef>
                <a:spcPts val="0"/>
              </a:spcBef>
              <a:spcAft>
                <a:spcPts val="0"/>
              </a:spcAft>
            </a:pPr>
            <a:r>
              <a:rPr sz="100">
                <a:solidFill>
                  <a:srgbClr val="FFFFFF"/>
                </a:solidFill>
                <a:latin typeface="Noto Sans"/>
              </a:rPr>
              <a:t>Accesos del Servicio de Televisión Restringida No Residencial por cada 100 unidades económicas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 y del DENUE del INEGI, a mayo de 2026.</a:t>
            </a:r>
          </a:p>
          <a:p>
            <a:pPr>
              <a:spcBef>
                <a:spcPts val="0"/>
              </a:spcBef>
              <a:spcAft>
                <a:spcPts val="0"/>
              </a:spcAft>
            </a:pPr>
            <a:r>
              <a:rPr sz="100">
                <a:solidFill>
                  <a:srgbClr val="FFFFFF"/>
                </a:solidFill>
                <a:latin typeface="Noto Sans"/>
              </a:rPr>
              <a:t>Accesos del servicio de televisión</a:t>
            </a:r>
          </a:p>
          <a:p>
            <a:pPr>
              <a:spcBef>
                <a:spcPts val="0"/>
              </a:spcBef>
              <a:spcAft>
                <a:spcPts val="0"/>
              </a:spcAft>
            </a:pPr>
            <a:r>
              <a:rPr sz="100">
                <a:solidFill>
                  <a:srgbClr val="FFFFFF"/>
                </a:solidFill>
                <a:latin typeface="Noto Sans"/>
              </a:rPr>
              <a:t>restringida No Residencial por cada</a:t>
            </a:r>
          </a:p>
          <a:p>
            <a:pPr>
              <a:spcBef>
                <a:spcPts val="0"/>
              </a:spcBef>
              <a:spcAft>
                <a:spcPts val="0"/>
              </a:spcAft>
            </a:pPr>
            <a:r>
              <a:rPr sz="100">
                <a:solidFill>
                  <a:srgbClr val="FFFFFF"/>
                </a:solidFill>
                <a:latin typeface="Noto Sans"/>
              </a:rPr>
              <a:t>100 unidades económicas: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353.2%</a:t>
            </a:r>
          </a:p>
        </p:txBody>
      </p:sp>
      <p:pic>
        <p:nvPicPr>
          <p:cNvPr id="223" name="ANUARIO_IMAGE_B_22" descr="Figura B.22. SVG vectorial sin respaldo raster"/>
          <p:cNvPicPr>
            <a:picLocks noChangeAspect="1"/>
          </p:cNvPicPr>
          <p:nvPr/>
        </p:nvPicPr>
        <p:blipFill>
          <a:blip r:embed="rId2"/>
          <a:stretch>
            <a:fillRect/>
          </a:stretch>
        </p:blipFill>
        <p:spPr>
          <a:xfrm>
            <a:off x="3357372" y="1306006"/>
            <a:ext cx="5279136" cy="2865438"/>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42</a:t>
            </a:r>
          </a:p>
        </p:txBody>
      </p:sp>
    </p:spTree>
  </p:cSld>
  <p:clrMapOvr>
    <a:masterClrMapping/>
  </p:clrMapOvr>
</p:sld>
</file>

<file path=ppt/slides/slide4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3" descr="ANUARIO_FIGURE_ID=B.2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B.23</a:t>
            </a:r>
          </a:p>
          <a:p>
            <a:pPr>
              <a:spcBef>
                <a:spcPts val="0"/>
              </a:spcBef>
              <a:spcAft>
                <a:spcPts val="600"/>
              </a:spcAft>
            </a:pPr>
            <a:r>
              <a:rPr sz="950" b="1">
                <a:solidFill>
                  <a:srgbClr val="203634"/>
                </a:solidFill>
                <a:latin typeface="Noto Sans"/>
              </a:rPr>
              <a:t>TECNOLOGÍAS DE CONEXIÓN DEL SERVICIO DE TELEVISIÓN RESTRINGIDA POR SEGMENTO</a:t>
            </a:r>
          </a:p>
          <a:p>
            <a:pPr>
              <a:lnSpc>
                <a:spcPct val="100000"/>
              </a:lnSpc>
              <a:spcBef>
                <a:spcPts val="0"/>
              </a:spcBef>
              <a:spcAft>
                <a:spcPts val="400"/>
              </a:spcAft>
            </a:pPr>
            <a:r>
              <a:rPr sz="819" b="0">
                <a:solidFill>
                  <a:srgbClr val="434343"/>
                </a:solidFill>
                <a:latin typeface="Noto Sans"/>
              </a:rPr>
              <a:t>Con respecto de las tecnologías de conexión del servicio de televisión restringida en el segmento residencial, al cierre de 2024, 52.0% de los accesos fueron provistos a través de cable coaxial, 35.5% vía satélite y 12.5% por medio de IPTV Terrestre. Por otro lado, en el segmento no residencial se observó que 96.0% de los accesos fueron provistos mediante cable coaxial, 3.8% a través de IPTV Terrestre y 0.2% vía satelital.</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3" descr="ANUARIO_FIGURE_ID=B.2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3" descr="Capa accesible con el texto del SVG de la figura B.23"/>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B.23</a:t>
            </a:r>
          </a:p>
          <a:p>
            <a:pPr>
              <a:spcBef>
                <a:spcPts val="0"/>
              </a:spcBef>
              <a:spcAft>
                <a:spcPts val="0"/>
              </a:spcAft>
            </a:pPr>
            <a:r>
              <a:rPr sz="100">
                <a:solidFill>
                  <a:srgbClr val="FFFFFF"/>
                </a:solidFill>
                <a:latin typeface="Noto Sans"/>
              </a:rPr>
              <a:t>52.0%</a:t>
            </a:r>
          </a:p>
          <a:p>
            <a:pPr>
              <a:spcBef>
                <a:spcPts val="0"/>
              </a:spcBef>
              <a:spcAft>
                <a:spcPts val="0"/>
              </a:spcAft>
            </a:pPr>
            <a:r>
              <a:rPr sz="100">
                <a:solidFill>
                  <a:srgbClr val="FFFFFF"/>
                </a:solidFill>
                <a:latin typeface="Noto Sans"/>
              </a:rPr>
              <a:t>35.5%</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96.0%</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Cable</a:t>
            </a:r>
          </a:p>
          <a:p>
            <a:pPr>
              <a:spcBef>
                <a:spcPts val="0"/>
              </a:spcBef>
              <a:spcAft>
                <a:spcPts val="0"/>
              </a:spcAft>
            </a:pPr>
            <a:r>
              <a:rPr sz="100">
                <a:solidFill>
                  <a:srgbClr val="FFFFFF"/>
                </a:solidFill>
                <a:latin typeface="Noto Sans"/>
              </a:rPr>
              <a:t>Direct-to-home</a:t>
            </a:r>
          </a:p>
          <a:p>
            <a:pPr>
              <a:spcBef>
                <a:spcPts val="0"/>
              </a:spcBef>
              <a:spcAft>
                <a:spcPts val="0"/>
              </a:spcAft>
            </a:pPr>
            <a:r>
              <a:rPr sz="100">
                <a:solidFill>
                  <a:srgbClr val="FFFFFF"/>
                </a:solidFill>
                <a:latin typeface="Noto Sans"/>
              </a:rPr>
              <a:t>(DTH)</a:t>
            </a:r>
          </a:p>
          <a:p>
            <a:pPr>
              <a:spcBef>
                <a:spcPts val="0"/>
              </a:spcBef>
              <a:spcAft>
                <a:spcPts val="0"/>
              </a:spcAft>
            </a:pPr>
            <a:r>
              <a:rPr sz="100">
                <a:solidFill>
                  <a:srgbClr val="FFFFFF"/>
                </a:solidFill>
                <a:latin typeface="Noto Sans"/>
              </a:rPr>
              <a:t>IPTV Terrestre</a:t>
            </a:r>
          </a:p>
          <a:p>
            <a:pPr>
              <a:spcBef>
                <a:spcPts val="0"/>
              </a:spcBef>
              <a:spcAft>
                <a:spcPts val="0"/>
              </a:spcAft>
            </a:pPr>
            <a:r>
              <a:rPr sz="100">
                <a:solidFill>
                  <a:srgbClr val="FFFFFF"/>
                </a:solidFill>
                <a:latin typeface="Noto Sans"/>
              </a:rPr>
              <a:t>Figura B.23.</a:t>
            </a:r>
          </a:p>
          <a:p>
            <a:pPr>
              <a:spcBef>
                <a:spcPts val="0"/>
              </a:spcBef>
              <a:spcAft>
                <a:spcPts val="0"/>
              </a:spcAft>
            </a:pPr>
            <a:r>
              <a:rPr sz="100">
                <a:solidFill>
                  <a:srgbClr val="FFFFFF"/>
                </a:solidFill>
                <a:latin typeface="Noto Sans"/>
              </a:rPr>
              <a:t>Tecnologías de conexión del Servicio de Televisión Restringida por segmento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a:p>
            <a:pPr>
              <a:spcBef>
                <a:spcPts val="0"/>
              </a:spcBef>
              <a:spcAft>
                <a:spcPts val="0"/>
              </a:spcAft>
            </a:pPr>
            <a:r>
              <a:rPr sz="100">
                <a:solidFill>
                  <a:srgbClr val="FFFFFF"/>
                </a:solidFill>
                <a:latin typeface="Noto Sans"/>
              </a:rPr>
              <a:t>Accesos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19,137,914</a:t>
            </a:r>
          </a:p>
          <a:p>
            <a:pPr>
              <a:spcBef>
                <a:spcPts val="0"/>
              </a:spcBef>
              <a:spcAft>
                <a:spcPts val="0"/>
              </a:spcAft>
            </a:pPr>
            <a:r>
              <a:rPr sz="100">
                <a:solidFill>
                  <a:srgbClr val="FFFFFF"/>
                </a:solidFill>
                <a:latin typeface="Noto Sans"/>
              </a:rPr>
              <a:t>Accesos no residenciales</a:t>
            </a:r>
          </a:p>
          <a:p>
            <a:pPr>
              <a:spcBef>
                <a:spcPts val="0"/>
              </a:spcBef>
              <a:spcAft>
                <a:spcPts val="0"/>
              </a:spcAft>
            </a:pPr>
            <a:r>
              <a:rPr sz="100">
                <a:solidFill>
                  <a:srgbClr val="FFFFFF"/>
                </a:solidFill>
                <a:latin typeface="Noto Sans"/>
              </a:rPr>
              <a:t>a nivel nacional:</a:t>
            </a:r>
          </a:p>
          <a:p>
            <a:pPr>
              <a:spcBef>
                <a:spcPts val="0"/>
              </a:spcBef>
              <a:spcAft>
                <a:spcPts val="0"/>
              </a:spcAft>
            </a:pPr>
            <a:r>
              <a:rPr sz="100">
                <a:solidFill>
                  <a:srgbClr val="FFFFFF"/>
                </a:solidFill>
                <a:latin typeface="Noto Sans"/>
              </a:rPr>
              <a:t>2,066,047</a:t>
            </a:r>
          </a:p>
          <a:p>
            <a:pPr>
              <a:spcBef>
                <a:spcPts val="0"/>
              </a:spcBef>
              <a:spcAft>
                <a:spcPts val="0"/>
              </a:spcAft>
            </a:pPr>
            <a:r>
              <a:rPr sz="100">
                <a:solidFill>
                  <a:srgbClr val="FFFFFF"/>
                </a:solidFill>
                <a:latin typeface="Noto Sans"/>
              </a:rPr>
              <a:t>Residencial</a:t>
            </a:r>
          </a:p>
          <a:p>
            <a:pPr>
              <a:spcBef>
                <a:spcPts val="0"/>
              </a:spcBef>
              <a:spcAft>
                <a:spcPts val="0"/>
              </a:spcAft>
            </a:pPr>
            <a:r>
              <a:rPr sz="100">
                <a:solidFill>
                  <a:srgbClr val="FFFFFF"/>
                </a:solidFill>
                <a:latin typeface="Noto Sans"/>
              </a:rPr>
              <a:t>No Residencial</a:t>
            </a:r>
          </a:p>
        </p:txBody>
      </p:sp>
      <p:pic>
        <p:nvPicPr>
          <p:cNvPr id="223" name="ANUARIO_IMAGE_B_23" descr="Figura B.23.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43</a:t>
            </a:r>
          </a:p>
        </p:txBody>
      </p:sp>
    </p:spTree>
  </p:cSld>
  <p:clrMapOvr>
    <a:masterClrMapping/>
  </p:clrMapOvr>
</p:sld>
</file>

<file path=ppt/slides/slide4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4" descr="ANUARIO_FIGURE_ID=B.2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B.24</a:t>
            </a:r>
          </a:p>
          <a:p>
            <a:pPr>
              <a:spcBef>
                <a:spcPts val="0"/>
              </a:spcBef>
              <a:spcAft>
                <a:spcPts val="600"/>
              </a:spcAft>
            </a:pPr>
            <a:r>
              <a:rPr sz="950" b="1">
                <a:solidFill>
                  <a:srgbClr val="203634"/>
                </a:solidFill>
                <a:latin typeface="Noto Sans"/>
              </a:rPr>
              <a:t>PARTICIPACIÓN DE MERCADO DEL SERVICIO DE TELEVISIÓN RESTRINGIDA</a:t>
            </a:r>
          </a:p>
          <a:p>
            <a:pPr>
              <a:lnSpc>
                <a:spcPct val="100000"/>
              </a:lnSpc>
              <a:spcBef>
                <a:spcPts val="0"/>
              </a:spcBef>
              <a:spcAft>
                <a:spcPts val="400"/>
              </a:spcAft>
            </a:pPr>
            <a:r>
              <a:rPr sz="880" b="0">
                <a:solidFill>
                  <a:srgbClr val="434343"/>
                </a:solidFill>
                <a:latin typeface="Noto Sans"/>
              </a:rPr>
              <a:t>En cuanto a la participación de mercado del servicio de televisión restringida, se observa que, en 2024, los grupos económicos de este servicio han mantenido, en general, su participación desde 2014.</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4" descr="ANUARIO_FIGURE_ID=B.2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4" descr="Capa accesible con el texto del SVG de la figura B.24"/>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B.24</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Grupo Televisa</a:t>
            </a:r>
          </a:p>
          <a:p>
            <a:pPr>
              <a:spcBef>
                <a:spcPts val="0"/>
              </a:spcBef>
              <a:spcAft>
                <a:spcPts val="0"/>
              </a:spcAft>
            </a:pPr>
            <a:r>
              <a:rPr sz="100">
                <a:solidFill>
                  <a:srgbClr val="FFFFFF"/>
                </a:solidFill>
                <a:latin typeface="Noto Sans"/>
              </a:rPr>
              <a:t>Megacable-MCM</a:t>
            </a:r>
          </a:p>
          <a:p>
            <a:pPr>
              <a:spcBef>
                <a:spcPts val="0"/>
              </a:spcBef>
              <a:spcAft>
                <a:spcPts val="0"/>
              </a:spcAft>
            </a:pPr>
            <a:r>
              <a:rPr sz="100">
                <a:solidFill>
                  <a:srgbClr val="FFFFFF"/>
                </a:solidFill>
                <a:latin typeface="Noto Sans"/>
              </a:rPr>
              <a:t>Dish-MVS</a:t>
            </a:r>
          </a:p>
          <a:p>
            <a:pPr>
              <a:spcBef>
                <a:spcPts val="0"/>
              </a:spcBef>
              <a:spcAft>
                <a:spcPts val="0"/>
              </a:spcAft>
            </a:pPr>
            <a:r>
              <a:rPr sz="100">
                <a:solidFill>
                  <a:srgbClr val="FFFFFF"/>
                </a:solidFill>
                <a:latin typeface="Noto Sans"/>
              </a:rPr>
              <a:t>Grupo Salinas</a:t>
            </a:r>
          </a:p>
          <a:p>
            <a:pPr>
              <a:spcBef>
                <a:spcPts val="0"/>
              </a:spcBef>
              <a:spcAft>
                <a:spcPts val="0"/>
              </a:spcAft>
            </a:pPr>
            <a:r>
              <a:rPr sz="100">
                <a:solidFill>
                  <a:srgbClr val="FFFFFF"/>
                </a:solidFill>
                <a:latin typeface="Noto Sans"/>
              </a:rPr>
              <a:t>Stargroup</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65.5%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63.3%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62.3%</a:t>
            </a:r>
          </a:p>
          <a:p>
            <a:pPr>
              <a:spcBef>
                <a:spcPts val="0"/>
              </a:spcBef>
              <a:spcAft>
                <a:spcPts val="0"/>
              </a:spcAft>
            </a:pPr>
            <a:r>
              <a:rPr sz="100">
                <a:solidFill>
                  <a:srgbClr val="FFFFFF"/>
                </a:solidFill>
                <a:latin typeface="Noto Sans"/>
              </a:rPr>
              <a:t>20.6%</a:t>
            </a:r>
          </a:p>
          <a:p>
            <a:pPr>
              <a:spcBef>
                <a:spcPts val="0"/>
              </a:spcBef>
              <a:spcAft>
                <a:spcPts val="0"/>
              </a:spcAft>
            </a:pPr>
            <a:r>
              <a:rPr sz="100">
                <a:solidFill>
                  <a:srgbClr val="FFFFFF"/>
                </a:solidFill>
                <a:latin typeface="Noto Sans"/>
              </a:rPr>
              <a:t>14.2%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67.6%</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68.2%</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70.2%</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68.6%</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0.09%</a:t>
            </a:r>
          </a:p>
          <a:p>
            <a:pPr>
              <a:spcBef>
                <a:spcPts val="0"/>
              </a:spcBef>
              <a:spcAft>
                <a:spcPts val="0"/>
              </a:spcAft>
            </a:pPr>
            <a:r>
              <a:rPr sz="100">
                <a:solidFill>
                  <a:srgbClr val="FFFFFF"/>
                </a:solidFill>
                <a:latin typeface="Noto Sans"/>
              </a:rPr>
              <a:t>62.2%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23.6%</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25.6%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53.0%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26.8%</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B.24.</a:t>
            </a:r>
          </a:p>
          <a:p>
            <a:pPr>
              <a:spcBef>
                <a:spcPts val="0"/>
              </a:spcBef>
              <a:spcAft>
                <a:spcPts val="0"/>
              </a:spcAft>
            </a:pPr>
            <a:r>
              <a:rPr sz="100">
                <a:solidFill>
                  <a:srgbClr val="FFFFFF"/>
                </a:solidFill>
                <a:latin typeface="Noto Sans"/>
              </a:rPr>
              <a:t>Participación de mercado del Servicio de Televisión Restringida (2014-2024)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de los porcentajes puede no sumar 100% por cuestiones de redondeo.</a:t>
            </a:r>
          </a:p>
        </p:txBody>
      </p:sp>
      <p:pic>
        <p:nvPicPr>
          <p:cNvPr id="223" name="ANUARIO_IMAGE_B_24" descr="Figura B.24.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44</a:t>
            </a:r>
          </a:p>
        </p:txBody>
      </p:sp>
    </p:spTree>
  </p:cSld>
  <p:clrMapOvr>
    <a:masterClrMapping/>
  </p:clrMapOvr>
</p:sld>
</file>

<file path=ppt/slides/slide4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B_25" descr="ANUARIO_FIGURE_ID=B.2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B.25</a:t>
            </a:r>
          </a:p>
          <a:p>
            <a:pPr>
              <a:spcBef>
                <a:spcPts val="0"/>
              </a:spcBef>
              <a:spcAft>
                <a:spcPts val="600"/>
              </a:spcAft>
            </a:pPr>
            <a:r>
              <a:rPr sz="950" b="1">
                <a:solidFill>
                  <a:srgbClr val="203634"/>
                </a:solidFill>
                <a:latin typeface="Noto Sans"/>
              </a:rPr>
              <a:t>ÍNDICE DE CONCENTRACIÓN DEL SERVICIO DE TELEVISIÓN RESTRINGIDA</a:t>
            </a:r>
          </a:p>
          <a:p>
            <a:pPr>
              <a:lnSpc>
                <a:spcPct val="100000"/>
              </a:lnSpc>
              <a:spcBef>
                <a:spcPts val="0"/>
              </a:spcBef>
              <a:spcAft>
                <a:spcPts val="400"/>
              </a:spcAft>
            </a:pPr>
            <a:r>
              <a:rPr sz="880" b="0">
                <a:solidFill>
                  <a:srgbClr val="434343"/>
                </a:solidFill>
                <a:latin typeface="Noto Sans"/>
              </a:rPr>
              <a:t>Complementario a la anterior gráfica, se observa que el índice de Herfindahl- Hirschman (IHH) para este servicio tuvo una disminución en 2024 con 3,691 lo que resulta en el valor más bajo desde el año 2023 donde se tuvo un IHH de 3,823.</a:t>
            </a:r>
          </a:p>
        </p:txBody>
      </p:sp>
      <p:sp>
        <p:nvSpPr>
          <p:cNvPr id="202" name="ANUARIO_SECTION_HEADER_B" descr="ANUARIO_SECTION=B;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B. SERVICIOS FIJOS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B_25" descr="ANUARIO_FIGURE_ID=B.2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B_25" descr="Capa accesible con el texto del SVG de la figura B.25"/>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B.25</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4,593</a:t>
            </a:r>
          </a:p>
          <a:p>
            <a:pPr>
              <a:spcBef>
                <a:spcPts val="0"/>
              </a:spcBef>
              <a:spcAft>
                <a:spcPts val="0"/>
              </a:spcAft>
            </a:pPr>
            <a:r>
              <a:rPr sz="100">
                <a:solidFill>
                  <a:srgbClr val="FFFFFF"/>
                </a:solidFill>
                <a:latin typeface="Noto Sans"/>
              </a:rPr>
              <a:t>4,507</a:t>
            </a:r>
          </a:p>
          <a:p>
            <a:pPr>
              <a:spcBef>
                <a:spcPts val="0"/>
              </a:spcBef>
              <a:spcAft>
                <a:spcPts val="0"/>
              </a:spcAft>
            </a:pPr>
            <a:r>
              <a:rPr sz="100">
                <a:solidFill>
                  <a:srgbClr val="FFFFFF"/>
                </a:solidFill>
                <a:latin typeface="Noto Sans"/>
              </a:rPr>
              <a:t>5,001</a:t>
            </a:r>
          </a:p>
          <a:p>
            <a:pPr>
              <a:spcBef>
                <a:spcPts val="0"/>
              </a:spcBef>
              <a:spcAft>
                <a:spcPts val="0"/>
              </a:spcAft>
            </a:pPr>
            <a:r>
              <a:rPr sz="100">
                <a:solidFill>
                  <a:srgbClr val="FFFFFF"/>
                </a:solidFill>
                <a:latin typeface="Noto Sans"/>
              </a:rPr>
              <a:t>5,032</a:t>
            </a:r>
          </a:p>
          <a:p>
            <a:pPr>
              <a:spcBef>
                <a:spcPts val="0"/>
              </a:spcBef>
              <a:spcAft>
                <a:spcPts val="0"/>
              </a:spcAft>
            </a:pPr>
            <a:r>
              <a:rPr sz="100">
                <a:solidFill>
                  <a:srgbClr val="FFFFFF"/>
                </a:solidFill>
                <a:latin typeface="Noto Sans"/>
              </a:rPr>
              <a:t>5,240</a:t>
            </a:r>
          </a:p>
          <a:p>
            <a:pPr>
              <a:spcBef>
                <a:spcPts val="0"/>
              </a:spcBef>
              <a:spcAft>
                <a:spcPts val="0"/>
              </a:spcAft>
            </a:pPr>
            <a:r>
              <a:rPr sz="100">
                <a:solidFill>
                  <a:srgbClr val="FFFFFF"/>
                </a:solidFill>
                <a:latin typeface="Noto Sans"/>
              </a:rPr>
              <a:t>5,036</a:t>
            </a:r>
          </a:p>
          <a:p>
            <a:pPr>
              <a:spcBef>
                <a:spcPts val="0"/>
              </a:spcBef>
              <a:spcAft>
                <a:spcPts val="0"/>
              </a:spcAft>
            </a:pPr>
            <a:r>
              <a:rPr sz="100">
                <a:solidFill>
                  <a:srgbClr val="FFFFFF"/>
                </a:solidFill>
                <a:latin typeface="Noto Sans"/>
              </a:rPr>
              <a:t>4,424</a:t>
            </a:r>
          </a:p>
          <a:p>
            <a:pPr>
              <a:spcBef>
                <a:spcPts val="0"/>
              </a:spcBef>
              <a:spcAft>
                <a:spcPts val="0"/>
              </a:spcAft>
            </a:pPr>
            <a:r>
              <a:rPr sz="100">
                <a:solidFill>
                  <a:srgbClr val="FFFFFF"/>
                </a:solidFill>
                <a:latin typeface="Noto Sans"/>
              </a:rPr>
              <a:t>4,078</a:t>
            </a:r>
          </a:p>
          <a:p>
            <a:pPr>
              <a:spcBef>
                <a:spcPts val="0"/>
              </a:spcBef>
              <a:spcAft>
                <a:spcPts val="0"/>
              </a:spcAft>
            </a:pPr>
            <a:r>
              <a:rPr sz="100">
                <a:solidFill>
                  <a:srgbClr val="FFFFFF"/>
                </a:solidFill>
                <a:latin typeface="Noto Sans"/>
              </a:rPr>
              <a:t>3,823</a:t>
            </a:r>
          </a:p>
          <a:p>
            <a:pPr>
              <a:spcBef>
                <a:spcPts val="0"/>
              </a:spcBef>
              <a:spcAft>
                <a:spcPts val="0"/>
              </a:spcAft>
            </a:pPr>
            <a:r>
              <a:rPr sz="100">
                <a:solidFill>
                  <a:srgbClr val="FFFFFF"/>
                </a:solidFill>
                <a:latin typeface="Noto Sans"/>
              </a:rPr>
              <a:t>3,691</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índice se calcula con las participaciones de mercado del servicio.</a:t>
            </a:r>
          </a:p>
          <a:p>
            <a:pPr>
              <a:spcBef>
                <a:spcPts val="0"/>
              </a:spcBef>
              <a:spcAft>
                <a:spcPts val="0"/>
              </a:spcAft>
            </a:pPr>
            <a:r>
              <a:rPr sz="100">
                <a:solidFill>
                  <a:srgbClr val="FFFFFF"/>
                </a:solidFill>
                <a:latin typeface="Noto Sans"/>
              </a:rPr>
              <a:t>Figura B.25.</a:t>
            </a:r>
          </a:p>
          <a:p>
            <a:pPr>
              <a:spcBef>
                <a:spcPts val="0"/>
              </a:spcBef>
              <a:spcAft>
                <a:spcPts val="0"/>
              </a:spcAft>
            </a:pPr>
            <a:r>
              <a:rPr sz="100">
                <a:solidFill>
                  <a:srgbClr val="FFFFFF"/>
                </a:solidFill>
                <a:latin typeface="Noto Sans"/>
              </a:rPr>
              <a:t>Índice de concentración del Servicio de Televisión Restringida (2015-2024)</a:t>
            </a:r>
          </a:p>
        </p:txBody>
      </p:sp>
      <p:pic>
        <p:nvPicPr>
          <p:cNvPr id="223" name="ANUARIO_IMAGE_B_25" descr="Figura B.25.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45</a:t>
            </a:r>
          </a:p>
        </p:txBody>
      </p:sp>
    </p:spTree>
  </p:cSld>
  <p:clrMapOvr>
    <a:masterClrMapping/>
  </p:clrMapOvr>
</p:sld>
</file>

<file path=ppt/slides/slide4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 descr="ANUARIO_FIGURE_ID=C.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a:t>
            </a:r>
          </a:p>
          <a:p>
            <a:pPr>
              <a:spcBef>
                <a:spcPts val="0"/>
              </a:spcBef>
              <a:spcAft>
                <a:spcPts val="600"/>
              </a:spcAft>
            </a:pPr>
            <a:r>
              <a:rPr sz="950" b="1">
                <a:solidFill>
                  <a:srgbClr val="203634"/>
                </a:solidFill>
                <a:latin typeface="Noto Sans"/>
              </a:rPr>
              <a:t>ESPECTRO RADIOELÉCTRICO ASIGNADO POR BANDA DE FRECUENCIA</a:t>
            </a:r>
          </a:p>
          <a:p>
            <a:pPr>
              <a:lnSpc>
                <a:spcPct val="100000"/>
              </a:lnSpc>
              <a:spcBef>
                <a:spcPts val="0"/>
              </a:spcBef>
              <a:spcAft>
                <a:spcPts val="400"/>
              </a:spcAft>
            </a:pPr>
            <a:r>
              <a:rPr sz="880" b="0">
                <a:solidFill>
                  <a:srgbClr val="434343"/>
                </a:solidFill>
                <a:latin typeface="Noto Sans"/>
              </a:rPr>
              <a:t>A agosto de 2024, la cantidad de espectro asignado para los servicios móviles de telecomunicaciones en México fue de 645 MHz.</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 descr="ANUARIO_FIGURE_ID=C.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 descr="Capa accesible con el texto del SVG de la figura C.1"/>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a:t>
            </a:r>
          </a:p>
          <a:p>
            <a:pPr>
              <a:spcBef>
                <a:spcPts val="0"/>
              </a:spcBef>
              <a:spcAft>
                <a:spcPts val="0"/>
              </a:spcAft>
            </a:pPr>
            <a:r>
              <a:rPr sz="100">
                <a:solidFill>
                  <a:srgbClr val="FFFFFF"/>
                </a:solidFill>
                <a:latin typeface="Noto Sans"/>
              </a:rPr>
              <a:t>Banda de 2500 MHz</a:t>
            </a:r>
          </a:p>
          <a:p>
            <a:pPr>
              <a:spcBef>
                <a:spcPts val="0"/>
              </a:spcBef>
              <a:spcAft>
                <a:spcPts val="0"/>
              </a:spcAft>
            </a:pPr>
            <a:r>
              <a:rPr sz="100">
                <a:solidFill>
                  <a:srgbClr val="FFFFFF"/>
                </a:solidFill>
                <a:latin typeface="Noto Sans"/>
              </a:rPr>
              <a:t>140 MHz</a:t>
            </a:r>
          </a:p>
          <a:p>
            <a:pPr>
              <a:spcBef>
                <a:spcPts val="0"/>
              </a:spcBef>
              <a:spcAft>
                <a:spcPts val="0"/>
              </a:spcAft>
            </a:pPr>
            <a:r>
              <a:rPr sz="100">
                <a:solidFill>
                  <a:srgbClr val="FFFFFF"/>
                </a:solidFill>
                <a:latin typeface="Noto Sans"/>
              </a:rPr>
              <a:t>Banda AWS</a:t>
            </a:r>
          </a:p>
          <a:p>
            <a:pPr>
              <a:spcBef>
                <a:spcPts val="0"/>
              </a:spcBef>
              <a:spcAft>
                <a:spcPts val="0"/>
              </a:spcAft>
            </a:pPr>
            <a:r>
              <a:rPr sz="100">
                <a:solidFill>
                  <a:srgbClr val="FFFFFF"/>
                </a:solidFill>
                <a:latin typeface="Noto Sans"/>
              </a:rPr>
              <a:t>130 MHz</a:t>
            </a:r>
          </a:p>
          <a:p>
            <a:pPr>
              <a:spcBef>
                <a:spcPts val="0"/>
              </a:spcBef>
              <a:spcAft>
                <a:spcPts val="0"/>
              </a:spcAft>
            </a:pPr>
            <a:r>
              <a:rPr sz="100">
                <a:solidFill>
                  <a:srgbClr val="FFFFFF"/>
                </a:solidFill>
                <a:latin typeface="Noto Sans"/>
              </a:rPr>
              <a:t>Banda de 3500 MHz</a:t>
            </a:r>
          </a:p>
          <a:p>
            <a:pPr>
              <a:spcBef>
                <a:spcPts val="0"/>
              </a:spcBef>
              <a:spcAft>
                <a:spcPts val="0"/>
              </a:spcAft>
            </a:pPr>
            <a:r>
              <a:rPr sz="100">
                <a:solidFill>
                  <a:srgbClr val="FFFFFF"/>
                </a:solidFill>
                <a:latin typeface="Noto Sans"/>
              </a:rPr>
              <a:t>100 MHz</a:t>
            </a:r>
          </a:p>
          <a:p>
            <a:pPr>
              <a:spcBef>
                <a:spcPts val="0"/>
              </a:spcBef>
              <a:spcAft>
                <a:spcPts val="0"/>
              </a:spcAft>
            </a:pPr>
            <a:r>
              <a:rPr sz="100">
                <a:solidFill>
                  <a:srgbClr val="FFFFFF"/>
                </a:solidFill>
                <a:latin typeface="Noto Sans"/>
              </a:rPr>
              <a:t>Banda de 700 MHz</a:t>
            </a:r>
          </a:p>
          <a:p>
            <a:pPr>
              <a:spcBef>
                <a:spcPts val="0"/>
              </a:spcBef>
              <a:spcAft>
                <a:spcPts val="0"/>
              </a:spcAft>
            </a:pPr>
            <a:r>
              <a:rPr sz="100">
                <a:solidFill>
                  <a:srgbClr val="FFFFFF"/>
                </a:solidFill>
                <a:latin typeface="Noto Sans"/>
              </a:rPr>
              <a:t>90 MHz</a:t>
            </a:r>
          </a:p>
          <a:p>
            <a:pPr>
              <a:spcBef>
                <a:spcPts val="0"/>
              </a:spcBef>
              <a:spcAft>
                <a:spcPts val="0"/>
              </a:spcAft>
            </a:pPr>
            <a:r>
              <a:rPr sz="100">
                <a:solidFill>
                  <a:srgbClr val="FFFFFF"/>
                </a:solidFill>
                <a:latin typeface="Noto Sans"/>
              </a:rPr>
              <a:t>Banda PCS</a:t>
            </a:r>
          </a:p>
          <a:p>
            <a:pPr>
              <a:spcBef>
                <a:spcPts val="0"/>
              </a:spcBef>
              <a:spcAft>
                <a:spcPts val="0"/>
              </a:spcAft>
            </a:pPr>
            <a:r>
              <a:rPr sz="100">
                <a:solidFill>
                  <a:srgbClr val="FFFFFF"/>
                </a:solidFill>
                <a:latin typeface="Noto Sans"/>
              </a:rPr>
              <a:t>68 MHz</a:t>
            </a:r>
          </a:p>
          <a:p>
            <a:pPr>
              <a:spcBef>
                <a:spcPts val="0"/>
              </a:spcBef>
              <a:spcAft>
                <a:spcPts val="0"/>
              </a:spcAft>
            </a:pPr>
            <a:r>
              <a:rPr sz="100">
                <a:solidFill>
                  <a:srgbClr val="FFFFFF"/>
                </a:solidFill>
                <a:latin typeface="Noto Sans"/>
              </a:rPr>
              <a:t>Banda de 3300 MHz</a:t>
            </a:r>
          </a:p>
          <a:p>
            <a:pPr>
              <a:spcBef>
                <a:spcPts val="0"/>
              </a:spcBef>
              <a:spcAft>
                <a:spcPts val="0"/>
              </a:spcAft>
            </a:pPr>
            <a:r>
              <a:rPr sz="100">
                <a:solidFill>
                  <a:srgbClr val="FFFFFF"/>
                </a:solidFill>
                <a:latin typeface="Noto Sans"/>
              </a:rPr>
              <a:t>50 MHz</a:t>
            </a:r>
          </a:p>
          <a:p>
            <a:pPr>
              <a:spcBef>
                <a:spcPts val="0"/>
              </a:spcBef>
              <a:spcAft>
                <a:spcPts val="0"/>
              </a:spcAft>
            </a:pPr>
            <a:r>
              <a:rPr sz="100">
                <a:solidFill>
                  <a:srgbClr val="FFFFFF"/>
                </a:solidFill>
                <a:latin typeface="Noto Sans"/>
              </a:rPr>
              <a:t>Banda de 850 MHz</a:t>
            </a:r>
          </a:p>
          <a:p>
            <a:pPr>
              <a:spcBef>
                <a:spcPts val="0"/>
              </a:spcBef>
              <a:spcAft>
                <a:spcPts val="0"/>
              </a:spcAft>
            </a:pPr>
            <a:r>
              <a:rPr sz="100">
                <a:solidFill>
                  <a:srgbClr val="FFFFFF"/>
                </a:solidFill>
                <a:latin typeface="Noto Sans"/>
              </a:rPr>
              <a:t>47 MHz</a:t>
            </a:r>
          </a:p>
          <a:p>
            <a:pPr>
              <a:spcBef>
                <a:spcPts val="0"/>
              </a:spcBef>
              <a:spcAft>
                <a:spcPts val="0"/>
              </a:spcAft>
            </a:pPr>
            <a:r>
              <a:rPr sz="100">
                <a:solidFill>
                  <a:srgbClr val="FFFFFF"/>
                </a:solidFill>
                <a:latin typeface="Noto Sans"/>
              </a:rPr>
              <a:t>Banda de</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20 MHz</a:t>
            </a:r>
          </a:p>
          <a:p>
            <a:pPr>
              <a:spcBef>
                <a:spcPts val="0"/>
              </a:spcBef>
              <a:spcAft>
                <a:spcPts val="0"/>
              </a:spcAft>
            </a:pPr>
            <a:r>
              <a:rPr sz="100">
                <a:solidFill>
                  <a:srgbClr val="FFFFFF"/>
                </a:solidFill>
                <a:latin typeface="Noto Sans"/>
              </a:rPr>
              <a:t>Total: 645 MHz</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Las superficies son proporcionales a los MHz asignados.</a:t>
            </a:r>
          </a:p>
          <a:p>
            <a:pPr>
              <a:spcBef>
                <a:spcPts val="0"/>
              </a:spcBef>
              <a:spcAft>
                <a:spcPts val="0"/>
              </a:spcAft>
            </a:pPr>
            <a:r>
              <a:rPr sz="100">
                <a:solidFill>
                  <a:srgbClr val="FFFFFF"/>
                </a:solidFill>
                <a:latin typeface="Noto Sans"/>
              </a:rPr>
              <a:t>Figura C.1.</a:t>
            </a:r>
          </a:p>
          <a:p>
            <a:pPr>
              <a:spcBef>
                <a:spcPts val="0"/>
              </a:spcBef>
              <a:spcAft>
                <a:spcPts val="0"/>
              </a:spcAft>
            </a:pPr>
            <a:r>
              <a:rPr sz="100">
                <a:solidFill>
                  <a:srgbClr val="FFFFFF"/>
                </a:solidFill>
                <a:latin typeface="Noto Sans"/>
              </a:rPr>
              <a:t>Espectro radioeléctrico asignado por banda de frecuencia</a:t>
            </a:r>
          </a:p>
        </p:txBody>
      </p:sp>
      <p:pic>
        <p:nvPicPr>
          <p:cNvPr id="223" name="ANUARIO_IMAGE_C_1" descr="Figura C.1.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46</a:t>
            </a:r>
          </a:p>
        </p:txBody>
      </p:sp>
    </p:spTree>
  </p:cSld>
  <p:clrMapOvr>
    <a:masterClrMapping/>
  </p:clrMapOvr>
</p:sld>
</file>

<file path=ppt/slides/slide4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2" descr="ANUARIO_FIGURE_ID=C.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C.2</a:t>
            </a:r>
          </a:p>
          <a:p>
            <a:pPr>
              <a:spcBef>
                <a:spcPts val="0"/>
              </a:spcBef>
              <a:spcAft>
                <a:spcPts val="600"/>
              </a:spcAft>
            </a:pPr>
            <a:r>
              <a:rPr sz="950" b="1">
                <a:solidFill>
                  <a:srgbClr val="203634"/>
                </a:solidFill>
                <a:latin typeface="Noto Sans"/>
              </a:rPr>
              <a:t>DISTRIBUCIÓN DEL ESPECTRO RADIOELÉCTRICO POR OPERADOR Y POR BANDA DE FRECUENCIA</a:t>
            </a:r>
          </a:p>
          <a:p>
            <a:pPr>
              <a:lnSpc>
                <a:spcPct val="100000"/>
              </a:lnSpc>
              <a:spcBef>
                <a:spcPts val="0"/>
              </a:spcBef>
              <a:spcAft>
                <a:spcPts val="400"/>
              </a:spcAft>
            </a:pPr>
            <a:r>
              <a:rPr sz="819" b="0">
                <a:solidFill>
                  <a:srgbClr val="434343"/>
                </a:solidFill>
                <a:latin typeface="Noto Sans"/>
              </a:rPr>
              <a:t>En cuanto a la distribución del espectro radioeléctrico, los resultados obtenidos indican que Altán cuenta con el 100% de los MHz asignados por la banda de 700 MHz, mientras que AT&amp;T cuenta con el 100% de los MHz asignados a la banda de 800 MHz y Telcel tiene el 100% de los MHz asignados a la banda de 3,300 MHz. Para el resto de las bandas de frecuencia, los MHz se encuentran distribuidos entre Telcel y AT&amp;T.</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2" descr="ANUARIO_FIGURE_ID=C.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2" descr="Capa accesible con el texto del SVG de la figura C.2"/>
          <p:cNvSpPr txBox="1"/>
          <p:nvPr/>
        </p:nvSpPr>
        <p:spPr>
          <a:xfrm>
            <a:off x="3357372" y="1406347"/>
            <a:ext cx="5279136" cy="2664755"/>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C.2</a:t>
            </a:r>
          </a:p>
          <a:p>
            <a:pPr>
              <a:spcBef>
                <a:spcPts val="0"/>
              </a:spcBef>
              <a:spcAft>
                <a:spcPts val="0"/>
              </a:spcAft>
            </a:pPr>
            <a:r>
              <a:rPr sz="100">
                <a:solidFill>
                  <a:srgbClr val="FFFFFF"/>
                </a:solidFill>
                <a:latin typeface="Noto Sans"/>
              </a:rPr>
              <a:t>700 MHz</a:t>
            </a:r>
          </a:p>
          <a:p>
            <a:pPr>
              <a:spcBef>
                <a:spcPts val="0"/>
              </a:spcBef>
              <a:spcAft>
                <a:spcPts val="0"/>
              </a:spcAft>
            </a:pPr>
            <a:r>
              <a:rPr sz="100">
                <a:solidFill>
                  <a:srgbClr val="FFFFFF"/>
                </a:solidFill>
                <a:latin typeface="Noto Sans"/>
              </a:rPr>
              <a:t>800 MHz</a:t>
            </a:r>
          </a:p>
          <a:p>
            <a:pPr>
              <a:spcBef>
                <a:spcPts val="0"/>
              </a:spcBef>
              <a:spcAft>
                <a:spcPts val="0"/>
              </a:spcAft>
            </a:pPr>
            <a:r>
              <a:rPr sz="100">
                <a:solidFill>
                  <a:srgbClr val="FFFFFF"/>
                </a:solidFill>
                <a:latin typeface="Noto Sans"/>
              </a:rPr>
              <a:t>850 MHz</a:t>
            </a:r>
          </a:p>
          <a:p>
            <a:pPr>
              <a:spcBef>
                <a:spcPts val="0"/>
              </a:spcBef>
              <a:spcAft>
                <a:spcPts val="0"/>
              </a:spcAft>
            </a:pPr>
            <a:r>
              <a:rPr sz="100">
                <a:solidFill>
                  <a:srgbClr val="FFFFFF"/>
                </a:solidFill>
                <a:latin typeface="Noto Sans"/>
              </a:rPr>
              <a:t>1900 MHz</a:t>
            </a:r>
          </a:p>
          <a:p>
            <a:pPr>
              <a:spcBef>
                <a:spcPts val="0"/>
              </a:spcBef>
              <a:spcAft>
                <a:spcPts val="0"/>
              </a:spcAft>
            </a:pPr>
            <a:r>
              <a:rPr sz="100">
                <a:solidFill>
                  <a:srgbClr val="FFFFFF"/>
                </a:solidFill>
                <a:latin typeface="Noto Sans"/>
              </a:rPr>
              <a:t>AWS</a:t>
            </a:r>
          </a:p>
          <a:p>
            <a:pPr>
              <a:spcBef>
                <a:spcPts val="0"/>
              </a:spcBef>
              <a:spcAft>
                <a:spcPts val="0"/>
              </a:spcAft>
            </a:pPr>
            <a:r>
              <a:rPr sz="100">
                <a:solidFill>
                  <a:srgbClr val="FFFFFF"/>
                </a:solidFill>
                <a:latin typeface="Noto Sans"/>
              </a:rPr>
              <a:t>2500 MHz</a:t>
            </a:r>
          </a:p>
          <a:p>
            <a:pPr>
              <a:spcBef>
                <a:spcPts val="0"/>
              </a:spcBef>
              <a:spcAft>
                <a:spcPts val="0"/>
              </a:spcAft>
            </a:pPr>
            <a:r>
              <a:rPr sz="100">
                <a:solidFill>
                  <a:srgbClr val="FFFFFF"/>
                </a:solidFill>
                <a:latin typeface="Noto Sans"/>
              </a:rPr>
              <a:t>3300 MHz</a:t>
            </a:r>
          </a:p>
          <a:p>
            <a:pPr>
              <a:spcBef>
                <a:spcPts val="0"/>
              </a:spcBef>
              <a:spcAft>
                <a:spcPts val="0"/>
              </a:spcAft>
            </a:pPr>
            <a:r>
              <a:rPr sz="100">
                <a:solidFill>
                  <a:srgbClr val="FFFFFF"/>
                </a:solidFill>
                <a:latin typeface="Noto Sans"/>
              </a:rPr>
              <a:t>3500 MHz</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TELCEL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ALTÁN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distribución del espectro radioeléctrico a agosto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Participación respecto del total asignado en cada banda.</a:t>
            </a:r>
          </a:p>
          <a:p>
            <a:pPr>
              <a:spcBef>
                <a:spcPts val="0"/>
              </a:spcBef>
              <a:spcAft>
                <a:spcPts val="0"/>
              </a:spcAft>
            </a:pPr>
            <a:r>
              <a:rPr sz="100">
                <a:solidFill>
                  <a:srgbClr val="FFFFFF"/>
                </a:solidFill>
                <a:latin typeface="Noto Sans"/>
              </a:rPr>
              <a:t>Figura C.2.</a:t>
            </a:r>
          </a:p>
          <a:p>
            <a:pPr>
              <a:spcBef>
                <a:spcPts val="0"/>
              </a:spcBef>
              <a:spcAft>
                <a:spcPts val="0"/>
              </a:spcAft>
            </a:pPr>
            <a:r>
              <a:rPr sz="100">
                <a:solidFill>
                  <a:srgbClr val="FFFFFF"/>
                </a:solidFill>
                <a:latin typeface="Noto Sans"/>
              </a:rPr>
              <a:t>Distribución del espectro radioeléctrico por operador y banda</a:t>
            </a:r>
          </a:p>
        </p:txBody>
      </p:sp>
      <p:pic>
        <p:nvPicPr>
          <p:cNvPr id="223" name="ANUARIO_IMAGE_C_2" descr="Figura C.2. SVG vectorial sin respaldo raster"/>
          <p:cNvPicPr>
            <a:picLocks noChangeAspect="1"/>
          </p:cNvPicPr>
          <p:nvPr/>
        </p:nvPicPr>
        <p:blipFill>
          <a:blip r:embed="rId2"/>
          <a:stretch>
            <a:fillRect/>
          </a:stretch>
        </p:blipFill>
        <p:spPr>
          <a:xfrm>
            <a:off x="3357372" y="1406347"/>
            <a:ext cx="5279136" cy="2664755"/>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47</a:t>
            </a:r>
          </a:p>
        </p:txBody>
      </p:sp>
    </p:spTree>
  </p:cSld>
  <p:clrMapOvr>
    <a:masterClrMapping/>
  </p:clrMapOvr>
</p:sld>
</file>

<file path=ppt/slides/slide4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3" descr="ANUARIO_FIGURE_ID=C.3;ROLE=NARRATIVE_PLACEHOLDER"/>
          <p:cNvSpPr/>
          <p:nvPr/>
        </p:nvSpPr>
        <p:spPr>
          <a:xfrm>
            <a:off x="450900" y="94352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C.3 · USO DE LOS SERVICIOS MÓVILES</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3" descr="ANUARIO_FIGURE_ID=C.3;ROLE=FIGURE_PLACEHOLDER;FIT=CONTAIN" title="Marcador automático para Figura A.1">
            <a:extLst>
              <a:ext uri="{FF2B5EF4-FFF2-40B4-BE49-F238E27FC236}">
                <ns2:creationId id="{1C9B3570-B527-2EAE-B3A8-68A4B17C97AF}"/>
              </a:ext>
            </a:extLst>
          </p:cNvPr>
          <p:cNvSpPr/>
          <p:nvPr/>
        </p:nvSpPr>
        <p:spPr>
          <a:xfrm>
            <a:off x="3284220" y="94352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2" name="ANUARIO_TEXT_LAYER_C_3" descr="Capa accesible con el texto del SVG de la figura C.3"/>
          <p:cNvSpPr txBox="1"/>
          <p:nvPr/>
        </p:nvSpPr>
        <p:spPr>
          <a:xfrm>
            <a:off x="5712802" y="1016677"/>
            <a:ext cx="568275"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C.3</a:t>
            </a:r>
          </a:p>
          <a:p>
            <a:pPr>
              <a:spcBef>
                <a:spcPts val="0"/>
              </a:spcBef>
              <a:spcAft>
                <a:spcPts val="0"/>
              </a:spcAft>
            </a:pPr>
            <a:r>
              <a:rPr sz="100">
                <a:solidFill>
                  <a:srgbClr val="FFFFFF"/>
                </a:solidFill>
                <a:latin typeface="Noto Sans"/>
              </a:rPr>
              <a:t>Figura C.3.</a:t>
            </a:r>
          </a:p>
          <a:p>
            <a:pPr>
              <a:spcBef>
                <a:spcPts val="0"/>
              </a:spcBef>
              <a:spcAft>
                <a:spcPts val="0"/>
              </a:spcAft>
            </a:pPr>
            <a:r>
              <a:rPr sz="100">
                <a:solidFill>
                  <a:srgbClr val="FFFFFF"/>
                </a:solidFill>
                <a:latin typeface="Noto Sans"/>
              </a:rPr>
              <a:t>Porcentaje del uso de los servicios</a:t>
            </a:r>
          </a:p>
          <a:p>
            <a:pPr>
              <a:spcBef>
                <a:spcPts val="0"/>
              </a:spcBef>
              <a:spcAft>
                <a:spcPts val="0"/>
              </a:spcAft>
            </a:pPr>
            <a:r>
              <a:rPr sz="100">
                <a:solidFill>
                  <a:srgbClr val="FFFFFF"/>
                </a:solidFill>
                <a:latin typeface="Noto Sans"/>
              </a:rPr>
              <a:t>móviles de telecomunicaciones</a:t>
            </a:r>
          </a:p>
          <a:p>
            <a:pPr>
              <a:spcBef>
                <a:spcPts val="0"/>
              </a:spcBef>
              <a:spcAft>
                <a:spcPts val="0"/>
              </a:spcAft>
            </a:pPr>
            <a:r>
              <a:rPr sz="100">
                <a:solidFill>
                  <a:srgbClr val="FFFFFF"/>
                </a:solidFill>
                <a:latin typeface="Noto Sans"/>
              </a:rPr>
              <a:t>Población de 6 años o más: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a:t>
            </a:r>
          </a:p>
          <a:p>
            <a:pPr>
              <a:spcBef>
                <a:spcPts val="0"/>
              </a:spcBef>
              <a:spcAft>
                <a:spcPts val="0"/>
              </a:spcAft>
            </a:pPr>
            <a:r>
              <a:rPr sz="100">
                <a:solidFill>
                  <a:srgbClr val="FFFFFF"/>
                </a:solidFill>
                <a:latin typeface="Noto Sans"/>
              </a:rPr>
              <a:t>https://www.inegi.org.mx/programas/endutih/2025/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3" name="ANUARIO_IMAGE_C_3" descr="Figura C.3. SVG vectorial sin respaldo raster"/>
          <p:cNvPicPr>
            <a:picLocks noChangeAspect="1"/>
          </p:cNvPicPr>
          <p:nvPr/>
        </p:nvPicPr>
        <p:blipFill>
          <a:blip r:embed="rId3"/>
          <a:stretch>
            <a:fillRect/>
          </a:stretch>
        </p:blipFill>
        <p:spPr>
          <a:xfrm>
            <a:off x="5712802" y="1016677"/>
            <a:ext cx="568275" cy="1603176"/>
          </a:xfrm>
          <a:prstGeom prst="rect">
            <a:avLst/>
          </a:prstGeom>
        </p:spPr>
      </p:pic>
      <p:sp>
        <p:nvSpPr>
          <p:cNvPr id="162" name="ANUARIO_TEXT_C_4" descr="ANUARIO_FIGURE_ID=C.3;ROLE=NARRATIVE_PLACEHOLDER"/>
          <p:cNvSpPr/>
          <p:nvPr/>
        </p:nvSpPr>
        <p:spPr>
          <a:xfrm>
            <a:off x="450900" y="2784445"/>
            <a:ext cx="252990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marL="0" lvl="0" indent="0" algn="l" rtl="0">
              <a:spcBef>
                <a:spcPts val="0"/>
              </a:spcBef>
              <a:spcAft>
                <a:spcPts val="200"/>
              </a:spcAft>
              <a:buNone/>
            </a:pPr>
            <a:r>
              <a:rPr sz="850" b="1">
                <a:solidFill>
                  <a:srgbClr val="203634"/>
                </a:solidFill>
                <a:latin typeface="Noto Sans"/>
              </a:rPr>
              <a:t>FIGURA C.4 · USO POR ZONA GEOGRÁFICA</a:t>
            </a:r>
          </a:p>
          <a:p>
            <a:pPr>
              <a:lnSpc>
                <a:spcPct val="100000"/>
              </a:lnSpc>
              <a:spcBef>
                <a:spcPts val="0"/>
              </a:spcBef>
              <a:spcAft>
                <a:spcPts val="400"/>
              </a:spcAft>
            </a:pPr>
            <a:r>
              <a:rPr sz="880" b="0">
                <a:solidFill>
                  <a:srgbClr val="434343"/>
                </a:solidFill>
                <a:latin typeface="Noto Sans"/>
              </a:rPr>
              <a:t>De acuerdo con los resultados de la ENDUTIH 2025, el 82% de la población de 6 años o más en México utilizó algún servicio móvil de telecomunicaciones, ya sea telefonía, Internet o ambos.</a:t>
            </a:r>
          </a:p>
        </p:txBody>
      </p:sp>
      <p:sp>
        <p:nvSpPr>
          <p:cNvPr id="3" name="ANUARIO_FIGURE_C_4" descr="ANUARIO_FIGURE_ID=C.3;ROLE=FIGURE_PLACEHOLDER;FIT=CONTAIN" title="Marcador automático para Figura A.1">
            <a:extLst>
              <a:ext uri="{FF2B5EF4-FFF2-40B4-BE49-F238E27FC236}">
                <ns2:creationId id="{1C9B3570-B527-2EAE-B3A8-68A4B17C97AF}"/>
              </a:ext>
            </a:extLst>
          </p:cNvPr>
          <p:cNvSpPr/>
          <p:nvPr/>
        </p:nvSpPr>
        <p:spPr>
          <a:xfrm>
            <a:off x="3284220" y="2784445"/>
            <a:ext cx="5425440" cy="1749480"/>
          </a:xfrm>
          <a:prstGeom prst="roundRect">
            <a:avLst>
              <a:gd name="adj" fmla="val 4303"/>
            </a:avLst>
          </a:prstGeom>
          <a:solidFill>
            <a:srgbClr val="F7F7F7"/>
          </a:solidFill>
          <a:ln w="8890">
            <a:solidFill>
              <a:srgbClr val="E0E0E0"/>
            </a:solidFill>
          </a:ln>
          <a:effectLst>
            <a:outerShdw blurRad="214313" dist="19050" dir="4800000" algn="bl" rotWithShape="0">
              <a:srgbClr val="000000">
                <a:alpha val="40000"/>
              </a:srgbClr>
            </a:outerShdw>
          </a:effectLst>
        </p:spPr>
        <p:txBody>
          <a:bodyPr spcFirstLastPara="1" wrap="square" lIns="137160" tIns="109728" rIns="137160" bIns="109728" anchor="t" anchorCtr="0">
            <a:noAutofit/>
          </a:bodyPr>
          <a:lstStyle/>
          <a:p>
            <a:pPr algn="ctr">
              <a:spcBef>
                <a:spcPts val="0"/>
              </a:spcBef>
              <a:spcAft>
                <a:spcPts val="500"/>
              </a:spcAft>
            </a:pPr>
          </a:p>
        </p:txBody>
      </p:sp>
      <p:sp>
        <p:nvSpPr>
          <p:cNvPr id="224" name="ANUARIO_TEXT_LAYER_C_4" descr="Capa accesible con el texto del SVG de la figura C.4"/>
          <p:cNvSpPr txBox="1"/>
          <p:nvPr/>
        </p:nvSpPr>
        <p:spPr>
          <a:xfrm>
            <a:off x="4504328" y="2857597"/>
            <a:ext cx="2985224" cy="1603176"/>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C.4</a:t>
            </a:r>
          </a:p>
          <a:p>
            <a:pPr>
              <a:spcBef>
                <a:spcPts val="0"/>
              </a:spcBef>
              <a:spcAft>
                <a:spcPts val="0"/>
              </a:spcAft>
            </a:pPr>
            <a:r>
              <a:rPr sz="100">
                <a:solidFill>
                  <a:srgbClr val="FFFFFF"/>
                </a:solidFill>
                <a:latin typeface="Noto Sans"/>
              </a:rPr>
              <a:t>Figura C.4.</a:t>
            </a:r>
          </a:p>
          <a:p>
            <a:pPr>
              <a:spcBef>
                <a:spcPts val="0"/>
              </a:spcBef>
              <a:spcAft>
                <a:spcPts val="0"/>
              </a:spcAft>
            </a:pPr>
            <a:r>
              <a:rPr sz="100">
                <a:solidFill>
                  <a:srgbClr val="FFFFFF"/>
                </a:solidFill>
                <a:latin typeface="Noto Sans"/>
              </a:rPr>
              <a:t>Porcentaje del uso de los servicios móviles de telecomunicaciones por zona geográfica</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urbanas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Porcentaje de la población de 6</a:t>
            </a:r>
          </a:p>
          <a:p>
            <a:pPr>
              <a:spcBef>
                <a:spcPts val="0"/>
              </a:spcBef>
              <a:spcAft>
                <a:spcPts val="0"/>
              </a:spcAft>
            </a:pPr>
            <a:r>
              <a:rPr sz="100">
                <a:solidFill>
                  <a:srgbClr val="FFFFFF"/>
                </a:solidFill>
                <a:latin typeface="Noto Sans"/>
              </a:rPr>
              <a:t>años o más en zonas rurales</a:t>
            </a:r>
          </a:p>
          <a:p>
            <a:pPr>
              <a:spcBef>
                <a:spcPts val="0"/>
              </a:spcBef>
              <a:spcAft>
                <a:spcPts val="0"/>
              </a:spcAft>
            </a:pPr>
            <a:r>
              <a:rPr sz="100">
                <a:solidFill>
                  <a:srgbClr val="FFFFFF"/>
                </a:solidFill>
                <a:latin typeface="Noto Sans"/>
              </a:rPr>
              <a:t>que usan servicios móviles de</a:t>
            </a:r>
          </a:p>
          <a:p>
            <a:pPr>
              <a:spcBef>
                <a:spcPts val="0"/>
              </a:spcBef>
              <a:spcAft>
                <a:spcPts val="0"/>
              </a:spcAft>
            </a:pPr>
            <a:r>
              <a:rPr sz="100">
                <a:solidFill>
                  <a:srgbClr val="FFFFFF"/>
                </a:solidFill>
                <a:latin typeface="Noto Sans"/>
              </a:rPr>
              <a:t>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No hacen uso de</a:t>
            </a:r>
          </a:p>
          <a:p>
            <a:pPr>
              <a:spcBef>
                <a:spcPts val="0"/>
              </a:spcBef>
              <a:spcAft>
                <a:spcPts val="0"/>
              </a:spcAft>
            </a:pPr>
            <a:r>
              <a:rPr sz="100">
                <a:solidFill>
                  <a:srgbClr val="FFFFFF"/>
                </a:solidFill>
                <a:latin typeface="Noto Sans"/>
              </a:rPr>
              <a:t>servicios móviles</a:t>
            </a:r>
          </a:p>
          <a:p>
            <a:pPr>
              <a:spcBef>
                <a:spcPts val="0"/>
              </a:spcBef>
              <a:spcAft>
                <a:spcPts val="0"/>
              </a:spcAft>
            </a:pPr>
            <a:r>
              <a:rPr sz="100">
                <a:solidFill>
                  <a:srgbClr val="FFFFFF"/>
                </a:solidFill>
                <a:latin typeface="Noto Sans"/>
              </a:rPr>
              <a:t>Hacen uso de</a:t>
            </a:r>
          </a:p>
          <a:p>
            <a:pPr>
              <a:spcBef>
                <a:spcPts val="0"/>
              </a:spcBef>
              <a:spcAft>
                <a:spcPts val="0"/>
              </a:spcAft>
            </a:pPr>
            <a:r>
              <a:rPr sz="100">
                <a:solidFill>
                  <a:srgbClr val="FFFFFF"/>
                </a:solidFill>
                <a:latin typeface="Noto Sans"/>
              </a:rPr>
              <a:t>servicios móviles</a:t>
            </a:r>
          </a:p>
        </p:txBody>
      </p:sp>
      <p:pic>
        <p:nvPicPr>
          <p:cNvPr id="225" name="ANUARIO_IMAGE_C_4" descr="Figura C.4. SVG vectorial sin respaldo raster"/>
          <p:cNvPicPr>
            <a:picLocks noChangeAspect="1"/>
          </p:cNvPicPr>
          <p:nvPr/>
        </p:nvPicPr>
        <p:blipFill>
          <a:blip r:embed="rId2"/>
          <a:stretch>
            <a:fillRect/>
          </a:stretch>
        </p:blipFill>
        <p:spPr>
          <a:xfrm>
            <a:off x="4504328" y="2857597"/>
            <a:ext cx="2985224" cy="1603176"/>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48</a:t>
            </a:r>
          </a:p>
        </p:txBody>
      </p:sp>
    </p:spTree>
  </p:cSld>
  <p:clrMapOvr>
    <a:masterClrMapping/>
  </p:clrMapOvr>
</p:sld>
</file>

<file path=ppt/slides/slide4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5" descr="ANUARIO_FIGURE_ID=C.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C.5</a:t>
            </a:r>
          </a:p>
          <a:p>
            <a:pPr>
              <a:spcBef>
                <a:spcPts val="0"/>
              </a:spcBef>
              <a:spcAft>
                <a:spcPts val="600"/>
              </a:spcAft>
            </a:pPr>
            <a:r>
              <a:rPr sz="950" b="1">
                <a:solidFill>
                  <a:srgbClr val="203634"/>
                </a:solidFill>
                <a:latin typeface="Noto Sans"/>
              </a:rPr>
              <a:t>LÍNEAS DEL SERVICIO MÓVIL DE TELEFONÍA POR MODALIDAD</a:t>
            </a:r>
          </a:p>
          <a:p>
            <a:pPr>
              <a:lnSpc>
                <a:spcPct val="100000"/>
              </a:lnSpc>
              <a:spcBef>
                <a:spcPts val="0"/>
              </a:spcBef>
              <a:spcAft>
                <a:spcPts val="400"/>
              </a:spcAft>
            </a:pPr>
            <a:r>
              <a:rPr sz="819" b="0">
                <a:solidFill>
                  <a:srgbClr val="434343"/>
                </a:solidFill>
                <a:latin typeface="Noto Sans"/>
              </a:rPr>
              <a:t>A diciembre de 2024, había cerca de 152.5 millones de líneas del servicio móvil de telefonía a nivel nacional, lo cual representó un incremento de 5.2% con respecto de diciembre de 2023. El total de líneas en 2024, se distribuyeron por tipo de contrato de la siguiente forma: 84.5% de las líneas a prepago, 4.2% a pospago controlado, 11.0% a pospago libre2 y 0.3%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5" descr="ANUARIO_FIGURE_ID=C.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5" descr="Capa accesible con el texto del SVG de la figura C.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C.5</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0.4</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21.8</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66.6</a:t>
            </a:r>
          </a:p>
          <a:p>
            <a:pPr>
              <a:spcBef>
                <a:spcPts val="0"/>
              </a:spcBef>
              <a:spcAft>
                <a:spcPts val="0"/>
              </a:spcAft>
            </a:pPr>
            <a:r>
              <a:rPr sz="100">
                <a:solidFill>
                  <a:srgbClr val="FFFFFF"/>
                </a:solidFill>
                <a:latin typeface="Noto Sans"/>
              </a:rPr>
              <a:t>75.4</a:t>
            </a:r>
          </a:p>
          <a:p>
            <a:pPr>
              <a:spcBef>
                <a:spcPts val="0"/>
              </a:spcBef>
              <a:spcAft>
                <a:spcPts val="0"/>
              </a:spcAft>
            </a:pPr>
            <a:r>
              <a:rPr sz="100">
                <a:solidFill>
                  <a:srgbClr val="FFFFFF"/>
                </a:solidFill>
                <a:latin typeface="Noto Sans"/>
              </a:rPr>
              <a:t>83.2</a:t>
            </a:r>
          </a:p>
          <a:p>
            <a:pPr>
              <a:spcBef>
                <a:spcPts val="0"/>
              </a:spcBef>
              <a:spcAft>
                <a:spcPts val="0"/>
              </a:spcAft>
            </a:pPr>
            <a:r>
              <a:rPr sz="100">
                <a:solidFill>
                  <a:srgbClr val="FFFFFF"/>
                </a:solidFill>
                <a:latin typeface="Noto Sans"/>
              </a:rPr>
              <a:t>90.5</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106.7</a:t>
            </a:r>
          </a:p>
          <a:p>
            <a:pPr>
              <a:spcBef>
                <a:spcPts val="0"/>
              </a:spcBef>
              <a:spcAft>
                <a:spcPts val="0"/>
              </a:spcAft>
            </a:pPr>
            <a:r>
              <a:rPr sz="100">
                <a:solidFill>
                  <a:srgbClr val="FFFFFF"/>
                </a:solidFill>
                <a:latin typeface="Noto Sans"/>
              </a:rPr>
              <a:t>104.9</a:t>
            </a:r>
          </a:p>
          <a:p>
            <a:pPr>
              <a:spcBef>
                <a:spcPts val="0"/>
              </a:spcBef>
              <a:spcAft>
                <a:spcPts val="0"/>
              </a:spcAft>
            </a:pPr>
            <a:r>
              <a:rPr sz="100">
                <a:solidFill>
                  <a:srgbClr val="FFFFFF"/>
                </a:solidFill>
                <a:latin typeface="Noto Sans"/>
              </a:rPr>
              <a:t>107.7</a:t>
            </a:r>
          </a:p>
          <a:p>
            <a:pPr>
              <a:spcBef>
                <a:spcPts val="0"/>
              </a:spcBef>
              <a:spcAft>
                <a:spcPts val="0"/>
              </a:spcAft>
            </a:pPr>
            <a:r>
              <a:rPr sz="100">
                <a:solidFill>
                  <a:srgbClr val="FFFFFF"/>
                </a:solidFill>
                <a:latin typeface="Noto Sans"/>
              </a:rPr>
              <a:t>111.7</a:t>
            </a:r>
          </a:p>
          <a:p>
            <a:pPr>
              <a:spcBef>
                <a:spcPts val="0"/>
              </a:spcBef>
              <a:spcAft>
                <a:spcPts val="0"/>
              </a:spcAft>
            </a:pPr>
            <a:r>
              <a:rPr sz="100">
                <a:solidFill>
                  <a:srgbClr val="FFFFFF"/>
                </a:solidFill>
                <a:latin typeface="Noto Sans"/>
              </a:rPr>
              <a:t>114.3</a:t>
            </a:r>
          </a:p>
          <a:p>
            <a:pPr>
              <a:spcBef>
                <a:spcPts val="0"/>
              </a:spcBef>
              <a:spcAft>
                <a:spcPts val="0"/>
              </a:spcAft>
            </a:pPr>
            <a:r>
              <a:rPr sz="100">
                <a:solidFill>
                  <a:srgbClr val="FFFFFF"/>
                </a:solidFill>
                <a:latin typeface="Noto Sans"/>
              </a:rPr>
              <a:t>120.2</a:t>
            </a:r>
          </a:p>
          <a:p>
            <a:pPr>
              <a:spcBef>
                <a:spcPts val="0"/>
              </a:spcBef>
              <a:spcAft>
                <a:spcPts val="0"/>
              </a:spcAft>
            </a:pPr>
            <a:r>
              <a:rPr sz="100">
                <a:solidFill>
                  <a:srgbClr val="FFFFFF"/>
                </a:solidFill>
                <a:latin typeface="Noto Sans"/>
              </a:rPr>
              <a:t>122.0</a:t>
            </a:r>
          </a:p>
          <a:p>
            <a:pPr>
              <a:spcBef>
                <a:spcPts val="0"/>
              </a:spcBef>
              <a:spcAft>
                <a:spcPts val="0"/>
              </a:spcAft>
            </a:pPr>
            <a:r>
              <a:rPr sz="100">
                <a:solidFill>
                  <a:srgbClr val="FFFFFF"/>
                </a:solidFill>
                <a:latin typeface="Noto Sans"/>
              </a:rPr>
              <a:t>122.9</a:t>
            </a:r>
          </a:p>
          <a:p>
            <a:pPr>
              <a:spcBef>
                <a:spcPts val="0"/>
              </a:spcBef>
              <a:spcAft>
                <a:spcPts val="0"/>
              </a:spcAft>
            </a:pPr>
            <a:r>
              <a:rPr sz="100">
                <a:solidFill>
                  <a:srgbClr val="FFFFFF"/>
                </a:solidFill>
                <a:latin typeface="Noto Sans"/>
              </a:rPr>
              <a:t>126.5</a:t>
            </a:r>
          </a:p>
          <a:p>
            <a:pPr>
              <a:spcBef>
                <a:spcPts val="0"/>
              </a:spcBef>
              <a:spcAft>
                <a:spcPts val="0"/>
              </a:spcAft>
            </a:pPr>
            <a:r>
              <a:rPr sz="100">
                <a:solidFill>
                  <a:srgbClr val="FFFFFF"/>
                </a:solidFill>
                <a:latin typeface="Noto Sans"/>
              </a:rPr>
              <a:t>136.0</a:t>
            </a:r>
          </a:p>
          <a:p>
            <a:pPr>
              <a:spcBef>
                <a:spcPts val="0"/>
              </a:spcBef>
              <a:spcAft>
                <a:spcPts val="0"/>
              </a:spcAft>
            </a:pPr>
            <a:r>
              <a:rPr sz="100">
                <a:solidFill>
                  <a:srgbClr val="FFFFFF"/>
                </a:solidFill>
                <a:latin typeface="Noto Sans"/>
              </a:rPr>
              <a:t>145.0</a:t>
            </a:r>
          </a:p>
          <a:p>
            <a:pPr>
              <a:spcBef>
                <a:spcPts val="0"/>
              </a:spcBef>
              <a:spcAft>
                <a:spcPts val="0"/>
              </a:spcAft>
            </a:pPr>
            <a:r>
              <a:rPr sz="100">
                <a:solidFill>
                  <a:srgbClr val="FFFFFF"/>
                </a:solidFill>
                <a:latin typeface="Noto Sans"/>
              </a:rPr>
              <a:t>152.5</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segmento especificado</a:t>
            </a:r>
          </a:p>
          <a:p>
            <a:pPr>
              <a:spcBef>
                <a:spcPts val="0"/>
              </a:spcBef>
              <a:spcAft>
                <a:spcPts val="0"/>
              </a:spcAft>
            </a:pPr>
            <a:r>
              <a:rPr sz="100">
                <a:solidFill>
                  <a:srgbClr val="FFFFFF"/>
                </a:solidFill>
                <a:latin typeface="Noto Sans"/>
              </a:rPr>
              <a:t>Líneas totales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expresadas en millones de líneas.</a:t>
            </a:r>
          </a:p>
          <a:p>
            <a:pPr>
              <a:spcBef>
                <a:spcPts val="0"/>
              </a:spcBef>
              <a:spcAft>
                <a:spcPts val="0"/>
              </a:spcAft>
            </a:pPr>
            <a:r>
              <a:rPr sz="100">
                <a:solidFill>
                  <a:srgbClr val="FFFFFF"/>
                </a:solidFill>
                <a:latin typeface="Noto Sans"/>
              </a:rPr>
              <a:t>Figura C.5.</a:t>
            </a:r>
          </a:p>
          <a:p>
            <a:pPr>
              <a:spcBef>
                <a:spcPts val="0"/>
              </a:spcBef>
              <a:spcAft>
                <a:spcPts val="0"/>
              </a:spcAft>
            </a:pPr>
            <a:r>
              <a:rPr sz="100">
                <a:solidFill>
                  <a:srgbClr val="FFFFFF"/>
                </a:solidFill>
                <a:latin typeface="Noto Sans"/>
              </a:rPr>
              <a:t>Líneas del servicio móvil de telefonía (1990-2024) [millones]</a:t>
            </a:r>
          </a:p>
        </p:txBody>
      </p:sp>
      <p:pic>
        <p:nvPicPr>
          <p:cNvPr id="223" name="ANUARIO_IMAGE_C_5" descr="Figura C.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49</a:t>
            </a:r>
          </a:p>
        </p:txBody>
      </p:sp>
    </p:spTree>
  </p:cSld>
  <p:clrMapOvr>
    <a:masterClrMapping/>
  </p:clrMapOvr>
</p:sld>
</file>

<file path=ppt/slides/slide5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6" descr="ANUARIO_FIGURE_ID=C.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C.6</a:t>
            </a:r>
          </a:p>
          <a:p>
            <a:pPr>
              <a:spcBef>
                <a:spcPts val="0"/>
              </a:spcBef>
              <a:spcAft>
                <a:spcPts val="600"/>
              </a:spcAft>
            </a:pPr>
            <a:r>
              <a:rPr sz="950" b="1">
                <a:solidFill>
                  <a:srgbClr val="203634"/>
                </a:solidFill>
                <a:latin typeface="Noto Sans"/>
              </a:rPr>
              <a:t>LÍNEAS DEL SERVICIO MÓVIL DE TELEFONÍA POR CADA 100 HABITANTES</a:t>
            </a:r>
          </a:p>
          <a:p>
            <a:pPr>
              <a:lnSpc>
                <a:spcPct val="100000"/>
              </a:lnSpc>
              <a:spcBef>
                <a:spcPts val="0"/>
              </a:spcBef>
              <a:spcAft>
                <a:spcPts val="400"/>
              </a:spcAft>
            </a:pPr>
            <a:r>
              <a:rPr sz="880" b="0">
                <a:solidFill>
                  <a:srgbClr val="434343"/>
                </a:solidFill>
                <a:latin typeface="Noto Sans"/>
              </a:rPr>
              <a:t>Al cierre de 2024 había 115 líneas del servicio móvil de telefonía por cada 100 habitantes a nivel nacional, lo cual representó un incremento de poco más del 27.8%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6" descr="ANUARIO_FIGURE_ID=C.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6" descr="Capa accesible con el texto del SVG de la figura C.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C.6</a:t>
            </a:r>
          </a:p>
          <a:p>
            <a:pPr>
              <a:spcBef>
                <a:spcPts val="0"/>
              </a:spcBef>
              <a:spcAft>
                <a:spcPts val="0"/>
              </a:spcAft>
            </a:pPr>
            <a:r>
              <a:rPr sz="100">
                <a:solidFill>
                  <a:srgbClr val="FFFFFF"/>
                </a:solidFill>
                <a:latin typeface="Noto Sans"/>
              </a:rPr>
              <a:t>1990</a:t>
            </a:r>
          </a:p>
          <a:p>
            <a:pPr>
              <a:spcBef>
                <a:spcPts val="0"/>
              </a:spcBef>
              <a:spcAft>
                <a:spcPts val="0"/>
              </a:spcAft>
            </a:pPr>
            <a:r>
              <a:rPr sz="100">
                <a:solidFill>
                  <a:srgbClr val="FFFFFF"/>
                </a:solidFill>
                <a:latin typeface="Noto Sans"/>
              </a:rPr>
              <a:t>1991</a:t>
            </a:r>
          </a:p>
          <a:p>
            <a:pPr>
              <a:spcBef>
                <a:spcPts val="0"/>
              </a:spcBef>
              <a:spcAft>
                <a:spcPts val="0"/>
              </a:spcAft>
            </a:pPr>
            <a:r>
              <a:rPr sz="100">
                <a:solidFill>
                  <a:srgbClr val="FFFFFF"/>
                </a:solidFill>
                <a:latin typeface="Noto Sans"/>
              </a:rPr>
              <a:t>1992</a:t>
            </a:r>
          </a:p>
          <a:p>
            <a:pPr>
              <a:spcBef>
                <a:spcPts val="0"/>
              </a:spcBef>
              <a:spcAft>
                <a:spcPts val="0"/>
              </a:spcAft>
            </a:pPr>
            <a:r>
              <a:rPr sz="100">
                <a:solidFill>
                  <a:srgbClr val="FFFFFF"/>
                </a:solidFill>
                <a:latin typeface="Noto Sans"/>
              </a:rPr>
              <a:t>1993</a:t>
            </a:r>
          </a:p>
          <a:p>
            <a:pPr>
              <a:spcBef>
                <a:spcPts val="0"/>
              </a:spcBef>
              <a:spcAft>
                <a:spcPts val="0"/>
              </a:spcAft>
            </a:pPr>
            <a:r>
              <a:rPr sz="100">
                <a:solidFill>
                  <a:srgbClr val="FFFFFF"/>
                </a:solidFill>
                <a:latin typeface="Noto Sans"/>
              </a:rPr>
              <a:t>1994</a:t>
            </a:r>
          </a:p>
          <a:p>
            <a:pPr>
              <a:spcBef>
                <a:spcPts val="0"/>
              </a:spcBef>
              <a:spcAft>
                <a:spcPts val="0"/>
              </a:spcAft>
            </a:pPr>
            <a:r>
              <a:rPr sz="100">
                <a:solidFill>
                  <a:srgbClr val="FFFFFF"/>
                </a:solidFill>
                <a:latin typeface="Noto Sans"/>
              </a:rPr>
              <a:t>1995</a:t>
            </a:r>
          </a:p>
          <a:p>
            <a:pPr>
              <a:spcBef>
                <a:spcPts val="0"/>
              </a:spcBef>
              <a:spcAft>
                <a:spcPts val="0"/>
              </a:spcAft>
            </a:pPr>
            <a:r>
              <a:rPr sz="100">
                <a:solidFill>
                  <a:srgbClr val="FFFFFF"/>
                </a:solidFill>
                <a:latin typeface="Noto Sans"/>
              </a:rPr>
              <a:t>1996</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C.6.</a:t>
            </a:r>
          </a:p>
          <a:p>
            <a:pPr>
              <a:spcBef>
                <a:spcPts val="0"/>
              </a:spcBef>
              <a:spcAft>
                <a:spcPts val="0"/>
              </a:spcAft>
            </a:pPr>
            <a:r>
              <a:rPr sz="100">
                <a:solidFill>
                  <a:srgbClr val="FFFFFF"/>
                </a:solidFill>
                <a:latin typeface="Noto Sans"/>
              </a:rPr>
              <a:t>Teledensidad del servicio móvil de telefonía</a:t>
            </a:r>
          </a:p>
        </p:txBody>
      </p:sp>
      <p:pic>
        <p:nvPicPr>
          <p:cNvPr id="223" name="ANUARIO_IMAGE_C_6" descr="Figura C.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50</a:t>
            </a:r>
          </a:p>
        </p:txBody>
      </p:sp>
    </p:spTree>
  </p:cSld>
  <p:clrMapOvr>
    <a:masterClrMapping/>
  </p:clrMapOvr>
</p:sld>
</file>

<file path=ppt/slides/slide5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7" descr="ANUARIO_FIGURE_ID=C.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C.7</a:t>
            </a:r>
          </a:p>
          <a:p>
            <a:pPr>
              <a:spcBef>
                <a:spcPts val="0"/>
              </a:spcBef>
              <a:spcAft>
                <a:spcPts val="600"/>
              </a:spcAft>
            </a:pPr>
            <a:r>
              <a:rPr sz="950" b="1">
                <a:solidFill>
                  <a:srgbClr val="203634"/>
                </a:solidFill>
                <a:latin typeface="Noto Sans"/>
              </a:rPr>
              <a:t>LÍNEAS DEL SERVICIO MÓVIL DE TELEFONÍA POR CADA 100 HABITANTES POR ENTIDAD FEDERATIVA</a:t>
            </a:r>
          </a:p>
          <a:p>
            <a:pPr>
              <a:lnSpc>
                <a:spcPct val="100000"/>
              </a:lnSpc>
              <a:spcBef>
                <a:spcPts val="0"/>
              </a:spcBef>
              <a:spcAft>
                <a:spcPts val="400"/>
              </a:spcAft>
            </a:pPr>
            <a:r>
              <a:rPr sz="819" b="0">
                <a:solidFill>
                  <a:srgbClr val="434343"/>
                </a:solidFill>
                <a:latin typeface="Noto Sans"/>
              </a:rPr>
              <a:t>Dentro de la información por entidad federativa, la entidad con mayor cantidad de líneas del servicio móvil de telefonía por cada 100 habitantes fue la Ciudad de México con 130, seguida de Sonora con 127 y Baja California Sur con 126. En cambio, Guerrero, Oaxaca y Chiapas fueron las entidades federativas con la menor cantidad de líneas por cada 100 habitantes con 103, 98 y 83,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7" descr="ANUARIO_FIGURE_ID=C.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7" descr="Capa accesible con el texto del SVG de la figura C.7"/>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C.7</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83 a 111</a:t>
            </a:r>
          </a:p>
          <a:p>
            <a:pPr>
              <a:spcBef>
                <a:spcPts val="0"/>
              </a:spcBef>
              <a:spcAft>
                <a:spcPts val="0"/>
              </a:spcAft>
            </a:pPr>
            <a:r>
              <a:rPr sz="100">
                <a:solidFill>
                  <a:srgbClr val="FFFFFF"/>
                </a:solidFill>
                <a:latin typeface="Noto Sans"/>
              </a:rPr>
              <a:t>111 a 115</a:t>
            </a:r>
          </a:p>
          <a:p>
            <a:pPr>
              <a:spcBef>
                <a:spcPts val="0"/>
              </a:spcBef>
              <a:spcAft>
                <a:spcPts val="0"/>
              </a:spcAft>
            </a:pPr>
            <a:r>
              <a:rPr sz="100">
                <a:solidFill>
                  <a:srgbClr val="FFFFFF"/>
                </a:solidFill>
                <a:latin typeface="Noto Sans"/>
              </a:rPr>
              <a:t>115 a 117</a:t>
            </a:r>
          </a:p>
          <a:p>
            <a:pPr>
              <a:spcBef>
                <a:spcPts val="0"/>
              </a:spcBef>
              <a:spcAft>
                <a:spcPts val="0"/>
              </a:spcAft>
            </a:pPr>
            <a:r>
              <a:rPr sz="100">
                <a:solidFill>
                  <a:srgbClr val="FFFFFF"/>
                </a:solidFill>
                <a:latin typeface="Noto Sans"/>
              </a:rPr>
              <a:t>117 a 120</a:t>
            </a:r>
          </a:p>
          <a:p>
            <a:pPr>
              <a:spcBef>
                <a:spcPts val="0"/>
              </a:spcBef>
              <a:spcAft>
                <a:spcPts val="0"/>
              </a:spcAft>
            </a:pPr>
            <a:r>
              <a:rPr sz="100">
                <a:solidFill>
                  <a:srgbClr val="FFFFFF"/>
                </a:solidFill>
                <a:latin typeface="Noto Sans"/>
              </a:rPr>
              <a:t>120 a 130</a:t>
            </a:r>
          </a:p>
          <a:p>
            <a:pPr>
              <a:spcBef>
                <a:spcPts val="0"/>
              </a:spcBef>
              <a:spcAft>
                <a:spcPts val="0"/>
              </a:spcAft>
            </a:pPr>
            <a:r>
              <a:rPr sz="100">
                <a:solidFill>
                  <a:srgbClr val="FFFFFF"/>
                </a:solidFill>
                <a:latin typeface="Noto Sans"/>
              </a:rPr>
              <a:t>Figura C.7.</a:t>
            </a:r>
          </a:p>
          <a:p>
            <a:pPr>
              <a:spcBef>
                <a:spcPts val="0"/>
              </a:spcBef>
              <a:spcAft>
                <a:spcPts val="0"/>
              </a:spcAft>
            </a:pPr>
            <a:r>
              <a:rPr sz="100">
                <a:solidFill>
                  <a:srgbClr val="FFFFFF"/>
                </a:solidFill>
                <a:latin typeface="Noto Sans"/>
              </a:rPr>
              <a:t>Líneas del servicio móvil de telefonía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indicador nacional proviene de la serie nacional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4.5%</a:t>
            </a:r>
          </a:p>
        </p:txBody>
      </p:sp>
      <p:pic>
        <p:nvPicPr>
          <p:cNvPr id="223" name="ANUARIO_IMAGE_C_7" descr="Figura C.7.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51</a:t>
            </a:r>
          </a:p>
        </p:txBody>
      </p:sp>
    </p:spTree>
  </p:cSld>
  <p:clrMapOvr>
    <a:masterClrMapping/>
  </p:clrMapOvr>
</p:sld>
</file>

<file path=ppt/slides/slide5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8" descr="ANUARIO_FIGURE_ID=C.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C.8</a:t>
            </a:r>
          </a:p>
          <a:p>
            <a:pPr>
              <a:spcBef>
                <a:spcPts val="0"/>
              </a:spcBef>
              <a:spcAft>
                <a:spcPts val="600"/>
              </a:spcAft>
            </a:pPr>
            <a:r>
              <a:rPr sz="950" b="1">
                <a:solidFill>
                  <a:srgbClr val="203634"/>
                </a:solidFill>
                <a:latin typeface="Noto Sans"/>
              </a:rPr>
              <a:t>TRÁFICO DE MINUTOS DEL SERVICIO MÓVIL DE TELEFONÍA</a:t>
            </a:r>
          </a:p>
          <a:p>
            <a:pPr>
              <a:lnSpc>
                <a:spcPct val="100000"/>
              </a:lnSpc>
              <a:spcBef>
                <a:spcPts val="0"/>
              </a:spcBef>
              <a:spcAft>
                <a:spcPts val="400"/>
              </a:spcAft>
            </a:pPr>
            <a:r>
              <a:rPr sz="880" b="0">
                <a:solidFill>
                  <a:srgbClr val="434343"/>
                </a:solidFill>
                <a:latin typeface="Noto Sans"/>
              </a:rPr>
              <a:t>En el periodo de 2023 a 2024, el tráfico de minutos del servicio móvil de telefonía tuvo una disminución del 2.95%, al pasar de 308,452 millones de minutos en 2023 a 299,342 millones de minutos en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8" descr="ANUARIO_FIGURE_ID=C.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8" descr="Capa accesible con el texto del SVG de la figura C.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C.8</a:t>
            </a:r>
          </a:p>
          <a:p>
            <a:pPr>
              <a:spcBef>
                <a:spcPts val="0"/>
              </a:spcBef>
              <a:spcAft>
                <a:spcPts val="0"/>
              </a:spcAft>
            </a:pPr>
            <a:r>
              <a:rPr sz="100">
                <a:solidFill>
                  <a:srgbClr val="FFFFFF"/>
                </a:solidFill>
                <a:latin typeface="Noto Sans"/>
              </a:rPr>
              <a:t>1997</a:t>
            </a:r>
          </a:p>
          <a:p>
            <a:pPr>
              <a:spcBef>
                <a:spcPts val="0"/>
              </a:spcBef>
              <a:spcAft>
                <a:spcPts val="0"/>
              </a:spcAft>
            </a:pPr>
            <a:r>
              <a:rPr sz="100">
                <a:solidFill>
                  <a:srgbClr val="FFFFFF"/>
                </a:solidFill>
                <a:latin typeface="Noto Sans"/>
              </a:rPr>
              <a:t>1998</a:t>
            </a:r>
          </a:p>
          <a:p>
            <a:pPr>
              <a:spcBef>
                <a:spcPts val="0"/>
              </a:spcBef>
              <a:spcAft>
                <a:spcPts val="0"/>
              </a:spcAft>
            </a:pPr>
            <a:r>
              <a:rPr sz="100">
                <a:solidFill>
                  <a:srgbClr val="FFFFFF"/>
                </a:solidFill>
                <a:latin typeface="Noto Sans"/>
              </a:rPr>
              <a:t>1999</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2001</a:t>
            </a:r>
          </a:p>
          <a:p>
            <a:pPr>
              <a:spcBef>
                <a:spcPts val="0"/>
              </a:spcBef>
              <a:spcAft>
                <a:spcPts val="0"/>
              </a:spcAft>
            </a:pPr>
            <a:r>
              <a:rPr sz="100">
                <a:solidFill>
                  <a:srgbClr val="FFFFFF"/>
                </a:solidFill>
                <a:latin typeface="Noto Sans"/>
              </a:rPr>
              <a:t>2002</a:t>
            </a:r>
          </a:p>
          <a:p>
            <a:pPr>
              <a:spcBef>
                <a:spcPts val="0"/>
              </a:spcBef>
              <a:spcAft>
                <a:spcPts val="0"/>
              </a:spcAft>
            </a:pPr>
            <a:r>
              <a:rPr sz="100">
                <a:solidFill>
                  <a:srgbClr val="FFFFFF"/>
                </a:solidFill>
                <a:latin typeface="Noto Sans"/>
              </a:rPr>
              <a:t>2003</a:t>
            </a:r>
          </a:p>
          <a:p>
            <a:pPr>
              <a:spcBef>
                <a:spcPts val="0"/>
              </a:spcBef>
              <a:spcAft>
                <a:spcPts val="0"/>
              </a:spcAft>
            </a:pPr>
            <a:r>
              <a:rPr sz="100">
                <a:solidFill>
                  <a:srgbClr val="FFFFFF"/>
                </a:solidFill>
                <a:latin typeface="Noto Sans"/>
              </a:rPr>
              <a:t>2004</a:t>
            </a:r>
          </a:p>
          <a:p>
            <a:pPr>
              <a:spcBef>
                <a:spcPts val="0"/>
              </a:spcBef>
              <a:spcAft>
                <a:spcPts val="0"/>
              </a:spcAft>
            </a:pPr>
            <a:r>
              <a:rPr sz="100">
                <a:solidFill>
                  <a:srgbClr val="FFFFFF"/>
                </a:solidFill>
                <a:latin typeface="Noto Sans"/>
              </a:rPr>
              <a:t>2005</a:t>
            </a:r>
          </a:p>
          <a:p>
            <a:pPr>
              <a:spcBef>
                <a:spcPts val="0"/>
              </a:spcBef>
              <a:spcAft>
                <a:spcPts val="0"/>
              </a:spcAft>
            </a:pPr>
            <a:r>
              <a:rPr sz="100">
                <a:solidFill>
                  <a:srgbClr val="FFFFFF"/>
                </a:solidFill>
                <a:latin typeface="Noto Sans"/>
              </a:rPr>
              <a:t>2006</a:t>
            </a:r>
          </a:p>
          <a:p>
            <a:pPr>
              <a:spcBef>
                <a:spcPts val="0"/>
              </a:spcBef>
              <a:spcAft>
                <a:spcPts val="0"/>
              </a:spcAft>
            </a:pPr>
            <a:r>
              <a:rPr sz="100">
                <a:solidFill>
                  <a:srgbClr val="FFFFFF"/>
                </a:solidFill>
                <a:latin typeface="Noto Sans"/>
              </a:rPr>
              <a:t>2007</a:t>
            </a:r>
          </a:p>
          <a:p>
            <a:pPr>
              <a:spcBef>
                <a:spcPts val="0"/>
              </a:spcBef>
              <a:spcAft>
                <a:spcPts val="0"/>
              </a:spcAft>
            </a:pPr>
            <a:r>
              <a:rPr sz="100">
                <a:solidFill>
                  <a:srgbClr val="FFFFFF"/>
                </a:solidFill>
                <a:latin typeface="Noto Sans"/>
              </a:rPr>
              <a:t>2008</a:t>
            </a:r>
          </a:p>
          <a:p>
            <a:pPr>
              <a:spcBef>
                <a:spcPts val="0"/>
              </a:spcBef>
              <a:spcAft>
                <a:spcPts val="0"/>
              </a:spcAft>
            </a:pPr>
            <a:r>
              <a:rPr sz="100">
                <a:solidFill>
                  <a:srgbClr val="FFFFFF"/>
                </a:solidFill>
                <a:latin typeface="Noto Sans"/>
              </a:rPr>
              <a:t>2009</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50000</a:t>
            </a:r>
          </a:p>
          <a:p>
            <a:pPr>
              <a:spcBef>
                <a:spcPts val="0"/>
              </a:spcBef>
              <a:spcAft>
                <a:spcPts val="0"/>
              </a:spcAft>
            </a:pPr>
            <a:r>
              <a:rPr sz="100">
                <a:solidFill>
                  <a:srgbClr val="FFFFFF"/>
                </a:solidFill>
                <a:latin typeface="Noto Sans"/>
              </a:rPr>
              <a:t>100000</a:t>
            </a:r>
          </a:p>
          <a:p>
            <a:pPr>
              <a:spcBef>
                <a:spcPts val="0"/>
              </a:spcBef>
              <a:spcAft>
                <a:spcPts val="0"/>
              </a:spcAft>
            </a:pPr>
            <a:r>
              <a:rPr sz="100">
                <a:solidFill>
                  <a:srgbClr val="FFFFFF"/>
                </a:solidFill>
                <a:latin typeface="Noto Sans"/>
              </a:rPr>
              <a:t>150000</a:t>
            </a:r>
          </a:p>
          <a:p>
            <a:pPr>
              <a:spcBef>
                <a:spcPts val="0"/>
              </a:spcBef>
              <a:spcAft>
                <a:spcPts val="0"/>
              </a:spcAft>
            </a:pPr>
            <a:r>
              <a:rPr sz="100">
                <a:solidFill>
                  <a:srgbClr val="FFFFFF"/>
                </a:solidFill>
                <a:latin typeface="Noto Sans"/>
              </a:rPr>
              <a:t>200000</a:t>
            </a:r>
          </a:p>
          <a:p>
            <a:pPr>
              <a:spcBef>
                <a:spcPts val="0"/>
              </a:spcBef>
              <a:spcAft>
                <a:spcPts val="0"/>
              </a:spcAft>
            </a:pPr>
            <a:r>
              <a:rPr sz="100">
                <a:solidFill>
                  <a:srgbClr val="FFFFFF"/>
                </a:solidFill>
                <a:latin typeface="Noto Sans"/>
              </a:rPr>
              <a:t>250000</a:t>
            </a:r>
          </a:p>
          <a:p>
            <a:pPr>
              <a:spcBef>
                <a:spcPts val="0"/>
              </a:spcBef>
              <a:spcAft>
                <a:spcPts val="0"/>
              </a:spcAft>
            </a:pPr>
            <a:r>
              <a:rPr sz="100">
                <a:solidFill>
                  <a:srgbClr val="FFFFFF"/>
                </a:solidFill>
                <a:latin typeface="Noto Sans"/>
              </a:rPr>
              <a:t>300000</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299,342</a:t>
            </a:r>
          </a:p>
          <a:p>
            <a:pPr>
              <a:spcBef>
                <a:spcPts val="0"/>
              </a:spcBef>
              <a:spcAft>
                <a:spcPts val="0"/>
              </a:spcAft>
            </a:pPr>
            <a:r>
              <a:rPr sz="100">
                <a:solidFill>
                  <a:srgbClr val="FFFFFF"/>
                </a:solidFill>
                <a:latin typeface="Noto Sans"/>
              </a:rPr>
              <a:t>Millones de minutos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Suma anual del tráfico de salida, en millones de minutos.</a:t>
            </a:r>
          </a:p>
          <a:p>
            <a:pPr>
              <a:spcBef>
                <a:spcPts val="0"/>
              </a:spcBef>
              <a:spcAft>
                <a:spcPts val="0"/>
              </a:spcAft>
            </a:pPr>
            <a:r>
              <a:rPr sz="100">
                <a:solidFill>
                  <a:srgbClr val="FFFFFF"/>
                </a:solidFill>
                <a:latin typeface="Noto Sans"/>
              </a:rPr>
              <a:t>Figura C.8.</a:t>
            </a:r>
          </a:p>
          <a:p>
            <a:pPr>
              <a:spcBef>
                <a:spcPts val="0"/>
              </a:spcBef>
              <a:spcAft>
                <a:spcPts val="0"/>
              </a:spcAft>
            </a:pPr>
            <a:r>
              <a:rPr sz="100">
                <a:solidFill>
                  <a:srgbClr val="FFFFFF"/>
                </a:solidFill>
                <a:latin typeface="Noto Sans"/>
              </a:rPr>
              <a:t>Tráfico de salida del servicio móvil de telefonía (1997-2024)</a:t>
            </a:r>
          </a:p>
        </p:txBody>
      </p:sp>
      <p:pic>
        <p:nvPicPr>
          <p:cNvPr id="223" name="ANUARIO_IMAGE_C_8" descr="Figura C.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52</a:t>
            </a:r>
          </a:p>
        </p:txBody>
      </p:sp>
    </p:spTree>
  </p:cSld>
  <p:clrMapOvr>
    <a:masterClrMapping/>
  </p:clrMapOvr>
</p:sld>
</file>

<file path=ppt/slides/slide5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9" descr="ANUARIO_FIGURE_ID=C.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C.9</a:t>
            </a:r>
          </a:p>
          <a:p>
            <a:pPr>
              <a:spcBef>
                <a:spcPts val="0"/>
              </a:spcBef>
              <a:spcAft>
                <a:spcPts val="600"/>
              </a:spcAft>
            </a:pPr>
            <a:r>
              <a:rPr sz="950" b="1">
                <a:solidFill>
                  <a:srgbClr val="203634"/>
                </a:solidFill>
                <a:latin typeface="Noto Sans"/>
              </a:rPr>
              <a:t>PARTICIPACIÓN DE MERCADO DEL SERVICIO MÓVIL DE TELEFONÍA</a:t>
            </a:r>
          </a:p>
          <a:p>
            <a:pPr>
              <a:lnSpc>
                <a:spcPct val="100000"/>
              </a:lnSpc>
              <a:spcBef>
                <a:spcPts val="0"/>
              </a:spcBef>
              <a:spcAft>
                <a:spcPts val="400"/>
              </a:spcAft>
            </a:pPr>
            <a:r>
              <a:rPr sz="700" b="0">
                <a:solidFill>
                  <a:srgbClr val="434343"/>
                </a:solidFill>
                <a:latin typeface="Noto Sans"/>
              </a:rPr>
              <a:t>En cuanto al consumo de este servicio, se observó que en el año 2023 los MOU fueron en promedio 185 minutos mensuales. Así también, en este año se registró un promedio de 8 mensajes de texto (SMS) enviados mensualmente por cada línea.</a:t>
            </a:r>
          </a:p>
          <a:p>
            <a:pPr>
              <a:lnSpc>
                <a:spcPct val="100000"/>
              </a:lnSpc>
              <a:spcBef>
                <a:spcPts val="0"/>
              </a:spcBef>
              <a:spcAft>
                <a:spcPts val="400"/>
              </a:spcAft>
            </a:pPr>
            <a:r>
              <a:rPr sz="700" b="0">
                <a:solidFill>
                  <a:srgbClr val="434343"/>
                </a:solidFill>
                <a:latin typeface="Noto Sans"/>
              </a:rPr>
              <a:t>Con respecto de la participación de mercado del servicio móvil de telefonía, se observa que América Móvil perdió participación, al pasar de 68.86% en 2013 a 54.95% en 2024, que equivale a una reducción de más de 13.91 puntos porcentuales; mientras que, de 2015 a 2024, AT&amp;T incrementó su participación en el mercado en 6.93 puntos porcentuales. Cabe mencionar que, a partir de 2015, la categoría Otros se compone únicamente por Operadores Móviles Virtuales (OMV), los cuales aumentaron su participación en el mercado un 3.73% en el año 2024 respecto al año inmediato anterior.</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9" descr="ANUARIO_FIGURE_ID=C.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9" descr="Capa accesible con el texto del SVG de la figura C.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C.9</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68.86%</a:t>
            </a:r>
          </a:p>
          <a:p>
            <a:pPr>
              <a:spcBef>
                <a:spcPts val="0"/>
              </a:spcBef>
              <a:spcAft>
                <a:spcPts val="0"/>
              </a:spcAft>
            </a:pPr>
            <a:r>
              <a:rPr sz="100">
                <a:solidFill>
                  <a:srgbClr val="FFFFFF"/>
                </a:solidFill>
                <a:latin typeface="Noto Sans"/>
              </a:rPr>
              <a:t>20.51%</a:t>
            </a:r>
          </a:p>
          <a:p>
            <a:pPr>
              <a:spcBef>
                <a:spcPts val="0"/>
              </a:spcBef>
              <a:spcAft>
                <a:spcPts val="0"/>
              </a:spcAft>
            </a:pPr>
            <a:r>
              <a:rPr sz="100">
                <a:solidFill>
                  <a:srgbClr val="FFFFFF"/>
                </a:solidFill>
                <a:latin typeface="Noto Sans"/>
              </a:rPr>
              <a:t>10.63%</a:t>
            </a:r>
          </a:p>
          <a:p>
            <a:pPr>
              <a:spcBef>
                <a:spcPts val="0"/>
              </a:spcBef>
              <a:spcAft>
                <a:spcPts val="0"/>
              </a:spcAft>
            </a:pPr>
            <a:r>
              <a:rPr sz="100">
                <a:solidFill>
                  <a:srgbClr val="FFFFFF"/>
                </a:solidFill>
                <a:latin typeface="Noto Sans"/>
              </a:rPr>
              <a:t>67.62%</a:t>
            </a:r>
          </a:p>
          <a:p>
            <a:pPr>
              <a:spcBef>
                <a:spcPts val="0"/>
              </a:spcBef>
              <a:spcAft>
                <a:spcPts val="0"/>
              </a:spcAft>
            </a:pPr>
            <a:r>
              <a:rPr sz="100">
                <a:solidFill>
                  <a:srgbClr val="FFFFFF"/>
                </a:solidFill>
                <a:latin typeface="Noto Sans"/>
              </a:rPr>
              <a:t>20.65%</a:t>
            </a:r>
          </a:p>
          <a:p>
            <a:pPr>
              <a:spcBef>
                <a:spcPts val="0"/>
              </a:spcBef>
              <a:spcAft>
                <a:spcPts val="0"/>
              </a:spcAft>
            </a:pPr>
            <a:r>
              <a:rPr sz="100">
                <a:solidFill>
                  <a:srgbClr val="FFFFFF"/>
                </a:solidFill>
                <a:latin typeface="Noto Sans"/>
              </a:rPr>
              <a:t>11.59%</a:t>
            </a:r>
          </a:p>
          <a:p>
            <a:pPr>
              <a:spcBef>
                <a:spcPts val="0"/>
              </a:spcBef>
              <a:spcAft>
                <a:spcPts val="0"/>
              </a:spcAft>
            </a:pPr>
            <a:r>
              <a:rPr sz="100">
                <a:solidFill>
                  <a:srgbClr val="FFFFFF"/>
                </a:solidFill>
                <a:latin typeface="Noto Sans"/>
              </a:rPr>
              <a:t>0.14%</a:t>
            </a:r>
          </a:p>
          <a:p>
            <a:pPr>
              <a:spcBef>
                <a:spcPts val="0"/>
              </a:spcBef>
              <a:spcAft>
                <a:spcPts val="0"/>
              </a:spcAft>
            </a:pPr>
            <a:r>
              <a:rPr sz="100">
                <a:solidFill>
                  <a:srgbClr val="FFFFFF"/>
                </a:solidFill>
                <a:latin typeface="Noto Sans"/>
              </a:rPr>
              <a:t>68.02%</a:t>
            </a:r>
          </a:p>
          <a:p>
            <a:pPr>
              <a:spcBef>
                <a:spcPts val="0"/>
              </a:spcBef>
              <a:spcAft>
                <a:spcPts val="0"/>
              </a:spcAft>
            </a:pPr>
            <a:r>
              <a:rPr sz="100">
                <a:solidFill>
                  <a:srgbClr val="FFFFFF"/>
                </a:solidFill>
                <a:latin typeface="Noto Sans"/>
              </a:rPr>
              <a:t>23.12%</a:t>
            </a:r>
          </a:p>
          <a:p>
            <a:pPr>
              <a:spcBef>
                <a:spcPts val="0"/>
              </a:spcBef>
              <a:spcAft>
                <a:spcPts val="0"/>
              </a:spcAft>
            </a:pPr>
            <a:r>
              <a:rPr sz="100">
                <a:solidFill>
                  <a:srgbClr val="FFFFFF"/>
                </a:solidFill>
                <a:latin typeface="Noto Sans"/>
              </a:rPr>
              <a:t>8.06%</a:t>
            </a:r>
          </a:p>
          <a:p>
            <a:pPr>
              <a:spcBef>
                <a:spcPts val="0"/>
              </a:spcBef>
              <a:spcAft>
                <a:spcPts val="0"/>
              </a:spcAft>
            </a:pPr>
            <a:r>
              <a:rPr sz="100">
                <a:solidFill>
                  <a:srgbClr val="FFFFFF"/>
                </a:solidFill>
                <a:latin typeface="Noto Sans"/>
              </a:rPr>
              <a:t>0.80%</a:t>
            </a:r>
          </a:p>
          <a:p>
            <a:pPr>
              <a:spcBef>
                <a:spcPts val="0"/>
              </a:spcBef>
              <a:spcAft>
                <a:spcPts val="0"/>
              </a:spcAft>
            </a:pPr>
            <a:r>
              <a:rPr sz="100">
                <a:solidFill>
                  <a:srgbClr val="FFFFFF"/>
                </a:solidFill>
                <a:latin typeface="Noto Sans"/>
              </a:rPr>
              <a:t>64.92%</a:t>
            </a:r>
          </a:p>
          <a:p>
            <a:pPr>
              <a:spcBef>
                <a:spcPts val="0"/>
              </a:spcBef>
              <a:spcAft>
                <a:spcPts val="0"/>
              </a:spcAft>
            </a:pPr>
            <a:r>
              <a:rPr sz="100">
                <a:solidFill>
                  <a:srgbClr val="FFFFFF"/>
                </a:solidFill>
                <a:latin typeface="Noto Sans"/>
              </a:rPr>
              <a:t>23.32%</a:t>
            </a:r>
          </a:p>
          <a:p>
            <a:pPr>
              <a:spcBef>
                <a:spcPts val="0"/>
              </a:spcBef>
              <a:spcAft>
                <a:spcPts val="0"/>
              </a:spcAft>
            </a:pPr>
            <a:r>
              <a:rPr sz="100">
                <a:solidFill>
                  <a:srgbClr val="FFFFFF"/>
                </a:solidFill>
                <a:latin typeface="Noto Sans"/>
              </a:rPr>
              <a:t>10.66%</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64.26%</a:t>
            </a:r>
          </a:p>
          <a:p>
            <a:pPr>
              <a:spcBef>
                <a:spcPts val="0"/>
              </a:spcBef>
              <a:spcAft>
                <a:spcPts val="0"/>
              </a:spcAft>
            </a:pPr>
            <a:r>
              <a:rPr sz="100">
                <a:solidFill>
                  <a:srgbClr val="FFFFFF"/>
                </a:solidFill>
                <a:latin typeface="Noto Sans"/>
              </a:rPr>
              <a:t>21.43%</a:t>
            </a:r>
          </a:p>
          <a:p>
            <a:pPr>
              <a:spcBef>
                <a:spcPts val="0"/>
              </a:spcBef>
              <a:spcAft>
                <a:spcPts val="0"/>
              </a:spcAft>
            </a:pPr>
            <a:r>
              <a:rPr sz="100">
                <a:solidFill>
                  <a:srgbClr val="FFFFFF"/>
                </a:solidFill>
                <a:latin typeface="Noto Sans"/>
              </a:rPr>
              <a:t>13.02%</a:t>
            </a:r>
          </a:p>
          <a:p>
            <a:pPr>
              <a:spcBef>
                <a:spcPts val="0"/>
              </a:spcBef>
              <a:spcAft>
                <a:spcPts val="0"/>
              </a:spcAft>
            </a:pPr>
            <a:r>
              <a:rPr sz="100">
                <a:solidFill>
                  <a:srgbClr val="FFFFFF"/>
                </a:solidFill>
                <a:latin typeface="Noto Sans"/>
              </a:rPr>
              <a:t>1.29%</a:t>
            </a:r>
          </a:p>
          <a:p>
            <a:pPr>
              <a:spcBef>
                <a:spcPts val="0"/>
              </a:spcBef>
              <a:spcAft>
                <a:spcPts val="0"/>
              </a:spcAft>
            </a:pPr>
            <a:r>
              <a:rPr sz="100">
                <a:solidFill>
                  <a:srgbClr val="FFFFFF"/>
                </a:solidFill>
                <a:latin typeface="Noto Sans"/>
              </a:rPr>
              <a:t>62.49%</a:t>
            </a:r>
          </a:p>
          <a:p>
            <a:pPr>
              <a:spcBef>
                <a:spcPts val="0"/>
              </a:spcBef>
              <a:spcAft>
                <a:spcPts val="0"/>
              </a:spcAft>
            </a:pPr>
            <a:r>
              <a:rPr sz="100">
                <a:solidFill>
                  <a:srgbClr val="FFFFFF"/>
                </a:solidFill>
                <a:latin typeface="Noto Sans"/>
              </a:rPr>
              <a:t>21.22%</a:t>
            </a:r>
          </a:p>
          <a:p>
            <a:pPr>
              <a:spcBef>
                <a:spcPts val="0"/>
              </a:spcBef>
              <a:spcAft>
                <a:spcPts val="0"/>
              </a:spcAft>
            </a:pPr>
            <a:r>
              <a:rPr sz="100">
                <a:solidFill>
                  <a:srgbClr val="FFFFFF"/>
                </a:solidFill>
                <a:latin typeface="Noto Sans"/>
              </a:rPr>
              <a:t>14.82%</a:t>
            </a:r>
          </a:p>
          <a:p>
            <a:pPr>
              <a:spcBef>
                <a:spcPts val="0"/>
              </a:spcBef>
              <a:spcAft>
                <a:spcPts val="0"/>
              </a:spcAft>
            </a:pPr>
            <a:r>
              <a:rPr sz="100">
                <a:solidFill>
                  <a:srgbClr val="FFFFFF"/>
                </a:solidFill>
                <a:latin typeface="Noto Sans"/>
              </a:rPr>
              <a:t>1.43%</a:t>
            </a:r>
          </a:p>
          <a:p>
            <a:pPr>
              <a:spcBef>
                <a:spcPts val="0"/>
              </a:spcBef>
              <a:spcAft>
                <a:spcPts val="0"/>
              </a:spcAft>
            </a:pPr>
            <a:r>
              <a:rPr sz="100">
                <a:solidFill>
                  <a:srgbClr val="FFFFFF"/>
                </a:solidFill>
                <a:latin typeface="Noto Sans"/>
              </a:rPr>
              <a:t>62.44%</a:t>
            </a:r>
          </a:p>
          <a:p>
            <a:pPr>
              <a:spcBef>
                <a:spcPts val="0"/>
              </a:spcBef>
              <a:spcAft>
                <a:spcPts val="0"/>
              </a:spcAft>
            </a:pPr>
            <a:r>
              <a:rPr sz="100">
                <a:solidFill>
                  <a:srgbClr val="FFFFFF"/>
                </a:solidFill>
                <a:latin typeface="Noto Sans"/>
              </a:rPr>
              <a:t>20.63%</a:t>
            </a:r>
          </a:p>
          <a:p>
            <a:pPr>
              <a:spcBef>
                <a:spcPts val="0"/>
              </a:spcBef>
              <a:spcAft>
                <a:spcPts val="0"/>
              </a:spcAft>
            </a:pPr>
            <a:r>
              <a:rPr sz="100">
                <a:solidFill>
                  <a:srgbClr val="FFFFFF"/>
                </a:solidFill>
                <a:latin typeface="Noto Sans"/>
              </a:rPr>
              <a:t>15.27%</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62.50%</a:t>
            </a:r>
          </a:p>
          <a:p>
            <a:pPr>
              <a:spcBef>
                <a:spcPts val="0"/>
              </a:spcBef>
              <a:spcAft>
                <a:spcPts val="0"/>
              </a:spcAft>
            </a:pPr>
            <a:r>
              <a:rPr sz="100">
                <a:solidFill>
                  <a:srgbClr val="FFFFFF"/>
                </a:solidFill>
                <a:latin typeface="Noto Sans"/>
              </a:rPr>
              <a:t>20.31%</a:t>
            </a:r>
          </a:p>
          <a:p>
            <a:pPr>
              <a:spcBef>
                <a:spcPts val="0"/>
              </a:spcBef>
              <a:spcAft>
                <a:spcPts val="0"/>
              </a:spcAft>
            </a:pPr>
            <a:r>
              <a:rPr sz="100">
                <a:solidFill>
                  <a:srgbClr val="FFFFFF"/>
                </a:solidFill>
                <a:latin typeface="Noto Sans"/>
              </a:rPr>
              <a:t>15.11%</a:t>
            </a:r>
          </a:p>
          <a:p>
            <a:pPr>
              <a:spcBef>
                <a:spcPts val="0"/>
              </a:spcBef>
              <a:spcAft>
                <a:spcPts val="0"/>
              </a:spcAft>
            </a:pPr>
            <a:r>
              <a:rPr sz="100">
                <a:solidFill>
                  <a:srgbClr val="FFFFFF"/>
                </a:solidFill>
                <a:latin typeface="Noto Sans"/>
              </a:rPr>
              <a:t>2.07%</a:t>
            </a:r>
          </a:p>
          <a:p>
            <a:pPr>
              <a:spcBef>
                <a:spcPts val="0"/>
              </a:spcBef>
              <a:spcAft>
                <a:spcPts val="0"/>
              </a:spcAft>
            </a:pPr>
            <a:r>
              <a:rPr sz="100">
                <a:solidFill>
                  <a:srgbClr val="FFFFFF"/>
                </a:solidFill>
                <a:latin typeface="Noto Sans"/>
              </a:rPr>
              <a:t>63.04%</a:t>
            </a:r>
          </a:p>
          <a:p>
            <a:pPr>
              <a:spcBef>
                <a:spcPts val="0"/>
              </a:spcBef>
              <a:spcAft>
                <a:spcPts val="0"/>
              </a:spcAft>
            </a:pPr>
            <a:r>
              <a:rPr sz="100">
                <a:solidFill>
                  <a:srgbClr val="FFFFFF"/>
                </a:solidFill>
                <a:latin typeface="Noto Sans"/>
              </a:rPr>
              <a:t>18.14%</a:t>
            </a:r>
          </a:p>
          <a:p>
            <a:pPr>
              <a:spcBef>
                <a:spcPts val="0"/>
              </a:spcBef>
              <a:spcAft>
                <a:spcPts val="0"/>
              </a:spcAft>
            </a:pPr>
            <a:r>
              <a:rPr sz="100">
                <a:solidFill>
                  <a:srgbClr val="FFFFFF"/>
                </a:solidFill>
                <a:latin typeface="Noto Sans"/>
              </a:rPr>
              <a:t>15.81%</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60.25%</a:t>
            </a:r>
          </a:p>
          <a:p>
            <a:pPr>
              <a:spcBef>
                <a:spcPts val="0"/>
              </a:spcBef>
              <a:spcAft>
                <a:spcPts val="0"/>
              </a:spcAft>
            </a:pPr>
            <a:r>
              <a:rPr sz="100">
                <a:solidFill>
                  <a:srgbClr val="FFFFFF"/>
                </a:solidFill>
                <a:latin typeface="Noto Sans"/>
              </a:rPr>
              <a:t>16.40%</a:t>
            </a:r>
          </a:p>
          <a:p>
            <a:pPr>
              <a:spcBef>
                <a:spcPts val="0"/>
              </a:spcBef>
              <a:spcAft>
                <a:spcPts val="0"/>
              </a:spcAft>
            </a:pPr>
            <a:r>
              <a:rPr sz="100">
                <a:solidFill>
                  <a:srgbClr val="FFFFFF"/>
                </a:solidFill>
                <a:latin typeface="Noto Sans"/>
              </a:rPr>
              <a:t>15.57%</a:t>
            </a:r>
          </a:p>
          <a:p>
            <a:pPr>
              <a:spcBef>
                <a:spcPts val="0"/>
              </a:spcBef>
              <a:spcAft>
                <a:spcPts val="0"/>
              </a:spcAft>
            </a:pPr>
            <a:r>
              <a:rPr sz="100">
                <a:solidFill>
                  <a:srgbClr val="FFFFFF"/>
                </a:solidFill>
                <a:latin typeface="Noto Sans"/>
              </a:rPr>
              <a:t>7.74%</a:t>
            </a:r>
          </a:p>
          <a:p>
            <a:pPr>
              <a:spcBef>
                <a:spcPts val="0"/>
              </a:spcBef>
              <a:spcAft>
                <a:spcPts val="0"/>
              </a:spcAft>
            </a:pPr>
            <a:r>
              <a:rPr sz="100">
                <a:solidFill>
                  <a:srgbClr val="FFFFFF"/>
                </a:solidFill>
                <a:latin typeface="Noto Sans"/>
              </a:rPr>
              <a:t>57.22%</a:t>
            </a:r>
          </a:p>
          <a:p>
            <a:pPr>
              <a:spcBef>
                <a:spcPts val="0"/>
              </a:spcBef>
              <a:spcAft>
                <a:spcPts val="0"/>
              </a:spcAft>
            </a:pPr>
            <a:r>
              <a:rPr sz="100">
                <a:solidFill>
                  <a:srgbClr val="FFFFFF"/>
                </a:solidFill>
                <a:latin typeface="Noto Sans"/>
              </a:rPr>
              <a:t>15.54%</a:t>
            </a:r>
          </a:p>
          <a:p>
            <a:pPr>
              <a:spcBef>
                <a:spcPts val="0"/>
              </a:spcBef>
              <a:spcAft>
                <a:spcPts val="0"/>
              </a:spcAft>
            </a:pPr>
            <a:r>
              <a:rPr sz="100">
                <a:solidFill>
                  <a:srgbClr val="FFFFFF"/>
                </a:solidFill>
                <a:latin typeface="Noto Sans"/>
              </a:rPr>
              <a:t>15.06%</a:t>
            </a:r>
          </a:p>
          <a:p>
            <a:pPr>
              <a:spcBef>
                <a:spcPts val="0"/>
              </a:spcBef>
              <a:spcAft>
                <a:spcPts val="0"/>
              </a:spcAft>
            </a:pPr>
            <a:r>
              <a:rPr sz="100">
                <a:solidFill>
                  <a:srgbClr val="FFFFFF"/>
                </a:solidFill>
                <a:latin typeface="Noto Sans"/>
              </a:rPr>
              <a:t>12.13%</a:t>
            </a:r>
          </a:p>
          <a:p>
            <a:pPr>
              <a:spcBef>
                <a:spcPts val="0"/>
              </a:spcBef>
              <a:spcAft>
                <a:spcPts val="0"/>
              </a:spcAft>
            </a:pPr>
            <a:r>
              <a:rPr sz="100">
                <a:solidFill>
                  <a:srgbClr val="FFFFFF"/>
                </a:solidFill>
                <a:latin typeface="Noto Sans"/>
              </a:rPr>
              <a:t>54.95%</a:t>
            </a:r>
          </a:p>
          <a:p>
            <a:pPr>
              <a:spcBef>
                <a:spcPts val="0"/>
              </a:spcBef>
              <a:spcAft>
                <a:spcPts val="0"/>
              </a:spcAft>
            </a:pPr>
            <a:r>
              <a:rPr sz="100">
                <a:solidFill>
                  <a:srgbClr val="FFFFFF"/>
                </a:solidFill>
                <a:latin typeface="Noto Sans"/>
              </a:rPr>
              <a:t>14.18%</a:t>
            </a:r>
          </a:p>
          <a:p>
            <a:pPr>
              <a:spcBef>
                <a:spcPts val="0"/>
              </a:spcBef>
              <a:spcAft>
                <a:spcPts val="0"/>
              </a:spcAft>
            </a:pPr>
            <a:r>
              <a:rPr sz="100">
                <a:solidFill>
                  <a:srgbClr val="FFFFFF"/>
                </a:solidFill>
                <a:latin typeface="Noto Sans"/>
              </a:rPr>
              <a:t>14.99%</a:t>
            </a:r>
          </a:p>
          <a:p>
            <a:pPr>
              <a:spcBef>
                <a:spcPts val="0"/>
              </a:spcBef>
              <a:spcAft>
                <a:spcPts val="0"/>
              </a:spcAft>
            </a:pPr>
            <a:r>
              <a:rPr sz="100">
                <a:solidFill>
                  <a:srgbClr val="FFFFFF"/>
                </a:solidFill>
                <a:latin typeface="Noto Sans"/>
              </a:rPr>
              <a:t>15.86%</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a:p>
            <a:pPr>
              <a:spcBef>
                <a:spcPts val="0"/>
              </a:spcBef>
              <a:spcAft>
                <a:spcPts val="0"/>
              </a:spcAft>
            </a:pPr>
            <a:r>
              <a:rPr sz="100">
                <a:solidFill>
                  <a:srgbClr val="FFFFFF"/>
                </a:solidFill>
                <a:latin typeface="Noto Sans"/>
              </a:rPr>
              <a:t>Figura C.9.</a:t>
            </a:r>
          </a:p>
          <a:p>
            <a:pPr>
              <a:spcBef>
                <a:spcPts val="0"/>
              </a:spcBef>
              <a:spcAft>
                <a:spcPts val="0"/>
              </a:spcAft>
            </a:pPr>
            <a:r>
              <a:rPr sz="100">
                <a:solidFill>
                  <a:srgbClr val="FFFFFF"/>
                </a:solidFill>
                <a:latin typeface="Noto Sans"/>
              </a:rPr>
              <a:t>Participación de mercado del servicio móvil de telefonía (2013-2024)</a:t>
            </a:r>
          </a:p>
        </p:txBody>
      </p:sp>
      <p:pic>
        <p:nvPicPr>
          <p:cNvPr id="223" name="ANUARIO_IMAGE_C_9" descr="Figura C.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53</a:t>
            </a:r>
          </a:p>
        </p:txBody>
      </p:sp>
    </p:spTree>
  </p:cSld>
  <p:clrMapOvr>
    <a:masterClrMapping/>
  </p:clrMapOvr>
</p:sld>
</file>

<file path=ppt/slides/slide5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0" descr="ANUARIO_FIGURE_ID=C.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C.10</a:t>
            </a:r>
          </a:p>
          <a:p>
            <a:pPr>
              <a:spcBef>
                <a:spcPts val="0"/>
              </a:spcBef>
              <a:spcAft>
                <a:spcPts val="600"/>
              </a:spcAft>
            </a:pPr>
            <a:r>
              <a:rPr sz="950" b="1">
                <a:solidFill>
                  <a:srgbClr val="203634"/>
                </a:solidFill>
                <a:latin typeface="Noto Sans"/>
              </a:rPr>
              <a:t>ÍNDICE DE CONCENTRACIÓN DEL SERVICIO MÓVIL DE TELEFONÍA</a:t>
            </a:r>
          </a:p>
          <a:p>
            <a:pPr>
              <a:lnSpc>
                <a:spcPct val="100000"/>
              </a:lnSpc>
              <a:spcBef>
                <a:spcPts val="0"/>
              </a:spcBef>
              <a:spcAft>
                <a:spcPts val="400"/>
              </a:spcAft>
            </a:pPr>
            <a:r>
              <a:rPr sz="819" b="0">
                <a:solidFill>
                  <a:srgbClr val="434343"/>
                </a:solidFill>
                <a:latin typeface="Noto Sans"/>
              </a:rPr>
              <a:t>Asimismo, el Índice de Herfindahl-Hirschman (IHH) indica que la concentración del mercado de este servicio ha disminuido desde 2013, lo cual es consecuencia de la entrada de nuevos operadores, lo que refleja que, en este periodo de tiempo, el servicio móvil de telefonía ha tenido una mayor competencia de mercado.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0" descr="ANUARIO_FIGURE_ID=C.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0" descr="Capa accesible con el texto del SVG de la figura C.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C.10</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3,589</a:t>
            </a:r>
          </a:p>
          <a:p>
            <a:pPr>
              <a:spcBef>
                <a:spcPts val="0"/>
              </a:spcBef>
              <a:spcAft>
                <a:spcPts val="0"/>
              </a:spcAft>
            </a:pPr>
            <a:r>
              <a:rPr sz="100">
                <a:solidFill>
                  <a:srgbClr val="FFFFFF"/>
                </a:solidFill>
                <a:latin typeface="Noto Sans"/>
              </a:rPr>
              <a:t>3,812</a:t>
            </a:r>
          </a:p>
          <a:p>
            <a:pPr>
              <a:spcBef>
                <a:spcPts val="0"/>
              </a:spcBef>
              <a:spcAft>
                <a:spcPts val="0"/>
              </a:spcAft>
            </a:pPr>
            <a:r>
              <a:rPr sz="100">
                <a:solidFill>
                  <a:srgbClr val="FFFFFF"/>
                </a:solidFill>
                <a:latin typeface="Noto Sans"/>
              </a:rPr>
              <a:t>4,161</a:t>
            </a:r>
          </a:p>
          <a:p>
            <a:pPr>
              <a:spcBef>
                <a:spcPts val="0"/>
              </a:spcBef>
              <a:spcAft>
                <a:spcPts val="0"/>
              </a:spcAft>
            </a:pPr>
            <a:r>
              <a:rPr sz="100">
                <a:solidFill>
                  <a:srgbClr val="FFFFFF"/>
                </a:solidFill>
                <a:latin typeface="Noto Sans"/>
              </a:rPr>
              <a:t>4,555</a:t>
            </a:r>
          </a:p>
          <a:p>
            <a:pPr>
              <a:spcBef>
                <a:spcPts val="0"/>
              </a:spcBef>
              <a:spcAft>
                <a:spcPts val="0"/>
              </a:spcAft>
            </a:pPr>
            <a:r>
              <a:rPr sz="100">
                <a:solidFill>
                  <a:srgbClr val="FFFFFF"/>
                </a:solidFill>
                <a:latin typeface="Noto Sans"/>
              </a:rPr>
              <a:t>4,549</a:t>
            </a:r>
          </a:p>
          <a:p>
            <a:pPr>
              <a:spcBef>
                <a:spcPts val="0"/>
              </a:spcBef>
              <a:spcAft>
                <a:spcPts val="0"/>
              </a:spcAft>
            </a:pPr>
            <a:r>
              <a:rPr sz="100">
                <a:solidFill>
                  <a:srgbClr val="FFFFFF"/>
                </a:solidFill>
                <a:latin typeface="Noto Sans"/>
              </a:rPr>
              <a:t>4,558</a:t>
            </a:r>
          </a:p>
          <a:p>
            <a:pPr>
              <a:spcBef>
                <a:spcPts val="0"/>
              </a:spcBef>
              <a:spcAft>
                <a:spcPts val="0"/>
              </a:spcAft>
            </a:pPr>
            <a:r>
              <a:rPr sz="100">
                <a:solidFill>
                  <a:srgbClr val="FFFFFF"/>
                </a:solidFill>
                <a:latin typeface="Noto Sans"/>
              </a:rPr>
              <a:t>4,576</a:t>
            </a:r>
          </a:p>
          <a:p>
            <a:pPr>
              <a:spcBef>
                <a:spcPts val="0"/>
              </a:spcBef>
              <a:spcAft>
                <a:spcPts val="0"/>
              </a:spcAft>
            </a:pPr>
            <a:r>
              <a:rPr sz="100">
                <a:solidFill>
                  <a:srgbClr val="FFFFFF"/>
                </a:solidFill>
                <a:latin typeface="Noto Sans"/>
              </a:rPr>
              <a:t>4,759</a:t>
            </a:r>
          </a:p>
          <a:p>
            <a:pPr>
              <a:spcBef>
                <a:spcPts val="0"/>
              </a:spcBef>
              <a:spcAft>
                <a:spcPts val="0"/>
              </a:spcAft>
            </a:pPr>
            <a:r>
              <a:rPr sz="100">
                <a:solidFill>
                  <a:srgbClr val="FFFFFF"/>
                </a:solidFill>
                <a:latin typeface="Noto Sans"/>
              </a:rPr>
              <a:t>4,873</a:t>
            </a:r>
          </a:p>
          <a:p>
            <a:pPr>
              <a:spcBef>
                <a:spcPts val="0"/>
              </a:spcBef>
              <a:spcAft>
                <a:spcPts val="0"/>
              </a:spcAft>
            </a:pPr>
            <a:r>
              <a:rPr sz="100">
                <a:solidFill>
                  <a:srgbClr val="FFFFFF"/>
                </a:solidFill>
                <a:latin typeface="Noto Sans"/>
              </a:rPr>
              <a:t>5,227</a:t>
            </a:r>
          </a:p>
          <a:p>
            <a:pPr>
              <a:spcBef>
                <a:spcPts val="0"/>
              </a:spcBef>
              <a:spcAft>
                <a:spcPts val="0"/>
              </a:spcAft>
            </a:pPr>
            <a:r>
              <a:rPr sz="100">
                <a:solidFill>
                  <a:srgbClr val="FFFFFF"/>
                </a:solidFill>
                <a:latin typeface="Noto Sans"/>
              </a:rPr>
              <a:t>5,084</a:t>
            </a:r>
          </a:p>
          <a:p>
            <a:pPr>
              <a:spcBef>
                <a:spcPts val="0"/>
              </a:spcBef>
              <a:spcAft>
                <a:spcPts val="0"/>
              </a:spcAft>
            </a:pPr>
            <a:r>
              <a:rPr sz="100">
                <a:solidFill>
                  <a:srgbClr val="FFFFFF"/>
                </a:solidFill>
                <a:latin typeface="Noto Sans"/>
              </a:rPr>
              <a:t>5,229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respecto del número de líneas móviles.</a:t>
            </a:r>
          </a:p>
          <a:p>
            <a:pPr>
              <a:spcBef>
                <a:spcPts val="0"/>
              </a:spcBef>
              <a:spcAft>
                <a:spcPts val="0"/>
              </a:spcAft>
            </a:pPr>
            <a:r>
              <a:rPr sz="100">
                <a:solidFill>
                  <a:srgbClr val="FFFFFF"/>
                </a:solidFill>
                <a:latin typeface="Noto Sans"/>
              </a:rPr>
              <a:t>Figura C.10.</a:t>
            </a:r>
          </a:p>
          <a:p>
            <a:pPr>
              <a:spcBef>
                <a:spcPts val="0"/>
              </a:spcBef>
              <a:spcAft>
                <a:spcPts val="0"/>
              </a:spcAft>
            </a:pPr>
            <a:r>
              <a:rPr sz="100">
                <a:solidFill>
                  <a:srgbClr val="FFFFFF"/>
                </a:solidFill>
                <a:latin typeface="Noto Sans"/>
              </a:rPr>
              <a:t>Índice de concentración del servicio móvil de telefonía (2013-2024)</a:t>
            </a:r>
          </a:p>
        </p:txBody>
      </p:sp>
      <p:pic>
        <p:nvPicPr>
          <p:cNvPr id="223" name="ANUARIO_IMAGE_C_10" descr="Figura C.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54</a:t>
            </a:r>
          </a:p>
        </p:txBody>
      </p:sp>
    </p:spTree>
  </p:cSld>
  <p:clrMapOvr>
    <a:masterClrMapping/>
  </p:clrMapOvr>
</p:sld>
</file>

<file path=ppt/slides/slide5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1" descr="ANUARIO_FIGURE_ID=C.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C.11</a:t>
            </a:r>
          </a:p>
          <a:p>
            <a:pPr>
              <a:spcBef>
                <a:spcPts val="0"/>
              </a:spcBef>
              <a:spcAft>
                <a:spcPts val="600"/>
              </a:spcAft>
            </a:pPr>
            <a:r>
              <a:rPr sz="950" b="1">
                <a:solidFill>
                  <a:srgbClr val="203634"/>
                </a:solidFill>
                <a:latin typeface="Noto Sans"/>
              </a:rPr>
              <a:t>LÍNEAS DEL SERVICIO MÓVIL DE ACCESO A INTERNET POR MODALIDAD</a:t>
            </a:r>
          </a:p>
          <a:p>
            <a:pPr>
              <a:lnSpc>
                <a:spcPct val="100000"/>
              </a:lnSpc>
              <a:spcBef>
                <a:spcPts val="0"/>
              </a:spcBef>
              <a:spcAft>
                <a:spcPts val="400"/>
              </a:spcAft>
            </a:pPr>
            <a:r>
              <a:rPr sz="819" b="0">
                <a:solidFill>
                  <a:srgbClr val="434343"/>
                </a:solidFill>
                <a:latin typeface="Noto Sans"/>
              </a:rPr>
              <a:t>Las líneas del servicio móvil de acceso a Internet crecieron 7.6% de 2023 a 2024, al pasar de 126.20 millones de líneas en 2023 a 135.81 millones de líneas en 2024. Del total de líneas en 2024, el 67.2% fueron por tipo de contrato de prepago, 3.0% a pospago controlado, 11.9% a pospago libre y 17.9% de las líneas no cuentan con un segmento especificado.</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1" descr="ANUARIO_FIGURE_ID=C.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1" descr="Capa accesible con el texto del SVG de la figura C.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34.6</a:t>
            </a:r>
          </a:p>
          <a:p>
            <a:pPr>
              <a:spcBef>
                <a:spcPts val="0"/>
              </a:spcBef>
              <a:spcAft>
                <a:spcPts val="0"/>
              </a:spcAft>
            </a:pPr>
            <a:r>
              <a:rPr sz="100">
                <a:solidFill>
                  <a:srgbClr val="FFFFFF"/>
                </a:solidFill>
                <a:latin typeface="Noto Sans"/>
              </a:rPr>
              <a:t>51.5</a:t>
            </a:r>
          </a:p>
          <a:p>
            <a:pPr>
              <a:spcBef>
                <a:spcPts val="0"/>
              </a:spcBef>
              <a:spcAft>
                <a:spcPts val="0"/>
              </a:spcAft>
            </a:pPr>
            <a:r>
              <a:rPr sz="100">
                <a:solidFill>
                  <a:srgbClr val="FFFFFF"/>
                </a:solidFill>
                <a:latin typeface="Noto Sans"/>
              </a:rPr>
              <a:t>63.9</a:t>
            </a:r>
          </a:p>
          <a:p>
            <a:pPr>
              <a:spcBef>
                <a:spcPts val="0"/>
              </a:spcBef>
              <a:spcAft>
                <a:spcPts val="0"/>
              </a:spcAft>
            </a:pPr>
            <a:r>
              <a:rPr sz="100">
                <a:solidFill>
                  <a:srgbClr val="FFFFFF"/>
                </a:solidFill>
                <a:latin typeface="Noto Sans"/>
              </a:rPr>
              <a:t>75.1</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97.5</a:t>
            </a:r>
          </a:p>
          <a:p>
            <a:pPr>
              <a:spcBef>
                <a:spcPts val="0"/>
              </a:spcBef>
              <a:spcAft>
                <a:spcPts val="0"/>
              </a:spcAft>
            </a:pPr>
            <a:r>
              <a:rPr sz="100">
                <a:solidFill>
                  <a:srgbClr val="FFFFFF"/>
                </a:solidFill>
                <a:latin typeface="Noto Sans"/>
              </a:rPr>
              <a:t>101.4</a:t>
            </a:r>
          </a:p>
          <a:p>
            <a:pPr>
              <a:spcBef>
                <a:spcPts val="0"/>
              </a:spcBef>
              <a:spcAft>
                <a:spcPts val="0"/>
              </a:spcAft>
            </a:pPr>
            <a:r>
              <a:rPr sz="100">
                <a:solidFill>
                  <a:srgbClr val="FFFFFF"/>
                </a:solidFill>
                <a:latin typeface="Noto Sans"/>
              </a:rPr>
              <a:t>109.5</a:t>
            </a:r>
          </a:p>
          <a:p>
            <a:pPr>
              <a:spcBef>
                <a:spcPts val="0"/>
              </a:spcBef>
              <a:spcAft>
                <a:spcPts val="0"/>
              </a:spcAft>
            </a:pPr>
            <a:r>
              <a:rPr sz="100">
                <a:solidFill>
                  <a:srgbClr val="FFFFFF"/>
                </a:solidFill>
                <a:latin typeface="Noto Sans"/>
              </a:rPr>
              <a:t>119.9</a:t>
            </a:r>
          </a:p>
          <a:p>
            <a:pPr>
              <a:spcBef>
                <a:spcPts val="0"/>
              </a:spcBef>
              <a:spcAft>
                <a:spcPts val="0"/>
              </a:spcAft>
            </a:pPr>
            <a:r>
              <a:rPr sz="100">
                <a:solidFill>
                  <a:srgbClr val="FFFFFF"/>
                </a:solidFill>
                <a:latin typeface="Noto Sans"/>
              </a:rPr>
              <a:t>126.2</a:t>
            </a:r>
          </a:p>
          <a:p>
            <a:pPr>
              <a:spcBef>
                <a:spcPts val="0"/>
              </a:spcBef>
              <a:spcAft>
                <a:spcPts val="0"/>
              </a:spcAft>
            </a:pPr>
            <a:r>
              <a:rPr sz="100">
                <a:solidFill>
                  <a:srgbClr val="FFFFFF"/>
                </a:solidFill>
                <a:latin typeface="Noto Sans"/>
              </a:rPr>
              <a:t>135.8</a:t>
            </a:r>
          </a:p>
          <a:p>
            <a:pPr>
              <a:spcBef>
                <a:spcPts val="0"/>
              </a:spcBef>
              <a:spcAft>
                <a:spcPts val="0"/>
              </a:spcAft>
            </a:pPr>
            <a:r>
              <a:rPr sz="100">
                <a:solidFill>
                  <a:srgbClr val="FFFFFF"/>
                </a:solidFill>
                <a:latin typeface="Noto Sans"/>
              </a:rPr>
              <a:t>Prepago</a:t>
            </a:r>
          </a:p>
          <a:p>
            <a:pPr>
              <a:spcBef>
                <a:spcPts val="0"/>
              </a:spcBef>
              <a:spcAft>
                <a:spcPts val="0"/>
              </a:spcAft>
            </a:pPr>
            <a:r>
              <a:rPr sz="100">
                <a:solidFill>
                  <a:srgbClr val="FFFFFF"/>
                </a:solidFill>
                <a:latin typeface="Noto Sans"/>
              </a:rPr>
              <a:t>Pospago</a:t>
            </a:r>
          </a:p>
          <a:p>
            <a:pPr>
              <a:spcBef>
                <a:spcPts val="0"/>
              </a:spcBef>
              <a:spcAft>
                <a:spcPts val="0"/>
              </a:spcAft>
            </a:pPr>
            <a:r>
              <a:rPr sz="100">
                <a:solidFill>
                  <a:srgbClr val="FFFFFF"/>
                </a:solidFill>
                <a:latin typeface="Noto Sans"/>
              </a:rPr>
              <a:t>Pospago controlado</a:t>
            </a:r>
          </a:p>
          <a:p>
            <a:pPr>
              <a:spcBef>
                <a:spcPts val="0"/>
              </a:spcBef>
              <a:spcAft>
                <a:spcPts val="0"/>
              </a:spcAft>
            </a:pPr>
            <a:r>
              <a:rPr sz="100">
                <a:solidFill>
                  <a:srgbClr val="FFFFFF"/>
                </a:solidFill>
                <a:latin typeface="Noto Sans"/>
              </a:rPr>
              <a:t>Pospago libre</a:t>
            </a:r>
          </a:p>
          <a:p>
            <a:pPr>
              <a:spcBef>
                <a:spcPts val="0"/>
              </a:spcBef>
              <a:spcAft>
                <a:spcPts val="0"/>
              </a:spcAft>
            </a:pPr>
            <a:r>
              <a:rPr sz="100">
                <a:solidFill>
                  <a:srgbClr val="FFFFFF"/>
                </a:solidFill>
                <a:latin typeface="Noto Sans"/>
              </a:rPr>
              <a:t>Sin especificar</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Cifras en millones de líneas.</a:t>
            </a:r>
          </a:p>
          <a:p>
            <a:pPr>
              <a:spcBef>
                <a:spcPts val="0"/>
              </a:spcBef>
              <a:spcAft>
                <a:spcPts val="0"/>
              </a:spcAft>
            </a:pPr>
            <a:r>
              <a:rPr sz="100">
                <a:solidFill>
                  <a:srgbClr val="FFFFFF"/>
                </a:solidFill>
                <a:latin typeface="Noto Sans"/>
              </a:rPr>
              <a:t>Figura C.11.</a:t>
            </a:r>
          </a:p>
          <a:p>
            <a:pPr>
              <a:spcBef>
                <a:spcPts val="0"/>
              </a:spcBef>
              <a:spcAft>
                <a:spcPts val="0"/>
              </a:spcAft>
            </a:pPr>
            <a:r>
              <a:rPr sz="100">
                <a:solidFill>
                  <a:srgbClr val="FFFFFF"/>
                </a:solidFill>
                <a:latin typeface="Noto Sans"/>
              </a:rPr>
              <a:t>Líneas del servicio móvil de acceso a Internet (2010-2024) [millones]</a:t>
            </a:r>
          </a:p>
        </p:txBody>
      </p:sp>
      <p:pic>
        <p:nvPicPr>
          <p:cNvPr id="223" name="ANUARIO_IMAGE_C_11" descr="Figura C.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55</a:t>
            </a:r>
          </a:p>
        </p:txBody>
      </p:sp>
    </p:spTree>
  </p:cSld>
  <p:clrMapOvr>
    <a:masterClrMapping/>
  </p:clrMapOvr>
</p:sld>
</file>

<file path=ppt/slides/slide5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2" descr="ANUARIO_FIGURE_ID=C.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C.12</a:t>
            </a:r>
          </a:p>
          <a:p>
            <a:pPr>
              <a:spcBef>
                <a:spcPts val="0"/>
              </a:spcBef>
              <a:spcAft>
                <a:spcPts val="600"/>
              </a:spcAft>
            </a:pPr>
            <a:r>
              <a:rPr sz="950" b="1">
                <a:solidFill>
                  <a:srgbClr val="203634"/>
                </a:solidFill>
                <a:latin typeface="Noto Sans"/>
              </a:rPr>
              <a:t>LÍNEAS DEL SERVICIO MÓVIL DE ACCESO A INTERNET POR CADA 100 HABITANTES</a:t>
            </a:r>
          </a:p>
          <a:p>
            <a:pPr>
              <a:lnSpc>
                <a:spcPct val="100000"/>
              </a:lnSpc>
              <a:spcBef>
                <a:spcPts val="0"/>
              </a:spcBef>
              <a:spcAft>
                <a:spcPts val="400"/>
              </a:spcAft>
            </a:pPr>
            <a:r>
              <a:rPr sz="880" b="0">
                <a:solidFill>
                  <a:srgbClr val="434343"/>
                </a:solidFill>
                <a:latin typeface="Noto Sans"/>
              </a:rPr>
              <a:t>En diciembre de 2024, los resultados indican que había 102 líneas del servicio móvil de acceso a Internet por cada 100 habitantes a nivel nacional, lo cual refleja un crecimiento del 251.7 % con respecto de 2013.</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2" descr="ANUARIO_FIGURE_ID=C.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2" descr="Capa accesible con el texto del SVG de la figura C.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C.12</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Líneas móviles de acceso a Internet por cada 100 habitantes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Figura C.12.</a:t>
            </a:r>
          </a:p>
          <a:p>
            <a:pPr>
              <a:spcBef>
                <a:spcPts val="0"/>
              </a:spcBef>
              <a:spcAft>
                <a:spcPts val="0"/>
              </a:spcAft>
            </a:pPr>
            <a:r>
              <a:rPr sz="100">
                <a:solidFill>
                  <a:srgbClr val="FFFFFF"/>
                </a:solidFill>
                <a:latin typeface="Noto Sans"/>
              </a:rPr>
              <a:t>Líneas del servicio móvil de acceso a Internet por cada 100 habitantes (2010-2024)</a:t>
            </a:r>
          </a:p>
        </p:txBody>
      </p:sp>
      <p:pic>
        <p:nvPicPr>
          <p:cNvPr id="223" name="ANUARIO_IMAGE_C_12" descr="Figura C.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56</a:t>
            </a:r>
          </a:p>
        </p:txBody>
      </p:sp>
    </p:spTree>
  </p:cSld>
  <p:clrMapOvr>
    <a:masterClrMapping/>
  </p:clrMapOvr>
</p:sld>
</file>

<file path=ppt/slides/slide5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3" descr="ANUARIO_FIGURE_ID=C.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C.13</a:t>
            </a:r>
          </a:p>
          <a:p>
            <a:pPr>
              <a:spcBef>
                <a:spcPts val="0"/>
              </a:spcBef>
              <a:spcAft>
                <a:spcPts val="600"/>
              </a:spcAft>
            </a:pPr>
            <a:r>
              <a:rPr sz="950" b="1">
                <a:solidFill>
                  <a:srgbClr val="203634"/>
                </a:solidFill>
                <a:latin typeface="Noto Sans"/>
              </a:rPr>
              <a:t>LÍNEAS DEL SERVICIO MÓVIL DE ACCESO A INTERNET POR CADA 100 HABITANTES POR ENTIDAD FEDERATIVA</a:t>
            </a:r>
          </a:p>
          <a:p>
            <a:pPr>
              <a:lnSpc>
                <a:spcPct val="100000"/>
              </a:lnSpc>
              <a:spcBef>
                <a:spcPts val="0"/>
              </a:spcBef>
              <a:spcAft>
                <a:spcPts val="400"/>
              </a:spcAft>
            </a:pPr>
            <a:r>
              <a:rPr sz="819" b="0">
                <a:solidFill>
                  <a:srgbClr val="434343"/>
                </a:solidFill>
                <a:latin typeface="Noto Sans"/>
              </a:rPr>
              <a:t>Con relación a las líneas del servicio móvil de acceso a Internet por entidad federativa, al cierre de 2024, la entidad con la mayor cantidad de líneas por cada 100 habitantes fue Sonora con 128, seguida por Ciudad de México con 125 y Baja California Sur con 120. En cambio, las entidades con la menor cantidad de líneas por cada 100 habitantes fueron Guanajuato, Oaxaca, Chiapas, con 89, 77 y 70, respectivamente.</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3" descr="ANUARIO_FIGURE_ID=C.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3" descr="Capa accesible con el texto del SVG de la figura C.13"/>
          <p:cNvSpPr txBox="1"/>
          <p:nvPr/>
        </p:nvSpPr>
        <p:spPr>
          <a:xfrm>
            <a:off x="3357372" y="1266989"/>
            <a:ext cx="5279136" cy="2943472"/>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C.13</a:t>
            </a:r>
          </a:p>
          <a:p>
            <a:pPr>
              <a:spcBef>
                <a:spcPts val="0"/>
              </a:spcBef>
              <a:spcAft>
                <a:spcPts val="0"/>
              </a:spcAft>
            </a:pPr>
            <a:r>
              <a:rPr sz="100">
                <a:solidFill>
                  <a:srgbClr val="FFFFFF"/>
                </a:solidFill>
                <a:latin typeface="Noto Sans"/>
              </a:rPr>
              <a:t>Líneas por cada 100 habitantes:</a:t>
            </a:r>
          </a:p>
          <a:p>
            <a:pPr>
              <a:spcBef>
                <a:spcPts val="0"/>
              </a:spcBef>
              <a:spcAft>
                <a:spcPts val="0"/>
              </a:spcAft>
            </a:pPr>
            <a:r>
              <a:rPr sz="100">
                <a:solidFill>
                  <a:srgbClr val="FFFFFF"/>
                </a:solidFill>
                <a:latin typeface="Noto Sans"/>
              </a:rPr>
              <a:t>70 a 95</a:t>
            </a:r>
          </a:p>
          <a:p>
            <a:pPr>
              <a:spcBef>
                <a:spcPts val="0"/>
              </a:spcBef>
              <a:spcAft>
                <a:spcPts val="0"/>
              </a:spcAft>
            </a:pPr>
            <a:r>
              <a:rPr sz="100">
                <a:solidFill>
                  <a:srgbClr val="FFFFFF"/>
                </a:solidFill>
                <a:latin typeface="Noto Sans"/>
              </a:rPr>
              <a:t>95 a 104</a:t>
            </a:r>
          </a:p>
          <a:p>
            <a:pPr>
              <a:spcBef>
                <a:spcPts val="0"/>
              </a:spcBef>
              <a:spcAft>
                <a:spcPts val="0"/>
              </a:spcAft>
            </a:pPr>
            <a:r>
              <a:rPr sz="100">
                <a:solidFill>
                  <a:srgbClr val="FFFFFF"/>
                </a:solidFill>
                <a:latin typeface="Noto Sans"/>
              </a:rPr>
              <a:t>104 a 108</a:t>
            </a:r>
          </a:p>
          <a:p>
            <a:pPr>
              <a:spcBef>
                <a:spcPts val="0"/>
              </a:spcBef>
              <a:spcAft>
                <a:spcPts val="0"/>
              </a:spcAft>
            </a:pPr>
            <a:r>
              <a:rPr sz="100">
                <a:solidFill>
                  <a:srgbClr val="FFFFFF"/>
                </a:solidFill>
                <a:latin typeface="Noto Sans"/>
              </a:rPr>
              <a:t>108 a 110</a:t>
            </a:r>
          </a:p>
          <a:p>
            <a:pPr>
              <a:spcBef>
                <a:spcPts val="0"/>
              </a:spcBef>
              <a:spcAft>
                <a:spcPts val="0"/>
              </a:spcAft>
            </a:pPr>
            <a:r>
              <a:rPr sz="100">
                <a:solidFill>
                  <a:srgbClr val="FFFFFF"/>
                </a:solidFill>
                <a:latin typeface="Noto Sans"/>
              </a:rPr>
              <a:t>110 a 128</a:t>
            </a:r>
          </a:p>
          <a:p>
            <a:pPr>
              <a:spcBef>
                <a:spcPts val="0"/>
              </a:spcBef>
              <a:spcAft>
                <a:spcPts val="0"/>
              </a:spcAft>
            </a:pPr>
            <a:r>
              <a:rPr sz="100">
                <a:solidFill>
                  <a:srgbClr val="FFFFFF"/>
                </a:solidFill>
                <a:latin typeface="Noto Sans"/>
              </a:rPr>
              <a:t>Figura C.13.</a:t>
            </a:r>
          </a:p>
          <a:p>
            <a:pPr>
              <a:spcBef>
                <a:spcPts val="0"/>
              </a:spcBef>
              <a:spcAft>
                <a:spcPts val="0"/>
              </a:spcAft>
            </a:pPr>
            <a:r>
              <a:rPr sz="100">
                <a:solidFill>
                  <a:srgbClr val="FFFFFF"/>
                </a:solidFill>
                <a:latin typeface="Noto Sans"/>
              </a:rPr>
              <a:t>Líneas del servicio móvil de acceso a Internet por cada 100 habitantes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El valor nacional proviene de la serie nacional de líneas por cada 100 habitantes publicada por el CRT.</a:t>
            </a:r>
          </a:p>
          <a:p>
            <a:pPr>
              <a:spcBef>
                <a:spcPts val="0"/>
              </a:spcBef>
              <a:spcAft>
                <a:spcPts val="0"/>
              </a:spcAft>
            </a:pPr>
            <a:r>
              <a:rPr sz="100">
                <a:solidFill>
                  <a:srgbClr val="FFFFFF"/>
                </a:solidFill>
                <a:latin typeface="Noto Sans"/>
              </a:rPr>
              <a:t>Líneas por cada</a:t>
            </a:r>
          </a:p>
          <a:p>
            <a:pPr>
              <a:spcBef>
                <a:spcPts val="0"/>
              </a:spcBef>
              <a:spcAft>
                <a:spcPts val="0"/>
              </a:spcAft>
            </a:pPr>
            <a:r>
              <a:rPr sz="100">
                <a:solidFill>
                  <a:srgbClr val="FFFFFF"/>
                </a:solidFill>
                <a:latin typeface="Noto Sans"/>
              </a:rPr>
              <a:t>100 habitantes:</a:t>
            </a:r>
          </a:p>
          <a:p>
            <a:pPr>
              <a:spcBef>
                <a:spcPts val="0"/>
              </a:spcBef>
              <a:spcAft>
                <a:spcPts val="0"/>
              </a:spcAft>
            </a:pPr>
            <a:r>
              <a:rPr sz="100">
                <a:solidFill>
                  <a:srgbClr val="FFFFFF"/>
                </a:solidFill>
                <a:latin typeface="Noto Sans"/>
              </a:rPr>
              <a:t>102</a:t>
            </a:r>
          </a:p>
          <a:p>
            <a:pPr>
              <a:spcBef>
                <a:spcPts val="0"/>
              </a:spcBef>
              <a:spcAft>
                <a:spcPts val="0"/>
              </a:spcAft>
            </a:pPr>
            <a:r>
              <a:rPr sz="100">
                <a:solidFill>
                  <a:srgbClr val="FFFFFF"/>
                </a:solidFill>
                <a:latin typeface="Noto Sans"/>
              </a:rPr>
              <a:t>Tasa de crecimiento</a:t>
            </a:r>
          </a:p>
          <a:p>
            <a:pPr>
              <a:spcBef>
                <a:spcPts val="0"/>
              </a:spcBef>
              <a:spcAft>
                <a:spcPts val="0"/>
              </a:spcAft>
            </a:pPr>
            <a:r>
              <a:rPr sz="100">
                <a:solidFill>
                  <a:srgbClr val="FFFFFF"/>
                </a:solidFill>
                <a:latin typeface="Noto Sans"/>
              </a:rPr>
              <a:t>anual de 6.2%</a:t>
            </a:r>
          </a:p>
        </p:txBody>
      </p:sp>
      <p:pic>
        <p:nvPicPr>
          <p:cNvPr id="223" name="ANUARIO_IMAGE_C_13" descr="Figura C.13. SVG vectorial sin respaldo raster"/>
          <p:cNvPicPr>
            <a:picLocks noChangeAspect="1"/>
          </p:cNvPicPr>
          <p:nvPr/>
        </p:nvPicPr>
        <p:blipFill>
          <a:blip r:embed="rId2"/>
          <a:stretch>
            <a:fillRect/>
          </a:stretch>
        </p:blipFill>
        <p:spPr>
          <a:xfrm>
            <a:off x="3357372" y="1266989"/>
            <a:ext cx="5279136" cy="2943472"/>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57</a:t>
            </a:r>
          </a:p>
        </p:txBody>
      </p:sp>
    </p:spTree>
  </p:cSld>
  <p:clrMapOvr>
    <a:masterClrMapping/>
  </p:clrMapOvr>
</p:sld>
</file>

<file path=ppt/slides/slide5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4" descr="ANUARIO_FIGURE_ID=C.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C.14</a:t>
            </a:r>
          </a:p>
          <a:p>
            <a:pPr>
              <a:spcBef>
                <a:spcPts val="0"/>
              </a:spcBef>
              <a:spcAft>
                <a:spcPts val="600"/>
              </a:spcAft>
            </a:pPr>
            <a:r>
              <a:rPr sz="950" b="1">
                <a:solidFill>
                  <a:srgbClr val="203634"/>
                </a:solidFill>
                <a:latin typeface="Noto Sans"/>
              </a:rPr>
              <a:t>TRÁFICO DEL SERVICIO MÓVIL DE ACCESO A INTERNET POR TECNOLOGÍA</a:t>
            </a:r>
          </a:p>
          <a:p>
            <a:pPr>
              <a:lnSpc>
                <a:spcPct val="100000"/>
              </a:lnSpc>
              <a:spcBef>
                <a:spcPts val="0"/>
              </a:spcBef>
              <a:spcAft>
                <a:spcPts val="400"/>
              </a:spcAft>
            </a:pPr>
            <a:r>
              <a:rPr sz="819" b="0">
                <a:solidFill>
                  <a:srgbClr val="434343"/>
                </a:solidFill>
                <a:latin typeface="Noto Sans"/>
              </a:rPr>
              <a:t>Por otro lado, el tráfico del servicio móvil de acceso a Internet aumentó 3,334% de 2015 a 2024, del cual el tráfico de la red 4G aumento 53.0 puntos porcentuales; mientras que el tráfico de las redes 2G y 3G disminuyeron en 3.4 y 60.0 puntos porcentuales, respectivamente. Durante 2024, 82.2% del tráfico total correspondía a la red 4G, 7.4% a la red 3G y solo el 0.1% a la red 2G.</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4" descr="ANUARIO_FIGURE_ID=C.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4" descr="Capa accesible con el texto del SVG de la figura C.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270,026</a:t>
            </a:r>
          </a:p>
          <a:p>
            <a:pPr>
              <a:spcBef>
                <a:spcPts val="0"/>
              </a:spcBef>
              <a:spcAft>
                <a:spcPts val="0"/>
              </a:spcAft>
            </a:pPr>
            <a:r>
              <a:rPr sz="100">
                <a:solidFill>
                  <a:srgbClr val="FFFFFF"/>
                </a:solidFill>
                <a:latin typeface="Noto Sans"/>
              </a:rPr>
              <a:t>632,944</a:t>
            </a:r>
          </a:p>
          <a:p>
            <a:pPr>
              <a:spcBef>
                <a:spcPts val="0"/>
              </a:spcBef>
              <a:spcAft>
                <a:spcPts val="0"/>
              </a:spcAft>
            </a:pPr>
            <a:r>
              <a:rPr sz="100">
                <a:solidFill>
                  <a:srgbClr val="FFFFFF"/>
                </a:solidFill>
                <a:latin typeface="Noto Sans"/>
              </a:rPr>
              <a:t>1,212,063</a:t>
            </a:r>
          </a:p>
          <a:p>
            <a:pPr>
              <a:spcBef>
                <a:spcPts val="0"/>
              </a:spcBef>
              <a:spcAft>
                <a:spcPts val="0"/>
              </a:spcAft>
            </a:pPr>
            <a:r>
              <a:rPr sz="100">
                <a:solidFill>
                  <a:srgbClr val="FFFFFF"/>
                </a:solidFill>
                <a:latin typeface="Noto Sans"/>
              </a:rPr>
              <a:t>2,092,039</a:t>
            </a:r>
          </a:p>
          <a:p>
            <a:pPr>
              <a:spcBef>
                <a:spcPts val="0"/>
              </a:spcBef>
              <a:spcAft>
                <a:spcPts val="0"/>
              </a:spcAft>
            </a:pPr>
            <a:r>
              <a:rPr sz="100">
                <a:solidFill>
                  <a:srgbClr val="FFFFFF"/>
                </a:solidFill>
                <a:latin typeface="Noto Sans"/>
              </a:rPr>
              <a:t>3,965,441</a:t>
            </a:r>
          </a:p>
          <a:p>
            <a:pPr>
              <a:spcBef>
                <a:spcPts val="0"/>
              </a:spcBef>
              <a:spcAft>
                <a:spcPts val="0"/>
              </a:spcAft>
            </a:pPr>
            <a:r>
              <a:rPr sz="100">
                <a:solidFill>
                  <a:srgbClr val="FFFFFF"/>
                </a:solidFill>
                <a:latin typeface="Noto Sans"/>
              </a:rPr>
              <a:t>5,282,622</a:t>
            </a:r>
          </a:p>
          <a:p>
            <a:pPr>
              <a:spcBef>
                <a:spcPts val="0"/>
              </a:spcBef>
              <a:spcAft>
                <a:spcPts val="0"/>
              </a:spcAft>
            </a:pPr>
            <a:r>
              <a:rPr sz="100">
                <a:solidFill>
                  <a:srgbClr val="FFFFFF"/>
                </a:solidFill>
                <a:latin typeface="Noto Sans"/>
              </a:rPr>
              <a:t>6,314,845</a:t>
            </a:r>
          </a:p>
          <a:p>
            <a:pPr>
              <a:spcBef>
                <a:spcPts val="0"/>
              </a:spcBef>
              <a:spcAft>
                <a:spcPts val="0"/>
              </a:spcAft>
            </a:pPr>
            <a:r>
              <a:rPr sz="100">
                <a:solidFill>
                  <a:srgbClr val="FFFFFF"/>
                </a:solidFill>
                <a:latin typeface="Noto Sans"/>
              </a:rPr>
              <a:t>7,712,771</a:t>
            </a:r>
          </a:p>
          <a:p>
            <a:pPr>
              <a:spcBef>
                <a:spcPts val="0"/>
              </a:spcBef>
              <a:spcAft>
                <a:spcPts val="0"/>
              </a:spcAft>
            </a:pPr>
            <a:r>
              <a:rPr sz="100">
                <a:solidFill>
                  <a:srgbClr val="FFFFFF"/>
                </a:solidFill>
                <a:latin typeface="Noto Sans"/>
              </a:rPr>
              <a:t>8,730,795</a:t>
            </a:r>
          </a:p>
          <a:p>
            <a:pPr>
              <a:spcBef>
                <a:spcPts val="0"/>
              </a:spcBef>
              <a:spcAft>
                <a:spcPts val="0"/>
              </a:spcAft>
            </a:pPr>
            <a:r>
              <a:rPr sz="100">
                <a:solidFill>
                  <a:srgbClr val="FFFFFF"/>
                </a:solidFill>
                <a:latin typeface="Noto Sans"/>
              </a:rPr>
              <a:t>9,273,922</a:t>
            </a:r>
          </a:p>
          <a:p>
            <a:pPr>
              <a:spcBef>
                <a:spcPts val="0"/>
              </a:spcBef>
              <a:spcAft>
                <a:spcPts val="0"/>
              </a:spcAft>
            </a:pPr>
            <a:r>
              <a:rPr sz="100">
                <a:solidFill>
                  <a:srgbClr val="FFFFFF"/>
                </a:solidFill>
                <a:latin typeface="Noto Sans"/>
              </a:rPr>
              <a:t>Tráfico 2G</a:t>
            </a:r>
          </a:p>
          <a:p>
            <a:pPr>
              <a:spcBef>
                <a:spcPts val="0"/>
              </a:spcBef>
              <a:spcAft>
                <a:spcPts val="0"/>
              </a:spcAft>
            </a:pPr>
            <a:r>
              <a:rPr sz="100">
                <a:solidFill>
                  <a:srgbClr val="FFFFFF"/>
                </a:solidFill>
                <a:latin typeface="Noto Sans"/>
              </a:rPr>
              <a:t>Tráfico 3G</a:t>
            </a:r>
          </a:p>
          <a:p>
            <a:pPr>
              <a:spcBef>
                <a:spcPts val="0"/>
              </a:spcBef>
              <a:spcAft>
                <a:spcPts val="0"/>
              </a:spcAft>
            </a:pPr>
            <a:r>
              <a:rPr sz="100">
                <a:solidFill>
                  <a:srgbClr val="FFFFFF"/>
                </a:solidFill>
                <a:latin typeface="Noto Sans"/>
              </a:rPr>
              <a:t>Tráfico 4G</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29.2%</a:t>
            </a:r>
          </a:p>
          <a:p>
            <a:pPr>
              <a:spcBef>
                <a:spcPts val="0"/>
              </a:spcBef>
              <a:spcAft>
                <a:spcPts val="0"/>
              </a:spcAft>
            </a:pPr>
            <a:r>
              <a:rPr sz="100">
                <a:solidFill>
                  <a:srgbClr val="FFFFFF"/>
                </a:solidFill>
                <a:latin typeface="Noto Sans"/>
              </a:rPr>
              <a:t>67.3%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37.6%</a:t>
            </a:r>
          </a:p>
          <a:p>
            <a:pPr>
              <a:spcBef>
                <a:spcPts val="0"/>
              </a:spcBef>
              <a:spcAft>
                <a:spcPts val="0"/>
              </a:spcAft>
            </a:pPr>
            <a:r>
              <a:rPr sz="100">
                <a:solidFill>
                  <a:srgbClr val="FFFFFF"/>
                </a:solidFill>
                <a:latin typeface="Noto Sans"/>
              </a:rPr>
              <a:t>60.5%</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46.0%</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66.9%</a:t>
            </a:r>
          </a:p>
          <a:p>
            <a:pPr>
              <a:spcBef>
                <a:spcPts val="0"/>
              </a:spcBef>
              <a:spcAft>
                <a:spcPts val="0"/>
              </a:spcAft>
            </a:pPr>
            <a:r>
              <a:rPr sz="100">
                <a:solidFill>
                  <a:srgbClr val="FFFFFF"/>
                </a:solidFill>
                <a:latin typeface="Noto Sans"/>
              </a:rPr>
              <a:t>32.8%</a:t>
            </a:r>
          </a:p>
          <a:p>
            <a:pPr>
              <a:spcBef>
                <a:spcPts val="0"/>
              </a:spcBef>
              <a:spcAft>
                <a:spcPts val="0"/>
              </a:spcAft>
            </a:pPr>
            <a:r>
              <a:rPr sz="100">
                <a:solidFill>
                  <a:srgbClr val="FFFFFF"/>
                </a:solidFill>
                <a:latin typeface="Noto Sans"/>
              </a:rPr>
              <a:t>0.2%</a:t>
            </a:r>
          </a:p>
          <a:p>
            <a:pPr>
              <a:spcBef>
                <a:spcPts val="0"/>
              </a:spcBef>
              <a:spcAft>
                <a:spcPts val="0"/>
              </a:spcAft>
            </a:pPr>
            <a:r>
              <a:rPr sz="100">
                <a:solidFill>
                  <a:srgbClr val="FFFFFF"/>
                </a:solidFill>
                <a:latin typeface="Noto Sans"/>
              </a:rPr>
              <a:t>76.5%</a:t>
            </a:r>
          </a:p>
          <a:p>
            <a:pPr>
              <a:spcBef>
                <a:spcPts val="0"/>
              </a:spcBef>
              <a:spcAft>
                <a:spcPts val="0"/>
              </a:spcAft>
            </a:pPr>
            <a:r>
              <a:rPr sz="100">
                <a:solidFill>
                  <a:srgbClr val="FFFFFF"/>
                </a:solidFill>
                <a:latin typeface="Noto Sans"/>
              </a:rPr>
              <a:t>23.3%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81.0%</a:t>
            </a:r>
          </a:p>
          <a:p>
            <a:pPr>
              <a:spcBef>
                <a:spcPts val="0"/>
              </a:spcBef>
              <a:spcAft>
                <a:spcPts val="0"/>
              </a:spcAft>
            </a:pPr>
            <a:r>
              <a:rPr sz="100">
                <a:solidFill>
                  <a:srgbClr val="FFFFFF"/>
                </a:solidFill>
                <a:latin typeface="Noto Sans"/>
              </a:rPr>
              <a:t>18.8%</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0.1%</a:t>
            </a:r>
          </a:p>
          <a:p>
            <a:pPr>
              <a:spcBef>
                <a:spcPts val="0"/>
              </a:spcBef>
              <a:spcAft>
                <a:spcPts val="0"/>
              </a:spcAft>
            </a:pPr>
            <a:r>
              <a:rPr sz="100">
                <a:solidFill>
                  <a:srgbClr val="FFFFFF"/>
                </a:solidFill>
                <a:latin typeface="Noto Sans"/>
              </a:rPr>
              <a:t>83.7%</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0.08%</a:t>
            </a:r>
          </a:p>
          <a:p>
            <a:pPr>
              <a:spcBef>
                <a:spcPts val="0"/>
              </a:spcBef>
              <a:spcAft>
                <a:spcPts val="0"/>
              </a:spcAft>
            </a:pPr>
            <a:r>
              <a:rPr sz="100">
                <a:solidFill>
                  <a:srgbClr val="FFFFFF"/>
                </a:solidFill>
                <a:latin typeface="Noto Sans"/>
              </a:rPr>
              <a:t>82.2%</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acumulado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Los porcentajes se calculan respecto del tráfico total; el tráfico sin tecnología especificada no se representa.</a:t>
            </a:r>
          </a:p>
          <a:p>
            <a:pPr>
              <a:spcBef>
                <a:spcPts val="0"/>
              </a:spcBef>
              <a:spcAft>
                <a:spcPts val="0"/>
              </a:spcAft>
            </a:pPr>
            <a:r>
              <a:rPr sz="100">
                <a:solidFill>
                  <a:srgbClr val="FFFFFF"/>
                </a:solidFill>
                <a:latin typeface="Noto Sans"/>
              </a:rPr>
              <a:t>Figura C.14.</a:t>
            </a:r>
          </a:p>
          <a:p>
            <a:pPr>
              <a:spcBef>
                <a:spcPts val="0"/>
              </a:spcBef>
              <a:spcAft>
                <a:spcPts val="0"/>
              </a:spcAft>
            </a:pPr>
            <a:r>
              <a:rPr sz="100">
                <a:solidFill>
                  <a:srgbClr val="FFFFFF"/>
                </a:solidFill>
                <a:latin typeface="Noto Sans"/>
              </a:rPr>
              <a:t>Tráfico del servicio móvil de acceso a Internet (2015-2024)</a:t>
            </a:r>
          </a:p>
        </p:txBody>
      </p:sp>
      <p:pic>
        <p:nvPicPr>
          <p:cNvPr id="223" name="ANUARIO_IMAGE_C_14" descr="Figura C.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58</a:t>
            </a:r>
          </a:p>
        </p:txBody>
      </p:sp>
    </p:spTree>
  </p:cSld>
  <p:clrMapOvr>
    <a:masterClrMapping/>
  </p:clrMapOvr>
</p:sld>
</file>

<file path=ppt/slides/slide5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5" descr="ANUARIO_FIGURE_ID=C.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C.15</a:t>
            </a:r>
          </a:p>
          <a:p>
            <a:pPr>
              <a:spcBef>
                <a:spcPts val="0"/>
              </a:spcBef>
              <a:spcAft>
                <a:spcPts val="600"/>
              </a:spcAft>
            </a:pPr>
            <a:r>
              <a:rPr sz="950" b="1">
                <a:solidFill>
                  <a:srgbClr val="203634"/>
                </a:solidFill>
                <a:latin typeface="Noto Sans"/>
              </a:rPr>
              <a:t>PARTICIPACIÓN DE MERCADO DEL SERVICIO MÓVIL DE ACCESO A INTERNET</a:t>
            </a:r>
          </a:p>
          <a:p>
            <a:pPr>
              <a:lnSpc>
                <a:spcPct val="100000"/>
              </a:lnSpc>
              <a:spcBef>
                <a:spcPts val="0"/>
              </a:spcBef>
              <a:spcAft>
                <a:spcPts val="400"/>
              </a:spcAft>
            </a:pPr>
            <a:r>
              <a:rPr sz="760" b="0">
                <a:solidFill>
                  <a:srgbClr val="434343"/>
                </a:solidFill>
                <a:latin typeface="Noto Sans"/>
              </a:rPr>
              <a:t>En cuanto a la participación de mercado del servicio móvil de acceso a Internet, se observó una disminución de 21.88 puntos porcentuales en la participación de América Móvil de 2013 a 2024, para la participación de Telefónica la disminución fue de 2.15 puntos porcentuales en el mismo periodo, y, de 2023 a 2024, la participación de Grupo Walmart creció 3.99 puntos porcentuales. Por otro lado, la participación de mercado de la categoría Otros, a partir de 2015, aumentó 3.17 puntos porcentuales de 2015 a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5" descr="ANUARIO_FIGURE_ID=C.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5" descr="Capa accesible con el texto del SVG de la figura C.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C.15</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81.59%</a:t>
            </a:r>
          </a:p>
          <a:p>
            <a:pPr>
              <a:spcBef>
                <a:spcPts val="0"/>
              </a:spcBef>
              <a:spcAft>
                <a:spcPts val="0"/>
              </a:spcAft>
            </a:pPr>
            <a:r>
              <a:rPr sz="100">
                <a:solidFill>
                  <a:srgbClr val="FFFFFF"/>
                </a:solidFill>
                <a:latin typeface="Noto Sans"/>
              </a:rPr>
              <a:t>9.13%</a:t>
            </a:r>
          </a:p>
          <a:p>
            <a:pPr>
              <a:spcBef>
                <a:spcPts val="0"/>
              </a:spcBef>
              <a:spcAft>
                <a:spcPts val="0"/>
              </a:spcAft>
            </a:pPr>
            <a:r>
              <a:rPr sz="100">
                <a:solidFill>
                  <a:srgbClr val="FFFFFF"/>
                </a:solidFill>
                <a:latin typeface="Noto Sans"/>
              </a:rPr>
              <a:t>9.28%</a:t>
            </a:r>
          </a:p>
          <a:p>
            <a:pPr>
              <a:spcBef>
                <a:spcPts val="0"/>
              </a:spcBef>
              <a:spcAft>
                <a:spcPts val="0"/>
              </a:spcAft>
            </a:pPr>
            <a:r>
              <a:rPr sz="100">
                <a:solidFill>
                  <a:srgbClr val="FFFFFF"/>
                </a:solidFill>
                <a:latin typeface="Noto Sans"/>
              </a:rPr>
              <a:t>74.58%</a:t>
            </a:r>
          </a:p>
          <a:p>
            <a:pPr>
              <a:spcBef>
                <a:spcPts val="0"/>
              </a:spcBef>
              <a:spcAft>
                <a:spcPts val="0"/>
              </a:spcAft>
            </a:pPr>
            <a:r>
              <a:rPr sz="100">
                <a:solidFill>
                  <a:srgbClr val="FFFFFF"/>
                </a:solidFill>
                <a:latin typeface="Noto Sans"/>
              </a:rPr>
              <a:t>15.30%</a:t>
            </a:r>
          </a:p>
          <a:p>
            <a:pPr>
              <a:spcBef>
                <a:spcPts val="0"/>
              </a:spcBef>
              <a:spcAft>
                <a:spcPts val="0"/>
              </a:spcAft>
            </a:pPr>
            <a:r>
              <a:rPr sz="100">
                <a:solidFill>
                  <a:srgbClr val="FFFFFF"/>
                </a:solidFill>
                <a:latin typeface="Noto Sans"/>
              </a:rPr>
              <a:t>10.12%</a:t>
            </a:r>
          </a:p>
          <a:p>
            <a:pPr>
              <a:spcBef>
                <a:spcPts val="0"/>
              </a:spcBef>
              <a:spcAft>
                <a:spcPts val="0"/>
              </a:spcAft>
            </a:pPr>
            <a:r>
              <a:rPr sz="100">
                <a:solidFill>
                  <a:srgbClr val="FFFFFF"/>
                </a:solidFill>
                <a:latin typeface="Noto Sans"/>
              </a:rPr>
              <a:t>70.35%</a:t>
            </a:r>
          </a:p>
          <a:p>
            <a:pPr>
              <a:spcBef>
                <a:spcPts val="0"/>
              </a:spcBef>
              <a:spcAft>
                <a:spcPts val="0"/>
              </a:spcAft>
            </a:pPr>
            <a:r>
              <a:rPr sz="100">
                <a:solidFill>
                  <a:srgbClr val="FFFFFF"/>
                </a:solidFill>
                <a:latin typeface="Noto Sans"/>
              </a:rPr>
              <a:t>9.88%</a:t>
            </a:r>
          </a:p>
          <a:p>
            <a:pPr>
              <a:spcBef>
                <a:spcPts val="0"/>
              </a:spcBef>
              <a:spcAft>
                <a:spcPts val="0"/>
              </a:spcAft>
            </a:pPr>
            <a:r>
              <a:rPr sz="100">
                <a:solidFill>
                  <a:srgbClr val="FFFFFF"/>
                </a:solidFill>
                <a:latin typeface="Noto Sans"/>
              </a:rPr>
              <a:t>18.45%</a:t>
            </a:r>
          </a:p>
          <a:p>
            <a:pPr>
              <a:spcBef>
                <a:spcPts val="0"/>
              </a:spcBef>
              <a:spcAft>
                <a:spcPts val="0"/>
              </a:spcAft>
            </a:pPr>
            <a:r>
              <a:rPr sz="100">
                <a:solidFill>
                  <a:srgbClr val="FFFFFF"/>
                </a:solidFill>
                <a:latin typeface="Noto Sans"/>
              </a:rPr>
              <a:t>1.32%</a:t>
            </a:r>
          </a:p>
          <a:p>
            <a:pPr>
              <a:spcBef>
                <a:spcPts val="0"/>
              </a:spcBef>
              <a:spcAft>
                <a:spcPts val="0"/>
              </a:spcAft>
            </a:pPr>
            <a:r>
              <a:rPr sz="100">
                <a:solidFill>
                  <a:srgbClr val="FFFFFF"/>
                </a:solidFill>
                <a:latin typeface="Noto Sans"/>
              </a:rPr>
              <a:t>71.25%</a:t>
            </a:r>
          </a:p>
          <a:p>
            <a:pPr>
              <a:spcBef>
                <a:spcPts val="0"/>
              </a:spcBef>
              <a:spcAft>
                <a:spcPts val="0"/>
              </a:spcAft>
            </a:pPr>
            <a:r>
              <a:rPr sz="100">
                <a:solidFill>
                  <a:srgbClr val="FFFFFF"/>
                </a:solidFill>
                <a:latin typeface="Noto Sans"/>
              </a:rPr>
              <a:t>13.00%</a:t>
            </a:r>
          </a:p>
          <a:p>
            <a:pPr>
              <a:spcBef>
                <a:spcPts val="0"/>
              </a:spcBef>
              <a:spcAft>
                <a:spcPts val="0"/>
              </a:spcAft>
            </a:pPr>
            <a:r>
              <a:rPr sz="100">
                <a:solidFill>
                  <a:srgbClr val="FFFFFF"/>
                </a:solidFill>
                <a:latin typeface="Noto Sans"/>
              </a:rPr>
              <a:t>14.12%</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70.66%</a:t>
            </a:r>
          </a:p>
          <a:p>
            <a:pPr>
              <a:spcBef>
                <a:spcPts val="0"/>
              </a:spcBef>
              <a:spcAft>
                <a:spcPts val="0"/>
              </a:spcAft>
            </a:pPr>
            <a:r>
              <a:rPr sz="100">
                <a:solidFill>
                  <a:srgbClr val="FFFFFF"/>
                </a:solidFill>
                <a:latin typeface="Noto Sans"/>
              </a:rPr>
              <a:t>15.05%</a:t>
            </a:r>
          </a:p>
          <a:p>
            <a:pPr>
              <a:spcBef>
                <a:spcPts val="0"/>
              </a:spcBef>
              <a:spcAft>
                <a:spcPts val="0"/>
              </a:spcAft>
            </a:pPr>
            <a:r>
              <a:rPr sz="100">
                <a:solidFill>
                  <a:srgbClr val="FFFFFF"/>
                </a:solidFill>
                <a:latin typeface="Noto Sans"/>
              </a:rPr>
              <a:t>12.46%</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70.72%</a:t>
            </a:r>
          </a:p>
          <a:p>
            <a:pPr>
              <a:spcBef>
                <a:spcPts val="0"/>
              </a:spcBef>
              <a:spcAft>
                <a:spcPts val="0"/>
              </a:spcAft>
            </a:pPr>
            <a:r>
              <a:rPr sz="100">
                <a:solidFill>
                  <a:srgbClr val="FFFFFF"/>
                </a:solidFill>
                <a:latin typeface="Noto Sans"/>
              </a:rPr>
              <a:t>15.56%</a:t>
            </a:r>
          </a:p>
          <a:p>
            <a:pPr>
              <a:spcBef>
                <a:spcPts val="0"/>
              </a:spcBef>
              <a:spcAft>
                <a:spcPts val="0"/>
              </a:spcAft>
            </a:pPr>
            <a:r>
              <a:rPr sz="100">
                <a:solidFill>
                  <a:srgbClr val="FFFFFF"/>
                </a:solidFill>
                <a:latin typeface="Noto Sans"/>
              </a:rPr>
              <a:t>11.72%</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69.83%</a:t>
            </a:r>
          </a:p>
          <a:p>
            <a:pPr>
              <a:spcBef>
                <a:spcPts val="0"/>
              </a:spcBef>
              <a:spcAft>
                <a:spcPts val="0"/>
              </a:spcAft>
            </a:pPr>
            <a:r>
              <a:rPr sz="100">
                <a:solidFill>
                  <a:srgbClr val="FFFFFF"/>
                </a:solidFill>
                <a:latin typeface="Noto Sans"/>
              </a:rPr>
              <a:t>17.14%</a:t>
            </a:r>
          </a:p>
          <a:p>
            <a:pPr>
              <a:spcBef>
                <a:spcPts val="0"/>
              </a:spcBef>
              <a:spcAft>
                <a:spcPts val="0"/>
              </a:spcAft>
            </a:pPr>
            <a:r>
              <a:rPr sz="100">
                <a:solidFill>
                  <a:srgbClr val="FFFFFF"/>
                </a:solidFill>
                <a:latin typeface="Noto Sans"/>
              </a:rPr>
              <a:t>10.92%</a:t>
            </a:r>
          </a:p>
          <a:p>
            <a:pPr>
              <a:spcBef>
                <a:spcPts val="0"/>
              </a:spcBef>
              <a:spcAft>
                <a:spcPts val="0"/>
              </a:spcAft>
            </a:pPr>
            <a:r>
              <a:rPr sz="100">
                <a:solidFill>
                  <a:srgbClr val="FFFFFF"/>
                </a:solidFill>
                <a:latin typeface="Noto Sans"/>
              </a:rPr>
              <a:t>2.11%</a:t>
            </a:r>
          </a:p>
          <a:p>
            <a:pPr>
              <a:spcBef>
                <a:spcPts val="0"/>
              </a:spcBef>
              <a:spcAft>
                <a:spcPts val="0"/>
              </a:spcAft>
            </a:pPr>
            <a:r>
              <a:rPr sz="100">
                <a:solidFill>
                  <a:srgbClr val="FFFFFF"/>
                </a:solidFill>
                <a:latin typeface="Noto Sans"/>
              </a:rPr>
              <a:t>71.01%</a:t>
            </a:r>
          </a:p>
          <a:p>
            <a:pPr>
              <a:spcBef>
                <a:spcPts val="0"/>
              </a:spcBef>
              <a:spcAft>
                <a:spcPts val="0"/>
              </a:spcAft>
            </a:pPr>
            <a:r>
              <a:rPr sz="100">
                <a:solidFill>
                  <a:srgbClr val="FFFFFF"/>
                </a:solidFill>
                <a:latin typeface="Noto Sans"/>
              </a:rPr>
              <a:t>16.06%</a:t>
            </a:r>
          </a:p>
          <a:p>
            <a:pPr>
              <a:spcBef>
                <a:spcPts val="0"/>
              </a:spcBef>
              <a:spcAft>
                <a:spcPts val="0"/>
              </a:spcAft>
            </a:pPr>
            <a:r>
              <a:rPr sz="100">
                <a:solidFill>
                  <a:srgbClr val="FFFFFF"/>
                </a:solidFill>
                <a:latin typeface="Noto Sans"/>
              </a:rPr>
              <a:t>10.41%</a:t>
            </a:r>
          </a:p>
          <a:p>
            <a:pPr>
              <a:spcBef>
                <a:spcPts val="0"/>
              </a:spcBef>
              <a:spcAft>
                <a:spcPts val="0"/>
              </a:spcAft>
            </a:pPr>
            <a:r>
              <a:rPr sz="100">
                <a:solidFill>
                  <a:srgbClr val="FFFFFF"/>
                </a:solidFill>
                <a:latin typeface="Noto Sans"/>
              </a:rPr>
              <a:t>2.49%</a:t>
            </a:r>
          </a:p>
          <a:p>
            <a:pPr>
              <a:spcBef>
                <a:spcPts val="0"/>
              </a:spcBef>
              <a:spcAft>
                <a:spcPts val="0"/>
              </a:spcAft>
            </a:pPr>
            <a:r>
              <a:rPr sz="100">
                <a:solidFill>
                  <a:srgbClr val="FFFFFF"/>
                </a:solidFill>
                <a:latin typeface="Noto Sans"/>
              </a:rPr>
              <a:t>70.15%</a:t>
            </a:r>
          </a:p>
          <a:p>
            <a:pPr>
              <a:spcBef>
                <a:spcPts val="0"/>
              </a:spcBef>
              <a:spcAft>
                <a:spcPts val="0"/>
              </a:spcAft>
            </a:pPr>
            <a:r>
              <a:rPr sz="100">
                <a:solidFill>
                  <a:srgbClr val="FFFFFF"/>
                </a:solidFill>
                <a:latin typeface="Noto Sans"/>
              </a:rPr>
              <a:t>17.47%</a:t>
            </a:r>
          </a:p>
          <a:p>
            <a:pPr>
              <a:spcBef>
                <a:spcPts val="0"/>
              </a:spcBef>
              <a:spcAft>
                <a:spcPts val="0"/>
              </a:spcAft>
            </a:pPr>
            <a:r>
              <a:rPr sz="100">
                <a:solidFill>
                  <a:srgbClr val="FFFFFF"/>
                </a:solidFill>
                <a:latin typeface="Noto Sans"/>
              </a:rPr>
              <a:t>9.58%</a:t>
            </a:r>
          </a:p>
          <a:p>
            <a:pPr>
              <a:spcBef>
                <a:spcPts val="0"/>
              </a:spcBef>
              <a:spcAft>
                <a:spcPts val="0"/>
              </a:spcAft>
            </a:pPr>
            <a:r>
              <a:rPr sz="100">
                <a:solidFill>
                  <a:srgbClr val="FFFFFF"/>
                </a:solidFill>
                <a:latin typeface="Noto Sans"/>
              </a:rPr>
              <a:t>2.78%</a:t>
            </a:r>
          </a:p>
          <a:p>
            <a:pPr>
              <a:spcBef>
                <a:spcPts val="0"/>
              </a:spcBef>
              <a:spcAft>
                <a:spcPts val="0"/>
              </a:spcAft>
            </a:pPr>
            <a:r>
              <a:rPr sz="100">
                <a:solidFill>
                  <a:srgbClr val="FFFFFF"/>
                </a:solidFill>
                <a:latin typeface="Noto Sans"/>
              </a:rPr>
              <a:t>65.93%</a:t>
            </a:r>
          </a:p>
          <a:p>
            <a:pPr>
              <a:spcBef>
                <a:spcPts val="0"/>
              </a:spcBef>
              <a:spcAft>
                <a:spcPts val="0"/>
              </a:spcAft>
            </a:pPr>
            <a:r>
              <a:rPr sz="100">
                <a:solidFill>
                  <a:srgbClr val="FFFFFF"/>
                </a:solidFill>
                <a:latin typeface="Noto Sans"/>
              </a:rPr>
              <a:t>17.13%</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8.28%</a:t>
            </a:r>
          </a:p>
          <a:p>
            <a:pPr>
              <a:spcBef>
                <a:spcPts val="0"/>
              </a:spcBef>
              <a:spcAft>
                <a:spcPts val="0"/>
              </a:spcAft>
            </a:pPr>
            <a:r>
              <a:rPr sz="100">
                <a:solidFill>
                  <a:srgbClr val="FFFFFF"/>
                </a:solidFill>
                <a:latin typeface="Noto Sans"/>
              </a:rPr>
              <a:t>3.95%</a:t>
            </a:r>
          </a:p>
          <a:p>
            <a:pPr>
              <a:spcBef>
                <a:spcPts val="0"/>
              </a:spcBef>
              <a:spcAft>
                <a:spcPts val="0"/>
              </a:spcAft>
            </a:pPr>
            <a:r>
              <a:rPr sz="100">
                <a:solidFill>
                  <a:srgbClr val="FFFFFF"/>
                </a:solidFill>
                <a:latin typeface="Noto Sans"/>
              </a:rPr>
              <a:t>63.66%</a:t>
            </a:r>
          </a:p>
          <a:p>
            <a:pPr>
              <a:spcBef>
                <a:spcPts val="0"/>
              </a:spcBef>
              <a:spcAft>
                <a:spcPts val="0"/>
              </a:spcAft>
            </a:pPr>
            <a:r>
              <a:rPr sz="100">
                <a:solidFill>
                  <a:srgbClr val="FFFFFF"/>
                </a:solidFill>
                <a:latin typeface="Noto Sans"/>
              </a:rPr>
              <a:t>14.59%</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7.64%</a:t>
            </a:r>
          </a:p>
          <a:p>
            <a:pPr>
              <a:spcBef>
                <a:spcPts val="0"/>
              </a:spcBef>
              <a:spcAft>
                <a:spcPts val="0"/>
              </a:spcAft>
            </a:pPr>
            <a:r>
              <a:rPr sz="100">
                <a:solidFill>
                  <a:srgbClr val="FFFFFF"/>
                </a:solidFill>
                <a:latin typeface="Noto Sans"/>
              </a:rPr>
              <a:t>4.66%</a:t>
            </a:r>
          </a:p>
          <a:p>
            <a:pPr>
              <a:spcBef>
                <a:spcPts val="0"/>
              </a:spcBef>
              <a:spcAft>
                <a:spcPts val="0"/>
              </a:spcAft>
            </a:pPr>
            <a:r>
              <a:rPr sz="100">
                <a:solidFill>
                  <a:srgbClr val="FFFFFF"/>
                </a:solidFill>
                <a:latin typeface="Noto Sans"/>
              </a:rPr>
              <a:t>59.71%</a:t>
            </a:r>
          </a:p>
          <a:p>
            <a:pPr>
              <a:spcBef>
                <a:spcPts val="0"/>
              </a:spcBef>
              <a:spcAft>
                <a:spcPts val="0"/>
              </a:spcAft>
            </a:pPr>
            <a:r>
              <a:rPr sz="100">
                <a:solidFill>
                  <a:srgbClr val="FFFFFF"/>
                </a:solidFill>
                <a:latin typeface="Noto Sans"/>
              </a:rPr>
              <a:t>15.40%</a:t>
            </a:r>
          </a:p>
          <a:p>
            <a:pPr>
              <a:spcBef>
                <a:spcPts val="0"/>
              </a:spcBef>
              <a:spcAft>
                <a:spcPts val="0"/>
              </a:spcAft>
            </a:pPr>
            <a:r>
              <a:rPr sz="100">
                <a:solidFill>
                  <a:srgbClr val="FFFFFF"/>
                </a:solidFill>
                <a:latin typeface="Noto Sans"/>
              </a:rPr>
              <a:t>13.43%</a:t>
            </a:r>
          </a:p>
          <a:p>
            <a:pPr>
              <a:spcBef>
                <a:spcPts val="0"/>
              </a:spcBef>
              <a:spcAft>
                <a:spcPts val="0"/>
              </a:spcAft>
            </a:pPr>
            <a:r>
              <a:rPr sz="100">
                <a:solidFill>
                  <a:srgbClr val="FFFFFF"/>
                </a:solidFill>
                <a:latin typeface="Noto Sans"/>
              </a:rPr>
              <a:t>6.98%</a:t>
            </a:r>
          </a:p>
          <a:p>
            <a:pPr>
              <a:spcBef>
                <a:spcPts val="0"/>
              </a:spcBef>
              <a:spcAft>
                <a:spcPts val="0"/>
              </a:spcAft>
            </a:pPr>
            <a:r>
              <a:rPr sz="100">
                <a:solidFill>
                  <a:srgbClr val="FFFFFF"/>
                </a:solidFill>
                <a:latin typeface="Noto Sans"/>
              </a:rPr>
              <a:t>4.49%</a:t>
            </a:r>
          </a:p>
          <a:p>
            <a:pPr>
              <a:spcBef>
                <a:spcPts val="0"/>
              </a:spcBef>
              <a:spcAft>
                <a:spcPts val="0"/>
              </a:spcAft>
            </a:pPr>
            <a:r>
              <a:rPr sz="100">
                <a:solidFill>
                  <a:srgbClr val="FFFFFF"/>
                </a:solidFill>
                <a:latin typeface="Noto Sans"/>
              </a:rPr>
              <a:t>América Móvil</a:t>
            </a:r>
          </a:p>
          <a:p>
            <a:pPr>
              <a:spcBef>
                <a:spcPts val="0"/>
              </a:spcBef>
              <a:spcAft>
                <a:spcPts val="0"/>
              </a:spcAft>
            </a:pPr>
            <a:r>
              <a:rPr sz="100">
                <a:solidFill>
                  <a:srgbClr val="FFFFFF"/>
                </a:solidFill>
                <a:latin typeface="Noto Sans"/>
              </a:rPr>
              <a:t>AT&amp;T</a:t>
            </a:r>
          </a:p>
          <a:p>
            <a:pPr>
              <a:spcBef>
                <a:spcPts val="0"/>
              </a:spcBef>
              <a:spcAft>
                <a:spcPts val="0"/>
              </a:spcAft>
            </a:pPr>
            <a:r>
              <a:rPr sz="100">
                <a:solidFill>
                  <a:srgbClr val="FFFFFF"/>
                </a:solidFill>
                <a:latin typeface="Noto Sans"/>
              </a:rPr>
              <a:t>Grupo Walmart</a:t>
            </a:r>
          </a:p>
          <a:p>
            <a:pPr>
              <a:spcBef>
                <a:spcPts val="0"/>
              </a:spcBef>
              <a:spcAft>
                <a:spcPts val="0"/>
              </a:spcAft>
            </a:pPr>
            <a:r>
              <a:rPr sz="100">
                <a:solidFill>
                  <a:srgbClr val="FFFFFF"/>
                </a:solidFill>
                <a:latin typeface="Noto Sans"/>
              </a:rPr>
              <a:t>Telefónica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Figura C.15.</a:t>
            </a:r>
          </a:p>
          <a:p>
            <a:pPr>
              <a:spcBef>
                <a:spcPts val="0"/>
              </a:spcBef>
              <a:spcAft>
                <a:spcPts val="0"/>
              </a:spcAft>
            </a:pPr>
            <a:r>
              <a:rPr sz="100">
                <a:solidFill>
                  <a:srgbClr val="FFFFFF"/>
                </a:solidFill>
                <a:latin typeface="Noto Sans"/>
              </a:rPr>
              <a:t>Participación de mercado del servicio móvil de acceso a Internet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La suma puede no ser 100% por redondeo.</a:t>
            </a:r>
          </a:p>
        </p:txBody>
      </p:sp>
      <p:pic>
        <p:nvPicPr>
          <p:cNvPr id="223" name="ANUARIO_IMAGE_C_15" descr="Figura C.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59</a:t>
            </a:r>
          </a:p>
        </p:txBody>
      </p:sp>
    </p:spTree>
  </p:cSld>
  <p:clrMapOvr>
    <a:masterClrMapping/>
  </p:clrMapOvr>
</p:sld>
</file>

<file path=ppt/slides/slide6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C_16" descr="ANUARIO_FIGURE_ID=C.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C.16</a:t>
            </a:r>
          </a:p>
          <a:p>
            <a:pPr>
              <a:spcBef>
                <a:spcPts val="0"/>
              </a:spcBef>
              <a:spcAft>
                <a:spcPts val="600"/>
              </a:spcAft>
            </a:pPr>
            <a:r>
              <a:rPr sz="950" b="1">
                <a:solidFill>
                  <a:srgbClr val="203634"/>
                </a:solidFill>
                <a:latin typeface="Noto Sans"/>
              </a:rPr>
              <a:t>ÍNDICE DE CONCENTRACIÓN DEL SERVICIO MÓVIL DE ACCESO A INTERNET</a:t>
            </a:r>
          </a:p>
          <a:p>
            <a:pPr>
              <a:lnSpc>
                <a:spcPct val="100000"/>
              </a:lnSpc>
              <a:spcBef>
                <a:spcPts val="0"/>
              </a:spcBef>
              <a:spcAft>
                <a:spcPts val="400"/>
              </a:spcAft>
            </a:pPr>
            <a:r>
              <a:rPr sz="880" b="0">
                <a:solidFill>
                  <a:srgbClr val="434343"/>
                </a:solidFill>
                <a:latin typeface="Noto Sans"/>
              </a:rPr>
              <a:t>Complementando lo anterior, se observa que el Índice de Herfindahl-Hirschman (IHH) del servicio móvil de acceso a Internet ha mostrado una disminución desde el año 2013, llegando a su punto mínimo en el año 2024.</a:t>
            </a:r>
          </a:p>
        </p:txBody>
      </p:sp>
      <p:sp>
        <p:nvSpPr>
          <p:cNvPr id="202" name="ANUARIO_SECTION_HEADER_C" descr="ANUARIO_SECTION=C;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C. SERVICIOS MÓVILES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C_16" descr="ANUARIO_FIGURE_ID=C.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C_16" descr="Capa accesible con el texto del SVG de la figura C.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C.16</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4,033</a:t>
            </a:r>
          </a:p>
          <a:p>
            <a:pPr>
              <a:spcBef>
                <a:spcPts val="0"/>
              </a:spcBef>
              <a:spcAft>
                <a:spcPts val="0"/>
              </a:spcAft>
            </a:pPr>
            <a:r>
              <a:rPr sz="100">
                <a:solidFill>
                  <a:srgbClr val="FFFFFF"/>
                </a:solidFill>
                <a:latin typeface="Noto Sans"/>
              </a:rPr>
              <a:t>4,417</a:t>
            </a:r>
          </a:p>
          <a:p>
            <a:pPr>
              <a:spcBef>
                <a:spcPts val="0"/>
              </a:spcBef>
              <a:spcAft>
                <a:spcPts val="0"/>
              </a:spcAft>
            </a:pPr>
            <a:r>
              <a:rPr sz="100">
                <a:solidFill>
                  <a:srgbClr val="FFFFFF"/>
                </a:solidFill>
                <a:latin typeface="Noto Sans"/>
              </a:rPr>
              <a:t>4,733</a:t>
            </a:r>
          </a:p>
          <a:p>
            <a:pPr>
              <a:spcBef>
                <a:spcPts val="0"/>
              </a:spcBef>
              <a:spcAft>
                <a:spcPts val="0"/>
              </a:spcAft>
            </a:pPr>
            <a:r>
              <a:rPr sz="100">
                <a:solidFill>
                  <a:srgbClr val="FFFFFF"/>
                </a:solidFill>
                <a:latin typeface="Noto Sans"/>
              </a:rPr>
              <a:t>5,319</a:t>
            </a:r>
          </a:p>
          <a:p>
            <a:pPr>
              <a:spcBef>
                <a:spcPts val="0"/>
              </a:spcBef>
              <a:spcAft>
                <a:spcPts val="0"/>
              </a:spcAft>
            </a:pPr>
            <a:r>
              <a:rPr sz="100">
                <a:solidFill>
                  <a:srgbClr val="FFFFFF"/>
                </a:solidFill>
                <a:latin typeface="Noto Sans"/>
              </a:rPr>
              <a:t>5,409</a:t>
            </a:r>
          </a:p>
          <a:p>
            <a:pPr>
              <a:spcBef>
                <a:spcPts val="0"/>
              </a:spcBef>
              <a:spcAft>
                <a:spcPts val="0"/>
              </a:spcAft>
            </a:pPr>
            <a:r>
              <a:rPr sz="100">
                <a:solidFill>
                  <a:srgbClr val="FFFFFF"/>
                </a:solidFill>
                <a:latin typeface="Noto Sans"/>
              </a:rPr>
              <a:t>5,290</a:t>
            </a:r>
          </a:p>
          <a:p>
            <a:pPr>
              <a:spcBef>
                <a:spcPts val="0"/>
              </a:spcBef>
              <a:spcAft>
                <a:spcPts val="0"/>
              </a:spcAft>
            </a:pPr>
            <a:r>
              <a:rPr sz="100">
                <a:solidFill>
                  <a:srgbClr val="FFFFFF"/>
                </a:solidFill>
                <a:latin typeface="Noto Sans"/>
              </a:rPr>
              <a:t>5,380</a:t>
            </a:r>
          </a:p>
          <a:p>
            <a:pPr>
              <a:spcBef>
                <a:spcPts val="0"/>
              </a:spcBef>
              <a:spcAft>
                <a:spcPts val="0"/>
              </a:spcAft>
            </a:pPr>
            <a:r>
              <a:rPr sz="100">
                <a:solidFill>
                  <a:srgbClr val="FFFFFF"/>
                </a:solidFill>
                <a:latin typeface="Noto Sans"/>
              </a:rPr>
              <a:t>5,376</a:t>
            </a:r>
          </a:p>
          <a:p>
            <a:pPr>
              <a:spcBef>
                <a:spcPts val="0"/>
              </a:spcBef>
              <a:spcAft>
                <a:spcPts val="0"/>
              </a:spcAft>
            </a:pPr>
            <a:r>
              <a:rPr sz="100">
                <a:solidFill>
                  <a:srgbClr val="FFFFFF"/>
                </a:solidFill>
                <a:latin typeface="Noto Sans"/>
              </a:rPr>
              <a:t>5,446</a:t>
            </a:r>
          </a:p>
          <a:p>
            <a:pPr>
              <a:spcBef>
                <a:spcPts val="0"/>
              </a:spcBef>
              <a:spcAft>
                <a:spcPts val="0"/>
              </a:spcAft>
            </a:pPr>
            <a:r>
              <a:rPr sz="100">
                <a:solidFill>
                  <a:srgbClr val="FFFFFF"/>
                </a:solidFill>
                <a:latin typeface="Noto Sans"/>
              </a:rPr>
              <a:t>5,388</a:t>
            </a:r>
          </a:p>
          <a:p>
            <a:pPr>
              <a:spcBef>
                <a:spcPts val="0"/>
              </a:spcBef>
              <a:spcAft>
                <a:spcPts val="0"/>
              </a:spcAft>
            </a:pPr>
            <a:r>
              <a:rPr sz="100">
                <a:solidFill>
                  <a:srgbClr val="FFFFFF"/>
                </a:solidFill>
                <a:latin typeface="Noto Sans"/>
              </a:rPr>
              <a:t>5,848</a:t>
            </a:r>
          </a:p>
          <a:p>
            <a:pPr>
              <a:spcBef>
                <a:spcPts val="0"/>
              </a:spcBef>
              <a:spcAft>
                <a:spcPts val="0"/>
              </a:spcAft>
            </a:pPr>
            <a:r>
              <a:rPr sz="100">
                <a:solidFill>
                  <a:srgbClr val="FFFFFF"/>
                </a:solidFill>
                <a:latin typeface="Noto Sans"/>
              </a:rPr>
              <a:t>6,786</a:t>
            </a:r>
          </a:p>
          <a:p>
            <a:pPr>
              <a:spcBef>
                <a:spcPts val="0"/>
              </a:spcBef>
              <a:spcAft>
                <a:spcPts val="0"/>
              </a:spcAft>
            </a:pPr>
            <a:r>
              <a:rPr sz="100">
                <a:solidFill>
                  <a:srgbClr val="FFFFFF"/>
                </a:solidFill>
                <a:latin typeface="Noto Sans"/>
              </a:rPr>
              <a:t>Figura C.16.</a:t>
            </a:r>
          </a:p>
          <a:p>
            <a:pPr>
              <a:spcBef>
                <a:spcPts val="0"/>
              </a:spcBef>
              <a:spcAft>
                <a:spcPts val="0"/>
              </a:spcAft>
            </a:pPr>
            <a:r>
              <a:rPr sz="100">
                <a:solidFill>
                  <a:srgbClr val="FFFFFF"/>
                </a:solidFill>
                <a:latin typeface="Noto Sans"/>
              </a:rPr>
              <a:t>Herfindahl-Hirschman (IHH). Concentración del mercado de Internet móvil (2013-2024)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los operadores de telecomunicaciones a diciembre de cada año, hasta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IHH estimado con respecto al número de líneas del servicio móvil de acceso a Internet.</a:t>
            </a:r>
          </a:p>
        </p:txBody>
      </p:sp>
      <p:pic>
        <p:nvPicPr>
          <p:cNvPr id="223" name="ANUARIO_IMAGE_C_16" descr="Figura C.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60</a:t>
            </a:r>
          </a:p>
        </p:txBody>
      </p:sp>
    </p:spTree>
  </p:cSld>
  <p:clrMapOvr>
    <a:masterClrMapping/>
  </p:clrMapOvr>
</p:sld>
</file>

<file path=ppt/slides/slide6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 descr="ANUARIO_FIGURE_ID=D.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a:t>
            </a:r>
          </a:p>
          <a:p>
            <a:pPr>
              <a:spcBef>
                <a:spcPts val="0"/>
              </a:spcBef>
              <a:spcAft>
                <a:spcPts val="600"/>
              </a:spcAft>
            </a:pPr>
            <a:r>
              <a:rPr sz="950" b="1">
                <a:solidFill>
                  <a:srgbClr val="203634"/>
                </a:solidFill>
                <a:latin typeface="Noto Sans"/>
              </a:rPr>
              <a:t>DISPONIBILIDAD DE LAS TIC EN LOS HOGARES</a:t>
            </a:r>
          </a:p>
          <a:p>
            <a:pPr>
              <a:lnSpc>
                <a:spcPct val="100000"/>
              </a:lnSpc>
              <a:spcBef>
                <a:spcPts val="0"/>
              </a:spcBef>
              <a:spcAft>
                <a:spcPts val="400"/>
              </a:spcAft>
            </a:pPr>
            <a:r>
              <a:rPr sz="650" b="0">
                <a:solidFill>
                  <a:srgbClr val="434343"/>
                </a:solidFill>
                <a:latin typeface="Noto Sans"/>
              </a:rPr>
              <a:t>Los resultados de la Encuesta Nacional de Disponibilidad y Uso de las Tecnologías de la Información en los Hogares (ENDUTIH) 2025 indican que, los hogares mexicanos cuentan en mayor medida con teléfono celular, ya que el 95% de hogares disponen de él. En segundo lugar, se encuentra la disponibilidad de televisor digital con el 85% y la radio con el 35%. Además, como se observa en la Figura D.1., el televisor digital es el dispositivo con mayor crecimiento en cuanto a la disponibilidad en los hogares, ya que en el periodo que comprenden los años de 2013 a 2025, el porcentaje de hogares que disponían de este dispositivo creció 58 puntos porcentuales al pasar de 27% a 85%; por el contrario, el televisor analógico es el que más decreció al pasar de 88% en 2013 a 11% en 2025, es decir, un decremento de 77 puntos porcentuales. Lo anterior refleja la transición al uso de tecnologías de mayor calidad. Por otro lado, la disponibilidad de equipos de cómputo en los hogares se ha mantenido en promedio alrededor del 45% del total de hogares desde 2015. Mientras que, la disponibilidad de radio continúa disminuyendo año con año.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 descr="ANUARIO_FIGURE_ID=D.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 descr="Capa accesible con el texto del SVG de la figura D.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a:t>
            </a:r>
          </a:p>
          <a:p>
            <a:pPr>
              <a:spcBef>
                <a:spcPts val="0"/>
              </a:spcBef>
              <a:spcAft>
                <a:spcPts val="0"/>
              </a:spcAft>
            </a:pPr>
            <a:r>
              <a:rPr sz="100">
                <a:solidFill>
                  <a:srgbClr val="FFFFFF"/>
                </a:solidFill>
                <a:latin typeface="Noto Sans"/>
              </a:rPr>
              <a:t>2010</a:t>
            </a:r>
          </a:p>
          <a:p>
            <a:pPr>
              <a:spcBef>
                <a:spcPts val="0"/>
              </a:spcBef>
              <a:spcAft>
                <a:spcPts val="0"/>
              </a:spcAft>
            </a:pPr>
            <a:r>
              <a:rPr sz="100">
                <a:solidFill>
                  <a:srgbClr val="FFFFFF"/>
                </a:solidFill>
                <a:latin typeface="Noto Sans"/>
              </a:rPr>
              <a:t>2011</a:t>
            </a:r>
          </a:p>
          <a:p>
            <a:pPr>
              <a:spcBef>
                <a:spcPts val="0"/>
              </a:spcBef>
              <a:spcAft>
                <a:spcPts val="0"/>
              </a:spcAft>
            </a:pPr>
            <a:r>
              <a:rPr sz="100">
                <a:solidFill>
                  <a:srgbClr val="FFFFFF"/>
                </a:solidFill>
                <a:latin typeface="Noto Sans"/>
              </a:rPr>
              <a:t>2012</a:t>
            </a:r>
          </a:p>
          <a:p>
            <a:pPr>
              <a:spcBef>
                <a:spcPts val="0"/>
              </a:spcBef>
              <a:spcAft>
                <a:spcPts val="0"/>
              </a:spcAft>
            </a:pPr>
            <a:r>
              <a:rPr sz="100">
                <a:solidFill>
                  <a:srgbClr val="FFFFFF"/>
                </a:solidFill>
                <a:latin typeface="Noto Sans"/>
              </a:rPr>
              <a:t>2013</a:t>
            </a:r>
          </a:p>
          <a:p>
            <a:pPr>
              <a:spcBef>
                <a:spcPts val="0"/>
              </a:spcBef>
              <a:spcAft>
                <a:spcPts val="0"/>
              </a:spcAft>
            </a:pPr>
            <a:r>
              <a:rPr sz="100">
                <a:solidFill>
                  <a:srgbClr val="FFFFFF"/>
                </a:solidFill>
                <a:latin typeface="Noto Sans"/>
              </a:rPr>
              <a:t>2014</a:t>
            </a:r>
          </a:p>
          <a:p>
            <a:pPr>
              <a:spcBef>
                <a:spcPts val="0"/>
              </a:spcBef>
              <a:spcAft>
                <a:spcPts val="0"/>
              </a:spcAft>
            </a:pPr>
            <a:r>
              <a:rPr sz="100">
                <a:solidFill>
                  <a:srgbClr val="FFFFFF"/>
                </a:solidFill>
                <a:latin typeface="Noto Sans"/>
              </a:rPr>
              <a:t>2015</a:t>
            </a:r>
          </a:p>
          <a:p>
            <a:pPr>
              <a:spcBef>
                <a:spcPts val="0"/>
              </a:spcBef>
              <a:spcAft>
                <a:spcPts val="0"/>
              </a:spcAft>
            </a:pPr>
            <a:r>
              <a:rPr sz="100">
                <a:solidFill>
                  <a:srgbClr val="FFFFFF"/>
                </a:solidFill>
                <a:latin typeface="Noto Sans"/>
              </a:rPr>
              <a:t>2016</a:t>
            </a:r>
          </a:p>
          <a:p>
            <a:pPr>
              <a:spcBef>
                <a:spcPts val="0"/>
              </a:spcBef>
              <a:spcAft>
                <a:spcPts val="0"/>
              </a:spcAft>
            </a:pPr>
            <a:r>
              <a:rPr sz="100">
                <a:solidFill>
                  <a:srgbClr val="FFFFFF"/>
                </a:solidFill>
                <a:latin typeface="Noto Sans"/>
              </a:rPr>
              <a:t>2017</a:t>
            </a:r>
          </a:p>
          <a:p>
            <a:pPr>
              <a:spcBef>
                <a:spcPts val="0"/>
              </a:spcBef>
              <a:spcAft>
                <a:spcPts val="0"/>
              </a:spcAft>
            </a:pPr>
            <a:r>
              <a:rPr sz="100">
                <a:solidFill>
                  <a:srgbClr val="FFFFFF"/>
                </a:solidFill>
                <a:latin typeface="Noto Sans"/>
              </a:rPr>
              <a:t>2018</a:t>
            </a:r>
          </a:p>
          <a:p>
            <a:pPr>
              <a:spcBef>
                <a:spcPts val="0"/>
              </a:spcBef>
              <a:spcAft>
                <a:spcPts val="0"/>
              </a:spcAft>
            </a:pPr>
            <a:r>
              <a:rPr sz="100">
                <a:solidFill>
                  <a:srgbClr val="FFFFFF"/>
                </a:solidFill>
                <a:latin typeface="Noto Sans"/>
              </a:rPr>
              <a:t>2019</a:t>
            </a:r>
          </a:p>
          <a:p>
            <a:pPr>
              <a:spcBef>
                <a:spcPts val="0"/>
              </a:spcBef>
              <a:spcAft>
                <a:spcPts val="0"/>
              </a:spcAft>
            </a:pPr>
            <a:r>
              <a:rPr sz="100">
                <a:solidFill>
                  <a:srgbClr val="FFFFFF"/>
                </a:solidFill>
                <a:latin typeface="Noto Sans"/>
              </a:rPr>
              <a:t>2020</a:t>
            </a:r>
          </a:p>
          <a:p>
            <a:pPr>
              <a:spcBef>
                <a:spcPts val="0"/>
              </a:spcBef>
              <a:spcAft>
                <a:spcPts val="0"/>
              </a:spcAft>
            </a:pPr>
            <a:r>
              <a:rPr sz="100">
                <a:solidFill>
                  <a:srgbClr val="FFFFFF"/>
                </a:solidFill>
                <a:latin typeface="Noto Sans"/>
              </a:rPr>
              <a:t>2021</a:t>
            </a:r>
          </a:p>
          <a:p>
            <a:pPr>
              <a:spcBef>
                <a:spcPts val="0"/>
              </a:spcBef>
              <a:spcAft>
                <a:spcPts val="0"/>
              </a:spcAft>
            </a:pPr>
            <a:r>
              <a:rPr sz="100">
                <a:solidFill>
                  <a:srgbClr val="FFFFFF"/>
                </a:solidFill>
                <a:latin typeface="Noto Sans"/>
              </a:rPr>
              <a:t>2022</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2025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91</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65</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Equipo de cómputo</a:t>
            </a:r>
          </a:p>
          <a:p>
            <a:pPr>
              <a:spcBef>
                <a:spcPts val="0"/>
              </a:spcBef>
              <a:spcAft>
                <a:spcPts val="0"/>
              </a:spcAft>
            </a:pPr>
            <a:r>
              <a:rPr sz="100">
                <a:solidFill>
                  <a:srgbClr val="FFFFFF"/>
                </a:solidFill>
                <a:latin typeface="Noto Sans"/>
              </a:rPr>
              <a:t>Aparatos de radio</a:t>
            </a:r>
          </a:p>
          <a:p>
            <a:pPr>
              <a:spcBef>
                <a:spcPts val="0"/>
              </a:spcBef>
              <a:spcAft>
                <a:spcPts val="0"/>
              </a:spcAft>
            </a:pPr>
            <a:r>
              <a:rPr sz="100">
                <a:solidFill>
                  <a:srgbClr val="FFFFFF"/>
                </a:solidFill>
                <a:latin typeface="Noto Sans"/>
              </a:rPr>
              <a:t>Televisor analógico</a:t>
            </a:r>
          </a:p>
          <a:p>
            <a:pPr>
              <a:spcBef>
                <a:spcPts val="0"/>
              </a:spcBef>
              <a:spcAft>
                <a:spcPts val="0"/>
              </a:spcAft>
            </a:pPr>
            <a:r>
              <a:rPr sz="100">
                <a:solidFill>
                  <a:srgbClr val="FFFFFF"/>
                </a:solidFill>
                <a:latin typeface="Noto Sans"/>
              </a:rPr>
              <a:t>Televisor digital</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Figura D.1.</a:t>
            </a:r>
          </a:p>
          <a:p>
            <a:pPr>
              <a:spcBef>
                <a:spcPts val="0"/>
              </a:spcBef>
              <a:spcAft>
                <a:spcPts val="0"/>
              </a:spcAft>
            </a:pPr>
            <a:r>
              <a:rPr sz="100">
                <a:solidFill>
                  <a:srgbClr val="FFFFFF"/>
                </a:solidFill>
                <a:latin typeface="Noto Sans"/>
              </a:rPr>
              <a:t>Disponibilidad de las TIC en los hogares (2010-2025)</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MODUTIH para 2010-2014 y de la ENDUTIH para 2015-2025, del INEGI.</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de hogares; las etiquetas se presentan redondeadas al entero más cercano.</a:t>
            </a:r>
          </a:p>
        </p:txBody>
      </p:sp>
      <p:pic>
        <p:nvPicPr>
          <p:cNvPr id="223" name="ANUARIO_IMAGE_D_1" descr="Figura D.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61</a:t>
            </a:r>
          </a:p>
        </p:txBody>
      </p:sp>
    </p:spTree>
  </p:cSld>
  <p:clrMapOvr>
    <a:masterClrMapping/>
  </p:clrMapOvr>
</p:sld>
</file>

<file path=ppt/slides/slide6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2" descr="ANUARIO_FIGURE_ID=D.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D.2</a:t>
            </a:r>
          </a:p>
          <a:p>
            <a:pPr>
              <a:spcBef>
                <a:spcPts val="0"/>
              </a:spcBef>
              <a:spcAft>
                <a:spcPts val="600"/>
              </a:spcAft>
            </a:pPr>
            <a:r>
              <a:rPr sz="950" b="1">
                <a:solidFill>
                  <a:srgbClr val="203634"/>
                </a:solidFill>
                <a:latin typeface="Noto Sans"/>
              </a:rPr>
              <a:t>USO DE SMARTPHONE E INTERNET POR GRUPOS DE EDAD</a:t>
            </a:r>
          </a:p>
          <a:p>
            <a:pPr>
              <a:lnSpc>
                <a:spcPct val="100000"/>
              </a:lnSpc>
              <a:spcBef>
                <a:spcPts val="0"/>
              </a:spcBef>
              <a:spcAft>
                <a:spcPts val="400"/>
              </a:spcAft>
            </a:pPr>
            <a:r>
              <a:rPr sz="819" b="0">
                <a:solidFill>
                  <a:srgbClr val="434343"/>
                </a:solidFill>
                <a:latin typeface="Noto Sans"/>
              </a:rPr>
              <a:t>Con base a los resultados de la ENDUTIH 2025 las personas de 18 a 24 años son el grupo con mayor porcentaje de uso de Smartphone e Internet con el 97.2% y 97.9% respectivamente. Las personas de entre 6 a 11 años de edad son quienes menos hacen uso del Smartphone con el 40.0% y las personas de 55 años o más son quienes hacen menos uso del Internet con el 63.1%.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2" descr="ANUARIO_FIGURE_ID=D.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2" descr="Capa accesible con el texto del SVG de la figura D.2"/>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D.2</a:t>
            </a:r>
          </a:p>
          <a:p>
            <a:pPr>
              <a:spcBef>
                <a:spcPts val="0"/>
              </a:spcBef>
              <a:spcAft>
                <a:spcPts val="0"/>
              </a:spcAft>
            </a:pPr>
            <a:r>
              <a:rPr sz="100">
                <a:solidFill>
                  <a:srgbClr val="FFFFFF"/>
                </a:solidFill>
                <a:latin typeface="Noto Sans"/>
              </a:rPr>
              <a:t>6 a 11</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años</a:t>
            </a:r>
          </a:p>
          <a:p>
            <a:pPr>
              <a:spcBef>
                <a:spcPts val="0"/>
              </a:spcBef>
              <a:spcAft>
                <a:spcPts val="0"/>
              </a:spcAft>
            </a:pPr>
            <a:r>
              <a:rPr sz="100">
                <a:solidFill>
                  <a:srgbClr val="FFFFFF"/>
                </a:solidFill>
                <a:latin typeface="Noto Sans"/>
              </a:rPr>
              <a:t>55 o</a:t>
            </a:r>
          </a:p>
          <a:p>
            <a:pPr>
              <a:spcBef>
                <a:spcPts val="0"/>
              </a:spcBef>
              <a:spcAft>
                <a:spcPts val="0"/>
              </a:spcAft>
            </a:pPr>
            <a:r>
              <a:rPr sz="100">
                <a:solidFill>
                  <a:srgbClr val="FFFFFF"/>
                </a:solidFill>
                <a:latin typeface="Noto Sans"/>
              </a:rPr>
              <a:t>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84.2%</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96.2%</a:t>
            </a:r>
          </a:p>
          <a:p>
            <a:pPr>
              <a:spcBef>
                <a:spcPts val="0"/>
              </a:spcBef>
              <a:spcAft>
                <a:spcPts val="0"/>
              </a:spcAft>
            </a:pPr>
            <a:r>
              <a:rPr sz="100">
                <a:solidFill>
                  <a:srgbClr val="FFFFFF"/>
                </a:solidFill>
                <a:latin typeface="Noto Sans"/>
              </a:rPr>
              <a:t>94.4%</a:t>
            </a:r>
          </a:p>
          <a:p>
            <a:pPr>
              <a:spcBef>
                <a:spcPts val="0"/>
              </a:spcBef>
              <a:spcAft>
                <a:spcPts val="0"/>
              </a:spcAft>
            </a:pPr>
            <a:r>
              <a:rPr sz="100">
                <a:solidFill>
                  <a:srgbClr val="FFFFFF"/>
                </a:solidFill>
                <a:latin typeface="Noto Sans"/>
              </a:rPr>
              <a:t>90.4%</a:t>
            </a:r>
          </a:p>
          <a:p>
            <a:pPr>
              <a:spcBef>
                <a:spcPts val="0"/>
              </a:spcBef>
              <a:spcAft>
                <a:spcPts val="0"/>
              </a:spcAft>
            </a:pPr>
            <a:r>
              <a:rPr sz="100">
                <a:solidFill>
                  <a:srgbClr val="FFFFFF"/>
                </a:solidFill>
                <a:latin typeface="Noto Sans"/>
              </a:rPr>
              <a:t>69.2%</a:t>
            </a:r>
          </a:p>
          <a:p>
            <a:pPr>
              <a:spcBef>
                <a:spcPts val="0"/>
              </a:spcBef>
              <a:spcAft>
                <a:spcPts val="0"/>
              </a:spcAft>
            </a:pPr>
            <a:r>
              <a:rPr sz="100">
                <a:solidFill>
                  <a:srgbClr val="FFFFFF"/>
                </a:solidFill>
                <a:latin typeface="Noto Sans"/>
              </a:rPr>
              <a:t>81.1%</a:t>
            </a:r>
          </a:p>
          <a:p>
            <a:pPr>
              <a:spcBef>
                <a:spcPts val="0"/>
              </a:spcBef>
              <a:spcAft>
                <a:spcPts val="0"/>
              </a:spcAft>
            </a:pPr>
            <a:r>
              <a:rPr sz="100">
                <a:solidFill>
                  <a:srgbClr val="FFFFFF"/>
                </a:solidFill>
                <a:latin typeface="Noto Sans"/>
              </a:rPr>
              <a:t>94.9%</a:t>
            </a:r>
          </a:p>
          <a:p>
            <a:pPr>
              <a:spcBef>
                <a:spcPts val="0"/>
              </a:spcBef>
              <a:spcAft>
                <a:spcPts val="0"/>
              </a:spcAft>
            </a:pPr>
            <a:r>
              <a:rPr sz="100">
                <a:solidFill>
                  <a:srgbClr val="FFFFFF"/>
                </a:solidFill>
                <a:latin typeface="Noto Sans"/>
              </a:rPr>
              <a:t>97.9%</a:t>
            </a:r>
          </a:p>
          <a:p>
            <a:pPr>
              <a:spcBef>
                <a:spcPts val="0"/>
              </a:spcBef>
              <a:spcAft>
                <a:spcPts val="0"/>
              </a:spcAft>
            </a:pPr>
            <a:r>
              <a:rPr sz="100">
                <a:solidFill>
                  <a:srgbClr val="FFFFFF"/>
                </a:solidFill>
                <a:latin typeface="Noto Sans"/>
              </a:rPr>
              <a:t>96.5%</a:t>
            </a:r>
          </a:p>
          <a:p>
            <a:pPr>
              <a:spcBef>
                <a:spcPts val="0"/>
              </a:spcBef>
              <a:spcAft>
                <a:spcPts val="0"/>
              </a:spcAft>
            </a:pPr>
            <a:r>
              <a:rPr sz="100">
                <a:solidFill>
                  <a:srgbClr val="FFFFFF"/>
                </a:solidFill>
                <a:latin typeface="Noto Sans"/>
              </a:rPr>
              <a:t>94.3%</a:t>
            </a:r>
          </a:p>
          <a:p>
            <a:pPr>
              <a:spcBef>
                <a:spcPts val="0"/>
              </a:spcBef>
              <a:spcAft>
                <a:spcPts val="0"/>
              </a:spcAft>
            </a:pPr>
            <a:r>
              <a:rPr sz="100">
                <a:solidFill>
                  <a:srgbClr val="FFFFFF"/>
                </a:solidFill>
                <a:latin typeface="Noto Sans"/>
              </a:rPr>
              <a:t>88.9%</a:t>
            </a:r>
          </a:p>
          <a:p>
            <a:pPr>
              <a:spcBef>
                <a:spcPts val="0"/>
              </a:spcBef>
              <a:spcAft>
                <a:spcPts val="0"/>
              </a:spcAft>
            </a:pPr>
            <a:r>
              <a:rPr sz="100">
                <a:solidFill>
                  <a:srgbClr val="FFFFFF"/>
                </a:solidFill>
                <a:latin typeface="Noto Sans"/>
              </a:rPr>
              <a:t>63.1%</a:t>
            </a:r>
          </a:p>
          <a:p>
            <a:pPr>
              <a:spcBef>
                <a:spcPts val="0"/>
              </a:spcBef>
              <a:spcAft>
                <a:spcPts val="0"/>
              </a:spcAft>
            </a:pPr>
            <a:r>
              <a:rPr sz="100">
                <a:solidFill>
                  <a:srgbClr val="FFFFFF"/>
                </a:solidFill>
                <a:latin typeface="Noto Sans"/>
              </a:rPr>
              <a:t>Figura D.2.</a:t>
            </a:r>
          </a:p>
          <a:p>
            <a:pPr>
              <a:spcBef>
                <a:spcPts val="0"/>
              </a:spcBef>
              <a:spcAft>
                <a:spcPts val="0"/>
              </a:spcAft>
            </a:pPr>
            <a:r>
              <a:rPr sz="100">
                <a:solidFill>
                  <a:srgbClr val="FFFFFF"/>
                </a:solidFill>
                <a:latin typeface="Noto Sans"/>
              </a:rPr>
              <a:t>Uso de Smartphone 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 de usuarios de Smartphone</a:t>
            </a:r>
          </a:p>
          <a:p>
            <a:pPr>
              <a:spcBef>
                <a:spcPts val="0"/>
              </a:spcBef>
              <a:spcAft>
                <a:spcPts val="0"/>
              </a:spcAft>
            </a:pPr>
            <a:r>
              <a:rPr sz="100">
                <a:solidFill>
                  <a:srgbClr val="FFFFFF"/>
                </a:solidFill>
                <a:latin typeface="Noto Sans"/>
              </a:rPr>
              <a:t>% de usuarios de Internet</a:t>
            </a:r>
          </a:p>
        </p:txBody>
      </p:sp>
      <p:pic>
        <p:nvPicPr>
          <p:cNvPr id="223" name="ANUARIO_IMAGE_D_2" descr="Figura D.2.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62</a:t>
            </a:r>
          </a:p>
        </p:txBody>
      </p:sp>
    </p:spTree>
  </p:cSld>
  <p:clrMapOvr>
    <a:masterClrMapping/>
  </p:clrMapOvr>
</p:sld>
</file>

<file path=ppt/slides/slide6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3" descr="ANUARIO_FIGURE_ID=D.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D.3</a:t>
            </a:r>
          </a:p>
          <a:p>
            <a:pPr>
              <a:spcBef>
                <a:spcPts val="0"/>
              </a:spcBef>
              <a:spcAft>
                <a:spcPts val="600"/>
              </a:spcAft>
            </a:pPr>
            <a:r>
              <a:rPr sz="950" b="1">
                <a:solidFill>
                  <a:srgbClr val="203634"/>
                </a:solidFill>
                <a:latin typeface="Noto Sans"/>
              </a:rPr>
              <a:t>HORAS PROMEDIO DE USO DE INTERNET POR GRUPOS DE EDAD</a:t>
            </a:r>
          </a:p>
          <a:p>
            <a:pPr>
              <a:lnSpc>
                <a:spcPct val="100000"/>
              </a:lnSpc>
              <a:spcBef>
                <a:spcPts val="0"/>
              </a:spcBef>
              <a:spcAft>
                <a:spcPts val="400"/>
              </a:spcAft>
            </a:pPr>
            <a:r>
              <a:rPr sz="760" b="0">
                <a:solidFill>
                  <a:srgbClr val="434343"/>
                </a:solidFill>
                <a:latin typeface="Noto Sans"/>
              </a:rPr>
              <a:t>Por otro lado, el grupo de 18 a 24 años de edad destinaron en promedio 5.9 horas de su día al uso del Internet, siendo este el grupo quien destino más horas de navegación en el uso de este servicio, seguido del grupo de 25 a 34 años de edad quienes destinaron 5.6 horas en promedio al uso de Internet por día. En contraste los grupos de edad quienes destinaron menos horas en promedio en el uso de Internet por día fueron los usuarios de 65 años y más con 2.9 horas en promedio y de 6 a 11 años de edad, con 2.5 horas promedio.</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3" descr="ANUARIO_FIGURE_ID=D.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3" descr="Capa accesible con el texto del SVG de la figura D.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Horas promedio</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Figura D.3.</a:t>
            </a:r>
          </a:p>
          <a:p>
            <a:pPr>
              <a:spcBef>
                <a:spcPts val="0"/>
              </a:spcBef>
              <a:spcAft>
                <a:spcPts val="0"/>
              </a:spcAft>
            </a:pPr>
            <a:r>
              <a:rPr sz="100">
                <a:solidFill>
                  <a:srgbClr val="FFFFFF"/>
                </a:solidFill>
                <a:latin typeface="Noto Sans"/>
              </a:rPr>
              <a:t>Horas promedio de uso de internet por grupos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18 a 24</a:t>
            </a:r>
          </a:p>
          <a:p>
            <a:pPr>
              <a:spcBef>
                <a:spcPts val="0"/>
              </a:spcBef>
              <a:spcAft>
                <a:spcPts val="0"/>
              </a:spcAft>
            </a:pPr>
            <a:r>
              <a:rPr sz="100">
                <a:solidFill>
                  <a:srgbClr val="FFFFFF"/>
                </a:solidFill>
                <a:latin typeface="Noto Sans"/>
              </a:rPr>
              <a:t>25 a 34</a:t>
            </a:r>
          </a:p>
          <a:p>
            <a:pPr>
              <a:spcBef>
                <a:spcPts val="0"/>
              </a:spcBef>
              <a:spcAft>
                <a:spcPts val="0"/>
              </a:spcAft>
            </a:pPr>
            <a:r>
              <a:rPr sz="100">
                <a:solidFill>
                  <a:srgbClr val="FFFFFF"/>
                </a:solidFill>
                <a:latin typeface="Noto Sans"/>
              </a:rPr>
              <a:t>12 a 17</a:t>
            </a:r>
          </a:p>
          <a:p>
            <a:pPr>
              <a:spcBef>
                <a:spcPts val="0"/>
              </a:spcBef>
              <a:spcAft>
                <a:spcPts val="0"/>
              </a:spcAft>
            </a:pPr>
            <a:r>
              <a:rPr sz="100">
                <a:solidFill>
                  <a:srgbClr val="FFFFFF"/>
                </a:solidFill>
                <a:latin typeface="Noto Sans"/>
              </a:rPr>
              <a:t>35 a 44</a:t>
            </a:r>
          </a:p>
          <a:p>
            <a:pPr>
              <a:spcBef>
                <a:spcPts val="0"/>
              </a:spcBef>
              <a:spcAft>
                <a:spcPts val="0"/>
              </a:spcAft>
            </a:pPr>
            <a:r>
              <a:rPr sz="100">
                <a:solidFill>
                  <a:srgbClr val="FFFFFF"/>
                </a:solidFill>
                <a:latin typeface="Noto Sans"/>
              </a:rPr>
              <a:t>45 a 54</a:t>
            </a:r>
          </a:p>
          <a:p>
            <a:pPr>
              <a:spcBef>
                <a:spcPts val="0"/>
              </a:spcBef>
              <a:spcAft>
                <a:spcPts val="0"/>
              </a:spcAft>
            </a:pPr>
            <a:r>
              <a:rPr sz="100">
                <a:solidFill>
                  <a:srgbClr val="FFFFFF"/>
                </a:solidFill>
                <a:latin typeface="Noto Sans"/>
              </a:rPr>
              <a:t>55 a 64</a:t>
            </a:r>
          </a:p>
          <a:p>
            <a:pPr>
              <a:spcBef>
                <a:spcPts val="0"/>
              </a:spcBef>
              <a:spcAft>
                <a:spcPts val="0"/>
              </a:spcAft>
            </a:pPr>
            <a:r>
              <a:rPr sz="100">
                <a:solidFill>
                  <a:srgbClr val="FFFFFF"/>
                </a:solidFill>
                <a:latin typeface="Noto Sans"/>
              </a:rPr>
              <a:t>65 o más</a:t>
            </a:r>
          </a:p>
          <a:p>
            <a:pPr>
              <a:spcBef>
                <a:spcPts val="0"/>
              </a:spcBef>
              <a:spcAft>
                <a:spcPts val="0"/>
              </a:spcAft>
            </a:pPr>
            <a:r>
              <a:rPr sz="100">
                <a:solidFill>
                  <a:srgbClr val="FFFFFF"/>
                </a:solidFill>
                <a:latin typeface="Noto Sans"/>
              </a:rPr>
              <a:t>6 a 11</a:t>
            </a:r>
          </a:p>
        </p:txBody>
      </p:sp>
      <p:pic>
        <p:nvPicPr>
          <p:cNvPr id="223" name="ANUARIO_IMAGE_D_3" descr="Figura D.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63</a:t>
            </a:r>
          </a:p>
        </p:txBody>
      </p:sp>
    </p:spTree>
  </p:cSld>
  <p:clrMapOvr>
    <a:masterClrMapping/>
  </p:clrMapOvr>
</p:sld>
</file>

<file path=ppt/slides/slide6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4" descr="ANUARIO_FIGURE_ID=D.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D.4</a:t>
            </a:r>
          </a:p>
          <a:p>
            <a:pPr>
              <a:spcBef>
                <a:spcPts val="0"/>
              </a:spcBef>
              <a:spcAft>
                <a:spcPts val="600"/>
              </a:spcAft>
            </a:pPr>
            <a:r>
              <a:rPr sz="950" b="1">
                <a:solidFill>
                  <a:srgbClr val="203634"/>
                </a:solidFill>
                <a:latin typeface="Noto Sans"/>
              </a:rPr>
              <a:t>USO DE DISPOSITIVOS INTELIGENTES CONECTADOS A INTERNET</a:t>
            </a:r>
          </a:p>
          <a:p>
            <a:pPr>
              <a:lnSpc>
                <a:spcPct val="100000"/>
              </a:lnSpc>
              <a:spcBef>
                <a:spcPts val="0"/>
              </a:spcBef>
              <a:spcAft>
                <a:spcPts val="400"/>
              </a:spcAft>
            </a:pPr>
            <a:r>
              <a:rPr sz="760" b="0">
                <a:solidFill>
                  <a:srgbClr val="434343"/>
                </a:solidFill>
                <a:latin typeface="Noto Sans"/>
              </a:rPr>
              <a:t>Con base a los datos recopilados por la ENDUTIH para el año 2025, correspondientes al uso de dispositivos inteligentes conectados a Internet, las personas usuarias prefirieron bocina o asistente del hogar con el 56.5%, seguido de algún dispositivo de entretenimiento con el 53.3%. Por el contrario, el uso de algún dispositivo de ahorro de energía eléctrica es apenas usada por el 2.4% de las personas usuarias, así como el de otros dispositivos que utilizan siendo el 0.0%.</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4" descr="ANUARIO_FIGURE_ID=D.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4" descr="Capa accesible con el texto del SVG de la figura D.4"/>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D.4</a:t>
            </a:r>
          </a:p>
          <a:p>
            <a:pPr>
              <a:spcBef>
                <a:spcPts val="0"/>
              </a:spcBef>
              <a:spcAft>
                <a:spcPts val="0"/>
              </a:spcAft>
            </a:pPr>
            <a:r>
              <a:rPr sz="100">
                <a:solidFill>
                  <a:srgbClr val="FFFFFF"/>
                </a:solidFill>
                <a:latin typeface="Noto Sans"/>
              </a:rPr>
              <a:t>Dispositivos de</a:t>
            </a:r>
          </a:p>
          <a:p>
            <a:pPr>
              <a:spcBef>
                <a:spcPts val="0"/>
              </a:spcBef>
              <a:spcAft>
                <a:spcPts val="0"/>
              </a:spcAft>
            </a:pPr>
            <a:r>
              <a:rPr sz="100">
                <a:solidFill>
                  <a:srgbClr val="FFFFFF"/>
                </a:solidFill>
                <a:latin typeface="Noto Sans"/>
              </a:rPr>
              <a:t>entretenimiento</a:t>
            </a:r>
          </a:p>
          <a:p>
            <a:pPr>
              <a:spcBef>
                <a:spcPts val="0"/>
              </a:spcBef>
              <a:spcAft>
                <a:spcPts val="0"/>
              </a:spcAft>
            </a:pPr>
            <a:r>
              <a:rPr sz="100">
                <a:solidFill>
                  <a:srgbClr val="FFFFFF"/>
                </a:solidFill>
                <a:latin typeface="Noto Sans"/>
              </a:rPr>
              <a:t>Bocina o</a:t>
            </a:r>
          </a:p>
          <a:p>
            <a:pPr>
              <a:spcBef>
                <a:spcPts val="0"/>
              </a:spcBef>
              <a:spcAft>
                <a:spcPts val="0"/>
              </a:spcAft>
            </a:pPr>
            <a:r>
              <a:rPr sz="100">
                <a:solidFill>
                  <a:srgbClr val="FFFFFF"/>
                </a:solidFill>
                <a:latin typeface="Noto Sans"/>
              </a:rPr>
              <a:t>asistente del</a:t>
            </a:r>
          </a:p>
          <a:p>
            <a:pPr>
              <a:spcBef>
                <a:spcPts val="0"/>
              </a:spcBef>
              <a:spcAft>
                <a:spcPts val="0"/>
              </a:spcAft>
            </a:pPr>
            <a:r>
              <a:rPr sz="100">
                <a:solidFill>
                  <a:srgbClr val="FFFFFF"/>
                </a:solidFill>
                <a:latin typeface="Noto Sans"/>
              </a:rPr>
              <a:t>hogar</a:t>
            </a:r>
          </a:p>
          <a:p>
            <a:pPr>
              <a:spcBef>
                <a:spcPts val="0"/>
              </a:spcBef>
              <a:spcAft>
                <a:spcPts val="0"/>
              </a:spcAft>
            </a:pPr>
            <a:r>
              <a:rPr sz="100">
                <a:solidFill>
                  <a:srgbClr val="FFFFFF"/>
                </a:solidFill>
                <a:latin typeface="Noto Sans"/>
              </a:rPr>
              <a:t>Sistemas de</a:t>
            </a:r>
          </a:p>
          <a:p>
            <a:pPr>
              <a:spcBef>
                <a:spcPts val="0"/>
              </a:spcBef>
              <a:spcAft>
                <a:spcPts val="0"/>
              </a:spcAft>
            </a:pPr>
            <a:r>
              <a:rPr sz="100">
                <a:solidFill>
                  <a:srgbClr val="FFFFFF"/>
                </a:solidFill>
                <a:latin typeface="Noto Sans"/>
              </a:rPr>
              <a:t>videovigilancia</a:t>
            </a:r>
          </a:p>
          <a:p>
            <a:pPr>
              <a:spcBef>
                <a:spcPts val="0"/>
              </a:spcBef>
              <a:spcAft>
                <a:spcPts val="0"/>
              </a:spcAft>
            </a:pPr>
            <a:r>
              <a:rPr sz="100">
                <a:solidFill>
                  <a:srgbClr val="FFFFFF"/>
                </a:solidFill>
                <a:latin typeface="Noto Sans"/>
              </a:rPr>
              <a:t>Luces o</a:t>
            </a:r>
          </a:p>
          <a:p>
            <a:pPr>
              <a:spcBef>
                <a:spcPts val="0"/>
              </a:spcBef>
              <a:spcAft>
                <a:spcPts val="0"/>
              </a:spcAft>
            </a:pPr>
            <a:r>
              <a:rPr sz="100">
                <a:solidFill>
                  <a:srgbClr val="FFFFFF"/>
                </a:solidFill>
                <a:latin typeface="Noto Sans"/>
              </a:rPr>
              <a:t>interruptores</a:t>
            </a:r>
          </a:p>
          <a:p>
            <a:pPr>
              <a:spcBef>
                <a:spcPts val="0"/>
              </a:spcBef>
              <a:spcAft>
                <a:spcPts val="0"/>
              </a:spcAft>
            </a:pPr>
            <a:r>
              <a:rPr sz="100">
                <a:solidFill>
                  <a:srgbClr val="FFFFFF"/>
                </a:solidFill>
                <a:latin typeface="Noto Sans"/>
              </a:rPr>
              <a:t>Electro-</a:t>
            </a:r>
          </a:p>
          <a:p>
            <a:pPr>
              <a:spcBef>
                <a:spcPts val="0"/>
              </a:spcBef>
              <a:spcAft>
                <a:spcPts val="0"/>
              </a:spcAft>
            </a:pPr>
            <a:r>
              <a:rPr sz="100">
                <a:solidFill>
                  <a:srgbClr val="FFFFFF"/>
                </a:solidFill>
                <a:latin typeface="Noto Sans"/>
              </a:rPr>
              <a:t>domésticos</a:t>
            </a:r>
          </a:p>
          <a:p>
            <a:pPr>
              <a:spcBef>
                <a:spcPts val="0"/>
              </a:spcBef>
              <a:spcAft>
                <a:spcPts val="0"/>
              </a:spcAft>
            </a:pPr>
            <a:r>
              <a:rPr sz="100">
                <a:solidFill>
                  <a:srgbClr val="FFFFFF"/>
                </a:solidFill>
                <a:latin typeface="Noto Sans"/>
              </a:rPr>
              <a:t>Conexión</a:t>
            </a:r>
          </a:p>
          <a:p>
            <a:pPr>
              <a:spcBef>
                <a:spcPts val="0"/>
              </a:spcBef>
              <a:spcAft>
                <a:spcPts val="0"/>
              </a:spcAft>
            </a:pPr>
            <a:r>
              <a:rPr sz="100">
                <a:solidFill>
                  <a:srgbClr val="FFFFFF"/>
                </a:solidFill>
                <a:latin typeface="Noto Sans"/>
              </a:rPr>
              <a:t>eléctrica</a:t>
            </a:r>
          </a:p>
          <a:p>
            <a:pPr>
              <a:spcBef>
                <a:spcPts val="0"/>
              </a:spcBef>
              <a:spcAft>
                <a:spcPts val="0"/>
              </a:spcAft>
            </a:pPr>
            <a:r>
              <a:rPr sz="100">
                <a:solidFill>
                  <a:srgbClr val="FFFFFF"/>
                </a:solidFill>
                <a:latin typeface="Noto Sans"/>
              </a:rPr>
              <a:t>Puertas o</a:t>
            </a:r>
          </a:p>
          <a:p>
            <a:pPr>
              <a:spcBef>
                <a:spcPts val="0"/>
              </a:spcBef>
              <a:spcAft>
                <a:spcPts val="0"/>
              </a:spcAft>
            </a:pPr>
            <a:r>
              <a:rPr sz="100">
                <a:solidFill>
                  <a:srgbClr val="FFFFFF"/>
                </a:solidFill>
                <a:latin typeface="Noto Sans"/>
              </a:rPr>
              <a:t>ventanas con</a:t>
            </a:r>
          </a:p>
          <a:p>
            <a:pPr>
              <a:spcBef>
                <a:spcPts val="0"/>
              </a:spcBef>
              <a:spcAft>
                <a:spcPts val="0"/>
              </a:spcAft>
            </a:pPr>
            <a:r>
              <a:rPr sz="100">
                <a:solidFill>
                  <a:srgbClr val="FFFFFF"/>
                </a:solidFill>
                <a:latin typeface="Noto Sans"/>
              </a:rPr>
              <a:t>cerrado digital</a:t>
            </a:r>
          </a:p>
          <a:p>
            <a:pPr>
              <a:spcBef>
                <a:spcPts val="0"/>
              </a:spcBef>
              <a:spcAft>
                <a:spcPts val="0"/>
              </a:spcAft>
            </a:pPr>
            <a:r>
              <a:rPr sz="100">
                <a:solidFill>
                  <a:srgbClr val="FFFFFF"/>
                </a:solidFill>
                <a:latin typeface="Noto Sans"/>
              </a:rPr>
              <a:t>Automóvil</a:t>
            </a:r>
          </a:p>
          <a:p>
            <a:pPr>
              <a:spcBef>
                <a:spcPts val="0"/>
              </a:spcBef>
              <a:spcAft>
                <a:spcPts val="0"/>
              </a:spcAft>
            </a:pPr>
            <a:r>
              <a:rPr sz="100">
                <a:solidFill>
                  <a:srgbClr val="FFFFFF"/>
                </a:solidFill>
                <a:latin typeface="Noto Sans"/>
              </a:rPr>
              <a:t>o camioneta</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de ahorro de</a:t>
            </a:r>
          </a:p>
          <a:p>
            <a:pPr>
              <a:spcBef>
                <a:spcPts val="0"/>
              </a:spcBef>
              <a:spcAft>
                <a:spcPts val="0"/>
              </a:spcAft>
            </a:pPr>
            <a:r>
              <a:rPr sz="100">
                <a:solidFill>
                  <a:srgbClr val="FFFFFF"/>
                </a:solidFill>
                <a:latin typeface="Noto Sans"/>
              </a:rPr>
              <a:t>energía eléctrica</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dispositivos</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53.3%</a:t>
            </a:r>
          </a:p>
          <a:p>
            <a:pPr>
              <a:spcBef>
                <a:spcPts val="0"/>
              </a:spcBef>
              <a:spcAft>
                <a:spcPts val="0"/>
              </a:spcAft>
            </a:pPr>
            <a:r>
              <a:rPr sz="100">
                <a:solidFill>
                  <a:srgbClr val="FFFFFF"/>
                </a:solidFill>
                <a:latin typeface="Noto Sans"/>
              </a:rPr>
              <a:t>56.5%</a:t>
            </a:r>
          </a:p>
          <a:p>
            <a:pPr>
              <a:spcBef>
                <a:spcPts val="0"/>
              </a:spcBef>
              <a:spcAft>
                <a:spcPts val="0"/>
              </a:spcAft>
            </a:pPr>
            <a:r>
              <a:rPr sz="100">
                <a:solidFill>
                  <a:srgbClr val="FFFFFF"/>
                </a:solidFill>
                <a:latin typeface="Noto Sans"/>
              </a:rPr>
              <a:t>30.6%</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Figura D.4.</a:t>
            </a:r>
          </a:p>
          <a:p>
            <a:pPr>
              <a:spcBef>
                <a:spcPts val="0"/>
              </a:spcBef>
              <a:spcAft>
                <a:spcPts val="0"/>
              </a:spcAft>
            </a:pPr>
            <a:r>
              <a:rPr sz="100">
                <a:solidFill>
                  <a:srgbClr val="FFFFFF"/>
                </a:solidFill>
                <a:latin typeface="Noto Sans"/>
              </a:rPr>
              <a:t>Uso de dispositivos inteligentes conectados a Internet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p:txBody>
      </p:sp>
      <p:pic>
        <p:nvPicPr>
          <p:cNvPr id="223" name="ANUARIO_IMAGE_D_4" descr="Figura D.4.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64</a:t>
            </a:r>
          </a:p>
        </p:txBody>
      </p:sp>
    </p:spTree>
  </p:cSld>
  <p:clrMapOvr>
    <a:masterClrMapping/>
  </p:clrMapOvr>
</p:sld>
</file>

<file path=ppt/slides/slide6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5" descr="ANUARIO_FIGURE_ID=D.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D.5</a:t>
            </a:r>
          </a:p>
          <a:p>
            <a:pPr>
              <a:spcBef>
                <a:spcPts val="0"/>
              </a:spcBef>
              <a:spcAft>
                <a:spcPts val="600"/>
              </a:spcAft>
            </a:pPr>
            <a:r>
              <a:rPr sz="950" b="1">
                <a:solidFill>
                  <a:srgbClr val="203634"/>
                </a:solidFill>
                <a:latin typeface="Noto Sans"/>
              </a:rPr>
              <a:t>FORMA EN QUE LAS PERSONAS APRENDIERON A BUSCAR INFORMACIÓN O USAR INTERNET</a:t>
            </a:r>
          </a:p>
          <a:p>
            <a:pPr>
              <a:lnSpc>
                <a:spcPct val="100000"/>
              </a:lnSpc>
              <a:spcBef>
                <a:spcPts val="0"/>
              </a:spcBef>
              <a:spcAft>
                <a:spcPts val="400"/>
              </a:spcAft>
            </a:pPr>
            <a:r>
              <a:rPr sz="760" b="0">
                <a:solidFill>
                  <a:srgbClr val="434343"/>
                </a:solidFill>
                <a:latin typeface="Noto Sans"/>
              </a:rPr>
              <a:t>Con base a los resultados obtenidos en la Encuesta de Confianza en el Servicio de Internet (ECSI) 2024, donde se señala que las personas en general no han tomado alguna instrucción formal para el uso que hacen de Internet, ya que la mayor parte de la población entrevistada declaró haber aprendido por cuenta propia (50.7%) o bien, con apoyo de amigos o familiares (26.2%) y solo un pequeño porcentaje respondió haber aprendido el uso del Internet a través de cursos recibidos en la escuela (14.9%) o capacitaciones en el trabajo (4.1%).</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5" descr="ANUARIO_FIGURE_ID=D.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5" descr="Capa accesible con el texto del SVG de la figura D.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D.5</a:t>
            </a:r>
          </a:p>
          <a:p>
            <a:pPr>
              <a:spcBef>
                <a:spcPts val="0"/>
              </a:spcBef>
              <a:spcAft>
                <a:spcPts val="0"/>
              </a:spcAft>
            </a:pPr>
            <a:r>
              <a:rPr sz="100">
                <a:solidFill>
                  <a:srgbClr val="FFFFFF"/>
                </a:solidFill>
                <a:latin typeface="Noto Sans"/>
              </a:rPr>
              <a:t>Por su cuenta</a:t>
            </a:r>
          </a:p>
          <a:p>
            <a:pPr>
              <a:spcBef>
                <a:spcPts val="0"/>
              </a:spcBef>
              <a:spcAft>
                <a:spcPts val="0"/>
              </a:spcAft>
            </a:pPr>
            <a:r>
              <a:rPr sz="100">
                <a:solidFill>
                  <a:srgbClr val="FFFFFF"/>
                </a:solidFill>
                <a:latin typeface="Noto Sans"/>
              </a:rPr>
              <a:t>Capacitación en</a:t>
            </a:r>
          </a:p>
          <a:p>
            <a:pPr>
              <a:spcBef>
                <a:spcPts val="0"/>
              </a:spcBef>
              <a:spcAft>
                <a:spcPts val="0"/>
              </a:spcAft>
            </a:pPr>
            <a:r>
              <a:rPr sz="100">
                <a:solidFill>
                  <a:srgbClr val="FFFFFF"/>
                </a:solidFill>
                <a:latin typeface="Noto Sans"/>
              </a:rPr>
              <a:t>el trabajo</a:t>
            </a:r>
          </a:p>
          <a:p>
            <a:pPr>
              <a:spcBef>
                <a:spcPts val="0"/>
              </a:spcBef>
              <a:spcAft>
                <a:spcPts val="0"/>
              </a:spcAft>
            </a:pPr>
            <a:r>
              <a:rPr sz="100">
                <a:solidFill>
                  <a:srgbClr val="FFFFFF"/>
                </a:solidFill>
                <a:latin typeface="Noto Sans"/>
              </a:rPr>
              <a:t>Curso en la</a:t>
            </a:r>
          </a:p>
          <a:p>
            <a:pPr>
              <a:spcBef>
                <a:spcPts val="0"/>
              </a:spcBef>
              <a:spcAft>
                <a:spcPts val="0"/>
              </a:spcAft>
            </a:pPr>
            <a:r>
              <a:rPr sz="100">
                <a:solidFill>
                  <a:srgbClr val="FFFFFF"/>
                </a:solidFill>
                <a:latin typeface="Noto Sans"/>
              </a:rPr>
              <a:t>escuela</a:t>
            </a:r>
          </a:p>
          <a:p>
            <a:pPr>
              <a:spcBef>
                <a:spcPts val="0"/>
              </a:spcBef>
              <a:spcAft>
                <a:spcPts val="0"/>
              </a:spcAft>
            </a:pPr>
            <a:r>
              <a:rPr sz="100">
                <a:solidFill>
                  <a:srgbClr val="FFFFFF"/>
                </a:solidFill>
                <a:latin typeface="Noto Sans"/>
              </a:rPr>
              <a:t>Curso en centro</a:t>
            </a:r>
          </a:p>
          <a:p>
            <a:pPr>
              <a:spcBef>
                <a:spcPts val="0"/>
              </a:spcBef>
              <a:spcAft>
                <a:spcPts val="0"/>
              </a:spcAft>
            </a:pPr>
            <a:r>
              <a:rPr sz="100">
                <a:solidFill>
                  <a:srgbClr val="FFFFFF"/>
                </a:solidFill>
                <a:latin typeface="Noto Sans"/>
              </a:rPr>
              <a:t>comunitario</a:t>
            </a:r>
          </a:p>
          <a:p>
            <a:pPr>
              <a:spcBef>
                <a:spcPts val="0"/>
              </a:spcBef>
              <a:spcAft>
                <a:spcPts val="0"/>
              </a:spcAft>
            </a:pPr>
            <a:r>
              <a:rPr sz="100">
                <a:solidFill>
                  <a:srgbClr val="FFFFFF"/>
                </a:solidFill>
                <a:latin typeface="Noto Sans"/>
              </a:rPr>
              <a:t>Curso particular</a:t>
            </a:r>
          </a:p>
          <a:p>
            <a:pPr>
              <a:spcBef>
                <a:spcPts val="0"/>
              </a:spcBef>
              <a:spcAft>
                <a:spcPts val="0"/>
              </a:spcAft>
            </a:pPr>
            <a:r>
              <a:rPr sz="100">
                <a:solidFill>
                  <a:srgbClr val="FFFFFF"/>
                </a:solidFill>
                <a:latin typeface="Noto Sans"/>
              </a:rPr>
              <a:t>Amigos o</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50.7%</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26.2%</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0.9%</a:t>
            </a:r>
          </a:p>
          <a:p>
            <a:pPr>
              <a:spcBef>
                <a:spcPts val="0"/>
              </a:spcBef>
              <a:spcAft>
                <a:spcPts val="0"/>
              </a:spcAft>
            </a:pPr>
            <a:r>
              <a:rPr sz="100">
                <a:solidFill>
                  <a:srgbClr val="FFFFFF"/>
                </a:solidFill>
                <a:latin typeface="Noto Sans"/>
              </a:rPr>
              <a:t>Figura D.5.</a:t>
            </a:r>
          </a:p>
          <a:p>
            <a:pPr>
              <a:spcBef>
                <a:spcPts val="0"/>
              </a:spcBef>
              <a:spcAft>
                <a:spcPts val="0"/>
              </a:spcAft>
            </a:pPr>
            <a:r>
              <a:rPr sz="100">
                <a:solidFill>
                  <a:srgbClr val="FFFFFF"/>
                </a:solidFill>
                <a:latin typeface="Noto Sans"/>
              </a:rPr>
              <a:t>¿Cómo aprendió a buscar información o usar Internet?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 respuesta admite más de una opción.</a:t>
            </a:r>
          </a:p>
        </p:txBody>
      </p:sp>
      <p:pic>
        <p:nvPicPr>
          <p:cNvPr id="223" name="ANUARIO_IMAGE_D_5" descr="Figura D.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65</a:t>
            </a:r>
          </a:p>
        </p:txBody>
      </p:sp>
    </p:spTree>
  </p:cSld>
  <p:clrMapOvr>
    <a:masterClrMapping/>
  </p:clrMapOvr>
</p:sld>
</file>

<file path=ppt/slides/slide6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6" descr="ANUARIO_FIGURE_ID=D.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D.6</a:t>
            </a:r>
          </a:p>
          <a:p>
            <a:pPr>
              <a:spcBef>
                <a:spcPts val="0"/>
              </a:spcBef>
              <a:spcAft>
                <a:spcPts val="600"/>
              </a:spcAft>
            </a:pPr>
            <a:r>
              <a:rPr sz="950" b="1">
                <a:solidFill>
                  <a:srgbClr val="203634"/>
                </a:solidFill>
                <a:latin typeface="Noto Sans"/>
              </a:rPr>
              <a:t>EXPERIENCIAS NEGATIVAS EN INTERNET POR SEXO</a:t>
            </a:r>
          </a:p>
          <a:p>
            <a:pPr>
              <a:lnSpc>
                <a:spcPct val="100000"/>
              </a:lnSpc>
              <a:spcBef>
                <a:spcPts val="0"/>
              </a:spcBef>
              <a:spcAft>
                <a:spcPts val="400"/>
              </a:spcAft>
            </a:pPr>
            <a:r>
              <a:rPr sz="760" b="0">
                <a:solidFill>
                  <a:srgbClr val="434343"/>
                </a:solidFill>
                <a:latin typeface="Noto Sans"/>
              </a:rPr>
              <a:t>Con base a la información de la Encuesta de Confianza en el Servicio de Internet (ECSI) 2024; al hacer uso del Internet y/o realizar diferentes actividades en Internet, se pueden vivir ciertas experiencias negativas, entre las cuales se destacan: Recibir correos no deseados (59.8%), han publicado información personal sin su permiso (13.5%), robo de datos para realizar transacciones bancarias (11.0%), robo de contraseñas (16.4%); siendo en este caso los hombres, quienes han estado más expuestos ante este tipo de situación.</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6" descr="ANUARIO_FIGURE_ID=D.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6" descr="Capa accesible con el texto del SVG de la figura D.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D.6</a:t>
            </a:r>
          </a:p>
          <a:p>
            <a:pPr>
              <a:spcBef>
                <a:spcPts val="0"/>
              </a:spcBef>
              <a:spcAft>
                <a:spcPts val="0"/>
              </a:spcAft>
            </a:pPr>
            <a:r>
              <a:rPr sz="100">
                <a:solidFill>
                  <a:srgbClr val="FFFFFF"/>
                </a:solidFill>
                <a:latin typeface="Noto Sans"/>
              </a:rPr>
              <a:t>Recibir mensajes no</a:t>
            </a:r>
          </a:p>
          <a:p>
            <a:pPr>
              <a:spcBef>
                <a:spcPts val="0"/>
              </a:spcBef>
              <a:spcAft>
                <a:spcPts val="0"/>
              </a:spcAft>
            </a:pPr>
            <a:r>
              <a:rPr sz="100">
                <a:solidFill>
                  <a:srgbClr val="FFFFFF"/>
                </a:solidFill>
                <a:latin typeface="Noto Sans"/>
              </a:rPr>
              <a:t>deseados</a:t>
            </a:r>
          </a:p>
          <a:p>
            <a:pPr>
              <a:spcBef>
                <a:spcPts val="0"/>
              </a:spcBef>
              <a:spcAft>
                <a:spcPts val="0"/>
              </a:spcAft>
            </a:pPr>
            <a:r>
              <a:rPr sz="100">
                <a:solidFill>
                  <a:srgbClr val="FFFFFF"/>
                </a:solidFill>
                <a:latin typeface="Noto Sans"/>
              </a:rPr>
              <a:t>Publicación de</a:t>
            </a:r>
          </a:p>
          <a:p>
            <a:pPr>
              <a:spcBef>
                <a:spcPts val="0"/>
              </a:spcBef>
              <a:spcAft>
                <a:spcPts val="0"/>
              </a:spcAft>
            </a:pPr>
            <a:r>
              <a:rPr sz="100">
                <a:solidFill>
                  <a:srgbClr val="FFFFFF"/>
                </a:solidFill>
                <a:latin typeface="Noto Sans"/>
              </a:rPr>
              <a:t>información personal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Uso de datos para</a:t>
            </a:r>
          </a:p>
          <a:p>
            <a:pPr>
              <a:spcBef>
                <a:spcPts val="0"/>
              </a:spcBef>
              <a:spcAft>
                <a:spcPts val="0"/>
              </a:spcAft>
            </a:pPr>
            <a:r>
              <a:rPr sz="100">
                <a:solidFill>
                  <a:srgbClr val="FFFFFF"/>
                </a:solidFill>
                <a:latin typeface="Noto Sans"/>
              </a:rPr>
              <a:t>préstamos o créditos sin</a:t>
            </a:r>
          </a:p>
          <a:p>
            <a:pPr>
              <a:spcBef>
                <a:spcPts val="0"/>
              </a:spcBef>
              <a:spcAft>
                <a:spcPts val="0"/>
              </a:spcAft>
            </a:pPr>
            <a:r>
              <a:rPr sz="100">
                <a:solidFill>
                  <a:srgbClr val="FFFFFF"/>
                </a:solidFill>
                <a:latin typeface="Noto Sans"/>
              </a:rPr>
              <a:t>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61.7%</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58.3%</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59.8%</a:t>
            </a:r>
          </a:p>
          <a:p>
            <a:pPr>
              <a:spcBef>
                <a:spcPts val="0"/>
              </a:spcBef>
              <a:spcAft>
                <a:spcPts val="0"/>
              </a:spcAft>
            </a:pPr>
            <a:r>
              <a:rPr sz="100">
                <a:solidFill>
                  <a:srgbClr val="FFFFFF"/>
                </a:solidFill>
                <a:latin typeface="Noto Sans"/>
              </a:rPr>
              <a:t>13.5%</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Figura D.6.</a:t>
            </a:r>
          </a:p>
          <a:p>
            <a:pPr>
              <a:spcBef>
                <a:spcPts val="0"/>
              </a:spcBef>
              <a:spcAft>
                <a:spcPts val="0"/>
              </a:spcAft>
            </a:pPr>
            <a:r>
              <a:rPr sz="100">
                <a:solidFill>
                  <a:srgbClr val="FFFFFF"/>
                </a:solidFill>
                <a:latin typeface="Noto Sans"/>
              </a:rPr>
              <a:t>Experiencias negativas en Internet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6" descr="Figura D.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66</a:t>
            </a:r>
          </a:p>
        </p:txBody>
      </p:sp>
    </p:spTree>
  </p:cSld>
  <p:clrMapOvr>
    <a:masterClrMapping/>
  </p:clrMapOvr>
</p:sld>
</file>

<file path=ppt/slides/slide6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7" descr="ANUARIO_FIGURE_ID=D.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D.7</a:t>
            </a:r>
          </a:p>
          <a:p>
            <a:pPr>
              <a:spcBef>
                <a:spcPts val="0"/>
              </a:spcBef>
              <a:spcAft>
                <a:spcPts val="600"/>
              </a:spcAft>
            </a:pPr>
            <a:r>
              <a:rPr sz="950" b="1">
                <a:solidFill>
                  <a:srgbClr val="203634"/>
                </a:solidFill>
                <a:latin typeface="Noto Sans"/>
              </a:rPr>
              <a:t>EXPERIENCIAS NEGATIVAS EN INTERNET POR GRUPO DE EDAD</a:t>
            </a:r>
          </a:p>
          <a:p>
            <a:pPr>
              <a:lnSpc>
                <a:spcPct val="100000"/>
              </a:lnSpc>
              <a:spcBef>
                <a:spcPts val="0"/>
              </a:spcBef>
              <a:spcAft>
                <a:spcPts val="400"/>
              </a:spcAft>
            </a:pPr>
            <a:r>
              <a:rPr sz="819" b="0">
                <a:solidFill>
                  <a:srgbClr val="434343"/>
                </a:solidFill>
                <a:latin typeface="Noto Sans"/>
              </a:rPr>
              <a:t>Al hacer la consulta por grupo de edad, se refleja que los jóvenes que se encuentran en los rangos de edad de 18 a 24 y 25 a 34 años son los que más han sufrido experiencias negativas, como recibir mensajes no deseados, robo de contraseñas y publicación de información sin autorización, en comparación con las personas de 55 años o más, quienes son los que presentan menor porcentaje de haber vivido estas experiencias.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7" descr="ANUARIO_FIGURE_ID=D.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7" descr="Capa accesible con el texto del SVG de la figura D.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D.7</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64.8%</a:t>
            </a:r>
          </a:p>
          <a:p>
            <a:pPr>
              <a:spcBef>
                <a:spcPts val="0"/>
              </a:spcBef>
              <a:spcAft>
                <a:spcPts val="0"/>
              </a:spcAft>
            </a:pPr>
            <a:r>
              <a:rPr sz="100">
                <a:solidFill>
                  <a:srgbClr val="FFFFFF"/>
                </a:solidFill>
                <a:latin typeface="Noto Sans"/>
              </a:rPr>
              <a:t>62.6%</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57.6%</a:t>
            </a:r>
          </a:p>
          <a:p>
            <a:pPr>
              <a:spcBef>
                <a:spcPts val="0"/>
              </a:spcBef>
              <a:spcAft>
                <a:spcPts val="0"/>
              </a:spcAft>
            </a:pPr>
            <a:r>
              <a:rPr sz="100">
                <a:solidFill>
                  <a:srgbClr val="FFFFFF"/>
                </a:solidFill>
                <a:latin typeface="Noto Sans"/>
              </a:rPr>
              <a:t>53.4%</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13.1%</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9.4%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11.4%</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Mensajes no deseados</a:t>
            </a:r>
          </a:p>
          <a:p>
            <a:pPr>
              <a:spcBef>
                <a:spcPts val="0"/>
              </a:spcBef>
              <a:spcAft>
                <a:spcPts val="0"/>
              </a:spcAft>
            </a:pPr>
            <a:r>
              <a:rPr sz="100">
                <a:solidFill>
                  <a:srgbClr val="FFFFFF"/>
                </a:solidFill>
                <a:latin typeface="Noto Sans"/>
              </a:rPr>
              <a:t>Información personal publicada sin permiso</a:t>
            </a:r>
          </a:p>
          <a:p>
            <a:pPr>
              <a:spcBef>
                <a:spcPts val="0"/>
              </a:spcBef>
              <a:spcAft>
                <a:spcPts val="0"/>
              </a:spcAft>
            </a:pPr>
            <a:r>
              <a:rPr sz="100">
                <a:solidFill>
                  <a:srgbClr val="FFFFFF"/>
                </a:solidFill>
                <a:latin typeface="Noto Sans"/>
              </a:rPr>
              <a:t>Datos usados para préstamos sin permiso</a:t>
            </a:r>
          </a:p>
          <a:p>
            <a:pPr>
              <a:spcBef>
                <a:spcPts val="0"/>
              </a:spcBef>
              <a:spcAft>
                <a:spcPts val="0"/>
              </a:spcAft>
            </a:pPr>
            <a:r>
              <a:rPr sz="100">
                <a:solidFill>
                  <a:srgbClr val="FFFFFF"/>
                </a:solidFill>
                <a:latin typeface="Noto Sans"/>
              </a:rPr>
              <a:t>Robo de contraseñas</a:t>
            </a:r>
          </a:p>
          <a:p>
            <a:pPr>
              <a:spcBef>
                <a:spcPts val="0"/>
              </a:spcBef>
              <a:spcAft>
                <a:spcPts val="0"/>
              </a:spcAft>
            </a:pPr>
            <a:r>
              <a:rPr sz="100">
                <a:solidFill>
                  <a:srgbClr val="FFFFFF"/>
                </a:solidFill>
                <a:latin typeface="Noto Sans"/>
              </a:rPr>
              <a:t>Figura D.7.</a:t>
            </a:r>
          </a:p>
          <a:p>
            <a:pPr>
              <a:spcBef>
                <a:spcPts val="0"/>
              </a:spcBef>
              <a:spcAft>
                <a:spcPts val="0"/>
              </a:spcAft>
            </a:pPr>
            <a:r>
              <a:rPr sz="100">
                <a:solidFill>
                  <a:srgbClr val="FFFFFF"/>
                </a:solidFill>
                <a:latin typeface="Noto Sans"/>
              </a:rPr>
              <a:t>Experiencias negativas en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las respuestas no son excluyentes.</a:t>
            </a:r>
          </a:p>
        </p:txBody>
      </p:sp>
      <p:pic>
        <p:nvPicPr>
          <p:cNvPr id="223" name="ANUARIO_IMAGE_D_7" descr="Figura D.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67</a:t>
            </a:r>
          </a:p>
        </p:txBody>
      </p:sp>
    </p:spTree>
  </p:cSld>
  <p:clrMapOvr>
    <a:masterClrMapping/>
  </p:clrMapOvr>
</p:sld>
</file>

<file path=ppt/slides/slide6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8" descr="ANUARIO_FIGURE_ID=D.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D.8</a:t>
            </a:r>
          </a:p>
          <a:p>
            <a:pPr>
              <a:spcBef>
                <a:spcPts val="0"/>
              </a:spcBef>
              <a:spcAft>
                <a:spcPts val="600"/>
              </a:spcAft>
            </a:pPr>
            <a:r>
              <a:rPr sz="950" b="1">
                <a:solidFill>
                  <a:srgbClr val="203634"/>
                </a:solidFill>
                <a:latin typeface="Noto Sans"/>
              </a:rPr>
              <a:t>INFLUENCIA DE LA CONFIANZA EN INTERNET SOBRE SU USO</a:t>
            </a:r>
          </a:p>
          <a:p>
            <a:pPr>
              <a:lnSpc>
                <a:spcPct val="100000"/>
              </a:lnSpc>
              <a:spcBef>
                <a:spcPts val="0"/>
              </a:spcBef>
              <a:spcAft>
                <a:spcPts val="400"/>
              </a:spcAft>
            </a:pPr>
            <a:r>
              <a:rPr sz="819" b="0">
                <a:solidFill>
                  <a:srgbClr val="434343"/>
                </a:solidFill>
                <a:latin typeface="Noto Sans"/>
              </a:rPr>
              <a:t>Un dato muy importante a tomar en cuenta en la población es el grado de confianza que las personas tienen al hacer uso del Internet; según la Encuesta de Confianza en el Servicio de Internet (ECSI) 2024; registró que aproximadamente la mitad de la población considera tener poco (38.5%) o nada (13.6%) de confianza al hacer uso del Internet.</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8" descr="ANUARIO_FIGURE_ID=D.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8" descr="Capa accesible con el texto del SVG de la figura D.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D.8</a:t>
            </a:r>
          </a:p>
          <a:p>
            <a:pPr>
              <a:spcBef>
                <a:spcPts val="0"/>
              </a:spcBef>
              <a:spcAft>
                <a:spcPts val="0"/>
              </a:spcAft>
            </a:pPr>
            <a:r>
              <a:rPr sz="100">
                <a:solidFill>
                  <a:srgbClr val="FFFFFF"/>
                </a:solidFill>
                <a:latin typeface="Noto Sans"/>
              </a:rPr>
              <a:t>Nada</a:t>
            </a:r>
          </a:p>
          <a:p>
            <a:pPr>
              <a:spcBef>
                <a:spcPts val="0"/>
              </a:spcBef>
              <a:spcAft>
                <a:spcPts val="0"/>
              </a:spcAft>
            </a:pPr>
            <a:r>
              <a:rPr sz="100">
                <a:solidFill>
                  <a:srgbClr val="FFFFFF"/>
                </a:solidFill>
                <a:latin typeface="Noto Sans"/>
              </a:rPr>
              <a:t>Poco</a:t>
            </a:r>
          </a:p>
          <a:p>
            <a:pPr>
              <a:spcBef>
                <a:spcPts val="0"/>
              </a:spcBef>
              <a:spcAft>
                <a:spcPts val="0"/>
              </a:spcAft>
            </a:pPr>
            <a:r>
              <a:rPr sz="100">
                <a:solidFill>
                  <a:srgbClr val="FFFFFF"/>
                </a:solidFill>
                <a:latin typeface="Noto Sans"/>
              </a:rPr>
              <a:t>Le es indiferente</a:t>
            </a:r>
          </a:p>
          <a:p>
            <a:pPr>
              <a:spcBef>
                <a:spcPts val="0"/>
              </a:spcBef>
              <a:spcAft>
                <a:spcPts val="0"/>
              </a:spcAft>
            </a:pPr>
            <a:r>
              <a:rPr sz="100">
                <a:solidFill>
                  <a:srgbClr val="FFFFFF"/>
                </a:solidFill>
                <a:latin typeface="Noto Sans"/>
              </a:rPr>
              <a:t>Algo</a:t>
            </a:r>
          </a:p>
          <a:p>
            <a:pPr>
              <a:spcBef>
                <a:spcPts val="0"/>
              </a:spcBef>
              <a:spcAft>
                <a:spcPts val="0"/>
              </a:spcAft>
            </a:pPr>
            <a:r>
              <a:rPr sz="100">
                <a:solidFill>
                  <a:srgbClr val="FFFFFF"/>
                </a:solidFill>
                <a:latin typeface="Noto Sans"/>
              </a:rPr>
              <a:t>Mucho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13.6%</a:t>
            </a:r>
          </a:p>
          <a:p>
            <a:pPr>
              <a:spcBef>
                <a:spcPts val="0"/>
              </a:spcBef>
              <a:spcAft>
                <a:spcPts val="0"/>
              </a:spcAft>
            </a:pPr>
            <a:r>
              <a:rPr sz="100">
                <a:solidFill>
                  <a:srgbClr val="FFFFFF"/>
                </a:solidFill>
                <a:latin typeface="Noto Sans"/>
              </a:rPr>
              <a:t>38.5%</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Figura D.8.</a:t>
            </a:r>
          </a:p>
          <a:p>
            <a:pPr>
              <a:spcBef>
                <a:spcPts val="0"/>
              </a:spcBef>
              <a:spcAft>
                <a:spcPts val="0"/>
              </a:spcAft>
            </a:pPr>
            <a:r>
              <a:rPr sz="100">
                <a:solidFill>
                  <a:srgbClr val="FFFFFF"/>
                </a:solidFill>
                <a:latin typeface="Noto Sans"/>
              </a:rPr>
              <a:t>¿Qué tanto influye la confianza en Internet para decidir usarlo?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p:txBody>
      </p:sp>
      <p:pic>
        <p:nvPicPr>
          <p:cNvPr id="223" name="ANUARIO_IMAGE_D_8" descr="Figura D.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68</a:t>
            </a:r>
          </a:p>
        </p:txBody>
      </p:sp>
    </p:spTree>
  </p:cSld>
  <p:clrMapOvr>
    <a:masterClrMapping/>
  </p:clrMapOvr>
</p:sld>
</file>

<file path=ppt/slides/slide6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9" descr="ANUARIO_FIGURE_ID=D.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D.9</a:t>
            </a:r>
          </a:p>
          <a:p>
            <a:pPr>
              <a:spcBef>
                <a:spcPts val="0"/>
              </a:spcBef>
              <a:spcAft>
                <a:spcPts val="600"/>
              </a:spcAft>
            </a:pPr>
            <a:r>
              <a:rPr sz="950" b="1">
                <a:solidFill>
                  <a:srgbClr val="203634"/>
                </a:solidFill>
                <a:latin typeface="Noto Sans"/>
              </a:rPr>
              <a:t>PERCEPCIÓN DE SEGURIDAD AL REALIZAR COMPRAS POR INTERNET POR GRUPO DE EDAD</a:t>
            </a:r>
          </a:p>
          <a:p>
            <a:pPr>
              <a:lnSpc>
                <a:spcPct val="100000"/>
              </a:lnSpc>
              <a:spcBef>
                <a:spcPts val="0"/>
              </a:spcBef>
              <a:spcAft>
                <a:spcPts val="400"/>
              </a:spcAft>
            </a:pPr>
            <a:r>
              <a:rPr sz="760" b="0">
                <a:solidFill>
                  <a:srgbClr val="434343"/>
                </a:solidFill>
                <a:latin typeface="Noto Sans"/>
              </a:rPr>
              <a:t>Uno de los datos que contrasta con el anterior, es el nivel de seguridad que consideran las personas usuarias al realizar diferentes actividades en Internet, como realizar compras en Internet, transacciones bancarias y redes sociales; ya que a pesar de que un porcentaje muy significativo menciona que confían muy poco el usar el Internet para realizar estas actividades, su nivel de percepción de seguridad es muy alto. Es decir, consideran que es seguro realizar estas actividades.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9" descr="ANUARIO_FIGURE_ID=D.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9" descr="Capa accesible con el texto del SVG de la figura D.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D.9</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52.7%</a:t>
            </a:r>
          </a:p>
          <a:p>
            <a:pPr>
              <a:spcBef>
                <a:spcPts val="0"/>
              </a:spcBef>
              <a:spcAft>
                <a:spcPts val="0"/>
              </a:spcAft>
            </a:pPr>
            <a:r>
              <a:rPr sz="100">
                <a:solidFill>
                  <a:srgbClr val="FFFFFF"/>
                </a:solidFill>
                <a:latin typeface="Noto Sans"/>
              </a:rPr>
              <a:t>52.1%</a:t>
            </a:r>
          </a:p>
          <a:p>
            <a:pPr>
              <a:spcBef>
                <a:spcPts val="0"/>
              </a:spcBef>
              <a:spcAft>
                <a:spcPts val="0"/>
              </a:spcAft>
            </a:pPr>
            <a:r>
              <a:rPr sz="100">
                <a:solidFill>
                  <a:srgbClr val="FFFFFF"/>
                </a:solidFill>
                <a:latin typeface="Noto Sans"/>
              </a:rPr>
              <a:t>49.6%</a:t>
            </a:r>
          </a:p>
          <a:p>
            <a:pPr>
              <a:spcBef>
                <a:spcPts val="0"/>
              </a:spcBef>
              <a:spcAft>
                <a:spcPts val="0"/>
              </a:spcAft>
            </a:pPr>
            <a:r>
              <a:rPr sz="100">
                <a:solidFill>
                  <a:srgbClr val="FFFFFF"/>
                </a:solidFill>
                <a:latin typeface="Noto Sans"/>
              </a:rPr>
              <a:t>52.6%</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14.1%</a:t>
            </a:r>
          </a:p>
          <a:p>
            <a:pPr>
              <a:spcBef>
                <a:spcPts val="0"/>
              </a:spcBef>
              <a:spcAft>
                <a:spcPts val="0"/>
              </a:spcAft>
            </a:pPr>
            <a:r>
              <a:rPr sz="100">
                <a:solidFill>
                  <a:srgbClr val="FFFFFF"/>
                </a:solidFill>
                <a:latin typeface="Noto Sans"/>
              </a:rPr>
              <a:t>11.0%</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16.7%</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18.2%</a:t>
            </a:r>
          </a:p>
          <a:p>
            <a:pPr>
              <a:spcBef>
                <a:spcPts val="0"/>
              </a:spcBef>
              <a:spcAft>
                <a:spcPts val="0"/>
              </a:spcAft>
            </a:pPr>
            <a:r>
              <a:rPr sz="100">
                <a:solidFill>
                  <a:srgbClr val="FFFFFF"/>
                </a:solidFill>
                <a:latin typeface="Noto Sans"/>
              </a:rPr>
              <a:t>15.6%</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D.9.</a:t>
            </a:r>
          </a:p>
          <a:p>
            <a:pPr>
              <a:spcBef>
                <a:spcPts val="0"/>
              </a:spcBef>
              <a:spcAft>
                <a:spcPts val="0"/>
              </a:spcAft>
            </a:pPr>
            <a:r>
              <a:rPr sz="100">
                <a:solidFill>
                  <a:srgbClr val="FFFFFF"/>
                </a:solidFill>
                <a:latin typeface="Noto Sans"/>
              </a:rPr>
              <a:t>Seguridad percibida al realizar compras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9" descr="Figura D.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69</a:t>
            </a:r>
          </a:p>
        </p:txBody>
      </p:sp>
    </p:spTree>
  </p:cSld>
  <p:clrMapOvr>
    <a:masterClrMapping/>
  </p:clrMapOvr>
</p:sld>
</file>

<file path=ppt/slides/slide7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0" descr="ANUARIO_FIGURE_ID=D.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D.10</a:t>
            </a:r>
          </a:p>
          <a:p>
            <a:pPr>
              <a:spcBef>
                <a:spcPts val="0"/>
              </a:spcBef>
              <a:spcAft>
                <a:spcPts val="600"/>
              </a:spcAft>
            </a:pPr>
            <a:r>
              <a:rPr sz="950" b="1">
                <a:solidFill>
                  <a:srgbClr val="203634"/>
                </a:solidFill>
                <a:latin typeface="Noto Sans"/>
              </a:rPr>
              <a:t>PERCEPCIÓN DE SEGURIDAD AL USAR BANCA POR INTERNET POR GRUPO DE EDAD</a:t>
            </a:r>
          </a:p>
          <a:p>
            <a:pPr>
              <a:lnSpc>
                <a:spcPct val="100000"/>
              </a:lnSpc>
              <a:spcBef>
                <a:spcPts val="0"/>
              </a:spcBef>
              <a:spcAft>
                <a:spcPts val="400"/>
              </a:spcAft>
            </a:pPr>
            <a:r>
              <a:rPr sz="760" b="0">
                <a:solidFill>
                  <a:srgbClr val="434343"/>
                </a:solidFill>
                <a:latin typeface="Noto Sans"/>
              </a:rPr>
              <a:t>Siendo los jóvenes entre 18 a 24 años y las personas entre 45 a 54 años con mayor porcentaje (52.7%), consideran que realizar compras por Internet es seguro y las personas mayores de 55 años (43.2%) consideran menos seguro usar el Internet para realizar este tipo de actividad. De igual manera al realizar transacciones bancarias los jóvenes entre 18 a 24 años (58.8%) son los que consideran que es seguro usar Internet para realizar esta actividad y las personas mayores de 55 años consideran menos seguro realizar transacciones bancarias a través del Internet (33.9%).</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0" descr="ANUARIO_FIGURE_ID=D.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0" descr="Capa accesible con el texto del SVG de la figura D.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D.10</a:t>
            </a:r>
          </a:p>
          <a:p>
            <a:pPr>
              <a:spcBef>
                <a:spcPts val="0"/>
              </a:spcBef>
              <a:spcAft>
                <a:spcPts val="0"/>
              </a:spcAft>
            </a:pPr>
            <a:r>
              <a:rPr sz="100">
                <a:solidFill>
                  <a:srgbClr val="FFFFFF"/>
                </a:solidFill>
                <a:latin typeface="Noto Sans"/>
              </a:rPr>
              <a:t>18 a 24 años</a:t>
            </a:r>
          </a:p>
          <a:p>
            <a:pPr>
              <a:spcBef>
                <a:spcPts val="0"/>
              </a:spcBef>
              <a:spcAft>
                <a:spcPts val="0"/>
              </a:spcAft>
            </a:pPr>
            <a:r>
              <a:rPr sz="100">
                <a:solidFill>
                  <a:srgbClr val="FFFFFF"/>
                </a:solidFill>
                <a:latin typeface="Noto Sans"/>
              </a:rPr>
              <a:t>25 a 34 años</a:t>
            </a:r>
          </a:p>
          <a:p>
            <a:pPr>
              <a:spcBef>
                <a:spcPts val="0"/>
              </a:spcBef>
              <a:spcAft>
                <a:spcPts val="0"/>
              </a:spcAft>
            </a:pPr>
            <a:r>
              <a:rPr sz="100">
                <a:solidFill>
                  <a:srgbClr val="FFFFFF"/>
                </a:solidFill>
                <a:latin typeface="Noto Sans"/>
              </a:rPr>
              <a:t>35 a 44 años</a:t>
            </a:r>
          </a:p>
          <a:p>
            <a:pPr>
              <a:spcBef>
                <a:spcPts val="0"/>
              </a:spcBef>
              <a:spcAft>
                <a:spcPts val="0"/>
              </a:spcAft>
            </a:pPr>
            <a:r>
              <a:rPr sz="100">
                <a:solidFill>
                  <a:srgbClr val="FFFFFF"/>
                </a:solidFill>
                <a:latin typeface="Noto Sans"/>
              </a:rPr>
              <a:t>45 a 54 años</a:t>
            </a:r>
          </a:p>
          <a:p>
            <a:pPr>
              <a:spcBef>
                <a:spcPts val="0"/>
              </a:spcBef>
              <a:spcAft>
                <a:spcPts val="0"/>
              </a:spcAft>
            </a:pPr>
            <a:r>
              <a:rPr sz="100">
                <a:solidFill>
                  <a:srgbClr val="FFFFFF"/>
                </a:solidFill>
                <a:latin typeface="Noto Sans"/>
              </a:rPr>
              <a:t>55 años o más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58.8%</a:t>
            </a:r>
          </a:p>
          <a:p>
            <a:pPr>
              <a:spcBef>
                <a:spcPts val="0"/>
              </a:spcBef>
              <a:spcAft>
                <a:spcPts val="0"/>
              </a:spcAft>
            </a:pPr>
            <a:r>
              <a:rPr sz="100">
                <a:solidFill>
                  <a:srgbClr val="FFFFFF"/>
                </a:solidFill>
                <a:latin typeface="Noto Sans"/>
              </a:rPr>
              <a:t>52.8%</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45.4%</a:t>
            </a:r>
          </a:p>
          <a:p>
            <a:pPr>
              <a:spcBef>
                <a:spcPts val="0"/>
              </a:spcBef>
              <a:spcAft>
                <a:spcPts val="0"/>
              </a:spcAft>
            </a:pPr>
            <a:r>
              <a:rPr sz="100">
                <a:solidFill>
                  <a:srgbClr val="FFFFFF"/>
                </a:solidFill>
                <a:latin typeface="Noto Sans"/>
              </a:rPr>
              <a:t>33.9%</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16.4%</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18.5%</a:t>
            </a:r>
          </a:p>
          <a:p>
            <a:pPr>
              <a:spcBef>
                <a:spcPts val="0"/>
              </a:spcBef>
              <a:spcAft>
                <a:spcPts val="0"/>
              </a:spcAft>
            </a:pPr>
            <a:r>
              <a:rPr sz="100">
                <a:solidFill>
                  <a:srgbClr val="FFFFFF"/>
                </a:solidFill>
                <a:latin typeface="Noto Sans"/>
              </a:rPr>
              <a:t>21.0%</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17.1%</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Figura D.10.</a:t>
            </a:r>
          </a:p>
          <a:p>
            <a:pPr>
              <a:spcBef>
                <a:spcPts val="0"/>
              </a:spcBef>
              <a:spcAft>
                <a:spcPts val="0"/>
              </a:spcAft>
            </a:pPr>
            <a:r>
              <a:rPr sz="100">
                <a:solidFill>
                  <a:srgbClr val="FFFFFF"/>
                </a:solidFill>
                <a:latin typeface="Noto Sans"/>
              </a:rPr>
              <a:t>Seguridad percibida al usar banca por Internet, por grupo de edad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0" descr="Figura D.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70</a:t>
            </a:r>
          </a:p>
        </p:txBody>
      </p:sp>
    </p:spTree>
  </p:cSld>
  <p:clrMapOvr>
    <a:masterClrMapping/>
  </p:clrMapOvr>
</p:sld>
</file>

<file path=ppt/slides/slide7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D_11" descr="ANUARIO_FIGURE_ID=D.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D.11</a:t>
            </a:r>
          </a:p>
          <a:p>
            <a:pPr>
              <a:spcBef>
                <a:spcPts val="0"/>
              </a:spcBef>
              <a:spcAft>
                <a:spcPts val="600"/>
              </a:spcAft>
            </a:pPr>
            <a:r>
              <a:rPr sz="950" b="1">
                <a:solidFill>
                  <a:srgbClr val="203634"/>
                </a:solidFill>
                <a:latin typeface="Noto Sans"/>
              </a:rPr>
              <a:t>PERCEPCIÓN DE SEGURIDAD AL COMPARTIR INFORMACIÓN EN REDES SOCIALES POR SEXO</a:t>
            </a:r>
          </a:p>
          <a:p>
            <a:pPr>
              <a:lnSpc>
                <a:spcPct val="100000"/>
              </a:lnSpc>
              <a:spcBef>
                <a:spcPts val="0"/>
              </a:spcBef>
              <a:spcAft>
                <a:spcPts val="400"/>
              </a:spcAft>
            </a:pPr>
            <a:r>
              <a:rPr sz="760" b="0">
                <a:solidFill>
                  <a:srgbClr val="434343"/>
                </a:solidFill>
                <a:latin typeface="Noto Sans"/>
              </a:rPr>
              <a:t>Con base a los datos de la Encuesta de Confianza en el Servicio de Internet (ECSI) 2024, el 55.4% de los hombres consideran que compartir información a través de redes sociales es seguro, seguido de un 43.1% de las mujeres, sin embargo, un porcentaje significativo de resaltar es que las mujeres con un 22.1% consideran inseguro compartir información a través de redes sociales, lo que significa que los hombres tienden a reportar en mayor medida sensaciones de seguridad respecto a las mujeres.</a:t>
            </a:r>
          </a:p>
        </p:txBody>
      </p:sp>
      <p:sp>
        <p:nvSpPr>
          <p:cNvPr id="202" name="ANUARIO_SECTION_HEADER_D" descr="ANUARIO_SECTION=D;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D. TECNOLOGÍAS DE LA INFORMACIÓN Y COMUNICACIÓN (TIC)</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D_11" descr="ANUARIO_FIGURE_ID=D.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D_11" descr="Capa accesible con el texto del SVG de la figura D.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D.11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NS/NR</a:t>
            </a:r>
          </a:p>
          <a:p>
            <a:pPr>
              <a:spcBef>
                <a:spcPts val="0"/>
              </a:spcBef>
              <a:spcAft>
                <a:spcPts val="0"/>
              </a:spcAft>
            </a:pPr>
            <a:r>
              <a:rPr sz="100">
                <a:solidFill>
                  <a:srgbClr val="FFFFFF"/>
                </a:solidFill>
                <a:latin typeface="Noto Sans"/>
              </a:rPr>
              <a:t>Inseguro</a:t>
            </a:r>
          </a:p>
          <a:p>
            <a:pPr>
              <a:spcBef>
                <a:spcPts val="0"/>
              </a:spcBef>
              <a:spcAft>
                <a:spcPts val="0"/>
              </a:spcAft>
            </a:pPr>
            <a:r>
              <a:rPr sz="100">
                <a:solidFill>
                  <a:srgbClr val="FFFFFF"/>
                </a:solidFill>
                <a:latin typeface="Noto Sans"/>
              </a:rPr>
              <a:t>Ni seguro ni inseguro</a:t>
            </a:r>
          </a:p>
          <a:p>
            <a:pPr>
              <a:spcBef>
                <a:spcPts val="0"/>
              </a:spcBef>
              <a:spcAft>
                <a:spcPts val="0"/>
              </a:spcAft>
            </a:pPr>
            <a:r>
              <a:rPr sz="100">
                <a:solidFill>
                  <a:srgbClr val="FFFFFF"/>
                </a:solidFill>
                <a:latin typeface="Noto Sans"/>
              </a:rPr>
              <a:t>Seguro</a:t>
            </a:r>
          </a:p>
          <a:p>
            <a:pPr>
              <a:spcBef>
                <a:spcPts val="0"/>
              </a:spcBef>
              <a:spcAft>
                <a:spcPts val="0"/>
              </a:spcAft>
            </a:pPr>
            <a:r>
              <a:rPr sz="100">
                <a:solidFill>
                  <a:srgbClr val="FFFFFF"/>
                </a:solidFill>
                <a:latin typeface="Noto Sans"/>
              </a:rPr>
              <a:t>Muy seguro</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18.3%</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48.8%</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14.7%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43.1%</a:t>
            </a:r>
          </a:p>
          <a:p>
            <a:pPr>
              <a:spcBef>
                <a:spcPts val="0"/>
              </a:spcBef>
              <a:spcAft>
                <a:spcPts val="0"/>
              </a:spcAft>
            </a:pPr>
            <a:r>
              <a:rPr sz="100">
                <a:solidFill>
                  <a:srgbClr val="FFFFFF"/>
                </a:solidFill>
                <a:latin typeface="Noto Sans"/>
              </a:rPr>
              <a:t>2.8%</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14.6%</a:t>
            </a:r>
          </a:p>
          <a:p>
            <a:pPr>
              <a:spcBef>
                <a:spcPts val="0"/>
              </a:spcBef>
              <a:spcAft>
                <a:spcPts val="0"/>
              </a:spcAft>
            </a:pPr>
            <a:r>
              <a:rPr sz="100">
                <a:solidFill>
                  <a:srgbClr val="FFFFFF"/>
                </a:solidFill>
                <a:latin typeface="Noto Sans"/>
              </a:rPr>
              <a:t>55.4%</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Total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D.11.</a:t>
            </a:r>
          </a:p>
          <a:p>
            <a:pPr>
              <a:spcBef>
                <a:spcPts val="0"/>
              </a:spcBef>
              <a:spcAft>
                <a:spcPts val="0"/>
              </a:spcAft>
            </a:pPr>
            <a:r>
              <a:rPr sz="100">
                <a:solidFill>
                  <a:srgbClr val="FFFFFF"/>
                </a:solidFill>
                <a:latin typeface="Noto Sans"/>
              </a:rPr>
              <a:t>Seguridad percibida al compartir información en redes sociales, por sexo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Encuesta de Confianza en el Servicio de Internet (ECSI) 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entre personas usuarias de Internet; los casos sin respuesta se integran en NS/NR.</a:t>
            </a:r>
          </a:p>
        </p:txBody>
      </p:sp>
      <p:pic>
        <p:nvPicPr>
          <p:cNvPr id="223" name="ANUARIO_IMAGE_D_11" descr="Figura D.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71</a:t>
            </a:r>
          </a:p>
        </p:txBody>
      </p:sp>
    </p:spTree>
  </p:cSld>
  <p:clrMapOvr>
    <a:masterClrMapping/>
  </p:clrMapOvr>
</p:sld>
</file>

<file path=ppt/slides/slide7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1" descr="ANUARIO_FIGURE_ID=E.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E.1</a:t>
            </a:r>
          </a:p>
          <a:p>
            <a:pPr>
              <a:spcBef>
                <a:spcPts val="0"/>
              </a:spcBef>
              <a:spcAft>
                <a:spcPts val="600"/>
              </a:spcAft>
            </a:pPr>
            <a:r>
              <a:rPr sz="950" b="1">
                <a:solidFill>
                  <a:srgbClr val="203634"/>
                </a:solidFill>
                <a:latin typeface="Noto Sans"/>
              </a:rPr>
              <a:t>ÍNDICE GENERAL DE SATISFACCIÓN POR SERVICIO DE TELECOMUNICACIONES</a:t>
            </a:r>
          </a:p>
          <a:p>
            <a:pPr>
              <a:lnSpc>
                <a:spcPct val="100000"/>
              </a:lnSpc>
              <a:spcBef>
                <a:spcPts val="0"/>
              </a:spcBef>
              <a:spcAft>
                <a:spcPts val="400"/>
              </a:spcAft>
            </a:pPr>
            <a:r>
              <a:rPr sz="819" b="0">
                <a:solidFill>
                  <a:srgbClr val="434343"/>
                </a:solidFill>
                <a:latin typeface="Noto Sans"/>
              </a:rPr>
              <a:t>De acuerdo con la “Encuesta 2024, Usuarios de Servicios de Telecomunicaciones”, en su Índice General de Satisfacción (IGS), las personas usuarias señalaron que se encontraron más satisfechas con los servicios de telefonía fija (76.2 puntos) y telefonía móvil (76.0 puntos) que con los servicios de television de paga (75.7 puntos) e Internet fijo (75.2 puntos).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1" descr="ANUARIO_FIGURE_ID=E.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1" descr="Capa accesible con el texto del SVG de la figura E.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E.1</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75.7</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Figura E.1.</a:t>
            </a:r>
          </a:p>
          <a:p>
            <a:pPr>
              <a:spcBef>
                <a:spcPts val="0"/>
              </a:spcBef>
              <a:spcAft>
                <a:spcPts val="0"/>
              </a:spcAft>
            </a:pPr>
            <a:r>
              <a:rPr sz="100">
                <a:solidFill>
                  <a:srgbClr val="FFFFFF"/>
                </a:solidFill>
                <a:latin typeface="Noto Sans"/>
              </a:rPr>
              <a:t>Índice General de Satisfacción (IGS) por servicio de telecomunicaciones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Segunda Encuesta 2025,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de entrevistas aplicadas durante 2024. Indicadores medidos en una escala de 0 a 100 puntos.</a:t>
            </a:r>
          </a:p>
        </p:txBody>
      </p:sp>
      <p:pic>
        <p:nvPicPr>
          <p:cNvPr id="223" name="ANUARIO_IMAGE_E_1" descr="Figura E.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72</a:t>
            </a:r>
          </a:p>
        </p:txBody>
      </p:sp>
    </p:spTree>
  </p:cSld>
  <p:clrMapOvr>
    <a:masterClrMapping/>
  </p:clrMapOvr>
</p:sld>
</file>

<file path=ppt/slides/slide7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2" descr="ANUARIO_FIGURE_ID=E.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E.2</a:t>
            </a:r>
          </a:p>
          <a:p>
            <a:pPr>
              <a:spcBef>
                <a:spcPts val="0"/>
              </a:spcBef>
              <a:spcAft>
                <a:spcPts val="600"/>
              </a:spcAft>
            </a:pPr>
            <a:r>
              <a:rPr sz="950" b="1">
                <a:solidFill>
                  <a:srgbClr val="203634"/>
                </a:solidFill>
                <a:latin typeface="Noto Sans"/>
              </a:rPr>
              <a:t>PRINCIPALES HALLAZGOS DE LA INTELIGENCIA ARTIFICIAL Y CHATGPT</a:t>
            </a:r>
          </a:p>
          <a:p>
            <a:pPr>
              <a:lnSpc>
                <a:spcPct val="100000"/>
              </a:lnSpc>
              <a:spcBef>
                <a:spcPts val="0"/>
              </a:spcBef>
              <a:spcAft>
                <a:spcPts val="400"/>
              </a:spcAft>
            </a:pPr>
            <a:r>
              <a:rPr sz="880" b="0">
                <a:solidFill>
                  <a:srgbClr val="434343"/>
                </a:solidFill>
                <a:latin typeface="Noto Sans"/>
              </a:rPr>
              <a:t>De acuerdo con el Estudio Cualitativo “Conocimiento y percepción sobre la Inteligencia Artificial (IA) y ChatGPT 2023”, los principales hallazgos sobre las opiniones de las personas participantes con relación a estas herramientas fueron los siguientes: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2" descr="ANUARIO_FIGURE_ID=E.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2" descr="Capa accesible con el texto del SVG de la figura E.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E.2</a:t>
            </a:r>
          </a:p>
          <a:p>
            <a:pPr>
              <a:spcBef>
                <a:spcPts val="0"/>
              </a:spcBef>
              <a:spcAft>
                <a:spcPts val="0"/>
              </a:spcAft>
            </a:pPr>
            <a:r>
              <a:rPr sz="100">
                <a:solidFill>
                  <a:srgbClr val="FFFFFF"/>
                </a:solidFill>
                <a:latin typeface="Noto Sans"/>
              </a:rPr>
              <a:t>Figura E.2.</a:t>
            </a:r>
          </a:p>
          <a:p>
            <a:pPr>
              <a:spcBef>
                <a:spcPts val="0"/>
              </a:spcBef>
              <a:spcAft>
                <a:spcPts val="0"/>
              </a:spcAft>
            </a:pPr>
            <a:r>
              <a:rPr sz="100">
                <a:solidFill>
                  <a:srgbClr val="FFFFFF"/>
                </a:solidFill>
                <a:latin typeface="Noto Sans"/>
              </a:rPr>
              <a:t>Principales hallazgos de la Inteligencia Artificial (IA) y ChatGPT</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Estudio Cualitativo Conocimiento y Percepción sobre la Inteligencia Artificial (IA) y ChatGPT 2023.</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Resultados cualitativos de grupos de enfoque; no representan estimaciones poblacionales.</a:t>
            </a:r>
          </a:p>
          <a:p>
            <a:pPr>
              <a:spcBef>
                <a:spcPts val="0"/>
              </a:spcBef>
              <a:spcAft>
                <a:spcPts val="0"/>
              </a:spcAft>
            </a:pPr>
            <a:r>
              <a:rPr sz="100">
                <a:solidFill>
                  <a:srgbClr val="FFFFFF"/>
                </a:solidFill>
                <a:latin typeface="Noto Sans"/>
              </a:rPr>
              <a:t>› Es accesible, amigable y aporta beneficios en</a:t>
            </a:r>
          </a:p>
          <a:p>
            <a:pPr>
              <a:spcBef>
                <a:spcPts val="0"/>
              </a:spcBef>
              <a:spcAft>
                <a:spcPts val="0"/>
              </a:spcAft>
            </a:pPr>
            <a:r>
              <a:rPr sz="100">
                <a:solidFill>
                  <a:srgbClr val="FFFFFF"/>
                </a:solidFill>
                <a:latin typeface="Noto Sans"/>
              </a:rPr>
              <a:t>áreas laborales, escolares, de salud y del hogar.</a:t>
            </a:r>
          </a:p>
          <a:p>
            <a:pPr>
              <a:spcBef>
                <a:spcPts val="0"/>
              </a:spcBef>
              <a:spcAft>
                <a:spcPts val="0"/>
              </a:spcAft>
            </a:pPr>
            <a:r>
              <a:rPr sz="100">
                <a:solidFill>
                  <a:srgbClr val="FFFFFF"/>
                </a:solidFill>
                <a:latin typeface="Noto Sans"/>
              </a:rPr>
              <a:t>› Los programas se reconocen en categorías de</a:t>
            </a:r>
          </a:p>
          <a:p>
            <a:pPr>
              <a:spcBef>
                <a:spcPts val="0"/>
              </a:spcBef>
              <a:spcAft>
                <a:spcPts val="0"/>
              </a:spcAft>
            </a:pPr>
            <a:r>
              <a:rPr sz="100">
                <a:solidFill>
                  <a:srgbClr val="FFFFFF"/>
                </a:solidFill>
                <a:latin typeface="Noto Sans"/>
              </a:rPr>
              <a:t>texto, creación de presentaciones o contenido, y</a:t>
            </a:r>
          </a:p>
          <a:p>
            <a:pPr>
              <a:spcBef>
                <a:spcPts val="0"/>
              </a:spcBef>
              <a:spcAft>
                <a:spcPts val="0"/>
              </a:spcAft>
            </a:pPr>
            <a:r>
              <a:rPr sz="100">
                <a:solidFill>
                  <a:srgbClr val="FFFFFF"/>
                </a:solidFill>
                <a:latin typeface="Noto Sans"/>
              </a:rPr>
              <a:t>aplicaciones especializadas.</a:t>
            </a:r>
          </a:p>
          <a:p>
            <a:pPr>
              <a:spcBef>
                <a:spcPts val="0"/>
              </a:spcBef>
              <a:spcAft>
                <a:spcPts val="0"/>
              </a:spcAft>
            </a:pPr>
            <a:r>
              <a:rPr sz="100">
                <a:solidFill>
                  <a:srgbClr val="FFFFFF"/>
                </a:solidFill>
                <a:latin typeface="Noto Sans"/>
              </a:rPr>
              <a:t>› Las principales preocupaciones son la</a:t>
            </a:r>
          </a:p>
          <a:p>
            <a:pPr>
              <a:spcBef>
                <a:spcPts val="0"/>
              </a:spcBef>
              <a:spcAft>
                <a:spcPts val="0"/>
              </a:spcAft>
            </a:pPr>
            <a:r>
              <a:rPr sz="100">
                <a:solidFill>
                  <a:srgbClr val="FFFFFF"/>
                </a:solidFill>
                <a:latin typeface="Noto Sans"/>
              </a:rPr>
              <a:t>privacidad, los ciberdelitos y la necesidad de</a:t>
            </a:r>
          </a:p>
          <a:p>
            <a:pPr>
              <a:spcBef>
                <a:spcPts val="0"/>
              </a:spcBef>
              <a:spcAft>
                <a:spcPts val="0"/>
              </a:spcAft>
            </a:pPr>
            <a:r>
              <a:rPr sz="100">
                <a:solidFill>
                  <a:srgbClr val="FFFFFF"/>
                </a:solidFill>
                <a:latin typeface="Noto Sans"/>
              </a:rPr>
              <a:t>regulación.</a:t>
            </a:r>
          </a:p>
          <a:p>
            <a:pPr>
              <a:spcBef>
                <a:spcPts val="0"/>
              </a:spcBef>
              <a:spcAft>
                <a:spcPts val="0"/>
              </a:spcAft>
            </a:pPr>
            <a:r>
              <a:rPr sz="100">
                <a:solidFill>
                  <a:srgbClr val="FFFFFF"/>
                </a:solidFill>
                <a:latin typeface="Noto Sans"/>
              </a:rPr>
              <a:t>› Es el programa de Inteligencia Artificial más</a:t>
            </a:r>
          </a:p>
          <a:p>
            <a:pPr>
              <a:spcBef>
                <a:spcPts val="0"/>
              </a:spcBef>
              <a:spcAft>
                <a:spcPts val="0"/>
              </a:spcAft>
            </a:pPr>
            <a:r>
              <a:rPr sz="100">
                <a:solidFill>
                  <a:srgbClr val="FFFFFF"/>
                </a:solidFill>
                <a:latin typeface="Noto Sans"/>
              </a:rPr>
              <a:t>conocido y utilizado por las personas participantes.</a:t>
            </a:r>
          </a:p>
          <a:p>
            <a:pPr>
              <a:spcBef>
                <a:spcPts val="0"/>
              </a:spcBef>
              <a:spcAft>
                <a:spcPts val="0"/>
              </a:spcAft>
            </a:pPr>
            <a:r>
              <a:rPr sz="100">
                <a:solidFill>
                  <a:srgbClr val="FFFFFF"/>
                </a:solidFill>
                <a:latin typeface="Noto Sans"/>
              </a:rPr>
              <a:t>› Destaca por resolver dudas y redactar información</a:t>
            </a:r>
          </a:p>
          <a:p>
            <a:pPr>
              <a:spcBef>
                <a:spcPts val="0"/>
              </a:spcBef>
              <a:spcAft>
                <a:spcPts val="0"/>
              </a:spcAft>
            </a:pPr>
            <a:r>
              <a:rPr sz="100">
                <a:solidFill>
                  <a:srgbClr val="FFFFFF"/>
                </a:solidFill>
                <a:latin typeface="Noto Sans"/>
              </a:rPr>
              <a:t>concreta, organizada y sintetizada con rapidez.</a:t>
            </a:r>
          </a:p>
          <a:p>
            <a:pPr>
              <a:spcBef>
                <a:spcPts val="0"/>
              </a:spcBef>
              <a:spcAft>
                <a:spcPts val="0"/>
              </a:spcAft>
            </a:pPr>
            <a:r>
              <a:rPr sz="100">
                <a:solidFill>
                  <a:srgbClr val="FFFFFF"/>
                </a:solidFill>
                <a:latin typeface="Noto Sans"/>
              </a:rPr>
              <a:t>› Resulta atractivo para consultas laborales,</a:t>
            </a:r>
          </a:p>
          <a:p>
            <a:pPr>
              <a:spcBef>
                <a:spcPts val="0"/>
              </a:spcBef>
              <a:spcAft>
                <a:spcPts val="0"/>
              </a:spcAft>
            </a:pPr>
            <a:r>
              <a:rPr sz="100">
                <a:solidFill>
                  <a:srgbClr val="FFFFFF"/>
                </a:solidFill>
                <a:latin typeface="Noto Sans"/>
              </a:rPr>
              <a:t>escolares, de investigación y de la vida cotidiana.</a:t>
            </a:r>
          </a:p>
          <a:p>
            <a:pPr>
              <a:spcBef>
                <a:spcPts val="0"/>
              </a:spcBef>
              <a:spcAft>
                <a:spcPts val="0"/>
              </a:spcAft>
            </a:pPr>
            <a:r>
              <a:rPr sz="100">
                <a:solidFill>
                  <a:srgbClr val="FFFFFF"/>
                </a:solidFill>
                <a:latin typeface="Noto Sans"/>
              </a:rPr>
              <a:t>› Entre las desventajas se mencionan respuestas</a:t>
            </a:r>
          </a:p>
          <a:p>
            <a:pPr>
              <a:spcBef>
                <a:spcPts val="0"/>
              </a:spcBef>
              <a:spcAft>
                <a:spcPts val="0"/>
              </a:spcAft>
            </a:pPr>
            <a:r>
              <a:rPr sz="100">
                <a:solidFill>
                  <a:srgbClr val="FFFFFF"/>
                </a:solidFill>
                <a:latin typeface="Noto Sans"/>
              </a:rPr>
              <a:t>incompletas o imprecisas, hackeo, privacidad, fraude</a:t>
            </a:r>
          </a:p>
          <a:p>
            <a:pPr>
              <a:spcBef>
                <a:spcPts val="0"/>
              </a:spcBef>
              <a:spcAft>
                <a:spcPts val="0"/>
              </a:spcAft>
            </a:pPr>
            <a:r>
              <a:rPr sz="100">
                <a:solidFill>
                  <a:srgbClr val="FFFFFF"/>
                </a:solidFill>
                <a:latin typeface="Noto Sans"/>
              </a:rPr>
              <a:t>y ciberdelitos.</a:t>
            </a:r>
          </a:p>
          <a:p>
            <a:pPr>
              <a:spcBef>
                <a:spcPts val="0"/>
              </a:spcBef>
              <a:spcAft>
                <a:spcPts val="0"/>
              </a:spcAft>
            </a:pPr>
            <a:r>
              <a:rPr sz="100">
                <a:solidFill>
                  <a:srgbClr val="FFFFFF"/>
                </a:solidFill>
                <a:latin typeface="Noto Sans"/>
              </a:rPr>
              <a:t>IA</a:t>
            </a:r>
          </a:p>
          <a:p>
            <a:pPr>
              <a:spcBef>
                <a:spcPts val="0"/>
              </a:spcBef>
              <a:spcAft>
                <a:spcPts val="0"/>
              </a:spcAft>
            </a:pPr>
            <a:r>
              <a:rPr sz="100">
                <a:solidFill>
                  <a:srgbClr val="FFFFFF"/>
                </a:solidFill>
                <a:latin typeface="Noto Sans"/>
              </a:rPr>
              <a:t>GPT</a:t>
            </a:r>
          </a:p>
          <a:p>
            <a:pPr>
              <a:spcBef>
                <a:spcPts val="0"/>
              </a:spcBef>
              <a:spcAft>
                <a:spcPts val="0"/>
              </a:spcAft>
            </a:pPr>
            <a:r>
              <a:rPr sz="100">
                <a:solidFill>
                  <a:srgbClr val="FFFFFF"/>
                </a:solidFill>
                <a:latin typeface="Noto Sans"/>
              </a:rPr>
              <a:t>Inteligencia</a:t>
            </a:r>
          </a:p>
          <a:p>
            <a:pPr>
              <a:spcBef>
                <a:spcPts val="0"/>
              </a:spcBef>
              <a:spcAft>
                <a:spcPts val="0"/>
              </a:spcAft>
            </a:pPr>
            <a:r>
              <a:rPr sz="100">
                <a:solidFill>
                  <a:srgbClr val="FFFFFF"/>
                </a:solidFill>
                <a:latin typeface="Noto Sans"/>
              </a:rPr>
              <a:t>Artificial (IA)</a:t>
            </a:r>
          </a:p>
          <a:p>
            <a:pPr>
              <a:spcBef>
                <a:spcPts val="0"/>
              </a:spcBef>
              <a:spcAft>
                <a:spcPts val="0"/>
              </a:spcAft>
            </a:pPr>
            <a:r>
              <a:rPr sz="100">
                <a:solidFill>
                  <a:srgbClr val="FFFFFF"/>
                </a:solidFill>
                <a:latin typeface="Noto Sans"/>
              </a:rPr>
              <a:t>ChatGPT</a:t>
            </a:r>
          </a:p>
        </p:txBody>
      </p:sp>
      <p:pic>
        <p:nvPicPr>
          <p:cNvPr id="223" name="ANUARIO_IMAGE_E_2" descr="Figura E.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73</a:t>
            </a:r>
          </a:p>
        </p:txBody>
      </p:sp>
    </p:spTree>
  </p:cSld>
  <p:clrMapOvr>
    <a:masterClrMapping/>
  </p:clrMapOvr>
</p:sld>
</file>

<file path=ppt/slides/slide7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3" descr="ANUARIO_FIGURE_ID=E.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E.3</a:t>
            </a:r>
          </a:p>
          <a:p>
            <a:pPr>
              <a:spcBef>
                <a:spcPts val="0"/>
              </a:spcBef>
              <a:spcAft>
                <a:spcPts val="600"/>
              </a:spcAft>
            </a:pPr>
            <a:r>
              <a:rPr sz="950" b="1">
                <a:solidFill>
                  <a:srgbClr val="203634"/>
                </a:solidFill>
                <a:latin typeface="Noto Sans"/>
              </a:rPr>
              <a:t>ÍNDICE GENERAL DE SATISFACCIÓN POR SERVICIO Y TAMAÑO DE EMPRESA</a:t>
            </a:r>
          </a:p>
          <a:p>
            <a:pPr>
              <a:lnSpc>
                <a:spcPct val="100000"/>
              </a:lnSpc>
              <a:spcBef>
                <a:spcPts val="0"/>
              </a:spcBef>
              <a:spcAft>
                <a:spcPts val="400"/>
              </a:spcAft>
            </a:pPr>
            <a:r>
              <a:rPr sz="760" b="0">
                <a:solidFill>
                  <a:srgbClr val="434343"/>
                </a:solidFill>
                <a:latin typeface="Noto Sans"/>
              </a:rPr>
              <a:t>En la “Cuarta Encuesta 2023, Usuarios de Servicios de Telecomunicaciones (micro, pequeñas y medianas empresas)”, se mostró que, de acuerdo con el Índice General de Satisfacción, para el año 2023 las empresas se encontraron más satisfechas con el servicio de Internet fijo que con el de telefonía fija, mientras que en 2024 se encontraron más satisfechas con el servicio de telefonía fija. Por tamaño de empresa, el índice mostró mejores resultados del servicio de telefonía fija en las medianas empresas en 2024.</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3" descr="ANUARIO_FIGURE_ID=E.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3" descr="Capa accesible con el texto del SVG de la figura E.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76.9</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76.2</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75.6</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75.2</a:t>
            </a:r>
          </a:p>
          <a:p>
            <a:pPr>
              <a:spcBef>
                <a:spcPts val="0"/>
              </a:spcBef>
              <a:spcAft>
                <a:spcPts val="0"/>
              </a:spcAft>
            </a:pPr>
            <a:r>
              <a:rPr sz="100">
                <a:solidFill>
                  <a:srgbClr val="FFFFFF"/>
                </a:solidFill>
                <a:latin typeface="Noto Sans"/>
              </a:rPr>
              <a:t>76.0</a:t>
            </a:r>
          </a:p>
          <a:p>
            <a:pPr>
              <a:spcBef>
                <a:spcPts val="0"/>
              </a:spcBef>
              <a:spcAft>
                <a:spcPts val="0"/>
              </a:spcAft>
            </a:pPr>
            <a:r>
              <a:rPr sz="100">
                <a:solidFill>
                  <a:srgbClr val="FFFFFF"/>
                </a:solidFill>
                <a:latin typeface="Noto Sans"/>
              </a:rPr>
              <a:t>78.2</a:t>
            </a:r>
          </a:p>
          <a:p>
            <a:pPr>
              <a:spcBef>
                <a:spcPts val="0"/>
              </a:spcBef>
              <a:spcAft>
                <a:spcPts val="0"/>
              </a:spcAft>
            </a:pPr>
            <a:r>
              <a:rPr sz="100">
                <a:solidFill>
                  <a:srgbClr val="FFFFFF"/>
                </a:solidFill>
                <a:latin typeface="Noto Sans"/>
              </a:rPr>
              <a:t>76.8</a:t>
            </a:r>
          </a:p>
          <a:p>
            <a:pPr>
              <a:spcBef>
                <a:spcPts val="0"/>
              </a:spcBef>
              <a:spcAft>
                <a:spcPts val="0"/>
              </a:spcAft>
            </a:pPr>
            <a:r>
              <a:rPr sz="100">
                <a:solidFill>
                  <a:srgbClr val="FFFFFF"/>
                </a:solidFill>
                <a:latin typeface="Noto Sans"/>
              </a:rPr>
              <a:t>77.5</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E.3.</a:t>
            </a:r>
          </a:p>
          <a:p>
            <a:pPr>
              <a:spcBef>
                <a:spcPts val="0"/>
              </a:spcBef>
              <a:spcAft>
                <a:spcPts val="0"/>
              </a:spcAft>
            </a:pPr>
            <a:r>
              <a:rPr sz="100">
                <a:solidFill>
                  <a:srgbClr val="FFFFFF"/>
                </a:solidFill>
                <a:latin typeface="Noto Sans"/>
              </a:rPr>
              <a:t>Índice General de Satisfacción por servicio y tamaño de la empresa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Indicadores medidos en una escala de 0 a 100 puntos.</a:t>
            </a:r>
          </a:p>
        </p:txBody>
      </p:sp>
      <p:pic>
        <p:nvPicPr>
          <p:cNvPr id="223" name="ANUARIO_IMAGE_E_3" descr="Figura E.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74</a:t>
            </a:r>
          </a:p>
        </p:txBody>
      </p:sp>
    </p:spTree>
  </p:cSld>
  <p:clrMapOvr>
    <a:masterClrMapping/>
  </p:clrMapOvr>
</p:sld>
</file>

<file path=ppt/slides/slide7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4" descr="ANUARIO_FIGURE_ID=E.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E.4</a:t>
            </a:r>
          </a:p>
          <a:p>
            <a:pPr>
              <a:spcBef>
                <a:spcPts val="0"/>
              </a:spcBef>
              <a:spcAft>
                <a:spcPts val="600"/>
              </a:spcAft>
            </a:pPr>
            <a:r>
              <a:rPr sz="950" b="1">
                <a:solidFill>
                  <a:srgbClr val="203634"/>
                </a:solidFill>
                <a:latin typeface="Noto Sans"/>
              </a:rPr>
              <a:t>SERVICIOS DE TELECOMUNICACIONES CONTRATADOS POR LAS MIPYMES</a:t>
            </a:r>
          </a:p>
          <a:p>
            <a:pPr>
              <a:lnSpc>
                <a:spcPct val="100000"/>
              </a:lnSpc>
              <a:spcBef>
                <a:spcPts val="0"/>
              </a:spcBef>
              <a:spcAft>
                <a:spcPts val="400"/>
              </a:spcAft>
            </a:pPr>
            <a:r>
              <a:rPr sz="819" b="0">
                <a:solidFill>
                  <a:srgbClr val="434343"/>
                </a:solidFill>
                <a:latin typeface="Noto Sans"/>
              </a:rPr>
              <a:t>Por otra parte, la Encuesta mostró que el servicio más contratado por las MiPymes con respecto al año anterior fue el servicio de Internet Fijo (95.3%) mientras que, el servicio menos contratado fue la Televisión de paga (27.0%). Las Micro y Pequeñas empresas mostraron un mayor aumento en la contratación del servicio de Internet fijo.</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4" descr="ANUARIO_FIGURE_ID=E.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4" descr="Capa accesible con el texto del SVG de la figura E.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E.4</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89.4%</a:t>
            </a:r>
          </a:p>
          <a:p>
            <a:pPr>
              <a:spcBef>
                <a:spcPts val="0"/>
              </a:spcBef>
              <a:spcAft>
                <a:spcPts val="0"/>
              </a:spcAft>
            </a:pPr>
            <a:r>
              <a:rPr sz="100">
                <a:solidFill>
                  <a:srgbClr val="FFFFFF"/>
                </a:solidFill>
                <a:latin typeface="Noto Sans"/>
              </a:rPr>
              <a:t>95.3%</a:t>
            </a:r>
          </a:p>
          <a:p>
            <a:pPr>
              <a:spcBef>
                <a:spcPts val="0"/>
              </a:spcBef>
              <a:spcAft>
                <a:spcPts val="0"/>
              </a:spcAft>
            </a:pPr>
            <a:r>
              <a:rPr sz="100">
                <a:solidFill>
                  <a:srgbClr val="FFFFFF"/>
                </a:solidFill>
                <a:latin typeface="Noto Sans"/>
              </a:rPr>
              <a:t>78.9%</a:t>
            </a:r>
          </a:p>
          <a:p>
            <a:pPr>
              <a:spcBef>
                <a:spcPts val="0"/>
              </a:spcBef>
              <a:spcAft>
                <a:spcPts val="0"/>
              </a:spcAft>
            </a:pPr>
            <a:r>
              <a:rPr sz="100">
                <a:solidFill>
                  <a:srgbClr val="FFFFFF"/>
                </a:solidFill>
                <a:latin typeface="Noto Sans"/>
              </a:rPr>
              <a:t>69.0%</a:t>
            </a:r>
          </a:p>
          <a:p>
            <a:pPr>
              <a:spcBef>
                <a:spcPts val="0"/>
              </a:spcBef>
              <a:spcAft>
                <a:spcPts val="0"/>
              </a:spcAft>
            </a:pPr>
            <a:r>
              <a:rPr sz="100">
                <a:solidFill>
                  <a:srgbClr val="FFFFFF"/>
                </a:solidFill>
                <a:latin typeface="Noto Sans"/>
              </a:rPr>
              <a:t>29.6%</a:t>
            </a:r>
          </a:p>
          <a:p>
            <a:pPr>
              <a:spcBef>
                <a:spcPts val="0"/>
              </a:spcBef>
              <a:spcAft>
                <a:spcPts val="0"/>
              </a:spcAft>
            </a:pPr>
            <a:r>
              <a:rPr sz="100">
                <a:solidFill>
                  <a:srgbClr val="FFFFFF"/>
                </a:solidFill>
                <a:latin typeface="Noto Sans"/>
              </a:rPr>
              <a:t>29.0%</a:t>
            </a:r>
          </a:p>
          <a:p>
            <a:pPr>
              <a:spcBef>
                <a:spcPts val="0"/>
              </a:spcBef>
              <a:spcAft>
                <a:spcPts val="0"/>
              </a:spcAft>
            </a:pPr>
            <a:r>
              <a:rPr sz="100">
                <a:solidFill>
                  <a:srgbClr val="FFFFFF"/>
                </a:solidFill>
                <a:latin typeface="Noto Sans"/>
              </a:rPr>
              <a:t>25.4%</a:t>
            </a:r>
          </a:p>
          <a:p>
            <a:pPr>
              <a:spcBef>
                <a:spcPts val="0"/>
              </a:spcBef>
              <a:spcAft>
                <a:spcPts val="0"/>
              </a:spcAft>
            </a:pPr>
            <a:r>
              <a:rPr sz="100">
                <a:solidFill>
                  <a:srgbClr val="FFFFFF"/>
                </a:solidFill>
                <a:latin typeface="Noto Sans"/>
              </a:rPr>
              <a:t>27.0%</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95.2%</a:t>
            </a:r>
          </a:p>
          <a:p>
            <a:pPr>
              <a:spcBef>
                <a:spcPts val="0"/>
              </a:spcBef>
              <a:spcAft>
                <a:spcPts val="0"/>
              </a:spcAft>
            </a:pPr>
            <a:r>
              <a:rPr sz="100">
                <a:solidFill>
                  <a:srgbClr val="FFFFFF"/>
                </a:solidFill>
                <a:latin typeface="Noto Sans"/>
              </a:rPr>
              <a:t>78.4%</a:t>
            </a:r>
          </a:p>
          <a:p>
            <a:pPr>
              <a:spcBef>
                <a:spcPts val="0"/>
              </a:spcBef>
              <a:spcAft>
                <a:spcPts val="0"/>
              </a:spcAft>
            </a:pPr>
            <a:r>
              <a:rPr sz="100">
                <a:solidFill>
                  <a:srgbClr val="FFFFFF"/>
                </a:solidFill>
                <a:latin typeface="Noto Sans"/>
              </a:rPr>
              <a:t>68.3%</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28.7%</a:t>
            </a:r>
          </a:p>
          <a:p>
            <a:pPr>
              <a:spcBef>
                <a:spcPts val="0"/>
              </a:spcBef>
              <a:spcAft>
                <a:spcPts val="0"/>
              </a:spcAft>
            </a:pPr>
            <a:r>
              <a:rPr sz="100">
                <a:solidFill>
                  <a:srgbClr val="FFFFFF"/>
                </a:solidFill>
                <a:latin typeface="Noto Sans"/>
              </a:rPr>
              <a:t>25.7%</a:t>
            </a:r>
          </a:p>
          <a:p>
            <a:pPr>
              <a:spcBef>
                <a:spcPts val="0"/>
              </a:spcBef>
              <a:spcAft>
                <a:spcPts val="0"/>
              </a:spcAft>
            </a:pPr>
            <a:r>
              <a:rPr sz="100">
                <a:solidFill>
                  <a:srgbClr val="FFFFFF"/>
                </a:solidFill>
                <a:latin typeface="Noto Sans"/>
              </a:rPr>
              <a:t>27.4%</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89.8%</a:t>
            </a:r>
          </a:p>
          <a:p>
            <a:pPr>
              <a:spcBef>
                <a:spcPts val="0"/>
              </a:spcBef>
              <a:spcAft>
                <a:spcPts val="0"/>
              </a:spcAft>
            </a:pPr>
            <a:r>
              <a:rPr sz="100">
                <a:solidFill>
                  <a:srgbClr val="FFFFFF"/>
                </a:solidFill>
                <a:latin typeface="Noto Sans"/>
              </a:rPr>
              <a:t>96.3%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78.6%</a:t>
            </a:r>
          </a:p>
          <a:p>
            <a:pPr>
              <a:spcBef>
                <a:spcPts val="0"/>
              </a:spcBef>
              <a:spcAft>
                <a:spcPts val="0"/>
              </a:spcAft>
            </a:pPr>
            <a:r>
              <a:rPr sz="100">
                <a:solidFill>
                  <a:srgbClr val="FFFFFF"/>
                </a:solidFill>
                <a:latin typeface="Noto Sans"/>
              </a:rPr>
              <a:t>19.9%</a:t>
            </a:r>
          </a:p>
          <a:p>
            <a:pPr>
              <a:spcBef>
                <a:spcPts val="0"/>
              </a:spcBef>
              <a:spcAft>
                <a:spcPts val="0"/>
              </a:spcAft>
            </a:pPr>
            <a:r>
              <a:rPr sz="100">
                <a:solidFill>
                  <a:srgbClr val="FFFFFF"/>
                </a:solidFill>
                <a:latin typeface="Noto Sans"/>
              </a:rPr>
              <a:t>34.9%</a:t>
            </a:r>
          </a:p>
          <a:p>
            <a:pPr>
              <a:spcBef>
                <a:spcPts val="0"/>
              </a:spcBef>
              <a:spcAft>
                <a:spcPts val="0"/>
              </a:spcAft>
            </a:pPr>
            <a:r>
              <a:rPr sz="100">
                <a:solidFill>
                  <a:srgbClr val="FFFFFF"/>
                </a:solidFill>
                <a:latin typeface="Noto Sans"/>
              </a:rPr>
              <a:t>21.7%</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99.5%</a:t>
            </a:r>
          </a:p>
          <a:p>
            <a:pPr>
              <a:spcBef>
                <a:spcPts val="0"/>
              </a:spcBef>
              <a:spcAft>
                <a:spcPts val="0"/>
              </a:spcAft>
            </a:pPr>
            <a:r>
              <a:rPr sz="100">
                <a:solidFill>
                  <a:srgbClr val="FFFFFF"/>
                </a:solidFill>
                <a:latin typeface="Noto Sans"/>
              </a:rPr>
              <a:t>98.1%</a:t>
            </a:r>
          </a:p>
          <a:p>
            <a:pPr>
              <a:spcBef>
                <a:spcPts val="0"/>
              </a:spcBef>
              <a:spcAft>
                <a:spcPts val="0"/>
              </a:spcAft>
            </a:pPr>
            <a:r>
              <a:rPr sz="100">
                <a:solidFill>
                  <a:srgbClr val="FFFFFF"/>
                </a:solidFill>
                <a:latin typeface="Noto Sans"/>
              </a:rPr>
              <a:t>94.6%</a:t>
            </a:r>
          </a:p>
          <a:p>
            <a:pPr>
              <a:spcBef>
                <a:spcPts val="0"/>
              </a:spcBef>
              <a:spcAft>
                <a:spcPts val="0"/>
              </a:spcAft>
            </a:pPr>
            <a:r>
              <a:rPr sz="100">
                <a:solidFill>
                  <a:srgbClr val="FFFFFF"/>
                </a:solidFill>
                <a:latin typeface="Noto Sans"/>
              </a:rPr>
              <a:t>85.5%</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31.9%</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20.9%</a:t>
            </a:r>
          </a:p>
          <a:p>
            <a:pPr>
              <a:spcBef>
                <a:spcPts val="0"/>
              </a:spcBef>
              <a:spcAft>
                <a:spcPts val="0"/>
              </a:spcAft>
            </a:pPr>
            <a:r>
              <a:rPr sz="100">
                <a:solidFill>
                  <a:srgbClr val="FFFFFF"/>
                </a:solidFill>
                <a:latin typeface="Noto Sans"/>
              </a:rPr>
              <a:t>Figura E.4.</a:t>
            </a:r>
          </a:p>
          <a:p>
            <a:pPr>
              <a:spcBef>
                <a:spcPts val="0"/>
              </a:spcBef>
              <a:spcAft>
                <a:spcPts val="0"/>
              </a:spcAft>
            </a:pPr>
            <a:r>
              <a:rPr sz="100">
                <a:solidFill>
                  <a:srgbClr val="FFFFFF"/>
                </a:solidFill>
                <a:latin typeface="Noto Sans"/>
              </a:rPr>
              <a:t>Servicios de telecomunicaciones que contratan las MiPymes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 En 2024 no se publicó Datos móviles como categoría separada.</a:t>
            </a:r>
          </a:p>
        </p:txBody>
      </p:sp>
      <p:pic>
        <p:nvPicPr>
          <p:cNvPr id="223" name="ANUARIO_IMAGE_E_4" descr="Figura E.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75</a:t>
            </a:r>
          </a:p>
        </p:txBody>
      </p:sp>
    </p:spTree>
  </p:cSld>
  <p:clrMapOvr>
    <a:masterClrMapping/>
  </p:clrMapOvr>
</p:sld>
</file>

<file path=ppt/slides/slide7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5" descr="ANUARIO_FIGURE_ID=E.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E.5</a:t>
            </a:r>
          </a:p>
          <a:p>
            <a:pPr>
              <a:spcBef>
                <a:spcPts val="0"/>
              </a:spcBef>
              <a:spcAft>
                <a:spcPts val="600"/>
              </a:spcAft>
            </a:pPr>
            <a:r>
              <a:rPr sz="950" b="1">
                <a:solidFill>
                  <a:srgbClr val="203634"/>
                </a:solidFill>
                <a:latin typeface="Noto Sans"/>
              </a:rPr>
              <a:t>PERCEPCIÓN DE BENEFICIOS DE INTERNET FIJO Y TELEFONÍA FIJA</a:t>
            </a:r>
          </a:p>
          <a:p>
            <a:pPr>
              <a:lnSpc>
                <a:spcPct val="100000"/>
              </a:lnSpc>
              <a:spcBef>
                <a:spcPts val="0"/>
              </a:spcBef>
              <a:spcAft>
                <a:spcPts val="400"/>
              </a:spcAft>
            </a:pPr>
            <a:r>
              <a:rPr sz="819" b="0">
                <a:solidFill>
                  <a:srgbClr val="434343"/>
                </a:solidFill>
                <a:latin typeface="Noto Sans"/>
              </a:rPr>
              <a:t>En cuanto a los beneficios que mencionaron las MiPymes de contar con los servicios fijos de Internet y Telefonía, se encontraron tres principales: el primero es que más gente conoce su empresa, el segundo, que están más cerca de sus clientes o consumidores y finalmente, que cuentan con más ventas y clientes.</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5" descr="ANUARIO_FIGURE_ID=E.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5" descr="Capa accesible con el texto del SVG de la figura E.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E.5</a:t>
            </a:r>
          </a:p>
          <a:p>
            <a:pPr>
              <a:spcBef>
                <a:spcPts val="0"/>
              </a:spcBef>
              <a:spcAft>
                <a:spcPts val="0"/>
              </a:spcAft>
            </a:pPr>
            <a:r>
              <a:rPr sz="100">
                <a:solidFill>
                  <a:srgbClr val="FFFFFF"/>
                </a:solidFill>
                <a:latin typeface="Noto Sans"/>
              </a:rPr>
              <a:t>Más gente conoce la empresa</a:t>
            </a:r>
          </a:p>
          <a:p>
            <a:pPr>
              <a:spcBef>
                <a:spcPts val="0"/>
              </a:spcBef>
              <a:spcAft>
                <a:spcPts val="0"/>
              </a:spcAft>
            </a:pPr>
            <a:r>
              <a:rPr sz="100">
                <a:solidFill>
                  <a:srgbClr val="FFFFFF"/>
                </a:solidFill>
                <a:latin typeface="Noto Sans"/>
              </a:rPr>
              <a:t>Están más cerca de sus</a:t>
            </a:r>
          </a:p>
          <a:p>
            <a:pPr>
              <a:spcBef>
                <a:spcPts val="0"/>
              </a:spcBef>
              <a:spcAft>
                <a:spcPts val="0"/>
              </a:spcAft>
            </a:pPr>
            <a:r>
              <a:rPr sz="100">
                <a:solidFill>
                  <a:srgbClr val="FFFFFF"/>
                </a:solidFill>
                <a:latin typeface="Noto Sans"/>
              </a:rPr>
              <a:t>clientes/consumidores</a:t>
            </a:r>
          </a:p>
          <a:p>
            <a:pPr>
              <a:spcBef>
                <a:spcPts val="0"/>
              </a:spcBef>
              <a:spcAft>
                <a:spcPts val="0"/>
              </a:spcAft>
            </a:pPr>
            <a:r>
              <a:rPr sz="100">
                <a:solidFill>
                  <a:srgbClr val="FFFFFF"/>
                </a:solidFill>
                <a:latin typeface="Noto Sans"/>
              </a:rPr>
              <a:t>Hay más ventas/clientes</a:t>
            </a:r>
          </a:p>
          <a:p>
            <a:pPr>
              <a:spcBef>
                <a:spcPts val="0"/>
              </a:spcBef>
              <a:spcAft>
                <a:spcPts val="0"/>
              </a:spcAft>
            </a:pPr>
            <a:r>
              <a:rPr sz="100">
                <a:solidFill>
                  <a:srgbClr val="FFFFFF"/>
                </a:solidFill>
                <a:latin typeface="Noto Sans"/>
              </a:rPr>
              <a:t>Disminución de costos al</a:t>
            </a:r>
          </a:p>
          <a:p>
            <a:pPr>
              <a:spcBef>
                <a:spcPts val="0"/>
              </a:spcBef>
              <a:spcAft>
                <a:spcPts val="0"/>
              </a:spcAft>
            </a:pPr>
            <a:r>
              <a:rPr sz="100">
                <a:solidFill>
                  <a:srgbClr val="FFFFFF"/>
                </a:solidFill>
                <a:latin typeface="Noto Sans"/>
              </a:rPr>
              <a:t>encontrar mejores proveedores</a:t>
            </a:r>
          </a:p>
          <a:p>
            <a:pPr>
              <a:spcBef>
                <a:spcPts val="0"/>
              </a:spcBef>
              <a:spcAft>
                <a:spcPts val="0"/>
              </a:spcAft>
            </a:pPr>
            <a:r>
              <a:rPr sz="100">
                <a:solidFill>
                  <a:srgbClr val="FFFFFF"/>
                </a:solidFill>
                <a:latin typeface="Noto Sans"/>
              </a:rPr>
              <a:t>Desarrollar nuevos productos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Entrega más rápida o menos</a:t>
            </a:r>
          </a:p>
          <a:p>
            <a:pPr>
              <a:spcBef>
                <a:spcPts val="0"/>
              </a:spcBef>
              <a:spcAft>
                <a:spcPts val="0"/>
              </a:spcAft>
            </a:pPr>
            <a:r>
              <a:rPr sz="100">
                <a:solidFill>
                  <a:srgbClr val="FFFFFF"/>
                </a:solidFill>
                <a:latin typeface="Noto Sans"/>
              </a:rPr>
              <a:t>costosa</a:t>
            </a:r>
          </a:p>
          <a:p>
            <a:pPr>
              <a:spcBef>
                <a:spcPts val="0"/>
              </a:spcBef>
              <a:spcAft>
                <a:spcPts val="0"/>
              </a:spcAft>
            </a:pPr>
            <a:r>
              <a:rPr sz="100">
                <a:solidFill>
                  <a:srgbClr val="FFFFFF"/>
                </a:solidFill>
                <a:latin typeface="Noto Sans"/>
              </a:rPr>
              <a:t>Los empleados hacen más en el</a:t>
            </a:r>
          </a:p>
          <a:p>
            <a:pPr>
              <a:spcBef>
                <a:spcPts val="0"/>
              </a:spcBef>
              <a:spcAft>
                <a:spcPts val="0"/>
              </a:spcAft>
            </a:pPr>
            <a:r>
              <a:rPr sz="100">
                <a:solidFill>
                  <a:srgbClr val="FFFFFF"/>
                </a:solidFill>
                <a:latin typeface="Noto Sans"/>
              </a:rPr>
              <a:t>mismo tiempo</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7.8</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7.9</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8.7</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7.4</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E.5.</a:t>
            </a:r>
          </a:p>
          <a:p>
            <a:pPr>
              <a:spcBef>
                <a:spcPts val="0"/>
              </a:spcBef>
              <a:spcAft>
                <a:spcPts val="0"/>
              </a:spcAft>
            </a:pPr>
            <a:r>
              <a:rPr sz="100">
                <a:solidFill>
                  <a:srgbClr val="FFFFFF"/>
                </a:solidFill>
                <a:latin typeface="Noto Sans"/>
              </a:rPr>
              <a:t>Beneficios de contar con Internet fijo y/o telefonía fija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Promedios ponderados en escala de 0 a 10; se excluyen No sabe/No contestó.</a:t>
            </a:r>
          </a:p>
          <a:p>
            <a:pPr>
              <a:spcBef>
                <a:spcPts val="0"/>
              </a:spcBef>
              <a:spcAft>
                <a:spcPts val="0"/>
              </a:spcAft>
            </a:pPr>
            <a:r>
              <a:rPr sz="100">
                <a:solidFill>
                  <a:srgbClr val="FFFFFF"/>
                </a:solidFill>
                <a:latin typeface="Noto Sans"/>
              </a:rPr>
              <a:t>Internet fijo</a:t>
            </a:r>
          </a:p>
          <a:p>
            <a:pPr>
              <a:spcBef>
                <a:spcPts val="0"/>
              </a:spcBef>
              <a:spcAft>
                <a:spcPts val="0"/>
              </a:spcAft>
            </a:pPr>
            <a:r>
              <a:rPr sz="100">
                <a:solidFill>
                  <a:srgbClr val="FFFFFF"/>
                </a:solidFill>
                <a:latin typeface="Noto Sans"/>
              </a:rPr>
              <a:t>Telefonía fija</a:t>
            </a:r>
          </a:p>
        </p:txBody>
      </p:sp>
      <p:pic>
        <p:nvPicPr>
          <p:cNvPr id="223" name="ANUARIO_IMAGE_E_5" descr="Figura E.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76</a:t>
            </a:r>
          </a:p>
        </p:txBody>
      </p:sp>
    </p:spTree>
  </p:cSld>
  <p:clrMapOvr>
    <a:masterClrMapping/>
  </p:clrMapOvr>
</p:sld>
</file>

<file path=ppt/slides/slide7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6" descr="ANUARIO_FIGURE_ID=E.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E.6</a:t>
            </a:r>
          </a:p>
          <a:p>
            <a:pPr>
              <a:spcBef>
                <a:spcPts val="0"/>
              </a:spcBef>
              <a:spcAft>
                <a:spcPts val="600"/>
              </a:spcAft>
            </a:pPr>
            <a:r>
              <a:rPr sz="950" b="1">
                <a:solidFill>
                  <a:srgbClr val="203634"/>
                </a:solidFill>
                <a:latin typeface="Noto Sans"/>
              </a:rPr>
              <a:t>BENEFICIOS DE VENDER MEDIANTE INTERNET FIJO</a:t>
            </a:r>
          </a:p>
          <a:p>
            <a:pPr>
              <a:lnSpc>
                <a:spcPct val="100000"/>
              </a:lnSpc>
              <a:spcBef>
                <a:spcPts val="0"/>
              </a:spcBef>
              <a:spcAft>
                <a:spcPts val="400"/>
              </a:spcAft>
            </a:pPr>
            <a:r>
              <a:rPr sz="880" b="0">
                <a:solidFill>
                  <a:srgbClr val="434343"/>
                </a:solidFill>
                <a:latin typeface="Noto Sans"/>
              </a:rPr>
              <a:t>Entre los beneficios que tuvieron las MiPymes de la venta a través del servicio de Internet fijo se encontraron el incremento de sus ventas con el 65.7%, seguido de la ampliación de sus canales de venta que se situó en 17.2%.</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6" descr="ANUARIO_FIGURE_ID=E.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6" descr="Capa accesible con el texto del SVG de la figura E.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E.6</a:t>
            </a:r>
          </a:p>
          <a:p>
            <a:pPr>
              <a:spcBef>
                <a:spcPts val="0"/>
              </a:spcBef>
              <a:spcAft>
                <a:spcPts val="0"/>
              </a:spcAft>
            </a:pPr>
            <a:r>
              <a:rPr sz="100">
                <a:solidFill>
                  <a:srgbClr val="FFFFFF"/>
                </a:solidFill>
                <a:latin typeface="Noto Sans"/>
              </a:rPr>
              <a:t>Incremento de ventas</a:t>
            </a:r>
          </a:p>
          <a:p>
            <a:pPr>
              <a:spcBef>
                <a:spcPts val="0"/>
              </a:spcBef>
              <a:spcAft>
                <a:spcPts val="0"/>
              </a:spcAft>
            </a:pPr>
            <a:r>
              <a:rPr sz="100">
                <a:solidFill>
                  <a:srgbClr val="FFFFFF"/>
                </a:solidFill>
                <a:latin typeface="Noto Sans"/>
              </a:rPr>
              <a:t>Ampliar canales de</a:t>
            </a:r>
          </a:p>
          <a:p>
            <a:pPr>
              <a:spcBef>
                <a:spcPts val="0"/>
              </a:spcBef>
              <a:spcAft>
                <a:spcPts val="0"/>
              </a:spcAft>
            </a:pPr>
            <a:r>
              <a:rPr sz="100">
                <a:solidFill>
                  <a:srgbClr val="FFFFFF"/>
                </a:solidFill>
                <a:latin typeface="Noto Sans"/>
              </a:rPr>
              <a:t>venta</a:t>
            </a:r>
          </a:p>
          <a:p>
            <a:pPr>
              <a:spcBef>
                <a:spcPts val="0"/>
              </a:spcBef>
              <a:spcAft>
                <a:spcPts val="0"/>
              </a:spcAft>
            </a:pPr>
            <a:r>
              <a:rPr sz="100">
                <a:solidFill>
                  <a:srgbClr val="FFFFFF"/>
                </a:solidFill>
                <a:latin typeface="Noto Sans"/>
              </a:rPr>
              <a:t>Inclusión de marketing</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Rapidez de ventas o</a:t>
            </a:r>
          </a:p>
          <a:p>
            <a:pPr>
              <a:spcBef>
                <a:spcPts val="0"/>
              </a:spcBef>
              <a:spcAft>
                <a:spcPts val="0"/>
              </a:spcAft>
            </a:pPr>
            <a:r>
              <a:rPr sz="100">
                <a:solidFill>
                  <a:srgbClr val="FFFFFF"/>
                </a:solidFill>
                <a:latin typeface="Noto Sans"/>
              </a:rPr>
              <a:t>compras</a:t>
            </a:r>
          </a:p>
          <a:p>
            <a:pPr>
              <a:spcBef>
                <a:spcPts val="0"/>
              </a:spcBef>
              <a:spcAft>
                <a:spcPts val="0"/>
              </a:spcAft>
            </a:pPr>
            <a:r>
              <a:rPr sz="100">
                <a:solidFill>
                  <a:srgbClr val="FFFFFF"/>
                </a:solidFill>
                <a:latin typeface="Noto Sans"/>
              </a:rPr>
              <a:t>Otros</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70%</a:t>
            </a:r>
          </a:p>
          <a:p>
            <a:pPr>
              <a:spcBef>
                <a:spcPts val="0"/>
              </a:spcBef>
              <a:spcAft>
                <a:spcPts val="0"/>
              </a:spcAft>
            </a:pPr>
            <a:r>
              <a:rPr sz="100">
                <a:solidFill>
                  <a:srgbClr val="FFFFFF"/>
                </a:solidFill>
                <a:latin typeface="Noto Sans"/>
              </a:rPr>
              <a:t>65.7%</a:t>
            </a:r>
          </a:p>
          <a:p>
            <a:pPr>
              <a:spcBef>
                <a:spcPts val="0"/>
              </a:spcBef>
              <a:spcAft>
                <a:spcPts val="0"/>
              </a:spcAft>
            </a:pPr>
            <a:r>
              <a:rPr sz="100">
                <a:solidFill>
                  <a:srgbClr val="FFFFFF"/>
                </a:solidFill>
                <a:latin typeface="Noto Sans"/>
              </a:rPr>
              <a:t>17.2%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66.2%</a:t>
            </a:r>
          </a:p>
          <a:p>
            <a:pPr>
              <a:spcBef>
                <a:spcPts val="0"/>
              </a:spcBef>
              <a:spcAft>
                <a:spcPts val="0"/>
              </a:spcAft>
            </a:pPr>
            <a:r>
              <a:rPr sz="100">
                <a:solidFill>
                  <a:srgbClr val="FFFFFF"/>
                </a:solidFill>
                <a:latin typeface="Noto Sans"/>
              </a:rPr>
              <a:t>16.9%</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57.2%</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9.5%</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60.2%</a:t>
            </a:r>
          </a:p>
          <a:p>
            <a:pPr>
              <a:spcBef>
                <a:spcPts val="0"/>
              </a:spcBef>
              <a:spcAft>
                <a:spcPts val="0"/>
              </a:spcAft>
            </a:pPr>
            <a:r>
              <a:rPr sz="100">
                <a:solidFill>
                  <a:srgbClr val="FFFFFF"/>
                </a:solidFill>
                <a:latin typeface="Noto Sans"/>
              </a:rPr>
              <a:t>20.1%</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Figura E.6.</a:t>
            </a:r>
          </a:p>
          <a:p>
            <a:pPr>
              <a:spcBef>
                <a:spcPts val="0"/>
              </a:spcBef>
              <a:spcAft>
                <a:spcPts val="0"/>
              </a:spcAft>
            </a:pPr>
            <a:r>
              <a:rPr sz="100">
                <a:solidFill>
                  <a:srgbClr val="FFFFFF"/>
                </a:solidFill>
                <a:latin typeface="Noto Sans"/>
              </a:rPr>
              <a:t>Beneficios de vender a través de Internet fijo (2024)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se excluye No sabe/No contestó, por lo que la suma no da 100%.</a:t>
            </a:r>
          </a:p>
        </p:txBody>
      </p:sp>
      <p:pic>
        <p:nvPicPr>
          <p:cNvPr id="223" name="ANUARIO_IMAGE_E_6" descr="Figura E.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77</a:t>
            </a:r>
          </a:p>
        </p:txBody>
      </p:sp>
    </p:spTree>
  </p:cSld>
  <p:clrMapOvr>
    <a:masterClrMapping/>
  </p:clrMapOvr>
</p:sld>
</file>

<file path=ppt/slides/slide7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7" descr="ANUARIO_FIGURE_ID=E.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E.7</a:t>
            </a:r>
          </a:p>
          <a:p>
            <a:pPr>
              <a:spcBef>
                <a:spcPts val="0"/>
              </a:spcBef>
              <a:spcAft>
                <a:spcPts val="600"/>
              </a:spcAft>
            </a:pPr>
            <a:r>
              <a:rPr sz="950" b="1">
                <a:solidFill>
                  <a:srgbClr val="203634"/>
                </a:solidFill>
                <a:latin typeface="Noto Sans"/>
              </a:rPr>
              <a:t>DISPOSITIVOS UTILIZADOS POR LAS MIPYMES</a:t>
            </a:r>
          </a:p>
          <a:p>
            <a:pPr>
              <a:lnSpc>
                <a:spcPct val="100000"/>
              </a:lnSpc>
              <a:spcBef>
                <a:spcPts val="0"/>
              </a:spcBef>
              <a:spcAft>
                <a:spcPts val="400"/>
              </a:spcAft>
            </a:pPr>
            <a:r>
              <a:rPr sz="819" b="0">
                <a:solidFill>
                  <a:srgbClr val="434343"/>
                </a:solidFill>
                <a:latin typeface="Noto Sans"/>
              </a:rPr>
              <a:t>Para el 2024, los tres dispositivos que mencionaron utilizar en mayor medida las MiPymes fueron los teléfonos móviles inteligentes (Smartphones), las computadoras de escritorio y terminal punto de venta fija, para celular (95.7%, 51.3% y 47.1%, respectivamente). En cuanto a los dispositivos que menos utilizaron se encontraron los servidores de almacenamiento y teléfonos móviles análogos (17.8% y 31.2%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7" descr="ANUARIO_FIGURE_ID=E.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7" descr="Capa accesible con el texto del SVG de la figura E.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E.7</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98.5%</a:t>
            </a:r>
          </a:p>
          <a:p>
            <a:pPr>
              <a:spcBef>
                <a:spcPts val="0"/>
              </a:spcBef>
              <a:spcAft>
                <a:spcPts val="0"/>
              </a:spcAft>
            </a:pPr>
            <a:r>
              <a:rPr sz="100">
                <a:solidFill>
                  <a:srgbClr val="FFFFFF"/>
                </a:solidFill>
                <a:latin typeface="Noto Sans"/>
              </a:rPr>
              <a:t>98.7%</a:t>
            </a:r>
          </a:p>
          <a:p>
            <a:pPr>
              <a:spcBef>
                <a:spcPts val="0"/>
              </a:spcBef>
              <a:spcAft>
                <a:spcPts val="0"/>
              </a:spcAft>
            </a:pPr>
            <a:r>
              <a:rPr sz="100">
                <a:solidFill>
                  <a:srgbClr val="FFFFFF"/>
                </a:solidFill>
                <a:latin typeface="Noto Sans"/>
              </a:rPr>
              <a:t>94.8%</a:t>
            </a:r>
          </a:p>
          <a:p>
            <a:pPr>
              <a:spcBef>
                <a:spcPts val="0"/>
              </a:spcBef>
              <a:spcAft>
                <a:spcPts val="0"/>
              </a:spcAft>
            </a:pPr>
            <a:r>
              <a:rPr sz="100">
                <a:solidFill>
                  <a:srgbClr val="FFFFFF"/>
                </a:solidFill>
                <a:latin typeface="Noto Sans"/>
              </a:rPr>
              <a:t>96.1%</a:t>
            </a:r>
          </a:p>
          <a:p>
            <a:pPr>
              <a:spcBef>
                <a:spcPts val="0"/>
              </a:spcBef>
              <a:spcAft>
                <a:spcPts val="0"/>
              </a:spcAft>
            </a:pPr>
            <a:r>
              <a:rPr sz="100">
                <a:solidFill>
                  <a:srgbClr val="FFFFFF"/>
                </a:solidFill>
                <a:latin typeface="Noto Sans"/>
              </a:rPr>
              <a:t>95.7%</a:t>
            </a:r>
          </a:p>
          <a:p>
            <a:pPr>
              <a:spcBef>
                <a:spcPts val="0"/>
              </a:spcBef>
              <a:spcAft>
                <a:spcPts val="0"/>
              </a:spcAft>
            </a:pPr>
            <a:r>
              <a:rPr sz="100">
                <a:solidFill>
                  <a:srgbClr val="FFFFFF"/>
                </a:solidFill>
                <a:latin typeface="Noto Sans"/>
              </a:rPr>
              <a:t>95.6%</a:t>
            </a:r>
          </a:p>
          <a:p>
            <a:pPr>
              <a:spcBef>
                <a:spcPts val="0"/>
              </a:spcBef>
              <a:spcAft>
                <a:spcPts val="0"/>
              </a:spcAft>
            </a:pPr>
            <a:r>
              <a:rPr sz="100">
                <a:solidFill>
                  <a:srgbClr val="FFFFFF"/>
                </a:solidFill>
                <a:latin typeface="Noto Sans"/>
              </a:rPr>
              <a:t>97.2%</a:t>
            </a:r>
          </a:p>
          <a:p>
            <a:pPr>
              <a:spcBef>
                <a:spcPts val="0"/>
              </a:spcBef>
              <a:spcAft>
                <a:spcPts val="0"/>
              </a:spcAft>
            </a:pPr>
            <a:r>
              <a:rPr sz="100">
                <a:solidFill>
                  <a:srgbClr val="FFFFFF"/>
                </a:solidFill>
                <a:latin typeface="Noto Sans"/>
              </a:rPr>
              <a:t>93.7%</a:t>
            </a:r>
          </a:p>
          <a:p>
            <a:pPr>
              <a:spcBef>
                <a:spcPts val="0"/>
              </a:spcBef>
              <a:spcAft>
                <a:spcPts val="0"/>
              </a:spcAft>
            </a:pPr>
            <a:r>
              <a:rPr sz="100">
                <a:solidFill>
                  <a:srgbClr val="FFFFFF"/>
                </a:solidFill>
                <a:latin typeface="Noto Sans"/>
              </a:rPr>
              <a:t>Teléfonos móviles inteligentes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49.1%</a:t>
            </a:r>
          </a:p>
          <a:p>
            <a:pPr>
              <a:spcBef>
                <a:spcPts val="0"/>
              </a:spcBef>
              <a:spcAft>
                <a:spcPts val="0"/>
              </a:spcAft>
            </a:pPr>
            <a:r>
              <a:rPr sz="100">
                <a:solidFill>
                  <a:srgbClr val="FFFFFF"/>
                </a:solidFill>
                <a:latin typeface="Noto Sans"/>
              </a:rPr>
              <a:t>47.4%</a:t>
            </a:r>
          </a:p>
          <a:p>
            <a:pPr>
              <a:spcBef>
                <a:spcPts val="0"/>
              </a:spcBef>
              <a:spcAft>
                <a:spcPts val="0"/>
              </a:spcAft>
            </a:pPr>
            <a:r>
              <a:rPr sz="100">
                <a:solidFill>
                  <a:srgbClr val="FFFFFF"/>
                </a:solidFill>
                <a:latin typeface="Noto Sans"/>
              </a:rPr>
              <a:t>74.1%</a:t>
            </a:r>
          </a:p>
          <a:p>
            <a:pPr>
              <a:spcBef>
                <a:spcPts val="0"/>
              </a:spcBef>
              <a:spcAft>
                <a:spcPts val="0"/>
              </a:spcAft>
            </a:pPr>
            <a:r>
              <a:rPr sz="100">
                <a:solidFill>
                  <a:srgbClr val="FFFFFF"/>
                </a:solidFill>
                <a:latin typeface="Noto Sans"/>
              </a:rPr>
              <a:t>93.3%</a:t>
            </a:r>
          </a:p>
          <a:p>
            <a:pPr>
              <a:spcBef>
                <a:spcPts val="0"/>
              </a:spcBef>
              <a:spcAft>
                <a:spcPts val="0"/>
              </a:spcAft>
            </a:pPr>
            <a:r>
              <a:rPr sz="100">
                <a:solidFill>
                  <a:srgbClr val="FFFFFF"/>
                </a:solidFill>
                <a:latin typeface="Noto Sans"/>
              </a:rPr>
              <a:t>51.3%</a:t>
            </a:r>
          </a:p>
          <a:p>
            <a:pPr>
              <a:spcBef>
                <a:spcPts val="0"/>
              </a:spcBef>
              <a:spcAft>
                <a:spcPts val="0"/>
              </a:spcAft>
            </a:pPr>
            <a:r>
              <a:rPr sz="100">
                <a:solidFill>
                  <a:srgbClr val="FFFFFF"/>
                </a:solidFill>
                <a:latin typeface="Noto Sans"/>
              </a:rPr>
              <a:t>49.7%</a:t>
            </a:r>
          </a:p>
          <a:p>
            <a:pPr>
              <a:spcBef>
                <a:spcPts val="0"/>
              </a:spcBef>
              <a:spcAft>
                <a:spcPts val="0"/>
              </a:spcAft>
            </a:pPr>
            <a:r>
              <a:rPr sz="100">
                <a:solidFill>
                  <a:srgbClr val="FFFFFF"/>
                </a:solidFill>
                <a:latin typeface="Noto Sans"/>
              </a:rPr>
              <a:t>74.3%</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Computadoras de escritorio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54.5%</a:t>
            </a:r>
          </a:p>
          <a:p>
            <a:pPr>
              <a:spcBef>
                <a:spcPts val="0"/>
              </a:spcBef>
              <a:spcAft>
                <a:spcPts val="0"/>
              </a:spcAft>
            </a:pPr>
            <a:r>
              <a:rPr sz="100">
                <a:solidFill>
                  <a:srgbClr val="FFFFFF"/>
                </a:solidFill>
                <a:latin typeface="Noto Sans"/>
              </a:rPr>
              <a:t>54.2%</a:t>
            </a:r>
          </a:p>
          <a:p>
            <a:pPr>
              <a:spcBef>
                <a:spcPts val="0"/>
              </a:spcBef>
              <a:spcAft>
                <a:spcPts val="0"/>
              </a:spcAft>
            </a:pPr>
            <a:r>
              <a:rPr sz="100">
                <a:solidFill>
                  <a:srgbClr val="FFFFFF"/>
                </a:solidFill>
                <a:latin typeface="Noto Sans"/>
              </a:rPr>
              <a:t>60.7%</a:t>
            </a:r>
          </a:p>
          <a:p>
            <a:pPr>
              <a:spcBef>
                <a:spcPts val="0"/>
              </a:spcBef>
              <a:spcAft>
                <a:spcPts val="0"/>
              </a:spcAft>
            </a:pPr>
            <a:r>
              <a:rPr sz="100">
                <a:solidFill>
                  <a:srgbClr val="FFFFFF"/>
                </a:solidFill>
                <a:latin typeface="Noto Sans"/>
              </a:rPr>
              <a:t>58.2%</a:t>
            </a:r>
          </a:p>
          <a:p>
            <a:pPr>
              <a:spcBef>
                <a:spcPts val="0"/>
              </a:spcBef>
              <a:spcAft>
                <a:spcPts val="0"/>
              </a:spcAft>
            </a:pPr>
            <a:r>
              <a:rPr sz="100">
                <a:solidFill>
                  <a:srgbClr val="FFFFFF"/>
                </a:solidFill>
                <a:latin typeface="Noto Sans"/>
              </a:rPr>
              <a:t>47.1%</a:t>
            </a:r>
          </a:p>
          <a:p>
            <a:pPr>
              <a:spcBef>
                <a:spcPts val="0"/>
              </a:spcBef>
              <a:spcAft>
                <a:spcPts val="0"/>
              </a:spcAft>
            </a:pPr>
            <a:r>
              <a:rPr sz="100">
                <a:solidFill>
                  <a:srgbClr val="FFFFFF"/>
                </a:solidFill>
                <a:latin typeface="Noto Sans"/>
              </a:rPr>
              <a:t>46.8%</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61.8%</a:t>
            </a:r>
          </a:p>
          <a:p>
            <a:pPr>
              <a:spcBef>
                <a:spcPts val="0"/>
              </a:spcBef>
              <a:spcAft>
                <a:spcPts val="0"/>
              </a:spcAft>
            </a:pPr>
            <a:r>
              <a:rPr sz="100">
                <a:solidFill>
                  <a:srgbClr val="FFFFFF"/>
                </a:solidFill>
                <a:latin typeface="Noto Sans"/>
              </a:rPr>
              <a:t>Terminal punto de venta, clip o</a:t>
            </a:r>
          </a:p>
          <a:p>
            <a:pPr>
              <a:spcBef>
                <a:spcPts val="0"/>
              </a:spcBef>
              <a:spcAft>
                <a:spcPts val="0"/>
              </a:spcAft>
            </a:pPr>
            <a:r>
              <a:rPr sz="100">
                <a:solidFill>
                  <a:srgbClr val="FFFFFF"/>
                </a:solidFill>
                <a:latin typeface="Noto Sans"/>
              </a:rPr>
              <a:t>tableta</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41.9%</a:t>
            </a:r>
          </a:p>
          <a:p>
            <a:pPr>
              <a:spcBef>
                <a:spcPts val="0"/>
              </a:spcBef>
              <a:spcAft>
                <a:spcPts val="0"/>
              </a:spcAft>
            </a:pPr>
            <a:r>
              <a:rPr sz="100">
                <a:solidFill>
                  <a:srgbClr val="FFFFFF"/>
                </a:solidFill>
                <a:latin typeface="Noto Sans"/>
              </a:rPr>
              <a:t>40.5%</a:t>
            </a:r>
          </a:p>
          <a:p>
            <a:pPr>
              <a:spcBef>
                <a:spcPts val="0"/>
              </a:spcBef>
              <a:spcAft>
                <a:spcPts val="0"/>
              </a:spcAft>
            </a:pPr>
            <a:r>
              <a:rPr sz="100">
                <a:solidFill>
                  <a:srgbClr val="FFFFFF"/>
                </a:solidFill>
                <a:latin typeface="Noto Sans"/>
              </a:rPr>
              <a:t>62.1%</a:t>
            </a:r>
          </a:p>
          <a:p>
            <a:pPr>
              <a:spcBef>
                <a:spcPts val="0"/>
              </a:spcBef>
              <a:spcAft>
                <a:spcPts val="0"/>
              </a:spcAft>
            </a:pPr>
            <a:r>
              <a:rPr sz="100">
                <a:solidFill>
                  <a:srgbClr val="FFFFFF"/>
                </a:solidFill>
                <a:latin typeface="Noto Sans"/>
              </a:rPr>
              <a:t>73.6%</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36.7%</a:t>
            </a:r>
          </a:p>
          <a:p>
            <a:pPr>
              <a:spcBef>
                <a:spcPts val="0"/>
              </a:spcBef>
              <a:spcAft>
                <a:spcPts val="0"/>
              </a:spcAft>
            </a:pPr>
            <a:r>
              <a:rPr sz="100">
                <a:solidFill>
                  <a:srgbClr val="FFFFFF"/>
                </a:solidFill>
                <a:latin typeface="Noto Sans"/>
              </a:rPr>
              <a:t>60.3%</a:t>
            </a:r>
          </a:p>
          <a:p>
            <a:pPr>
              <a:spcBef>
                <a:spcPts val="0"/>
              </a:spcBef>
              <a:spcAft>
                <a:spcPts val="0"/>
              </a:spcAft>
            </a:pPr>
            <a:r>
              <a:rPr sz="100">
                <a:solidFill>
                  <a:srgbClr val="FFFFFF"/>
                </a:solidFill>
                <a:latin typeface="Noto Sans"/>
              </a:rPr>
              <a:t>59.1%</a:t>
            </a:r>
          </a:p>
          <a:p>
            <a:pPr>
              <a:spcBef>
                <a:spcPts val="0"/>
              </a:spcBef>
              <a:spcAft>
                <a:spcPts val="0"/>
              </a:spcAft>
            </a:pPr>
            <a:r>
              <a:rPr sz="100">
                <a:solidFill>
                  <a:srgbClr val="FFFFFF"/>
                </a:solidFill>
                <a:latin typeface="Noto Sans"/>
              </a:rPr>
              <a:t>Laptop</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34.3%</a:t>
            </a:r>
          </a:p>
          <a:p>
            <a:pPr>
              <a:spcBef>
                <a:spcPts val="0"/>
              </a:spcBef>
              <a:spcAft>
                <a:spcPts val="0"/>
              </a:spcAft>
            </a:pPr>
            <a:r>
              <a:rPr sz="100">
                <a:solidFill>
                  <a:srgbClr val="FFFFFF"/>
                </a:solidFill>
                <a:latin typeface="Noto Sans"/>
              </a:rPr>
              <a:t>33.8%</a:t>
            </a:r>
          </a:p>
          <a:p>
            <a:pPr>
              <a:spcBef>
                <a:spcPts val="0"/>
              </a:spcBef>
              <a:spcAft>
                <a:spcPts val="0"/>
              </a:spcAft>
            </a:pPr>
            <a:r>
              <a:rPr sz="100">
                <a:solidFill>
                  <a:srgbClr val="FFFFFF"/>
                </a:solidFill>
                <a:latin typeface="Noto Sans"/>
              </a:rPr>
              <a:t>44.7%</a:t>
            </a:r>
          </a:p>
          <a:p>
            <a:pPr>
              <a:spcBef>
                <a:spcPts val="0"/>
              </a:spcBef>
              <a:spcAft>
                <a:spcPts val="0"/>
              </a:spcAft>
            </a:pPr>
            <a:r>
              <a:rPr sz="100">
                <a:solidFill>
                  <a:srgbClr val="FFFFFF"/>
                </a:solidFill>
                <a:latin typeface="Noto Sans"/>
              </a:rPr>
              <a:t>46.7%</a:t>
            </a:r>
          </a:p>
          <a:p>
            <a:pPr>
              <a:spcBef>
                <a:spcPts val="0"/>
              </a:spcBef>
              <a:spcAft>
                <a:spcPts val="0"/>
              </a:spcAft>
            </a:pPr>
            <a:r>
              <a:rPr sz="100">
                <a:solidFill>
                  <a:srgbClr val="FFFFFF"/>
                </a:solidFill>
                <a:latin typeface="Noto Sans"/>
              </a:rPr>
              <a:t>31.2%</a:t>
            </a:r>
          </a:p>
          <a:p>
            <a:pPr>
              <a:spcBef>
                <a:spcPts val="0"/>
              </a:spcBef>
              <a:spcAft>
                <a:spcPts val="0"/>
              </a:spcAft>
            </a:pPr>
            <a:r>
              <a:rPr sz="100">
                <a:solidFill>
                  <a:srgbClr val="FFFFFF"/>
                </a:solidFill>
                <a:latin typeface="Noto Sans"/>
              </a:rPr>
              <a:t>30.1%</a:t>
            </a:r>
          </a:p>
          <a:p>
            <a:pPr>
              <a:spcBef>
                <a:spcPts val="0"/>
              </a:spcBef>
              <a:spcAft>
                <a:spcPts val="0"/>
              </a:spcAft>
            </a:pPr>
            <a:r>
              <a:rPr sz="100">
                <a:solidFill>
                  <a:srgbClr val="FFFFFF"/>
                </a:solidFill>
                <a:latin typeface="Noto Sans"/>
              </a:rPr>
              <a:t>45.6%</a:t>
            </a:r>
          </a:p>
          <a:p>
            <a:pPr>
              <a:spcBef>
                <a:spcPts val="0"/>
              </a:spcBef>
              <a:spcAft>
                <a:spcPts val="0"/>
              </a:spcAft>
            </a:pPr>
            <a:r>
              <a:rPr sz="100">
                <a:solidFill>
                  <a:srgbClr val="FFFFFF"/>
                </a:solidFill>
                <a:latin typeface="Noto Sans"/>
              </a:rPr>
              <a:t>41.4%</a:t>
            </a:r>
          </a:p>
          <a:p>
            <a:pPr>
              <a:spcBef>
                <a:spcPts val="0"/>
              </a:spcBef>
              <a:spcAft>
                <a:spcPts val="0"/>
              </a:spcAft>
            </a:pPr>
            <a:r>
              <a:rPr sz="100">
                <a:solidFill>
                  <a:srgbClr val="FFFFFF"/>
                </a:solidFill>
                <a:latin typeface="Noto Sans"/>
              </a:rPr>
              <a:t>Teléfonos móviles análogos</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33.6%</a:t>
            </a:r>
          </a:p>
          <a:p>
            <a:pPr>
              <a:spcBef>
                <a:spcPts val="0"/>
              </a:spcBef>
              <a:spcAft>
                <a:spcPts val="0"/>
              </a:spcAft>
            </a:pPr>
            <a:r>
              <a:rPr sz="100">
                <a:solidFill>
                  <a:srgbClr val="FFFFFF"/>
                </a:solidFill>
                <a:latin typeface="Noto Sans"/>
              </a:rPr>
              <a:t>56.4%</a:t>
            </a:r>
          </a:p>
          <a:p>
            <a:pPr>
              <a:spcBef>
                <a:spcPts val="0"/>
              </a:spcBef>
              <a:spcAft>
                <a:spcPts val="0"/>
              </a:spcAft>
            </a:pPr>
            <a:r>
              <a:rPr sz="100">
                <a:solidFill>
                  <a:srgbClr val="FFFFFF"/>
                </a:solidFill>
                <a:latin typeface="Noto Sans"/>
              </a:rPr>
              <a:t>17.8%</a:t>
            </a:r>
          </a:p>
          <a:p>
            <a:pPr>
              <a:spcBef>
                <a:spcPts val="0"/>
              </a:spcBef>
              <a:spcAft>
                <a:spcPts val="0"/>
              </a:spcAft>
            </a:pPr>
            <a:r>
              <a:rPr sz="100">
                <a:solidFill>
                  <a:srgbClr val="FFFFFF"/>
                </a:solidFill>
                <a:latin typeface="Noto Sans"/>
              </a:rPr>
              <a:t>16.5%</a:t>
            </a:r>
          </a:p>
          <a:p>
            <a:pPr>
              <a:spcBef>
                <a:spcPts val="0"/>
              </a:spcBef>
              <a:spcAft>
                <a:spcPts val="0"/>
              </a:spcAft>
            </a:pPr>
            <a:r>
              <a:rPr sz="100">
                <a:solidFill>
                  <a:srgbClr val="FFFFFF"/>
                </a:solidFill>
                <a:latin typeface="Noto Sans"/>
              </a:rPr>
              <a:t>36.0%</a:t>
            </a:r>
          </a:p>
          <a:p>
            <a:pPr>
              <a:spcBef>
                <a:spcPts val="0"/>
              </a:spcBef>
              <a:spcAft>
                <a:spcPts val="0"/>
              </a:spcAft>
            </a:pPr>
            <a:r>
              <a:rPr sz="100">
                <a:solidFill>
                  <a:srgbClr val="FFFFFF"/>
                </a:solidFill>
                <a:latin typeface="Noto Sans"/>
              </a:rPr>
              <a:t>44.1%</a:t>
            </a:r>
          </a:p>
          <a:p>
            <a:pPr>
              <a:spcBef>
                <a:spcPts val="0"/>
              </a:spcBef>
              <a:spcAft>
                <a:spcPts val="0"/>
              </a:spcAft>
            </a:pPr>
            <a:r>
              <a:rPr sz="100">
                <a:solidFill>
                  <a:srgbClr val="FFFFFF"/>
                </a:solidFill>
                <a:latin typeface="Noto Sans"/>
              </a:rPr>
              <a:t>Servidores de almacenamiento</a:t>
            </a:r>
          </a:p>
          <a:p>
            <a:pPr>
              <a:spcBef>
                <a:spcPts val="0"/>
              </a:spcBef>
              <a:spcAft>
                <a:spcPts val="0"/>
              </a:spcAft>
            </a:pPr>
            <a:r>
              <a:rPr sz="100">
                <a:solidFill>
                  <a:srgbClr val="FFFFFF"/>
                </a:solidFill>
                <a:latin typeface="Noto Sans"/>
              </a:rPr>
              <a:t>2023</a:t>
            </a:r>
          </a:p>
          <a:p>
            <a:pPr>
              <a:spcBef>
                <a:spcPts val="0"/>
              </a:spcBef>
              <a:spcAft>
                <a:spcPts val="0"/>
              </a:spcAft>
            </a:pPr>
            <a:r>
              <a:rPr sz="100">
                <a:solidFill>
                  <a:srgbClr val="FFFFFF"/>
                </a:solidFill>
                <a:latin typeface="Noto Sans"/>
              </a:rPr>
              <a:t>2024</a:t>
            </a:r>
          </a:p>
          <a:p>
            <a:pPr>
              <a:spcBef>
                <a:spcPts val="0"/>
              </a:spcBef>
              <a:spcAft>
                <a:spcPts val="0"/>
              </a:spcAft>
            </a:pPr>
            <a:r>
              <a:rPr sz="100">
                <a:solidFill>
                  <a:srgbClr val="FFFFFF"/>
                </a:solidFill>
                <a:latin typeface="Noto Sans"/>
              </a:rPr>
              <a:t>Figura E.7.</a:t>
            </a:r>
          </a:p>
          <a:p>
            <a:pPr>
              <a:spcBef>
                <a:spcPts val="0"/>
              </a:spcBef>
              <a:spcAft>
                <a:spcPts val="0"/>
              </a:spcAft>
            </a:pPr>
            <a:r>
              <a:rPr sz="100">
                <a:solidFill>
                  <a:srgbClr val="FFFFFF"/>
                </a:solidFill>
                <a:latin typeface="Noto Sans"/>
              </a:rPr>
              <a:t>Dispositivos que usan las MiPymes para realizar sus actividades (2023-2024)</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2023 y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múltiple, por lo que la suma no da 100%.</a:t>
            </a:r>
          </a:p>
        </p:txBody>
      </p:sp>
      <p:pic>
        <p:nvPicPr>
          <p:cNvPr id="223" name="ANUARIO_IMAGE_E_7" descr="Figura E.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78</a:t>
            </a:r>
          </a:p>
        </p:txBody>
      </p:sp>
    </p:spTree>
  </p:cSld>
  <p:clrMapOvr>
    <a:masterClrMapping/>
  </p:clrMapOvr>
</p:sld>
</file>

<file path=ppt/slides/slide7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8" descr="ANUARIO_FIGURE_ID=E.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E.8</a:t>
            </a:r>
          </a:p>
          <a:p>
            <a:pPr>
              <a:spcBef>
                <a:spcPts val="0"/>
              </a:spcBef>
              <a:spcAft>
                <a:spcPts val="600"/>
              </a:spcAft>
            </a:pPr>
            <a:r>
              <a:rPr sz="950" b="1">
                <a:solidFill>
                  <a:srgbClr val="203634"/>
                </a:solidFill>
                <a:latin typeface="Noto Sans"/>
              </a:rPr>
              <a:t>BENEFICIOS DE CONTAR CON UNA APLICACIÓN MÓVIL</a:t>
            </a:r>
          </a:p>
          <a:p>
            <a:pPr>
              <a:lnSpc>
                <a:spcPct val="100000"/>
              </a:lnSpc>
              <a:spcBef>
                <a:spcPts val="0"/>
              </a:spcBef>
              <a:spcAft>
                <a:spcPts val="400"/>
              </a:spcAft>
            </a:pPr>
            <a:r>
              <a:rPr sz="819" b="0">
                <a:solidFill>
                  <a:srgbClr val="434343"/>
                </a:solidFill>
                <a:latin typeface="Noto Sans"/>
              </a:rPr>
              <a:t>Entre los principales beneficios de que las MiPymes cuenten con una aplicación móvil, la Encuesta señaló que: el contacto con los clientes es más rápido (60.1%) y la solicitud de pedidos es más ágil (39.7%), mientras que la facilidad en el control de ventas, fue el beneficio menos señalado con el 23.7%.</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8" descr="ANUARIO_FIGURE_ID=E.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8" descr="Capa accesible con el texto del SVG de la figura E.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59.9%</a:t>
            </a:r>
          </a:p>
          <a:p>
            <a:pPr>
              <a:spcBef>
                <a:spcPts val="0"/>
              </a:spcBef>
              <a:spcAft>
                <a:spcPts val="0"/>
              </a:spcAft>
            </a:pPr>
            <a:r>
              <a:rPr sz="100">
                <a:solidFill>
                  <a:srgbClr val="FFFFFF"/>
                </a:solidFill>
                <a:latin typeface="Noto Sans"/>
              </a:rPr>
              <a:t>62.5%</a:t>
            </a:r>
          </a:p>
          <a:p>
            <a:pPr>
              <a:spcBef>
                <a:spcPts val="0"/>
              </a:spcBef>
              <a:spcAft>
                <a:spcPts val="0"/>
              </a:spcAft>
            </a:pPr>
            <a:r>
              <a:rPr sz="100">
                <a:solidFill>
                  <a:srgbClr val="FFFFFF"/>
                </a:solidFill>
                <a:latin typeface="Noto Sans"/>
              </a:rPr>
              <a:t>60.8%</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39.2%</a:t>
            </a:r>
          </a:p>
          <a:p>
            <a:pPr>
              <a:spcBef>
                <a:spcPts val="0"/>
              </a:spcBef>
              <a:spcAft>
                <a:spcPts val="0"/>
              </a:spcAft>
            </a:pPr>
            <a:r>
              <a:rPr sz="100">
                <a:solidFill>
                  <a:srgbClr val="FFFFFF"/>
                </a:solidFill>
                <a:latin typeface="Noto Sans"/>
              </a:rPr>
              <a:t>44.8%</a:t>
            </a:r>
          </a:p>
          <a:p>
            <a:pPr>
              <a:spcBef>
                <a:spcPts val="0"/>
              </a:spcBef>
              <a:spcAft>
                <a:spcPts val="0"/>
              </a:spcAft>
            </a:pPr>
            <a:r>
              <a:rPr sz="100">
                <a:solidFill>
                  <a:srgbClr val="FFFFFF"/>
                </a:solidFill>
                <a:latin typeface="Noto Sans"/>
              </a:rPr>
              <a:t>40.1%</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38.2%</a:t>
            </a:r>
          </a:p>
          <a:p>
            <a:pPr>
              <a:spcBef>
                <a:spcPts val="0"/>
              </a:spcBef>
              <a:spcAft>
                <a:spcPts val="0"/>
              </a:spcAft>
            </a:pPr>
            <a:r>
              <a:rPr sz="100">
                <a:solidFill>
                  <a:srgbClr val="FFFFFF"/>
                </a:solidFill>
                <a:latin typeface="Noto Sans"/>
              </a:rPr>
              <a:t>33.7%</a:t>
            </a:r>
          </a:p>
          <a:p>
            <a:pPr>
              <a:spcBef>
                <a:spcPts val="0"/>
              </a:spcBef>
              <a:spcAft>
                <a:spcPts val="0"/>
              </a:spcAft>
            </a:pPr>
            <a:r>
              <a:rPr sz="100">
                <a:solidFill>
                  <a:srgbClr val="FFFFFF"/>
                </a:solidFill>
                <a:latin typeface="Noto Sans"/>
              </a:rPr>
              <a:t>25.9%</a:t>
            </a:r>
          </a:p>
          <a:p>
            <a:pPr>
              <a:spcBef>
                <a:spcPts val="0"/>
              </a:spcBef>
              <a:spcAft>
                <a:spcPts val="0"/>
              </a:spcAft>
            </a:pPr>
            <a:r>
              <a:rPr sz="100">
                <a:solidFill>
                  <a:srgbClr val="FFFFFF"/>
                </a:solidFill>
                <a:latin typeface="Noto Sans"/>
              </a:rPr>
              <a:t>Micro</a:t>
            </a:r>
          </a:p>
          <a:p>
            <a:pPr>
              <a:spcBef>
                <a:spcPts val="0"/>
              </a:spcBef>
              <a:spcAft>
                <a:spcPts val="0"/>
              </a:spcAft>
            </a:pPr>
            <a:r>
              <a:rPr sz="100">
                <a:solidFill>
                  <a:srgbClr val="FFFFFF"/>
                </a:solidFill>
                <a:latin typeface="Noto Sans"/>
              </a:rPr>
              <a:t>Pequeña</a:t>
            </a:r>
          </a:p>
          <a:p>
            <a:pPr>
              <a:spcBef>
                <a:spcPts val="0"/>
              </a:spcBef>
              <a:spcAft>
                <a:spcPts val="0"/>
              </a:spcAft>
            </a:pPr>
            <a:r>
              <a:rPr sz="100">
                <a:solidFill>
                  <a:srgbClr val="FFFFFF"/>
                </a:solidFill>
                <a:latin typeface="Noto Sans"/>
              </a:rPr>
              <a:t>Mediana</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14.5%</a:t>
            </a:r>
          </a:p>
          <a:p>
            <a:pPr>
              <a:spcBef>
                <a:spcPts val="0"/>
              </a:spcBef>
              <a:spcAft>
                <a:spcPts val="0"/>
              </a:spcAft>
            </a:pPr>
            <a:r>
              <a:rPr sz="100">
                <a:solidFill>
                  <a:srgbClr val="FFFFFF"/>
                </a:solidFill>
                <a:latin typeface="Noto Sans"/>
              </a:rPr>
              <a:t>23.1%</a:t>
            </a:r>
          </a:p>
          <a:p>
            <a:pPr>
              <a:spcBef>
                <a:spcPts val="0"/>
              </a:spcBef>
              <a:spcAft>
                <a:spcPts val="0"/>
              </a:spcAft>
            </a:pPr>
            <a:r>
              <a:rPr sz="100">
                <a:solidFill>
                  <a:srgbClr val="FFFFFF"/>
                </a:solidFill>
                <a:latin typeface="Noto Sans"/>
              </a:rPr>
              <a:t>Figura E.8.</a:t>
            </a:r>
          </a:p>
          <a:p>
            <a:pPr>
              <a:spcBef>
                <a:spcPts val="0"/>
              </a:spcBef>
              <a:spcAft>
                <a:spcPts val="0"/>
              </a:spcAft>
            </a:pPr>
            <a:r>
              <a:rPr sz="100">
                <a:solidFill>
                  <a:srgbClr val="FFFFFF"/>
                </a:solidFill>
                <a:latin typeface="Noto Sans"/>
              </a:rPr>
              <a:t>Beneficios de contar con una aplicación móvil para la empresa o negocio (2024)</a:t>
            </a:r>
          </a:p>
          <a:p>
            <a:pPr>
              <a:spcBef>
                <a:spcPts val="0"/>
              </a:spcBef>
              <a:spcAft>
                <a:spcPts val="0"/>
              </a:spcAft>
            </a:pPr>
            <a:r>
              <a:rPr sz="100">
                <a:solidFill>
                  <a:srgbClr val="FFFFFF"/>
                </a:solidFill>
                <a:latin typeface="Noto Sans"/>
              </a:rPr>
              <a:t>60.1%</a:t>
            </a:r>
          </a:p>
          <a:p>
            <a:pPr>
              <a:spcBef>
                <a:spcPts val="0"/>
              </a:spcBef>
              <a:spcAft>
                <a:spcPts val="0"/>
              </a:spcAft>
            </a:pPr>
            <a:r>
              <a:rPr sz="100">
                <a:solidFill>
                  <a:srgbClr val="FFFFFF"/>
                </a:solidFill>
                <a:latin typeface="Noto Sans"/>
              </a:rPr>
              <a:t>Contacto más rápido con</a:t>
            </a:r>
          </a:p>
          <a:p>
            <a:pPr>
              <a:spcBef>
                <a:spcPts val="0"/>
              </a:spcBef>
              <a:spcAft>
                <a:spcPts val="0"/>
              </a:spcAft>
            </a:pPr>
            <a:r>
              <a:rPr sz="100">
                <a:solidFill>
                  <a:srgbClr val="FFFFFF"/>
                </a:solidFill>
                <a:latin typeface="Noto Sans"/>
              </a:rPr>
              <a:t>clientes</a:t>
            </a:r>
          </a:p>
          <a:p>
            <a:pPr>
              <a:spcBef>
                <a:spcPts val="0"/>
              </a:spcBef>
              <a:spcAft>
                <a:spcPts val="0"/>
              </a:spcAft>
            </a:pPr>
            <a:r>
              <a:rPr sz="100">
                <a:solidFill>
                  <a:srgbClr val="FFFFFF"/>
                </a:solidFill>
                <a:latin typeface="Noto Sans"/>
              </a:rPr>
              <a:t>39.7%</a:t>
            </a:r>
          </a:p>
          <a:p>
            <a:pPr>
              <a:spcBef>
                <a:spcPts val="0"/>
              </a:spcBef>
              <a:spcAft>
                <a:spcPts val="0"/>
              </a:spcAft>
            </a:pPr>
            <a:r>
              <a:rPr sz="100">
                <a:solidFill>
                  <a:srgbClr val="FFFFFF"/>
                </a:solidFill>
                <a:latin typeface="Noto Sans"/>
              </a:rPr>
              <a:t>Solicitud de pedidos</a:t>
            </a:r>
          </a:p>
          <a:p>
            <a:pPr>
              <a:spcBef>
                <a:spcPts val="0"/>
              </a:spcBef>
              <a:spcAft>
                <a:spcPts val="0"/>
              </a:spcAft>
            </a:pPr>
            <a:r>
              <a:rPr sz="100">
                <a:solidFill>
                  <a:srgbClr val="FFFFFF"/>
                </a:solidFill>
                <a:latin typeface="Noto Sans"/>
              </a:rPr>
              <a:t>más ágil</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Mayor competitividad en</a:t>
            </a:r>
          </a:p>
          <a:p>
            <a:pPr>
              <a:spcBef>
                <a:spcPts val="0"/>
              </a:spcBef>
              <a:spcAft>
                <a:spcPts val="0"/>
              </a:spcAft>
            </a:pPr>
            <a:r>
              <a:rPr sz="100">
                <a:solidFill>
                  <a:srgbClr val="FFFFFF"/>
                </a:solidFill>
                <a:latin typeface="Noto Sans"/>
              </a:rPr>
              <a:t>el mercado</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Facilita el control de</a:t>
            </a:r>
          </a:p>
          <a:p>
            <a:pPr>
              <a:spcBef>
                <a:spcPts val="0"/>
              </a:spcBef>
              <a:spcAft>
                <a:spcPts val="0"/>
              </a:spcAft>
            </a:pPr>
            <a:r>
              <a:rPr sz="100">
                <a:solidFill>
                  <a:srgbClr val="FFFFFF"/>
                </a:solidFill>
                <a:latin typeface="Noto Sans"/>
              </a:rPr>
              <a:t>ventas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Cuarta Encuesta 2024, Usuarios de Servicios de Telecomunicaciones (MiPymes).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Respuesta espontánea y múltiple, por lo que la suma no da 100%.</a:t>
            </a:r>
          </a:p>
        </p:txBody>
      </p:sp>
      <p:pic>
        <p:nvPicPr>
          <p:cNvPr id="223" name="ANUARIO_IMAGE_E_8" descr="Figura E.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79</a:t>
            </a:r>
          </a:p>
        </p:txBody>
      </p:sp>
    </p:spTree>
  </p:cSld>
  <p:clrMapOvr>
    <a:masterClrMapping/>
  </p:clrMapOvr>
</p:sld>
</file>

<file path=ppt/slides/slide8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E_9" descr="ANUARIO_FIGURE_ID=E.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E.9</a:t>
            </a:r>
          </a:p>
          <a:p>
            <a:pPr>
              <a:spcBef>
                <a:spcPts val="0"/>
              </a:spcBef>
              <a:spcAft>
                <a:spcPts val="600"/>
              </a:spcAft>
            </a:pPr>
            <a:r>
              <a:rPr sz="950" b="1">
                <a:solidFill>
                  <a:srgbClr val="203634"/>
                </a:solidFill>
                <a:latin typeface="Noto Sans"/>
              </a:rPr>
              <a:t>SERVICIOS DE TELECOMUNICACIONES MÁS IMPORTANTES PARA MIPYMES IMPORTADORAS Y EXPORTADORAS</a:t>
            </a:r>
          </a:p>
          <a:p>
            <a:pPr>
              <a:lnSpc>
                <a:spcPct val="100000"/>
              </a:lnSpc>
              <a:spcBef>
                <a:spcPts val="0"/>
              </a:spcBef>
              <a:spcAft>
                <a:spcPts val="400"/>
              </a:spcAft>
            </a:pPr>
            <a:r>
              <a:rPr sz="819" b="0">
                <a:solidFill>
                  <a:srgbClr val="434343"/>
                </a:solidFill>
                <a:latin typeface="Noto Sans"/>
              </a:rPr>
              <a:t>Las MiPymes consideran al Internet Fijo como el servicio más importante para realizar sus actividades de importación y/o exportación con (63.4%), siendo la televisión de paga el de menor importancia para las actividades de importación y/o exportación con (0.7% respectivamente).</a:t>
            </a:r>
          </a:p>
        </p:txBody>
      </p:sp>
      <p:sp>
        <p:nvSpPr>
          <p:cNvPr id="202" name="ANUARIO_SECTION_HEADER_E" descr="ANUARIO_SECTION=E;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E. PERSONAS USUARIAS DE SERVICIOS DE TELECOMUNICACIONES</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E_9" descr="ANUARIO_FIGURE_ID=E.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E_9" descr="Capa accesible con el texto del SVG de la figura E.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E.9</a:t>
            </a:r>
          </a:p>
          <a:p>
            <a:pPr>
              <a:spcBef>
                <a:spcPts val="0"/>
              </a:spcBef>
              <a:spcAft>
                <a:spcPts val="0"/>
              </a:spcAft>
            </a:pPr>
            <a:r>
              <a:rPr sz="100">
                <a:solidFill>
                  <a:srgbClr val="FFFFFF"/>
                </a:solidFill>
                <a:latin typeface="Noto Sans"/>
              </a:rPr>
              <a:t>Conexión a Internet fijo</a:t>
            </a:r>
          </a:p>
          <a:p>
            <a:pPr>
              <a:spcBef>
                <a:spcPts val="0"/>
              </a:spcBef>
              <a:spcAft>
                <a:spcPts val="0"/>
              </a:spcAft>
            </a:pPr>
            <a:r>
              <a:rPr sz="100">
                <a:solidFill>
                  <a:srgbClr val="FFFFFF"/>
                </a:solidFill>
                <a:latin typeface="Noto Sans"/>
              </a:rPr>
              <a:t>Telefonía fija</a:t>
            </a:r>
          </a:p>
          <a:p>
            <a:pPr>
              <a:spcBef>
                <a:spcPts val="0"/>
              </a:spcBef>
              <a:spcAft>
                <a:spcPts val="0"/>
              </a:spcAft>
            </a:pPr>
            <a:r>
              <a:rPr sz="100">
                <a:solidFill>
                  <a:srgbClr val="FFFFFF"/>
                </a:solidFill>
                <a:latin typeface="Noto Sans"/>
              </a:rPr>
              <a:t>Telefonía móvil</a:t>
            </a:r>
          </a:p>
          <a:p>
            <a:pPr>
              <a:spcBef>
                <a:spcPts val="0"/>
              </a:spcBef>
              <a:spcAft>
                <a:spcPts val="0"/>
              </a:spcAft>
            </a:pPr>
            <a:r>
              <a:rPr sz="100">
                <a:solidFill>
                  <a:srgbClr val="FFFFFF"/>
                </a:solidFill>
                <a:latin typeface="Noto Sans"/>
              </a:rPr>
              <a:t>Conexión a Internet</a:t>
            </a:r>
          </a:p>
          <a:p>
            <a:pPr>
              <a:spcBef>
                <a:spcPts val="0"/>
              </a:spcBef>
              <a:spcAft>
                <a:spcPts val="0"/>
              </a:spcAft>
            </a:pPr>
            <a:r>
              <a:rPr sz="100">
                <a:solidFill>
                  <a:srgbClr val="FFFFFF"/>
                </a:solidFill>
                <a:latin typeface="Noto Sans"/>
              </a:rPr>
              <a:t>por datos móviles</a:t>
            </a:r>
          </a:p>
          <a:p>
            <a:pPr>
              <a:spcBef>
                <a:spcPts val="0"/>
              </a:spcBef>
              <a:spcAft>
                <a:spcPts val="0"/>
              </a:spcAft>
            </a:pPr>
            <a:r>
              <a:rPr sz="100">
                <a:solidFill>
                  <a:srgbClr val="FFFFFF"/>
                </a:solidFill>
                <a:latin typeface="Noto Sans"/>
              </a:rPr>
              <a:t>Televisión de paga</a:t>
            </a:r>
          </a:p>
          <a:p>
            <a:pPr>
              <a:spcBef>
                <a:spcPts val="0"/>
              </a:spcBef>
              <a:spcAft>
                <a:spcPts val="0"/>
              </a:spcAft>
            </a:pPr>
            <a:r>
              <a:rPr sz="100">
                <a:solidFill>
                  <a:srgbClr val="FFFFFF"/>
                </a:solidFill>
                <a:latin typeface="Noto Sans"/>
              </a:rPr>
              <a:t>63.4%</a:t>
            </a:r>
          </a:p>
          <a:p>
            <a:pPr>
              <a:spcBef>
                <a:spcPts val="0"/>
              </a:spcBef>
              <a:spcAft>
                <a:spcPts val="0"/>
              </a:spcAft>
            </a:pPr>
            <a:r>
              <a:rPr sz="100">
                <a:solidFill>
                  <a:srgbClr val="FFFFFF"/>
                </a:solidFill>
                <a:latin typeface="Noto Sans"/>
              </a:rPr>
              <a:t>20.8%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Figura E.9.</a:t>
            </a:r>
          </a:p>
          <a:p>
            <a:pPr>
              <a:spcBef>
                <a:spcPts val="0"/>
              </a:spcBef>
              <a:spcAft>
                <a:spcPts val="0"/>
              </a:spcAft>
            </a:pPr>
            <a:r>
              <a:rPr sz="100">
                <a:solidFill>
                  <a:srgbClr val="FFFFFF"/>
                </a:solidFill>
                <a:latin typeface="Noto Sans"/>
              </a:rPr>
              <a:t>Servicios de telecomunicaciones que consideran más importantes las MiPymes para realizar actividades de importación y/o exportación</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Contratación, percepción y uso de telecomunicaciones por MiPymes importadoras y/o exportadoras.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Debido a que se excluyen las menciones "No sabe/No contestó", la suma no da 100%.</a:t>
            </a:r>
          </a:p>
        </p:txBody>
      </p:sp>
      <p:pic>
        <p:nvPicPr>
          <p:cNvPr id="223" name="ANUARIO_IMAGE_E_9" descr="Figura E.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F_OVERVIEW"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81</a:t>
            </a:r>
          </a:p>
        </p:txBody>
      </p:sp>
      <p:sp>
        <p:nvSpPr>
          <p:cNvPr id="227" name="ANUARIO_F_SOURCE"/>
          <p:cNvSpPr txBox="1"/>
          <p:nvPr/>
        </p:nvSpPr>
        <p:spPr>
          <a:xfrm>
            <a:off x="438912" y="667512"/>
            <a:ext cx="4572000" cy="155448"/>
          </a:xfrm>
          <a:prstGeom prst="rect">
            <a:avLst/>
          </a:prstGeom>
          <a:noFill/>
        </p:spPr>
        <p:txBody>
          <a:bodyPr wrap="square" anchor="t" lIns="0" rIns="0" tIns="0" bIns="0">
            <a:noAutofit/>
          </a:bodyPr>
          <a:lstStyle/>
          <a:p>
            <a:pPr>
              <a:lnSpc>
                <a:spcPct val="100000"/>
              </a:lnSpc>
              <a:spcBef>
                <a:spcPts val="0"/>
              </a:spcBef>
              <a:spcAft>
                <a:spcPts val="0"/>
              </a:spcAft>
            </a:pPr>
            <a:r>
              <a:rPr sz="710" b="0">
                <a:solidFill>
                  <a:srgbClr val="4F5B5C"/>
                </a:solidFill>
                <a:latin typeface="Noto Sans"/>
                <a:hlinkClick r:id="rId2"/>
              </a:rPr>
              <a:t>Fuente: INEGI, ENDUTIH 2025</a:t>
            </a:r>
          </a:p>
        </p:txBody>
      </p:sp>
      <p:sp>
        <p:nvSpPr>
          <p:cNvPr id="228" name="ANUARIO_F_CARD_SMARTPHONE"/>
          <p:cNvSpPr/>
          <p:nvPr/>
        </p:nvSpPr>
        <p:spPr>
          <a:xfrm>
            <a:off x="438912" y="932688"/>
            <a:ext cx="2596896" cy="3730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F_TITLE_SMARTPHONE"/>
          <p:cNvSpPr txBox="1"/>
          <p:nvPr/>
        </p:nvSpPr>
        <p:spPr>
          <a:xfrm>
            <a:off x="576072" y="1042416"/>
            <a:ext cx="2322576"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EL TELÉFONO CELULAR INTELIGENTE</a:t>
            </a:r>
          </a:p>
        </p:txBody>
      </p:sp>
      <p:sp>
        <p:nvSpPr>
          <p:cNvPr id="230" name="ANUARIO_F_BODY_SMARTPHONE"/>
          <p:cNvSpPr txBox="1"/>
          <p:nvPr/>
        </p:nvSpPr>
        <p:spPr>
          <a:xfrm>
            <a:off x="576072" y="1380744"/>
            <a:ext cx="2322576" cy="3191256"/>
          </a:xfrm>
          <a:prstGeom prst="rect">
            <a:avLst/>
          </a:prstGeom>
          <a:noFill/>
        </p:spPr>
        <p:txBody>
          <a:bodyPr wrap="square" anchor="t" lIns="0" rIns="0" tIns="0" bIns="0">
            <a:noAutofit/>
          </a:bodyPr>
          <a:lstStyle/>
          <a:p>
            <a:pPr>
              <a:lnSpc>
                <a:spcPct val="100000"/>
              </a:lnSpc>
              <a:spcBef>
                <a:spcPts val="0"/>
              </a:spcBef>
              <a:spcAft>
                <a:spcPts val="0"/>
              </a:spcAft>
            </a:pPr>
            <a:r>
              <a:rPr sz="760" b="0">
                <a:solidFill>
                  <a:srgbClr val="1F3031"/>
                </a:solidFill>
                <a:latin typeface="Noto Sans"/>
              </a:rPr>
              <a:t>Con base en los resultados de la ENDUTIH 2025, en México 52.7 millones de mujeres y 47.5 millones de hombres, ambos grupos refiriéndose a personas de 6 años o más, utilizaron Internet mediante su teléfono celular inteligente (</a:t>
            </a:r>
            <a:r>
              <a:rPr i="1" sz="760">
                <a:solidFill>
                  <a:srgbClr val="1F3031"/>
                </a:solidFill>
                <a:latin typeface="Noto Sans"/>
              </a:rPr>
              <a:t>Smartphone</a:t>
            </a:r>
            <a:r>
              <a:rPr sz="760" b="0">
                <a:solidFill>
                  <a:srgbClr val="1F3031"/>
                </a:solidFill>
                <a:latin typeface="Noto Sans"/>
              </a:rPr>
              <a:t>),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31" name="ANUARIO_F_CARD_INTERNET"/>
          <p:cNvSpPr/>
          <p:nvPr/>
        </p:nvSpPr>
        <p:spPr>
          <a:xfrm>
            <a:off x="3182112" y="932688"/>
            <a:ext cx="5504688" cy="1225296"/>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NUARIO_F_TITLE_INTERNET"/>
          <p:cNvSpPr txBox="1"/>
          <p:nvPr/>
        </p:nvSpPr>
        <p:spPr>
          <a:xfrm>
            <a:off x="3319272" y="104241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REALIZADAS EN INTERNET</a:t>
            </a:r>
          </a:p>
        </p:txBody>
      </p:sp>
      <p:sp>
        <p:nvSpPr>
          <p:cNvPr id="233" name="ANUARIO_F_BODY_INTERNET"/>
          <p:cNvSpPr txBox="1"/>
          <p:nvPr/>
        </p:nvSpPr>
        <p:spPr>
          <a:xfrm>
            <a:off x="3319272" y="1380744"/>
            <a:ext cx="5230368" cy="685800"/>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34" name="ANUARIO_F_CARD_COMPUTADORA"/>
          <p:cNvSpPr/>
          <p:nvPr/>
        </p:nvSpPr>
        <p:spPr>
          <a:xfrm>
            <a:off x="3182112" y="2267712"/>
            <a:ext cx="5504688" cy="1115568"/>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NUARIO_F_TITLE_COMPUTADORA"/>
          <p:cNvSpPr txBox="1"/>
          <p:nvPr/>
        </p:nvSpPr>
        <p:spPr>
          <a:xfrm>
            <a:off x="3319272" y="2377440"/>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ACTIVIDADES EN LA COMPUTADORA</a:t>
            </a:r>
          </a:p>
        </p:txBody>
      </p:sp>
      <p:sp>
        <p:nvSpPr>
          <p:cNvPr id="236" name="ANUARIO_F_BODY_COMPUTADORA"/>
          <p:cNvSpPr txBox="1"/>
          <p:nvPr/>
        </p:nvSpPr>
        <p:spPr>
          <a:xfrm>
            <a:off x="3319272" y="2715768"/>
            <a:ext cx="5230368" cy="576072"/>
          </a:xfrm>
          <a:prstGeom prst="rect">
            <a:avLst/>
          </a:prstGeom>
          <a:noFill/>
        </p:spPr>
        <p:txBody>
          <a:bodyPr wrap="square" anchor="t" lIns="0" rIns="0" tIns="0" bIns="0">
            <a:noAutofit/>
          </a:bodyPr>
          <a:lstStyle/>
          <a:p>
            <a:pPr>
              <a:lnSpc>
                <a:spcPct val="100000"/>
              </a:lnSpc>
              <a:spcBef>
                <a:spcPts val="0"/>
              </a:spcBef>
              <a:spcAft>
                <a:spcPts val="0"/>
              </a:spcAft>
            </a:pPr>
            <a:r>
              <a:rPr sz="755" b="0">
                <a:solidFill>
                  <a:srgbClr val="1F3031"/>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37" name="ANUARIO_F_CARD_REDES"/>
          <p:cNvSpPr/>
          <p:nvPr/>
        </p:nvSpPr>
        <p:spPr>
          <a:xfrm>
            <a:off x="3182112" y="3493008"/>
            <a:ext cx="5504688" cy="117043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NUARIO_F_TITLE_REDES"/>
          <p:cNvSpPr txBox="1"/>
          <p:nvPr/>
        </p:nvSpPr>
        <p:spPr>
          <a:xfrm>
            <a:off x="3319272" y="3602736"/>
            <a:ext cx="5230368" cy="292608"/>
          </a:xfrm>
          <a:prstGeom prst="rect">
            <a:avLst/>
          </a:prstGeom>
          <a:noFill/>
        </p:spPr>
        <p:txBody>
          <a:bodyPr wrap="square" anchor="t" lIns="0" rIns="0" tIns="0" bIns="0">
            <a:noAutofit/>
          </a:bodyPr>
          <a:lstStyle/>
          <a:p>
            <a:pPr>
              <a:lnSpc>
                <a:spcPct val="100000"/>
              </a:lnSpc>
              <a:spcBef>
                <a:spcPts val="0"/>
              </a:spcBef>
              <a:spcAft>
                <a:spcPts val="0"/>
              </a:spcAft>
            </a:pPr>
            <a:r>
              <a:rPr sz="900" b="1">
                <a:solidFill>
                  <a:srgbClr val="484979"/>
                </a:solidFill>
                <a:latin typeface="Noto Sans"/>
              </a:rPr>
              <a:t>USO DE LAS REDES SOCIALES</a:t>
            </a:r>
          </a:p>
        </p:txBody>
      </p:sp>
      <p:sp>
        <p:nvSpPr>
          <p:cNvPr id="239" name="ANUARIO_F_BODY_REDES"/>
          <p:cNvSpPr txBox="1"/>
          <p:nvPr/>
        </p:nvSpPr>
        <p:spPr>
          <a:xfrm>
            <a:off x="3319272" y="3941063"/>
            <a:ext cx="5230368" cy="630936"/>
          </a:xfrm>
          <a:prstGeom prst="rect">
            <a:avLst/>
          </a:prstGeom>
          <a:noFill/>
        </p:spPr>
        <p:txBody>
          <a:bodyPr wrap="square" anchor="t" lIns="0" rIns="0" tIns="0" bIns="0">
            <a:noAutofit/>
          </a:bodyPr>
          <a:lstStyle/>
          <a:p>
            <a:pPr>
              <a:lnSpc>
                <a:spcPct val="100000"/>
              </a:lnSpc>
              <a:spcBef>
                <a:spcPts val="0"/>
              </a:spcBef>
              <a:spcAft>
                <a:spcPts val="0"/>
              </a:spcAft>
            </a:pPr>
            <a:r>
              <a:rPr sz="735" b="0">
                <a:solidFill>
                  <a:srgbClr val="1F3031"/>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Tree>
  </p:cSld>
  <p:clrMapOvr>
    <a:masterClrMapping/>
  </p:clrMapOvr>
</p:sld>
</file>

<file path=ppt/slides/slide8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APLICACIONES INSTALADAS MEDIANTE SMARTPHONE</a:t>
            </a:r>
          </a:p>
          <a:p>
            <a:pPr>
              <a:lnSpc>
                <a:spcPct val="100000"/>
              </a:lnSpc>
              <a:spcBef>
                <a:spcPts val="0"/>
              </a:spcBef>
              <a:spcAft>
                <a:spcPts val="400"/>
              </a:spcAft>
            </a:pPr>
            <a:r>
              <a:rPr sz="650" b="0">
                <a:solidFill>
                  <a:srgbClr val="434343"/>
                </a:solidFill>
                <a:latin typeface="Noto Sans"/>
              </a:rPr>
              <a:t>Con base en los resultados de la ENDUTIH 2025, en México 52.7 millones de mujeres y 47.5 millones de hombres, ambos grupos refiriéndose a personas de 6 años o más, utilizaron Internet mediante su teléfono celular inteligente (Smartphone), lo cual equivale al 82% de las mujeres y 82% de los hombres de 6 años o más que viven en el país. La descarga de aplicaciones fue una de las principales actividades que realizaron con sus dispositivos, ya que el 32% de las usuarias y el 37% de los usuarios descargaron aplicaciones en sus teléfonos inteligentes. Dentro de las aplicaciones que más instalaron las usuarias y los usuarios fueron aquellas de mensajería instantánea (Whatsapp, Messenger, Telegram, etcétera), de acceso a redes sociales (Facebook, Instagram, Twitter, etcétera) y de acceso a contenidos de audio y video (YouTube, Spotify, Deezer, etcétera). Por el contrario, las aplicaciones que menos instalaron fueron aquellas para adquirir bienes o servicios (Cabify, Mercado Libre, Rappi, Uber, etcétera), para acceder a servicios bancarios por Internet (Bancomer, Banamex, etcétera) y para editar fotos o videos.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Aplicaciones instaladas</a:t>
            </a:r>
          </a:p>
          <a:p>
            <a:pPr>
              <a:spcBef>
                <a:spcPts val="0"/>
              </a:spcBef>
              <a:spcAft>
                <a:spcPts val="0"/>
              </a:spcAft>
            </a:pPr>
            <a:r>
              <a:rPr sz="100">
                <a:solidFill>
                  <a:srgbClr val="FFFFFF"/>
                </a:solidFill>
                <a:latin typeface="Noto Sans"/>
              </a:rPr>
              <a:t>mediante Smartphone</a:t>
            </a:r>
          </a:p>
          <a:p>
            <a:pPr>
              <a:spcBef>
                <a:spcPts val="0"/>
              </a:spcBef>
              <a:spcAft>
                <a:spcPts val="0"/>
              </a:spcAft>
            </a:pPr>
            <a:r>
              <a:rPr sz="100">
                <a:solidFill>
                  <a:srgbClr val="FFFFFF"/>
                </a:solidFill>
                <a:latin typeface="Noto Sans"/>
              </a:rPr>
              <a:t>Usuarios de Internet mediante Smartphone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52,728,126</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47,528,779</a:t>
            </a:r>
          </a:p>
          <a:p>
            <a:pPr>
              <a:spcBef>
                <a:spcPts val="0"/>
              </a:spcBef>
              <a:spcAft>
                <a:spcPts val="0"/>
              </a:spcAft>
            </a:pPr>
            <a:r>
              <a:rPr sz="100">
                <a:solidFill>
                  <a:srgbClr val="FFFFFF"/>
                </a:solidFill>
                <a:latin typeface="Noto Sans"/>
              </a:rPr>
              <a:t>(82% de la población de 6 años o más)</a:t>
            </a:r>
          </a:p>
          <a:p>
            <a:pPr>
              <a:spcBef>
                <a:spcPts val="0"/>
              </a:spcBef>
              <a:spcAft>
                <a:spcPts val="0"/>
              </a:spcAft>
            </a:pPr>
            <a:r>
              <a:rPr sz="100">
                <a:solidFill>
                  <a:srgbClr val="FFFFFF"/>
                </a:solidFill>
                <a:latin typeface="Noto Sans"/>
              </a:rPr>
              <a:t>Instalaron aplicaciones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Mensajería instantánea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Acceder a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Contenidos de audio y</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Jugar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Tránsito y navegación</a:t>
            </a:r>
          </a:p>
          <a:p>
            <a:pPr>
              <a:spcBef>
                <a:spcPts val="0"/>
              </a:spcBef>
              <a:spcAft>
                <a:spcPts val="0"/>
              </a:spcAft>
            </a:pPr>
            <a:r>
              <a:rPr sz="100">
                <a:solidFill>
                  <a:srgbClr val="FFFFFF"/>
                </a:solidFill>
                <a:latin typeface="Noto Sans"/>
              </a:rPr>
              <a:t>asistida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Adquirir bienes o</a:t>
            </a:r>
          </a:p>
          <a:p>
            <a:pPr>
              <a:spcBef>
                <a:spcPts val="0"/>
              </a:spcBef>
              <a:spcAft>
                <a:spcPts val="0"/>
              </a:spcAft>
            </a:pPr>
            <a:r>
              <a:rPr sz="100">
                <a:solidFill>
                  <a:srgbClr val="FFFFFF"/>
                </a:solidFill>
                <a:latin typeface="Noto Sans"/>
              </a:rPr>
              <a:t>servicios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Acceder a banca móvil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a:t>
            </a:r>
          </a:p>
          <a:p>
            <a:pPr>
              <a:spcBef>
                <a:spcPts val="0"/>
              </a:spcBef>
              <a:spcAft>
                <a:spcPts val="0"/>
              </a:spcAft>
            </a:pPr>
            <a:r>
              <a:rPr sz="100">
                <a:solidFill>
                  <a:srgbClr val="FFFFFF"/>
                </a:solidFill>
                <a:latin typeface="Noto Sans"/>
              </a:rPr>
              <a:t>Editar fotos o videos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Cálculos ponderados con FAC_PER.</a:t>
            </a:r>
          </a:p>
        </p:txBody>
      </p:sp>
      <p:pic>
        <p:nvPicPr>
          <p:cNvPr id="223" name="ANUARIO_IMAGE_F_1_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82</a:t>
            </a:r>
          </a:p>
        </p:txBody>
      </p:sp>
    </p:spTree>
  </p:cSld>
  <p:clrMapOvr>
    <a:masterClrMapping/>
  </p:clrMapOvr>
</p:sld>
</file>

<file path=ppt/slides/slide8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ACTIVIDADES REALIZADAS EN INTERNET</a:t>
            </a:r>
          </a:p>
          <a:p>
            <a:pPr>
              <a:lnSpc>
                <a:spcPct val="100000"/>
              </a:lnSpc>
              <a:spcBef>
                <a:spcPts val="0"/>
              </a:spcBef>
              <a:spcAft>
                <a:spcPts val="400"/>
              </a:spcAft>
            </a:pPr>
            <a:r>
              <a:rPr sz="760" b="0">
                <a:solidFill>
                  <a:srgbClr val="434343"/>
                </a:solidFill>
                <a:latin typeface="Noto Sans"/>
              </a:rPr>
              <a:t>De acuerdo con la ENDUTIH 2025, en México 55.0 millones de mujeres y 49.9 millones de hombres utilizaron Internet, lo que representó el 86% de las mujeres y el 87% de los hombres de 6 años o más. Las actividades por Internet que más realizaron estos usuarios fueron el consumo de contenidos audiovisuales gratuitos (Youtube), escuchar música gratuita (Spotify, Google music, etcétera) y ver películas, series, conciertos y otros audiovisuales de pago (Netflix, Clarovideo, Blim, OTT, etcétera). Por el contrario, las actividades que menos realizaron fueron ver TV en web, realizar ventas y escuchar radio AM y FM.</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Actividades realizadas en</a:t>
            </a:r>
          </a:p>
          <a:p>
            <a:pPr>
              <a:spcBef>
                <a:spcPts val="0"/>
              </a:spcBef>
              <a:spcAft>
                <a:spcPts val="0"/>
              </a:spcAft>
            </a:pPr>
            <a:r>
              <a:rPr sz="100">
                <a:solidFill>
                  <a:srgbClr val="FFFFFF"/>
                </a:solidFill>
                <a:latin typeface="Noto Sans"/>
              </a:rPr>
              <a:t>Internet</a:t>
            </a:r>
          </a:p>
          <a:p>
            <a:pPr>
              <a:spcBef>
                <a:spcPts val="0"/>
              </a:spcBef>
              <a:spcAft>
                <a:spcPts val="0"/>
              </a:spcAft>
            </a:pPr>
            <a:r>
              <a:rPr sz="100">
                <a:solidFill>
                  <a:srgbClr val="FFFFFF"/>
                </a:solidFill>
                <a:latin typeface="Noto Sans"/>
              </a:rPr>
              <a:t>Usuarios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54,968,122</a:t>
            </a:r>
          </a:p>
          <a:p>
            <a:pPr>
              <a:spcBef>
                <a:spcPts val="0"/>
              </a:spcBef>
              <a:spcAft>
                <a:spcPts val="0"/>
              </a:spcAft>
            </a:pPr>
            <a:r>
              <a:rPr sz="100">
                <a:solidFill>
                  <a:srgbClr val="FFFFFF"/>
                </a:solidFill>
                <a:latin typeface="Noto Sans"/>
              </a:rPr>
              <a:t>(86%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49,935,868</a:t>
            </a:r>
          </a:p>
          <a:p>
            <a:pPr>
              <a:spcBef>
                <a:spcPts val="0"/>
              </a:spcBef>
              <a:spcAft>
                <a:spcPts val="0"/>
              </a:spcAft>
            </a:pPr>
            <a:r>
              <a:rPr sz="100">
                <a:solidFill>
                  <a:srgbClr val="FFFFFF"/>
                </a:solidFill>
                <a:latin typeface="Noto Sans"/>
              </a:rPr>
              <a:t>(87% de la población de 6 años o más)</a:t>
            </a:r>
          </a:p>
          <a:p>
            <a:pPr>
              <a:spcBef>
                <a:spcPts val="0"/>
              </a:spcBef>
              <a:spcAft>
                <a:spcPts val="0"/>
              </a:spcAft>
            </a:pPr>
            <a:r>
              <a:rPr sz="100">
                <a:solidFill>
                  <a:srgbClr val="FFFFFF"/>
                </a:solidFill>
                <a:latin typeface="Noto Sans"/>
              </a:rPr>
              <a:t>Audiovisuales gratuitos (YouTube)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Escuchar música</a:t>
            </a:r>
          </a:p>
          <a:p>
            <a:pPr>
              <a:spcBef>
                <a:spcPts val="0"/>
              </a:spcBef>
              <a:spcAft>
                <a:spcPts val="0"/>
              </a:spcAft>
            </a:pPr>
            <a:r>
              <a:rPr sz="100">
                <a:solidFill>
                  <a:srgbClr val="FFFFFF"/>
                </a:solidFill>
                <a:latin typeface="Noto Sans"/>
              </a:rPr>
              <a:t>gratis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Audiovisuales de pago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Leer periódicos,</a:t>
            </a:r>
          </a:p>
          <a:p>
            <a:pPr>
              <a:spcBef>
                <a:spcPts val="0"/>
              </a:spcBef>
              <a:spcAft>
                <a:spcPts val="0"/>
              </a:spcAft>
            </a:pPr>
            <a:r>
              <a:rPr sz="100">
                <a:solidFill>
                  <a:srgbClr val="FFFFFF"/>
                </a:solidFill>
                <a:latin typeface="Noto Sans"/>
              </a:rPr>
              <a:t>revistas o libros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Compras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39%</a:t>
            </a:r>
          </a:p>
          <a:p>
            <a:pPr>
              <a:spcBef>
                <a:spcPts val="0"/>
              </a:spcBef>
              <a:spcAft>
                <a:spcPts val="0"/>
              </a:spcAft>
            </a:pPr>
            <a:r>
              <a:rPr sz="100">
                <a:solidFill>
                  <a:srgbClr val="FFFFFF"/>
                </a:solidFill>
                <a:latin typeface="Noto Sans"/>
              </a:rPr>
              <a:t>Interacción con el</a:t>
            </a:r>
          </a:p>
          <a:p>
            <a:pPr>
              <a:spcBef>
                <a:spcPts val="0"/>
              </a:spcBef>
              <a:spcAft>
                <a:spcPts val="0"/>
              </a:spcAft>
            </a:pPr>
            <a:r>
              <a:rPr sz="100">
                <a:solidFill>
                  <a:srgbClr val="FFFFFF"/>
                </a:solidFill>
                <a:latin typeface="Noto Sans"/>
              </a:rPr>
              <a:t>gobierno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Jugar en línea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Pagos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Uso de banca</a:t>
            </a:r>
          </a:p>
          <a:p>
            <a:pPr>
              <a:spcBef>
                <a:spcPts val="0"/>
              </a:spcBef>
              <a:spcAft>
                <a:spcPts val="0"/>
              </a:spcAft>
            </a:pPr>
            <a:r>
              <a:rPr sz="100">
                <a:solidFill>
                  <a:srgbClr val="FFFFFF"/>
                </a:solidFill>
                <a:latin typeface="Noto Sans"/>
              </a:rPr>
              <a:t>electrónica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TV en web</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Ventas por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Radio AM y FM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Internet.</a:t>
            </a:r>
          </a:p>
        </p:txBody>
      </p:sp>
      <p:pic>
        <p:nvPicPr>
          <p:cNvPr id="223" name="ANUARIO_IMAGE_F_1_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83</a:t>
            </a:r>
          </a:p>
        </p:txBody>
      </p:sp>
    </p:spTree>
  </p:cSld>
  <p:clrMapOvr>
    <a:masterClrMapping/>
  </p:clrMapOvr>
</p:sld>
</file>

<file path=ppt/slides/slide8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HABILIDADES EN LA COMPUTADORA</a:t>
            </a:r>
          </a:p>
          <a:p>
            <a:pPr>
              <a:lnSpc>
                <a:spcPct val="100000"/>
              </a:lnSpc>
              <a:spcBef>
                <a:spcPts val="0"/>
              </a:spcBef>
              <a:spcAft>
                <a:spcPts val="400"/>
              </a:spcAft>
            </a:pPr>
            <a:r>
              <a:rPr sz="760" b="0">
                <a:solidFill>
                  <a:srgbClr val="434343"/>
                </a:solidFill>
                <a:latin typeface="Noto Sans"/>
              </a:rPr>
              <a:t>Por otro lado, 22.5 millones de mujeres y 21.6 millones de hombres utilizaron computadora, lo que representó el 35% de las mujeres y el 38% de los hombres de 6 años o más en México. Las actividades que más realizaron estos usuarios fueron descargar contenidos en Internet, enviar y recibir correos electrónicos, y crear archivos de texto. Por el contrario, las actividades que menos realizaron fueron instalar dispositivos periféricos, crear o usar bases de datos y programar en lenguaje especializado.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Habilidades en la</a:t>
            </a:r>
          </a:p>
          <a:p>
            <a:pPr>
              <a:spcBef>
                <a:spcPts val="0"/>
              </a:spcBef>
              <a:spcAft>
                <a:spcPts val="0"/>
              </a:spcAft>
            </a:pPr>
            <a:r>
              <a:rPr sz="100">
                <a:solidFill>
                  <a:srgbClr val="FFFFFF"/>
                </a:solidFill>
                <a:latin typeface="Noto Sans"/>
              </a:rPr>
              <a:t>computadora</a:t>
            </a:r>
          </a:p>
          <a:p>
            <a:pPr>
              <a:spcBef>
                <a:spcPts val="0"/>
              </a:spcBef>
              <a:spcAft>
                <a:spcPts val="0"/>
              </a:spcAft>
            </a:pPr>
            <a:r>
              <a:rPr sz="100">
                <a:solidFill>
                  <a:srgbClr val="FFFFFF"/>
                </a:solidFill>
                <a:latin typeface="Noto Sans"/>
              </a:rPr>
              <a:t>Usuarios de computadora</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22,549,120</a:t>
            </a:r>
          </a:p>
          <a:p>
            <a:pPr>
              <a:spcBef>
                <a:spcPts val="0"/>
              </a:spcBef>
              <a:spcAft>
                <a:spcPts val="0"/>
              </a:spcAft>
            </a:pPr>
            <a:r>
              <a:rPr sz="100">
                <a:solidFill>
                  <a:srgbClr val="FFFFFF"/>
                </a:solidFill>
                <a:latin typeface="Noto Sans"/>
              </a:rPr>
              <a:t>(35%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21,586,229</a:t>
            </a:r>
          </a:p>
          <a:p>
            <a:pPr>
              <a:spcBef>
                <a:spcPts val="0"/>
              </a:spcBef>
              <a:spcAft>
                <a:spcPts val="0"/>
              </a:spcAft>
            </a:pPr>
            <a:r>
              <a:rPr sz="100">
                <a:solidFill>
                  <a:srgbClr val="FFFFFF"/>
                </a:solidFill>
                <a:latin typeface="Noto Sans"/>
              </a:rPr>
              <a:t>(38% de la población de 6 años o más)</a:t>
            </a:r>
          </a:p>
          <a:p>
            <a:pPr>
              <a:spcBef>
                <a:spcPts val="0"/>
              </a:spcBef>
              <a:spcAft>
                <a:spcPts val="0"/>
              </a:spcAft>
            </a:pPr>
            <a:r>
              <a:rPr sz="100">
                <a:solidFill>
                  <a:srgbClr val="FFFFFF"/>
                </a:solidFill>
                <a:latin typeface="Noto Sans"/>
              </a:rPr>
              <a:t>Descargar contenidos de Internet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86%</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Enviar y recibir 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Crear archivos de texto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85%</a:t>
            </a:r>
          </a:p>
          <a:p>
            <a:pPr>
              <a:spcBef>
                <a:spcPts val="0"/>
              </a:spcBef>
              <a:spcAft>
                <a:spcPts val="0"/>
              </a:spcAft>
            </a:pPr>
            <a:r>
              <a:rPr sz="100">
                <a:solidFill>
                  <a:srgbClr val="FFFFFF"/>
                </a:solidFill>
                <a:latin typeface="Noto Sans"/>
              </a:rPr>
              <a:t>Copiar archivos entre</a:t>
            </a:r>
          </a:p>
          <a:p>
            <a:pPr>
              <a:spcBef>
                <a:spcPts val="0"/>
              </a:spcBef>
              <a:spcAft>
                <a:spcPts val="0"/>
              </a:spcAft>
            </a:pPr>
            <a:r>
              <a:rPr sz="100">
                <a:solidFill>
                  <a:srgbClr val="FFFFFF"/>
                </a:solidFill>
                <a:latin typeface="Noto Sans"/>
              </a:rPr>
              <a:t>directorios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Crear presentaciones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75%</a:t>
            </a:r>
          </a:p>
          <a:p>
            <a:pPr>
              <a:spcBef>
                <a:spcPts val="0"/>
              </a:spcBef>
              <a:spcAft>
                <a:spcPts val="0"/>
              </a:spcAft>
            </a:pPr>
            <a:r>
              <a:rPr sz="100">
                <a:solidFill>
                  <a:srgbClr val="FFFFFF"/>
                </a:solidFill>
                <a:latin typeface="Noto Sans"/>
              </a:rPr>
              <a:t>Crear hojas de cálculo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Instalar dispositivos</a:t>
            </a:r>
          </a:p>
          <a:p>
            <a:pPr>
              <a:spcBef>
                <a:spcPts val="0"/>
              </a:spcBef>
              <a:spcAft>
                <a:spcPts val="0"/>
              </a:spcAft>
            </a:pPr>
            <a:r>
              <a:rPr sz="100">
                <a:solidFill>
                  <a:srgbClr val="FFFFFF"/>
                </a:solidFill>
                <a:latin typeface="Noto Sans"/>
              </a:rPr>
              <a:t>periféricos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Crear o usar bases de</a:t>
            </a:r>
          </a:p>
          <a:p>
            <a:pPr>
              <a:spcBef>
                <a:spcPts val="0"/>
              </a:spcBef>
              <a:spcAft>
                <a:spcPts val="0"/>
              </a:spcAft>
            </a:pPr>
            <a:r>
              <a:rPr sz="100">
                <a:solidFill>
                  <a:srgbClr val="FFFFFF"/>
                </a:solidFill>
                <a:latin typeface="Noto Sans"/>
              </a:rPr>
              <a:t>datos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Programar en lenguaje</a:t>
            </a:r>
          </a:p>
          <a:p>
            <a:pPr>
              <a:spcBef>
                <a:spcPts val="0"/>
              </a:spcBef>
              <a:spcAft>
                <a:spcPts val="0"/>
              </a:spcAft>
            </a:pPr>
            <a:r>
              <a:rPr sz="100">
                <a:solidFill>
                  <a:srgbClr val="FFFFFF"/>
                </a:solidFill>
                <a:latin typeface="Noto Sans"/>
              </a:rPr>
              <a:t>especializado</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2024, del INEGI. Datos disponibles en https://www.inegi.org.mx/programas/endutih/2024/</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ENDUTIH 2024 es el último corte con todas las habilidades comparables.</a:t>
            </a:r>
          </a:p>
        </p:txBody>
      </p:sp>
      <p:pic>
        <p:nvPicPr>
          <p:cNvPr id="223" name="ANUARIO_IMAGE_F_1_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84</a:t>
            </a:r>
          </a:p>
        </p:txBody>
      </p:sp>
    </p:spTree>
  </p:cSld>
  <p:clrMapOvr>
    <a:masterClrMapping/>
  </p:clrMapOvr>
</p:sld>
</file>

<file path=ppt/slides/slide8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_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USO DE REDES SOCIALES</a:t>
            </a:r>
          </a:p>
          <a:p>
            <a:pPr>
              <a:lnSpc>
                <a:spcPct val="100000"/>
              </a:lnSpc>
              <a:spcBef>
                <a:spcPts val="0"/>
              </a:spcBef>
              <a:spcAft>
                <a:spcPts val="400"/>
              </a:spcAft>
            </a:pPr>
            <a:r>
              <a:rPr sz="760" b="0">
                <a:solidFill>
                  <a:srgbClr val="434343"/>
                </a:solidFill>
                <a:latin typeface="Noto Sans"/>
              </a:rPr>
              <a:t>Por último, los resultados de la encuesta indican que 49.3 millones de mujeres y 44.2 millones de hombres utilizaron redes sociales, lo que representó el 77% de las mujeres y el 77% de los hombres de 6 años o más que viven en México. Las redes sociales que más utilizaron los usuarios fueron Whatsapp, Facebook y Youtube, mientras que las menos utilizadas fueron Snapchat, Pinterest y LinkedIn. Cabe mencionar que entre hombres y mujeres hay diferencias en el uso de algunas redes sociales. Mientras que las mujeres usan más Instagram, Tik Tok y Pinterest, los hombres usan más Youtube y Twitter.</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_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_4" descr="Capa accesible con el texto del SVG de la figura F.1.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Actividades en Smartphone, Internet, computadora y uso de redes sociales</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Usuarios de redes sociales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49,285,346</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44,246,844</a:t>
            </a:r>
          </a:p>
          <a:p>
            <a:pPr>
              <a:spcBef>
                <a:spcPts val="0"/>
              </a:spcBef>
              <a:spcAft>
                <a:spcPts val="0"/>
              </a:spcAft>
            </a:pPr>
            <a:r>
              <a:rPr sz="100">
                <a:solidFill>
                  <a:srgbClr val="FFFFFF"/>
                </a:solidFill>
                <a:latin typeface="Noto Sans"/>
              </a:rPr>
              <a:t>(77% de la población de 6 años o más)</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38%</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X (antes Twitter)</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8%</a:t>
            </a:r>
          </a:p>
          <a:p>
            <a:pPr>
              <a:spcBef>
                <a:spcPts val="0"/>
              </a:spcBef>
              <a:spcAft>
                <a:spcPts val="0"/>
              </a:spcAft>
            </a:pPr>
            <a:r>
              <a:rPr sz="100">
                <a:solidFill>
                  <a:srgbClr val="FFFFFF"/>
                </a:solidFill>
                <a:latin typeface="Noto Sans"/>
              </a:rPr>
              <a:t>Snapchat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Pinterest</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LinkedIn</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1%</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2%</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ENDUTIH 2025, del INEGI. Datos disponibles en https://www.inegi.org.mx/programas/endutih/2025/</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Todos los usuarios se refieren a personas de 6 años o más. Los porcentajes usan como denominador a usuarios de redes sociales.</a:t>
            </a:r>
          </a:p>
        </p:txBody>
      </p:sp>
      <p:pic>
        <p:nvPicPr>
          <p:cNvPr id="223" name="ANUARIO_IMAGE_F_1_4" descr="Figura F.1.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85</a:t>
            </a:r>
          </a:p>
        </p:txBody>
      </p:sp>
    </p:spTree>
  </p:cSld>
  <p:clrMapOvr>
    <a:masterClrMapping/>
  </p:clrMapOvr>
</p:sld>
</file>

<file path=ppt/slides/slide8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2" descr="ANUARIO_FIGURE_ID=F.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F.2</a:t>
            </a:r>
          </a:p>
          <a:p>
            <a:pPr>
              <a:spcBef>
                <a:spcPts val="0"/>
              </a:spcBef>
              <a:spcAft>
                <a:spcPts val="600"/>
              </a:spcAft>
            </a:pPr>
            <a:r>
              <a:rPr sz="950" b="1">
                <a:solidFill>
                  <a:srgbClr val="203634"/>
                </a:solidFill>
                <a:latin typeface="Noto Sans"/>
              </a:rPr>
              <a:t>PORCENTAJE DE PERSONAS EMPLEADAS EN TELECOMUNICACIONES Y RADIODIFUSIÓN</a:t>
            </a:r>
          </a:p>
          <a:p>
            <a:pPr>
              <a:lnSpc>
                <a:spcPct val="100000"/>
              </a:lnSpc>
              <a:spcBef>
                <a:spcPts val="0"/>
              </a:spcBef>
              <a:spcAft>
                <a:spcPts val="400"/>
              </a:spcAft>
            </a:pPr>
            <a:r>
              <a:rPr sz="760" b="0">
                <a:solidFill>
                  <a:srgbClr val="434343"/>
                </a:solidFill>
                <a:latin typeface="Noto Sans"/>
              </a:rPr>
              <a:t>En el periodo de junio de 2025 a junio de 2026, los sectores de telecomunicaciones y radiodifusión mostraron en su conjunto, un decremento anual del 4.3% en el número de personas empleadas. Al desagregar por sectores, se obtuvo que, en junio de 2026, el total de empleadas y empleados en telecomunicaciones fue de 242,348, lo cual representó un decremento anual de 5.0%, mientras que en el sector de radiodifusión el total de empleadas y empleados fue de 36,721, es decir, un incremento anual de 0.5%.</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2" descr="ANUARIO_FIGURE_ID=F.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2" descr="Capa accesible con el texto del SVG de la figura F.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F.2</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64%</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Figura F.2.</a:t>
            </a:r>
          </a:p>
          <a:p>
            <a:pPr>
              <a:spcBef>
                <a:spcPts val="0"/>
              </a:spcBef>
              <a:spcAft>
                <a:spcPts val="0"/>
              </a:spcAft>
            </a:pPr>
            <a:r>
              <a:rPr sz="100">
                <a:solidFill>
                  <a:srgbClr val="FFFFFF"/>
                </a:solidFill>
                <a:latin typeface="Noto Sans"/>
              </a:rPr>
              <a:t>Porcentaje de personas empleadas en telecomunicaciones y radiodifusión</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radiodifusión:</a:t>
            </a:r>
          </a:p>
          <a:p>
            <a:pPr>
              <a:spcBef>
                <a:spcPts val="0"/>
              </a:spcBef>
              <a:spcAft>
                <a:spcPts val="0"/>
              </a:spcAft>
            </a:pPr>
            <a:r>
              <a:rPr sz="100">
                <a:solidFill>
                  <a:srgbClr val="FFFFFF"/>
                </a:solidFill>
                <a:latin typeface="Noto Sans"/>
              </a:rPr>
              <a:t>36,721</a:t>
            </a:r>
          </a:p>
          <a:p>
            <a:pPr>
              <a:spcBef>
                <a:spcPts val="0"/>
              </a:spcBef>
              <a:spcAft>
                <a:spcPts val="0"/>
              </a:spcAft>
            </a:pPr>
            <a:r>
              <a:rPr sz="100">
                <a:solidFill>
                  <a:srgbClr val="FFFFFF"/>
                </a:solidFill>
                <a:latin typeface="Noto Sans"/>
              </a:rPr>
              <a:t>Total de personas</a:t>
            </a:r>
          </a:p>
          <a:p>
            <a:pPr>
              <a:spcBef>
                <a:spcPts val="0"/>
              </a:spcBef>
              <a:spcAft>
                <a:spcPts val="0"/>
              </a:spcAft>
            </a:pPr>
            <a:r>
              <a:rPr sz="100">
                <a:solidFill>
                  <a:srgbClr val="FFFFFF"/>
                </a:solidFill>
                <a:latin typeface="Noto Sans"/>
              </a:rPr>
              <a:t>empleadas en telecomunicaciones:</a:t>
            </a:r>
          </a:p>
          <a:p>
            <a:pPr>
              <a:spcBef>
                <a:spcPts val="0"/>
              </a:spcBef>
              <a:spcAft>
                <a:spcPts val="0"/>
              </a:spcAft>
            </a:pPr>
            <a:r>
              <a:rPr sz="100">
                <a:solidFill>
                  <a:srgbClr val="FFFFFF"/>
                </a:solidFill>
                <a:latin typeface="Noto Sans"/>
              </a:rPr>
              <a:t>242,348</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 la Encuesta Nacional de Ocupación y Empleo (ENOE) a junio de 2026, del INEGI. Datos disponibles en https://www.inegi.org.mx/programas/enoe/15ymas/#microdatos</a:t>
            </a:r>
          </a:p>
          <a:p>
            <a:pPr>
              <a:spcBef>
                <a:spcPts val="0"/>
              </a:spcBef>
              <a:spcAft>
                <a:spcPts val="0"/>
              </a:spcAft>
            </a:pPr>
            <a:r>
              <a:rPr sz="100">
                <a:solidFill>
                  <a:srgbClr val="FFFFFF"/>
                </a:solidFill>
                <a:latin typeface="Noto Sans"/>
              </a:rPr>
              <a:t>Radiodifusión</a:t>
            </a:r>
          </a:p>
          <a:p>
            <a:pPr>
              <a:spcBef>
                <a:spcPts val="0"/>
              </a:spcBef>
              <a:spcAft>
                <a:spcPts val="0"/>
              </a:spcAft>
            </a:pPr>
            <a:r>
              <a:rPr sz="100">
                <a:solidFill>
                  <a:srgbClr val="FFFFFF"/>
                </a:solidFill>
                <a:latin typeface="Noto Sans"/>
              </a:rPr>
              <a:t>Telecomunicaciones</a:t>
            </a:r>
          </a:p>
        </p:txBody>
      </p:sp>
      <p:pic>
        <p:nvPicPr>
          <p:cNvPr id="223" name="ANUARIO_IMAGE_F_2" descr="Figura F.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86</a:t>
            </a:r>
          </a:p>
        </p:txBody>
      </p:sp>
    </p:spTree>
  </p:cSld>
  <p:clrMapOvr>
    <a:masterClrMapping/>
  </p:clrMapOvr>
</p:sld>
</file>

<file path=ppt/slides/slide8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3" descr="ANUARIO_FIGURE_ID=F.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F.3</a:t>
            </a:r>
          </a:p>
          <a:p>
            <a:pPr>
              <a:spcBef>
                <a:spcPts val="0"/>
              </a:spcBef>
              <a:spcAft>
                <a:spcPts val="600"/>
              </a:spcAft>
            </a:pPr>
            <a:r>
              <a:rPr sz="950" b="1">
                <a:solidFill>
                  <a:srgbClr val="203634"/>
                </a:solidFill>
                <a:latin typeface="Noto Sans"/>
              </a:rPr>
              <a:t>PORCENTAJE DE LA POBLACIÓN DE 12 AÑOS Y MÁS QUE VIVIÓ CIBERACOSO POR ENTIDAD FEDERATIVA</a:t>
            </a:r>
          </a:p>
          <a:p>
            <a:pPr>
              <a:lnSpc>
                <a:spcPct val="100000"/>
              </a:lnSpc>
              <a:spcBef>
                <a:spcPts val="0"/>
              </a:spcBef>
              <a:spcAft>
                <a:spcPts val="400"/>
              </a:spcAft>
            </a:pPr>
            <a:r>
              <a:rPr sz="760" b="0">
                <a:solidFill>
                  <a:srgbClr val="434343"/>
                </a:solidFill>
                <a:latin typeface="Noto Sans"/>
              </a:rPr>
              <a:t>De acuerdo con los resultados del Módulo sobre Ciberacoso (MOCIBA) 2025, las entidades federativas que tuvieron el menor porcentaje de la población de 12 años y más que vivió ciberacoso fueron Colima con 0.6% y Campeche con 0.7% de su población. Por el contrario, los estados que resaltan por presentar mayores porcentajes de ciberacoso fueron el Estado de México con el 13.0%, Jalisco con el 8.2% y la Ciudad de México con el 9.6% de su población.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3" descr="ANUARIO_FIGURE_ID=F.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3" descr="Capa accesible con el texto del SVG de la figura F.3"/>
          <p:cNvSpPr txBox="1"/>
          <p:nvPr/>
        </p:nvSpPr>
        <p:spPr>
          <a:xfrm>
            <a:off x="3357372" y="1336454"/>
            <a:ext cx="5279136" cy="2804541"/>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F.3</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CIUDAD DE</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VERACRUZ DE</a:t>
            </a:r>
          </a:p>
          <a:p>
            <a:pPr>
              <a:spcBef>
                <a:spcPts val="0"/>
              </a:spcBef>
              <a:spcAft>
                <a:spcPts val="0"/>
              </a:spcAft>
            </a:pPr>
            <a:r>
              <a:rPr sz="100">
                <a:solidFill>
                  <a:srgbClr val="FFFFFF"/>
                </a:solidFill>
                <a:latin typeface="Noto Sans"/>
              </a:rPr>
              <a:t>IGNACIO DE</a:t>
            </a:r>
          </a:p>
          <a:p>
            <a:pPr>
              <a:spcBef>
                <a:spcPts val="0"/>
              </a:spcBef>
              <a:spcAft>
                <a:spcPts val="0"/>
              </a:spcAft>
            </a:pPr>
            <a:r>
              <a:rPr sz="100">
                <a:solidFill>
                  <a:srgbClr val="FFFFFF"/>
                </a:solidFill>
                <a:latin typeface="Noto Sans"/>
              </a:rPr>
              <a:t>LA LLAVE</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MICHOACAN DE</a:t>
            </a:r>
          </a:p>
          <a:p>
            <a:pPr>
              <a:spcBef>
                <a:spcPts val="0"/>
              </a:spcBef>
              <a:spcAft>
                <a:spcPts val="0"/>
              </a:spcAft>
            </a:pPr>
            <a:r>
              <a:rPr sz="100">
                <a:solidFill>
                  <a:srgbClr val="FFFFFF"/>
                </a:solidFill>
                <a:latin typeface="Noto Sans"/>
              </a:rPr>
              <a:t>OCAMPO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SAN LUIS</a:t>
            </a:r>
          </a:p>
          <a:p>
            <a:pPr>
              <a:spcBef>
                <a:spcPts val="0"/>
              </a:spcBef>
              <a:spcAft>
                <a:spcPts val="0"/>
              </a:spcAft>
            </a:pPr>
            <a:r>
              <a:rPr sz="100">
                <a:solidFill>
                  <a:srgbClr val="FFFFFF"/>
                </a:solidFill>
                <a:latin typeface="Noto Sans"/>
              </a:rPr>
              <a:t>POTOSI</a:t>
            </a:r>
          </a:p>
          <a:p>
            <a:pPr>
              <a:spcBef>
                <a:spcPts val="0"/>
              </a:spcBef>
              <a:spcAft>
                <a:spcPts val="0"/>
              </a:spcAft>
            </a:pPr>
            <a:r>
              <a:rPr sz="100">
                <a:solidFill>
                  <a:srgbClr val="FFFFFF"/>
                </a:solidFill>
                <a:latin typeface="Noto Sans"/>
              </a:rPr>
              <a:t>COAHUILA DE</a:t>
            </a:r>
          </a:p>
          <a:p>
            <a:pPr>
              <a:spcBef>
                <a:spcPts val="0"/>
              </a:spcBef>
              <a:spcAft>
                <a:spcPts val="0"/>
              </a:spcAft>
            </a:pPr>
            <a:r>
              <a:rPr sz="100">
                <a:solidFill>
                  <a:srgbClr val="FFFFFF"/>
                </a:solidFill>
                <a:latin typeface="Noto Sans"/>
              </a:rPr>
              <a:t>ZARAGOZA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AGUASCALIENT</a:t>
            </a:r>
          </a:p>
          <a:p>
            <a:pPr>
              <a:spcBef>
                <a:spcPts val="0"/>
              </a:spcBef>
              <a:spcAft>
                <a:spcPts val="0"/>
              </a:spcAft>
            </a:pPr>
            <a:r>
              <a:rPr sz="100">
                <a:solidFill>
                  <a:srgbClr val="FFFFFF"/>
                </a:solidFill>
                <a:latin typeface="Noto Sans"/>
              </a:rPr>
              <a:t>ES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BAJA</a:t>
            </a:r>
          </a:p>
          <a:p>
            <a:pPr>
              <a:spcBef>
                <a:spcPts val="0"/>
              </a:spcBef>
              <a:spcAft>
                <a:spcPts val="0"/>
              </a:spcAft>
            </a:pPr>
            <a:r>
              <a:rPr sz="100">
                <a:solidFill>
                  <a:srgbClr val="FFFFFF"/>
                </a:solidFill>
                <a:latin typeface="Noto Sans"/>
              </a:rPr>
              <a:t>CALIFORNIA</a:t>
            </a:r>
          </a:p>
          <a:p>
            <a:pPr>
              <a:spcBef>
                <a:spcPts val="0"/>
              </a:spcBef>
              <a:spcAft>
                <a:spcPts val="0"/>
              </a:spcAft>
            </a:pPr>
            <a:r>
              <a:rPr sz="100">
                <a:solidFill>
                  <a:srgbClr val="FFFFFF"/>
                </a:solidFill>
                <a:latin typeface="Noto Sans"/>
              </a:rPr>
              <a:t>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14.0%</a:t>
            </a:r>
          </a:p>
          <a:p>
            <a:pPr>
              <a:spcBef>
                <a:spcPts val="0"/>
              </a:spcBef>
              <a:spcAft>
                <a:spcPts val="0"/>
              </a:spcAft>
            </a:pPr>
            <a:r>
              <a:rPr sz="100">
                <a:solidFill>
                  <a:srgbClr val="FFFFFF"/>
                </a:solidFill>
                <a:latin typeface="Noto Sans"/>
              </a:rPr>
              <a:t>16.0%</a:t>
            </a:r>
          </a:p>
          <a:p>
            <a:pPr>
              <a:spcBef>
                <a:spcPts val="0"/>
              </a:spcBef>
              <a:spcAft>
                <a:spcPts val="0"/>
              </a:spcAft>
            </a:pPr>
            <a:r>
              <a:rPr sz="100">
                <a:solidFill>
                  <a:srgbClr val="FFFFFF"/>
                </a:solidFill>
                <a:latin typeface="Noto Sans"/>
              </a:rPr>
              <a:t>13.0%</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5.4%</a:t>
            </a:r>
          </a:p>
          <a:p>
            <a:pPr>
              <a:spcBef>
                <a:spcPts val="0"/>
              </a:spcBef>
              <a:spcAft>
                <a:spcPts val="0"/>
              </a:spcAft>
            </a:pPr>
            <a:r>
              <a:rPr sz="100">
                <a:solidFill>
                  <a:srgbClr val="FFFFFF"/>
                </a:solidFill>
                <a:latin typeface="Noto Sans"/>
              </a:rPr>
              <a:t>4.7%</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3.4%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Figura F.3.</a:t>
            </a:r>
          </a:p>
          <a:p>
            <a:pPr>
              <a:spcBef>
                <a:spcPts val="0"/>
              </a:spcBef>
              <a:spcAft>
                <a:spcPts val="0"/>
              </a:spcAft>
            </a:pPr>
            <a:r>
              <a:rPr sz="100">
                <a:solidFill>
                  <a:srgbClr val="FFFFFF"/>
                </a:solidFill>
                <a:latin typeface="Noto Sans"/>
              </a:rPr>
              <a:t>Porcentaje de la población de 12 años y más que vivió ciberacoso por entidad federativa</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3" descr="Figura F.3. SVG vectorial sin respaldo raster"/>
          <p:cNvPicPr>
            <a:picLocks noChangeAspect="1"/>
          </p:cNvPicPr>
          <p:nvPr/>
        </p:nvPicPr>
        <p:blipFill>
          <a:blip r:embed="rId2"/>
          <a:stretch>
            <a:fillRect/>
          </a:stretch>
        </p:blipFill>
        <p:spPr>
          <a:xfrm>
            <a:off x="3357372" y="1336454"/>
            <a:ext cx="5279136" cy="2804541"/>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87</a:t>
            </a:r>
          </a:p>
        </p:txBody>
      </p:sp>
    </p:spTree>
  </p:cSld>
  <p:clrMapOvr>
    <a:masterClrMapping/>
  </p:clrMapOvr>
</p:sld>
</file>

<file path=ppt/slides/slide8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4" descr="ANUARIO_FIGURE_ID=F.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F.4</a:t>
            </a:r>
          </a:p>
          <a:p>
            <a:pPr>
              <a:spcBef>
                <a:spcPts val="0"/>
              </a:spcBef>
              <a:spcAft>
                <a:spcPts val="600"/>
              </a:spcAft>
            </a:pPr>
            <a:r>
              <a:rPr sz="950" b="1">
                <a:solidFill>
                  <a:srgbClr val="203634"/>
                </a:solidFill>
                <a:latin typeface="Noto Sans"/>
              </a:rPr>
              <a:t>PORCENTAJE DE LA POBLACIÓN DE 12 AÑOS Y MÁS QUE VIVIÓ CIBERACOSO POR ENTIDAD FEDERATIVA Y SEXO</a:t>
            </a:r>
          </a:p>
          <a:p>
            <a:pPr>
              <a:lnSpc>
                <a:spcPct val="100000"/>
              </a:lnSpc>
              <a:spcBef>
                <a:spcPts val="0"/>
              </a:spcBef>
              <a:spcAft>
                <a:spcPts val="400"/>
              </a:spcAft>
            </a:pPr>
            <a:r>
              <a:rPr sz="760" b="0">
                <a:solidFill>
                  <a:srgbClr val="434343"/>
                </a:solidFill>
                <a:latin typeface="Noto Sans"/>
              </a:rPr>
              <a:t>Al realizar un análisis segmentado por entidad federativa y sexo, se observa que las entidades federativas que tuvieron el mayor porcentaje de mujeres de 12 años y más que vivieron alguna situación de ciberacoso en los últimos 12 meses fueron el Estado de México con el 13.8%, Ciudad de México con 10.0% y Jalisco con el 8.1%. De igual forma, los estados que tuvieron el mayor porcentaje de hombres de 12 años y más que sufrieron ciberacoso fueron el Estado de México con el 12.0%, Ciudad de México con 9.2% y Jalisco con 8.2%.</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4" descr="ANUARIO_FIGURE_ID=F.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4" descr="Capa accesible con el texto del SVG de la figura F.4"/>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F.4</a:t>
            </a:r>
          </a:p>
          <a:p>
            <a:pPr>
              <a:spcBef>
                <a:spcPts val="0"/>
              </a:spcBef>
              <a:spcAft>
                <a:spcPts val="0"/>
              </a:spcAft>
            </a:pPr>
            <a:r>
              <a:rPr sz="100">
                <a:solidFill>
                  <a:srgbClr val="FFFFFF"/>
                </a:solidFill>
                <a:latin typeface="Noto Sans"/>
              </a:rPr>
              <a:t>Aguascalientes</a:t>
            </a:r>
          </a:p>
          <a:p>
            <a:pPr>
              <a:spcBef>
                <a:spcPts val="0"/>
              </a:spcBef>
              <a:spcAft>
                <a:spcPts val="0"/>
              </a:spcAft>
            </a:pPr>
            <a:r>
              <a:rPr sz="100">
                <a:solidFill>
                  <a:srgbClr val="FFFFFF"/>
                </a:solidFill>
                <a:latin typeface="Noto Sans"/>
              </a:rPr>
              <a:t>Baja California</a:t>
            </a:r>
          </a:p>
          <a:p>
            <a:pPr>
              <a:spcBef>
                <a:spcPts val="0"/>
              </a:spcBef>
              <a:spcAft>
                <a:spcPts val="0"/>
              </a:spcAft>
            </a:pPr>
            <a:r>
              <a:rPr sz="100">
                <a:solidFill>
                  <a:srgbClr val="FFFFFF"/>
                </a:solidFill>
                <a:latin typeface="Noto Sans"/>
              </a:rPr>
              <a:t>Baja California Sur</a:t>
            </a:r>
          </a:p>
          <a:p>
            <a:pPr>
              <a:spcBef>
                <a:spcPts val="0"/>
              </a:spcBef>
              <a:spcAft>
                <a:spcPts val="0"/>
              </a:spcAft>
            </a:pPr>
            <a:r>
              <a:rPr sz="100">
                <a:solidFill>
                  <a:srgbClr val="FFFFFF"/>
                </a:solidFill>
                <a:latin typeface="Noto Sans"/>
              </a:rPr>
              <a:t>Campeche</a:t>
            </a:r>
          </a:p>
          <a:p>
            <a:pPr>
              <a:spcBef>
                <a:spcPts val="0"/>
              </a:spcBef>
              <a:spcAft>
                <a:spcPts val="0"/>
              </a:spcAft>
            </a:pPr>
            <a:r>
              <a:rPr sz="100">
                <a:solidFill>
                  <a:srgbClr val="FFFFFF"/>
                </a:solidFill>
                <a:latin typeface="Noto Sans"/>
              </a:rPr>
              <a:t>Chiapas</a:t>
            </a:r>
          </a:p>
          <a:p>
            <a:pPr>
              <a:spcBef>
                <a:spcPts val="0"/>
              </a:spcBef>
              <a:spcAft>
                <a:spcPts val="0"/>
              </a:spcAft>
            </a:pPr>
            <a:r>
              <a:rPr sz="100">
                <a:solidFill>
                  <a:srgbClr val="FFFFFF"/>
                </a:solidFill>
                <a:latin typeface="Noto Sans"/>
              </a:rPr>
              <a:t>Chihuahua</a:t>
            </a:r>
          </a:p>
          <a:p>
            <a:pPr>
              <a:spcBef>
                <a:spcPts val="0"/>
              </a:spcBef>
              <a:spcAft>
                <a:spcPts val="0"/>
              </a:spcAft>
            </a:pPr>
            <a:r>
              <a:rPr sz="100">
                <a:solidFill>
                  <a:srgbClr val="FFFFFF"/>
                </a:solidFill>
                <a:latin typeface="Noto Sans"/>
              </a:rPr>
              <a:t>Ciudad de Mexico</a:t>
            </a:r>
          </a:p>
          <a:p>
            <a:pPr>
              <a:spcBef>
                <a:spcPts val="0"/>
              </a:spcBef>
              <a:spcAft>
                <a:spcPts val="0"/>
              </a:spcAft>
            </a:pPr>
            <a:r>
              <a:rPr sz="100">
                <a:solidFill>
                  <a:srgbClr val="FFFFFF"/>
                </a:solidFill>
                <a:latin typeface="Noto Sans"/>
              </a:rPr>
              <a:t>Coahuila de Zaragoza</a:t>
            </a:r>
          </a:p>
          <a:p>
            <a:pPr>
              <a:spcBef>
                <a:spcPts val="0"/>
              </a:spcBef>
              <a:spcAft>
                <a:spcPts val="0"/>
              </a:spcAft>
            </a:pPr>
            <a:r>
              <a:rPr sz="100">
                <a:solidFill>
                  <a:srgbClr val="FFFFFF"/>
                </a:solidFill>
                <a:latin typeface="Noto Sans"/>
              </a:rPr>
              <a:t>Colima</a:t>
            </a:r>
          </a:p>
          <a:p>
            <a:pPr>
              <a:spcBef>
                <a:spcPts val="0"/>
              </a:spcBef>
              <a:spcAft>
                <a:spcPts val="0"/>
              </a:spcAft>
            </a:pPr>
            <a:r>
              <a:rPr sz="100">
                <a:solidFill>
                  <a:srgbClr val="FFFFFF"/>
                </a:solidFill>
                <a:latin typeface="Noto Sans"/>
              </a:rPr>
              <a:t>Durango</a:t>
            </a:r>
          </a:p>
          <a:p>
            <a:pPr>
              <a:spcBef>
                <a:spcPts val="0"/>
              </a:spcBef>
              <a:spcAft>
                <a:spcPts val="0"/>
              </a:spcAft>
            </a:pPr>
            <a:r>
              <a:rPr sz="100">
                <a:solidFill>
                  <a:srgbClr val="FFFFFF"/>
                </a:solidFill>
                <a:latin typeface="Noto Sans"/>
              </a:rPr>
              <a:t>Guanajuato</a:t>
            </a:r>
          </a:p>
          <a:p>
            <a:pPr>
              <a:spcBef>
                <a:spcPts val="0"/>
              </a:spcBef>
              <a:spcAft>
                <a:spcPts val="0"/>
              </a:spcAft>
            </a:pPr>
            <a:r>
              <a:rPr sz="100">
                <a:solidFill>
                  <a:srgbClr val="FFFFFF"/>
                </a:solidFill>
                <a:latin typeface="Noto Sans"/>
              </a:rPr>
              <a:t>Guerrero</a:t>
            </a:r>
          </a:p>
          <a:p>
            <a:pPr>
              <a:spcBef>
                <a:spcPts val="0"/>
              </a:spcBef>
              <a:spcAft>
                <a:spcPts val="0"/>
              </a:spcAft>
            </a:pPr>
            <a:r>
              <a:rPr sz="100">
                <a:solidFill>
                  <a:srgbClr val="FFFFFF"/>
                </a:solidFill>
                <a:latin typeface="Noto Sans"/>
              </a:rPr>
              <a:t>Hidalgo</a:t>
            </a:r>
          </a:p>
          <a:p>
            <a:pPr>
              <a:spcBef>
                <a:spcPts val="0"/>
              </a:spcBef>
              <a:spcAft>
                <a:spcPts val="0"/>
              </a:spcAft>
            </a:pPr>
            <a:r>
              <a:rPr sz="100">
                <a:solidFill>
                  <a:srgbClr val="FFFFFF"/>
                </a:solidFill>
                <a:latin typeface="Noto Sans"/>
              </a:rPr>
              <a:t>Jalisco</a:t>
            </a:r>
          </a:p>
          <a:p>
            <a:pPr>
              <a:spcBef>
                <a:spcPts val="0"/>
              </a:spcBef>
              <a:spcAft>
                <a:spcPts val="0"/>
              </a:spcAft>
            </a:pPr>
            <a:r>
              <a:rPr sz="100">
                <a:solidFill>
                  <a:srgbClr val="FFFFFF"/>
                </a:solidFill>
                <a:latin typeface="Noto Sans"/>
              </a:rPr>
              <a:t>Mexico</a:t>
            </a:r>
          </a:p>
          <a:p>
            <a:pPr>
              <a:spcBef>
                <a:spcPts val="0"/>
              </a:spcBef>
              <a:spcAft>
                <a:spcPts val="0"/>
              </a:spcAft>
            </a:pPr>
            <a:r>
              <a:rPr sz="100">
                <a:solidFill>
                  <a:srgbClr val="FFFFFF"/>
                </a:solidFill>
                <a:latin typeface="Noto Sans"/>
              </a:rPr>
              <a:t>Michoacan de Ocampo</a:t>
            </a:r>
          </a:p>
          <a:p>
            <a:pPr>
              <a:spcBef>
                <a:spcPts val="0"/>
              </a:spcBef>
              <a:spcAft>
                <a:spcPts val="0"/>
              </a:spcAft>
            </a:pPr>
            <a:r>
              <a:rPr sz="100">
                <a:solidFill>
                  <a:srgbClr val="FFFFFF"/>
                </a:solidFill>
                <a:latin typeface="Noto Sans"/>
              </a:rPr>
              <a:t>Morelos</a:t>
            </a:r>
          </a:p>
          <a:p>
            <a:pPr>
              <a:spcBef>
                <a:spcPts val="0"/>
              </a:spcBef>
              <a:spcAft>
                <a:spcPts val="0"/>
              </a:spcAft>
            </a:pPr>
            <a:r>
              <a:rPr sz="100">
                <a:solidFill>
                  <a:srgbClr val="FFFFFF"/>
                </a:solidFill>
                <a:latin typeface="Noto Sans"/>
              </a:rPr>
              <a:t>Nayarit</a:t>
            </a:r>
          </a:p>
          <a:p>
            <a:pPr>
              <a:spcBef>
                <a:spcPts val="0"/>
              </a:spcBef>
              <a:spcAft>
                <a:spcPts val="0"/>
              </a:spcAft>
            </a:pPr>
            <a:r>
              <a:rPr sz="100">
                <a:solidFill>
                  <a:srgbClr val="FFFFFF"/>
                </a:solidFill>
                <a:latin typeface="Noto Sans"/>
              </a:rPr>
              <a:t>Nuevo Leon</a:t>
            </a:r>
          </a:p>
          <a:p>
            <a:pPr>
              <a:spcBef>
                <a:spcPts val="0"/>
              </a:spcBef>
              <a:spcAft>
                <a:spcPts val="0"/>
              </a:spcAft>
            </a:pPr>
            <a:r>
              <a:rPr sz="100">
                <a:solidFill>
                  <a:srgbClr val="FFFFFF"/>
                </a:solidFill>
                <a:latin typeface="Noto Sans"/>
              </a:rPr>
              <a:t>Oaxaca</a:t>
            </a:r>
          </a:p>
          <a:p>
            <a:pPr>
              <a:spcBef>
                <a:spcPts val="0"/>
              </a:spcBef>
              <a:spcAft>
                <a:spcPts val="0"/>
              </a:spcAft>
            </a:pPr>
            <a:r>
              <a:rPr sz="100">
                <a:solidFill>
                  <a:srgbClr val="FFFFFF"/>
                </a:solidFill>
                <a:latin typeface="Noto Sans"/>
              </a:rPr>
              <a:t>Puebla</a:t>
            </a:r>
          </a:p>
          <a:p>
            <a:pPr>
              <a:spcBef>
                <a:spcPts val="0"/>
              </a:spcBef>
              <a:spcAft>
                <a:spcPts val="0"/>
              </a:spcAft>
            </a:pPr>
            <a:r>
              <a:rPr sz="100">
                <a:solidFill>
                  <a:srgbClr val="FFFFFF"/>
                </a:solidFill>
                <a:latin typeface="Noto Sans"/>
              </a:rPr>
              <a:t>Queretaro</a:t>
            </a:r>
          </a:p>
          <a:p>
            <a:pPr>
              <a:spcBef>
                <a:spcPts val="0"/>
              </a:spcBef>
              <a:spcAft>
                <a:spcPts val="0"/>
              </a:spcAft>
            </a:pPr>
            <a:r>
              <a:rPr sz="100">
                <a:solidFill>
                  <a:srgbClr val="FFFFFF"/>
                </a:solidFill>
                <a:latin typeface="Noto Sans"/>
              </a:rPr>
              <a:t>Quintana Roo</a:t>
            </a:r>
          </a:p>
          <a:p>
            <a:pPr>
              <a:spcBef>
                <a:spcPts val="0"/>
              </a:spcBef>
              <a:spcAft>
                <a:spcPts val="0"/>
              </a:spcAft>
            </a:pPr>
            <a:r>
              <a:rPr sz="100">
                <a:solidFill>
                  <a:srgbClr val="FFFFFF"/>
                </a:solidFill>
                <a:latin typeface="Noto Sans"/>
              </a:rPr>
              <a:t>San Luis Potosi</a:t>
            </a:r>
          </a:p>
          <a:p>
            <a:pPr>
              <a:spcBef>
                <a:spcPts val="0"/>
              </a:spcBef>
              <a:spcAft>
                <a:spcPts val="0"/>
              </a:spcAft>
            </a:pPr>
            <a:r>
              <a:rPr sz="100">
                <a:solidFill>
                  <a:srgbClr val="FFFFFF"/>
                </a:solidFill>
                <a:latin typeface="Noto Sans"/>
              </a:rPr>
              <a:t>Sinaloa</a:t>
            </a:r>
          </a:p>
          <a:p>
            <a:pPr>
              <a:spcBef>
                <a:spcPts val="0"/>
              </a:spcBef>
              <a:spcAft>
                <a:spcPts val="0"/>
              </a:spcAft>
            </a:pPr>
            <a:r>
              <a:rPr sz="100">
                <a:solidFill>
                  <a:srgbClr val="FFFFFF"/>
                </a:solidFill>
                <a:latin typeface="Noto Sans"/>
              </a:rPr>
              <a:t>Sonora</a:t>
            </a:r>
          </a:p>
          <a:p>
            <a:pPr>
              <a:spcBef>
                <a:spcPts val="0"/>
              </a:spcBef>
              <a:spcAft>
                <a:spcPts val="0"/>
              </a:spcAft>
            </a:pPr>
            <a:r>
              <a:rPr sz="100">
                <a:solidFill>
                  <a:srgbClr val="FFFFFF"/>
                </a:solidFill>
                <a:latin typeface="Noto Sans"/>
              </a:rPr>
              <a:t>Tabasco</a:t>
            </a:r>
          </a:p>
          <a:p>
            <a:pPr>
              <a:spcBef>
                <a:spcPts val="0"/>
              </a:spcBef>
              <a:spcAft>
                <a:spcPts val="0"/>
              </a:spcAft>
            </a:pPr>
            <a:r>
              <a:rPr sz="100">
                <a:solidFill>
                  <a:srgbClr val="FFFFFF"/>
                </a:solidFill>
                <a:latin typeface="Noto Sans"/>
              </a:rPr>
              <a:t>Tamaulipas</a:t>
            </a:r>
          </a:p>
          <a:p>
            <a:pPr>
              <a:spcBef>
                <a:spcPts val="0"/>
              </a:spcBef>
              <a:spcAft>
                <a:spcPts val="0"/>
              </a:spcAft>
            </a:pPr>
            <a:r>
              <a:rPr sz="100">
                <a:solidFill>
                  <a:srgbClr val="FFFFFF"/>
                </a:solidFill>
                <a:latin typeface="Noto Sans"/>
              </a:rPr>
              <a:t>Tlaxcala</a:t>
            </a:r>
          </a:p>
          <a:p>
            <a:pPr>
              <a:spcBef>
                <a:spcPts val="0"/>
              </a:spcBef>
              <a:spcAft>
                <a:spcPts val="0"/>
              </a:spcAft>
            </a:pPr>
            <a:r>
              <a:rPr sz="100">
                <a:solidFill>
                  <a:srgbClr val="FFFFFF"/>
                </a:solidFill>
                <a:latin typeface="Noto Sans"/>
              </a:rPr>
              <a:t>Veracruz de Ignacio de La Llave</a:t>
            </a:r>
          </a:p>
          <a:p>
            <a:pPr>
              <a:spcBef>
                <a:spcPts val="0"/>
              </a:spcBef>
              <a:spcAft>
                <a:spcPts val="0"/>
              </a:spcAft>
            </a:pPr>
            <a:r>
              <a:rPr sz="100">
                <a:solidFill>
                  <a:srgbClr val="FFFFFF"/>
                </a:solidFill>
                <a:latin typeface="Noto Sans"/>
              </a:rPr>
              <a:t>Yucatan</a:t>
            </a:r>
          </a:p>
          <a:p>
            <a:pPr>
              <a:spcBef>
                <a:spcPts val="0"/>
              </a:spcBef>
              <a:spcAft>
                <a:spcPts val="0"/>
              </a:spcAft>
            </a:pPr>
            <a:r>
              <a:rPr sz="100">
                <a:solidFill>
                  <a:srgbClr val="FFFFFF"/>
                </a:solidFill>
                <a:latin typeface="Noto Sans"/>
              </a:rPr>
              <a:t>Zacatecas</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3.3%</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9.2%</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3.6%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8.2%</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4.8%</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2.4%</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6.1%</a:t>
            </a:r>
          </a:p>
          <a:p>
            <a:pPr>
              <a:spcBef>
                <a:spcPts val="0"/>
              </a:spcBef>
              <a:spcAft>
                <a:spcPts val="0"/>
              </a:spcAft>
            </a:pPr>
            <a:r>
              <a:rPr sz="100">
                <a:solidFill>
                  <a:srgbClr val="FFFFFF"/>
                </a:solidFill>
                <a:latin typeface="Noto Sans"/>
              </a:rPr>
              <a:t>1.7%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0.7%</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3.2%</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8.1%</a:t>
            </a:r>
          </a:p>
          <a:p>
            <a:pPr>
              <a:spcBef>
                <a:spcPts val="0"/>
              </a:spcBef>
              <a:spcAft>
                <a:spcPts val="0"/>
              </a:spcAft>
            </a:pPr>
            <a:r>
              <a:rPr sz="100">
                <a:solidFill>
                  <a:srgbClr val="FFFFFF"/>
                </a:solidFill>
                <a:latin typeface="Noto Sans"/>
              </a:rPr>
              <a:t>13.8%</a:t>
            </a:r>
          </a:p>
          <a:p>
            <a:pPr>
              <a:spcBef>
                <a:spcPts val="0"/>
              </a:spcBef>
              <a:spcAft>
                <a:spcPts val="0"/>
              </a:spcAft>
            </a:pPr>
            <a:r>
              <a:rPr sz="100">
                <a:solidFill>
                  <a:srgbClr val="FFFFFF"/>
                </a:solidFill>
                <a:latin typeface="Noto Sans"/>
              </a:rPr>
              <a:t>4.6%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4.5%</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2.3%</a:t>
            </a:r>
          </a:p>
          <a:p>
            <a:pPr>
              <a:spcBef>
                <a:spcPts val="0"/>
              </a:spcBef>
              <a:spcAft>
                <a:spcPts val="0"/>
              </a:spcAft>
            </a:pPr>
            <a:r>
              <a:rPr sz="100">
                <a:solidFill>
                  <a:srgbClr val="FFFFFF"/>
                </a:solidFill>
                <a:latin typeface="Noto Sans"/>
              </a:rPr>
              <a:t>1.9%</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1.8%</a:t>
            </a:r>
          </a:p>
          <a:p>
            <a:pPr>
              <a:spcBef>
                <a:spcPts val="0"/>
              </a:spcBef>
              <a:spcAft>
                <a:spcPts val="0"/>
              </a:spcAft>
            </a:pPr>
            <a:r>
              <a:rPr sz="100">
                <a:solidFill>
                  <a:srgbClr val="FFFFFF"/>
                </a:solidFill>
                <a:latin typeface="Noto Sans"/>
              </a:rPr>
              <a:t>2.1%</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1.6%</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Figura F.4.</a:t>
            </a:r>
          </a:p>
          <a:p>
            <a:pPr>
              <a:spcBef>
                <a:spcPts val="0"/>
              </a:spcBef>
              <a:spcAft>
                <a:spcPts val="0"/>
              </a:spcAft>
            </a:pPr>
            <a:r>
              <a:rPr sz="100">
                <a:solidFill>
                  <a:srgbClr val="FFFFFF"/>
                </a:solidFill>
                <a:latin typeface="Noto Sans"/>
              </a:rPr>
              <a:t>Porcentaje de la población de 12 años y más que vivió ciberacoso por entidad federativa y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p:txBody>
      </p:sp>
      <p:pic>
        <p:nvPicPr>
          <p:cNvPr id="223" name="ANUARIO_IMAGE_F_4" descr="Figura F.4.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88</a:t>
            </a:r>
          </a:p>
        </p:txBody>
      </p:sp>
    </p:spTree>
  </p:cSld>
  <p:clrMapOvr>
    <a:masterClrMapping/>
  </p:clrMapOvr>
</p:sld>
</file>

<file path=ppt/slides/slide8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5" descr="ANUARIO_FIGURE_ID=F.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F.5</a:t>
            </a:r>
          </a:p>
          <a:p>
            <a:pPr>
              <a:spcBef>
                <a:spcPts val="0"/>
              </a:spcBef>
              <a:spcAft>
                <a:spcPts val="600"/>
              </a:spcAft>
            </a:pPr>
            <a:r>
              <a:rPr sz="950" b="1">
                <a:solidFill>
                  <a:srgbClr val="203634"/>
                </a:solidFill>
                <a:latin typeface="Noto Sans"/>
              </a:rPr>
              <a:t>PORCENTAJE DE LA POBLACIÓN QUE VIVIÓ CIBERACOSO POR SEXO Y RANGO DE EDAD</a:t>
            </a:r>
          </a:p>
          <a:p>
            <a:pPr>
              <a:lnSpc>
                <a:spcPct val="100000"/>
              </a:lnSpc>
              <a:spcBef>
                <a:spcPts val="0"/>
              </a:spcBef>
              <a:spcAft>
                <a:spcPts val="400"/>
              </a:spcAft>
            </a:pPr>
            <a:r>
              <a:rPr sz="760" b="0">
                <a:solidFill>
                  <a:srgbClr val="434343"/>
                </a:solidFill>
                <a:latin typeface="Noto Sans"/>
              </a:rPr>
              <a:t>Entre las personas víctimas de ciberacoso en los últimos 12 meses por rango de edad, se destaca que aquellas de 20 a 29 años son las que han tenido un mayor porcentaje de ciberacoso (25.1% mujeres y 24.5% hombres). En el grupo de personas de 12 a 19 años los porcentajes fueron 20.4% en mujeres y 20.0% en hombres. Por el contrario, el 6.9% de las mujeres y el 8.9% de los hombres con más de 60 años, resultaron ser los de menor porcentaje en cuanto a ser víctimas de ciberacoso.</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5" descr="ANUARIO_FIGURE_ID=F.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5" descr="Capa accesible con el texto del SVG de la figura F.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F.5</a:t>
            </a:r>
          </a:p>
          <a:p>
            <a:pPr>
              <a:spcBef>
                <a:spcPts val="0"/>
              </a:spcBef>
              <a:spcAft>
                <a:spcPts val="0"/>
              </a:spcAft>
            </a:pPr>
            <a:r>
              <a:rPr sz="100">
                <a:solidFill>
                  <a:srgbClr val="FFFFFF"/>
                </a:solidFill>
                <a:latin typeface="Noto Sans"/>
              </a:rPr>
              <a:t>De 12 a</a:t>
            </a:r>
          </a:p>
          <a:p>
            <a:pPr>
              <a:spcBef>
                <a:spcPts val="0"/>
              </a:spcBef>
              <a:spcAft>
                <a:spcPts val="0"/>
              </a:spcAft>
            </a:pPr>
            <a:r>
              <a:rPr sz="100">
                <a:solidFill>
                  <a:srgbClr val="FFFFFF"/>
                </a:solidFill>
                <a:latin typeface="Noto Sans"/>
              </a:rPr>
              <a:t>19 años</a:t>
            </a:r>
          </a:p>
          <a:p>
            <a:pPr>
              <a:spcBef>
                <a:spcPts val="0"/>
              </a:spcBef>
              <a:spcAft>
                <a:spcPts val="0"/>
              </a:spcAft>
            </a:pPr>
            <a:r>
              <a:rPr sz="100">
                <a:solidFill>
                  <a:srgbClr val="FFFFFF"/>
                </a:solidFill>
                <a:latin typeface="Noto Sans"/>
              </a:rPr>
              <a:t>De 20 a</a:t>
            </a:r>
          </a:p>
          <a:p>
            <a:pPr>
              <a:spcBef>
                <a:spcPts val="0"/>
              </a:spcBef>
              <a:spcAft>
                <a:spcPts val="0"/>
              </a:spcAft>
            </a:pPr>
            <a:r>
              <a:rPr sz="100">
                <a:solidFill>
                  <a:srgbClr val="FFFFFF"/>
                </a:solidFill>
                <a:latin typeface="Noto Sans"/>
              </a:rPr>
              <a:t>29 años</a:t>
            </a:r>
          </a:p>
          <a:p>
            <a:pPr>
              <a:spcBef>
                <a:spcPts val="0"/>
              </a:spcBef>
              <a:spcAft>
                <a:spcPts val="0"/>
              </a:spcAft>
            </a:pPr>
            <a:r>
              <a:rPr sz="100">
                <a:solidFill>
                  <a:srgbClr val="FFFFFF"/>
                </a:solidFill>
                <a:latin typeface="Noto Sans"/>
              </a:rPr>
              <a:t>De 30 a</a:t>
            </a:r>
          </a:p>
          <a:p>
            <a:pPr>
              <a:spcBef>
                <a:spcPts val="0"/>
              </a:spcBef>
              <a:spcAft>
                <a:spcPts val="0"/>
              </a:spcAft>
            </a:pPr>
            <a:r>
              <a:rPr sz="100">
                <a:solidFill>
                  <a:srgbClr val="FFFFFF"/>
                </a:solidFill>
                <a:latin typeface="Noto Sans"/>
              </a:rPr>
              <a:t>39 años</a:t>
            </a:r>
          </a:p>
          <a:p>
            <a:pPr>
              <a:spcBef>
                <a:spcPts val="0"/>
              </a:spcBef>
              <a:spcAft>
                <a:spcPts val="0"/>
              </a:spcAft>
            </a:pPr>
            <a:r>
              <a:rPr sz="100">
                <a:solidFill>
                  <a:srgbClr val="FFFFFF"/>
                </a:solidFill>
                <a:latin typeface="Noto Sans"/>
              </a:rPr>
              <a:t>De 40 a</a:t>
            </a:r>
          </a:p>
          <a:p>
            <a:pPr>
              <a:spcBef>
                <a:spcPts val="0"/>
              </a:spcBef>
              <a:spcAft>
                <a:spcPts val="0"/>
              </a:spcAft>
            </a:pPr>
            <a:r>
              <a:rPr sz="100">
                <a:solidFill>
                  <a:srgbClr val="FFFFFF"/>
                </a:solidFill>
                <a:latin typeface="Noto Sans"/>
              </a:rPr>
              <a:t>49 años</a:t>
            </a:r>
          </a:p>
          <a:p>
            <a:pPr>
              <a:spcBef>
                <a:spcPts val="0"/>
              </a:spcBef>
              <a:spcAft>
                <a:spcPts val="0"/>
              </a:spcAft>
            </a:pPr>
            <a:r>
              <a:rPr sz="100">
                <a:solidFill>
                  <a:srgbClr val="FFFFFF"/>
                </a:solidFill>
                <a:latin typeface="Noto Sans"/>
              </a:rPr>
              <a:t>De 50 a</a:t>
            </a:r>
          </a:p>
          <a:p>
            <a:pPr>
              <a:spcBef>
                <a:spcPts val="0"/>
              </a:spcBef>
              <a:spcAft>
                <a:spcPts val="0"/>
              </a:spcAft>
            </a:pPr>
            <a:r>
              <a:rPr sz="100">
                <a:solidFill>
                  <a:srgbClr val="FFFFFF"/>
                </a:solidFill>
                <a:latin typeface="Noto Sans"/>
              </a:rPr>
              <a:t>59 años</a:t>
            </a:r>
          </a:p>
          <a:p>
            <a:pPr>
              <a:spcBef>
                <a:spcPts val="0"/>
              </a:spcBef>
              <a:spcAft>
                <a:spcPts val="0"/>
              </a:spcAft>
            </a:pPr>
            <a:r>
              <a:rPr sz="100">
                <a:solidFill>
                  <a:srgbClr val="FFFFFF"/>
                </a:solidFill>
                <a:latin typeface="Noto Sans"/>
              </a:rPr>
              <a:t>De 60 años</a:t>
            </a:r>
          </a:p>
          <a:p>
            <a:pPr>
              <a:spcBef>
                <a:spcPts val="0"/>
              </a:spcBef>
              <a:spcAft>
                <a:spcPts val="0"/>
              </a:spcAft>
            </a:pPr>
            <a:r>
              <a:rPr sz="100">
                <a:solidFill>
                  <a:srgbClr val="FFFFFF"/>
                </a:solidFill>
                <a:latin typeface="Noto Sans"/>
              </a:rPr>
              <a:t>y más</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25.1%</a:t>
            </a:r>
          </a:p>
          <a:p>
            <a:pPr>
              <a:spcBef>
                <a:spcPts val="0"/>
              </a:spcBef>
              <a:spcAft>
                <a:spcPts val="0"/>
              </a:spcAft>
            </a:pPr>
            <a:r>
              <a:rPr sz="100">
                <a:solidFill>
                  <a:srgbClr val="FFFFFF"/>
                </a:solidFill>
                <a:latin typeface="Noto Sans"/>
              </a:rPr>
              <a:t>22.3%</a:t>
            </a:r>
          </a:p>
          <a:p>
            <a:pPr>
              <a:spcBef>
                <a:spcPts val="0"/>
              </a:spcBef>
              <a:spcAft>
                <a:spcPts val="0"/>
              </a:spcAft>
            </a:pPr>
            <a:r>
              <a:rPr sz="100">
                <a:solidFill>
                  <a:srgbClr val="FFFFFF"/>
                </a:solidFill>
                <a:latin typeface="Noto Sans"/>
              </a:rPr>
              <a:t>15.8%</a:t>
            </a:r>
          </a:p>
          <a:p>
            <a:pPr>
              <a:spcBef>
                <a:spcPts val="0"/>
              </a:spcBef>
              <a:spcAft>
                <a:spcPts val="0"/>
              </a:spcAft>
            </a:pPr>
            <a:r>
              <a:rPr sz="100">
                <a:solidFill>
                  <a:srgbClr val="FFFFFF"/>
                </a:solidFill>
                <a:latin typeface="Noto Sans"/>
              </a:rPr>
              <a:t>9.6%</a:t>
            </a:r>
          </a:p>
          <a:p>
            <a:pPr>
              <a:spcBef>
                <a:spcPts val="0"/>
              </a:spcBef>
              <a:spcAft>
                <a:spcPts val="0"/>
              </a:spcAft>
            </a:pPr>
            <a:r>
              <a:rPr sz="100">
                <a:solidFill>
                  <a:srgbClr val="FFFFFF"/>
                </a:solidFill>
                <a:latin typeface="Noto Sans"/>
              </a:rPr>
              <a:t>6.9%</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24.5%</a:t>
            </a:r>
          </a:p>
          <a:p>
            <a:pPr>
              <a:spcBef>
                <a:spcPts val="0"/>
              </a:spcBef>
              <a:spcAft>
                <a:spcPts val="0"/>
              </a:spcAft>
            </a:pPr>
            <a:r>
              <a:rPr sz="100">
                <a:solidFill>
                  <a:srgbClr val="FFFFFF"/>
                </a:solidFill>
                <a:latin typeface="Noto Sans"/>
              </a:rPr>
              <a:t>19.8%</a:t>
            </a:r>
          </a:p>
          <a:p>
            <a:pPr>
              <a:spcBef>
                <a:spcPts val="0"/>
              </a:spcBef>
              <a:spcAft>
                <a:spcPts val="0"/>
              </a:spcAft>
            </a:pPr>
            <a:r>
              <a:rPr sz="100">
                <a:solidFill>
                  <a:srgbClr val="FFFFFF"/>
                </a:solidFill>
                <a:latin typeface="Noto Sans"/>
              </a:rPr>
              <a:t>16.2%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8.9%</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F.5.</a:t>
            </a:r>
          </a:p>
          <a:p>
            <a:pPr>
              <a:spcBef>
                <a:spcPts val="0"/>
              </a:spcBef>
              <a:spcAft>
                <a:spcPts val="0"/>
              </a:spcAft>
            </a:pPr>
            <a:r>
              <a:rPr sz="100">
                <a:solidFill>
                  <a:srgbClr val="FFFFFF"/>
                </a:solidFill>
                <a:latin typeface="Noto Sans"/>
              </a:rPr>
              <a:t>Porcentaje de la población que vivió ciberacoso por sexo y rango de edad</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5" descr="Figura F.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89</a:t>
            </a:r>
          </a:p>
        </p:txBody>
      </p:sp>
    </p:spTree>
  </p:cSld>
  <p:clrMapOvr>
    <a:masterClrMapping/>
  </p:clrMapOvr>
</p:sld>
</file>

<file path=ppt/slides/slide9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6" descr="ANUARIO_FIGURE_ID=F.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F.6</a:t>
            </a:r>
          </a:p>
          <a:p>
            <a:pPr>
              <a:spcBef>
                <a:spcPts val="0"/>
              </a:spcBef>
              <a:spcAft>
                <a:spcPts val="600"/>
              </a:spcAft>
            </a:pPr>
            <a:r>
              <a:rPr sz="950" b="1">
                <a:solidFill>
                  <a:srgbClr val="203634"/>
                </a:solidFill>
                <a:latin typeface="Noto Sans"/>
              </a:rPr>
              <a:t>DISTRIBUCIÓN DE LAS SITUACIONES DE CIBERACOSO EXPERIMENTADAS POR SEXO</a:t>
            </a:r>
          </a:p>
          <a:p>
            <a:pPr>
              <a:lnSpc>
                <a:spcPct val="100000"/>
              </a:lnSpc>
              <a:spcBef>
                <a:spcPts val="0"/>
              </a:spcBef>
              <a:spcAft>
                <a:spcPts val="400"/>
              </a:spcAft>
            </a:pPr>
            <a:r>
              <a:rPr sz="760" b="0">
                <a:solidFill>
                  <a:srgbClr val="434343"/>
                </a:solidFill>
                <a:latin typeface="Noto Sans"/>
              </a:rPr>
              <a:t>De las situaciones de ciberacoso experimentadas por la población, el contacto mediante identidades falsas fue la situación que más vivieron las mujeres con el 36.8%, seguido de mensajes ofensivos con el 30.8% e insinuaciones o propuestas sexuales con el 25.2%. Por otro lado, los hombres experimentaron situaciones de ciberacoso a través del contacto mediante identidades falsas con el 37.8%, seguido de los mensajes ofensivos con el 35.0% y llamadas ofensivas con el 27.3%. La situación con menor porcentaje que vivieron tanto mujeres como hombres fue publicar o vender imágenes o vídeos de contenido sexual (3.1% y 2.6%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6" descr="ANUARIO_FIGURE_ID=F.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6" descr="Capa accesible con el texto del SVG de la figura F.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F.6</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25.0%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Otra situación</a:t>
            </a:r>
          </a:p>
          <a:p>
            <a:pPr>
              <a:spcBef>
                <a:spcPts val="0"/>
              </a:spcBef>
              <a:spcAft>
                <a:spcPts val="0"/>
              </a:spcAft>
            </a:pPr>
            <a:r>
              <a:rPr sz="100">
                <a:solidFill>
                  <a:srgbClr val="FFFFFF"/>
                </a:solidFill>
                <a:latin typeface="Noto Sans"/>
              </a:rPr>
              <a:t>Publicar o vender imágenes o videos de</a:t>
            </a:r>
          </a:p>
          <a:p>
            <a:pPr>
              <a:spcBef>
                <a:spcPts val="0"/>
              </a:spcBef>
              <a:spcAft>
                <a:spcPts val="0"/>
              </a:spcAft>
            </a:pPr>
            <a:r>
              <a:rPr sz="100">
                <a:solidFill>
                  <a:srgbClr val="FFFFFF"/>
                </a:solidFill>
                <a:latin typeface="Noto Sans"/>
              </a:rPr>
              <a:t>contenido sexual</a:t>
            </a:r>
          </a:p>
          <a:p>
            <a:pPr>
              <a:spcBef>
                <a:spcPts val="0"/>
              </a:spcBef>
              <a:spcAft>
                <a:spcPts val="0"/>
              </a:spcAft>
            </a:pPr>
            <a:r>
              <a:rPr sz="100">
                <a:solidFill>
                  <a:srgbClr val="FFFFFF"/>
                </a:solidFill>
                <a:latin typeface="Noto Sans"/>
              </a:rPr>
              <a:t>Publicar y/o enviar información</a:t>
            </a:r>
          </a:p>
          <a:p>
            <a:pPr>
              <a:spcBef>
                <a:spcPts val="0"/>
              </a:spcBef>
              <a:spcAft>
                <a:spcPts val="0"/>
              </a:spcAft>
            </a:pPr>
            <a:r>
              <a:rPr sz="100">
                <a:solidFill>
                  <a:srgbClr val="FFFFFF"/>
                </a:solidFill>
                <a:latin typeface="Noto Sans"/>
              </a:rPr>
              <a:t>personal, fotos o videos</a:t>
            </a:r>
          </a:p>
          <a:p>
            <a:pPr>
              <a:spcBef>
                <a:spcPts val="0"/>
              </a:spcBef>
              <a:spcAft>
                <a:spcPts val="0"/>
              </a:spcAft>
            </a:pPr>
            <a:r>
              <a:rPr sz="100">
                <a:solidFill>
                  <a:srgbClr val="FFFFFF"/>
                </a:solidFill>
                <a:latin typeface="Noto Sans"/>
              </a:rPr>
              <a:t>Amenazar con publicar información</a:t>
            </a:r>
          </a:p>
          <a:p>
            <a:pPr>
              <a:spcBef>
                <a:spcPts val="0"/>
              </a:spcBef>
              <a:spcAft>
                <a:spcPts val="0"/>
              </a:spcAft>
            </a:pPr>
            <a:r>
              <a:rPr sz="100">
                <a:solidFill>
                  <a:srgbClr val="FFFFFF"/>
                </a:solidFill>
                <a:latin typeface="Noto Sans"/>
              </a:rPr>
              <a:t>personal, audios o videos</a:t>
            </a:r>
          </a:p>
          <a:p>
            <a:pPr>
              <a:spcBef>
                <a:spcPts val="0"/>
              </a:spcBef>
              <a:spcAft>
                <a:spcPts val="0"/>
              </a:spcAft>
            </a:pPr>
            <a:r>
              <a:rPr sz="100">
                <a:solidFill>
                  <a:srgbClr val="FFFFFF"/>
                </a:solidFill>
                <a:latin typeface="Noto Sans"/>
              </a:rPr>
              <a:t>Críticas por apariencia o clase social</a:t>
            </a:r>
          </a:p>
          <a:p>
            <a:pPr>
              <a:spcBef>
                <a:spcPts val="0"/>
              </a:spcBef>
              <a:spcAft>
                <a:spcPts val="0"/>
              </a:spcAft>
            </a:pPr>
            <a:r>
              <a:rPr sz="100">
                <a:solidFill>
                  <a:srgbClr val="FFFFFF"/>
                </a:solidFill>
                <a:latin typeface="Noto Sans"/>
              </a:rPr>
              <a:t>Provocaciones para reaccionar de forma</a:t>
            </a:r>
          </a:p>
          <a:p>
            <a:pPr>
              <a:spcBef>
                <a:spcPts val="0"/>
              </a:spcBef>
              <a:spcAft>
                <a:spcPts val="0"/>
              </a:spcAft>
            </a:pPr>
            <a:r>
              <a:rPr sz="100">
                <a:solidFill>
                  <a:srgbClr val="FFFFFF"/>
                </a:solidFill>
                <a:latin typeface="Noto Sans"/>
              </a:rPr>
              <a:t>negativa</a:t>
            </a:r>
          </a:p>
          <a:p>
            <a:pPr>
              <a:spcBef>
                <a:spcPts val="0"/>
              </a:spcBef>
              <a:spcAft>
                <a:spcPts val="0"/>
              </a:spcAft>
            </a:pPr>
            <a:r>
              <a:rPr sz="100">
                <a:solidFill>
                  <a:srgbClr val="FFFFFF"/>
                </a:solidFill>
                <a:latin typeface="Noto Sans"/>
              </a:rPr>
              <a:t>Rastreo de cuentas o sitios web</a:t>
            </a:r>
          </a:p>
          <a:p>
            <a:pPr>
              <a:spcBef>
                <a:spcPts val="0"/>
              </a:spcBef>
              <a:spcAft>
                <a:spcPts val="0"/>
              </a:spcAft>
            </a:pPr>
            <a:r>
              <a:rPr sz="100">
                <a:solidFill>
                  <a:srgbClr val="FFFFFF"/>
                </a:solidFill>
                <a:latin typeface="Noto Sans"/>
              </a:rPr>
              <a:t>Suplantación de identidad</a:t>
            </a:r>
          </a:p>
          <a:p>
            <a:pPr>
              <a:spcBef>
                <a:spcPts val="0"/>
              </a:spcBef>
              <a:spcAft>
                <a:spcPts val="0"/>
              </a:spcAft>
            </a:pPr>
            <a:r>
              <a:rPr sz="100">
                <a:solidFill>
                  <a:srgbClr val="FFFFFF"/>
                </a:solidFill>
                <a:latin typeface="Noto Sans"/>
              </a:rPr>
              <a:t>Llamadas ofensivas</a:t>
            </a:r>
          </a:p>
          <a:p>
            <a:pPr>
              <a:spcBef>
                <a:spcPts val="0"/>
              </a:spcBef>
              <a:spcAft>
                <a:spcPts val="0"/>
              </a:spcAft>
            </a:pPr>
            <a:r>
              <a:rPr sz="100">
                <a:solidFill>
                  <a:srgbClr val="FFFFFF"/>
                </a:solidFill>
                <a:latin typeface="Noto Sans"/>
              </a:rPr>
              <a:t>Recibir contenido sexual</a:t>
            </a:r>
          </a:p>
          <a:p>
            <a:pPr>
              <a:spcBef>
                <a:spcPts val="0"/>
              </a:spcBef>
              <a:spcAft>
                <a:spcPts val="0"/>
              </a:spcAft>
            </a:pPr>
            <a:r>
              <a:rPr sz="100">
                <a:solidFill>
                  <a:srgbClr val="FFFFFF"/>
                </a:solidFill>
                <a:latin typeface="Noto Sans"/>
              </a:rPr>
              <a:t>Insinuaciones o propuestas sexuales</a:t>
            </a:r>
          </a:p>
          <a:p>
            <a:pPr>
              <a:spcBef>
                <a:spcPts val="0"/>
              </a:spcBef>
              <a:spcAft>
                <a:spcPts val="0"/>
              </a:spcAft>
            </a:pPr>
            <a:r>
              <a:rPr sz="100">
                <a:solidFill>
                  <a:srgbClr val="FFFFFF"/>
                </a:solidFill>
                <a:latin typeface="Noto Sans"/>
              </a:rPr>
              <a:t>Mensajes ofensivos</a:t>
            </a:r>
          </a:p>
          <a:p>
            <a:pPr>
              <a:spcBef>
                <a:spcPts val="0"/>
              </a:spcBef>
              <a:spcAft>
                <a:spcPts val="0"/>
              </a:spcAft>
            </a:pPr>
            <a:r>
              <a:rPr sz="100">
                <a:solidFill>
                  <a:srgbClr val="FFFFFF"/>
                </a:solidFill>
                <a:latin typeface="Noto Sans"/>
              </a:rPr>
              <a:t>Contacto mediante identidades falsas</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2.6%</a:t>
            </a:r>
          </a:p>
          <a:p>
            <a:pPr>
              <a:spcBef>
                <a:spcPts val="0"/>
              </a:spcBef>
              <a:spcAft>
                <a:spcPts val="0"/>
              </a:spcAft>
            </a:pPr>
            <a:r>
              <a:rPr sz="100">
                <a:solidFill>
                  <a:srgbClr val="FFFFFF"/>
                </a:solidFill>
                <a:latin typeface="Noto Sans"/>
              </a:rPr>
              <a:t>5.2%</a:t>
            </a:r>
          </a:p>
          <a:p>
            <a:pPr>
              <a:spcBef>
                <a:spcPts val="0"/>
              </a:spcBef>
              <a:spcAft>
                <a:spcPts val="0"/>
              </a:spcAft>
            </a:pPr>
            <a:r>
              <a:rPr sz="100">
                <a:solidFill>
                  <a:srgbClr val="FFFFFF"/>
                </a:solidFill>
                <a:latin typeface="Noto Sans"/>
              </a:rPr>
              <a:t>4.9%</a:t>
            </a:r>
          </a:p>
          <a:p>
            <a:pPr>
              <a:spcBef>
                <a:spcPts val="0"/>
              </a:spcBef>
              <a:spcAft>
                <a:spcPts val="0"/>
              </a:spcAft>
            </a:pPr>
            <a:r>
              <a:rPr sz="100">
                <a:solidFill>
                  <a:srgbClr val="FFFFFF"/>
                </a:solidFill>
                <a:latin typeface="Noto Sans"/>
              </a:rPr>
              <a:t>8.8%</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15.0%</a:t>
            </a:r>
          </a:p>
          <a:p>
            <a:pPr>
              <a:spcBef>
                <a:spcPts val="0"/>
              </a:spcBef>
              <a:spcAft>
                <a:spcPts val="0"/>
              </a:spcAft>
            </a:pPr>
            <a:r>
              <a:rPr sz="100">
                <a:solidFill>
                  <a:srgbClr val="FFFFFF"/>
                </a:solidFill>
                <a:latin typeface="Noto Sans"/>
              </a:rPr>
              <a:t>12.6%</a:t>
            </a:r>
          </a:p>
          <a:p>
            <a:pPr>
              <a:spcBef>
                <a:spcPts val="0"/>
              </a:spcBef>
              <a:spcAft>
                <a:spcPts val="0"/>
              </a:spcAft>
            </a:pPr>
            <a:r>
              <a:rPr sz="100">
                <a:solidFill>
                  <a:srgbClr val="FFFFFF"/>
                </a:solidFill>
                <a:latin typeface="Noto Sans"/>
              </a:rPr>
              <a:t>16.3%</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19.3%</a:t>
            </a:r>
          </a:p>
          <a:p>
            <a:pPr>
              <a:spcBef>
                <a:spcPts val="0"/>
              </a:spcBef>
              <a:spcAft>
                <a:spcPts val="0"/>
              </a:spcAft>
            </a:pPr>
            <a:r>
              <a:rPr sz="100">
                <a:solidFill>
                  <a:srgbClr val="FFFFFF"/>
                </a:solidFill>
                <a:latin typeface="Noto Sans"/>
              </a:rPr>
              <a:t>18.0%</a:t>
            </a:r>
          </a:p>
          <a:p>
            <a:pPr>
              <a:spcBef>
                <a:spcPts val="0"/>
              </a:spcBef>
              <a:spcAft>
                <a:spcPts val="0"/>
              </a:spcAft>
            </a:pPr>
            <a:r>
              <a:rPr sz="100">
                <a:solidFill>
                  <a:srgbClr val="FFFFFF"/>
                </a:solidFill>
                <a:latin typeface="Noto Sans"/>
              </a:rPr>
              <a:t>19.4%</a:t>
            </a:r>
          </a:p>
          <a:p>
            <a:pPr>
              <a:spcBef>
                <a:spcPts val="0"/>
              </a:spcBef>
              <a:spcAft>
                <a:spcPts val="0"/>
              </a:spcAft>
            </a:pPr>
            <a:r>
              <a:rPr sz="100">
                <a:solidFill>
                  <a:srgbClr val="FFFFFF"/>
                </a:solidFill>
                <a:latin typeface="Noto Sans"/>
              </a:rPr>
              <a:t>18.7%</a:t>
            </a:r>
          </a:p>
          <a:p>
            <a:pPr>
              <a:spcBef>
                <a:spcPts val="0"/>
              </a:spcBef>
              <a:spcAft>
                <a:spcPts val="0"/>
              </a:spcAft>
            </a:pPr>
            <a:r>
              <a:rPr sz="100">
                <a:solidFill>
                  <a:srgbClr val="FFFFFF"/>
                </a:solidFill>
                <a:latin typeface="Noto Sans"/>
              </a:rPr>
              <a:t>21.6%</a:t>
            </a:r>
          </a:p>
          <a:p>
            <a:pPr>
              <a:spcBef>
                <a:spcPts val="0"/>
              </a:spcBef>
              <a:spcAft>
                <a:spcPts val="0"/>
              </a:spcAft>
            </a:pPr>
            <a:r>
              <a:rPr sz="100">
                <a:solidFill>
                  <a:srgbClr val="FFFFFF"/>
                </a:solidFill>
                <a:latin typeface="Noto Sans"/>
              </a:rPr>
              <a:t>27.3%</a:t>
            </a:r>
          </a:p>
          <a:p>
            <a:pPr>
              <a:spcBef>
                <a:spcPts val="0"/>
              </a:spcBef>
              <a:spcAft>
                <a:spcPts val="0"/>
              </a:spcAft>
            </a:pPr>
            <a:r>
              <a:rPr sz="100">
                <a:solidFill>
                  <a:srgbClr val="FFFFFF"/>
                </a:solidFill>
                <a:latin typeface="Noto Sans"/>
              </a:rPr>
              <a:t>23.5%</a:t>
            </a:r>
          </a:p>
          <a:p>
            <a:pPr>
              <a:spcBef>
                <a:spcPts val="0"/>
              </a:spcBef>
              <a:spcAft>
                <a:spcPts val="0"/>
              </a:spcAft>
            </a:pPr>
            <a:r>
              <a:rPr sz="100">
                <a:solidFill>
                  <a:srgbClr val="FFFFFF"/>
                </a:solidFill>
                <a:latin typeface="Noto Sans"/>
              </a:rPr>
              <a:t>12.0%</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10.7%</a:t>
            </a:r>
          </a:p>
          <a:p>
            <a:pPr>
              <a:spcBef>
                <a:spcPts val="0"/>
              </a:spcBef>
              <a:spcAft>
                <a:spcPts val="0"/>
              </a:spcAft>
            </a:pPr>
            <a:r>
              <a:rPr sz="100">
                <a:solidFill>
                  <a:srgbClr val="FFFFFF"/>
                </a:solidFill>
                <a:latin typeface="Noto Sans"/>
              </a:rPr>
              <a:t>30.8%</a:t>
            </a:r>
          </a:p>
          <a:p>
            <a:pPr>
              <a:spcBef>
                <a:spcPts val="0"/>
              </a:spcBef>
              <a:spcAft>
                <a:spcPts val="0"/>
              </a:spcAft>
            </a:pPr>
            <a:r>
              <a:rPr sz="100">
                <a:solidFill>
                  <a:srgbClr val="FFFFFF"/>
                </a:solidFill>
                <a:latin typeface="Noto Sans"/>
              </a:rPr>
              <a:t>35.0%</a:t>
            </a:r>
          </a:p>
          <a:p>
            <a:pPr>
              <a:spcBef>
                <a:spcPts val="0"/>
              </a:spcBef>
              <a:spcAft>
                <a:spcPts val="0"/>
              </a:spcAft>
            </a:pPr>
            <a:r>
              <a:rPr sz="100">
                <a:solidFill>
                  <a:srgbClr val="FFFFFF"/>
                </a:solidFill>
                <a:latin typeface="Noto Sans"/>
              </a:rPr>
              <a:t>36.8%</a:t>
            </a:r>
          </a:p>
          <a:p>
            <a:pPr>
              <a:spcBef>
                <a:spcPts val="0"/>
              </a:spcBef>
              <a:spcAft>
                <a:spcPts val="0"/>
              </a:spcAft>
            </a:pPr>
            <a:r>
              <a:rPr sz="100">
                <a:solidFill>
                  <a:srgbClr val="FFFFFF"/>
                </a:solidFill>
                <a:latin typeface="Noto Sans"/>
              </a:rPr>
              <a:t>37.8%</a:t>
            </a:r>
          </a:p>
          <a:p>
            <a:pPr>
              <a:spcBef>
                <a:spcPts val="0"/>
              </a:spcBef>
              <a:spcAft>
                <a:spcPts val="0"/>
              </a:spcAft>
            </a:pPr>
            <a:r>
              <a:rPr sz="100">
                <a:solidFill>
                  <a:srgbClr val="FFFFFF"/>
                </a:solidFill>
                <a:latin typeface="Noto Sans"/>
              </a:rPr>
              <a:t>Figura F.6.</a:t>
            </a:r>
          </a:p>
          <a:p>
            <a:pPr>
              <a:spcBef>
                <a:spcPts val="0"/>
              </a:spcBef>
              <a:spcAft>
                <a:spcPts val="0"/>
              </a:spcAft>
            </a:pPr>
            <a:r>
              <a:rPr sz="100">
                <a:solidFill>
                  <a:srgbClr val="FFFFFF"/>
                </a:solidFill>
                <a:latin typeface="Noto Sans"/>
              </a:rPr>
              <a:t>Distribución porcentual de las situaciones de ciberacoso experimentadas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6" descr="Figura F.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90</a:t>
            </a:r>
          </a:p>
        </p:txBody>
      </p:sp>
    </p:spTree>
  </p:cSld>
  <p:clrMapOvr>
    <a:masterClrMapping/>
  </p:clrMapOvr>
</p:sld>
</file>

<file path=ppt/slides/slide9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7" descr="ANUARIO_FIGURE_ID=F.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F.7</a:t>
            </a:r>
          </a:p>
          <a:p>
            <a:pPr>
              <a:spcBef>
                <a:spcPts val="0"/>
              </a:spcBef>
              <a:spcAft>
                <a:spcPts val="600"/>
              </a:spcAft>
            </a:pPr>
            <a:r>
              <a:rPr sz="950" b="1">
                <a:solidFill>
                  <a:srgbClr val="203634"/>
                </a:solidFill>
                <a:latin typeface="Noto Sans"/>
              </a:rPr>
              <a:t>MEDIDAS DE SEGURIDAD PARA PROTEGER EQUIPOS O CUENTAS DE INTERNET POR SEXO</a:t>
            </a:r>
          </a:p>
          <a:p>
            <a:pPr>
              <a:lnSpc>
                <a:spcPct val="100000"/>
              </a:lnSpc>
              <a:spcBef>
                <a:spcPts val="0"/>
              </a:spcBef>
              <a:spcAft>
                <a:spcPts val="400"/>
              </a:spcAft>
            </a:pPr>
            <a:r>
              <a:rPr sz="760" b="0">
                <a:solidFill>
                  <a:srgbClr val="434343"/>
                </a:solidFill>
                <a:latin typeface="Noto Sans"/>
              </a:rPr>
              <a:t>Respecto a las medidas de seguridad que las personas toman para proteger sus equipos o cuentas de Internet, destaca que el 89.5% de las mujeres y el 88.3% de los hombres crean o ponen contraseñas (claves, huella digital, patrón, etcétera). Así también, el 46.5% de las mujeres y el 50.1% de los hombres instalan o actualizan programas de antivirus, cortafuegos o anti espías. Por otro lado, entre las medidas menos usadas por hombres y mujeres se encuentran No publicar su correo o número telefónico en redes sociales y no abrir ni guardar archivos que envían personas desconocida.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7" descr="ANUARIO_FIGURE_ID=F.7;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7" descr="Capa accesible con el texto del SVG de la figura F.7"/>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F.7</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9.3%</a:t>
            </a:r>
          </a:p>
          <a:p>
            <a:pPr>
              <a:spcBef>
                <a:spcPts val="0"/>
              </a:spcBef>
              <a:spcAft>
                <a:spcPts val="0"/>
              </a:spcAft>
            </a:pPr>
            <a:r>
              <a:rPr sz="100">
                <a:solidFill>
                  <a:srgbClr val="FFFFFF"/>
                </a:solidFill>
                <a:latin typeface="Noto Sans"/>
              </a:rPr>
              <a:t>15.5%</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10.3%</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Crear o poner</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(claves,</a:t>
            </a:r>
          </a:p>
          <a:p>
            <a:pPr>
              <a:spcBef>
                <a:spcPts val="0"/>
              </a:spcBef>
              <a:spcAft>
                <a:spcPts val="0"/>
              </a:spcAft>
            </a:pPr>
            <a:r>
              <a:rPr sz="100">
                <a:solidFill>
                  <a:srgbClr val="FFFFFF"/>
                </a:solidFill>
                <a:latin typeface="Noto Sans"/>
              </a:rPr>
              <a:t>huella</a:t>
            </a:r>
          </a:p>
          <a:p>
            <a:pPr>
              <a:spcBef>
                <a:spcPts val="0"/>
              </a:spcBef>
              <a:spcAft>
                <a:spcPts val="0"/>
              </a:spcAft>
            </a:pPr>
            <a:r>
              <a:rPr sz="100">
                <a:solidFill>
                  <a:srgbClr val="FFFFFF"/>
                </a:solidFill>
                <a:latin typeface="Noto Sans"/>
              </a:rPr>
              <a:t>digital,</a:t>
            </a:r>
          </a:p>
          <a:p>
            <a:pPr>
              <a:spcBef>
                <a:spcPts val="0"/>
              </a:spcBef>
              <a:spcAft>
                <a:spcPts val="0"/>
              </a:spcAft>
            </a:pPr>
            <a:r>
              <a:rPr sz="100">
                <a:solidFill>
                  <a:srgbClr val="FFFFFF"/>
                </a:solidFill>
                <a:latin typeface="Noto Sans"/>
              </a:rPr>
              <a:t>patrón,</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Instalar o</a:t>
            </a:r>
          </a:p>
          <a:p>
            <a:pPr>
              <a:spcBef>
                <a:spcPts val="0"/>
              </a:spcBef>
              <a:spcAft>
                <a:spcPts val="0"/>
              </a:spcAft>
            </a:pPr>
            <a:r>
              <a:rPr sz="100">
                <a:solidFill>
                  <a:srgbClr val="FFFFFF"/>
                </a:solidFill>
                <a:latin typeface="Noto Sans"/>
              </a:rPr>
              <a:t>actualizar</a:t>
            </a:r>
          </a:p>
          <a:p>
            <a:pPr>
              <a:spcBef>
                <a:spcPts val="0"/>
              </a:spcBef>
              <a:spcAft>
                <a:spcPts val="0"/>
              </a:spcAft>
            </a:pPr>
            <a:r>
              <a:rPr sz="100">
                <a:solidFill>
                  <a:srgbClr val="FFFFFF"/>
                </a:solidFill>
                <a:latin typeface="Noto Sans"/>
              </a:rPr>
              <a:t>programas</a:t>
            </a:r>
          </a:p>
          <a:p>
            <a:pPr>
              <a:spcBef>
                <a:spcPts val="0"/>
              </a:spcBef>
              <a:spcAft>
                <a:spcPts val="0"/>
              </a:spcAft>
            </a:pPr>
            <a:r>
              <a:rPr sz="100">
                <a:solidFill>
                  <a:srgbClr val="FFFFFF"/>
                </a:solidFill>
                <a:latin typeface="Noto Sans"/>
              </a:rPr>
              <a:t>antivirus,</a:t>
            </a:r>
          </a:p>
          <a:p>
            <a:pPr>
              <a:spcBef>
                <a:spcPts val="0"/>
              </a:spcBef>
              <a:spcAft>
                <a:spcPts val="0"/>
              </a:spcAft>
            </a:pPr>
            <a:r>
              <a:rPr sz="100">
                <a:solidFill>
                  <a:srgbClr val="FFFFFF"/>
                </a:solidFill>
                <a:latin typeface="Noto Sans"/>
              </a:rPr>
              <a:t>cortafuegos o</a:t>
            </a:r>
          </a:p>
          <a:p>
            <a:pPr>
              <a:spcBef>
                <a:spcPts val="0"/>
              </a:spcBef>
              <a:spcAft>
                <a:spcPts val="0"/>
              </a:spcAft>
            </a:pPr>
            <a:r>
              <a:rPr sz="100">
                <a:solidFill>
                  <a:srgbClr val="FFFFFF"/>
                </a:solidFill>
                <a:latin typeface="Noto Sans"/>
              </a:rPr>
              <a:t>antiespías</a:t>
            </a:r>
          </a:p>
          <a:p>
            <a:pPr>
              <a:spcBef>
                <a:spcPts val="0"/>
              </a:spcBef>
              <a:spcAft>
                <a:spcPts val="0"/>
              </a:spcAft>
            </a:pPr>
            <a:r>
              <a:rPr sz="100">
                <a:solidFill>
                  <a:srgbClr val="FFFFFF"/>
                </a:solidFill>
                <a:latin typeface="Noto Sans"/>
              </a:rPr>
              <a:t>Bloquear</a:t>
            </a:r>
          </a:p>
          <a:p>
            <a:pPr>
              <a:spcBef>
                <a:spcPts val="0"/>
              </a:spcBef>
              <a:spcAft>
                <a:spcPts val="0"/>
              </a:spcAft>
            </a:pPr>
            <a:r>
              <a:rPr sz="100">
                <a:solidFill>
                  <a:srgbClr val="FFFFFF"/>
                </a:solidFill>
                <a:latin typeface="Noto Sans"/>
              </a:rPr>
              <a:t>ventanas</a:t>
            </a:r>
          </a:p>
          <a:p>
            <a:pPr>
              <a:spcBef>
                <a:spcPts val="0"/>
              </a:spcBef>
              <a:spcAft>
                <a:spcPts val="0"/>
              </a:spcAft>
            </a:pPr>
            <a:r>
              <a:rPr sz="100">
                <a:solidFill>
                  <a:srgbClr val="FFFFFF"/>
                </a:solidFill>
                <a:latin typeface="Noto Sans"/>
              </a:rPr>
              <a:t>emergentes del</a:t>
            </a:r>
          </a:p>
          <a:p>
            <a:pPr>
              <a:spcBef>
                <a:spcPts val="0"/>
              </a:spcBef>
              <a:spcAft>
                <a:spcPts val="0"/>
              </a:spcAft>
            </a:pPr>
            <a:r>
              <a:rPr sz="100">
                <a:solidFill>
                  <a:srgbClr val="FFFFFF"/>
                </a:solidFill>
                <a:latin typeface="Noto Sans"/>
              </a:rPr>
              <a:t>navegador</a:t>
            </a:r>
          </a:p>
          <a:p>
            <a:pPr>
              <a:spcBef>
                <a:spcPts val="0"/>
              </a:spcBef>
              <a:spcAft>
                <a:spcPts val="0"/>
              </a:spcAft>
            </a:pPr>
            <a:r>
              <a:rPr sz="100">
                <a:solidFill>
                  <a:srgbClr val="FFFFFF"/>
                </a:solidFill>
                <a:latin typeface="Noto Sans"/>
              </a:rPr>
              <a:t>Cambiar</a:t>
            </a:r>
          </a:p>
          <a:p>
            <a:pPr>
              <a:spcBef>
                <a:spcPts val="0"/>
              </a:spcBef>
              <a:spcAft>
                <a:spcPts val="0"/>
              </a:spcAft>
            </a:pPr>
            <a:r>
              <a:rPr sz="100">
                <a:solidFill>
                  <a:srgbClr val="FFFFFF"/>
                </a:solidFill>
                <a:latin typeface="Noto Sans"/>
              </a:rPr>
              <a:t>periódicamente</a:t>
            </a:r>
          </a:p>
          <a:p>
            <a:pPr>
              <a:spcBef>
                <a:spcPts val="0"/>
              </a:spcBef>
              <a:spcAft>
                <a:spcPts val="0"/>
              </a:spcAft>
            </a:pPr>
            <a:r>
              <a:rPr sz="100">
                <a:solidFill>
                  <a:srgbClr val="FFFFFF"/>
                </a:solidFill>
                <a:latin typeface="Noto Sans"/>
              </a:rPr>
              <a:t>las</a:t>
            </a:r>
          </a:p>
          <a:p>
            <a:pPr>
              <a:spcBef>
                <a:spcPts val="0"/>
              </a:spcBef>
              <a:spcAft>
                <a:spcPts val="0"/>
              </a:spcAft>
            </a:pPr>
            <a:r>
              <a:rPr sz="100">
                <a:solidFill>
                  <a:srgbClr val="FFFFFF"/>
                </a:solidFill>
                <a:latin typeface="Noto Sans"/>
              </a:rPr>
              <a:t>contraseñas</a:t>
            </a:r>
          </a:p>
          <a:p>
            <a:pPr>
              <a:spcBef>
                <a:spcPts val="0"/>
              </a:spcBef>
              <a:spcAft>
                <a:spcPts val="0"/>
              </a:spcAft>
            </a:pPr>
            <a:r>
              <a:rPr sz="100">
                <a:solidFill>
                  <a:srgbClr val="FFFFFF"/>
                </a:solidFill>
                <a:latin typeface="Noto Sans"/>
              </a:rPr>
              <a:t>No ingresar a</a:t>
            </a:r>
          </a:p>
          <a:p>
            <a:pPr>
              <a:spcBef>
                <a:spcPts val="0"/>
              </a:spcBef>
              <a:spcAft>
                <a:spcPts val="0"/>
              </a:spcAft>
            </a:pPr>
            <a:r>
              <a:rPr sz="100">
                <a:solidFill>
                  <a:srgbClr val="FFFFFF"/>
                </a:solidFill>
                <a:latin typeface="Noto Sans"/>
              </a:rPr>
              <a:t>sitios web</a:t>
            </a:r>
          </a:p>
          <a:p>
            <a:pPr>
              <a:spcBef>
                <a:spcPts val="0"/>
              </a:spcBef>
              <a:spcAft>
                <a:spcPts val="0"/>
              </a:spcAft>
            </a:pPr>
            <a:r>
              <a:rPr sz="100">
                <a:solidFill>
                  <a:srgbClr val="FFFFFF"/>
                </a:solidFill>
                <a:latin typeface="Noto Sans"/>
              </a:rPr>
              <a:t>inseguros o</a:t>
            </a:r>
          </a:p>
          <a:p>
            <a:pPr>
              <a:spcBef>
                <a:spcPts val="0"/>
              </a:spcBef>
              <a:spcAft>
                <a:spcPts val="0"/>
              </a:spcAft>
            </a:pPr>
            <a:r>
              <a:rPr sz="100">
                <a:solidFill>
                  <a:srgbClr val="FFFFFF"/>
                </a:solidFill>
                <a:latin typeface="Noto Sans"/>
              </a:rPr>
              <a:t>desconocidos</a:t>
            </a:r>
          </a:p>
          <a:p>
            <a:pPr>
              <a:spcBef>
                <a:spcPts val="0"/>
              </a:spcBef>
              <a:spcAft>
                <a:spcPts val="0"/>
              </a:spcAft>
            </a:pPr>
            <a:r>
              <a:rPr sz="100">
                <a:solidFill>
                  <a:srgbClr val="FFFFFF"/>
                </a:solidFill>
                <a:latin typeface="Noto Sans"/>
              </a:rPr>
              <a:t>No abrir ni</a:t>
            </a:r>
          </a:p>
          <a:p>
            <a:pPr>
              <a:spcBef>
                <a:spcPts val="0"/>
              </a:spcBef>
              <a:spcAft>
                <a:spcPts val="0"/>
              </a:spcAft>
            </a:pPr>
            <a:r>
              <a:rPr sz="100">
                <a:solidFill>
                  <a:srgbClr val="FFFFFF"/>
                </a:solidFill>
                <a:latin typeface="Noto Sans"/>
              </a:rPr>
              <a:t>guardar</a:t>
            </a:r>
          </a:p>
          <a:p>
            <a:pPr>
              <a:spcBef>
                <a:spcPts val="0"/>
              </a:spcBef>
              <a:spcAft>
                <a:spcPts val="0"/>
              </a:spcAft>
            </a:pPr>
            <a:r>
              <a:rPr sz="100">
                <a:solidFill>
                  <a:srgbClr val="FFFFFF"/>
                </a:solidFill>
                <a:latin typeface="Noto Sans"/>
              </a:rPr>
              <a:t>archivos que</a:t>
            </a:r>
          </a:p>
          <a:p>
            <a:pPr>
              <a:spcBef>
                <a:spcPts val="0"/>
              </a:spcBef>
              <a:spcAft>
                <a:spcPts val="0"/>
              </a:spcAft>
            </a:pPr>
            <a:r>
              <a:rPr sz="100">
                <a:solidFill>
                  <a:srgbClr val="FFFFFF"/>
                </a:solidFill>
                <a:latin typeface="Noto Sans"/>
              </a:rPr>
              <a:t>envían</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desconocidas</a:t>
            </a:r>
          </a:p>
          <a:p>
            <a:pPr>
              <a:spcBef>
                <a:spcPts val="0"/>
              </a:spcBef>
              <a:spcAft>
                <a:spcPts val="0"/>
              </a:spcAft>
            </a:pPr>
            <a:r>
              <a:rPr sz="100">
                <a:solidFill>
                  <a:srgbClr val="FFFFFF"/>
                </a:solidFill>
                <a:latin typeface="Noto Sans"/>
              </a:rPr>
              <a:t>No publicar su</a:t>
            </a:r>
          </a:p>
          <a:p>
            <a:pPr>
              <a:spcBef>
                <a:spcPts val="0"/>
              </a:spcBef>
              <a:spcAft>
                <a:spcPts val="0"/>
              </a:spcAft>
            </a:pPr>
            <a:r>
              <a:rPr sz="100">
                <a:solidFill>
                  <a:srgbClr val="FFFFFF"/>
                </a:solidFill>
                <a:latin typeface="Noto Sans"/>
              </a:rPr>
              <a:t>correo o</a:t>
            </a:r>
          </a:p>
          <a:p>
            <a:pPr>
              <a:spcBef>
                <a:spcPts val="0"/>
              </a:spcBef>
              <a:spcAft>
                <a:spcPts val="0"/>
              </a:spcAft>
            </a:pPr>
            <a:r>
              <a:rPr sz="100">
                <a:solidFill>
                  <a:srgbClr val="FFFFFF"/>
                </a:solidFill>
                <a:latin typeface="Noto Sans"/>
              </a:rPr>
              <a:t>número</a:t>
            </a:r>
          </a:p>
          <a:p>
            <a:pPr>
              <a:spcBef>
                <a:spcPts val="0"/>
              </a:spcBef>
              <a:spcAft>
                <a:spcPts val="0"/>
              </a:spcAft>
            </a:pPr>
            <a:r>
              <a:rPr sz="100">
                <a:solidFill>
                  <a:srgbClr val="FFFFFF"/>
                </a:solidFill>
                <a:latin typeface="Noto Sans"/>
              </a:rPr>
              <a:t>telefónico en</a:t>
            </a:r>
          </a:p>
          <a:p>
            <a:pPr>
              <a:spcBef>
                <a:spcPts val="0"/>
              </a:spcBef>
              <a:spcAft>
                <a:spcPts val="0"/>
              </a:spcAft>
            </a:pPr>
            <a:r>
              <a:rPr sz="100">
                <a:solidFill>
                  <a:srgbClr val="FFFFFF"/>
                </a:solidFill>
                <a:latin typeface="Noto Sans"/>
              </a:rPr>
              <a:t>redes sociales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88.3%</a:t>
            </a:r>
          </a:p>
          <a:p>
            <a:pPr>
              <a:spcBef>
                <a:spcPts val="0"/>
              </a:spcBef>
              <a:spcAft>
                <a:spcPts val="0"/>
              </a:spcAft>
            </a:pPr>
            <a:r>
              <a:rPr sz="100">
                <a:solidFill>
                  <a:srgbClr val="FFFFFF"/>
                </a:solidFill>
                <a:latin typeface="Noto Sans"/>
              </a:rPr>
              <a:t>50.1%</a:t>
            </a:r>
          </a:p>
          <a:p>
            <a:pPr>
              <a:spcBef>
                <a:spcPts val="0"/>
              </a:spcBef>
              <a:spcAft>
                <a:spcPts val="0"/>
              </a:spcAft>
            </a:pPr>
            <a:r>
              <a:rPr sz="100">
                <a:solidFill>
                  <a:srgbClr val="FFFFFF"/>
                </a:solidFill>
                <a:latin typeface="Noto Sans"/>
              </a:rPr>
              <a:t>11.2%</a:t>
            </a:r>
          </a:p>
          <a:p>
            <a:pPr>
              <a:spcBef>
                <a:spcPts val="0"/>
              </a:spcBef>
              <a:spcAft>
                <a:spcPts val="0"/>
              </a:spcAft>
            </a:pPr>
            <a:r>
              <a:rPr sz="100">
                <a:solidFill>
                  <a:srgbClr val="FFFFFF"/>
                </a:solidFill>
                <a:latin typeface="Noto Sans"/>
              </a:rPr>
              <a:t>11.3%</a:t>
            </a:r>
          </a:p>
          <a:p>
            <a:pPr>
              <a:spcBef>
                <a:spcPts val="0"/>
              </a:spcBef>
              <a:spcAft>
                <a:spcPts val="0"/>
              </a:spcAft>
            </a:pPr>
            <a:r>
              <a:rPr sz="100">
                <a:solidFill>
                  <a:srgbClr val="FFFFFF"/>
                </a:solidFill>
                <a:latin typeface="Noto Sans"/>
              </a:rPr>
              <a:t>17.6%</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10.5%</a:t>
            </a:r>
          </a:p>
          <a:p>
            <a:pPr>
              <a:spcBef>
                <a:spcPts val="0"/>
              </a:spcBef>
              <a:spcAft>
                <a:spcPts val="0"/>
              </a:spcAft>
            </a:pPr>
            <a:r>
              <a:rPr sz="100">
                <a:solidFill>
                  <a:srgbClr val="FFFFFF"/>
                </a:solidFill>
                <a:latin typeface="Noto Sans"/>
              </a:rPr>
              <a:t>10.4%</a:t>
            </a:r>
          </a:p>
          <a:p>
            <a:pPr>
              <a:spcBef>
                <a:spcPts val="0"/>
              </a:spcBef>
              <a:spcAft>
                <a:spcPts val="0"/>
              </a:spcAft>
            </a:pPr>
            <a:r>
              <a:rPr sz="100">
                <a:solidFill>
                  <a:srgbClr val="FFFFFF"/>
                </a:solidFill>
                <a:latin typeface="Noto Sans"/>
              </a:rPr>
              <a:t>Figura F.7.</a:t>
            </a:r>
          </a:p>
          <a:p>
            <a:pPr>
              <a:spcBef>
                <a:spcPts val="0"/>
              </a:spcBef>
              <a:spcAft>
                <a:spcPts val="0"/>
              </a:spcAft>
            </a:pPr>
            <a:r>
              <a:rPr sz="100">
                <a:solidFill>
                  <a:srgbClr val="FFFFFF"/>
                </a:solidFill>
                <a:latin typeface="Noto Sans"/>
              </a:rPr>
              <a:t>Medidas de seguridad para proteger equipos o cuentas de Internet, por sexo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p:txBody>
      </p:sp>
      <p:pic>
        <p:nvPicPr>
          <p:cNvPr id="223" name="ANUARIO_IMAGE_F_7" descr="Figura F.7.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91</a:t>
            </a:r>
          </a:p>
        </p:txBody>
      </p:sp>
    </p:spTree>
  </p:cSld>
  <p:clrMapOvr>
    <a:masterClrMapping/>
  </p:clrMapOvr>
</p:sld>
</file>

<file path=ppt/slides/slide92.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8" descr="ANUARIO_FIGURE_ID=F.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F.8</a:t>
            </a:r>
          </a:p>
          <a:p>
            <a:pPr>
              <a:spcBef>
                <a:spcPts val="0"/>
              </a:spcBef>
              <a:spcAft>
                <a:spcPts val="600"/>
              </a:spcAft>
            </a:pPr>
            <a:r>
              <a:rPr sz="950" b="1">
                <a:solidFill>
                  <a:srgbClr val="203634"/>
                </a:solidFill>
                <a:latin typeface="Noto Sans"/>
              </a:rPr>
              <a:t>PORCENTAJE DE POBLACIÓN QUE VIVIÓ CIBERACOSO POR MEDIOS DIGITALES</a:t>
            </a:r>
          </a:p>
          <a:p>
            <a:pPr>
              <a:lnSpc>
                <a:spcPct val="100000"/>
              </a:lnSpc>
              <a:spcBef>
                <a:spcPts val="0"/>
              </a:spcBef>
              <a:spcAft>
                <a:spcPts val="400"/>
              </a:spcAft>
            </a:pPr>
            <a:r>
              <a:rPr sz="760" b="0">
                <a:solidFill>
                  <a:srgbClr val="434343"/>
                </a:solidFill>
                <a:latin typeface="Noto Sans"/>
              </a:rPr>
              <a:t>En los distintos medios digitales es visible el ciberacoso por el que pasan tanto mujeres como hombres, ya que, de acuerdo con los datos de MOCIBA 2025, es WhatsApp el medio digital por el que, el mayor porcentaje de la población de 12 años y más experimentó alguna situación de ciberacoso (41.5%), seguido de llamadas de teléfono celular (36.5%) y Facebook (29.7%). Por el contrario, los medios digitales con menores porcentajes fueron YouTube y Telegram (0.3% y 0.5%,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8" descr="ANUARIO_FIGURE_ID=F.8;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8" descr="Capa accesible con el texto del SVG de la figura F.8"/>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F.8</a:t>
            </a:r>
          </a:p>
          <a:p>
            <a:pPr>
              <a:spcBef>
                <a:spcPts val="0"/>
              </a:spcBef>
              <a:spcAft>
                <a:spcPts val="0"/>
              </a:spcAft>
            </a:pPr>
            <a:r>
              <a:rPr sz="100">
                <a:solidFill>
                  <a:srgbClr val="FFFFFF"/>
                </a:solidFill>
                <a:latin typeface="Noto Sans"/>
              </a:rPr>
              <a:t>WhatsApp</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celular</a:t>
            </a:r>
          </a:p>
          <a:p>
            <a:pPr>
              <a:spcBef>
                <a:spcPts val="0"/>
              </a:spcBef>
              <a:spcAft>
                <a:spcPts val="0"/>
              </a:spcAft>
            </a:pPr>
            <a:r>
              <a:rPr sz="100">
                <a:solidFill>
                  <a:srgbClr val="FFFFFF"/>
                </a:solidFill>
                <a:latin typeface="Noto Sans"/>
              </a:rPr>
              <a:t>Facebook</a:t>
            </a:r>
          </a:p>
          <a:p>
            <a:pPr>
              <a:spcBef>
                <a:spcPts val="0"/>
              </a:spcBef>
              <a:spcAft>
                <a:spcPts val="0"/>
              </a:spcAft>
            </a:pPr>
            <a:r>
              <a:rPr sz="100">
                <a:solidFill>
                  <a:srgbClr val="FFFFFF"/>
                </a:solidFill>
                <a:latin typeface="Noto Sans"/>
              </a:rPr>
              <a:t>Instagram</a:t>
            </a:r>
          </a:p>
          <a:p>
            <a:pPr>
              <a:spcBef>
                <a:spcPts val="0"/>
              </a:spcBef>
              <a:spcAft>
                <a:spcPts val="0"/>
              </a:spcAft>
            </a:pPr>
            <a:r>
              <a:rPr sz="100">
                <a:solidFill>
                  <a:srgbClr val="FFFFFF"/>
                </a:solidFill>
                <a:latin typeface="Noto Sans"/>
              </a:rPr>
              <a:t>Messenger</a:t>
            </a:r>
          </a:p>
          <a:p>
            <a:pPr>
              <a:spcBef>
                <a:spcPts val="0"/>
              </a:spcBef>
              <a:spcAft>
                <a:spcPts val="0"/>
              </a:spcAft>
            </a:pPr>
            <a:r>
              <a:rPr sz="100">
                <a:solidFill>
                  <a:srgbClr val="FFFFFF"/>
                </a:solidFill>
                <a:latin typeface="Noto Sans"/>
              </a:rPr>
              <a:t>SMS</a:t>
            </a:r>
          </a:p>
          <a:p>
            <a:pPr>
              <a:spcBef>
                <a:spcPts val="0"/>
              </a:spcBef>
              <a:spcAft>
                <a:spcPts val="0"/>
              </a:spcAft>
            </a:pPr>
            <a:r>
              <a:rPr sz="100">
                <a:solidFill>
                  <a:srgbClr val="FFFFFF"/>
                </a:solidFill>
                <a:latin typeface="Noto Sans"/>
              </a:rPr>
              <a:t>TikTok</a:t>
            </a:r>
          </a:p>
          <a:p>
            <a:pPr>
              <a:spcBef>
                <a:spcPts val="0"/>
              </a:spcBef>
              <a:spcAft>
                <a:spcPts val="0"/>
              </a:spcAft>
            </a:pPr>
            <a:r>
              <a:rPr sz="100">
                <a:solidFill>
                  <a:srgbClr val="FFFFFF"/>
                </a:solidFill>
                <a:latin typeface="Noto Sans"/>
              </a:rPr>
              <a:t>Llamadas de</a:t>
            </a:r>
          </a:p>
          <a:p>
            <a:pPr>
              <a:spcBef>
                <a:spcPts val="0"/>
              </a:spcBef>
              <a:spcAft>
                <a:spcPts val="0"/>
              </a:spcAft>
            </a:pPr>
            <a:r>
              <a:rPr sz="100">
                <a:solidFill>
                  <a:srgbClr val="FFFFFF"/>
                </a:solidFill>
                <a:latin typeface="Noto Sans"/>
              </a:rPr>
              <a:t>teléfono fijo</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personal</a:t>
            </a:r>
          </a:p>
          <a:p>
            <a:pPr>
              <a:spcBef>
                <a:spcPts val="0"/>
              </a:spcBef>
              <a:spcAft>
                <a:spcPts val="0"/>
              </a:spcAft>
            </a:pPr>
            <a:r>
              <a:rPr sz="100">
                <a:solidFill>
                  <a:srgbClr val="FFFFFF"/>
                </a:solidFill>
                <a:latin typeface="Noto Sans"/>
              </a:rPr>
              <a:t>Otro medio</a:t>
            </a:r>
          </a:p>
          <a:p>
            <a:pPr>
              <a:spcBef>
                <a:spcPts val="0"/>
              </a:spcBef>
              <a:spcAft>
                <a:spcPts val="0"/>
              </a:spcAft>
            </a:pPr>
            <a:r>
              <a:rPr sz="100">
                <a:solidFill>
                  <a:srgbClr val="FFFFFF"/>
                </a:solidFill>
                <a:latin typeface="Noto Sans"/>
              </a:rPr>
              <a:t>X (antes</a:t>
            </a:r>
          </a:p>
          <a:p>
            <a:pPr>
              <a:spcBef>
                <a:spcPts val="0"/>
              </a:spcBef>
              <a:spcAft>
                <a:spcPts val="0"/>
              </a:spcAft>
            </a:pPr>
            <a:r>
              <a:rPr sz="100">
                <a:solidFill>
                  <a:srgbClr val="FFFFFF"/>
                </a:solidFill>
                <a:latin typeface="Noto Sans"/>
              </a:rPr>
              <a:t>Twitter)</a:t>
            </a:r>
          </a:p>
          <a:p>
            <a:pPr>
              <a:spcBef>
                <a:spcPts val="0"/>
              </a:spcBef>
              <a:spcAft>
                <a:spcPts val="0"/>
              </a:spcAft>
            </a:pPr>
            <a:r>
              <a:rPr sz="100">
                <a:solidFill>
                  <a:srgbClr val="FFFFFF"/>
                </a:solidFill>
                <a:latin typeface="Noto Sans"/>
              </a:rPr>
              <a:t>Correo</a:t>
            </a:r>
          </a:p>
          <a:p>
            <a:pPr>
              <a:spcBef>
                <a:spcPts val="0"/>
              </a:spcBef>
              <a:spcAft>
                <a:spcPts val="0"/>
              </a:spcAft>
            </a:pPr>
            <a:r>
              <a:rPr sz="100">
                <a:solidFill>
                  <a:srgbClr val="FFFFFF"/>
                </a:solidFill>
                <a:latin typeface="Noto Sans"/>
              </a:rPr>
              <a:t>electrónico</a:t>
            </a:r>
          </a:p>
          <a:p>
            <a:pPr>
              <a:spcBef>
                <a:spcPts val="0"/>
              </a:spcBef>
              <a:spcAft>
                <a:spcPts val="0"/>
              </a:spcAft>
            </a:pPr>
            <a:r>
              <a:rPr sz="100">
                <a:solidFill>
                  <a:srgbClr val="FFFFFF"/>
                </a:solidFill>
                <a:latin typeface="Noto Sans"/>
              </a:rPr>
              <a:t>institucional</a:t>
            </a:r>
          </a:p>
          <a:p>
            <a:pPr>
              <a:spcBef>
                <a:spcPts val="0"/>
              </a:spcBef>
              <a:spcAft>
                <a:spcPts val="0"/>
              </a:spcAft>
            </a:pPr>
            <a:r>
              <a:rPr sz="100">
                <a:solidFill>
                  <a:srgbClr val="FFFFFF"/>
                </a:solidFill>
                <a:latin typeface="Noto Sans"/>
              </a:rPr>
              <a:t>Telegram</a:t>
            </a:r>
          </a:p>
          <a:p>
            <a:pPr>
              <a:spcBef>
                <a:spcPts val="0"/>
              </a:spcBef>
              <a:spcAft>
                <a:spcPts val="0"/>
              </a:spcAft>
            </a:pPr>
            <a:r>
              <a:rPr sz="100">
                <a:solidFill>
                  <a:srgbClr val="FFFFFF"/>
                </a:solidFill>
                <a:latin typeface="Noto Sans"/>
              </a:rPr>
              <a:t>YouTube</a:t>
            </a:r>
          </a:p>
          <a:p>
            <a:pPr>
              <a:spcBef>
                <a:spcPts val="0"/>
              </a:spcBef>
              <a:spcAft>
                <a:spcPts val="0"/>
              </a:spcAft>
            </a:pPr>
            <a:r>
              <a:rPr sz="100">
                <a:solidFill>
                  <a:srgbClr val="FFFFFF"/>
                </a:solidFill>
                <a:latin typeface="Noto Sans"/>
              </a:rPr>
              <a:t>41.5%</a:t>
            </a:r>
          </a:p>
          <a:p>
            <a:pPr>
              <a:spcBef>
                <a:spcPts val="0"/>
              </a:spcBef>
              <a:spcAft>
                <a:spcPts val="0"/>
              </a:spcAft>
            </a:pPr>
            <a:r>
              <a:rPr sz="100">
                <a:solidFill>
                  <a:srgbClr val="FFFFFF"/>
                </a:solidFill>
                <a:latin typeface="Noto Sans"/>
              </a:rPr>
              <a:t>36.5%</a:t>
            </a:r>
          </a:p>
          <a:p>
            <a:pPr>
              <a:spcBef>
                <a:spcPts val="0"/>
              </a:spcBef>
              <a:spcAft>
                <a:spcPts val="0"/>
              </a:spcAft>
            </a:pPr>
            <a:r>
              <a:rPr sz="100">
                <a:solidFill>
                  <a:srgbClr val="FFFFFF"/>
                </a:solidFill>
                <a:latin typeface="Noto Sans"/>
              </a:rPr>
              <a:t>29.7%</a:t>
            </a:r>
          </a:p>
          <a:p>
            <a:pPr>
              <a:spcBef>
                <a:spcPts val="0"/>
              </a:spcBef>
              <a:spcAft>
                <a:spcPts val="0"/>
              </a:spcAft>
            </a:pPr>
            <a:r>
              <a:rPr sz="100">
                <a:solidFill>
                  <a:srgbClr val="FFFFFF"/>
                </a:solidFill>
                <a:latin typeface="Noto Sans"/>
              </a:rPr>
              <a:t>12.5%</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5.9%</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4.1%</a:t>
            </a:r>
          </a:p>
          <a:p>
            <a:pPr>
              <a:spcBef>
                <a:spcPts val="0"/>
              </a:spcBef>
              <a:spcAft>
                <a:spcPts val="0"/>
              </a:spcAft>
            </a:pPr>
            <a:r>
              <a:rPr sz="100">
                <a:solidFill>
                  <a:srgbClr val="FFFFFF"/>
                </a:solidFill>
                <a:latin typeface="Noto Sans"/>
              </a:rPr>
              <a:t>2.9%</a:t>
            </a:r>
          </a:p>
          <a:p>
            <a:pPr>
              <a:spcBef>
                <a:spcPts val="0"/>
              </a:spcBef>
              <a:spcAft>
                <a:spcPts val="0"/>
              </a:spcAft>
            </a:pPr>
            <a:r>
              <a:rPr sz="100">
                <a:solidFill>
                  <a:srgbClr val="FFFFFF"/>
                </a:solidFill>
                <a:latin typeface="Noto Sans"/>
              </a:rPr>
              <a:t>1.4%</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0.6%</a:t>
            </a:r>
          </a:p>
          <a:p>
            <a:pPr>
              <a:spcBef>
                <a:spcPts val="0"/>
              </a:spcBef>
              <a:spcAft>
                <a:spcPts val="0"/>
              </a:spcAft>
            </a:pPr>
            <a:r>
              <a:rPr sz="100">
                <a:solidFill>
                  <a:srgbClr val="FFFFFF"/>
                </a:solidFill>
                <a:latin typeface="Noto Sans"/>
              </a:rPr>
              <a:t>0.5%</a:t>
            </a:r>
          </a:p>
          <a:p>
            <a:pPr>
              <a:spcBef>
                <a:spcPts val="0"/>
              </a:spcBef>
              <a:spcAft>
                <a:spcPts val="0"/>
              </a:spcAft>
            </a:pPr>
            <a:r>
              <a:rPr sz="100">
                <a:solidFill>
                  <a:srgbClr val="FFFFFF"/>
                </a:solidFill>
                <a:latin typeface="Noto Sans"/>
              </a:rPr>
              <a:t>0.3%</a:t>
            </a:r>
          </a:p>
          <a:p>
            <a:pPr>
              <a:spcBef>
                <a:spcPts val="0"/>
              </a:spcBef>
              <a:spcAft>
                <a:spcPts val="0"/>
              </a:spcAft>
            </a:pPr>
            <a:r>
              <a:rPr sz="100">
                <a:solidFill>
                  <a:srgbClr val="FFFFFF"/>
                </a:solidFill>
                <a:latin typeface="Noto Sans"/>
              </a:rPr>
              <a:t>Figura F.8.</a:t>
            </a:r>
          </a:p>
          <a:p>
            <a:pPr>
              <a:spcBef>
                <a:spcPts val="0"/>
              </a:spcBef>
              <a:spcAft>
                <a:spcPts val="0"/>
              </a:spcAft>
            </a:pPr>
            <a:r>
              <a:rPr sz="100">
                <a:solidFill>
                  <a:srgbClr val="FFFFFF"/>
                </a:solidFill>
                <a:latin typeface="Noto Sans"/>
              </a:rPr>
              <a:t>Porcentaje de población de 12 años y más que vivió ciberacoso por medios digitales</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8" descr="Figura F.8.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92</a:t>
            </a:r>
          </a:p>
        </p:txBody>
      </p:sp>
    </p:spTree>
  </p:cSld>
  <p:clrMapOvr>
    <a:masterClrMapping/>
  </p:clrMapOvr>
</p:sld>
</file>

<file path=ppt/slides/slide93.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9" descr="ANUARIO_FIGURE_ID=F.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F.9</a:t>
            </a:r>
          </a:p>
          <a:p>
            <a:pPr>
              <a:spcBef>
                <a:spcPts val="0"/>
              </a:spcBef>
              <a:spcAft>
                <a:spcPts val="600"/>
              </a:spcAft>
            </a:pPr>
            <a:r>
              <a:rPr sz="950" b="1">
                <a:solidFill>
                  <a:srgbClr val="203634"/>
                </a:solidFill>
                <a:latin typeface="Noto Sans"/>
              </a:rPr>
              <a:t>MEDIDAS TOMADAS CONTRA EL CIBERACOSO EXPERIMENTADO</a:t>
            </a:r>
          </a:p>
          <a:p>
            <a:pPr>
              <a:lnSpc>
                <a:spcPct val="100000"/>
              </a:lnSpc>
              <a:spcBef>
                <a:spcPts val="0"/>
              </a:spcBef>
              <a:spcAft>
                <a:spcPts val="400"/>
              </a:spcAft>
            </a:pPr>
            <a:r>
              <a:rPr sz="760" b="0">
                <a:solidFill>
                  <a:srgbClr val="434343"/>
                </a:solidFill>
                <a:latin typeface="Noto Sans"/>
              </a:rPr>
              <a:t>De acuerdo con la encuesta MOCIBA 2025 las personas que han sufrido algún tipo de situación de ciberacoso han manifestado haber tomado medidas contra esas situaciones, por ejemplo, el 66.5% manifestó haber bloqueado (a la persona, cuenta o página), el 18.9% ignora o no contesta a las situaciones de ciberacoso y el 11.7% denuncia ante el Ministerio Público, Fiscalía Estatal o el proveedor del servicio. Por el contrario, solo el 1.3% realiza una denuncia ante las autoridades escolares o laborales, el 2.2% reporta ante la policía y el 0.8% hace pública la situación de ciberacoso por medio de redes sociales.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9" descr="ANUARIO_FIGURE_ID=F.9;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9" descr="Capa accesible con el texto del SVG de la figura F.9"/>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F.9</a:t>
            </a:r>
          </a:p>
          <a:p>
            <a:pPr>
              <a:spcBef>
                <a:spcPts val="0"/>
              </a:spcBef>
              <a:spcAft>
                <a:spcPts val="0"/>
              </a:spcAft>
            </a:pPr>
            <a:r>
              <a:rPr sz="100">
                <a:solidFill>
                  <a:srgbClr val="FFFFFF"/>
                </a:solidFill>
                <a:latin typeface="Noto Sans"/>
              </a:rPr>
              <a:t>0.0%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20.0%</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40.0%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60.0%</a:t>
            </a:r>
          </a:p>
          <a:p>
            <a:pPr>
              <a:spcBef>
                <a:spcPts val="0"/>
              </a:spcBef>
              <a:spcAft>
                <a:spcPts val="0"/>
              </a:spcAft>
            </a:pPr>
            <a:r>
              <a:rPr sz="100">
                <a:solidFill>
                  <a:srgbClr val="FFFFFF"/>
                </a:solidFill>
                <a:latin typeface="Noto Sans"/>
              </a:rPr>
              <a:t>70.0%</a:t>
            </a:r>
          </a:p>
          <a:p>
            <a:pPr>
              <a:spcBef>
                <a:spcPts val="0"/>
              </a:spcBef>
              <a:spcAft>
                <a:spcPts val="0"/>
              </a:spcAft>
            </a:pPr>
            <a:r>
              <a:rPr sz="100">
                <a:solidFill>
                  <a:srgbClr val="FFFFFF"/>
                </a:solidFill>
                <a:latin typeface="Noto Sans"/>
              </a:rPr>
              <a:t>80.0%</a:t>
            </a:r>
          </a:p>
          <a:p>
            <a:pPr>
              <a:spcBef>
                <a:spcPts val="0"/>
              </a:spcBef>
              <a:spcAft>
                <a:spcPts val="0"/>
              </a:spcAft>
            </a:pPr>
            <a:r>
              <a:rPr sz="100">
                <a:solidFill>
                  <a:srgbClr val="FFFFFF"/>
                </a:solidFill>
                <a:latin typeface="Noto Sans"/>
              </a:rPr>
              <a:t>Publicar la situación en redes sociales</a:t>
            </a:r>
          </a:p>
          <a:p>
            <a:pPr>
              <a:spcBef>
                <a:spcPts val="0"/>
              </a:spcBef>
              <a:spcAft>
                <a:spcPts val="0"/>
              </a:spcAft>
            </a:pPr>
            <a:r>
              <a:rPr sz="100">
                <a:solidFill>
                  <a:srgbClr val="FFFFFF"/>
                </a:solidFill>
                <a:latin typeface="Noto Sans"/>
              </a:rPr>
              <a:t>Denunciar ante las autoridades escolares o</a:t>
            </a:r>
          </a:p>
          <a:p>
            <a:pPr>
              <a:spcBef>
                <a:spcPts val="0"/>
              </a:spcBef>
              <a:spcAft>
                <a:spcPts val="0"/>
              </a:spcAft>
            </a:pPr>
            <a:r>
              <a:rPr sz="100">
                <a:solidFill>
                  <a:srgbClr val="FFFFFF"/>
                </a:solidFill>
                <a:latin typeface="Noto Sans"/>
              </a:rPr>
              <a:t>laborales</a:t>
            </a:r>
          </a:p>
          <a:p>
            <a:pPr>
              <a:spcBef>
                <a:spcPts val="0"/>
              </a:spcBef>
              <a:spcAft>
                <a:spcPts val="0"/>
              </a:spcAft>
            </a:pPr>
            <a:r>
              <a:rPr sz="100">
                <a:solidFill>
                  <a:srgbClr val="FFFFFF"/>
                </a:solidFill>
                <a:latin typeface="Noto Sans"/>
              </a:rPr>
              <a:t>Otra</a:t>
            </a:r>
          </a:p>
          <a:p>
            <a:pPr>
              <a:spcBef>
                <a:spcPts val="0"/>
              </a:spcBef>
              <a:spcAft>
                <a:spcPts val="0"/>
              </a:spcAft>
            </a:pPr>
            <a:r>
              <a:rPr sz="100">
                <a:solidFill>
                  <a:srgbClr val="FFFFFF"/>
                </a:solidFill>
                <a:latin typeface="Noto Sans"/>
              </a:rPr>
              <a:t>Reportar ante la policía</a:t>
            </a:r>
          </a:p>
          <a:p>
            <a:pPr>
              <a:spcBef>
                <a:spcPts val="0"/>
              </a:spcBef>
              <a:spcAft>
                <a:spcPts val="0"/>
              </a:spcAft>
            </a:pPr>
            <a:r>
              <a:rPr sz="100">
                <a:solidFill>
                  <a:srgbClr val="FFFFFF"/>
                </a:solidFill>
                <a:latin typeface="Noto Sans"/>
              </a:rPr>
              <a:t>Informar a una persona (madre, padre,</a:t>
            </a:r>
          </a:p>
          <a:p>
            <a:pPr>
              <a:spcBef>
                <a:spcPts val="0"/>
              </a:spcBef>
              <a:spcAft>
                <a:spcPts val="0"/>
              </a:spcAft>
            </a:pPr>
            <a:r>
              <a:rPr sz="100">
                <a:solidFill>
                  <a:srgbClr val="FFFFFF"/>
                </a:solidFill>
                <a:latin typeface="Noto Sans"/>
              </a:rPr>
              <a:t>amiga(o), compañera(o) de trabajo,</a:t>
            </a:r>
          </a:p>
          <a:p>
            <a:pPr>
              <a:spcBef>
                <a:spcPts val="0"/>
              </a:spcBef>
              <a:spcAft>
                <a:spcPts val="0"/>
              </a:spcAft>
            </a:pPr>
            <a:r>
              <a:rPr sz="100">
                <a:solidFill>
                  <a:srgbClr val="FFFFFF"/>
                </a:solidFill>
                <a:latin typeface="Noto Sans"/>
              </a:rPr>
              <a:t>etcétera)</a:t>
            </a:r>
          </a:p>
          <a:p>
            <a:pPr>
              <a:spcBef>
                <a:spcPts val="0"/>
              </a:spcBef>
              <a:spcAft>
                <a:spcPts val="0"/>
              </a:spcAft>
            </a:pPr>
            <a:r>
              <a:rPr sz="100">
                <a:solidFill>
                  <a:srgbClr val="FFFFFF"/>
                </a:solidFill>
                <a:latin typeface="Noto Sans"/>
              </a:rPr>
              <a:t>Reclamar o confrontar a la persona</a:t>
            </a:r>
          </a:p>
          <a:p>
            <a:pPr>
              <a:spcBef>
                <a:spcPts val="0"/>
              </a:spcBef>
              <a:spcAft>
                <a:spcPts val="0"/>
              </a:spcAft>
            </a:pPr>
            <a:r>
              <a:rPr sz="100">
                <a:solidFill>
                  <a:srgbClr val="FFFFFF"/>
                </a:solidFill>
                <a:latin typeface="Noto Sans"/>
              </a:rPr>
              <a:t>Eliminar la publicación, el mensaje o</a:t>
            </a:r>
          </a:p>
          <a:p>
            <a:pPr>
              <a:spcBef>
                <a:spcPts val="0"/>
              </a:spcBef>
              <a:spcAft>
                <a:spcPts val="0"/>
              </a:spcAft>
            </a:pPr>
            <a:r>
              <a:rPr sz="100">
                <a:solidFill>
                  <a:srgbClr val="FFFFFF"/>
                </a:solidFill>
                <a:latin typeface="Noto Sans"/>
              </a:rPr>
              <a:t>video</a:t>
            </a:r>
          </a:p>
          <a:p>
            <a:pPr>
              <a:spcBef>
                <a:spcPts val="0"/>
              </a:spcBef>
              <a:spcAft>
                <a:spcPts val="0"/>
              </a:spcAft>
            </a:pPr>
            <a:r>
              <a:rPr sz="100">
                <a:solidFill>
                  <a:srgbClr val="FFFFFF"/>
                </a:solidFill>
                <a:latin typeface="Noto Sans"/>
              </a:rPr>
              <a:t>Ninguna</a:t>
            </a:r>
          </a:p>
          <a:p>
            <a:pPr>
              <a:spcBef>
                <a:spcPts val="0"/>
              </a:spcBef>
              <a:spcAft>
                <a:spcPts val="0"/>
              </a:spcAft>
            </a:pPr>
            <a:r>
              <a:rPr sz="100">
                <a:solidFill>
                  <a:srgbClr val="FFFFFF"/>
                </a:solidFill>
                <a:latin typeface="Noto Sans"/>
              </a:rPr>
              <a:t>Cambiar o cancelar número telefónico,</a:t>
            </a:r>
          </a:p>
          <a:p>
            <a:pPr>
              <a:spcBef>
                <a:spcPts val="0"/>
              </a:spcBef>
              <a:spcAft>
                <a:spcPts val="0"/>
              </a:spcAft>
            </a:pPr>
            <a:r>
              <a:rPr sz="100">
                <a:solidFill>
                  <a:srgbClr val="FFFFFF"/>
                </a:solidFill>
                <a:latin typeface="Noto Sans"/>
              </a:rPr>
              <a:t>cuenta o contraseña</a:t>
            </a:r>
          </a:p>
          <a:p>
            <a:pPr>
              <a:spcBef>
                <a:spcPts val="0"/>
              </a:spcBef>
              <a:spcAft>
                <a:spcPts val="0"/>
              </a:spcAft>
            </a:pPr>
            <a:r>
              <a:rPr sz="100">
                <a:solidFill>
                  <a:srgbClr val="FFFFFF"/>
                </a:solidFill>
                <a:latin typeface="Noto Sans"/>
              </a:rPr>
              <a:t>Denunciar ante el Ministerio Público,</a:t>
            </a:r>
          </a:p>
          <a:p>
            <a:pPr>
              <a:spcBef>
                <a:spcPts val="0"/>
              </a:spcBef>
              <a:spcAft>
                <a:spcPts val="0"/>
              </a:spcAft>
            </a:pPr>
            <a:r>
              <a:rPr sz="100">
                <a:solidFill>
                  <a:srgbClr val="FFFFFF"/>
                </a:solidFill>
                <a:latin typeface="Noto Sans"/>
              </a:rPr>
              <a:t>Fiscalía Estatal o el proveedor del</a:t>
            </a:r>
          </a:p>
          <a:p>
            <a:pPr>
              <a:spcBef>
                <a:spcPts val="0"/>
              </a:spcBef>
              <a:spcAft>
                <a:spcPts val="0"/>
              </a:spcAft>
            </a:pPr>
            <a:r>
              <a:rPr sz="100">
                <a:solidFill>
                  <a:srgbClr val="FFFFFF"/>
                </a:solidFill>
                <a:latin typeface="Noto Sans"/>
              </a:rPr>
              <a:t>servicio</a:t>
            </a:r>
          </a:p>
          <a:p>
            <a:pPr>
              <a:spcBef>
                <a:spcPts val="0"/>
              </a:spcBef>
              <a:spcAft>
                <a:spcPts val="0"/>
              </a:spcAft>
            </a:pPr>
            <a:r>
              <a:rPr sz="100">
                <a:solidFill>
                  <a:srgbClr val="FFFFFF"/>
                </a:solidFill>
                <a:latin typeface="Noto Sans"/>
              </a:rPr>
              <a:t>Ignorar o no contestar</a:t>
            </a:r>
          </a:p>
          <a:p>
            <a:pPr>
              <a:spcBef>
                <a:spcPts val="0"/>
              </a:spcBef>
              <a:spcAft>
                <a:spcPts val="0"/>
              </a:spcAft>
            </a:pPr>
            <a:r>
              <a:rPr sz="100">
                <a:solidFill>
                  <a:srgbClr val="FFFFFF"/>
                </a:solidFill>
                <a:latin typeface="Noto Sans"/>
              </a:rPr>
              <a:t>Bloquear (a la persona, cuenta o página)</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1.3%</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2.2%</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7.3%</a:t>
            </a:r>
          </a:p>
          <a:p>
            <a:pPr>
              <a:spcBef>
                <a:spcPts val="0"/>
              </a:spcBef>
              <a:spcAft>
                <a:spcPts val="0"/>
              </a:spcAft>
            </a:pPr>
            <a:r>
              <a:rPr sz="100">
                <a:solidFill>
                  <a:srgbClr val="FFFFFF"/>
                </a:solidFill>
                <a:latin typeface="Noto Sans"/>
              </a:rPr>
              <a:t>7.6%</a:t>
            </a:r>
          </a:p>
          <a:p>
            <a:pPr>
              <a:spcBef>
                <a:spcPts val="0"/>
              </a:spcBef>
              <a:spcAft>
                <a:spcPts val="0"/>
              </a:spcAft>
            </a:pPr>
            <a:r>
              <a:rPr sz="100">
                <a:solidFill>
                  <a:srgbClr val="FFFFFF"/>
                </a:solidFill>
                <a:latin typeface="Noto Sans"/>
              </a:rPr>
              <a:t>7.7%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18.9%</a:t>
            </a:r>
          </a:p>
          <a:p>
            <a:pPr>
              <a:spcBef>
                <a:spcPts val="0"/>
              </a:spcBef>
              <a:spcAft>
                <a:spcPts val="0"/>
              </a:spcAft>
            </a:pPr>
            <a:r>
              <a:rPr sz="100">
                <a:solidFill>
                  <a:srgbClr val="FFFFFF"/>
                </a:solidFill>
                <a:latin typeface="Noto Sans"/>
              </a:rPr>
              <a:t>66.5%</a:t>
            </a:r>
          </a:p>
          <a:p>
            <a:pPr>
              <a:spcBef>
                <a:spcPts val="0"/>
              </a:spcBef>
              <a:spcAft>
                <a:spcPts val="0"/>
              </a:spcAft>
            </a:pPr>
            <a:r>
              <a:rPr sz="100">
                <a:solidFill>
                  <a:srgbClr val="FFFFFF"/>
                </a:solidFill>
                <a:latin typeface="Noto Sans"/>
              </a:rPr>
              <a:t>Figura F.9.</a:t>
            </a:r>
          </a:p>
          <a:p>
            <a:pPr>
              <a:spcBef>
                <a:spcPts val="0"/>
              </a:spcBef>
              <a:spcAft>
                <a:spcPts val="0"/>
              </a:spcAft>
            </a:pPr>
            <a:r>
              <a:rPr sz="100">
                <a:solidFill>
                  <a:srgbClr val="FFFFFF"/>
                </a:solidFill>
                <a:latin typeface="Noto Sans"/>
              </a:rPr>
              <a:t>Medidas tomadas contra el ciberacoso experimentado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MOCIBA 2025, del INEGI. Para más información consultar https://www.inegi.org.mx/programas/mociba/2025/</a:t>
            </a:r>
          </a:p>
        </p:txBody>
      </p:sp>
      <p:pic>
        <p:nvPicPr>
          <p:cNvPr id="223" name="ANUARIO_IMAGE_F_9" descr="Figura F.9.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93</a:t>
            </a:r>
          </a:p>
        </p:txBody>
      </p:sp>
    </p:spTree>
  </p:cSld>
  <p:clrMapOvr>
    <a:masterClrMapping/>
  </p:clrMapOvr>
</p:sld>
</file>

<file path=ppt/slides/slide94.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0" descr="ANUARIO_FIGURE_ID=F.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F.10</a:t>
            </a:r>
          </a:p>
          <a:p>
            <a:pPr>
              <a:spcBef>
                <a:spcPts val="0"/>
              </a:spcBef>
              <a:spcAft>
                <a:spcPts val="600"/>
              </a:spcAft>
            </a:pPr>
            <a:r>
              <a:rPr sz="950" b="1">
                <a:solidFill>
                  <a:srgbClr val="203634"/>
                </a:solidFill>
                <a:latin typeface="Noto Sans"/>
              </a:rPr>
              <a:t>PERSONAS CON MAYOR RIESGO DE SER VÍCTIMAS DE VIOLENCIA EN INTERNET</a:t>
            </a:r>
          </a:p>
          <a:p>
            <a:pPr>
              <a:lnSpc>
                <a:spcPct val="100000"/>
              </a:lnSpc>
              <a:spcBef>
                <a:spcPts val="0"/>
              </a:spcBef>
              <a:spcAft>
                <a:spcPts val="400"/>
              </a:spcAft>
            </a:pPr>
            <a:r>
              <a:rPr sz="819" b="0">
                <a:solidFill>
                  <a:srgbClr val="434343"/>
                </a:solidFill>
                <a:latin typeface="Noto Sans"/>
              </a:rPr>
              <a:t>De acuerdo con la Tercera Encuesta 2023, el 56.3% de las personas usuarias de Internet fijo, mencionaron que, niños, niñas y adolescentes son quienes tienen mayor riesgo de ser víctimas de Violencia Digital a través de este medio. Mientras que, 43.3% de estas personas usuarias consideran que las mujeres tienen mayor riesgo de ser víctimas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0" descr="ANUARIO_FIGURE_ID=F.10;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0" descr="Capa accesible con el texto del SVG de la figura F.10"/>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F.10</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3.7%</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9.0%</a:t>
            </a:r>
          </a:p>
          <a:p>
            <a:pPr>
              <a:spcBef>
                <a:spcPts val="0"/>
              </a:spcBef>
              <a:spcAft>
                <a:spcPts val="0"/>
              </a:spcAft>
            </a:pPr>
            <a:r>
              <a:rPr sz="100">
                <a:solidFill>
                  <a:srgbClr val="FFFFFF"/>
                </a:solidFill>
                <a:latin typeface="Noto Sans"/>
              </a:rPr>
              <a:t>9.9%</a:t>
            </a:r>
          </a:p>
          <a:p>
            <a:pPr>
              <a:spcBef>
                <a:spcPts val="0"/>
              </a:spcBef>
              <a:spcAft>
                <a:spcPts val="0"/>
              </a:spcAft>
            </a:pPr>
            <a:r>
              <a:rPr sz="100">
                <a:solidFill>
                  <a:srgbClr val="FFFFFF"/>
                </a:solidFill>
                <a:latin typeface="Noto Sans"/>
              </a:rPr>
              <a:t>10.8%</a:t>
            </a:r>
          </a:p>
          <a:p>
            <a:pPr>
              <a:spcBef>
                <a:spcPts val="0"/>
              </a:spcBef>
              <a:spcAft>
                <a:spcPts val="0"/>
              </a:spcAft>
            </a:pPr>
            <a:r>
              <a:rPr sz="100">
                <a:solidFill>
                  <a:srgbClr val="FFFFFF"/>
                </a:solidFill>
                <a:latin typeface="Noto Sans"/>
              </a:rPr>
              <a:t>29.1%</a:t>
            </a:r>
          </a:p>
          <a:p>
            <a:pPr>
              <a:spcBef>
                <a:spcPts val="0"/>
              </a:spcBef>
              <a:spcAft>
                <a:spcPts val="0"/>
              </a:spcAft>
            </a:pPr>
            <a:r>
              <a:rPr sz="100">
                <a:solidFill>
                  <a:srgbClr val="FFFFFF"/>
                </a:solidFill>
                <a:latin typeface="Noto Sans"/>
              </a:rPr>
              <a:t>43.2%</a:t>
            </a:r>
          </a:p>
          <a:p>
            <a:pPr>
              <a:spcBef>
                <a:spcPts val="0"/>
              </a:spcBef>
              <a:spcAft>
                <a:spcPts val="0"/>
              </a:spcAft>
            </a:pPr>
            <a:r>
              <a:rPr sz="100">
                <a:solidFill>
                  <a:srgbClr val="FFFFFF"/>
                </a:solidFill>
                <a:latin typeface="Noto Sans"/>
              </a:rPr>
              <a:t>56.3%</a:t>
            </a:r>
          </a:p>
          <a:p>
            <a:pPr>
              <a:spcBef>
                <a:spcPts val="0"/>
              </a:spcBef>
              <a:spcAft>
                <a:spcPts val="0"/>
              </a:spcAft>
            </a:pPr>
            <a:r>
              <a:rPr sz="100">
                <a:solidFill>
                  <a:srgbClr val="FFFFFF"/>
                </a:solidFill>
                <a:latin typeface="Noto Sans"/>
              </a:rPr>
              <a:t>Figura F.10.</a:t>
            </a:r>
          </a:p>
          <a:p>
            <a:pPr>
              <a:spcBef>
                <a:spcPts val="0"/>
              </a:spcBef>
              <a:spcAft>
                <a:spcPts val="0"/>
              </a:spcAft>
            </a:pPr>
            <a:r>
              <a:rPr sz="100">
                <a:solidFill>
                  <a:srgbClr val="FFFFFF"/>
                </a:solidFill>
                <a:latin typeface="Noto Sans"/>
              </a:rPr>
              <a:t>Personas con mayor riesgo de ser víctimas de violencia en Internet (2023)</a:t>
            </a:r>
          </a:p>
          <a:p>
            <a:pPr>
              <a:spcBef>
                <a:spcPts val="0"/>
              </a:spcBef>
              <a:spcAft>
                <a:spcPts val="0"/>
              </a:spcAft>
            </a:pPr>
            <a:r>
              <a:rPr sz="100">
                <a:solidFill>
                  <a:srgbClr val="FFFFFF"/>
                </a:solidFill>
                <a:latin typeface="Noto Sans"/>
              </a:rPr>
              <a:t>VIOLENCIA DIGITAL</a:t>
            </a:r>
          </a:p>
          <a:p>
            <a:pPr>
              <a:spcBef>
                <a:spcPts val="0"/>
              </a:spcBef>
              <a:spcAft>
                <a:spcPts val="0"/>
              </a:spcAft>
            </a:pPr>
            <a:r>
              <a:rPr sz="100">
                <a:solidFill>
                  <a:srgbClr val="FFFFFF"/>
                </a:solidFill>
                <a:latin typeface="Noto Sans"/>
              </a:rPr>
              <a:t>La percepción de mayor riesgo</a:t>
            </a:r>
          </a:p>
          <a:p>
            <a:pPr>
              <a:spcBef>
                <a:spcPts val="0"/>
              </a:spcBef>
              <a:spcAft>
                <a:spcPts val="0"/>
              </a:spcAft>
            </a:pPr>
            <a:r>
              <a:rPr sz="100">
                <a:solidFill>
                  <a:srgbClr val="FFFFFF"/>
                </a:solidFill>
                <a:latin typeface="Noto Sans"/>
              </a:rPr>
              <a:t>se concentra en niños, niñas y</a:t>
            </a:r>
          </a:p>
          <a:p>
            <a:pPr>
              <a:spcBef>
                <a:spcPts val="0"/>
              </a:spcBef>
              <a:spcAft>
                <a:spcPts val="0"/>
              </a:spcAft>
            </a:pPr>
            <a:r>
              <a:rPr sz="100">
                <a:solidFill>
                  <a:srgbClr val="FFFFFF"/>
                </a:solidFill>
                <a:latin typeface="Noto Sans"/>
              </a:rPr>
              <a:t>adolescentes (56.3%). Los</a:t>
            </a:r>
          </a:p>
          <a:p>
            <a:pPr>
              <a:spcBef>
                <a:spcPts val="0"/>
              </a:spcBef>
              <a:spcAft>
                <a:spcPts val="0"/>
              </a:spcAft>
            </a:pPr>
            <a:r>
              <a:rPr sz="100">
                <a:solidFill>
                  <a:srgbClr val="FFFFFF"/>
                </a:solidFill>
                <a:latin typeface="Noto Sans"/>
              </a:rPr>
              <a:t>porcentajes se calcularon con</a:t>
            </a:r>
          </a:p>
          <a:p>
            <a:pPr>
              <a:spcBef>
                <a:spcPts val="0"/>
              </a:spcBef>
              <a:spcAft>
                <a:spcPts val="0"/>
              </a:spcAft>
            </a:pPr>
            <a:r>
              <a:rPr sz="100">
                <a:solidFill>
                  <a:srgbClr val="FFFFFF"/>
                </a:solidFill>
                <a:latin typeface="Noto Sans"/>
              </a:rPr>
              <a:t>el factor de expansión</a:t>
            </a:r>
          </a:p>
          <a:p>
            <a:pPr>
              <a:spcBef>
                <a:spcPts val="0"/>
              </a:spcBef>
              <a:spcAft>
                <a:spcPts val="0"/>
              </a:spcAft>
            </a:pPr>
            <a:r>
              <a:rPr sz="100">
                <a:solidFill>
                  <a:srgbClr val="FFFFFF"/>
                </a:solidFill>
                <a:latin typeface="Noto Sans"/>
              </a:rPr>
              <a:t>normalizado entre personas</a:t>
            </a:r>
          </a:p>
          <a:p>
            <a:pPr>
              <a:spcBef>
                <a:spcPts val="0"/>
              </a:spcBef>
              <a:spcAft>
                <a:spcPts val="0"/>
              </a:spcAft>
            </a:pPr>
            <a:r>
              <a:rPr sz="100">
                <a:solidFill>
                  <a:srgbClr val="FFFFFF"/>
                </a:solidFill>
                <a:latin typeface="Noto Sans"/>
              </a:rPr>
              <a:t>usuarias de Internet fijo.</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0" descr="Figura F.10.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94</a:t>
            </a:r>
          </a:p>
        </p:txBody>
      </p:sp>
    </p:spTree>
  </p:cSld>
  <p:clrMapOvr>
    <a:masterClrMapping/>
  </p:clrMapOvr>
</p:sld>
</file>

<file path=ppt/slides/slide95.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1" descr="ANUARIO_FIGURE_ID=F.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F.11</a:t>
            </a:r>
          </a:p>
          <a:p>
            <a:pPr>
              <a:spcBef>
                <a:spcPts val="0"/>
              </a:spcBef>
              <a:spcAft>
                <a:spcPts val="600"/>
              </a:spcAft>
            </a:pPr>
            <a:r>
              <a:rPr sz="950" b="1">
                <a:solidFill>
                  <a:srgbClr val="203634"/>
                </a:solidFill>
                <a:latin typeface="Noto Sans"/>
              </a:rPr>
              <a:t>PERSONAS CON MAYOR RIESGO DE SER VÍCTIMAS DE VIOLENCIA EN INTERNET POR SEXO</a:t>
            </a:r>
          </a:p>
          <a:p>
            <a:pPr>
              <a:lnSpc>
                <a:spcPct val="100000"/>
              </a:lnSpc>
              <a:spcBef>
                <a:spcPts val="0"/>
              </a:spcBef>
              <a:spcAft>
                <a:spcPts val="400"/>
              </a:spcAft>
            </a:pPr>
            <a:r>
              <a:rPr sz="760" b="0">
                <a:solidFill>
                  <a:srgbClr val="434343"/>
                </a:solidFill>
                <a:latin typeface="Noto Sans"/>
              </a:rPr>
              <a:t>Al consultar a la población desagregada por sexo, el 58.4% de las mujeres respondieron que los niños, niñas y adolescentes tienen mayor riesgo de ser víctimas de violencia digital a través del uso del Internet, en comparación con un 54.1% de los hombres; siendo así, los niños, niñas y adolescentes y las mujeres; el grupo más sensible y vulnerable para pedofilia y robo, en el caso de los niños, niñas y adolescentes; por su falta de conocimiento o credulidad que pueden tener debido a su edad.</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1" descr="ANUARIO_FIGURE_ID=F.1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1" descr="Capa accesible con el texto del SVG de la figura F.1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afrodescendientes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 indígenas</a:t>
            </a:r>
          </a:p>
          <a:p>
            <a:pPr>
              <a:spcBef>
                <a:spcPts val="0"/>
              </a:spcBef>
              <a:spcAft>
                <a:spcPts val="0"/>
              </a:spcAft>
            </a:pPr>
            <a:r>
              <a:rPr sz="100">
                <a:solidFill>
                  <a:srgbClr val="FFFFFF"/>
                </a:solidFill>
                <a:latin typeface="Noto Sans"/>
              </a:rPr>
              <a:t>Personas de la comunidad LGBTIQ+</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29.8%</a:t>
            </a:r>
          </a:p>
          <a:p>
            <a:pPr>
              <a:spcBef>
                <a:spcPts val="0"/>
              </a:spcBef>
              <a:spcAft>
                <a:spcPts val="0"/>
              </a:spcAft>
            </a:pPr>
            <a:r>
              <a:rPr sz="100">
                <a:solidFill>
                  <a:srgbClr val="FFFFFF"/>
                </a:solidFill>
                <a:latin typeface="Noto Sans"/>
              </a:rPr>
              <a:t>4.3%</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5.5%</a:t>
            </a:r>
          </a:p>
          <a:p>
            <a:pPr>
              <a:spcBef>
                <a:spcPts val="0"/>
              </a:spcBef>
              <a:spcAft>
                <a:spcPts val="0"/>
              </a:spcAft>
            </a:pPr>
            <a:r>
              <a:rPr sz="100">
                <a:solidFill>
                  <a:srgbClr val="FFFFFF"/>
                </a:solidFill>
                <a:latin typeface="Noto Sans"/>
              </a:rPr>
              <a:t>9.7%</a:t>
            </a:r>
          </a:p>
          <a:p>
            <a:pPr>
              <a:spcBef>
                <a:spcPts val="0"/>
              </a:spcBef>
              <a:spcAft>
                <a:spcPts val="0"/>
              </a:spcAft>
            </a:pPr>
            <a:r>
              <a:rPr sz="100">
                <a:solidFill>
                  <a:srgbClr val="FFFFFF"/>
                </a:solidFill>
                <a:latin typeface="Noto Sans"/>
              </a:rPr>
              <a:t>9.8%</a:t>
            </a:r>
          </a:p>
          <a:p>
            <a:pPr>
              <a:spcBef>
                <a:spcPts val="0"/>
              </a:spcBef>
              <a:spcAft>
                <a:spcPts val="0"/>
              </a:spcAft>
            </a:pPr>
            <a:r>
              <a:rPr sz="100">
                <a:solidFill>
                  <a:srgbClr val="FFFFFF"/>
                </a:solidFill>
                <a:latin typeface="Noto Sans"/>
              </a:rPr>
              <a:t>11.5%</a:t>
            </a:r>
          </a:p>
          <a:p>
            <a:pPr>
              <a:spcBef>
                <a:spcPts val="0"/>
              </a:spcBef>
              <a:spcAft>
                <a:spcPts val="0"/>
              </a:spcAft>
            </a:pPr>
            <a:r>
              <a:rPr sz="100">
                <a:solidFill>
                  <a:srgbClr val="FFFFFF"/>
                </a:solidFill>
                <a:latin typeface="Noto Sans"/>
              </a:rPr>
              <a:t>43.5%</a:t>
            </a:r>
          </a:p>
          <a:p>
            <a:pPr>
              <a:spcBef>
                <a:spcPts val="0"/>
              </a:spcBef>
              <a:spcAft>
                <a:spcPts val="0"/>
              </a:spcAft>
            </a:pPr>
            <a:r>
              <a:rPr sz="100">
                <a:solidFill>
                  <a:srgbClr val="FFFFFF"/>
                </a:solidFill>
                <a:latin typeface="Noto Sans"/>
              </a:rPr>
              <a:t>54.1%</a:t>
            </a:r>
          </a:p>
          <a:p>
            <a:pPr>
              <a:spcBef>
                <a:spcPts val="0"/>
              </a:spcBef>
              <a:spcAft>
                <a:spcPts val="0"/>
              </a:spcAft>
            </a:pPr>
            <a:r>
              <a:rPr sz="100">
                <a:solidFill>
                  <a:srgbClr val="FFFFFF"/>
                </a:solidFill>
                <a:latin typeface="Noto Sans"/>
              </a:rPr>
              <a:t>28.4%</a:t>
            </a:r>
          </a:p>
          <a:p>
            <a:pPr>
              <a:spcBef>
                <a:spcPts val="0"/>
              </a:spcBef>
              <a:spcAft>
                <a:spcPts val="0"/>
              </a:spcAft>
            </a:pPr>
            <a:r>
              <a:rPr sz="100">
                <a:solidFill>
                  <a:srgbClr val="FFFFFF"/>
                </a:solidFill>
                <a:latin typeface="Noto Sans"/>
              </a:rPr>
              <a:t>3.1%</a:t>
            </a:r>
          </a:p>
          <a:p>
            <a:pPr>
              <a:spcBef>
                <a:spcPts val="0"/>
              </a:spcBef>
              <a:spcAft>
                <a:spcPts val="0"/>
              </a:spcAft>
            </a:pPr>
            <a:r>
              <a:rPr sz="100">
                <a:solidFill>
                  <a:srgbClr val="FFFFFF"/>
                </a:solidFill>
                <a:latin typeface="Noto Sans"/>
              </a:rPr>
              <a:t>4.4%</a:t>
            </a:r>
          </a:p>
          <a:p>
            <a:pPr>
              <a:spcBef>
                <a:spcPts val="0"/>
              </a:spcBef>
              <a:spcAft>
                <a:spcPts val="0"/>
              </a:spcAft>
            </a:pPr>
            <a:r>
              <a:rPr sz="100">
                <a:solidFill>
                  <a:srgbClr val="FFFFFF"/>
                </a:solidFill>
                <a:latin typeface="Noto Sans"/>
              </a:rPr>
              <a:t>5.1%</a:t>
            </a:r>
          </a:p>
          <a:p>
            <a:pPr>
              <a:spcBef>
                <a:spcPts val="0"/>
              </a:spcBef>
              <a:spcAft>
                <a:spcPts val="0"/>
              </a:spcAft>
            </a:pPr>
            <a:r>
              <a:rPr sz="100">
                <a:solidFill>
                  <a:srgbClr val="FFFFFF"/>
                </a:solidFill>
                <a:latin typeface="Noto Sans"/>
              </a:rPr>
              <a:t>8.3%</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10.1%</a:t>
            </a:r>
          </a:p>
          <a:p>
            <a:pPr>
              <a:spcBef>
                <a:spcPts val="0"/>
              </a:spcBef>
              <a:spcAft>
                <a:spcPts val="0"/>
              </a:spcAft>
            </a:pPr>
            <a:r>
              <a:rPr sz="100">
                <a:solidFill>
                  <a:srgbClr val="FFFFFF"/>
                </a:solidFill>
                <a:latin typeface="Noto Sans"/>
              </a:rPr>
              <a:t>43.0%</a:t>
            </a:r>
          </a:p>
          <a:p>
            <a:pPr>
              <a:spcBef>
                <a:spcPts val="0"/>
              </a:spcBef>
              <a:spcAft>
                <a:spcPts val="0"/>
              </a:spcAft>
            </a:pPr>
            <a:r>
              <a:rPr sz="100">
                <a:solidFill>
                  <a:srgbClr val="FFFFFF"/>
                </a:solidFill>
                <a:latin typeface="Noto Sans"/>
              </a:rPr>
              <a:t>58.4%</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F.11.</a:t>
            </a:r>
          </a:p>
          <a:p>
            <a:pPr>
              <a:spcBef>
                <a:spcPts val="0"/>
              </a:spcBef>
              <a:spcAft>
                <a:spcPts val="0"/>
              </a:spcAft>
            </a:pPr>
            <a:r>
              <a:rPr sz="100">
                <a:solidFill>
                  <a:srgbClr val="FFFFFF"/>
                </a:solidFill>
                <a:latin typeface="Noto Sans"/>
              </a:rPr>
              <a:t>Personas con mayor riesgo de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1" descr="Figura F.1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95</a:t>
            </a:r>
          </a:p>
        </p:txBody>
      </p:sp>
    </p:spTree>
  </p:cSld>
  <p:clrMapOvr>
    <a:masterClrMapping/>
  </p:clrMapOvr>
</p:sld>
</file>

<file path=ppt/slides/slide96.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2" descr="ANUARIO_FIGURE_ID=F.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F.12</a:t>
            </a:r>
          </a:p>
          <a:p>
            <a:pPr>
              <a:spcBef>
                <a:spcPts val="0"/>
              </a:spcBef>
              <a:spcAft>
                <a:spcPts val="600"/>
              </a:spcAft>
            </a:pPr>
            <a:r>
              <a:rPr sz="950" b="1">
                <a:solidFill>
                  <a:srgbClr val="203634"/>
                </a:solidFill>
                <a:latin typeface="Noto Sans"/>
              </a:rPr>
              <a:t>PERSONAS CON MAYOR RIESGO DE VIOLENCIA A TRAVÉS DEL TELÉFONO MÓVIL</a:t>
            </a:r>
          </a:p>
          <a:p>
            <a:pPr>
              <a:lnSpc>
                <a:spcPct val="100000"/>
              </a:lnSpc>
              <a:spcBef>
                <a:spcPts val="0"/>
              </a:spcBef>
              <a:spcAft>
                <a:spcPts val="400"/>
              </a:spcAft>
            </a:pPr>
            <a:r>
              <a:rPr sz="819" b="0">
                <a:solidFill>
                  <a:srgbClr val="434343"/>
                </a:solidFill>
                <a:latin typeface="Noto Sans"/>
              </a:rPr>
              <a:t>De acuerdo a la Tercera Encuesta 2023, el 46.5% de las personas usuarias de Telefonía móvil mencionaron que, los niños, niñas y adolescentes son quienes tienen mayor riesgo de ser víctimas de Violencia Digital a través del teléfono móvil. Mientras que, 20.5% de estas personas usuarias consideran que las personas adultas mayores tienen mayor riesgo de ser víctima de este tipo de violencia.</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2" descr="ANUARIO_FIGURE_ID=F.12;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2" descr="Capa accesible con el texto del SVG de la figura F.12"/>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F.12</a:t>
            </a:r>
          </a:p>
          <a:p>
            <a:pPr>
              <a:spcBef>
                <a:spcPts val="0"/>
              </a:spcBef>
              <a:spcAft>
                <a:spcPts val="0"/>
              </a:spcAft>
            </a:pPr>
            <a:r>
              <a:rPr sz="100">
                <a:solidFill>
                  <a:srgbClr val="FFFFFF"/>
                </a:solidFill>
                <a:latin typeface="Noto Sans"/>
              </a:rPr>
              <a:t>Niños,</a:t>
            </a:r>
          </a:p>
          <a:p>
            <a:pPr>
              <a:spcBef>
                <a:spcPts val="0"/>
              </a:spcBef>
              <a:spcAft>
                <a:spcPts val="0"/>
              </a:spcAft>
            </a:pPr>
            <a:r>
              <a:rPr sz="100">
                <a:solidFill>
                  <a:srgbClr val="FFFFFF"/>
                </a:solidFill>
                <a:latin typeface="Noto Sans"/>
              </a:rPr>
              <a:t>niñas y adolescentes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adultas mayores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Parientes</a:t>
            </a:r>
          </a:p>
          <a:p>
            <a:pPr>
              <a:spcBef>
                <a:spcPts val="0"/>
              </a:spcBef>
              <a:spcAft>
                <a:spcPts val="0"/>
              </a:spcAft>
            </a:pPr>
            <a:r>
              <a:rPr sz="100">
                <a:solidFill>
                  <a:srgbClr val="FFFFFF"/>
                </a:solidFill>
                <a:latin typeface="Noto Sans"/>
              </a:rPr>
              <a:t>(familiares)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Personas</a:t>
            </a:r>
          </a:p>
          <a:p>
            <a:pPr>
              <a:spcBef>
                <a:spcPts val="0"/>
              </a:spcBef>
              <a:spcAft>
                <a:spcPts val="0"/>
              </a:spcAft>
            </a:pPr>
            <a:r>
              <a:rPr sz="100">
                <a:solidFill>
                  <a:srgbClr val="FFFFFF"/>
                </a:solidFill>
                <a:latin typeface="Noto Sans"/>
              </a:rPr>
              <a:t>con discapacidad</a:t>
            </a:r>
          </a:p>
          <a:p>
            <a:pPr>
              <a:spcBef>
                <a:spcPts val="0"/>
              </a:spcBef>
              <a:spcAft>
                <a:spcPts val="0"/>
              </a:spcAft>
            </a:pPr>
            <a:r>
              <a:rPr sz="100">
                <a:solidFill>
                  <a:srgbClr val="FFFFFF"/>
                </a:solidFill>
                <a:latin typeface="Noto Sans"/>
              </a:rPr>
              <a:t>Todas</a:t>
            </a:r>
          </a:p>
          <a:p>
            <a:pPr>
              <a:spcBef>
                <a:spcPts val="0"/>
              </a:spcBef>
              <a:spcAft>
                <a:spcPts val="0"/>
              </a:spcAft>
            </a:pPr>
            <a:r>
              <a:rPr sz="100">
                <a:solidFill>
                  <a:srgbClr val="FFFFFF"/>
                </a:solidFill>
                <a:latin typeface="Noto Sans"/>
              </a:rPr>
              <a:t>las personas son vulnerables</a:t>
            </a:r>
          </a:p>
          <a:p>
            <a:pPr>
              <a:spcBef>
                <a:spcPts val="0"/>
              </a:spcBef>
              <a:spcAft>
                <a:spcPts val="0"/>
              </a:spcAft>
            </a:pPr>
            <a:r>
              <a:rPr sz="100">
                <a:solidFill>
                  <a:srgbClr val="FFFFFF"/>
                </a:solidFill>
                <a:latin typeface="Noto Sans"/>
              </a:rPr>
              <a:t>46.5%</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12.2%</a:t>
            </a:r>
          </a:p>
          <a:p>
            <a:pPr>
              <a:spcBef>
                <a:spcPts val="0"/>
              </a:spcBef>
              <a:spcAft>
                <a:spcPts val="0"/>
              </a:spcAft>
            </a:pPr>
            <a:r>
              <a:rPr sz="100">
                <a:solidFill>
                  <a:srgbClr val="FFFFFF"/>
                </a:solidFill>
                <a:latin typeface="Noto Sans"/>
              </a:rPr>
              <a:t>6.7%</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23.7%</a:t>
            </a:r>
          </a:p>
          <a:p>
            <a:pPr>
              <a:spcBef>
                <a:spcPts val="0"/>
              </a:spcBef>
              <a:spcAft>
                <a:spcPts val="0"/>
              </a:spcAft>
            </a:pPr>
            <a:r>
              <a:rPr sz="100">
                <a:solidFill>
                  <a:srgbClr val="FFFFFF"/>
                </a:solidFill>
                <a:latin typeface="Noto Sans"/>
              </a:rPr>
              <a:t>Figura F.12.</a:t>
            </a:r>
          </a:p>
          <a:p>
            <a:pPr>
              <a:spcBef>
                <a:spcPts val="0"/>
              </a:spcBef>
              <a:spcAft>
                <a:spcPts val="0"/>
              </a:spcAft>
            </a:pPr>
            <a:r>
              <a:rPr sz="100">
                <a:solidFill>
                  <a:srgbClr val="FFFFFF"/>
                </a:solidFill>
                <a:latin typeface="Noto Sans"/>
              </a:rPr>
              <a:t>Personas con mayor riesgo de violencia a través del teléfono móvil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 y no suman 100%.</a:t>
            </a:r>
          </a:p>
        </p:txBody>
      </p:sp>
      <p:pic>
        <p:nvPicPr>
          <p:cNvPr id="223" name="ANUARIO_IMAGE_F_12" descr="Figura F.12.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96</a:t>
            </a:r>
          </a:p>
        </p:txBody>
      </p:sp>
    </p:spTree>
  </p:cSld>
  <p:clrMapOvr>
    <a:masterClrMapping/>
  </p:clrMapOvr>
</p:sld>
</file>

<file path=ppt/slides/slide97.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3" descr="ANUARIO_FIGURE_ID=F.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F.13</a:t>
            </a:r>
          </a:p>
          <a:p>
            <a:pPr>
              <a:spcBef>
                <a:spcPts val="0"/>
              </a:spcBef>
              <a:spcAft>
                <a:spcPts val="600"/>
              </a:spcAft>
            </a:pPr>
            <a:r>
              <a:rPr sz="950" b="1">
                <a:solidFill>
                  <a:srgbClr val="203634"/>
                </a:solidFill>
                <a:latin typeface="Noto Sans"/>
              </a:rPr>
              <a:t>PERSONAS CON MAYOR RIESGO DE VIOLENCIA MEDIANTE TELEFONÍA MÓVIL POR SEXO</a:t>
            </a:r>
          </a:p>
          <a:p>
            <a:pPr>
              <a:lnSpc>
                <a:spcPct val="100000"/>
              </a:lnSpc>
              <a:spcBef>
                <a:spcPts val="0"/>
              </a:spcBef>
              <a:spcAft>
                <a:spcPts val="400"/>
              </a:spcAft>
            </a:pPr>
            <a:r>
              <a:rPr sz="760" b="0">
                <a:solidFill>
                  <a:srgbClr val="434343"/>
                </a:solidFill>
                <a:latin typeface="Noto Sans"/>
              </a:rPr>
              <a:t>De acuerdo con la “Tercera Encuesta 2023”, las personas encuestadas afirman que las personas con mayor riesgo de ser víctimas de Violencia Digital son los niños, niñas y adolescentes a través del teléfono móvil, con el 49.0% de votos para caso de las mujeres y en 43.7% para el caso de votos por los hombres, siendo las personas con discapacidad con menor riesgo de ser víctimas de Violencia Digital con un 1.2% de votos para el caso de las mujeres y el 0.8% de votos para el caso de los hombres.</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3" descr="ANUARIO_FIGURE_ID=F.13;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3" descr="Capa accesible con el texto del SVG de la figura F.13"/>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F.13</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50%</a:t>
            </a:r>
          </a:p>
          <a:p>
            <a:pPr>
              <a:spcBef>
                <a:spcPts val="0"/>
              </a:spcBef>
              <a:spcAft>
                <a:spcPts val="0"/>
              </a:spcAft>
            </a:pPr>
            <a:r>
              <a:rPr sz="100">
                <a:solidFill>
                  <a:srgbClr val="FFFFFF"/>
                </a:solidFill>
                <a:latin typeface="Noto Sans"/>
              </a:rPr>
              <a:t>Todas las personas son vulnerables</a:t>
            </a:r>
          </a:p>
          <a:p>
            <a:pPr>
              <a:spcBef>
                <a:spcPts val="0"/>
              </a:spcBef>
              <a:spcAft>
                <a:spcPts val="0"/>
              </a:spcAft>
            </a:pPr>
            <a:r>
              <a:rPr sz="100">
                <a:solidFill>
                  <a:srgbClr val="FFFFFF"/>
                </a:solidFill>
                <a:latin typeface="Noto Sans"/>
              </a:rPr>
              <a:t>Personas con discapacidad</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Parientes (familiares)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Personas adultas mayores</a:t>
            </a:r>
          </a:p>
          <a:p>
            <a:pPr>
              <a:spcBef>
                <a:spcPts val="0"/>
              </a:spcBef>
              <a:spcAft>
                <a:spcPts val="0"/>
              </a:spcAft>
            </a:pPr>
            <a:r>
              <a:rPr sz="100">
                <a:solidFill>
                  <a:srgbClr val="FFFFFF"/>
                </a:solidFill>
                <a:latin typeface="Noto Sans"/>
              </a:rPr>
              <a:t>Niños, niñas y adolescentes</a:t>
            </a:r>
          </a:p>
          <a:p>
            <a:pPr>
              <a:spcBef>
                <a:spcPts val="0"/>
              </a:spcBef>
              <a:spcAft>
                <a:spcPts val="0"/>
              </a:spcAft>
            </a:pPr>
            <a:r>
              <a:rPr sz="100">
                <a:solidFill>
                  <a:srgbClr val="FFFFFF"/>
                </a:solidFill>
                <a:latin typeface="Noto Sans"/>
              </a:rPr>
              <a:t>22.1%</a:t>
            </a:r>
          </a:p>
          <a:p>
            <a:pPr>
              <a:spcBef>
                <a:spcPts val="0"/>
              </a:spcBef>
              <a:spcAft>
                <a:spcPts val="0"/>
              </a:spcAft>
            </a:pPr>
            <a:r>
              <a:rPr sz="100">
                <a:solidFill>
                  <a:srgbClr val="FFFFFF"/>
                </a:solidFill>
                <a:latin typeface="Noto Sans"/>
              </a:rPr>
              <a:t>0.8%</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7.2%</a:t>
            </a:r>
          </a:p>
          <a:p>
            <a:pPr>
              <a:spcBef>
                <a:spcPts val="0"/>
              </a:spcBef>
              <a:spcAft>
                <a:spcPts val="0"/>
              </a:spcAft>
            </a:pPr>
            <a:r>
              <a:rPr sz="100">
                <a:solidFill>
                  <a:srgbClr val="FFFFFF"/>
                </a:solidFill>
                <a:latin typeface="Noto Sans"/>
              </a:rPr>
              <a:t>12.7%</a:t>
            </a:r>
          </a:p>
          <a:p>
            <a:pPr>
              <a:spcBef>
                <a:spcPts val="0"/>
              </a:spcBef>
              <a:spcAft>
                <a:spcPts val="0"/>
              </a:spcAft>
            </a:pPr>
            <a:r>
              <a:rPr sz="100">
                <a:solidFill>
                  <a:srgbClr val="FFFFFF"/>
                </a:solidFill>
                <a:latin typeface="Noto Sans"/>
              </a:rPr>
              <a:t>20.4%</a:t>
            </a:r>
          </a:p>
          <a:p>
            <a:pPr>
              <a:spcBef>
                <a:spcPts val="0"/>
              </a:spcBef>
              <a:spcAft>
                <a:spcPts val="0"/>
              </a:spcAft>
            </a:pPr>
            <a:r>
              <a:rPr sz="100">
                <a:solidFill>
                  <a:srgbClr val="FFFFFF"/>
                </a:solidFill>
                <a:latin typeface="Noto Sans"/>
              </a:rPr>
              <a:t>43.7%</a:t>
            </a:r>
          </a:p>
          <a:p>
            <a:pPr>
              <a:spcBef>
                <a:spcPts val="0"/>
              </a:spcBef>
              <a:spcAft>
                <a:spcPts val="0"/>
              </a:spcAft>
            </a:pPr>
            <a:r>
              <a:rPr sz="100">
                <a:solidFill>
                  <a:srgbClr val="FFFFFF"/>
                </a:solidFill>
                <a:latin typeface="Noto Sans"/>
              </a:rPr>
              <a:t>25.2%</a:t>
            </a:r>
          </a:p>
          <a:p>
            <a:pPr>
              <a:spcBef>
                <a:spcPts val="0"/>
              </a:spcBef>
              <a:spcAft>
                <a:spcPts val="0"/>
              </a:spcAft>
            </a:pPr>
            <a:r>
              <a:rPr sz="100">
                <a:solidFill>
                  <a:srgbClr val="FFFFFF"/>
                </a:solidFill>
                <a:latin typeface="Noto Sans"/>
              </a:rPr>
              <a:t>1.2%</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11.9%</a:t>
            </a:r>
          </a:p>
          <a:p>
            <a:pPr>
              <a:spcBef>
                <a:spcPts val="0"/>
              </a:spcBef>
              <a:spcAft>
                <a:spcPts val="0"/>
              </a:spcAft>
            </a:pPr>
            <a:r>
              <a:rPr sz="100">
                <a:solidFill>
                  <a:srgbClr val="FFFFFF"/>
                </a:solidFill>
                <a:latin typeface="Noto Sans"/>
              </a:rPr>
              <a:t>20.5%</a:t>
            </a:r>
          </a:p>
          <a:p>
            <a:pPr>
              <a:spcBef>
                <a:spcPts val="0"/>
              </a:spcBef>
              <a:spcAft>
                <a:spcPts val="0"/>
              </a:spcAft>
            </a:pPr>
            <a:r>
              <a:rPr sz="100">
                <a:solidFill>
                  <a:srgbClr val="FFFFFF"/>
                </a:solidFill>
                <a:latin typeface="Noto Sans"/>
              </a:rPr>
              <a:t>49.0%</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Figura F.13.</a:t>
            </a:r>
          </a:p>
          <a:p>
            <a:pPr>
              <a:spcBef>
                <a:spcPts val="0"/>
              </a:spcBef>
              <a:spcAft>
                <a:spcPts val="0"/>
              </a:spcAft>
            </a:pPr>
            <a:r>
              <a:rPr sz="100">
                <a:solidFill>
                  <a:srgbClr val="FFFFFF"/>
                </a:solidFill>
                <a:latin typeface="Noto Sans"/>
              </a:rPr>
              <a:t>Personas con mayor riesgo de violencia mediante telefonía móvil,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por sexo; respuestas de selección múltiple.</a:t>
            </a:r>
          </a:p>
        </p:txBody>
      </p:sp>
      <p:pic>
        <p:nvPicPr>
          <p:cNvPr id="223" name="ANUARIO_IMAGE_F_13" descr="Figura F.13.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97</a:t>
            </a:r>
          </a:p>
        </p:txBody>
      </p:sp>
    </p:spTree>
  </p:cSld>
  <p:clrMapOvr>
    <a:masterClrMapping/>
  </p:clrMapOvr>
</p:sld>
</file>

<file path=ppt/slides/slide98.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4" descr="ANUARIO_FIGURE_ID=F.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F.14</a:t>
            </a:r>
          </a:p>
          <a:p>
            <a:pPr>
              <a:spcBef>
                <a:spcPts val="0"/>
              </a:spcBef>
              <a:spcAft>
                <a:spcPts val="600"/>
              </a:spcAft>
            </a:pPr>
            <a:r>
              <a:rPr sz="950" b="1">
                <a:solidFill>
                  <a:srgbClr val="203634"/>
                </a:solidFill>
                <a:latin typeface="Noto Sans"/>
              </a:rPr>
              <a:t>MEDIDAS PREVENTIVAS Y DE PROTECCIÓN ANTE LA VIOLENCIA DIGITAL</a:t>
            </a:r>
          </a:p>
          <a:p>
            <a:pPr>
              <a:lnSpc>
                <a:spcPct val="100000"/>
              </a:lnSpc>
              <a:spcBef>
                <a:spcPts val="0"/>
              </a:spcBef>
              <a:spcAft>
                <a:spcPts val="400"/>
              </a:spcAft>
            </a:pPr>
            <a:r>
              <a:rPr sz="880" b="0">
                <a:solidFill>
                  <a:srgbClr val="434343"/>
                </a:solidFill>
                <a:latin typeface="Noto Sans"/>
              </a:rPr>
              <a:t>De acuerdo con la “Tercera Encuesta 2023”, las personas participantes del estudio cualitativo de ambos sexos, coinciden de manera espontánea, que son los(as) propios(as) usuarios(as) quienes tienen que establecer sus medidas de protección.</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4" descr="ANUARIO_FIGURE_ID=F.14;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4" descr="Capa accesible con el texto del SVG de la figura F.14"/>
          <p:cNvSpPr txBox="1"/>
          <p:nvPr/>
        </p:nvSpPr>
        <p:spPr>
          <a:xfrm>
            <a:off x="3357372" y="1210286"/>
            <a:ext cx="5279136" cy="3056877"/>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F.14</a:t>
            </a:r>
          </a:p>
          <a:p>
            <a:pPr>
              <a:spcBef>
                <a:spcPts val="0"/>
              </a:spcBef>
              <a:spcAft>
                <a:spcPts val="0"/>
              </a:spcAft>
            </a:pPr>
            <a:r>
              <a:rPr sz="100">
                <a:solidFill>
                  <a:srgbClr val="FFFFFF"/>
                </a:solidFill>
                <a:latin typeface="Noto Sans"/>
              </a:rPr>
              <a:t>Figura F.14.</a:t>
            </a:r>
          </a:p>
          <a:p>
            <a:pPr>
              <a:spcBef>
                <a:spcPts val="0"/>
              </a:spcBef>
              <a:spcAft>
                <a:spcPts val="0"/>
              </a:spcAft>
            </a:pPr>
            <a:r>
              <a:rPr sz="100">
                <a:solidFill>
                  <a:srgbClr val="FFFFFF"/>
                </a:solidFill>
                <a:latin typeface="Noto Sans"/>
              </a:rPr>
              <a:t>Medidas preventivas y de protección ante la violencia digital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Información correspondiente al estudio cualitativo; no es representativa a nivel nacional.</a:t>
            </a:r>
          </a:p>
          <a:p>
            <a:pPr>
              <a:spcBef>
                <a:spcPts val="0"/>
              </a:spcBef>
              <a:spcAft>
                <a:spcPts val="0"/>
              </a:spcAft>
            </a:pPr>
            <a:r>
              <a:rPr sz="100">
                <a:solidFill>
                  <a:srgbClr val="FFFFFF"/>
                </a:solidFill>
                <a:latin typeface="Noto Sans"/>
              </a:rPr>
              <a:t>Cuidar el tipo de información que</a:t>
            </a:r>
          </a:p>
          <a:p>
            <a:pPr>
              <a:spcBef>
                <a:spcPts val="0"/>
              </a:spcBef>
              <a:spcAft>
                <a:spcPts val="0"/>
              </a:spcAft>
            </a:pPr>
            <a:r>
              <a:rPr sz="100">
                <a:solidFill>
                  <a:srgbClr val="FFFFFF"/>
                </a:solidFill>
                <a:latin typeface="Noto Sans"/>
              </a:rPr>
              <a:t>comparten y evitar divulgar información</a:t>
            </a:r>
          </a:p>
          <a:p>
            <a:pPr>
              <a:spcBef>
                <a:spcPts val="0"/>
              </a:spcBef>
              <a:spcAft>
                <a:spcPts val="0"/>
              </a:spcAft>
            </a:pPr>
            <a:r>
              <a:rPr sz="100">
                <a:solidFill>
                  <a:srgbClr val="FFFFFF"/>
                </a:solidFill>
                <a:latin typeface="Noto Sans"/>
              </a:rPr>
              <a:t>personal privada, propia o de familiares.</a:t>
            </a:r>
          </a:p>
          <a:p>
            <a:pPr>
              <a:spcBef>
                <a:spcPts val="0"/>
              </a:spcBef>
              <a:spcAft>
                <a:spcPts val="0"/>
              </a:spcAft>
            </a:pPr>
            <a:r>
              <a:rPr sz="100">
                <a:solidFill>
                  <a:srgbClr val="FFFFFF"/>
                </a:solidFill>
                <a:latin typeface="Noto Sans"/>
              </a:rPr>
              <a:t>Tener contacto solamente con personas</a:t>
            </a:r>
          </a:p>
          <a:p>
            <a:pPr>
              <a:spcBef>
                <a:spcPts val="0"/>
              </a:spcBef>
              <a:spcAft>
                <a:spcPts val="0"/>
              </a:spcAft>
            </a:pPr>
            <a:r>
              <a:rPr sz="100">
                <a:solidFill>
                  <a:srgbClr val="FFFFFF"/>
                </a:solidFill>
                <a:latin typeface="Noto Sans"/>
              </a:rPr>
              <a:t>conocidas y no aceptar a desconocidos.</a:t>
            </a:r>
          </a:p>
          <a:p>
            <a:pPr>
              <a:spcBef>
                <a:spcPts val="0"/>
              </a:spcBef>
              <a:spcAft>
                <a:spcPts val="0"/>
              </a:spcAft>
            </a:pPr>
            <a:r>
              <a:rPr sz="100">
                <a:solidFill>
                  <a:srgbClr val="FFFFFF"/>
                </a:solidFill>
                <a:latin typeface="Noto Sans"/>
              </a:rPr>
              <a:t>No entrar a sitios ni vínculos desconocidos,</a:t>
            </a:r>
          </a:p>
          <a:p>
            <a:pPr>
              <a:spcBef>
                <a:spcPts val="0"/>
              </a:spcBef>
              <a:spcAft>
                <a:spcPts val="0"/>
              </a:spcAft>
            </a:pPr>
            <a:r>
              <a:rPr sz="100">
                <a:solidFill>
                  <a:srgbClr val="FFFFFF"/>
                </a:solidFill>
                <a:latin typeface="Noto Sans"/>
              </a:rPr>
              <a:t>aunque parezcan atractivos.</a:t>
            </a:r>
          </a:p>
          <a:p>
            <a:pPr>
              <a:spcBef>
                <a:spcPts val="0"/>
              </a:spcBef>
              <a:spcAft>
                <a:spcPts val="0"/>
              </a:spcAft>
            </a:pPr>
            <a:r>
              <a:rPr sz="100">
                <a:solidFill>
                  <a:srgbClr val="FFFFFF"/>
                </a:solidFill>
                <a:latin typeface="Noto Sans"/>
              </a:rPr>
              <a:t>Utilizar los filtros de seguridad de las</a:t>
            </a:r>
          </a:p>
          <a:p>
            <a:pPr>
              <a:spcBef>
                <a:spcPts val="0"/>
              </a:spcBef>
              <a:spcAft>
                <a:spcPts val="0"/>
              </a:spcAft>
            </a:pPr>
            <a:r>
              <a:rPr sz="100">
                <a:solidFill>
                  <a:srgbClr val="FFFFFF"/>
                </a:solidFill>
                <a:latin typeface="Noto Sans"/>
              </a:rPr>
              <a:t>plataformas para restringir con quién se</a:t>
            </a:r>
          </a:p>
          <a:p>
            <a:pPr>
              <a:spcBef>
                <a:spcPts val="0"/>
              </a:spcBef>
              <a:spcAft>
                <a:spcPts val="0"/>
              </a:spcAft>
            </a:pPr>
            <a:r>
              <a:rPr sz="100">
                <a:solidFill>
                  <a:srgbClr val="FFFFFF"/>
                </a:solidFill>
                <a:latin typeface="Noto Sans"/>
              </a:rPr>
              <a:t>comparte información.</a:t>
            </a:r>
          </a:p>
          <a:p>
            <a:pPr>
              <a:spcBef>
                <a:spcPts val="0"/>
              </a:spcBef>
              <a:spcAft>
                <a:spcPts val="0"/>
              </a:spcAft>
            </a:pPr>
            <a:r>
              <a:rPr sz="100">
                <a:solidFill>
                  <a:srgbClr val="FFFFFF"/>
                </a:solidFill>
                <a:latin typeface="Noto Sans"/>
              </a:rPr>
              <a:t>En casos menos delicados, hacer caso</a:t>
            </a:r>
          </a:p>
          <a:p>
            <a:pPr>
              <a:spcBef>
                <a:spcPts val="0"/>
              </a:spcBef>
              <a:spcAft>
                <a:spcPts val="0"/>
              </a:spcAft>
            </a:pPr>
            <a:r>
              <a:rPr sz="100">
                <a:solidFill>
                  <a:srgbClr val="FFFFFF"/>
                </a:solidFill>
                <a:latin typeface="Noto Sans"/>
              </a:rPr>
              <a:t>omiso a comentarios negativos,</a:t>
            </a:r>
          </a:p>
          <a:p>
            <a:pPr>
              <a:spcBef>
                <a:spcPts val="0"/>
              </a:spcBef>
              <a:spcAft>
                <a:spcPts val="0"/>
              </a:spcAft>
            </a:pPr>
            <a:r>
              <a:rPr sz="100">
                <a:solidFill>
                  <a:srgbClr val="FFFFFF"/>
                </a:solidFill>
                <a:latin typeface="Noto Sans"/>
              </a:rPr>
              <a:t>provocaciones o ataques.</a:t>
            </a:r>
          </a:p>
          <a:p>
            <a:pPr>
              <a:spcBef>
                <a:spcPts val="0"/>
              </a:spcBef>
              <a:spcAft>
                <a:spcPts val="0"/>
              </a:spcAft>
            </a:pPr>
            <a:r>
              <a:rPr sz="100">
                <a:solidFill>
                  <a:srgbClr val="FFFFFF"/>
                </a:solidFill>
                <a:latin typeface="Noto Sans"/>
              </a:rPr>
              <a:t>Platicar el caso con familiares y amistades</a:t>
            </a:r>
          </a:p>
          <a:p>
            <a:pPr>
              <a:spcBef>
                <a:spcPts val="0"/>
              </a:spcBef>
              <a:spcAft>
                <a:spcPts val="0"/>
              </a:spcAft>
            </a:pPr>
            <a:r>
              <a:rPr sz="100">
                <a:solidFill>
                  <a:srgbClr val="FFFFFF"/>
                </a:solidFill>
                <a:latin typeface="Noto Sans"/>
              </a:rPr>
              <a:t>de mucha confianza para recibir apoyo y</a:t>
            </a:r>
          </a:p>
          <a:p>
            <a:pPr>
              <a:spcBef>
                <a:spcPts val="0"/>
              </a:spcBef>
              <a:spcAft>
                <a:spcPts val="0"/>
              </a:spcAft>
            </a:pPr>
            <a:r>
              <a:rPr sz="100">
                <a:solidFill>
                  <a:srgbClr val="FFFFFF"/>
                </a:solidFill>
                <a:latin typeface="Noto Sans"/>
              </a:rPr>
              <a:t>consejo.</a:t>
            </a:r>
          </a:p>
          <a:p>
            <a:pPr>
              <a:spcBef>
                <a:spcPts val="0"/>
              </a:spcBef>
              <a:spcAft>
                <a:spcPts val="0"/>
              </a:spcAft>
            </a:pPr>
            <a:r>
              <a:rPr sz="100">
                <a:solidFill>
                  <a:srgbClr val="FFFFFF"/>
                </a:solidFill>
                <a:latin typeface="Noto Sans"/>
              </a:rPr>
              <a:t>En casos graves, acudir a la Policía</a:t>
            </a:r>
          </a:p>
          <a:p>
            <a:pPr>
              <a:spcBef>
                <a:spcPts val="0"/>
              </a:spcBef>
              <a:spcAft>
                <a:spcPts val="0"/>
              </a:spcAft>
            </a:pPr>
            <a:r>
              <a:rPr sz="100">
                <a:solidFill>
                  <a:srgbClr val="FFFFFF"/>
                </a:solidFill>
                <a:latin typeface="Noto Sans"/>
              </a:rPr>
              <a:t>Cibernética.</a:t>
            </a:r>
          </a:p>
          <a:p>
            <a:pPr>
              <a:spcBef>
                <a:spcPts val="0"/>
              </a:spcBef>
              <a:spcAft>
                <a:spcPts val="0"/>
              </a:spcAft>
            </a:pPr>
            <a:r>
              <a:rPr sz="100">
                <a:solidFill>
                  <a:srgbClr val="FFFFFF"/>
                </a:solidFill>
                <a:latin typeface="Noto Sans"/>
              </a:rPr>
              <a:t>Buscar ayuda psicológica.</a:t>
            </a:r>
          </a:p>
          <a:p>
            <a:pPr>
              <a:spcBef>
                <a:spcPts val="0"/>
              </a:spcBef>
              <a:spcAft>
                <a:spcPts val="0"/>
              </a:spcAft>
            </a:pPr>
            <a:r>
              <a:rPr sz="100">
                <a:solidFill>
                  <a:srgbClr val="FFFFFF"/>
                </a:solidFill>
                <a:latin typeface="Noto Sans"/>
              </a:rPr>
              <a:t>Medidas</a:t>
            </a:r>
          </a:p>
          <a:p>
            <a:pPr>
              <a:spcBef>
                <a:spcPts val="0"/>
              </a:spcBef>
              <a:spcAft>
                <a:spcPts val="0"/>
              </a:spcAft>
            </a:pPr>
            <a:r>
              <a:rPr sz="100">
                <a:solidFill>
                  <a:srgbClr val="FFFFFF"/>
                </a:solidFill>
                <a:latin typeface="Noto Sans"/>
              </a:rPr>
              <a:t>preventivas para</a:t>
            </a:r>
          </a:p>
          <a:p>
            <a:pPr>
              <a:spcBef>
                <a:spcPts val="0"/>
              </a:spcBef>
              <a:spcAft>
                <a:spcPts val="0"/>
              </a:spcAft>
            </a:pPr>
            <a:r>
              <a:rPr sz="100">
                <a:solidFill>
                  <a:srgbClr val="FFFFFF"/>
                </a:solidFill>
                <a:latin typeface="Noto Sans"/>
              </a:rPr>
              <a:t>evitar ser víctima</a:t>
            </a:r>
          </a:p>
          <a:p>
            <a:pPr>
              <a:spcBef>
                <a:spcPts val="0"/>
              </a:spcBef>
              <a:spcAft>
                <a:spcPts val="0"/>
              </a:spcAft>
            </a:pPr>
            <a:r>
              <a:rPr sz="100">
                <a:solidFill>
                  <a:srgbClr val="FFFFFF"/>
                </a:solidFill>
                <a:latin typeface="Noto Sans"/>
              </a:rPr>
              <a:t>de violencia digital</a:t>
            </a:r>
          </a:p>
          <a:p>
            <a:pPr>
              <a:spcBef>
                <a:spcPts val="0"/>
              </a:spcBef>
              <a:spcAft>
                <a:spcPts val="0"/>
              </a:spcAft>
            </a:pPr>
            <a:r>
              <a:rPr sz="100">
                <a:solidFill>
                  <a:srgbClr val="FFFFFF"/>
                </a:solidFill>
                <a:latin typeface="Noto Sans"/>
              </a:rPr>
              <a:t>Medidas de</a:t>
            </a:r>
          </a:p>
          <a:p>
            <a:pPr>
              <a:spcBef>
                <a:spcPts val="0"/>
              </a:spcBef>
              <a:spcAft>
                <a:spcPts val="0"/>
              </a:spcAft>
            </a:pPr>
            <a:r>
              <a:rPr sz="100">
                <a:solidFill>
                  <a:srgbClr val="FFFFFF"/>
                </a:solidFill>
                <a:latin typeface="Noto Sans"/>
              </a:rPr>
              <a:t>protección una</a:t>
            </a:r>
          </a:p>
          <a:p>
            <a:pPr>
              <a:spcBef>
                <a:spcPts val="0"/>
              </a:spcBef>
              <a:spcAft>
                <a:spcPts val="0"/>
              </a:spcAft>
            </a:pPr>
            <a:r>
              <a:rPr sz="100">
                <a:solidFill>
                  <a:srgbClr val="FFFFFF"/>
                </a:solidFill>
                <a:latin typeface="Noto Sans"/>
              </a:rPr>
              <a:t>vez que han sido</a:t>
            </a:r>
          </a:p>
          <a:p>
            <a:pPr>
              <a:spcBef>
                <a:spcPts val="0"/>
              </a:spcBef>
              <a:spcAft>
                <a:spcPts val="0"/>
              </a:spcAft>
            </a:pPr>
            <a:r>
              <a:rPr sz="100">
                <a:solidFill>
                  <a:srgbClr val="FFFFFF"/>
                </a:solidFill>
                <a:latin typeface="Noto Sans"/>
              </a:rPr>
              <a:t>víctimas de</a:t>
            </a:r>
          </a:p>
          <a:p>
            <a:pPr>
              <a:spcBef>
                <a:spcPts val="0"/>
              </a:spcBef>
              <a:spcAft>
                <a:spcPts val="0"/>
              </a:spcAft>
            </a:pPr>
            <a:r>
              <a:rPr sz="100">
                <a:solidFill>
                  <a:srgbClr val="FFFFFF"/>
                </a:solidFill>
                <a:latin typeface="Noto Sans"/>
              </a:rPr>
              <a:t>violencia digital</a:t>
            </a:r>
          </a:p>
        </p:txBody>
      </p:sp>
      <p:pic>
        <p:nvPicPr>
          <p:cNvPr id="223" name="ANUARIO_IMAGE_F_14" descr="Figura F.14. SVG vectorial sin respaldo raster"/>
          <p:cNvPicPr>
            <a:picLocks noChangeAspect="1"/>
          </p:cNvPicPr>
          <p:nvPr/>
        </p:nvPicPr>
        <p:blipFill>
          <a:blip r:embed="rId2"/>
          <a:stretch>
            <a:fillRect/>
          </a:stretch>
        </p:blipFill>
        <p:spPr>
          <a:xfrm>
            <a:off x="3357372" y="1210286"/>
            <a:ext cx="5279136" cy="3056877"/>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98</a:t>
            </a:r>
          </a:p>
        </p:txBody>
      </p:sp>
    </p:spTree>
  </p:cSld>
  <p:clrMapOvr>
    <a:masterClrMapping/>
  </p:clrMapOvr>
</p:sld>
</file>

<file path=ppt/slides/slide99.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5" descr="ANUARIO_FIGURE_ID=F.1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F.15</a:t>
            </a:r>
          </a:p>
          <a:p>
            <a:pPr>
              <a:spcBef>
                <a:spcPts val="0"/>
              </a:spcBef>
              <a:spcAft>
                <a:spcPts val="600"/>
              </a:spcAft>
            </a:pPr>
            <a:r>
              <a:rPr sz="950" b="1">
                <a:solidFill>
                  <a:srgbClr val="203634"/>
                </a:solidFill>
                <a:latin typeface="Noto Sans"/>
              </a:rPr>
              <a:t>ACCIONES PARA PROTEGERSE O PREVENIR LA VIOLENCIA EN INTERNET POR SEXO</a:t>
            </a:r>
          </a:p>
          <a:p>
            <a:pPr>
              <a:lnSpc>
                <a:spcPct val="100000"/>
              </a:lnSpc>
              <a:spcBef>
                <a:spcPts val="0"/>
              </a:spcBef>
              <a:spcAft>
                <a:spcPts val="400"/>
              </a:spcAft>
            </a:pPr>
            <a:r>
              <a:rPr sz="760" b="0">
                <a:solidFill>
                  <a:srgbClr val="434343"/>
                </a:solidFill>
                <a:latin typeface="Noto Sans"/>
              </a:rPr>
              <a:t>Entre las principales acciones para protegerse o prevenir la violencia digital señaladas por las personas usuarias de Internet fijo están Evitar compartir información personal (90.3%), así como contraseñas de sus dispositivos y/o aplicaciones (89.5%), de las cuales, el mayor porcentaje de mujeres señalaron principalmente evitar compartir contraseñas (91.5%), mientras que el mayor porcentaje de los hombres señalaron evitar compartir información personal (89.3%,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5" descr="ANUARIO_FIGURE_ID=F.15;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5" descr="Capa accesible con el texto del SVG de la figura F.15"/>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F.15</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40%</a:t>
            </a:r>
          </a:p>
          <a:p>
            <a:pPr>
              <a:spcBef>
                <a:spcPts val="0"/>
              </a:spcBef>
              <a:spcAft>
                <a:spcPts val="0"/>
              </a:spcAft>
            </a:pPr>
            <a:r>
              <a:rPr sz="100">
                <a:solidFill>
                  <a:srgbClr val="FFFFFF"/>
                </a:solidFill>
                <a:latin typeface="Noto Sans"/>
              </a:rPr>
              <a:t>60%</a:t>
            </a:r>
          </a:p>
          <a:p>
            <a:pPr>
              <a:spcBef>
                <a:spcPts val="0"/>
              </a:spcBef>
              <a:spcAft>
                <a:spcPts val="0"/>
              </a:spcAft>
            </a:pPr>
            <a:r>
              <a:rPr sz="100">
                <a:solidFill>
                  <a:srgbClr val="FFFFFF"/>
                </a:solidFill>
                <a:latin typeface="Noto Sans"/>
              </a:rPr>
              <a:t>80%</a:t>
            </a:r>
          </a:p>
          <a:p>
            <a:pPr>
              <a:spcBef>
                <a:spcPts val="0"/>
              </a:spcBef>
              <a:spcAft>
                <a:spcPts val="0"/>
              </a:spcAft>
            </a:pPr>
            <a:r>
              <a:rPr sz="100">
                <a:solidFill>
                  <a:srgbClr val="FFFFFF"/>
                </a:solidFill>
                <a:latin typeface="Noto Sans"/>
              </a:rPr>
              <a:t>100%</a:t>
            </a:r>
          </a:p>
          <a:p>
            <a:pPr>
              <a:spcBef>
                <a:spcPts val="0"/>
              </a:spcBef>
              <a:spcAft>
                <a:spcPts val="0"/>
              </a:spcAft>
            </a:pPr>
            <a:r>
              <a:rPr sz="100">
                <a:solidFill>
                  <a:srgbClr val="FFFFFF"/>
                </a:solidFill>
                <a:latin typeface="Noto Sans"/>
              </a:rPr>
              <a:t>Comentar con otras personas lo que sucede</a:t>
            </a:r>
          </a:p>
          <a:p>
            <a:pPr>
              <a:spcBef>
                <a:spcPts val="0"/>
              </a:spcBef>
              <a:spcAft>
                <a:spcPts val="0"/>
              </a:spcAft>
            </a:pPr>
            <a:r>
              <a:rPr sz="100">
                <a:solidFill>
                  <a:srgbClr val="FFFFFF"/>
                </a:solidFill>
                <a:latin typeface="Noto Sans"/>
              </a:rPr>
              <a:t>Limitar la actividad en redes sociales</a:t>
            </a:r>
          </a:p>
          <a:p>
            <a:pPr>
              <a:spcBef>
                <a:spcPts val="0"/>
              </a:spcBef>
              <a:spcAft>
                <a:spcPts val="0"/>
              </a:spcAft>
            </a:pPr>
            <a:r>
              <a:rPr sz="100">
                <a:solidFill>
                  <a:srgbClr val="FFFFFF"/>
                </a:solidFill>
                <a:latin typeface="Noto Sans"/>
              </a:rPr>
              <a:t>Cuestionar el contenido antes de publicarlo</a:t>
            </a:r>
          </a:p>
          <a:p>
            <a:pPr>
              <a:spcBef>
                <a:spcPts val="0"/>
              </a:spcBef>
              <a:spcAft>
                <a:spcPts val="0"/>
              </a:spcAft>
            </a:pPr>
            <a:r>
              <a:rPr sz="100">
                <a:solidFill>
                  <a:srgbClr val="FFFFFF"/>
                </a:solidFill>
                <a:latin typeface="Noto Sans"/>
              </a:rPr>
              <a:t>Restringir fotos o videos</a:t>
            </a:r>
          </a:p>
          <a:p>
            <a:pPr>
              <a:spcBef>
                <a:spcPts val="0"/>
              </a:spcBef>
              <a:spcAft>
                <a:spcPts val="0"/>
              </a:spcAft>
            </a:pPr>
            <a:r>
              <a:rPr sz="100">
                <a:solidFill>
                  <a:srgbClr val="FFFFFF"/>
                </a:solidFill>
                <a:latin typeface="Noto Sans"/>
              </a:rPr>
              <a:t>Mantener redes sociales privadas</a:t>
            </a:r>
          </a:p>
          <a:p>
            <a:pPr>
              <a:spcBef>
                <a:spcPts val="0"/>
              </a:spcBef>
              <a:spcAft>
                <a:spcPts val="0"/>
              </a:spcAft>
            </a:pPr>
            <a:r>
              <a:rPr sz="100">
                <a:solidFill>
                  <a:srgbClr val="FFFFFF"/>
                </a:solidFill>
                <a:latin typeface="Noto Sans"/>
              </a:rPr>
              <a:t>Evitar publicar información de ubicación</a:t>
            </a:r>
          </a:p>
          <a:p>
            <a:pPr>
              <a:spcBef>
                <a:spcPts val="0"/>
              </a:spcBef>
              <a:spcAft>
                <a:spcPts val="0"/>
              </a:spcAft>
            </a:pPr>
            <a:r>
              <a:rPr sz="100">
                <a:solidFill>
                  <a:srgbClr val="FFFFFF"/>
                </a:solidFill>
                <a:latin typeface="Noto Sans"/>
              </a:rPr>
              <a:t>Ser más precavido al abrir vínculos o archivos</a:t>
            </a:r>
          </a:p>
          <a:p>
            <a:pPr>
              <a:spcBef>
                <a:spcPts val="0"/>
              </a:spcBef>
              <a:spcAft>
                <a:spcPts val="0"/>
              </a:spcAft>
            </a:pPr>
            <a:r>
              <a:rPr sz="100">
                <a:solidFill>
                  <a:srgbClr val="FFFFFF"/>
                </a:solidFill>
                <a:latin typeface="Noto Sans"/>
              </a:rPr>
              <a:t>Revisar un perfil antes de aceptarlo</a:t>
            </a:r>
          </a:p>
          <a:p>
            <a:pPr>
              <a:spcBef>
                <a:spcPts val="0"/>
              </a:spcBef>
              <a:spcAft>
                <a:spcPts val="0"/>
              </a:spcAft>
            </a:pPr>
            <a:r>
              <a:rPr sz="100">
                <a:solidFill>
                  <a:srgbClr val="FFFFFF"/>
                </a:solidFill>
                <a:latin typeface="Noto Sans"/>
              </a:rPr>
              <a:t>Evitar compartir contraseñas</a:t>
            </a:r>
          </a:p>
          <a:p>
            <a:pPr>
              <a:spcBef>
                <a:spcPts val="0"/>
              </a:spcBef>
              <a:spcAft>
                <a:spcPts val="0"/>
              </a:spcAft>
            </a:pPr>
            <a:r>
              <a:rPr sz="100">
                <a:solidFill>
                  <a:srgbClr val="FFFFFF"/>
                </a:solidFill>
                <a:latin typeface="Noto Sans"/>
              </a:rPr>
              <a:t>Evitar compartir información personal</a:t>
            </a:r>
          </a:p>
          <a:p>
            <a:pPr>
              <a:spcBef>
                <a:spcPts val="0"/>
              </a:spcBef>
              <a:spcAft>
                <a:spcPts val="0"/>
              </a:spcAft>
            </a:pPr>
            <a:r>
              <a:rPr sz="100">
                <a:solidFill>
                  <a:srgbClr val="FFFFFF"/>
                </a:solidFill>
                <a:latin typeface="Noto Sans"/>
              </a:rPr>
              <a:t>71.2%</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74.4%</a:t>
            </a:r>
          </a:p>
          <a:p>
            <a:pPr>
              <a:spcBef>
                <a:spcPts val="0"/>
              </a:spcBef>
              <a:spcAft>
                <a:spcPts val="0"/>
              </a:spcAft>
            </a:pPr>
            <a:r>
              <a:rPr sz="100">
                <a:solidFill>
                  <a:srgbClr val="FFFFFF"/>
                </a:solidFill>
                <a:latin typeface="Noto Sans"/>
              </a:rPr>
              <a:t>80.9%</a:t>
            </a:r>
          </a:p>
          <a:p>
            <a:pPr>
              <a:spcBef>
                <a:spcPts val="0"/>
              </a:spcBef>
              <a:spcAft>
                <a:spcPts val="0"/>
              </a:spcAft>
            </a:pPr>
            <a:r>
              <a:rPr sz="100">
                <a:solidFill>
                  <a:srgbClr val="FFFFFF"/>
                </a:solidFill>
                <a:latin typeface="Noto Sans"/>
              </a:rPr>
              <a:t>82.0%</a:t>
            </a:r>
          </a:p>
          <a:p>
            <a:pPr>
              <a:spcBef>
                <a:spcPts val="0"/>
              </a:spcBef>
              <a:spcAft>
                <a:spcPts val="0"/>
              </a:spcAft>
            </a:pPr>
            <a:r>
              <a:rPr sz="100">
                <a:solidFill>
                  <a:srgbClr val="FFFFFF"/>
                </a:solidFill>
                <a:latin typeface="Noto Sans"/>
              </a:rPr>
              <a:t>86.0%</a:t>
            </a:r>
          </a:p>
          <a:p>
            <a:pPr>
              <a:spcBef>
                <a:spcPts val="0"/>
              </a:spcBef>
              <a:spcAft>
                <a:spcPts val="0"/>
              </a:spcAft>
            </a:pPr>
            <a:r>
              <a:rPr sz="100">
                <a:solidFill>
                  <a:srgbClr val="FFFFFF"/>
                </a:solidFill>
                <a:latin typeface="Noto Sans"/>
              </a:rPr>
              <a:t>86.7%</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89.5%</a:t>
            </a:r>
          </a:p>
          <a:p>
            <a:pPr>
              <a:spcBef>
                <a:spcPts val="0"/>
              </a:spcBef>
              <a:spcAft>
                <a:spcPts val="0"/>
              </a:spcAft>
            </a:pPr>
            <a:r>
              <a:rPr sz="100">
                <a:solidFill>
                  <a:srgbClr val="FFFFFF"/>
                </a:solidFill>
                <a:latin typeface="Noto Sans"/>
              </a:rPr>
              <a:t>90.3%</a:t>
            </a:r>
          </a:p>
          <a:p>
            <a:pPr>
              <a:spcBef>
                <a:spcPts val="0"/>
              </a:spcBef>
              <a:spcAft>
                <a:spcPts val="0"/>
              </a:spcAft>
            </a:pPr>
            <a:r>
              <a:rPr sz="100">
                <a:solidFill>
                  <a:srgbClr val="FFFFFF"/>
                </a:solidFill>
                <a:latin typeface="Noto Sans"/>
              </a:rPr>
              <a:t>71.5%</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76.1%</a:t>
            </a:r>
          </a:p>
          <a:p>
            <a:pPr>
              <a:spcBef>
                <a:spcPts val="0"/>
              </a:spcBef>
              <a:spcAft>
                <a:spcPts val="0"/>
              </a:spcAft>
            </a:pPr>
            <a:r>
              <a:rPr sz="100">
                <a:solidFill>
                  <a:srgbClr val="FFFFFF"/>
                </a:solidFill>
                <a:latin typeface="Noto Sans"/>
              </a:rPr>
              <a:t>82.6%</a:t>
            </a:r>
          </a:p>
          <a:p>
            <a:pPr>
              <a:spcBef>
                <a:spcPts val="0"/>
              </a:spcBef>
              <a:spcAft>
                <a:spcPts val="0"/>
              </a:spcAft>
            </a:pPr>
            <a:r>
              <a:rPr sz="100">
                <a:solidFill>
                  <a:srgbClr val="FFFFFF"/>
                </a:solidFill>
                <a:latin typeface="Noto Sans"/>
              </a:rPr>
              <a:t>84.6%</a:t>
            </a:r>
          </a:p>
          <a:p>
            <a:pPr>
              <a:spcBef>
                <a:spcPts val="0"/>
              </a:spcBef>
              <a:spcAft>
                <a:spcPts val="0"/>
              </a:spcAft>
            </a:pPr>
            <a:r>
              <a:rPr sz="100">
                <a:solidFill>
                  <a:srgbClr val="FFFFFF"/>
                </a:solidFill>
                <a:latin typeface="Noto Sans"/>
              </a:rPr>
              <a:t>87.6%</a:t>
            </a:r>
          </a:p>
          <a:p>
            <a:pPr>
              <a:spcBef>
                <a:spcPts val="0"/>
              </a:spcBef>
              <a:spcAft>
                <a:spcPts val="0"/>
              </a:spcAft>
            </a:pPr>
            <a:r>
              <a:rPr sz="100">
                <a:solidFill>
                  <a:srgbClr val="FFFFFF"/>
                </a:solidFill>
                <a:latin typeface="Noto Sans"/>
              </a:rPr>
              <a:t>87.5%</a:t>
            </a:r>
          </a:p>
          <a:p>
            <a:pPr>
              <a:spcBef>
                <a:spcPts val="0"/>
              </a:spcBef>
              <a:spcAft>
                <a:spcPts val="0"/>
              </a:spcAft>
            </a:pPr>
            <a:r>
              <a:rPr sz="100">
                <a:solidFill>
                  <a:srgbClr val="FFFFFF"/>
                </a:solidFill>
                <a:latin typeface="Noto Sans"/>
              </a:rPr>
              <a:t>90.0%</a:t>
            </a:r>
          </a:p>
          <a:p>
            <a:pPr>
              <a:spcBef>
                <a:spcPts val="0"/>
              </a:spcBef>
              <a:spcAft>
                <a:spcPts val="0"/>
              </a:spcAft>
            </a:pPr>
            <a:r>
              <a:rPr sz="100">
                <a:solidFill>
                  <a:srgbClr val="FFFFFF"/>
                </a:solidFill>
                <a:latin typeface="Noto Sans"/>
              </a:rPr>
              <a:t>91.5%</a:t>
            </a:r>
          </a:p>
          <a:p>
            <a:pPr>
              <a:spcBef>
                <a:spcPts val="0"/>
              </a:spcBef>
              <a:spcAft>
                <a:spcPts val="0"/>
              </a:spcAft>
            </a:pPr>
            <a:r>
              <a:rPr sz="100">
                <a:solidFill>
                  <a:srgbClr val="FFFFFF"/>
                </a:solidFill>
                <a:latin typeface="Noto Sans"/>
              </a:rPr>
              <a:t>91.2%</a:t>
            </a:r>
          </a:p>
          <a:p>
            <a:pPr>
              <a:spcBef>
                <a:spcPts val="0"/>
              </a:spcBef>
              <a:spcAft>
                <a:spcPts val="0"/>
              </a:spcAft>
            </a:pPr>
            <a:r>
              <a:rPr sz="100">
                <a:solidFill>
                  <a:srgbClr val="FFFFFF"/>
                </a:solidFill>
                <a:latin typeface="Noto Sans"/>
              </a:rPr>
              <a:t>71.0%</a:t>
            </a:r>
          </a:p>
          <a:p>
            <a:pPr>
              <a:spcBef>
                <a:spcPts val="0"/>
              </a:spcBef>
              <a:spcAft>
                <a:spcPts val="0"/>
              </a:spcAft>
            </a:pPr>
            <a:r>
              <a:rPr sz="100">
                <a:solidFill>
                  <a:srgbClr val="FFFFFF"/>
                </a:solidFill>
                <a:latin typeface="Noto Sans"/>
              </a:rPr>
              <a:t>71.9%</a:t>
            </a:r>
          </a:p>
          <a:p>
            <a:pPr>
              <a:spcBef>
                <a:spcPts val="0"/>
              </a:spcBef>
              <a:spcAft>
                <a:spcPts val="0"/>
              </a:spcAft>
            </a:pPr>
            <a:r>
              <a:rPr sz="100">
                <a:solidFill>
                  <a:srgbClr val="FFFFFF"/>
                </a:solidFill>
                <a:latin typeface="Noto Sans"/>
              </a:rPr>
              <a:t>72.6%</a:t>
            </a:r>
          </a:p>
          <a:p>
            <a:pPr>
              <a:spcBef>
                <a:spcPts val="0"/>
              </a:spcBef>
              <a:spcAft>
                <a:spcPts val="0"/>
              </a:spcAft>
            </a:pPr>
            <a:r>
              <a:rPr sz="100">
                <a:solidFill>
                  <a:srgbClr val="FFFFFF"/>
                </a:solidFill>
                <a:latin typeface="Noto Sans"/>
              </a:rPr>
              <a:t>79.0%</a:t>
            </a:r>
          </a:p>
          <a:p>
            <a:pPr>
              <a:spcBef>
                <a:spcPts val="0"/>
              </a:spcBef>
              <a:spcAft>
                <a:spcPts val="0"/>
              </a:spcAft>
            </a:pPr>
            <a:r>
              <a:rPr sz="100">
                <a:solidFill>
                  <a:srgbClr val="FFFFFF"/>
                </a:solidFill>
                <a:latin typeface="Noto Sans"/>
              </a:rPr>
              <a:t>79.2%</a:t>
            </a:r>
          </a:p>
          <a:p>
            <a:pPr>
              <a:spcBef>
                <a:spcPts val="0"/>
              </a:spcBef>
              <a:spcAft>
                <a:spcPts val="0"/>
              </a:spcAft>
            </a:pPr>
            <a:r>
              <a:rPr sz="100">
                <a:solidFill>
                  <a:srgbClr val="FFFFFF"/>
                </a:solidFill>
                <a:latin typeface="Noto Sans"/>
              </a:rPr>
              <a:t>84.3%</a:t>
            </a:r>
          </a:p>
          <a:p>
            <a:pPr>
              <a:spcBef>
                <a:spcPts val="0"/>
              </a:spcBef>
              <a:spcAft>
                <a:spcPts val="0"/>
              </a:spcAft>
            </a:pPr>
            <a:r>
              <a:rPr sz="100">
                <a:solidFill>
                  <a:srgbClr val="FFFFFF"/>
                </a:solidFill>
                <a:latin typeface="Noto Sans"/>
              </a:rPr>
              <a:t>85.8%</a:t>
            </a:r>
          </a:p>
          <a:p>
            <a:pPr>
              <a:spcBef>
                <a:spcPts val="0"/>
              </a:spcBef>
              <a:spcAft>
                <a:spcPts val="0"/>
              </a:spcAft>
            </a:pPr>
            <a:r>
              <a:rPr sz="100">
                <a:solidFill>
                  <a:srgbClr val="FFFFFF"/>
                </a:solidFill>
                <a:latin typeface="Noto Sans"/>
              </a:rPr>
              <a:t>85.1%</a:t>
            </a:r>
          </a:p>
          <a:p>
            <a:pPr>
              <a:spcBef>
                <a:spcPts val="0"/>
              </a:spcBef>
              <a:spcAft>
                <a:spcPts val="0"/>
              </a:spcAft>
            </a:pPr>
            <a:r>
              <a:rPr sz="100">
                <a:solidFill>
                  <a:srgbClr val="FFFFFF"/>
                </a:solidFill>
                <a:latin typeface="Noto Sans"/>
              </a:rPr>
              <a:t>87.3%</a:t>
            </a:r>
          </a:p>
          <a:p>
            <a:pPr>
              <a:spcBef>
                <a:spcPts val="0"/>
              </a:spcBef>
              <a:spcAft>
                <a:spcPts val="0"/>
              </a:spcAft>
            </a:pPr>
            <a:r>
              <a:rPr sz="100">
                <a:solidFill>
                  <a:srgbClr val="FFFFFF"/>
                </a:solidFill>
                <a:latin typeface="Noto Sans"/>
              </a:rPr>
              <a:t>89.3%</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F.15.</a:t>
            </a:r>
          </a:p>
          <a:p>
            <a:pPr>
              <a:spcBef>
                <a:spcPts val="0"/>
              </a:spcBef>
              <a:spcAft>
                <a:spcPts val="0"/>
              </a:spcAft>
            </a:pPr>
            <a:r>
              <a:rPr sz="100">
                <a:solidFill>
                  <a:srgbClr val="FFFFFF"/>
                </a:solidFill>
                <a:latin typeface="Noto Sans"/>
              </a:rPr>
              <a:t>Acciones para protegerse o prevenir la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5" descr="Figura F.15.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99</a:t>
            </a:r>
          </a:p>
        </p:txBody>
      </p:sp>
    </p:spTree>
  </p:cSld>
  <p:clrMapOvr>
    <a:masterClrMapping/>
  </p:clrMapOvr>
</p:sld>
</file>

<file path=ppt/slides/slide100.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F_16" descr="ANUARIO_FIGURE_ID=F.1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F.16</a:t>
            </a:r>
          </a:p>
          <a:p>
            <a:pPr>
              <a:spcBef>
                <a:spcPts val="0"/>
              </a:spcBef>
              <a:spcAft>
                <a:spcPts val="600"/>
              </a:spcAft>
            </a:pPr>
            <a:r>
              <a:rPr sz="950" b="1">
                <a:solidFill>
                  <a:srgbClr val="203634"/>
                </a:solidFill>
                <a:latin typeface="Noto Sans"/>
              </a:rPr>
              <a:t>MEDIDAS QUE SE TOMARÍAN ANTE VIOLENCIA EN INTERNET POR SEXO</a:t>
            </a:r>
          </a:p>
          <a:p>
            <a:pPr>
              <a:lnSpc>
                <a:spcPct val="100000"/>
              </a:lnSpc>
              <a:spcBef>
                <a:spcPts val="0"/>
              </a:spcBef>
              <a:spcAft>
                <a:spcPts val="400"/>
              </a:spcAft>
            </a:pPr>
            <a:r>
              <a:rPr sz="760" b="0">
                <a:solidFill>
                  <a:srgbClr val="434343"/>
                </a:solidFill>
                <a:latin typeface="Noto Sans"/>
              </a:rPr>
              <a:t>Entre las principales acciones que harían o hicieron las personas usuarias de Internet fijo si experimentaran Violencia Digital a través de este medio se encuentran: Denunciar ante la Policía Cibernética (32.7%), así como ante otras autoridades (30.3%), por sexo, tanto las mujeres como los hombres señalaron principalmente que, denunciarían ante la Policía Cibernética, siendo las mujeres un 33.2% y los hombres un 32.1%, respectivamente.</a:t>
            </a:r>
          </a:p>
        </p:txBody>
      </p:sp>
      <p:sp>
        <p:nvSpPr>
          <p:cNvPr id="202" name="ANUARIO_SECTION_HEADER_F" descr="ANUARIO_SECTION=F;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F. INDICADORES CON PERSPECTIVA DE GÉNERO</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F_16" descr="ANUARIO_FIGURE_ID=F.16;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F_16" descr="Capa accesible con el texto del SVG de la figura F.16"/>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F.16</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a:t>
            </a:r>
          </a:p>
          <a:p>
            <a:pPr>
              <a:spcBef>
                <a:spcPts val="0"/>
              </a:spcBef>
              <a:spcAft>
                <a:spcPts val="0"/>
              </a:spcAft>
            </a:pPr>
            <a:r>
              <a:rPr sz="100">
                <a:solidFill>
                  <a:srgbClr val="FFFFFF"/>
                </a:solidFill>
                <a:latin typeface="Noto Sans"/>
              </a:rPr>
              <a:t>10%</a:t>
            </a:r>
          </a:p>
          <a:p>
            <a:pPr>
              <a:spcBef>
                <a:spcPts val="0"/>
              </a:spcBef>
              <a:spcAft>
                <a:spcPts val="0"/>
              </a:spcAft>
            </a:pPr>
            <a:r>
              <a:rPr sz="100">
                <a:solidFill>
                  <a:srgbClr val="FFFFFF"/>
                </a:solidFill>
                <a:latin typeface="Noto Sans"/>
              </a:rPr>
              <a:t>15%</a:t>
            </a:r>
          </a:p>
          <a:p>
            <a:pPr>
              <a:spcBef>
                <a:spcPts val="0"/>
              </a:spcBef>
              <a:spcAft>
                <a:spcPts val="0"/>
              </a:spcAft>
            </a:pPr>
            <a:r>
              <a:rPr sz="100">
                <a:solidFill>
                  <a:srgbClr val="FFFFFF"/>
                </a:solidFill>
                <a:latin typeface="Noto Sans"/>
              </a:rPr>
              <a:t>20%</a:t>
            </a:r>
          </a:p>
          <a:p>
            <a:pPr>
              <a:spcBef>
                <a:spcPts val="0"/>
              </a:spcBef>
              <a:spcAft>
                <a:spcPts val="0"/>
              </a:spcAft>
            </a:pPr>
            <a:r>
              <a:rPr sz="100">
                <a:solidFill>
                  <a:srgbClr val="FFFFFF"/>
                </a:solidFill>
                <a:latin typeface="Noto Sans"/>
              </a:rPr>
              <a:t>25%</a:t>
            </a:r>
          </a:p>
          <a:p>
            <a:pPr>
              <a:spcBef>
                <a:spcPts val="0"/>
              </a:spcBef>
              <a:spcAft>
                <a:spcPts val="0"/>
              </a:spcAft>
            </a:pPr>
            <a:r>
              <a:rPr sz="100">
                <a:solidFill>
                  <a:srgbClr val="FFFFFF"/>
                </a:solidFill>
                <a:latin typeface="Noto Sans"/>
              </a:rPr>
              <a:t>30%</a:t>
            </a:r>
          </a:p>
          <a:p>
            <a:pPr>
              <a:spcBef>
                <a:spcPts val="0"/>
              </a:spcBef>
              <a:spcAft>
                <a:spcPts val="0"/>
              </a:spcAft>
            </a:pPr>
            <a:r>
              <a:rPr sz="100">
                <a:solidFill>
                  <a:srgbClr val="FFFFFF"/>
                </a:solidFill>
                <a:latin typeface="Noto Sans"/>
              </a:rPr>
              <a:t>35%</a:t>
            </a:r>
          </a:p>
          <a:p>
            <a:pPr>
              <a:spcBef>
                <a:spcPts val="0"/>
              </a:spcBef>
              <a:spcAft>
                <a:spcPts val="0"/>
              </a:spcAft>
            </a:pPr>
            <a:r>
              <a:rPr sz="100">
                <a:solidFill>
                  <a:srgbClr val="FFFFFF"/>
                </a:solidFill>
                <a:latin typeface="Noto Sans"/>
              </a:rPr>
              <a:t>No sabe / no contestó</a:t>
            </a:r>
          </a:p>
          <a:p>
            <a:pPr>
              <a:spcBef>
                <a:spcPts val="0"/>
              </a:spcBef>
              <a:spcAft>
                <a:spcPts val="0"/>
              </a:spcAft>
            </a:pPr>
            <a:r>
              <a:rPr sz="100">
                <a:solidFill>
                  <a:srgbClr val="FFFFFF"/>
                </a:solidFill>
                <a:latin typeface="Noto Sans"/>
              </a:rPr>
              <a:t>Acudir con familiares, amistades o pareja</a:t>
            </a:r>
          </a:p>
          <a:p>
            <a:pPr>
              <a:spcBef>
                <a:spcPts val="0"/>
              </a:spcBef>
              <a:spcAft>
                <a:spcPts val="0"/>
              </a:spcAft>
            </a:pPr>
            <a:r>
              <a:rPr sz="100">
                <a:solidFill>
                  <a:srgbClr val="FFFFFF"/>
                </a:solidFill>
                <a:latin typeface="Noto Sans"/>
              </a:rPr>
              <a:t>Cambiar número de teléfono</a:t>
            </a:r>
          </a:p>
          <a:p>
            <a:pPr>
              <a:spcBef>
                <a:spcPts val="0"/>
              </a:spcBef>
              <a:spcAft>
                <a:spcPts val="0"/>
              </a:spcAft>
            </a:pPr>
            <a:r>
              <a:rPr sz="100">
                <a:solidFill>
                  <a:srgbClr val="FFFFFF"/>
                </a:solidFill>
                <a:latin typeface="Noto Sans"/>
              </a:rPr>
              <a:t>Ignorar o no hacer algo</a:t>
            </a:r>
          </a:p>
          <a:p>
            <a:pPr>
              <a:spcBef>
                <a:spcPts val="0"/>
              </a:spcBef>
              <a:spcAft>
                <a:spcPts val="0"/>
              </a:spcAft>
            </a:pPr>
            <a:r>
              <a:rPr sz="100">
                <a:solidFill>
                  <a:srgbClr val="FFFFFF"/>
                </a:solidFill>
                <a:latin typeface="Noto Sans"/>
              </a:rPr>
              <a:t>Cerrar la cuenta</a:t>
            </a:r>
          </a:p>
          <a:p>
            <a:pPr>
              <a:spcBef>
                <a:spcPts val="0"/>
              </a:spcBef>
              <a:spcAft>
                <a:spcPts val="0"/>
              </a:spcAft>
            </a:pPr>
            <a:r>
              <a:rPr sz="100">
                <a:solidFill>
                  <a:srgbClr val="FFFFFF"/>
                </a:solidFill>
                <a:latin typeface="Noto Sans"/>
              </a:rPr>
              <a:t>Denunciar en la plataforma o red social</a:t>
            </a:r>
          </a:p>
          <a:p>
            <a:pPr>
              <a:spcBef>
                <a:spcPts val="0"/>
              </a:spcBef>
              <a:spcAft>
                <a:spcPts val="0"/>
              </a:spcAft>
            </a:pPr>
            <a:r>
              <a:rPr sz="100">
                <a:solidFill>
                  <a:srgbClr val="FFFFFF"/>
                </a:solidFill>
                <a:latin typeface="Noto Sans"/>
              </a:rPr>
              <a:t>Bloquear a la persona</a:t>
            </a:r>
          </a:p>
          <a:p>
            <a:pPr>
              <a:spcBef>
                <a:spcPts val="0"/>
              </a:spcBef>
              <a:spcAft>
                <a:spcPts val="0"/>
              </a:spcAft>
            </a:pPr>
            <a:r>
              <a:rPr sz="100">
                <a:solidFill>
                  <a:srgbClr val="FFFFFF"/>
                </a:solidFill>
                <a:latin typeface="Noto Sans"/>
              </a:rPr>
              <a:t>Denunciar a otras autoridades</a:t>
            </a:r>
          </a:p>
          <a:p>
            <a:pPr>
              <a:spcBef>
                <a:spcPts val="0"/>
              </a:spcBef>
              <a:spcAft>
                <a:spcPts val="0"/>
              </a:spcAft>
            </a:pPr>
            <a:r>
              <a:rPr sz="100">
                <a:solidFill>
                  <a:srgbClr val="FFFFFF"/>
                </a:solidFill>
                <a:latin typeface="Noto Sans"/>
              </a:rPr>
              <a:t>Denunciar ante la Policía Cibernética</a:t>
            </a:r>
          </a:p>
          <a:p>
            <a:pPr>
              <a:spcBef>
                <a:spcPts val="0"/>
              </a:spcBef>
              <a:spcAft>
                <a:spcPts val="0"/>
              </a:spcAft>
            </a:pPr>
            <a:r>
              <a:rPr sz="100">
                <a:solidFill>
                  <a:srgbClr val="FFFFFF"/>
                </a:solidFill>
                <a:latin typeface="Noto Sans"/>
              </a:rPr>
              <a:t>6.3%</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11.7%</a:t>
            </a:r>
          </a:p>
          <a:p>
            <a:pPr>
              <a:spcBef>
                <a:spcPts val="0"/>
              </a:spcBef>
              <a:spcAft>
                <a:spcPts val="0"/>
              </a:spcAft>
            </a:pPr>
            <a:r>
              <a:rPr sz="100">
                <a:solidFill>
                  <a:srgbClr val="FFFFFF"/>
                </a:solidFill>
                <a:latin typeface="Noto Sans"/>
              </a:rPr>
              <a:t>12.4%</a:t>
            </a:r>
          </a:p>
          <a:p>
            <a:pPr>
              <a:spcBef>
                <a:spcPts val="0"/>
              </a:spcBef>
              <a:spcAft>
                <a:spcPts val="0"/>
              </a:spcAft>
            </a:pPr>
            <a:r>
              <a:rPr sz="100">
                <a:solidFill>
                  <a:srgbClr val="FFFFFF"/>
                </a:solidFill>
                <a:latin typeface="Noto Sans"/>
              </a:rPr>
              <a:t>15.2%</a:t>
            </a:r>
          </a:p>
          <a:p>
            <a:pPr>
              <a:spcBef>
                <a:spcPts val="0"/>
              </a:spcBef>
              <a:spcAft>
                <a:spcPts val="0"/>
              </a:spcAft>
            </a:pPr>
            <a:r>
              <a:rPr sz="100">
                <a:solidFill>
                  <a:srgbClr val="FFFFFF"/>
                </a:solidFill>
                <a:latin typeface="Noto Sans"/>
              </a:rPr>
              <a:t>16.8%</a:t>
            </a:r>
          </a:p>
          <a:p>
            <a:pPr>
              <a:spcBef>
                <a:spcPts val="0"/>
              </a:spcBef>
              <a:spcAft>
                <a:spcPts val="0"/>
              </a:spcAft>
            </a:pPr>
            <a:r>
              <a:rPr sz="100">
                <a:solidFill>
                  <a:srgbClr val="FFFFFF"/>
                </a:solidFill>
                <a:latin typeface="Noto Sans"/>
              </a:rPr>
              <a:t>30.2%</a:t>
            </a:r>
          </a:p>
          <a:p>
            <a:pPr>
              <a:spcBef>
                <a:spcPts val="0"/>
              </a:spcBef>
              <a:spcAft>
                <a:spcPts val="0"/>
              </a:spcAft>
            </a:pPr>
            <a:r>
              <a:rPr sz="100">
                <a:solidFill>
                  <a:srgbClr val="FFFFFF"/>
                </a:solidFill>
                <a:latin typeface="Noto Sans"/>
              </a:rPr>
              <a:t>30.3%</a:t>
            </a:r>
          </a:p>
          <a:p>
            <a:pPr>
              <a:spcBef>
                <a:spcPts val="0"/>
              </a:spcBef>
              <a:spcAft>
                <a:spcPts val="0"/>
              </a:spcAft>
            </a:pPr>
            <a:r>
              <a:rPr sz="100">
                <a:solidFill>
                  <a:srgbClr val="FFFFFF"/>
                </a:solidFill>
                <a:latin typeface="Noto Sans"/>
              </a:rPr>
              <a:t>32.7%</a:t>
            </a:r>
          </a:p>
          <a:p>
            <a:pPr>
              <a:spcBef>
                <a:spcPts val="0"/>
              </a:spcBef>
              <a:spcAft>
                <a:spcPts val="0"/>
              </a:spcAft>
            </a:pPr>
            <a:r>
              <a:rPr sz="100">
                <a:solidFill>
                  <a:srgbClr val="FFFFFF"/>
                </a:solidFill>
                <a:latin typeface="Noto Sans"/>
              </a:rPr>
              <a:t>6.8%</a:t>
            </a:r>
          </a:p>
          <a:p>
            <a:pPr>
              <a:spcBef>
                <a:spcPts val="0"/>
              </a:spcBef>
              <a:spcAft>
                <a:spcPts val="0"/>
              </a:spcAft>
            </a:pPr>
            <a:r>
              <a:rPr sz="100">
                <a:solidFill>
                  <a:srgbClr val="FFFFFF"/>
                </a:solidFill>
                <a:latin typeface="Noto Sans"/>
              </a:rPr>
              <a:t>6.6%</a:t>
            </a:r>
          </a:p>
          <a:p>
            <a:pPr>
              <a:spcBef>
                <a:spcPts val="0"/>
              </a:spcBef>
              <a:spcAft>
                <a:spcPts val="0"/>
              </a:spcAft>
            </a:pPr>
            <a:r>
              <a:rPr sz="100">
                <a:solidFill>
                  <a:srgbClr val="FFFFFF"/>
                </a:solidFill>
                <a:latin typeface="Noto Sans"/>
              </a:rPr>
              <a:t>12.8%</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15.4%</a:t>
            </a:r>
          </a:p>
          <a:p>
            <a:pPr>
              <a:spcBef>
                <a:spcPts val="0"/>
              </a:spcBef>
              <a:spcAft>
                <a:spcPts val="0"/>
              </a:spcAft>
            </a:pPr>
            <a:r>
              <a:rPr sz="100">
                <a:solidFill>
                  <a:srgbClr val="FFFFFF"/>
                </a:solidFill>
                <a:latin typeface="Noto Sans"/>
              </a:rPr>
              <a:t>17.0%</a:t>
            </a:r>
          </a:p>
          <a:p>
            <a:pPr>
              <a:spcBef>
                <a:spcPts val="0"/>
              </a:spcBef>
              <a:spcAft>
                <a:spcPts val="0"/>
              </a:spcAft>
            </a:pPr>
            <a:r>
              <a:rPr sz="100">
                <a:solidFill>
                  <a:srgbClr val="FFFFFF"/>
                </a:solidFill>
                <a:latin typeface="Noto Sans"/>
              </a:rPr>
              <a:t>29.4%</a:t>
            </a:r>
          </a:p>
          <a:p>
            <a:pPr>
              <a:spcBef>
                <a:spcPts val="0"/>
              </a:spcBef>
              <a:spcAft>
                <a:spcPts val="0"/>
              </a:spcAft>
            </a:pPr>
            <a:r>
              <a:rPr sz="100">
                <a:solidFill>
                  <a:srgbClr val="FFFFFF"/>
                </a:solidFill>
                <a:latin typeface="Noto Sans"/>
              </a:rPr>
              <a:t>28.6%</a:t>
            </a:r>
          </a:p>
          <a:p>
            <a:pPr>
              <a:spcBef>
                <a:spcPts val="0"/>
              </a:spcBef>
              <a:spcAft>
                <a:spcPts val="0"/>
              </a:spcAft>
            </a:pPr>
            <a:r>
              <a:rPr sz="100">
                <a:solidFill>
                  <a:srgbClr val="FFFFFF"/>
                </a:solidFill>
                <a:latin typeface="Noto Sans"/>
              </a:rPr>
              <a:t>33.2%</a:t>
            </a:r>
          </a:p>
          <a:p>
            <a:pPr>
              <a:spcBef>
                <a:spcPts val="0"/>
              </a:spcBef>
              <a:spcAft>
                <a:spcPts val="0"/>
              </a:spcAft>
            </a:pPr>
            <a:r>
              <a:rPr sz="100">
                <a:solidFill>
                  <a:srgbClr val="FFFFFF"/>
                </a:solidFill>
                <a:latin typeface="Noto Sans"/>
              </a:rPr>
              <a:t>5.8%</a:t>
            </a:r>
          </a:p>
          <a:p>
            <a:pPr>
              <a:spcBef>
                <a:spcPts val="0"/>
              </a:spcBef>
              <a:spcAft>
                <a:spcPts val="0"/>
              </a:spcAft>
            </a:pPr>
            <a:r>
              <a:rPr sz="100">
                <a:solidFill>
                  <a:srgbClr val="FFFFFF"/>
                </a:solidFill>
                <a:latin typeface="Noto Sans"/>
              </a:rPr>
              <a:t>7.1%</a:t>
            </a:r>
          </a:p>
          <a:p>
            <a:pPr>
              <a:spcBef>
                <a:spcPts val="0"/>
              </a:spcBef>
              <a:spcAft>
                <a:spcPts val="0"/>
              </a:spcAft>
            </a:pPr>
            <a:r>
              <a:rPr sz="100">
                <a:solidFill>
                  <a:srgbClr val="FFFFFF"/>
                </a:solidFill>
                <a:latin typeface="Noto Sans"/>
              </a:rPr>
              <a:t>10.6%</a:t>
            </a:r>
          </a:p>
          <a:p>
            <a:pPr>
              <a:spcBef>
                <a:spcPts val="0"/>
              </a:spcBef>
              <a:spcAft>
                <a:spcPts val="0"/>
              </a:spcAft>
            </a:pPr>
            <a:r>
              <a:rPr sz="100">
                <a:solidFill>
                  <a:srgbClr val="FFFFFF"/>
                </a:solidFill>
                <a:latin typeface="Noto Sans"/>
              </a:rPr>
              <a:t>14.4%</a:t>
            </a:r>
          </a:p>
          <a:p>
            <a:pPr>
              <a:spcBef>
                <a:spcPts val="0"/>
              </a:spcBef>
              <a:spcAft>
                <a:spcPts val="0"/>
              </a:spcAft>
            </a:pPr>
            <a:r>
              <a:rPr sz="100">
                <a:solidFill>
                  <a:srgbClr val="FFFFFF"/>
                </a:solidFill>
                <a:latin typeface="Noto Sans"/>
              </a:rPr>
              <a:t>14.9%</a:t>
            </a:r>
          </a:p>
          <a:p>
            <a:pPr>
              <a:spcBef>
                <a:spcPts val="0"/>
              </a:spcBef>
              <a:spcAft>
                <a:spcPts val="0"/>
              </a:spcAft>
            </a:pPr>
            <a:r>
              <a:rPr sz="100">
                <a:solidFill>
                  <a:srgbClr val="FFFFFF"/>
                </a:solidFill>
                <a:latin typeface="Noto Sans"/>
              </a:rPr>
              <a:t>16.6%</a:t>
            </a:r>
          </a:p>
          <a:p>
            <a:pPr>
              <a:spcBef>
                <a:spcPts val="0"/>
              </a:spcBef>
              <a:spcAft>
                <a:spcPts val="0"/>
              </a:spcAft>
            </a:pPr>
            <a:r>
              <a:rPr sz="100">
                <a:solidFill>
                  <a:srgbClr val="FFFFFF"/>
                </a:solidFill>
                <a:latin typeface="Noto Sans"/>
              </a:rPr>
              <a:t>31.0%</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32.1%</a:t>
            </a:r>
          </a:p>
          <a:p>
            <a:pPr>
              <a:spcBef>
                <a:spcPts val="0"/>
              </a:spcBef>
              <a:spcAft>
                <a:spcPts val="0"/>
              </a:spcAft>
            </a:pPr>
            <a:r>
              <a:rPr sz="100">
                <a:solidFill>
                  <a:srgbClr val="FFFFFF"/>
                </a:solidFill>
                <a:latin typeface="Noto Sans"/>
              </a:rPr>
              <a:t>General</a:t>
            </a:r>
          </a:p>
          <a:p>
            <a:pPr>
              <a:spcBef>
                <a:spcPts val="0"/>
              </a:spcBef>
              <a:spcAft>
                <a:spcPts val="0"/>
              </a:spcAft>
            </a:pPr>
            <a:r>
              <a:rPr sz="100">
                <a:solidFill>
                  <a:srgbClr val="FFFFFF"/>
                </a:solidFill>
                <a:latin typeface="Noto Sans"/>
              </a:rPr>
              <a:t>Mujeres</a:t>
            </a:r>
          </a:p>
          <a:p>
            <a:pPr>
              <a:spcBef>
                <a:spcPts val="0"/>
              </a:spcBef>
              <a:spcAft>
                <a:spcPts val="0"/>
              </a:spcAft>
            </a:pPr>
            <a:r>
              <a:rPr sz="100">
                <a:solidFill>
                  <a:srgbClr val="FFFFFF"/>
                </a:solidFill>
                <a:latin typeface="Noto Sans"/>
              </a:rPr>
              <a:t>Hombres</a:t>
            </a:r>
          </a:p>
          <a:p>
            <a:pPr>
              <a:spcBef>
                <a:spcPts val="0"/>
              </a:spcBef>
              <a:spcAft>
                <a:spcPts val="0"/>
              </a:spcAft>
            </a:pPr>
            <a:r>
              <a:rPr sz="100">
                <a:solidFill>
                  <a:srgbClr val="FFFFFF"/>
                </a:solidFill>
                <a:latin typeface="Noto Sans"/>
              </a:rPr>
              <a:t>Figura F.16.</a:t>
            </a:r>
          </a:p>
          <a:p>
            <a:pPr>
              <a:spcBef>
                <a:spcPts val="0"/>
              </a:spcBef>
              <a:spcAft>
                <a:spcPts val="0"/>
              </a:spcAft>
            </a:pPr>
            <a:r>
              <a:rPr sz="100">
                <a:solidFill>
                  <a:srgbClr val="FFFFFF"/>
                </a:solidFill>
                <a:latin typeface="Noto Sans"/>
              </a:rPr>
              <a:t>Medidas que se tomarían ante violencia en Internet, por sexo (2023)</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información de la Tercera Encuesta 2023, Personas Usuarias de Servicios de Telecomunicaciones.</a:t>
            </a:r>
          </a:p>
          <a:p>
            <a:pPr>
              <a:spcBef>
                <a:spcPts val="0"/>
              </a:spcBef>
              <a:spcAft>
                <a:spcPts val="0"/>
              </a:spcAft>
            </a:pPr>
            <a:r>
              <a:rPr sz="100">
                <a:solidFill>
                  <a:srgbClr val="FFFFFF"/>
                </a:solidFill>
                <a:latin typeface="Noto Sans"/>
              </a:rPr>
              <a:t>Nota:</a:t>
            </a:r>
          </a:p>
          <a:p>
            <a:pPr>
              <a:spcBef>
                <a:spcPts val="0"/>
              </a:spcBef>
              <a:spcAft>
                <a:spcPts val="0"/>
              </a:spcAft>
            </a:pPr>
            <a:r>
              <a:rPr sz="100">
                <a:solidFill>
                  <a:srgbClr val="FFFFFF"/>
                </a:solidFill>
                <a:latin typeface="Noto Sans"/>
              </a:rPr>
              <a:t>Porcentajes ponderados; las respuestas son de selección múltiple.</a:t>
            </a:r>
          </a:p>
        </p:txBody>
      </p:sp>
      <p:pic>
        <p:nvPicPr>
          <p:cNvPr id="223" name="ANUARIO_IMAGE_F_16" descr="Figura F.16.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100</a:t>
            </a:r>
          </a:p>
        </p:txBody>
      </p:sp>
    </p:spTree>
  </p:cSld>
  <p:clrMapOvr>
    <a:masterClrMapping/>
  </p:clrMapOvr>
</p:sld>
</file>

<file path=ppt/slides/slide101.xml><?xml version="1.0" encoding="utf-8"?>
<p:sld xmlns:a="http://schemas.openxmlformats.org/drawingml/2006/main" xmlns:ns2="http://schemas.microsoft.com/office/drawing/2014/main" xmlns:p="http://schemas.openxmlformats.org/presentationml/2006/main" xmlns:r="http://schemas.openxmlformats.org/officeDocument/2006/relationships">
  <p:cSld>
    <p:spTree>
      <p:nvGrpSpPr>
        <p:cNvPr id="1" name=""/>
        <p:cNvGrpSpPr/>
        <p:nvPr/>
      </p:nvGrpSpPr>
      <p:grpSpPr/>
      <p:sp>
        <p:nvSpPr>
          <p:cNvPr id="162" name="ANUARIO_TEXT_G_1" descr="ANUARIO_FIGURE_ID=G.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G.1</a:t>
            </a:r>
          </a:p>
          <a:p>
            <a:pPr>
              <a:spcBef>
                <a:spcPts val="0"/>
              </a:spcBef>
              <a:spcAft>
                <a:spcPts val="600"/>
              </a:spcAft>
            </a:pPr>
            <a:r>
              <a:rPr sz="950" b="1">
                <a:solidFill>
                  <a:srgbClr val="203634"/>
                </a:solidFill>
                <a:latin typeface="Noto Sans"/>
              </a:rPr>
              <a:t>CONCESIONES OTORGADAS DE RADIODIFUSIÓN PARA AM, FM Y TDT, A NIVEL NACIONAL</a:t>
            </a:r>
          </a:p>
          <a:p>
            <a:pPr>
              <a:lnSpc>
                <a:spcPct val="100000"/>
              </a:lnSpc>
              <a:spcBef>
                <a:spcPts val="0"/>
              </a:spcBef>
              <a:spcAft>
                <a:spcPts val="400"/>
              </a:spcAft>
            </a:pPr>
            <a:r>
              <a:rPr sz="700" b="0">
                <a:solidFill>
                  <a:srgbClr val="434343"/>
                </a:solidFill>
                <a:latin typeface="Noto Sans"/>
              </a:rPr>
              <a:t>A diciembre de 2023, había en operación un total de 3,073 concesiones otorgadas de radiodifusión en México, 266 de estas concesiones fueron de radio AM, de las cuales 161 fueron de tipo comercial, 56 públicas, 42 sociales, 4 sociales comunitarias y 3 sociales indígenas.</a:t>
            </a:r>
          </a:p>
          <a:p>
            <a:pPr>
              <a:lnSpc>
                <a:spcPct val="100000"/>
              </a:lnSpc>
              <a:spcBef>
                <a:spcPts val="0"/>
              </a:spcBef>
              <a:spcAft>
                <a:spcPts val="400"/>
              </a:spcAft>
            </a:pPr>
            <a:r>
              <a:rPr sz="700" b="0">
                <a:solidFill>
                  <a:srgbClr val="434343"/>
                </a:solidFill>
                <a:latin typeface="Noto Sans"/>
              </a:rPr>
              <a:t>En cuanto a las concesiones de radio FM, se otorgaron 1,898, de las cuales 1,165 concesiones fueron de tipo comercial, 300 públicas, 267 sociales, 139 sociales comunitarias y 27 sociales indígenas.</a:t>
            </a:r>
          </a:p>
          <a:p>
            <a:pPr>
              <a:lnSpc>
                <a:spcPct val="100000"/>
              </a:lnSpc>
              <a:spcBef>
                <a:spcPts val="0"/>
              </a:spcBef>
              <a:spcAft>
                <a:spcPts val="400"/>
              </a:spcAft>
            </a:pPr>
            <a:r>
              <a:rPr sz="700" b="0">
                <a:solidFill>
                  <a:srgbClr val="434343"/>
                </a:solidFill>
                <a:latin typeface="Noto Sans"/>
              </a:rPr>
              <a:t>Además, se registraron 909 concesiones de televisión digital terrestre (TDT), de las cuales 569 fueron de tipo comercial, 280 de tipo públicas, 53 sociales y 7 sociales comunitarias.</a:t>
            </a:r>
          </a:p>
        </p:txBody>
      </p:sp>
      <p:sp>
        <p:nvSpPr>
          <p:cNvPr id="202" name="ANUARIO_SECTION_HEADER_G" descr="ANUARIO_SECTION=G;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G. INDICADORES DE RADIODIFUSIÓN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G_1" descr="ANUARIO_FIGURE_ID=G.1;ROLE=FIGURE_PLACEHOLDER;FIT=CONTAIN" title="Marcador automático para Figura A.1">
            <a:extLst>
              <a:ext uri="{FF2B5EF4-FFF2-40B4-BE49-F238E27FC236}">
                <ns2:creationId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2" name="ANUARIO_TEXT_LAYER_G_1" descr="Capa accesible con el texto del SVG de la figura G.1"/>
          <p:cNvSpPr txBox="1"/>
          <p:nvPr/>
        </p:nvSpPr>
        <p:spPr>
          <a:xfrm>
            <a:off x="3357372" y="1253968"/>
            <a:ext cx="5279136" cy="2969514"/>
          </a:xfrm>
          <a:prstGeom prst="rect">
            <a:avLst/>
          </a:prstGeom>
          <a:noFill/>
          <a:ln>
            <a:noFill/>
          </a:ln>
        </p:spPr>
        <p:txBody>
          <a:bodyPr wrap="none" anchor="t" lIns="0" rIns="0" tIns="0" bIns="0">
            <a:noAutofit/>
          </a:bodyPr>
          <a:lstStyle/>
          <a:p>
            <a:pPr>
              <a:spcBef>
                <a:spcPts val="0"/>
              </a:spcBef>
              <a:spcAft>
                <a:spcPts val="0"/>
              </a:spcAft>
            </a:pPr>
            <a:r>
              <a:rPr sz="100">
                <a:solidFill>
                  <a:srgbClr val="FFFFFF"/>
                </a:solidFill>
                <a:latin typeface="Noto Sans"/>
              </a:rPr>
              <a:t>Texto seleccionable de la figura G.1</a:t>
            </a:r>
          </a:p>
          <a:p>
            <a:pPr>
              <a:spcBef>
                <a:spcPts val="0"/>
              </a:spcBef>
              <a:spcAft>
                <a:spcPts val="0"/>
              </a:spcAft>
            </a:pPr>
            <a:r>
              <a:rPr sz="100">
                <a:solidFill>
                  <a:srgbClr val="FFFFFF"/>
                </a:solidFill>
                <a:latin typeface="Noto Sans"/>
              </a:rPr>
              <a:t>0</a:t>
            </a:r>
          </a:p>
          <a:p>
            <a:pPr>
              <a:spcBef>
                <a:spcPts val="0"/>
              </a:spcBef>
              <a:spcAft>
                <a:spcPts val="0"/>
              </a:spcAft>
            </a:pPr>
            <a:r>
              <a:rPr sz="100">
                <a:solidFill>
                  <a:srgbClr val="FFFFFF"/>
                </a:solidFill>
                <a:latin typeface="Noto Sans"/>
              </a:rPr>
              <a:t>500</a:t>
            </a:r>
          </a:p>
          <a:p>
            <a:pPr>
              <a:spcBef>
                <a:spcPts val="0"/>
              </a:spcBef>
              <a:spcAft>
                <a:spcPts val="0"/>
              </a:spcAft>
            </a:pPr>
            <a:r>
              <a:rPr sz="100">
                <a:solidFill>
                  <a:srgbClr val="FFFFFF"/>
                </a:solidFill>
                <a:latin typeface="Noto Sans"/>
              </a:rPr>
              <a:t>1000</a:t>
            </a:r>
          </a:p>
          <a:p>
            <a:pPr>
              <a:spcBef>
                <a:spcPts val="0"/>
              </a:spcBef>
              <a:spcAft>
                <a:spcPts val="0"/>
              </a:spcAft>
            </a:pPr>
            <a:r>
              <a:rPr sz="100">
                <a:solidFill>
                  <a:srgbClr val="FFFFFF"/>
                </a:solidFill>
                <a:latin typeface="Noto Sans"/>
              </a:rPr>
              <a:t>1500</a:t>
            </a:r>
          </a:p>
          <a:p>
            <a:pPr>
              <a:spcBef>
                <a:spcPts val="0"/>
              </a:spcBef>
              <a:spcAft>
                <a:spcPts val="0"/>
              </a:spcAft>
            </a:pPr>
            <a:r>
              <a:rPr sz="100">
                <a:solidFill>
                  <a:srgbClr val="FFFFFF"/>
                </a:solidFill>
                <a:latin typeface="Noto Sans"/>
              </a:rPr>
              <a:t>2000</a:t>
            </a:r>
          </a:p>
          <a:p>
            <a:pPr>
              <a:spcBef>
                <a:spcPts val="0"/>
              </a:spcBef>
              <a:spcAft>
                <a:spcPts val="0"/>
              </a:spcAft>
            </a:pPr>
            <a:r>
              <a:rPr sz="100">
                <a:solidFill>
                  <a:srgbClr val="FFFFFF"/>
                </a:solidFill>
                <a:latin typeface="Noto Sans"/>
              </a:rPr>
              <a:t>2500</a:t>
            </a:r>
          </a:p>
          <a:p>
            <a:pPr>
              <a:spcBef>
                <a:spcPts val="0"/>
              </a:spcBef>
              <a:spcAft>
                <a:spcPts val="0"/>
              </a:spcAft>
            </a:pPr>
            <a:r>
              <a:rPr sz="100">
                <a:solidFill>
                  <a:srgbClr val="FFFFFF"/>
                </a:solidFill>
                <a:latin typeface="Noto Sans"/>
              </a:rPr>
              <a:t>TDT</a:t>
            </a:r>
          </a:p>
          <a:p>
            <a:pPr>
              <a:spcBef>
                <a:spcPts val="0"/>
              </a:spcBef>
              <a:spcAft>
                <a:spcPts val="0"/>
              </a:spcAft>
            </a:pPr>
            <a:r>
              <a:rPr sz="100">
                <a:solidFill>
                  <a:srgbClr val="FFFFFF"/>
                </a:solidFill>
                <a:latin typeface="Noto Sans"/>
              </a:rPr>
              <a:t>FM</a:t>
            </a:r>
          </a:p>
          <a:p>
            <a:pPr>
              <a:spcBef>
                <a:spcPts val="0"/>
              </a:spcBef>
              <a:spcAft>
                <a:spcPts val="0"/>
              </a:spcAft>
            </a:pPr>
            <a:r>
              <a:rPr sz="100">
                <a:solidFill>
                  <a:srgbClr val="FFFFFF"/>
                </a:solidFill>
                <a:latin typeface="Noto Sans"/>
              </a:rPr>
              <a:t>AM</a:t>
            </a:r>
          </a:p>
          <a:p>
            <a:pPr>
              <a:spcBef>
                <a:spcPts val="0"/>
              </a:spcBef>
              <a:spcAft>
                <a:spcPts val="0"/>
              </a:spcAft>
            </a:pPr>
            <a:r>
              <a:rPr sz="100">
                <a:solidFill>
                  <a:srgbClr val="FFFFFF"/>
                </a:solidFill>
                <a:latin typeface="Noto Sans"/>
              </a:rPr>
              <a:t>Comerciales</a:t>
            </a:r>
          </a:p>
          <a:p>
            <a:pPr>
              <a:spcBef>
                <a:spcPts val="0"/>
              </a:spcBef>
              <a:spcAft>
                <a:spcPts val="0"/>
              </a:spcAft>
            </a:pPr>
            <a:r>
              <a:rPr sz="100">
                <a:solidFill>
                  <a:srgbClr val="FFFFFF"/>
                </a:solidFill>
                <a:latin typeface="Noto Sans"/>
              </a:rPr>
              <a:t>Públicas</a:t>
            </a:r>
          </a:p>
          <a:p>
            <a:pPr>
              <a:spcBef>
                <a:spcPts val="0"/>
              </a:spcBef>
              <a:spcAft>
                <a:spcPts val="0"/>
              </a:spcAft>
            </a:pPr>
            <a:r>
              <a:rPr sz="100">
                <a:solidFill>
                  <a:srgbClr val="FFFFFF"/>
                </a:solidFill>
                <a:latin typeface="Noto Sans"/>
              </a:rPr>
              <a:t>Sociales</a:t>
            </a:r>
          </a:p>
          <a:p>
            <a:pPr>
              <a:spcBef>
                <a:spcPts val="0"/>
              </a:spcBef>
              <a:spcAft>
                <a:spcPts val="0"/>
              </a:spcAft>
            </a:pPr>
            <a:r>
              <a:rPr sz="100">
                <a:solidFill>
                  <a:srgbClr val="FFFFFF"/>
                </a:solidFill>
                <a:latin typeface="Noto Sans"/>
              </a:rPr>
              <a:t>Sociales Comunitarias</a:t>
            </a:r>
          </a:p>
          <a:p>
            <a:pPr>
              <a:spcBef>
                <a:spcPts val="0"/>
              </a:spcBef>
              <a:spcAft>
                <a:spcPts val="0"/>
              </a:spcAft>
            </a:pPr>
            <a:r>
              <a:rPr sz="100">
                <a:solidFill>
                  <a:srgbClr val="FFFFFF"/>
                </a:solidFill>
                <a:latin typeface="Noto Sans"/>
              </a:rPr>
              <a:t>Sociales Indígenas</a:t>
            </a:r>
          </a:p>
          <a:p>
            <a:pPr>
              <a:spcBef>
                <a:spcPts val="0"/>
              </a:spcBef>
              <a:spcAft>
                <a:spcPts val="0"/>
              </a:spcAft>
            </a:pPr>
            <a:r>
              <a:rPr sz="100">
                <a:solidFill>
                  <a:srgbClr val="FFFFFF"/>
                </a:solidFill>
                <a:latin typeface="Noto Sans"/>
              </a:rPr>
              <a:t>569</a:t>
            </a:r>
          </a:p>
          <a:p>
            <a:pPr>
              <a:spcBef>
                <a:spcPts val="0"/>
              </a:spcBef>
              <a:spcAft>
                <a:spcPts val="0"/>
              </a:spcAft>
            </a:pPr>
            <a:r>
              <a:rPr sz="100">
                <a:solidFill>
                  <a:srgbClr val="FFFFFF"/>
                </a:solidFill>
                <a:latin typeface="Noto Sans"/>
              </a:rPr>
              <a:t>280</a:t>
            </a:r>
          </a:p>
          <a:p>
            <a:pPr>
              <a:spcBef>
                <a:spcPts val="0"/>
              </a:spcBef>
              <a:spcAft>
                <a:spcPts val="0"/>
              </a:spcAft>
            </a:pPr>
            <a:r>
              <a:rPr sz="100">
                <a:solidFill>
                  <a:srgbClr val="FFFFFF"/>
                </a:solidFill>
                <a:latin typeface="Noto Sans"/>
              </a:rPr>
              <a:t>53</a:t>
            </a:r>
          </a:p>
          <a:p>
            <a:pPr>
              <a:spcBef>
                <a:spcPts val="0"/>
              </a:spcBef>
              <a:spcAft>
                <a:spcPts val="0"/>
              </a:spcAft>
            </a:pPr>
            <a:r>
              <a:rPr sz="100">
                <a:solidFill>
                  <a:srgbClr val="FFFFFF"/>
                </a:solidFill>
                <a:latin typeface="Noto Sans"/>
              </a:rPr>
              <a:t>7</a:t>
            </a:r>
          </a:p>
          <a:p>
            <a:pPr>
              <a:spcBef>
                <a:spcPts val="0"/>
              </a:spcBef>
              <a:spcAft>
                <a:spcPts val="0"/>
              </a:spcAft>
            </a:pPr>
            <a:r>
              <a:rPr sz="100">
                <a:solidFill>
                  <a:srgbClr val="FFFFFF"/>
                </a:solidFill>
                <a:latin typeface="Noto Sans"/>
              </a:rPr>
              <a:t>Total: 909</a:t>
            </a:r>
          </a:p>
          <a:p>
            <a:pPr>
              <a:spcBef>
                <a:spcPts val="0"/>
              </a:spcBef>
              <a:spcAft>
                <a:spcPts val="0"/>
              </a:spcAft>
            </a:pPr>
            <a:r>
              <a:rPr sz="100">
                <a:solidFill>
                  <a:srgbClr val="FFFFFF"/>
                </a:solidFill>
                <a:latin typeface="Noto Sans"/>
              </a:rPr>
              <a:t>1,165</a:t>
            </a:r>
          </a:p>
          <a:p>
            <a:pPr>
              <a:spcBef>
                <a:spcPts val="0"/>
              </a:spcBef>
              <a:spcAft>
                <a:spcPts val="0"/>
              </a:spcAft>
            </a:pPr>
            <a:r>
              <a:rPr sz="100">
                <a:solidFill>
                  <a:srgbClr val="FFFFFF"/>
                </a:solidFill>
                <a:latin typeface="Noto Sans"/>
              </a:rPr>
              <a:t>300</a:t>
            </a:r>
          </a:p>
          <a:p>
            <a:pPr>
              <a:spcBef>
                <a:spcPts val="0"/>
              </a:spcBef>
              <a:spcAft>
                <a:spcPts val="0"/>
              </a:spcAft>
            </a:pPr>
            <a:r>
              <a:rPr sz="100">
                <a:solidFill>
                  <a:srgbClr val="FFFFFF"/>
                </a:solidFill>
                <a:latin typeface="Noto Sans"/>
              </a:rPr>
              <a:t>267</a:t>
            </a:r>
          </a:p>
          <a:p>
            <a:pPr>
              <a:spcBef>
                <a:spcPts val="0"/>
              </a:spcBef>
              <a:spcAft>
                <a:spcPts val="0"/>
              </a:spcAft>
            </a:pPr>
            <a:r>
              <a:rPr sz="100">
                <a:solidFill>
                  <a:srgbClr val="FFFFFF"/>
                </a:solidFill>
                <a:latin typeface="Noto Sans"/>
              </a:rPr>
              <a:t>139</a:t>
            </a:r>
          </a:p>
          <a:p>
            <a:pPr>
              <a:spcBef>
                <a:spcPts val="0"/>
              </a:spcBef>
              <a:spcAft>
                <a:spcPts val="0"/>
              </a:spcAft>
            </a:pPr>
            <a:r>
              <a:rPr sz="100">
                <a:solidFill>
                  <a:srgbClr val="FFFFFF"/>
                </a:solidFill>
                <a:latin typeface="Noto Sans"/>
              </a:rPr>
              <a:t>27</a:t>
            </a:r>
          </a:p>
          <a:p>
            <a:pPr>
              <a:spcBef>
                <a:spcPts val="0"/>
              </a:spcBef>
              <a:spcAft>
                <a:spcPts val="0"/>
              </a:spcAft>
            </a:pPr>
            <a:r>
              <a:rPr sz="100">
                <a:solidFill>
                  <a:srgbClr val="FFFFFF"/>
                </a:solidFill>
                <a:latin typeface="Noto Sans"/>
              </a:rPr>
              <a:t>Total: 1,898</a:t>
            </a:r>
          </a:p>
          <a:p>
            <a:pPr>
              <a:spcBef>
                <a:spcPts val="0"/>
              </a:spcBef>
              <a:spcAft>
                <a:spcPts val="0"/>
              </a:spcAft>
            </a:pPr>
            <a:r>
              <a:rPr sz="100">
                <a:solidFill>
                  <a:srgbClr val="FFFFFF"/>
                </a:solidFill>
                <a:latin typeface="Noto Sans"/>
              </a:rPr>
              <a:t>161</a:t>
            </a:r>
          </a:p>
          <a:p>
            <a:pPr>
              <a:spcBef>
                <a:spcPts val="0"/>
              </a:spcBef>
              <a:spcAft>
                <a:spcPts val="0"/>
              </a:spcAft>
            </a:pPr>
            <a:r>
              <a:rPr sz="100">
                <a:solidFill>
                  <a:srgbClr val="FFFFFF"/>
                </a:solidFill>
                <a:latin typeface="Noto Sans"/>
              </a:rPr>
              <a:t>56</a:t>
            </a:r>
          </a:p>
          <a:p>
            <a:pPr>
              <a:spcBef>
                <a:spcPts val="0"/>
              </a:spcBef>
              <a:spcAft>
                <a:spcPts val="0"/>
              </a:spcAft>
            </a:pPr>
            <a:r>
              <a:rPr sz="100">
                <a:solidFill>
                  <a:srgbClr val="FFFFFF"/>
                </a:solidFill>
                <a:latin typeface="Noto Sans"/>
              </a:rPr>
              <a:t>42</a:t>
            </a:r>
          </a:p>
          <a:p>
            <a:pPr>
              <a:spcBef>
                <a:spcPts val="0"/>
              </a:spcBef>
              <a:spcAft>
                <a:spcPts val="0"/>
              </a:spcAft>
            </a:pPr>
            <a:r>
              <a:rPr sz="100">
                <a:solidFill>
                  <a:srgbClr val="FFFFFF"/>
                </a:solidFill>
                <a:latin typeface="Noto Sans"/>
              </a:rPr>
              <a:t>4</a:t>
            </a:r>
          </a:p>
          <a:p>
            <a:pPr>
              <a:spcBef>
                <a:spcPts val="0"/>
              </a:spcBef>
              <a:spcAft>
                <a:spcPts val="0"/>
              </a:spcAft>
            </a:pPr>
            <a:r>
              <a:rPr sz="100">
                <a:solidFill>
                  <a:srgbClr val="FFFFFF"/>
                </a:solidFill>
                <a:latin typeface="Noto Sans"/>
              </a:rPr>
              <a:t>3</a:t>
            </a:r>
          </a:p>
          <a:p>
            <a:pPr>
              <a:spcBef>
                <a:spcPts val="0"/>
              </a:spcBef>
              <a:spcAft>
                <a:spcPts val="0"/>
              </a:spcAft>
            </a:pPr>
            <a:r>
              <a:rPr sz="100">
                <a:solidFill>
                  <a:srgbClr val="FFFFFF"/>
                </a:solidFill>
                <a:latin typeface="Noto Sans"/>
              </a:rPr>
              <a:t>Total: 266</a:t>
            </a:r>
          </a:p>
          <a:p>
            <a:pPr>
              <a:spcBef>
                <a:spcPts val="0"/>
              </a:spcBef>
              <a:spcAft>
                <a:spcPts val="0"/>
              </a:spcAft>
            </a:pPr>
            <a:r>
              <a:rPr sz="100">
                <a:solidFill>
                  <a:srgbClr val="FFFFFF"/>
                </a:solidFill>
                <a:latin typeface="Noto Sans"/>
              </a:rPr>
              <a:t>Figura G.1.</a:t>
            </a:r>
          </a:p>
          <a:p>
            <a:pPr>
              <a:spcBef>
                <a:spcPts val="0"/>
              </a:spcBef>
              <a:spcAft>
                <a:spcPts val="0"/>
              </a:spcAft>
            </a:pPr>
            <a:r>
              <a:rPr sz="100">
                <a:solidFill>
                  <a:srgbClr val="FFFFFF"/>
                </a:solidFill>
                <a:latin typeface="Noto Sans"/>
              </a:rPr>
              <a:t>Concesiones otorgadas de radiodifusión para AM, FM y TDT, a nivel nacional</a:t>
            </a:r>
          </a:p>
          <a:p>
            <a:pPr>
              <a:spcBef>
                <a:spcPts val="0"/>
              </a:spcBef>
              <a:spcAft>
                <a:spcPts val="0"/>
              </a:spcAft>
            </a:pPr>
            <a:r>
              <a:rPr sz="100">
                <a:solidFill>
                  <a:srgbClr val="FFFFFF"/>
                </a:solidFill>
                <a:latin typeface="Noto Sans"/>
              </a:rPr>
              <a:t>Fuente:</a:t>
            </a:r>
          </a:p>
          <a:p>
            <a:pPr>
              <a:spcBef>
                <a:spcPts val="0"/>
              </a:spcBef>
              <a:spcAft>
                <a:spcPts val="0"/>
              </a:spcAft>
            </a:pPr>
            <a:r>
              <a:rPr sz="100">
                <a:solidFill>
                  <a:srgbClr val="FFFFFF"/>
                </a:solidFill>
                <a:latin typeface="Noto Sans"/>
              </a:rPr>
              <a:t>Elaborado por la CRT con datos del Banco de Información de Telecomunicaciones (BIT), corte 2023.</a:t>
            </a:r>
          </a:p>
        </p:txBody>
      </p:sp>
      <p:pic>
        <p:nvPicPr>
          <p:cNvPr id="223" name="ANUARIO_IMAGE_G_1" descr="Figura G.1. SVG vectorial sin respaldo raster"/>
          <p:cNvPicPr>
            <a:picLocks noChangeAspect="1"/>
          </p:cNvPicPr>
          <p:nvPr/>
        </p:nvPicPr>
        <p:blipFill>
          <a:blip r:embed="rId2"/>
          <a:stretch>
            <a:fillRect/>
          </a:stretch>
        </p:blipFill>
        <p:spPr>
          <a:xfrm>
            <a:off x="3357372" y="1253968"/>
            <a:ext cx="5279136" cy="2969514"/>
          </a:xfrm>
          <a:prstGeom prst="rect">
            <a:avLst/>
          </a:prstGeom>
        </p:spPr>
      </p:pic>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 descr="ANUARIO_FIGURE_ID=H.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a:t>
            </a:r>
          </a:p>
          <a:p>
            <a:pPr>
              <a:spcBef>
                <a:spcPts val="0"/>
              </a:spcBef>
              <a:spcAft>
                <a:spcPts val="600"/>
              </a:spcAft>
            </a:pPr>
            <a:r>
              <a:rPr sz="950" b="1">
                <a:solidFill>
                  <a:srgbClr val="203634"/>
                </a:solidFill>
                <a:latin typeface="Noto Sans"/>
              </a:rPr>
              <a:t>PORCENTAJE DE PERSONAS QUE VIERON LA TELEVISIÓN POR HORA A NIVEL NACIONAL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El nivel de exposición a la televisión se mide a través del promedio de personas que tienen su televisor encendido en un intervalo de tiempo determinado. De acuerdo con los datos reportados en la muestra analizada por el IFT, el promedio de personas con el televisor encendido de julio 2023 a junio 2024 fue de 15.72% durante las 24 horas del día. Sin embargo, esa proporción cambia significativamente a lo largo del día, alcanzando su punto máximo de 31.21% entre las 21:00 horas y 22:00 horas (Ver Figura H.1.).</a:t>
            </a:r>
          </a:p>
          <a:p>
            <a:pPr>
              <a:lnSpc>
                <a:spcPct val="100000"/>
              </a:lnSpc>
              <a:spcBef>
                <a:spcPts val="0"/>
              </a:spcBef>
              <a:spcAft>
                <a:spcPts val="400"/>
              </a:spcAft>
            </a:pPr>
            <a:r>
              <a:rPr sz="700" b="0">
                <a:solidFill>
                  <a:srgbClr val="434343"/>
                </a:solidFill>
                <a:latin typeface="Noto Sans"/>
              </a:rPr>
              <a:t>Además, el nivel de encendidos puede variar dependiendo del público que se analice. De esta manera, el porcentaje de encendidos para las mujeres fue de 16.46%, mientras que para los hombres fue de 14.95%. Asimismo, en ambos casos su hora de mayor exposición fue de 21:00 a 22:00 horas, con 32.61% y 29.73%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 descr="ANUARIO_FIGURE_ID=H.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102</a:t>
            </a:r>
          </a:p>
        </p:txBody>
      </p:sp>
      <p:pic>
        <p:nvPicPr>
          <p:cNvPr id="222" name="ANUARIO_HISTORICAL_H_1" descr="h_0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2" descr="ANUARIO_FIGURE_ID=H.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H.2</a:t>
            </a:r>
          </a:p>
          <a:p>
            <a:pPr>
              <a:spcBef>
                <a:spcPts val="0"/>
              </a:spcBef>
              <a:spcAft>
                <a:spcPts val="600"/>
              </a:spcAft>
            </a:pPr>
            <a:r>
              <a:rPr sz="950" b="1">
                <a:solidFill>
                  <a:srgbClr val="203634"/>
                </a:solidFill>
                <a:latin typeface="Noto Sans"/>
              </a:rPr>
              <a:t>HORAS DEDICADAS Y RATING PROMEDIO POR GÉNERO EN CANALES NACIONALES (28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H.2.).</a:t>
            </a:r>
          </a:p>
          <a:p>
            <a:pPr>
              <a:lnSpc>
                <a:spcPct val="100000"/>
              </a:lnSpc>
              <a:spcBef>
                <a:spcPts val="0"/>
              </a:spcBef>
              <a:spcAft>
                <a:spcPts val="400"/>
              </a:spcAft>
            </a:pPr>
            <a:r>
              <a:rPr sz="700" b="0">
                <a:solidFill>
                  <a:srgbClr val="434343"/>
                </a:solidFill>
                <a:latin typeface="Noto Sans"/>
              </a:rPr>
              <a:t>Por otra parte, al analizar la audiencia de los géneros programáticos en hombres y mujeres, se puede apreciar que los tres géneros ya mencionados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2" descr="ANUARIO_FIGURE_ID=H.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103</a:t>
            </a:r>
          </a:p>
        </p:txBody>
      </p:sp>
      <p:pic>
        <p:nvPicPr>
          <p:cNvPr id="222" name="ANUARIO_HISTORICAL_H_2" descr="h_0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3" descr="ANUARIO_FIGURE_ID=H.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H.3</a:t>
            </a:r>
          </a:p>
          <a:p>
            <a:pPr>
              <a:spcBef>
                <a:spcPts val="0"/>
              </a:spcBef>
              <a:spcAft>
                <a:spcPts val="600"/>
              </a:spcAft>
            </a:pPr>
            <a:r>
              <a:rPr sz="950" b="1">
                <a:solidFill>
                  <a:srgbClr val="203634"/>
                </a:solidFill>
                <a:latin typeface="Noto Sans"/>
              </a:rPr>
              <a:t>PORCENTAJE DE PERSONAS QUE VIERON LA TELEVISIÓN POR HORA EN CIUDAD DE MÉXICO</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la Ciudad de México, el promedio de personas con el televisor encendido de julio 2023 a junio 2024 fue de 16.69% durante las 24 horas del día. Sin embargo, esa proporción cambió significativamente a lo largo del día, alcanzando su punto máximo de 34.82% entre las 21:00 horas y 22:00 horas (Ver Figura H.3.).</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17.43%, mientras que para los hombres fue de 15.89%. Asimismo, en ambos casos su hora de mayor exposición fue de 21:00 a 22:00 horas, con 36.48% y 33.03%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3" descr="ANUARIO_FIGURE_ID=H.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104</a:t>
            </a:r>
          </a:p>
        </p:txBody>
      </p:sp>
      <p:pic>
        <p:nvPicPr>
          <p:cNvPr id="222" name="ANUARIO_HISTORICAL_H_3" descr="h_0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4" descr="ANUARIO_FIGURE_ID=H.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H.4</a:t>
            </a:r>
          </a:p>
          <a:p>
            <a:pPr>
              <a:spcBef>
                <a:spcPts val="0"/>
              </a:spcBef>
              <a:spcAft>
                <a:spcPts val="600"/>
              </a:spcAft>
            </a:pPr>
            <a:r>
              <a:rPr sz="950" b="1">
                <a:solidFill>
                  <a:srgbClr val="203634"/>
                </a:solidFill>
                <a:latin typeface="Noto Sans"/>
              </a:rPr>
              <a:t>HORAS DEDICADAS Y RATING PROMEDIO POR GÉNERO EN CANALES NACIONALES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 Ciudad de México,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H.4.).</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“Dramatizados unitarios”, seguidos de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4" descr="ANUARIO_FIGURE_ID=H.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105</a:t>
            </a:r>
          </a:p>
        </p:txBody>
      </p:sp>
      <p:pic>
        <p:nvPicPr>
          <p:cNvPr id="222" name="ANUARIO_HISTORICAL_H_4" descr="h_0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5" descr="ANUARIO_FIGURE_ID=H.5;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H.5</a:t>
            </a:r>
          </a:p>
          <a:p>
            <a:pPr>
              <a:spcBef>
                <a:spcPts val="0"/>
              </a:spcBef>
              <a:spcAft>
                <a:spcPts val="600"/>
              </a:spcAft>
            </a:pPr>
            <a:r>
              <a:rPr sz="950" b="1">
                <a:solidFill>
                  <a:srgbClr val="203634"/>
                </a:solidFill>
                <a:latin typeface="Noto Sans"/>
              </a:rPr>
              <a:t>PORCENTAJE DE PERSONAS QUE VIERON LA TELEVISIÓN POR HORA EN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Guadalajara, el promedio de personas con el televisor encendido de julio 2023 a junio 2024 fue de 15.27% a lo largo de las 24 horas. Sin embargo, esa proporción cambió significativamente a lo largo del día, alcanzando su punto máximo de 28.99% entre las 21:00 horas y 22:00 horas (ver Figura H.5.).</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16.22%, mientras que para los hombres fue de 14.28%. Asimismo, en ambos casos su hora de mayor exposición fue de 21:00 a 22:00 horas, con 29.92% y 28.03%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5" descr="ANUARIO_FIGURE_ID=H.5;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106</a:t>
            </a:r>
          </a:p>
        </p:txBody>
      </p:sp>
      <p:pic>
        <p:nvPicPr>
          <p:cNvPr id="222" name="ANUARIO_HISTORICAL_H_5" descr="h_05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6" descr="ANUARIO_FIGURE_ID=H.6;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H.6</a:t>
            </a:r>
          </a:p>
          <a:p>
            <a:pPr>
              <a:spcBef>
                <a:spcPts val="0"/>
              </a:spcBef>
              <a:spcAft>
                <a:spcPts val="600"/>
              </a:spcAft>
            </a:pPr>
            <a:r>
              <a:rPr sz="950" b="1">
                <a:solidFill>
                  <a:srgbClr val="203634"/>
                </a:solidFill>
                <a:latin typeface="Noto Sans"/>
              </a:rPr>
              <a:t>HORAS DEDICADAS Y RATING PROMEDIO POR GÉNERO EN CANALES NACIONALES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Guadalajara,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H.6.).</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las mujeres, mientras que los hombres consumieron principalmente “Deportes”, “Dramatizados unitarios”,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6" descr="ANUARIO_FIGURE_ID=H.6;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107</a:t>
            </a:r>
          </a:p>
        </p:txBody>
      </p:sp>
      <p:pic>
        <p:nvPicPr>
          <p:cNvPr id="222" name="ANUARIO_HISTORICAL_H_6" descr="h_06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7" descr="ANUARIO_FIGURE_ID=H.7;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H.7</a:t>
            </a:r>
          </a:p>
          <a:p>
            <a:pPr>
              <a:spcBef>
                <a:spcPts val="0"/>
              </a:spcBef>
              <a:spcAft>
                <a:spcPts val="600"/>
              </a:spcAft>
            </a:pPr>
            <a:r>
              <a:rPr sz="950" b="1">
                <a:solidFill>
                  <a:srgbClr val="203634"/>
                </a:solidFill>
                <a:latin typeface="Noto Sans"/>
              </a:rPr>
              <a:t>PORCENTAJE DE PERSONAS QUE VIERON LA TELEVISIÓN POR HORA EN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Monterrey, el promedio de personas con el televisor encendido de julio 2023 a junio 2024 fue de 17.92% a lo largo de las 24 horas. Sin embargo, esa proporción cambió significativamente a lo largo del día, alcanzando su punto máximo de 31.35% entre las 21:00 horas y 22:00 horas. (Ver Figura H.7.).</a:t>
            </a:r>
          </a:p>
          <a:p>
            <a:pPr>
              <a:lnSpc>
                <a:spcPct val="100000"/>
              </a:lnSpc>
              <a:spcBef>
                <a:spcPts val="0"/>
              </a:spcBef>
              <a:spcAft>
                <a:spcPts val="400"/>
              </a:spcAft>
            </a:pPr>
            <a:r>
              <a:rPr sz="760" b="0">
                <a:solidFill>
                  <a:srgbClr val="434343"/>
                </a:solidFill>
                <a:latin typeface="Noto Sans"/>
              </a:rPr>
              <a:t>Además, al analizar el nivel de encendidos por el género de la audiencia se encontró que, el porcentaje de encendidos para las mujeres fue de 19.33% y, su hora de mayor exposición fue de 21:00 a 22:00 horas, con 33.32%. En el caso de los hombres el porcentaje de encendidos fue de 16.50%, con un consumo máximo de 29.38% de 20:00 a 21:00 horas.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7" descr="ANUARIO_FIGURE_ID=H.7;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108</a:t>
            </a:r>
          </a:p>
        </p:txBody>
      </p:sp>
      <p:pic>
        <p:nvPicPr>
          <p:cNvPr id="222" name="ANUARIO_HISTORICAL_H_7" descr="h_07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8" descr="ANUARIO_FIGURE_ID=H.8;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H.8</a:t>
            </a:r>
          </a:p>
          <a:p>
            <a:pPr>
              <a:spcBef>
                <a:spcPts val="0"/>
              </a:spcBef>
              <a:spcAft>
                <a:spcPts val="600"/>
              </a:spcAft>
            </a:pPr>
            <a:r>
              <a:rPr sz="950" b="1">
                <a:solidFill>
                  <a:srgbClr val="203634"/>
                </a:solidFill>
                <a:latin typeface="Noto Sans"/>
              </a:rPr>
              <a:t>HORAS DEDICADAS Y RATING PROMEDIO POR GÉNERO EN CANALES NACIONALES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Monterrey, los géneros televisivos “Dramatizado Unitario”, “Telenovelas” y “Deportes” fueron los que mayor consumo registraron en los canales nacionales, sin importar que estos no hayan sido los que tuvieron más horas de transmisión, lo que indica que son géneros rentables en términos de la relación audiencia generada/ tiempo al aire (ver Figura H.8.).</a:t>
            </a:r>
          </a:p>
          <a:p>
            <a:pPr>
              <a:lnSpc>
                <a:spcPct val="100000"/>
              </a:lnSpc>
              <a:spcBef>
                <a:spcPts val="0"/>
              </a:spcBef>
              <a:spcAft>
                <a:spcPts val="400"/>
              </a:spcAft>
            </a:pPr>
            <a:r>
              <a:rPr sz="700" b="0">
                <a:solidFill>
                  <a:srgbClr val="434343"/>
                </a:solidFill>
                <a:latin typeface="Noto Sans"/>
              </a:rPr>
              <a:t>Al analizar la audiencia de los géneros programáticos en hombres y mujeres, se puede apreciar que los tres ya mencionados también fueron los de mayor audiencia para los hombres, mientras que las mujeres consumieron principalmente “Dramatizados unitarios”, “Telenovelas” y “Reality show”.</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8" descr="ANUARIO_FIGURE_ID=H.8;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109</a:t>
            </a:r>
          </a:p>
        </p:txBody>
      </p:sp>
      <p:pic>
        <p:nvPicPr>
          <p:cNvPr id="222" name="ANUARIO_HISTORICAL_H_8" descr="h_08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9" descr="ANUARIO_FIGURE_ID=H.9;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H.9</a:t>
            </a:r>
          </a:p>
          <a:p>
            <a:pPr>
              <a:spcBef>
                <a:spcPts val="0"/>
              </a:spcBef>
              <a:spcAft>
                <a:spcPts val="600"/>
              </a:spcAft>
            </a:pPr>
            <a:r>
              <a:rPr sz="950" b="1">
                <a:solidFill>
                  <a:srgbClr val="203634"/>
                </a:solidFill>
                <a:latin typeface="Noto Sans"/>
              </a:rPr>
              <a:t>PORCENTAJE DE PERSONAS QUE VIERON LA TELEVISIÓN POR HORA EN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En las 25 ciudades restantes de la muestra analizada por el IFT, el promedio de personas con el televisor encendido de julio 2023 a junio 2024 fue de 14.73% a lo largo de las 24 horas. Sin embargo, esa proporción cambió significativamente a lo largo del día, alcanzando su punto máximo de 28.98% entre las 21:00 horas y 22:00 horas (Ver Figura H.9.).</a:t>
            </a:r>
          </a:p>
          <a:p>
            <a:pPr>
              <a:lnSpc>
                <a:spcPct val="100000"/>
              </a:lnSpc>
              <a:spcBef>
                <a:spcPts val="0"/>
              </a:spcBef>
              <a:spcAft>
                <a:spcPts val="400"/>
              </a:spcAft>
            </a:pPr>
            <a:r>
              <a:rPr sz="700" b="0">
                <a:solidFill>
                  <a:srgbClr val="434343"/>
                </a:solidFill>
                <a:latin typeface="Noto Sans"/>
              </a:rPr>
              <a:t>Además, al analizar el nivel de encendidos por el género de la audiencia se encontró que, el porcentaje de encendidos para las mujeres fue de 15.31%, mientras que para los hombres fue de 14.13%. Asimismo, en ambos casos su hora de mayor exposición fue de 21:00 a 22:00 horas, con 30.15% y 27.75% respectivamente.</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9" descr="ANUARIO_FIGURE_ID=H.9;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110</a:t>
            </a:r>
          </a:p>
        </p:txBody>
      </p:sp>
      <p:pic>
        <p:nvPicPr>
          <p:cNvPr id="222" name="ANUARIO_HISTORICAL_H_9" descr="h_09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0" descr="ANUARIO_FIGURE_ID=H.10;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H.10</a:t>
            </a:r>
          </a:p>
          <a:p>
            <a:pPr>
              <a:spcBef>
                <a:spcPts val="0"/>
              </a:spcBef>
              <a:spcAft>
                <a:spcPts val="600"/>
              </a:spcAft>
            </a:pPr>
            <a:r>
              <a:rPr sz="950" b="1">
                <a:solidFill>
                  <a:srgbClr val="203634"/>
                </a:solidFill>
                <a:latin typeface="Noto Sans"/>
              </a:rPr>
              <a:t>HORAS DEDICADAS Y RATING PROMEDIO POR GÉNERO EN CANALES NACIONALES (25 CIUDADES)</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00" b="0">
                <a:solidFill>
                  <a:srgbClr val="434343"/>
                </a:solidFill>
                <a:latin typeface="Noto Sans"/>
              </a:rPr>
              <a:t>De julio 2023 a junio 2024 en las 25 ciudades restantes de la muestra analizada por el IFT, los géneros televisivos “Dramatizado Unitario”, “Reality Show” y “Telenovelas” fueron los que mayor consumo registraron en los canales nacionales, sin importar que estos no hayan sido los que tuvieron más horas de transmisión, lo que indica que son géneros rentables en términos de la relación audiencia generada/tiempo al aire (ver Figura H.10.).</a:t>
            </a:r>
          </a:p>
          <a:p>
            <a:pPr>
              <a:lnSpc>
                <a:spcPct val="100000"/>
              </a:lnSpc>
              <a:spcBef>
                <a:spcPts val="0"/>
              </a:spcBef>
              <a:spcAft>
                <a:spcPts val="400"/>
              </a:spcAft>
            </a:pPr>
            <a:r>
              <a:rPr sz="700" b="0">
                <a:solidFill>
                  <a:srgbClr val="434343"/>
                </a:solidFill>
                <a:latin typeface="Noto Sans"/>
              </a:rPr>
              <a:t>Por otra parte, al analizar la audiencia de los géneros programáticos entre hombres y mujeres, se puede apreciar que los tres géneros ya mencionados también fueron los de mayor audiencia para las mujeres, mientras que los hombres consumieron principalmente “Dramatizados unitarios”, “Reality shows” y “Deportes”.</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0" descr="ANUARIO_FIGURE_ID=H.10;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111</a:t>
            </a:r>
          </a:p>
        </p:txBody>
      </p:sp>
      <p:pic>
        <p:nvPicPr>
          <p:cNvPr id="222" name="ANUARIO_HISTORICAL_H_10" descr="h_10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1" descr="ANUARIO_FIGURE_ID=H.11;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H.11</a:t>
            </a:r>
          </a:p>
          <a:p>
            <a:pPr>
              <a:spcBef>
                <a:spcPts val="0"/>
              </a:spcBef>
              <a:spcAft>
                <a:spcPts val="600"/>
              </a:spcAft>
            </a:pPr>
            <a:r>
              <a:rPr sz="950" b="1">
                <a:solidFill>
                  <a:srgbClr val="203634"/>
                </a:solidFill>
                <a:latin typeface="Noto Sans"/>
              </a:rPr>
              <a:t>PROPORCIÓN DE PERSONAS QUE ESCUCHARON LA RADIO POR HORA (%) — NACIONAL</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650" b="0">
                <a:solidFill>
                  <a:srgbClr val="434343"/>
                </a:solidFill>
                <a:latin typeface="Noto Sans"/>
              </a:rPr>
              <a:t>En el caso de la radio, el nivel de personas con la radio encendida es un indicador que mide el grado de exposición a este servicio en un intervalo de tiempo determinado. De acuerdo con los datos reportados en la muestra analizada por el IFT10, de julio 2023 a junio 2024, el promedio de personas con la radio encendida en estas tres ciudades fue de 9.67% en el intervalo de tiempo de las 6:00 horas a las 24:00 horas de lunes a domingo. Sin embargo, al contrario que en televisión, la proporción de personas con la radio encendida alcanzó su máximo entre las 09:00 y 10:00 horas, cuando el nivel de encendidos fue de 16.91% (ver Figura H.11.).</a:t>
            </a:r>
          </a:p>
          <a:p>
            <a:pPr>
              <a:lnSpc>
                <a:spcPct val="100000"/>
              </a:lnSpc>
              <a:spcBef>
                <a:spcPts val="0"/>
              </a:spcBef>
              <a:spcAft>
                <a:spcPts val="400"/>
              </a:spcAft>
            </a:pPr>
            <a:r>
              <a:rPr sz="650" b="0">
                <a:solidFill>
                  <a:srgbClr val="434343"/>
                </a:solidFill>
                <a:latin typeface="Noto Sans"/>
              </a:rPr>
              <a:t>Además, al analizar el nivel de exposición a la radio entre géneros de la audiencia, se pudo encontrar que el promedio de exposición de los hombres fue de 11.09% y su horario más alto fue a las 08:00 horas con 19.00%, mientras que para las mujeres el promedio fue de 8.54% y su principal horario fue a las 10:00 horas con 16.10%.</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1" descr="ANUARIO_FIGURE_ID=H.11;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112</a:t>
            </a:r>
          </a:p>
        </p:txBody>
      </p:sp>
      <p:pic>
        <p:nvPicPr>
          <p:cNvPr id="222" name="ANUARIO_HISTORICAL_H_11" descr="h_11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2" descr="ANUARIO_FIGURE_ID=H.12;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H.12</a:t>
            </a:r>
          </a:p>
          <a:p>
            <a:pPr>
              <a:spcBef>
                <a:spcPts val="0"/>
              </a:spcBef>
              <a:spcAft>
                <a:spcPts val="600"/>
              </a:spcAft>
            </a:pPr>
            <a:r>
              <a:rPr sz="950" b="1">
                <a:solidFill>
                  <a:srgbClr val="203634"/>
                </a:solidFill>
                <a:latin typeface="Noto Sans"/>
              </a:rPr>
              <a:t>PROPORCIÓN DE PERSONAS QUE ESCUCHARON LA RADIO POR HORA (%) — CDMX</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la Ciudad de México, el promedio de personas con la radio encendida fue de 10.76% y alcanzó su máximo a las 09:00 horas, cuando el nivel de encendidos fue de 18.73% (ver Figura H.12.).</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12.24% y su horario más alto ocurrió a las 08:00 horas con 20.62%. Asimismo, respecto a las mujeres se registró un promedio de exposición de 9.59% y su máximo lo alcanzaron a las 10:00 horas con 18.48%.</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2" descr="ANUARIO_FIGURE_ID=H.12;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113</a:t>
            </a:r>
          </a:p>
        </p:txBody>
      </p:sp>
      <p:pic>
        <p:nvPicPr>
          <p:cNvPr id="222" name="ANUARIO_HISTORICAL_H_12" descr="h_12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3" descr="ANUARIO_FIGURE_ID=H.13;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H.13</a:t>
            </a:r>
          </a:p>
          <a:p>
            <a:pPr>
              <a:spcBef>
                <a:spcPts val="0"/>
              </a:spcBef>
              <a:spcAft>
                <a:spcPts val="600"/>
              </a:spcAft>
            </a:pPr>
            <a:r>
              <a:rPr sz="950" b="1">
                <a:solidFill>
                  <a:srgbClr val="203634"/>
                </a:solidFill>
                <a:latin typeface="Noto Sans"/>
              </a:rPr>
              <a:t>PROPORCIÓN DE PERSONAS QUE ESCUCHARON LA RADIO POR HORA (%) — GUADALAJARA</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Respecto a la ciudad de Guadalajara, el promedio de personas expuestas la radio fue de 7.83% y alcanzó su máximo a las 10:00 horas, cuando el nivel de encendidos fue de 13.06% (ver Figura H.13.).</a:t>
            </a:r>
          </a:p>
          <a:p>
            <a:pPr>
              <a:lnSpc>
                <a:spcPct val="100000"/>
              </a:lnSpc>
              <a:spcBef>
                <a:spcPts val="0"/>
              </a:spcBef>
              <a:spcAft>
                <a:spcPts val="400"/>
              </a:spcAft>
            </a:pPr>
            <a:r>
              <a:rPr sz="760" b="0">
                <a:solidFill>
                  <a:srgbClr val="434343"/>
                </a:solidFill>
                <a:latin typeface="Noto Sans"/>
              </a:rPr>
              <a:t>Además, al analizar el nivel de exposición a la radio entre los géneros de la audiencia, se pudo encontrar que el promedio de exposición de los hombres fue de 9.49% y su horario más alto fue a las 10:00 horas con 15.99%, mientras que para las mujeres el promedio fue de 6.51% y su principal horario fue a las 10:00 horas con 10.74%.</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3" descr="ANUARIO_FIGURE_ID=H.13;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114</a:t>
            </a:r>
          </a:p>
        </p:txBody>
      </p:sp>
      <p:pic>
        <p:nvPicPr>
          <p:cNvPr id="222" name="ANUARIO_HISTORICAL_H_13" descr="h_13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2" name="ANUARIO_TEXT_H_14" descr="ANUARIO_FIGURE_ID=H.14;ROLE=NARRATIVE_PLACEHOLDER"/>
          <p:cNvSpPr/>
          <p:nvPr/>
        </p:nvSpPr>
        <p:spPr>
          <a:xfrm>
            <a:off x="450900" y="943525"/>
            <a:ext cx="252990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146304" tIns="164592" rIns="146304" bIns="128016" anchor="t" anchorCtr="0">
            <a:noAutofit/>
          </a:bodyPr>
          <a:lstStyle/>
          <a:p>
            <a:pPr marL="0" lvl="0" indent="0" algn="l" rtl="0">
              <a:spcBef>
                <a:spcPts val="0"/>
              </a:spcBef>
              <a:spcAft>
                <a:spcPts val="200"/>
              </a:spcAft>
              <a:buNone/>
            </a:pPr>
            <a:r>
              <a:rPr sz="850" b="1">
                <a:solidFill>
                  <a:srgbClr val="203634"/>
                </a:solidFill>
                <a:latin typeface="Noto Sans"/>
              </a:rPr>
              <a:t>FIGURA H.14</a:t>
            </a:r>
          </a:p>
          <a:p>
            <a:pPr>
              <a:spcBef>
                <a:spcPts val="0"/>
              </a:spcBef>
              <a:spcAft>
                <a:spcPts val="600"/>
              </a:spcAft>
            </a:pPr>
            <a:r>
              <a:rPr sz="950" b="1">
                <a:solidFill>
                  <a:srgbClr val="203634"/>
                </a:solidFill>
                <a:latin typeface="Noto Sans"/>
              </a:rPr>
              <a:t>PROPORCIÓN DE PERSONAS QUE ESCUCHARON LA RADIO POR HORA (%) — MONTERREY</a:t>
            </a:r>
          </a:p>
          <a:p>
            <a:pPr>
              <a:spcAft>
                <a:spcPts val="500"/>
              </a:spcAft>
            </a:pPr>
            <a:r>
              <a:rPr sz="700" b="1">
                <a:solidFill>
                  <a:srgbClr val="4A7D75"/>
                </a:solidFill>
                <a:latin typeface="Noto Sans"/>
              </a:rPr>
              <a:t>Serie histórica: julio de 2023 a junio de 2024</a:t>
            </a:r>
          </a:p>
          <a:p>
            <a:pPr>
              <a:lnSpc>
                <a:spcPct val="100000"/>
              </a:lnSpc>
              <a:spcBef>
                <a:spcPts val="0"/>
              </a:spcBef>
              <a:spcAft>
                <a:spcPts val="400"/>
              </a:spcAft>
            </a:pPr>
            <a:r>
              <a:rPr sz="760" b="0">
                <a:solidFill>
                  <a:srgbClr val="434343"/>
                </a:solidFill>
                <a:latin typeface="Noto Sans"/>
              </a:rPr>
              <a:t>En el caso de Monterrey, el promedio de personas con la radio encendida fue de 7.15% y alcanzó su máximo a las 08:00 horas, cuando el nivel de encendidos fue de 14.43% (ver Figura H.14.).</a:t>
            </a:r>
          </a:p>
          <a:p>
            <a:pPr>
              <a:lnSpc>
                <a:spcPct val="100000"/>
              </a:lnSpc>
              <a:spcBef>
                <a:spcPts val="0"/>
              </a:spcBef>
              <a:spcAft>
                <a:spcPts val="400"/>
              </a:spcAft>
            </a:pPr>
            <a:r>
              <a:rPr sz="760" b="0">
                <a:solidFill>
                  <a:srgbClr val="434343"/>
                </a:solidFill>
                <a:latin typeface="Noto Sans"/>
              </a:rPr>
              <a:t>Por otro lado, para el caso particular de los hombres el promedio de exposición a la radio fue de 8.15% y su horario más alto ocurrió a las 08:00 horas con 16.06%. Asimismo, respecto a las mujeres se registró un promedio de exposición de 6.32% y su máximo lo alcanzaron a las 08:00 horas con 13.09%.</a:t>
            </a:r>
          </a:p>
        </p:txBody>
      </p:sp>
      <p:sp>
        <p:nvSpPr>
          <p:cNvPr id="202" name="ANUARIO_SECTION_HEADER_H" descr="ANUARIO_SECTION=H;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 CONSUMO DE RADIO Y TELEVISIÓN</a:t>
            </a:r>
          </a:p>
        </p:txBody>
      </p:sp>
      <p:sp>
        <p:nvSpPr>
          <p:cNvPr id="217" name="Google Shape;217;p15"/>
          <p:cNvSpPr/>
          <p:nvPr/>
        </p:nvSpPr>
        <p:spPr>
          <a:xfrm>
            <a:off x="7564950" y="4450475"/>
            <a:ext cx="384000" cy="384000"/>
          </a:xfrm>
          <a:prstGeom prst="ellipse">
            <a:avLst/>
          </a:prstGeom>
          <a:solidFill>
            <a:srgbClr val="20363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5"/>
          <p:cNvSpPr/>
          <p:nvPr/>
        </p:nvSpPr>
        <p:spPr>
          <a:xfrm>
            <a:off x="7816783" y="4450475"/>
            <a:ext cx="384000" cy="384000"/>
          </a:xfrm>
          <a:prstGeom prst="ellipse">
            <a:avLst/>
          </a:prstGeom>
          <a:solidFill>
            <a:srgbClr val="4A7D7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5"/>
          <p:cNvSpPr/>
          <p:nvPr/>
        </p:nvSpPr>
        <p:spPr>
          <a:xfrm>
            <a:off x="8068617" y="4450475"/>
            <a:ext cx="384000" cy="384000"/>
          </a:xfrm>
          <a:prstGeom prst="ellipse">
            <a:avLst/>
          </a:prstGeom>
          <a:solidFill>
            <a:srgbClr val="9AC4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5"/>
          <p:cNvSpPr/>
          <p:nvPr/>
        </p:nvSpPr>
        <p:spPr>
          <a:xfrm>
            <a:off x="8320450" y="4450475"/>
            <a:ext cx="384000" cy="384000"/>
          </a:xfrm>
          <a:prstGeom prst="ellipse">
            <a:avLst/>
          </a:prstGeom>
          <a:solidFill>
            <a:srgbClr val="E6D1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 name="ANUARIO_FIGURE_H_14" descr="ANUARIO_FIGURE_ID=H.14;ROLE=FIGURE_PLACEHOLDER;FIT=CONTAIN" title="Marcador automático para Figura A.1">
            <a:extLst>
              <a:ext uri="{FF2B5EF4-FFF2-40B4-BE49-F238E27FC236}">
                <a16:creationId xmlns:a16="http://schemas.microsoft.com/office/drawing/2014/main" id="{1C9B3570-B527-2EAE-B3A8-68A4B17C97AF}"/>
              </a:ext>
            </a:extLst>
          </p:cNvPr>
          <p:cNvSpPr/>
          <p:nvPr/>
        </p:nvSpPr>
        <p:spPr>
          <a:xfrm>
            <a:off x="3284220" y="943525"/>
            <a:ext cx="5425440" cy="3590400"/>
          </a:xfrm>
          <a:prstGeom prst="roundRect">
            <a:avLst>
              <a:gd name="adj" fmla="val 4303"/>
            </a:avLst>
          </a:prstGeom>
          <a:solidFill>
            <a:schemeClr val="lt2"/>
          </a:solidFill>
          <a:ln>
            <a:noFill/>
          </a:ln>
          <a:effectLst>
            <a:outerShdw blurRad="214313" dist="19050" dir="4800000" algn="bl" rotWithShape="0">
              <a:srgbClr val="000000">
                <a:alpha val="40000"/>
              </a:srgbClr>
            </a:outerShdw>
          </a:effectLst>
        </p:spPr>
        <p:txBody>
          <a:bodyPr spcFirstLastPara="1" wrap="square" lIns="91425" tIns="91425" rIns="91425" bIns="91425" anchor="t" anchorCtr="0">
            <a:noAutofit/>
          </a:bodyPr>
          <a:lstStyle/>
          <a:p>
            <a:pPr algn="ct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115</a:t>
            </a:r>
          </a:p>
        </p:txBody>
      </p:sp>
      <p:pic>
        <p:nvPicPr>
          <p:cNvPr id="222" name="ANUARIO_HISTORICAL_H_14" descr="h_14_2024.png"/>
          <p:cNvPicPr>
            <a:picLocks noChangeAspect="1"/>
          </p:cNvPicPr>
          <p:nvPr/>
        </p:nvPicPr>
        <p:blipFill>
          <a:blip r:embed="rId2"/>
          <a:stretch>
            <a:fillRect/>
          </a:stretch>
        </p:blipFill>
        <p:spPr>
          <a:xfrm>
            <a:off x="3284220" y="1000118"/>
            <a:ext cx="5425440" cy="3477214"/>
          </a:xfrm>
          <a:prstGeom prst="rect">
            <a:avLst/>
          </a:prstGeom>
        </p:spPr>
      </p:pic>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HERRAMIENTAS"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HERRAMIENTAS IFT</a:t>
            </a:r>
          </a:p>
        </p:txBody>
      </p:sp>
      <p:sp>
        <p:nvSpPr>
          <p:cNvPr id="226"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116</a:t>
            </a:r>
          </a:p>
        </p:txBody>
      </p:sp>
      <p:sp>
        <p:nvSpPr>
          <p:cNvPr id="227" name="ANUARIO_TOOLS_TITLE"/>
          <p:cNvSpPr txBox="1"/>
          <p:nvPr/>
        </p:nvSpPr>
        <p:spPr>
          <a:xfrm>
            <a:off x="548640" y="713232"/>
            <a:ext cx="8101583" cy="310896"/>
          </a:xfrm>
          <a:prstGeom prst="rect">
            <a:avLst/>
          </a:prstGeom>
          <a:noFill/>
        </p:spPr>
        <p:txBody>
          <a:bodyPr wrap="square" anchor="t" lIns="0" rIns="0" tIns="0" bIns="0">
            <a:noAutofit/>
          </a:bodyPr>
          <a:lstStyle/>
          <a:p>
            <a:pPr>
              <a:lnSpc>
                <a:spcPct val="100000"/>
              </a:lnSpc>
              <a:spcBef>
                <a:spcPts val="0"/>
              </a:spcBef>
              <a:spcAft>
                <a:spcPts val="0"/>
              </a:spcAft>
            </a:pPr>
            <a:r>
              <a:rPr sz="1230" b="1">
                <a:solidFill>
                  <a:srgbClr val="484979"/>
                </a:solidFill>
                <a:latin typeface="Noto Sans"/>
              </a:rPr>
              <a:t>CONOCE LAS HERRAMIENTAS CON INFORMACIÓN POR ENTIDAD FEDERATIVA:</a:t>
            </a:r>
          </a:p>
        </p:txBody>
      </p:sp>
      <p:sp>
        <p:nvSpPr>
          <p:cNvPr id="228" name="ANUARIO_TOOL_CARD_BIT_ESTATAL"/>
          <p:cNvSpPr/>
          <p:nvPr/>
        </p:nvSpPr>
        <p:spPr>
          <a:xfrm>
            <a:off x="548640" y="1170432"/>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NUARIO_TOOL_TITLE_BIT_ESTATAL"/>
          <p:cNvSpPr txBox="1"/>
          <p:nvPr/>
        </p:nvSpPr>
        <p:spPr>
          <a:xfrm>
            <a:off x="768096" y="1307592"/>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BIT ESTATAL:</a:t>
            </a:r>
          </a:p>
        </p:txBody>
      </p:sp>
      <p:sp>
        <p:nvSpPr>
          <p:cNvPr id="230" name="ANUARIO_TOOL_URL_BIT_ESTATAL"/>
          <p:cNvSpPr txBox="1"/>
          <p:nvPr/>
        </p:nvSpPr>
        <p:spPr>
          <a:xfrm>
            <a:off x="768096" y="1572768"/>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2"/>
              </a:rPr>
              <a:t>https://bitestatal.ift.org.mx/</a:t>
            </a:r>
          </a:p>
        </p:txBody>
      </p:sp>
      <p:sp>
        <p:nvSpPr>
          <p:cNvPr id="231" name="ANUARIO_TOOL_BODY_BIT_ESTATAL"/>
          <p:cNvSpPr txBox="1"/>
          <p:nvPr/>
        </p:nvSpPr>
        <p:spPr>
          <a:xfrm>
            <a:off x="768096" y="1947672"/>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El portal permite conocer de forma detallada, accesible e ilustrativa la información sobre accesos, líneas, concesiones y uso de los servicios fijos y móviles de TyR, así como la disponibilidad y la adopción de las TIC, por entidad federativa.</a:t>
            </a:r>
          </a:p>
        </p:txBody>
      </p:sp>
      <p:sp>
        <p:nvSpPr>
          <p:cNvPr id="232" name="ANUARIO_TOOL_CARD_CALCULADORA"/>
          <p:cNvSpPr/>
          <p:nvPr/>
        </p:nvSpPr>
        <p:spPr>
          <a:xfrm>
            <a:off x="548640" y="2761488"/>
            <a:ext cx="8101583" cy="1444752"/>
          </a:xfrm>
          <a:prstGeom prst="roundRect">
            <a:avLst>
              <a:gd name="adj" fmla="val 8000"/>
            </a:avLst>
          </a:prstGeom>
          <a:solidFill>
            <a:srgbClr val="FFFFFF"/>
          </a:solidFill>
          <a:ln w="10160">
            <a:solidFill>
              <a:srgbClr val="DA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NUARIO_TOOL_TITLE_CALCULADORA"/>
          <p:cNvSpPr txBox="1"/>
          <p:nvPr/>
        </p:nvSpPr>
        <p:spPr>
          <a:xfrm>
            <a:off x="768096" y="2898648"/>
            <a:ext cx="7589520" cy="201168"/>
          </a:xfrm>
          <a:prstGeom prst="rect">
            <a:avLst/>
          </a:prstGeom>
          <a:noFill/>
        </p:spPr>
        <p:txBody>
          <a:bodyPr wrap="square" anchor="t" lIns="0" rIns="0" tIns="0" bIns="0">
            <a:noAutofit/>
          </a:bodyPr>
          <a:lstStyle/>
          <a:p>
            <a:pPr>
              <a:lnSpc>
                <a:spcPct val="100000"/>
              </a:lnSpc>
              <a:spcBef>
                <a:spcPts val="0"/>
              </a:spcBef>
              <a:spcAft>
                <a:spcPts val="0"/>
              </a:spcAft>
            </a:pPr>
            <a:r>
              <a:rPr sz="1050" b="1">
                <a:solidFill>
                  <a:srgbClr val="484979"/>
                </a:solidFill>
                <a:latin typeface="Noto Sans"/>
              </a:rPr>
              <a:t>CALCULADORA DE PROBABILIDADES:</a:t>
            </a:r>
          </a:p>
        </p:txBody>
      </p:sp>
      <p:sp>
        <p:nvSpPr>
          <p:cNvPr id="234" name="ANUARIO_TOOL_URL_CALCULADORA"/>
          <p:cNvSpPr txBox="1"/>
          <p:nvPr/>
        </p:nvSpPr>
        <p:spPr>
          <a:xfrm>
            <a:off x="768096" y="3163824"/>
            <a:ext cx="7589520" cy="265176"/>
          </a:xfrm>
          <a:prstGeom prst="rect">
            <a:avLst/>
          </a:prstGeom>
          <a:noFill/>
        </p:spPr>
        <p:txBody>
          <a:bodyPr wrap="square" anchor="t" lIns="0" rIns="0" tIns="0" bIns="0">
            <a:noAutofit/>
          </a:bodyPr>
          <a:lstStyle/>
          <a:p>
            <a:pPr>
              <a:lnSpc>
                <a:spcPct val="100000"/>
              </a:lnSpc>
              <a:spcBef>
                <a:spcPts val="0"/>
              </a:spcBef>
              <a:spcAft>
                <a:spcPts val="0"/>
              </a:spcAft>
            </a:pPr>
            <a:r>
              <a:rPr sz="1200" b="1">
                <a:solidFill>
                  <a:srgbClr val="296B8C"/>
                </a:solidFill>
                <a:latin typeface="Noto Sans"/>
                <a:hlinkClick r:id="rId3"/>
              </a:rPr>
              <a:t>https://calculadoraprob.ift.org.mx/</a:t>
            </a:r>
          </a:p>
        </p:txBody>
      </p:sp>
      <p:sp>
        <p:nvSpPr>
          <p:cNvPr id="235" name="ANUARIO_TOOL_BODY_CALCULADORA"/>
          <p:cNvSpPr txBox="1"/>
          <p:nvPr/>
        </p:nvSpPr>
        <p:spPr>
          <a:xfrm>
            <a:off x="768096" y="3538728"/>
            <a:ext cx="7589520" cy="530352"/>
          </a:xfrm>
          <a:prstGeom prst="rect">
            <a:avLst/>
          </a:prstGeom>
          <a:noFill/>
        </p:spPr>
        <p:txBody>
          <a:bodyPr wrap="square" anchor="t" lIns="0" rIns="0" tIns="0" bIns="0">
            <a:noAutofit/>
          </a:bodyPr>
          <a:lstStyle/>
          <a:p>
            <a:pPr>
              <a:lnSpc>
                <a:spcPct val="100000"/>
              </a:lnSpc>
              <a:spcBef>
                <a:spcPts val="0"/>
              </a:spcBef>
              <a:spcAft>
                <a:spcPts val="0"/>
              </a:spcAft>
            </a:pPr>
            <a:r>
              <a:rPr sz="869" b="0">
                <a:solidFill>
                  <a:srgbClr val="1F3031"/>
                </a:solidFill>
                <a:latin typeface="Noto Sans"/>
              </a:rPr>
              <a:t>Esta herramienta interactiva te mostrará probabilidades de uso de las TIC y realizar actividades por Internet de acuerdo con las características de la población.</a:t>
            </a:r>
          </a:p>
        </p:txBody>
      </p:sp>
      <p:sp>
        <p:nvSpPr>
          <p:cNvPr id="236" name="ANUARIO_TOOL_CURRENT"/>
          <p:cNvSpPr txBox="1"/>
          <p:nvPr/>
        </p:nvSpPr>
        <p:spPr>
          <a:xfrm>
            <a:off x="576072" y="4389120"/>
            <a:ext cx="8138160" cy="155448"/>
          </a:xfrm>
          <a:prstGeom prst="rect">
            <a:avLst/>
          </a:prstGeom>
          <a:noFill/>
        </p:spPr>
        <p:txBody>
          <a:bodyPr wrap="square" anchor="t" lIns="0" rIns="0" tIns="0" bIns="0">
            <a:noAutofit/>
          </a:bodyPr>
          <a:lstStyle/>
          <a:p>
            <a:pPr>
              <a:lnSpc>
                <a:spcPct val="100000"/>
              </a:lnSpc>
              <a:spcBef>
                <a:spcPts val="0"/>
              </a:spcBef>
              <a:spcAft>
                <a:spcPts val="0"/>
              </a:spcAft>
            </a:pPr>
            <a:r>
              <a:rPr sz="750" b="0">
                <a:solidFill>
                  <a:srgbClr val="4F5B5C"/>
                </a:solidFill>
                <a:latin typeface="Noto Sans"/>
                <a:hlinkClick r:id="rId4"/>
              </a:rPr>
              <a:t>Consulta actual del BIT de la CRT: https://bit.crt.gob.mx/BitWebApp/</a:t>
            </a:r>
          </a:p>
        </p:txBody>
      </p:sp>
      <p:sp>
        <p:nvSpPr>
          <p:cNvPr id="237" name="ANUARIO_TOOL_HISTORICAL"/>
          <p:cNvSpPr txBox="1"/>
          <p:nvPr/>
        </p:nvSpPr>
        <p:spPr>
          <a:xfrm>
            <a:off x="576072" y="4590288"/>
            <a:ext cx="8138160" cy="146304"/>
          </a:xfrm>
          <a:prstGeom prst="rect">
            <a:avLst/>
          </a:prstGeom>
          <a:noFill/>
        </p:spPr>
        <p:txBody>
          <a:bodyPr wrap="square" anchor="t" lIns="0" rIns="0" tIns="0" bIns="0">
            <a:noAutofit/>
          </a:bodyPr>
          <a:lstStyle/>
          <a:p>
            <a:pPr>
              <a:lnSpc>
                <a:spcPct val="100000"/>
              </a:lnSpc>
              <a:spcBef>
                <a:spcPts val="0"/>
              </a:spcBef>
              <a:spcAft>
                <a:spcPts val="0"/>
              </a:spcAft>
            </a:pPr>
            <a:r>
              <a:rPr sz="700" b="0">
                <a:solidFill>
                  <a:srgbClr val="4F5B5C"/>
                </a:solidFill>
                <a:latin typeface="Noto Sans"/>
              </a:rPr>
              <a:t>Los enlaces a BIT Estatal y a la Calculadora de Probabilidades se conservan como referencias históricas de la edición 2024.</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117</a:t>
            </a:r>
          </a:p>
        </p:txBody>
      </p:sp>
      <p:graphicFrame>
        <p:nvGraphicFramePr>
          <p:cNvPr id="222" name="ANUARIO_ANEXO_I_COMPLETO_117"/>
          <p:cNvGraphicFramePr>
            <a:graphicFrameLocks noGrp="1"/>
          </p:cNvGraphicFramePr>
          <p:nvPr/>
        </p:nvGraphicFramePr>
        <p:xfrm>
          <a:off x="310896" y="795528"/>
          <a:ext cx="8522206" cy="3685005"/>
        </p:xfrm>
        <a:graphic>
          <a:graphicData uri="http://schemas.openxmlformats.org/drawingml/2006/table">
            <a:tbl>
              <a:tblPr>
                <a:tableStyleId>{5C22544A-7EE6-4342-B048-85BDC9FD1C3A}</a:tableStyleId>
              </a:tblPr>
              <a:tblGrid>
                <a:gridCol w="1005840"/>
                <a:gridCol w="578182"/>
                <a:gridCol w="578182"/>
                <a:gridCol w="578182"/>
                <a:gridCol w="578182"/>
                <a:gridCol w="578182"/>
                <a:gridCol w="578182"/>
                <a:gridCol w="578182"/>
                <a:gridCol w="578182"/>
                <a:gridCol w="578182"/>
                <a:gridCol w="578182"/>
                <a:gridCol w="578182"/>
                <a:gridCol w="578182"/>
                <a:gridCol w="578182"/>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6">
                  <a:txBody>
                    <a:bodyPr wrap="square"/>
                    <a:lstStyle/>
                    <a:p>
                      <a:pPr algn="ctr">
                        <a:spcBef>
                          <a:spcPts val="0"/>
                        </a:spcBef>
                        <a:spcAft>
                          <a:spcPts val="0"/>
                        </a:spcAft>
                      </a:pPr>
                      <a:r>
                        <a:rPr sz="535" b="1">
                          <a:solidFill>
                            <a:srgbClr val="FFFFFF"/>
                          </a:solidFill>
                          <a:latin typeface="Noto Sans"/>
                        </a:rPr>
                        <a:t>Indicadores sociodemográficos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Empleo en telecomunicaciones y radiodifusión</a:t>
                      </a:r>
                    </a:p>
                  </a:txBody>
                  <a:tcPr marL="7315" marR="7315" marT="0" marB="0" anchor="ctr">
                    <a:solidFill>
                      <a:srgbClr val="1F4544"/>
                    </a:solidFill>
                  </a:tcPr>
                </a:tc>
                <a:tc hMerge="1">
                  <a:txBody>
                    <a:bodyPr wrap="square"/>
                    <a:lstStyle/>
                    <a:p/>
                  </a:txBody>
                  <a:tcPr marL="7315" marR="7315" marT="0" marB="0" anchor="ctr">
                    <a:solidFill>
                      <a:srgbClr val="1F4544"/>
                    </a:solidFill>
                  </a:tcPr>
                </a:tc>
                <a:tc gridSpan="5">
                  <a:txBody>
                    <a:bodyPr wrap="square"/>
                    <a:lstStyle/>
                    <a:p>
                      <a:pPr algn="ctr">
                        <a:spcBef>
                          <a:spcPts val="0"/>
                        </a:spcBef>
                        <a:spcAft>
                          <a:spcPts val="0"/>
                        </a:spcAft>
                      </a:pPr>
                      <a:r>
                        <a:rPr sz="535" b="1">
                          <a:solidFill>
                            <a:srgbClr val="FFFFFF"/>
                          </a:solidFill>
                          <a:latin typeface="Noto Sans"/>
                        </a:rPr>
                        <a:t>Equipamiento de TIC en hogares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pPr algn="ctr">
                        <a:spcBef>
                          <a:spcPts val="0"/>
                        </a:spcBef>
                        <a:spcAft>
                          <a:spcPts val="0"/>
                        </a:spcAft>
                      </a:pPr>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Habitantes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Telecom.</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Radiodif.</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Radio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analóg.</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TV digital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Cómputo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Móvil</a:t>
                      </a:r>
                    </a:p>
                  </a:txBody>
                  <a:tcPr marL="7315" marR="7315" marT="0" marB="0" anchor="ctr">
                    <a:solidFill>
                      <a:srgbClr val="4E827B"/>
                    </a:solidFill>
                  </a:tcPr>
                </a:tc>
              </a:tr>
              <a:tr h="246888">
                <a:tc>
                  <a:txBody>
                    <a:bodyPr wrap="square"/>
                    <a:lstStyle/>
                    <a:p>
                      <a:pPr algn="ctr">
                        <a:spcBef>
                          <a:spcPts val="0"/>
                        </a:spcBef>
                        <a:spcAft>
                          <a:spcPts val="0"/>
                        </a:spcAft>
                      </a:pP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Total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Rural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Urbano</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38,627,319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8,219,662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30,407,657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129,407,263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29,463,764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99,943,499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247,172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54,694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81.7%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95.1%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346,163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1,495,545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286,755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1,208,790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1,239,008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92,110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1,146,898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3,788,682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269,317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3,519,365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30,219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255,884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868,940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786,285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64,801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209,799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949,838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242,985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1,001,663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81,031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920,632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3,297,644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278,255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3,019,389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245,471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219,129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745,500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79,489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666,011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1,464,726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712,682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752,044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5,714,039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3,001,605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2,712,434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1,192,379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158,669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1,033,710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3,851,622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491,925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3,359,697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3,064,550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3,045,823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9,301,936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9,226,553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43,877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553,626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151,892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401,734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1,880,456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535,462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1,344,994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1,765,081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501,136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1,263,945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6,300,221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1,842,011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4,458,210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1,035,815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386,376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649,439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3,613,757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1,477,806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2,135,951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950,721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420,183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530,538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3,209,534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1,424,224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1,785,310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94.1%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2,562,766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2,189,496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8,593,719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1,241,680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7,352,039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5,183,923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4,465,856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17,499,979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2,576,591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14,923,388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60,553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1,411,592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387,515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1,024,077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5,000,372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1,502,555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3,497,817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610,985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116,008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1,977,132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394,014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1,583,118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410,921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121,824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289,097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1,269,082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380,748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888,334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1,830,383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116,761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1,713,622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6,117,115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388,840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5,728,275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1,238,269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643,146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595,123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4,313,108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2,253,281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2,059,827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1,865,156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509,027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1,356,129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6,620,349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1,871,490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4,748,859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744,622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575,632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2,515,679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639,025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1,876,654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1,697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595,483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52,602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1,913,139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188,835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1,724,304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828,853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566,061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2,861,102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941,877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1,919,225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937,857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219,843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718,014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3,088,382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2,344,092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938,141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112,910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825,231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2,994,767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362,733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2,632,034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718,851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296,017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422,834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2,475,170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1,077,303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1,397,867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1,121,968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106,612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1,015,356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3,576,108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351,385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3,224,723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388,595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70,628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317,967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1,417,362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262,683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1,154,679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2,570,753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954,600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1,616,153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8,130,279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3,215,314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4,914,965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691,647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92,586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599,061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2,381,532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364,995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2,016,537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484,726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180,374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304,352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1,645,173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618,253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1,026,920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2,049</a:t>
                      </a:r>
                    </a:p>
                  </a:txBody>
                  <a:tcPr marL="7315" marR="7315" marT="0" marB="0" anchor="ctr">
                    <a:solidFill>
                      <a:srgbClr val="FFFFFF"/>
                    </a:solidFill>
                  </a:tcPr>
                </a:tc>
                <a:tc>
                  <a:txBody>
                    <a:bodyPr wrap="none"/>
                    <a:lstStyle/>
                    <a:p>
                      <a:pPr algn="ctr">
                        <a:spcBef>
                          <a:spcPts val="0"/>
                        </a:spcBef>
                        <a:spcAft>
                          <a:spcPts val="0"/>
                        </a:spcAft>
                      </a:pP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93.6%</a:t>
                      </a:r>
                    </a:p>
                  </a:txBody>
                  <a:tcPr marL="7315" marR="7315" marT="0" marB="0" anchor="ctr">
                    <a:solidFill>
                      <a:srgbClr val="FFFFFF"/>
                    </a:solidFill>
                  </a:tcPr>
                </a:tc>
              </a:tr>
            </a:tbl>
          </a:graphicData>
        </a:graphic>
      </p:graphicFrame>
      <p:sp>
        <p:nvSpPr>
          <p:cNvPr id="223" name="ANUARIO_ANEXO_I_FUENTE_117"/>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sus cortes se indican en los encabezados de origen.</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118</a:t>
            </a:r>
          </a:p>
        </p:txBody>
      </p:sp>
      <p:graphicFrame>
        <p:nvGraphicFramePr>
          <p:cNvPr id="222" name="ANUARIO_ANEXO_I_COMPLETO_118"/>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3">
                  <a:txBody>
                    <a:bodyPr wrap="square"/>
                    <a:lstStyle/>
                    <a:p>
                      <a:pPr algn="ctr">
                        <a:spcBef>
                          <a:spcPts val="0"/>
                        </a:spcBef>
                        <a:spcAft>
                          <a:spcPts val="0"/>
                        </a:spcAft>
                      </a:pPr>
                      <a:r>
                        <a:rPr sz="535" b="1">
                          <a:solidFill>
                            <a:srgbClr val="FFFFFF"/>
                          </a:solidFill>
                          <a:latin typeface="Noto Sans"/>
                        </a:rPr>
                        <a:t>Personas usuarias de TIC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7">
                  <a:txBody>
                    <a:bodyPr wrap="square"/>
                    <a:lstStyle/>
                    <a:p>
                      <a:pPr algn="ctr">
                        <a:spcBef>
                          <a:spcPts val="0"/>
                        </a:spcBef>
                        <a:spcAft>
                          <a:spcPts val="0"/>
                        </a:spcAft>
                      </a:pPr>
                      <a:r>
                        <a:rPr sz="535" b="1">
                          <a:solidFill>
                            <a:srgbClr val="FFFFFF"/>
                          </a:solidFill>
                          <a:latin typeface="Noto Sans"/>
                        </a:rPr>
                        <a:t>Servicios fijos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4">
                  <a:txBody>
                    <a:bodyPr wrap="square"/>
                    <a:lstStyle/>
                    <a:p>
                      <a:pPr algn="ctr">
                        <a:spcBef>
                          <a:spcPts val="0"/>
                        </a:spcBef>
                        <a:spcAft>
                          <a:spcPts val="0"/>
                        </a:spcAft>
                      </a:pPr>
                      <a:r>
                        <a:rPr sz="535" b="1">
                          <a:solidFill>
                            <a:srgbClr val="FFFFFF"/>
                          </a:solidFill>
                          <a:latin typeface="Noto Sans"/>
                        </a:rPr>
                        <a:t>Internet residencial por tecnología · histórico</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Computadora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Smartphone</a:t>
                      </a:r>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Telefonía fija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Internet fijo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gridSpan="2">
                  <a:txBody>
                    <a:bodyPr wrap="square"/>
                    <a:lstStyle/>
                    <a:p>
                      <a:pPr algn="ctr">
                        <a:spcBef>
                          <a:spcPts val="0"/>
                        </a:spcBef>
                        <a:spcAft>
                          <a:spcPts val="0"/>
                        </a:spcAft>
                      </a:pPr>
                      <a:r>
                        <a:rPr sz="535" b="1">
                          <a:solidFill>
                            <a:srgbClr val="FFFFFF"/>
                          </a:solidFill>
                          <a:latin typeface="Noto Sans"/>
                        </a:rPr>
                        <a:t>TV restringida · actualizado</a:t>
                      </a:r>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pública · histórico</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Cable</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DSL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Fibra</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Otras</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Res./100 hogares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No res./100 UE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Líneas/1,000 hab.</a:t>
                      </a:r>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c>
                  <a:txBody>
                    <a:bodyPr wrap="square"/>
                    <a:lstStyle/>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97,012,089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44,517,175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93,078,887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23.3%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66.3%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1,157,961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548,700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1,098,116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3,231,512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1,681,391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3,076,436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725,869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357,511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694,310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728,809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310,650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670,349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2,541,922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1,227,608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2,468,843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591,261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307,638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573,543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3,050,081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1,063,441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2,984,937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3,017,196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1,537,820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2,925,943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7,897,062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4,932,018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7,683,977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1,465,379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659,546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1,359,467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4,537,208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1,771,593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4,468,371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2,375,775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750,243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2,296,347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2,383,401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1,121,924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2,281,080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7,118,480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3,058,287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6,873,401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13,313,595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6,649,874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12,778,594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3,593,108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1,397,722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3,372,485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1,452,792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660,311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1,450,435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984,051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393,689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913,505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4,940,052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2,504,158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4,750,428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2,768,713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1,059,494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2,631,930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4,463,188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1,897,290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4,212,047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1,940,531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1,005,381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1,895,974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1,625,497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730,663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1,516,352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2,100,427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871,639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1,973,240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2,438,881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1,073,046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2,306,023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2,412,875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1,209,791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2,299,709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1,768,418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673,165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1,672,795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2,864,326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1,288,792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2,760,457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1,062,190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493,815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959,019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5,425,337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2,041,370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5,297,337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1,847,162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793,599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1,739,216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1,189,030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445,006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1,094,221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r>
            </a:tbl>
          </a:graphicData>
        </a:graphic>
      </p:graphicFrame>
      <p:sp>
        <p:nvSpPr>
          <p:cNvPr id="223" name="ANUARIO_ANEXO_I_FUENTE_118"/>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con denominadores ENDUTIH 2025 y DENUE en columnas de servicios (figs. B.6, B.7, B.13, B.14, B.21 y B.22). Demás columnas: Anuario 2024. —: tasa nacional no recalculada.</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119</a:t>
            </a:r>
          </a:p>
        </p:txBody>
      </p:sp>
      <p:graphicFrame>
        <p:nvGraphicFramePr>
          <p:cNvPr id="222" name="ANUARIO_ANEXO_I_COMPLETO_119"/>
          <p:cNvGraphicFramePr>
            <a:graphicFrameLocks noGrp="1"/>
          </p:cNvGraphicFramePr>
          <p:nvPr/>
        </p:nvGraphicFramePr>
        <p:xfrm>
          <a:off x="310896" y="795528"/>
          <a:ext cx="8522196" cy="3685005"/>
        </p:xfrm>
        <a:graphic>
          <a:graphicData uri="http://schemas.openxmlformats.org/drawingml/2006/table">
            <a:tbl>
              <a:tblPr>
                <a:tableStyleId>{5C22544A-7EE6-4342-B048-85BDC9FD1C3A}</a:tableStyleId>
              </a:tblPr>
              <a:tblGrid>
                <a:gridCol w="950976"/>
                <a:gridCol w="504748"/>
                <a:gridCol w="504748"/>
                <a:gridCol w="504748"/>
                <a:gridCol w="504748"/>
                <a:gridCol w="504748"/>
                <a:gridCol w="504748"/>
                <a:gridCol w="504748"/>
                <a:gridCol w="504748"/>
                <a:gridCol w="504748"/>
                <a:gridCol w="504748"/>
                <a:gridCol w="504748"/>
                <a:gridCol w="504748"/>
                <a:gridCol w="504748"/>
                <a:gridCol w="504748"/>
                <a:gridCol w="504748"/>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3">
                  <a:txBody>
                    <a:bodyPr wrap="square"/>
                    <a:lstStyle/>
                    <a:p>
                      <a:pPr algn="ctr">
                        <a:spcBef>
                          <a:spcPts val="0"/>
                        </a:spcBef>
                        <a:spcAft>
                          <a:spcPts val="0"/>
                        </a:spcAft>
                      </a:pPr>
                      <a:r>
                        <a:rPr sz="535" b="1">
                          <a:solidFill>
                            <a:srgbClr val="FFFFFF"/>
                          </a:solidFill>
                          <a:latin typeface="Noto Sans"/>
                        </a:rPr>
                        <a:t>Telecomunicaciones fijas · datos históricos</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gridSpan="2">
                  <a:txBody>
                    <a:bodyPr wrap="square"/>
                    <a:lstStyle/>
                    <a:p>
                      <a:pPr algn="ctr">
                        <a:spcBef>
                          <a:spcPts val="0"/>
                        </a:spcBef>
                        <a:spcAft>
                          <a:spcPts val="0"/>
                        </a:spcAft>
                      </a:pPr>
                      <a:r>
                        <a:rPr sz="535" b="1">
                          <a:solidFill>
                            <a:srgbClr val="FFFFFF"/>
                          </a:solidFill>
                          <a:latin typeface="Noto Sans"/>
                        </a:rPr>
                        <a:t>Telecomunicaciones móviles · actualizado</a:t>
                      </a:r>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Internet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TV no residencial por tecnología</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3">
                  <a:txBody>
                    <a:bodyPr wrap="square"/>
                    <a:lstStyle/>
                    <a:p>
                      <a:pPr algn="ctr">
                        <a:spcBef>
                          <a:spcPts val="0"/>
                        </a:spcBef>
                        <a:spcAft>
                          <a:spcPts val="0"/>
                        </a:spcAft>
                      </a:pPr>
                      <a:r>
                        <a:rPr sz="535" b="1">
                          <a:solidFill>
                            <a:srgbClr val="FFFFFF"/>
                          </a:solidFill>
                          <a:latin typeface="Noto Sans"/>
                        </a:rPr>
                        <a:t>Servicios fijos en hogares</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Telefonía móvil</a:t>
                      </a:r>
                    </a:p>
                  </a:txBody>
                  <a:tcPr marL="7315" marR="7315" marT="0" marB="0" anchor="ctr">
                    <a:solidFill>
                      <a:srgbClr val="4E827B"/>
                    </a:solidFill>
                  </a:tcPr>
                </a:tc>
                <a:tc>
                  <a:txBody>
                    <a:bodyPr wrap="square"/>
                    <a:lstStyle/>
                    <a:p>
                      <a:pPr algn="ctr">
                        <a:spcBef>
                          <a:spcPts val="0"/>
                        </a:spcBef>
                        <a:spcAft>
                          <a:spcPts val="0"/>
                        </a:spcAft>
                      </a:pPr>
                      <a:r>
                        <a:rPr sz="535" b="1">
                          <a:solidFill>
                            <a:srgbClr val="FFFFFF"/>
                          </a:solidFill>
                          <a:latin typeface="Noto Sans"/>
                        </a:rPr>
                        <a:t>Internet móvil</a:t>
                      </a:r>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DSL</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Fibra</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Cable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Satélite</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Otras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Uno</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Dos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Tres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Líneas/100 hab.</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76.6%</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0.5%</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53.9%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35.1%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11.0%</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85.7%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13.4%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25.4%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33.8%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20.9%</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85.9%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33.2%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77.8%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94.2%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95</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78.9%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34.8%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84.7%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30.3%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62.6%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89.8%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74.4%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80.2%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103</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109</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128</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69.3%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59.2%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39.0%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26.2%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106</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88.2%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85.6%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44.6%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48.3%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77.5%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89</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76.6%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43.0%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84.5%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104</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99.6%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97</a:t>
                      </a:r>
                    </a:p>
                  </a:txBody>
                  <a:tcPr marL="7315" marR="7315" marT="0" marB="0" anchor="ctr">
                    <a:solidFill>
                      <a:srgbClr val="FFFFFF"/>
                    </a:solidFill>
                  </a:tcPr>
                </a:tc>
              </a:tr>
            </a:tbl>
          </a:graphicData>
        </a:graphic>
      </p:graphicFrame>
      <p:sp>
        <p:nvSpPr>
          <p:cNvPr id="223" name="ANUARIO_ANEXO_I_FUENTE_119"/>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BIT, dic. 2024, y denominador de las figuras C.7 y C.13 en las dos columnas móviles. Demás columnas: Anuario 2024. —: tasa nacional no recalculada.</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 RESUMEN DE INDICADORES DE TELECOMUNICACIONES Y RADIODIFUSIÓN</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120</a:t>
            </a:r>
          </a:p>
        </p:txBody>
      </p:sp>
      <p:graphicFrame>
        <p:nvGraphicFramePr>
          <p:cNvPr id="222" name="ANUARIO_ANEXO_I_COMPLETO_120"/>
          <p:cNvGraphicFramePr>
            <a:graphicFrameLocks noGrp="1"/>
          </p:cNvGraphicFramePr>
          <p:nvPr/>
        </p:nvGraphicFramePr>
        <p:xfrm>
          <a:off x="310896" y="795528"/>
          <a:ext cx="8522202" cy="3685005"/>
        </p:xfrm>
        <a:graphic>
          <a:graphicData uri="http://schemas.openxmlformats.org/drawingml/2006/table">
            <a:tbl>
              <a:tblPr>
                <a:tableStyleId>{5C22544A-7EE6-4342-B048-85BDC9FD1C3A}</a:tableStyleId>
              </a:tblPr>
              <a:tblGrid>
                <a:gridCol w="1005840"/>
                <a:gridCol w="536883"/>
                <a:gridCol w="536883"/>
                <a:gridCol w="536883"/>
                <a:gridCol w="536883"/>
                <a:gridCol w="536883"/>
                <a:gridCol w="536883"/>
                <a:gridCol w="536883"/>
                <a:gridCol w="536883"/>
                <a:gridCol w="536883"/>
                <a:gridCol w="536883"/>
                <a:gridCol w="536883"/>
                <a:gridCol w="536883"/>
                <a:gridCol w="536883"/>
                <a:gridCol w="536883"/>
              </a:tblGrid>
              <a:tr h="210312">
                <a:tc>
                  <a:txBody>
                    <a:bodyPr wrap="square"/>
                    <a:lstStyle/>
                    <a:p>
                      <a:pPr algn="ctr">
                        <a:spcBef>
                          <a:spcPts val="0"/>
                        </a:spcBef>
                        <a:spcAft>
                          <a:spcPts val="0"/>
                        </a:spcAft>
                      </a:pPr>
                      <a:r>
                        <a:rPr sz="535" b="1">
                          <a:solidFill>
                            <a:srgbClr val="FFFFFF"/>
                          </a:solidFill>
                          <a:latin typeface="Noto Sans"/>
                        </a:rPr>
                        <a:t>Entidad</a:t>
                      </a:r>
                    </a:p>
                  </a:txBody>
                  <a:tcPr marL="7315" marR="7315" marT="0" marB="0" anchor="ctr">
                    <a:solidFill>
                      <a:srgbClr val="1F4544"/>
                    </a:solidFill>
                  </a:tcPr>
                </a:tc>
                <a:tc gridSpan="14">
                  <a:txBody>
                    <a:bodyPr wrap="square"/>
                    <a:lstStyle/>
                    <a:p>
                      <a:pPr algn="ctr">
                        <a:spcBef>
                          <a:spcPts val="0"/>
                        </a:spcBef>
                        <a:spcAft>
                          <a:spcPts val="0"/>
                        </a:spcAft>
                      </a:pPr>
                      <a:r>
                        <a:rPr sz="535" b="1">
                          <a:solidFill>
                            <a:srgbClr val="FFFFFF"/>
                          </a:solidFill>
                          <a:latin typeface="Noto Sans"/>
                        </a:rPr>
                        <a:t>Concesiones de radiodifusión · cuadro histórico del Anuario 2024</a:t>
                      </a:r>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c hMerge="1">
                  <a:txBody>
                    <a:bodyPr wrap="square"/>
                    <a:lstStyle/>
                    <a:p/>
                  </a:txBody>
                  <a:tcPr marL="7315" marR="7315" marT="0" marB="0" anchor="ctr">
                    <a:solidFill>
                      <a:srgbClr val="1F4544"/>
                    </a:solidFill>
                  </a:tcPr>
                </a:tc>
              </a:tr>
              <a:tr h="228600">
                <a:tc>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AM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5">
                  <a:txBody>
                    <a:bodyPr wrap="square"/>
                    <a:lstStyle/>
                    <a:p>
                      <a:pPr algn="ctr">
                        <a:spcBef>
                          <a:spcPts val="0"/>
                        </a:spcBef>
                        <a:spcAft>
                          <a:spcPts val="0"/>
                        </a:spcAft>
                      </a:pPr>
                      <a:r>
                        <a:rPr sz="535" b="1">
                          <a:solidFill>
                            <a:srgbClr val="FFFFFF"/>
                          </a:solidFill>
                          <a:latin typeface="Noto Sans"/>
                        </a:rPr>
                        <a:t>Radio FM</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gridSpan="4">
                  <a:txBody>
                    <a:bodyPr wrap="square"/>
                    <a:lstStyle/>
                    <a:p>
                      <a:pPr algn="ctr">
                        <a:spcBef>
                          <a:spcPts val="0"/>
                        </a:spcBef>
                        <a:spcAft>
                          <a:spcPts val="0"/>
                        </a:spcAft>
                      </a:pPr>
                      <a:r>
                        <a:rPr sz="535" b="1">
                          <a:solidFill>
                            <a:srgbClr val="FFFFFF"/>
                          </a:solidFill>
                          <a:latin typeface="Noto Sans"/>
                        </a:rPr>
                        <a:t>Televisión digital terrestre</a:t>
                      </a:r>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c hMerge="1">
                  <a:txBody>
                    <a:bodyPr wrap="square"/>
                    <a:lstStyle/>
                    <a:p/>
                  </a:txBody>
                  <a:tcPr marL="7315" marR="7315" marT="0" marB="0" anchor="ctr">
                    <a:solidFill>
                      <a:srgbClr val="4E827B"/>
                    </a:solidFill>
                  </a:tcPr>
                </a:tc>
              </a:tr>
              <a:tr h="246888">
                <a:tc>
                  <a:txBody>
                    <a:bodyPr wrap="square"/>
                    <a:lstStyle/>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Indígenas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Comerc.</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Públicas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Sociales</a:t>
                      </a:r>
                    </a:p>
                  </a:txBody>
                  <a:tcPr marL="7315" marR="7315" marT="0" marB="0" anchor="ctr">
                    <a:solidFill>
                      <a:srgbClr val="E4F0ED"/>
                    </a:solidFill>
                  </a:tcPr>
                </a:tc>
                <a:tc>
                  <a:txBody>
                    <a:bodyPr wrap="square"/>
                    <a:lstStyle/>
                    <a:p>
                      <a:pPr algn="ctr">
                        <a:spcBef>
                          <a:spcPts val="0"/>
                        </a:spcBef>
                        <a:spcAft>
                          <a:spcPts val="0"/>
                        </a:spcAft>
                      </a:pPr>
                      <a:r>
                        <a:rPr sz="495" b="1">
                          <a:solidFill>
                            <a:srgbClr val="1F4544"/>
                          </a:solidFill>
                          <a:latin typeface="Noto Sans"/>
                        </a:rPr>
                        <a:t>Comunit.</a:t>
                      </a:r>
                    </a:p>
                  </a:txBody>
                  <a:tcPr marL="7315" marR="7315" marT="0" marB="0" anchor="ctr">
                    <a:solidFill>
                      <a:srgbClr val="E4F0ED"/>
                    </a:solidFill>
                  </a:tcPr>
                </a:tc>
              </a:tr>
              <a:tr h="90885">
                <a:tc>
                  <a:txBody>
                    <a:bodyPr wrap="none"/>
                    <a:lstStyle/>
                    <a:p>
                      <a:pPr algn="l">
                        <a:spcBef>
                          <a:spcPts val="0"/>
                        </a:spcBef>
                        <a:spcAft>
                          <a:spcPts val="0"/>
                        </a:spcAft>
                      </a:pPr>
                      <a:r>
                        <a:rPr sz="505" b="1">
                          <a:solidFill>
                            <a:srgbClr val="1F3031"/>
                          </a:solidFill>
                          <a:latin typeface="Noto Sans"/>
                        </a:rPr>
                        <a:t>Nacional</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1171</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303</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267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144</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597</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278</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52</a:t>
                      </a:r>
                    </a:p>
                  </a:txBody>
                  <a:tcPr marL="7315" marR="7315" marT="0" marB="0" anchor="ctr">
                    <a:solidFill>
                      <a:srgbClr val="FFFFFF"/>
                    </a:solidFill>
                  </a:tcPr>
                </a:tc>
                <a:tc>
                  <a:txBody>
                    <a:bodyPr wrap="none"/>
                    <a:lstStyle/>
                    <a:p>
                      <a:pPr algn="ctr">
                        <a:spcBef>
                          <a:spcPts val="0"/>
                        </a:spcBef>
                        <a:spcAft>
                          <a:spcPts val="0"/>
                        </a:spcAft>
                      </a:pPr>
                      <a:r>
                        <a:rPr sz="495" b="1">
                          <a:solidFill>
                            <a:srgbClr val="1F3031"/>
                          </a:solidFill>
                          <a:latin typeface="Noto Sans"/>
                        </a:rPr>
                        <a:t>7</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Aguascalientes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Baja California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Baja California Sur</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Campeche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Coahuila de Zaragoza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Colima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Chiapas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Chihuahua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Ciudad de 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Durango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Guanajuato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Guerrero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Hidalgo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Jalisco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México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Michoacán de Ocampo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Morelos</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Nayarit</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Nuevo León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Oaxaca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Puebla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Querétaro</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Quintana Roo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San Luis Potosí</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Sinaloa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14</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Sonora</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Tabasco</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8</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Tamaulipas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15</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Tlaxcala</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5</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Veracruz de Ignacio de la Llave</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r>
              <a:tr h="90885">
                <a:tc>
                  <a:txBody>
                    <a:bodyPr wrap="none"/>
                    <a:lstStyle/>
                    <a:p>
                      <a:pPr algn="l">
                        <a:spcBef>
                          <a:spcPts val="0"/>
                        </a:spcBef>
                        <a:spcAft>
                          <a:spcPts val="0"/>
                        </a:spcAft>
                      </a:pPr>
                      <a:r>
                        <a:rPr sz="505" b="0">
                          <a:solidFill>
                            <a:srgbClr val="1F3031"/>
                          </a:solidFill>
                          <a:latin typeface="Noto Sans"/>
                        </a:rPr>
                        <a:t>Yucatán</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32</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6</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4F8F7"/>
                    </a:solidFill>
                  </a:tcPr>
                </a:tc>
              </a:tr>
              <a:tr h="90885">
                <a:tc>
                  <a:txBody>
                    <a:bodyPr wrap="none"/>
                    <a:lstStyle/>
                    <a:p>
                      <a:pPr algn="l">
                        <a:spcBef>
                          <a:spcPts val="0"/>
                        </a:spcBef>
                        <a:spcAft>
                          <a:spcPts val="0"/>
                        </a:spcAft>
                      </a:pPr>
                      <a:r>
                        <a:rPr sz="505" b="0">
                          <a:solidFill>
                            <a:srgbClr val="1F3031"/>
                          </a:solidFill>
                          <a:latin typeface="Noto Sans"/>
                        </a:rPr>
                        <a:t>Zacatecas</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9</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11</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2</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17</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3</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4</a:t>
                      </a:r>
                    </a:p>
                  </a:txBody>
                  <a:tcPr marL="7315" marR="7315" marT="0" marB="0" anchor="ctr">
                    <a:solidFill>
                      <a:srgbClr val="FFFFFF"/>
                    </a:solidFill>
                  </a:tcPr>
                </a:tc>
                <a:tc>
                  <a:txBody>
                    <a:bodyPr wrap="none"/>
                    <a:lstStyle/>
                    <a:p>
                      <a:pPr algn="ctr">
                        <a:spcBef>
                          <a:spcPts val="0"/>
                        </a:spcBef>
                        <a:spcAft>
                          <a:spcPts val="0"/>
                        </a:spcAft>
                      </a:pPr>
                      <a:r>
                        <a:rPr sz="495" b="0">
                          <a:solidFill>
                            <a:srgbClr val="1F3031"/>
                          </a:solidFill>
                          <a:latin typeface="Noto Sans"/>
                        </a:rPr>
                        <a:t>0</a:t>
                      </a:r>
                    </a:p>
                  </a:txBody>
                  <a:tcPr marL="7315" marR="7315" marT="0" marB="0" anchor="ctr">
                    <a:solidFill>
                      <a:srgbClr val="FFFFFF"/>
                    </a:solidFill>
                  </a:tcPr>
                </a:tc>
              </a:tr>
            </a:tbl>
          </a:graphicData>
        </a:graphic>
      </p:graphicFrame>
      <p:sp>
        <p:nvSpPr>
          <p:cNvPr id="223" name="ANUARIO_ANEXO_I_FUENTE_120"/>
          <p:cNvSpPr txBox="1"/>
          <p:nvPr/>
        </p:nvSpPr>
        <p:spPr>
          <a:xfrm>
            <a:off x="338328" y="4535424"/>
            <a:ext cx="8430768" cy="201168"/>
          </a:xfrm>
          <a:prstGeom prst="rect">
            <a:avLst/>
          </a:prstGeom>
          <a:noFill/>
        </p:spPr>
        <p:txBody>
          <a:bodyPr wrap="square" lIns="0" rIns="0" tIns="0" bIns="0">
            <a:noAutofit/>
          </a:bodyPr>
          <a:lstStyle/>
          <a:p>
            <a:pPr algn="l">
              <a:lnSpc>
                <a:spcPct val="100000"/>
              </a:lnSpc>
              <a:spcBef>
                <a:spcPts val="0"/>
              </a:spcBef>
              <a:spcAft>
                <a:spcPts val="0"/>
              </a:spcAft>
            </a:pPr>
            <a:r>
              <a:rPr sz="575" b="0">
                <a:solidFill>
                  <a:srgbClr val="4B5858"/>
                </a:solidFill>
                <a:latin typeface="Noto Sans"/>
              </a:rPr>
              <a:t>Fuente: Anuario Estadístico 2024, Anexo I. Cuadro histórico de concesiones; no se presenta como dato de 2026.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121</a:t>
            </a:r>
          </a:p>
        </p:txBody>
      </p:sp>
      <p:sp>
        <p:nvSpPr>
          <p:cNvPr id="225" name="ANUARIO_ANEXO_P121_L001"/>
          <p:cNvSpPr txBox="1"/>
          <p:nvPr/>
        </p:nvSpPr>
        <p:spPr>
          <a:xfrm>
            <a:off x="589682" y="653801"/>
            <a:ext cx="1858873"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 DEFINICIONES</a:t>
            </a:r>
          </a:p>
        </p:txBody>
      </p:sp>
      <p:sp>
        <p:nvSpPr>
          <p:cNvPr id="226" name="ANUARIO_ANEXO_P121_L002"/>
          <p:cNvSpPr txBox="1"/>
          <p:nvPr/>
        </p:nvSpPr>
        <p:spPr>
          <a:xfrm>
            <a:off x="528422" y="1521200"/>
            <a:ext cx="18115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a:t>
            </a:r>
          </a:p>
        </p:txBody>
      </p:sp>
      <p:sp>
        <p:nvSpPr>
          <p:cNvPr id="227" name="ANUARIO_ANEXO_P121_L003"/>
          <p:cNvSpPr txBox="1"/>
          <p:nvPr/>
        </p:nvSpPr>
        <p:spPr>
          <a:xfrm>
            <a:off x="528422" y="1734804"/>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Acceso:</a:t>
            </a:r>
            <a:r>
              <a:rPr sz="640" b="0" i="0">
                <a:solidFill>
                  <a:srgbClr val="1F3031"/>
                </a:solidFill>
                <a:latin typeface="Noto Sans"/>
              </a:rPr>
              <a:t> El conjunto de canales físicos de una Red Pública de Telecomunicaciones, que conecta el </a:t>
            </a:r>
          </a:p>
        </p:txBody>
      </p:sp>
      <p:sp>
        <p:nvSpPr>
          <p:cNvPr id="228" name="ANUARIO_ANEXO_P121_L004"/>
          <p:cNvSpPr txBox="1"/>
          <p:nvPr/>
        </p:nvSpPr>
        <p:spPr>
          <a:xfrm>
            <a:off x="528422" y="184229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Equipo Terminal en la ubicación del usuario con la instalación del Operador desde la cual se presta </a:t>
            </a:r>
          </a:p>
        </p:txBody>
      </p:sp>
      <p:sp>
        <p:nvSpPr>
          <p:cNvPr id="229" name="ANUARIO_ANEXO_P121_L005"/>
          <p:cNvSpPr txBox="1"/>
          <p:nvPr/>
        </p:nvSpPr>
        <p:spPr>
          <a:xfrm>
            <a:off x="528422" y="1949091"/>
            <a:ext cx="41283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servicio al usuario. En el caso de Redes de Acceso Fijo alámbrico se le suele llamar históricamente </a:t>
            </a:r>
          </a:p>
        </p:txBody>
      </p:sp>
      <p:sp>
        <p:nvSpPr>
          <p:cNvPr id="230" name="ANUARIO_ANEXO_P121_L006"/>
          <p:cNvSpPr txBox="1"/>
          <p:nvPr/>
        </p:nvSpPr>
        <p:spPr>
          <a:xfrm>
            <a:off x="528422" y="2055893"/>
            <a:ext cx="30287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bucle local, y en Servicios de Transporte de Voz se le conoce como línea.</a:t>
            </a:r>
          </a:p>
        </p:txBody>
      </p:sp>
      <p:sp>
        <p:nvSpPr>
          <p:cNvPr id="231" name="ANUARIO_ANEXO_P121_L007"/>
          <p:cNvSpPr txBox="1"/>
          <p:nvPr/>
        </p:nvSpPr>
        <p:spPr>
          <a:xfrm>
            <a:off x="528422" y="2268814"/>
            <a:ext cx="1838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t>
            </a:r>
          </a:p>
        </p:txBody>
      </p:sp>
      <p:sp>
        <p:nvSpPr>
          <p:cNvPr id="232" name="ANUARIO_ANEXO_P121_L008"/>
          <p:cNvSpPr txBox="1"/>
          <p:nvPr/>
        </p:nvSpPr>
        <p:spPr>
          <a:xfrm>
            <a:off x="528422" y="2482418"/>
            <a:ext cx="412768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Caricaturas:</a:t>
            </a:r>
            <a:r>
              <a:rPr sz="640" b="0" i="0">
                <a:solidFill>
                  <a:srgbClr val="1F3031"/>
                </a:solidFill>
                <a:latin typeface="Noto Sans"/>
              </a:rPr>
              <a:t> Son todos los programas que están hechos con alguna de las siguientes técnicas: dibujos </a:t>
            </a:r>
          </a:p>
        </p:txBody>
      </p:sp>
      <p:sp>
        <p:nvSpPr>
          <p:cNvPr id="233" name="ANUARIO_ANEXO_P121_L009"/>
          <p:cNvSpPr txBox="1"/>
          <p:nvPr/>
        </p:nvSpPr>
        <p:spPr>
          <a:xfrm>
            <a:off x="528422" y="2589903"/>
            <a:ext cx="41282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animados, plastilina, arcilla (</a:t>
            </a:r>
            <a:r>
              <a:rPr sz="640" b="0" i="1">
                <a:solidFill>
                  <a:srgbClr val="1F3031"/>
                </a:solidFill>
                <a:latin typeface="Noto Sans"/>
              </a:rPr>
              <a:t>stop motion</a:t>
            </a:r>
            <a:r>
              <a:rPr sz="640" b="0" i="0">
                <a:solidFill>
                  <a:srgbClr val="1F3031"/>
                </a:solidFill>
                <a:latin typeface="Noto Sans"/>
              </a:rPr>
              <a:t>), animación vectorial y de tercera dimensión. No deben </a:t>
            </a:r>
          </a:p>
        </p:txBody>
      </p:sp>
      <p:sp>
        <p:nvSpPr>
          <p:cNvPr id="234" name="ANUARIO_ANEXO_P121_L010"/>
          <p:cNvSpPr txBox="1"/>
          <p:nvPr/>
        </p:nvSpPr>
        <p:spPr>
          <a:xfrm>
            <a:off x="528422" y="2696705"/>
            <a:ext cx="272072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considerarse dentro de este género los cortometrajes animados.</a:t>
            </a:r>
          </a:p>
        </p:txBody>
      </p:sp>
      <p:sp>
        <p:nvSpPr>
          <p:cNvPr id="235" name="ANUARIO_ANEXO_P121_L011"/>
          <p:cNvSpPr txBox="1"/>
          <p:nvPr/>
        </p:nvSpPr>
        <p:spPr>
          <a:xfrm>
            <a:off x="528422" y="2909625"/>
            <a:ext cx="412778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Cómico:</a:t>
            </a:r>
            <a:r>
              <a:rPr sz="640" b="0" i="0">
                <a:solidFill>
                  <a:srgbClr val="1F3031"/>
                </a:solidFill>
                <a:latin typeface="Noto Sans"/>
              </a:rPr>
              <a:t> Programa cuyo contenido está enfocado al esparcimiento de la audiencia, al manejar </a:t>
            </a:r>
          </a:p>
        </p:txBody>
      </p:sp>
      <p:sp>
        <p:nvSpPr>
          <p:cNvPr id="236" name="ANUARIO_ANEXO_P121_L012"/>
          <p:cNvSpPr txBox="1"/>
          <p:nvPr/>
        </p:nvSpPr>
        <p:spPr>
          <a:xfrm>
            <a:off x="528422" y="3017111"/>
            <a:ext cx="37222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cuadros cómicos, chistes, cuentos y cualquier otro elemento que intente provocar la risa. </a:t>
            </a:r>
          </a:p>
        </p:txBody>
      </p:sp>
      <p:sp>
        <p:nvSpPr>
          <p:cNvPr id="237" name="ANUARIO_ANEXO_P121_L013"/>
          <p:cNvSpPr txBox="1"/>
          <p:nvPr/>
        </p:nvSpPr>
        <p:spPr>
          <a:xfrm>
            <a:off x="528422" y="3230031"/>
            <a:ext cx="412796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Concurso:</a:t>
            </a:r>
            <a:r>
              <a:rPr sz="640" b="0" i="0">
                <a:solidFill>
                  <a:srgbClr val="1F3031"/>
                </a:solidFill>
                <a:latin typeface="Noto Sans"/>
              </a:rPr>
              <a:t> Formato de programa en el que los participantes realizan una serie de actividades en </a:t>
            </a:r>
          </a:p>
        </p:txBody>
      </p:sp>
      <p:sp>
        <p:nvSpPr>
          <p:cNvPr id="238" name="ANUARIO_ANEXO_P121_L014"/>
          <p:cNvSpPr txBox="1"/>
          <p:nvPr/>
        </p:nvSpPr>
        <p:spPr>
          <a:xfrm>
            <a:off x="528422" y="3337517"/>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busca de superar a sus rivales. Un concurso puede hacer competir tanto a individuos, como a grupos </a:t>
            </a:r>
          </a:p>
        </p:txBody>
      </p:sp>
      <p:sp>
        <p:nvSpPr>
          <p:cNvPr id="239" name="ANUARIO_ANEXO_P121_L015"/>
          <p:cNvSpPr txBox="1"/>
          <p:nvPr/>
        </p:nvSpPr>
        <p:spPr>
          <a:xfrm>
            <a:off x="528422" y="3444318"/>
            <a:ext cx="29960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y/o instituciones privadas o públicas, y pueden o no obtenerse premios.</a:t>
            </a:r>
          </a:p>
        </p:txBody>
      </p:sp>
      <p:sp>
        <p:nvSpPr>
          <p:cNvPr id="240" name="ANUARIO_ANEXO_P121_L016"/>
          <p:cNvSpPr txBox="1"/>
          <p:nvPr/>
        </p:nvSpPr>
        <p:spPr>
          <a:xfrm>
            <a:off x="528422" y="3657239"/>
            <a:ext cx="412823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Cultural:</a:t>
            </a:r>
            <a:r>
              <a:rPr sz="640" b="0" i="0">
                <a:solidFill>
                  <a:srgbClr val="1F3031"/>
                </a:solidFill>
                <a:latin typeface="Noto Sans"/>
              </a:rPr>
              <a:t> Programación que presenta las formas y expresiones de una sociedad. Su contenido </a:t>
            </a:r>
          </a:p>
        </p:txBody>
      </p:sp>
      <p:sp>
        <p:nvSpPr>
          <p:cNvPr id="241" name="ANUARIO_ANEXO_P121_L017"/>
          <p:cNvSpPr txBox="1"/>
          <p:nvPr/>
        </p:nvSpPr>
        <p:spPr>
          <a:xfrm>
            <a:off x="528422" y="3764724"/>
            <a:ext cx="412803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 referente a los siguientes temas artísticos: arquitectura, danza, escultura, literatura, ópera, </a:t>
            </a:r>
          </a:p>
        </p:txBody>
      </p:sp>
      <p:sp>
        <p:nvSpPr>
          <p:cNvPr id="242" name="ANUARIO_ANEXO_P121_L018"/>
          <p:cNvSpPr txBox="1"/>
          <p:nvPr/>
        </p:nvSpPr>
        <p:spPr>
          <a:xfrm>
            <a:off x="528422" y="3871526"/>
            <a:ext cx="41281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pintura, teatro, museos, exposiciones; sociales: académicos, científicos, históricos, gastronómicos, </a:t>
            </a:r>
          </a:p>
        </p:txBody>
      </p:sp>
      <p:sp>
        <p:nvSpPr>
          <p:cNvPr id="243" name="ANUARIO_ANEXO_P121_L019"/>
          <p:cNvSpPr txBox="1"/>
          <p:nvPr/>
        </p:nvSpPr>
        <p:spPr>
          <a:xfrm>
            <a:off x="528422" y="3978328"/>
            <a:ext cx="41281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etnográficos, ciencias naturales; y simbólicos: biografías, entrevista de semblanza a personajes </a:t>
            </a:r>
          </a:p>
        </p:txBody>
      </p:sp>
      <p:sp>
        <p:nvSpPr>
          <p:cNvPr id="244" name="ANUARIO_ANEXO_P121_L020"/>
          <p:cNvSpPr txBox="1"/>
          <p:nvPr/>
        </p:nvSpPr>
        <p:spPr>
          <a:xfrm>
            <a:off x="528422" y="4085130"/>
            <a:ext cx="169415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involucrados en la cultura, happenings.</a:t>
            </a:r>
          </a:p>
        </p:txBody>
      </p:sp>
      <p:sp>
        <p:nvSpPr>
          <p:cNvPr id="245" name="ANUARIO_ANEXO_P121_L021"/>
          <p:cNvSpPr txBox="1"/>
          <p:nvPr/>
        </p:nvSpPr>
        <p:spPr>
          <a:xfrm>
            <a:off x="4647535" y="1521200"/>
            <a:ext cx="1865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a:t>
            </a:r>
          </a:p>
        </p:txBody>
      </p:sp>
      <p:sp>
        <p:nvSpPr>
          <p:cNvPr id="246" name="ANUARIO_ANEXO_P121_L022"/>
          <p:cNvSpPr txBox="1"/>
          <p:nvPr/>
        </p:nvSpPr>
        <p:spPr>
          <a:xfrm>
            <a:off x="4647535" y="1734804"/>
            <a:ext cx="412788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Debate:</a:t>
            </a:r>
            <a:r>
              <a:rPr sz="640" b="0" i="0">
                <a:solidFill>
                  <a:srgbClr val="1F3031"/>
                </a:solidFill>
                <a:latin typeface="Noto Sans"/>
              </a:rPr>
              <a:t> Espacio argumentativo en el cual se emiten ideas antagónicas sobre un tema o temas </a:t>
            </a:r>
          </a:p>
        </p:txBody>
      </p:sp>
      <p:sp>
        <p:nvSpPr>
          <p:cNvPr id="247" name="ANUARIO_ANEXO_P121_L023"/>
          <p:cNvSpPr txBox="1"/>
          <p:nvPr/>
        </p:nvSpPr>
        <p:spPr>
          <a:xfrm>
            <a:off x="4647535" y="1842290"/>
            <a:ext cx="41277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específicos. Contempla un panel de especialistas y un moderador, quienes aportan puntos de vista </a:t>
            </a:r>
          </a:p>
        </p:txBody>
      </p:sp>
      <p:sp>
        <p:nvSpPr>
          <p:cNvPr id="248" name="ANUARIO_ANEXO_P121_L024"/>
          <p:cNvSpPr txBox="1"/>
          <p:nvPr/>
        </p:nvSpPr>
        <p:spPr>
          <a:xfrm>
            <a:off x="4647535" y="1949091"/>
            <a:ext cx="15008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desde su campo de conocimiento.</a:t>
            </a:r>
          </a:p>
        </p:txBody>
      </p:sp>
      <p:sp>
        <p:nvSpPr>
          <p:cNvPr id="249" name="ANUARIO_ANEXO_P121_L025"/>
          <p:cNvSpPr txBox="1"/>
          <p:nvPr/>
        </p:nvSpPr>
        <p:spPr>
          <a:xfrm>
            <a:off x="4647535" y="216201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Decil de ingreso:</a:t>
            </a:r>
            <a:r>
              <a:rPr sz="640" b="0" i="0">
                <a:solidFill>
                  <a:srgbClr val="1F3031"/>
                </a:solidFill>
                <a:latin typeface="Noto Sans"/>
              </a:rPr>
              <a:t> Los hogares pueden ser agrupados de acuerdo con los ingresos que perciben. </a:t>
            </a:r>
          </a:p>
        </p:txBody>
      </p:sp>
      <p:sp>
        <p:nvSpPr>
          <p:cNvPr id="250" name="ANUARIO_ANEXO_P121_L026"/>
          <p:cNvSpPr txBox="1"/>
          <p:nvPr/>
        </p:nvSpPr>
        <p:spPr>
          <a:xfrm>
            <a:off x="4647535" y="2269497"/>
            <a:ext cx="412853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Cuando se forman diez conjuntos del mismo tamaño, se les conoce como “deciles”, por lo que el </a:t>
            </a:r>
          </a:p>
        </p:txBody>
      </p:sp>
      <p:sp>
        <p:nvSpPr>
          <p:cNvPr id="251" name="ANUARIO_ANEXO_P121_L027"/>
          <p:cNvSpPr txBox="1"/>
          <p:nvPr/>
        </p:nvSpPr>
        <p:spPr>
          <a:xfrm>
            <a:off x="4647535" y="2376299"/>
            <a:ext cx="41279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primer decil está integrado por la décima parte de los hogares que tienen los menores ingresos, y </a:t>
            </a:r>
          </a:p>
        </p:txBody>
      </p:sp>
      <p:sp>
        <p:nvSpPr>
          <p:cNvPr id="252" name="ANUARIO_ANEXO_P121_L028"/>
          <p:cNvSpPr txBox="1"/>
          <p:nvPr/>
        </p:nvSpPr>
        <p:spPr>
          <a:xfrm>
            <a:off x="4647535" y="2483101"/>
            <a:ext cx="41277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de manera sucesiva, hasta llegar al último decil, que está compuesto por la décima parte de los </a:t>
            </a:r>
          </a:p>
        </p:txBody>
      </p:sp>
      <p:sp>
        <p:nvSpPr>
          <p:cNvPr id="253" name="ANUARIO_ANEXO_P121_L029"/>
          <p:cNvSpPr txBox="1"/>
          <p:nvPr/>
        </p:nvSpPr>
        <p:spPr>
          <a:xfrm>
            <a:off x="4647535" y="2589903"/>
            <a:ext cx="157841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hogares con los ingresos más altos</a:t>
            </a:r>
            <a:r>
              <a:rPr sz="373" b="0" i="0">
                <a:solidFill>
                  <a:srgbClr val="1F3031"/>
                </a:solidFill>
                <a:latin typeface="Noto Sans"/>
              </a:rPr>
              <a:t>11</a:t>
            </a:r>
            <a:r>
              <a:rPr sz="640" b="0" i="0">
                <a:solidFill>
                  <a:srgbClr val="1F3031"/>
                </a:solidFill>
                <a:latin typeface="Noto Sans"/>
              </a:rPr>
              <a:t>.</a:t>
            </a:r>
          </a:p>
        </p:txBody>
      </p:sp>
      <p:sp>
        <p:nvSpPr>
          <p:cNvPr id="254" name="ANUARIO_ANEXO_P121_L030"/>
          <p:cNvSpPr txBox="1"/>
          <p:nvPr/>
        </p:nvSpPr>
        <p:spPr>
          <a:xfrm>
            <a:off x="4647535" y="2802823"/>
            <a:ext cx="412815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Deportes:</a:t>
            </a:r>
            <a:r>
              <a:rPr sz="640" b="0" i="0">
                <a:solidFill>
                  <a:srgbClr val="1F3031"/>
                </a:solidFill>
                <a:latin typeface="Noto Sans"/>
              </a:rPr>
              <a:t> Transmisión de eventos deportivos, cultura física o programas de resumen deportivo, </a:t>
            </a:r>
          </a:p>
        </p:txBody>
      </p:sp>
      <p:sp>
        <p:nvSpPr>
          <p:cNvPr id="255" name="ANUARIO_ANEXO_P121_L031"/>
          <p:cNvSpPr txBox="1"/>
          <p:nvPr/>
        </p:nvSpPr>
        <p:spPr>
          <a:xfrm>
            <a:off x="4647535" y="2910309"/>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así como resultados y/o comentarios relacionados con el deporte. En este género no se incluyen </a:t>
            </a:r>
          </a:p>
        </p:txBody>
      </p:sp>
      <p:sp>
        <p:nvSpPr>
          <p:cNvPr id="256" name="ANUARIO_ANEXO_P121_L032"/>
          <p:cNvSpPr txBox="1"/>
          <p:nvPr/>
        </p:nvSpPr>
        <p:spPr>
          <a:xfrm>
            <a:off x="4647535" y="3017111"/>
            <a:ext cx="35979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programas de reportaje que, en un capítulo en específico, aborden un tema deportivo.</a:t>
            </a:r>
          </a:p>
        </p:txBody>
      </p:sp>
      <p:sp>
        <p:nvSpPr>
          <p:cNvPr id="257" name="ANUARIO_ANEXO_P121_L033"/>
          <p:cNvSpPr txBox="1"/>
          <p:nvPr/>
        </p:nvSpPr>
        <p:spPr>
          <a:xfrm>
            <a:off x="4647535" y="3230031"/>
            <a:ext cx="412830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Directorio Estadístico Nacional de Unidades Económicas (DENUE):</a:t>
            </a:r>
            <a:r>
              <a:rPr sz="640" b="0" i="0">
                <a:solidFill>
                  <a:srgbClr val="1F3031"/>
                </a:solidFill>
                <a:latin typeface="Noto Sans"/>
              </a:rPr>
              <a:t> Herramienta interactiva del </a:t>
            </a:r>
          </a:p>
        </p:txBody>
      </p:sp>
      <p:sp>
        <p:nvSpPr>
          <p:cNvPr id="258" name="ANUARIO_ANEXO_P121_L034"/>
          <p:cNvSpPr txBox="1"/>
          <p:nvPr/>
        </p:nvSpPr>
        <p:spPr>
          <a:xfrm>
            <a:off x="4647536" y="3337517"/>
            <a:ext cx="41280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INEGI en la que se ofrecen los datos de identificación, ubicación, actividad económica y tamaño </a:t>
            </a:r>
          </a:p>
        </p:txBody>
      </p:sp>
      <p:sp>
        <p:nvSpPr>
          <p:cNvPr id="259" name="ANUARIO_ANEXO_P121_L035"/>
          <p:cNvSpPr txBox="1"/>
          <p:nvPr/>
        </p:nvSpPr>
        <p:spPr>
          <a:xfrm>
            <a:off x="4647536" y="3444318"/>
            <a:ext cx="41283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negocios activos en el territorio nacional, actualizados, fundamentalmente, en el segmento </a:t>
            </a:r>
          </a:p>
        </p:txBody>
      </p:sp>
      <p:sp>
        <p:nvSpPr>
          <p:cNvPr id="260" name="ANUARIO_ANEXO_P121_L036"/>
          <p:cNvSpPr txBox="1"/>
          <p:nvPr/>
        </p:nvSpPr>
        <p:spPr>
          <a:xfrm>
            <a:off x="4647536" y="3551120"/>
            <a:ext cx="410770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los establecimientos grandes. Disponible en: </a:t>
            </a:r>
            <a:r>
              <a:rPr sz="640" b="0" i="0">
                <a:solidFill>
                  <a:srgbClr val="0563C1"/>
                </a:solidFill>
                <a:latin typeface="Noto Sans"/>
                <a:hlinkClick r:id="rId2"/>
              </a:rPr>
              <a:t>https://www.inegi.org.mx/app/mapa/denue/default.</a:t>
            </a:r>
          </a:p>
        </p:txBody>
      </p:sp>
      <p:sp>
        <p:nvSpPr>
          <p:cNvPr id="261" name="ANUARIO_ANEXO_P121_L037"/>
          <p:cNvSpPr txBox="1"/>
          <p:nvPr/>
        </p:nvSpPr>
        <p:spPr>
          <a:xfrm>
            <a:off x="4647536" y="3657922"/>
            <a:ext cx="319446"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aspx</a:t>
            </a:r>
            <a:r>
              <a:rPr sz="640" b="0" i="0">
                <a:solidFill>
                  <a:srgbClr val="1F3031"/>
                </a:solidFill>
                <a:latin typeface="Noto Sans"/>
              </a:rPr>
              <a:t>.</a:t>
            </a:r>
          </a:p>
        </p:txBody>
      </p:sp>
      <p:sp>
        <p:nvSpPr>
          <p:cNvPr id="262" name="ANUARIO_ANEXO_P121_L038"/>
          <p:cNvSpPr txBox="1"/>
          <p:nvPr/>
        </p:nvSpPr>
        <p:spPr>
          <a:xfrm>
            <a:off x="4647536" y="3870842"/>
            <a:ext cx="41280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Dramatizado Unitario:</a:t>
            </a:r>
            <a:r>
              <a:rPr sz="640" b="0" i="0">
                <a:solidFill>
                  <a:srgbClr val="1F3031"/>
                </a:solidFill>
                <a:latin typeface="Noto Sans"/>
              </a:rPr>
              <a:t> Programas de ficción en los que cada capítulo constituye una unidad narrativa </a:t>
            </a:r>
          </a:p>
        </p:txBody>
      </p:sp>
      <p:sp>
        <p:nvSpPr>
          <p:cNvPr id="263" name="ANUARIO_ANEXO_P121_L039"/>
          <p:cNvSpPr txBox="1"/>
          <p:nvPr/>
        </p:nvSpPr>
        <p:spPr>
          <a:xfrm>
            <a:off x="4647536" y="3978328"/>
            <a:ext cx="41279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independiente. En su contenido se manifiestan situaciones conflictivas y/o trágicas, y cada episodio </a:t>
            </a:r>
          </a:p>
        </p:txBody>
      </p:sp>
      <p:sp>
        <p:nvSpPr>
          <p:cNvPr id="264" name="ANUARIO_ANEXO_P121_L040"/>
          <p:cNvSpPr txBox="1"/>
          <p:nvPr/>
        </p:nvSpPr>
        <p:spPr>
          <a:xfrm>
            <a:off x="4647536" y="4085130"/>
            <a:ext cx="39672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tiene inicio, desarrollo y final. En muy pocas ocasiones puede extenderse a más de una emisión.</a:t>
            </a:r>
          </a:p>
        </p:txBody>
      </p:sp>
      <p:sp>
        <p:nvSpPr>
          <p:cNvPr id="265" name="ANUARIO_ANEXO_P121_L041"/>
          <p:cNvSpPr txBox="1"/>
          <p:nvPr/>
        </p:nvSpPr>
        <p:spPr>
          <a:xfrm>
            <a:off x="383625" y="4451011"/>
            <a:ext cx="8486054"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11</a:t>
            </a:r>
            <a:r>
              <a:rPr sz="480" b="0" i="0">
                <a:solidFill>
                  <a:srgbClr val="1F3031"/>
                </a:solidFill>
                <a:latin typeface="Noto Sans"/>
              </a:rPr>
              <a:t> Definición publicada el 26 de julio de 2023 por el Instituto Nacional de Estadística y Geografía (INEGI) el 26 de julio de 2023, pág. 11., en el cual se dan a conocer los resultados de la Encuesta Nacional de Ingresos y Gastos de los Hogares (ENIGH) 2020. Disponible en: </a:t>
            </a:r>
            <a:r>
              <a:rPr sz="480" b="0" i="0">
                <a:solidFill>
                  <a:srgbClr val="0563C1"/>
                </a:solidFill>
                <a:latin typeface="Noto Sans"/>
              </a:rPr>
              <a:t>Encuesta </a:t>
            </a:r>
          </a:p>
        </p:txBody>
      </p:sp>
      <p:sp>
        <p:nvSpPr>
          <p:cNvPr id="266" name="ANUARIO_ANEXO_P121_L042"/>
          <p:cNvSpPr txBox="1"/>
          <p:nvPr/>
        </p:nvSpPr>
        <p:spPr>
          <a:xfrm>
            <a:off x="383625" y="4527909"/>
            <a:ext cx="2519533" cy="118622"/>
          </a:xfrm>
          <a:prstGeom prst="rect">
            <a:avLst/>
          </a:prstGeom>
          <a:noFill/>
        </p:spPr>
        <p:txBody>
          <a:bodyPr wrap="none" lIns="0" rIns="0" tIns="0" bIns="0">
            <a:noAutofit/>
          </a:bodyPr>
          <a:lstStyle/>
          <a:p>
            <a:pPr>
              <a:spcBef>
                <a:spcPts val="0"/>
              </a:spcBef>
              <a:spcAft>
                <a:spcPts val="0"/>
              </a:spcAft>
            </a:pPr>
            <a:r>
              <a:rPr sz="480" b="0" i="0">
                <a:solidFill>
                  <a:srgbClr val="0563C1"/>
                </a:solidFill>
                <a:latin typeface="Noto Sans"/>
              </a:rPr>
              <a:t>Nacional de Ingresos y Gastos de los Hogares 2022. Presentación de resultados</a:t>
            </a:r>
            <a:r>
              <a:rPr sz="480" b="0" i="0">
                <a:solidFill>
                  <a:srgbClr val="1F3031"/>
                </a:solidFill>
                <a:latin typeface="Noto Sans"/>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122</a:t>
            </a:r>
          </a:p>
        </p:txBody>
      </p:sp>
      <p:sp>
        <p:nvSpPr>
          <p:cNvPr id="225" name="ANUARIO_ANEXO_P122_L001"/>
          <p:cNvSpPr txBox="1"/>
          <p:nvPr/>
        </p:nvSpPr>
        <p:spPr>
          <a:xfrm>
            <a:off x="528422" y="656471"/>
            <a:ext cx="1709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a:t>
            </a:r>
          </a:p>
        </p:txBody>
      </p:sp>
      <p:sp>
        <p:nvSpPr>
          <p:cNvPr id="226" name="ANUARIO_ANEXO_P122_L002"/>
          <p:cNvSpPr txBox="1"/>
          <p:nvPr/>
        </p:nvSpPr>
        <p:spPr>
          <a:xfrm>
            <a:off x="528422" y="850056"/>
            <a:ext cx="412854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Encendidos (tvr% o TRr%):</a:t>
            </a:r>
            <a:r>
              <a:rPr sz="640" b="0" i="0">
                <a:solidFill>
                  <a:srgbClr val="1F3031"/>
                </a:solidFill>
                <a:latin typeface="Noto Sans"/>
              </a:rPr>
              <a:t> Porcentaje de hogares o personas que tienen encendida la televisión o </a:t>
            </a:r>
          </a:p>
        </p:txBody>
      </p:sp>
      <p:sp>
        <p:nvSpPr>
          <p:cNvPr id="227" name="ANUARIO_ANEXO_P122_L003"/>
          <p:cNvSpPr txBox="1"/>
          <p:nvPr/>
        </p:nvSpPr>
        <p:spPr>
          <a:xfrm>
            <a:off x="528422" y="958882"/>
            <a:ext cx="28445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escucharon la radio en un momento dado sin importar el canal.</a:t>
            </a:r>
          </a:p>
        </p:txBody>
      </p:sp>
      <p:sp>
        <p:nvSpPr>
          <p:cNvPr id="228" name="ANUARIO_ANEXO_P122_L004"/>
          <p:cNvSpPr txBox="1"/>
          <p:nvPr/>
        </p:nvSpPr>
        <p:spPr>
          <a:xfrm>
            <a:off x="528422" y="1151784"/>
            <a:ext cx="41277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Disponibilidad y Uso de las Tecnologías de la Información en los Hogares </a:t>
            </a:r>
          </a:p>
        </p:txBody>
      </p:sp>
      <p:sp>
        <p:nvSpPr>
          <p:cNvPr id="229" name="ANUARIO_ANEXO_P122_L005"/>
          <p:cNvSpPr txBox="1"/>
          <p:nvPr/>
        </p:nvSpPr>
        <p:spPr>
          <a:xfrm>
            <a:off x="528422" y="1259926"/>
            <a:ext cx="41279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(ENDUTIH):</a:t>
            </a:r>
            <a:r>
              <a:rPr sz="640" b="0" i="0">
                <a:solidFill>
                  <a:srgbClr val="1F3031"/>
                </a:solidFill>
                <a:latin typeface="Noto Sans"/>
              </a:rPr>
              <a:t> Encuesta que tiene como objetivo generar información estadística que permita conocer </a:t>
            </a:r>
          </a:p>
        </p:txBody>
      </p:sp>
      <p:sp>
        <p:nvSpPr>
          <p:cNvPr id="230" name="ANUARIO_ANEXO_P122_L006"/>
          <p:cNvSpPr txBox="1"/>
          <p:nvPr/>
        </p:nvSpPr>
        <p:spPr>
          <a:xfrm>
            <a:off x="528422" y="1368753"/>
            <a:ext cx="412826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disponibilidad y el uso de las Tecnologías de la Información y la Comunicación en los hogares y </a:t>
            </a:r>
          </a:p>
        </p:txBody>
      </p:sp>
      <p:sp>
        <p:nvSpPr>
          <p:cNvPr id="231" name="ANUARIO_ANEXO_P122_L007"/>
          <p:cNvSpPr txBox="1"/>
          <p:nvPr/>
        </p:nvSpPr>
        <p:spPr>
          <a:xfrm>
            <a:off x="528422" y="1476895"/>
            <a:ext cx="410770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los individuos de seis años o más en México. Disponible en: </a:t>
            </a:r>
            <a:r>
              <a:rPr sz="640" b="0" i="0">
                <a:solidFill>
                  <a:srgbClr val="0563C1"/>
                </a:solidFill>
                <a:latin typeface="Noto Sans"/>
                <a:hlinkClick r:id="rId2"/>
              </a:rPr>
              <a:t>https://www.inegi.org.mx/programas/</a:t>
            </a:r>
          </a:p>
        </p:txBody>
      </p:sp>
      <p:sp>
        <p:nvSpPr>
          <p:cNvPr id="232" name="ANUARIO_ANEXO_P122_L008"/>
          <p:cNvSpPr txBox="1"/>
          <p:nvPr/>
        </p:nvSpPr>
        <p:spPr>
          <a:xfrm>
            <a:off x="528422" y="1585038"/>
            <a:ext cx="614465"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endutih/2025/</a:t>
            </a:r>
            <a:r>
              <a:rPr sz="640" b="0" i="0">
                <a:solidFill>
                  <a:srgbClr val="1F3031"/>
                </a:solidFill>
                <a:latin typeface="Noto Sans"/>
              </a:rPr>
              <a:t>.</a:t>
            </a:r>
          </a:p>
        </p:txBody>
      </p:sp>
      <p:sp>
        <p:nvSpPr>
          <p:cNvPr id="233" name="ANUARIO_ANEXO_P122_L009"/>
          <p:cNvSpPr txBox="1"/>
          <p:nvPr/>
        </p:nvSpPr>
        <p:spPr>
          <a:xfrm>
            <a:off x="528422" y="1777939"/>
            <a:ext cx="412808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Ingresos y Gastos de los Hogares (ENIGH):</a:t>
            </a:r>
            <a:r>
              <a:rPr sz="640" b="0" i="0">
                <a:solidFill>
                  <a:srgbClr val="1F3031"/>
                </a:solidFill>
                <a:latin typeface="Noto Sans"/>
              </a:rPr>
              <a:t> Encuesta cuyo objetivo es </a:t>
            </a:r>
          </a:p>
        </p:txBody>
      </p:sp>
      <p:sp>
        <p:nvSpPr>
          <p:cNvPr id="234" name="ANUARIO_ANEXO_P122_L010"/>
          <p:cNvSpPr txBox="1"/>
          <p:nvPr/>
        </p:nvSpPr>
        <p:spPr>
          <a:xfrm>
            <a:off x="528422" y="1886765"/>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proporcionar un panorama estadístico del comportamiento de los ingresos y gastos de los hogares </a:t>
            </a:r>
          </a:p>
        </p:txBody>
      </p:sp>
      <p:sp>
        <p:nvSpPr>
          <p:cNvPr id="235" name="ANUARIO_ANEXO_P122_L011"/>
          <p:cNvSpPr txBox="1"/>
          <p:nvPr/>
        </p:nvSpPr>
        <p:spPr>
          <a:xfrm>
            <a:off x="528422" y="1994908"/>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en cuanto a su monto, procedencia y distribución; adicionalmente, ofrece información sobre </a:t>
            </a:r>
          </a:p>
        </p:txBody>
      </p:sp>
      <p:sp>
        <p:nvSpPr>
          <p:cNvPr id="236" name="ANUARIO_ANEXO_P122_L012"/>
          <p:cNvSpPr txBox="1"/>
          <p:nvPr/>
        </p:nvSpPr>
        <p:spPr>
          <a:xfrm>
            <a:off x="528422" y="2103051"/>
            <a:ext cx="41281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características ocupacionales y sociodemográficas de los integrantes del hogar, así como las </a:t>
            </a:r>
          </a:p>
        </p:txBody>
      </p:sp>
      <p:sp>
        <p:nvSpPr>
          <p:cNvPr id="237" name="ANUARIO_ANEXO_P122_L013"/>
          <p:cNvSpPr txBox="1"/>
          <p:nvPr/>
        </p:nvSpPr>
        <p:spPr>
          <a:xfrm>
            <a:off x="528422" y="2211195"/>
            <a:ext cx="41077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características de la infraestructura de la vivienda y el equipamiento del hogar. Disponible en: </a:t>
            </a:r>
            <a:r>
              <a:rPr sz="640" b="0" i="0">
                <a:solidFill>
                  <a:srgbClr val="0563C1"/>
                </a:solidFill>
                <a:latin typeface="Noto Sans"/>
              </a:rPr>
              <a:t>https://</a:t>
            </a:r>
          </a:p>
        </p:txBody>
      </p:sp>
      <p:sp>
        <p:nvSpPr>
          <p:cNvPr id="238" name="ANUARIO_ANEXO_P122_L014"/>
          <p:cNvSpPr txBox="1"/>
          <p:nvPr/>
        </p:nvSpPr>
        <p:spPr>
          <a:xfrm>
            <a:off x="528422" y="2319337"/>
            <a:ext cx="1951037"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www.inegi.org.mx/programas/enigh/nc/2024/</a:t>
            </a:r>
            <a:r>
              <a:rPr sz="640" b="0" i="0">
                <a:solidFill>
                  <a:srgbClr val="1F3031"/>
                </a:solidFill>
                <a:latin typeface="Noto Sans"/>
              </a:rPr>
              <a:t>.</a:t>
            </a:r>
          </a:p>
        </p:txBody>
      </p:sp>
      <p:sp>
        <p:nvSpPr>
          <p:cNvPr id="239" name="ANUARIO_ANEXO_P122_L015"/>
          <p:cNvSpPr txBox="1"/>
          <p:nvPr/>
        </p:nvSpPr>
        <p:spPr>
          <a:xfrm>
            <a:off x="528422" y="2512238"/>
            <a:ext cx="412820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Encuesta Nacional de Ocupación y Empleo (ENOE):</a:t>
            </a:r>
            <a:r>
              <a:rPr sz="640" b="0" i="0">
                <a:solidFill>
                  <a:srgbClr val="1F3031"/>
                </a:solidFill>
                <a:latin typeface="Noto Sans"/>
              </a:rPr>
              <a:t> Encuesta con el objetivo de proporcionar </a:t>
            </a:r>
          </a:p>
        </p:txBody>
      </p:sp>
      <p:sp>
        <p:nvSpPr>
          <p:cNvPr id="240" name="ANUARIO_ANEXO_P122_L016"/>
          <p:cNvSpPr txBox="1"/>
          <p:nvPr/>
        </p:nvSpPr>
        <p:spPr>
          <a:xfrm>
            <a:off x="528422" y="2621064"/>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mercado laboral mexicano al ofrecer datos mensuales y trimestrales de la fuerza </a:t>
            </a:r>
          </a:p>
        </p:txBody>
      </p:sp>
      <p:sp>
        <p:nvSpPr>
          <p:cNvPr id="241" name="ANUARIO_ANEXO_P122_L017"/>
          <p:cNvSpPr txBox="1"/>
          <p:nvPr/>
        </p:nvSpPr>
        <p:spPr>
          <a:xfrm>
            <a:off x="528422" y="2729208"/>
            <a:ext cx="41278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trabajo, la ocupación, la informalidad laboral, la subocupación y la desocupación. Disponible en: </a:t>
            </a:r>
          </a:p>
        </p:txBody>
      </p:sp>
      <p:sp>
        <p:nvSpPr>
          <p:cNvPr id="242" name="ANUARIO_ANEXO_P122_L018"/>
          <p:cNvSpPr txBox="1"/>
          <p:nvPr/>
        </p:nvSpPr>
        <p:spPr>
          <a:xfrm>
            <a:off x="528422" y="2837351"/>
            <a:ext cx="2207390"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hlinkClick r:id="rId3"/>
              </a:rPr>
              <a:t>https://www.inegi.org.mx/programas/enoe/15ymas/</a:t>
            </a:r>
            <a:r>
              <a:rPr sz="640" b="0" i="0">
                <a:solidFill>
                  <a:srgbClr val="1F3031"/>
                </a:solidFill>
                <a:latin typeface="Noto Sans"/>
              </a:rPr>
              <a:t>. </a:t>
            </a:r>
          </a:p>
        </p:txBody>
      </p:sp>
      <p:sp>
        <p:nvSpPr>
          <p:cNvPr id="243" name="ANUARIO_ANEXO_P122_L019"/>
          <p:cNvSpPr txBox="1"/>
          <p:nvPr/>
        </p:nvSpPr>
        <p:spPr>
          <a:xfrm>
            <a:off x="528422" y="3030251"/>
            <a:ext cx="41286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Equipo terminal:</a:t>
            </a:r>
            <a:r>
              <a:rPr sz="640" b="0" i="0">
                <a:solidFill>
                  <a:srgbClr val="1F3031"/>
                </a:solidFill>
                <a:latin typeface="Noto Sans"/>
              </a:rPr>
              <a:t> Dispositivo que utiliza el usuario final para conectarse a una Red Pública de </a:t>
            </a:r>
          </a:p>
        </p:txBody>
      </p:sp>
      <p:sp>
        <p:nvSpPr>
          <p:cNvPr id="244" name="ANUARIO_ANEXO_P122_L020"/>
          <p:cNvSpPr txBox="1"/>
          <p:nvPr/>
        </p:nvSpPr>
        <p:spPr>
          <a:xfrm>
            <a:off x="528422" y="3139078"/>
            <a:ext cx="41281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con el propósito de obtener un Acceso y/o recibir uno o más servicios de </a:t>
            </a:r>
          </a:p>
        </p:txBody>
      </p:sp>
      <p:sp>
        <p:nvSpPr>
          <p:cNvPr id="245" name="ANUARIO_ANEXO_P122_L021"/>
          <p:cNvSpPr txBox="1"/>
          <p:nvPr/>
        </p:nvSpPr>
        <p:spPr>
          <a:xfrm>
            <a:off x="528422" y="3247221"/>
            <a:ext cx="93551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a:t>
            </a:r>
          </a:p>
        </p:txBody>
      </p:sp>
      <p:sp>
        <p:nvSpPr>
          <p:cNvPr id="246" name="ANUARIO_ANEXO_P122_L022"/>
          <p:cNvSpPr txBox="1"/>
          <p:nvPr/>
        </p:nvSpPr>
        <p:spPr>
          <a:xfrm>
            <a:off x="528422" y="3440121"/>
            <a:ext cx="18801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a:t>
            </a:r>
          </a:p>
        </p:txBody>
      </p:sp>
      <p:sp>
        <p:nvSpPr>
          <p:cNvPr id="247" name="ANUARIO_ANEXO_P122_L023"/>
          <p:cNvSpPr txBox="1"/>
          <p:nvPr/>
        </p:nvSpPr>
        <p:spPr>
          <a:xfrm>
            <a:off x="528422" y="3633706"/>
            <a:ext cx="412851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Género:</a:t>
            </a:r>
            <a:r>
              <a:rPr sz="640" b="0" i="0">
                <a:solidFill>
                  <a:srgbClr val="1F3031"/>
                </a:solidFill>
                <a:latin typeface="Noto Sans"/>
              </a:rPr>
              <a:t> El Género de Programa es una etiqueta que incluye como referencia Nielsen IBOPE en sus </a:t>
            </a:r>
          </a:p>
        </p:txBody>
      </p:sp>
      <p:sp>
        <p:nvSpPr>
          <p:cNvPr id="248" name="ANUARIO_ANEXO_P122_L024"/>
          <p:cNvSpPr txBox="1"/>
          <p:nvPr/>
        </p:nvSpPr>
        <p:spPr>
          <a:xfrm>
            <a:off x="528422" y="3742533"/>
            <a:ext cx="252932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bases de datos, con el propósito de clasificar los programas.</a:t>
            </a:r>
          </a:p>
        </p:txBody>
      </p:sp>
      <p:sp>
        <p:nvSpPr>
          <p:cNvPr id="249" name="ANUARIO_ANEXO_P122_L025"/>
          <p:cNvSpPr txBox="1"/>
          <p:nvPr/>
        </p:nvSpPr>
        <p:spPr>
          <a:xfrm>
            <a:off x="528422" y="3935433"/>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Gobierno:</a:t>
            </a:r>
            <a:r>
              <a:rPr sz="640" b="0" i="0">
                <a:solidFill>
                  <a:srgbClr val="1F3031"/>
                </a:solidFill>
                <a:latin typeface="Noto Sans"/>
              </a:rPr>
              <a:t> La LFTR ordena a los medios electrónicos de comunicación la transmisión gratuita diaria </a:t>
            </a:r>
          </a:p>
        </p:txBody>
      </p:sp>
      <p:sp>
        <p:nvSpPr>
          <p:cNvPr id="250" name="ANUARIO_ANEXO_P122_L026"/>
          <p:cNvSpPr txBox="1"/>
          <p:nvPr/>
        </p:nvSpPr>
        <p:spPr>
          <a:xfrm>
            <a:off x="528422" y="4044260"/>
            <a:ext cx="412827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duración de hasta 30 minutos continuos o discontinuos de programas dedicados a difundir </a:t>
            </a:r>
          </a:p>
        </p:txBody>
      </p:sp>
      <p:sp>
        <p:nvSpPr>
          <p:cNvPr id="251" name="ANUARIO_ANEXO_P122_L027"/>
          <p:cNvSpPr txBox="1"/>
          <p:nvPr/>
        </p:nvSpPr>
        <p:spPr>
          <a:xfrm>
            <a:off x="528422" y="4152403"/>
            <a:ext cx="41285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temas educativos, culturales y de orientación social. Todas las estaciones de radio y televisión en el </a:t>
            </a:r>
          </a:p>
        </p:txBody>
      </p:sp>
      <p:sp>
        <p:nvSpPr>
          <p:cNvPr id="252" name="ANUARIO_ANEXO_P122_L028"/>
          <p:cNvSpPr txBox="1"/>
          <p:nvPr/>
        </p:nvSpPr>
        <p:spPr>
          <a:xfrm>
            <a:off x="528422" y="4260546"/>
            <a:ext cx="41280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país estarán obligadas a encadenarse cuando se trate de transmitir informaciones de trascendencia </a:t>
            </a:r>
          </a:p>
        </p:txBody>
      </p:sp>
      <p:sp>
        <p:nvSpPr>
          <p:cNvPr id="253" name="ANUARIO_ANEXO_P122_L029"/>
          <p:cNvSpPr txBox="1"/>
          <p:nvPr/>
        </p:nvSpPr>
        <p:spPr>
          <a:xfrm>
            <a:off x="528422" y="4368689"/>
            <a:ext cx="23733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para la Nación, a juicio de la Secretaría de Gobernación.</a:t>
            </a:r>
          </a:p>
        </p:txBody>
      </p:sp>
      <p:sp>
        <p:nvSpPr>
          <p:cNvPr id="254" name="ANUARIO_ANEXO_P122_L030"/>
          <p:cNvSpPr txBox="1"/>
          <p:nvPr/>
        </p:nvSpPr>
        <p:spPr>
          <a:xfrm>
            <a:off x="4647536" y="656471"/>
            <a:ext cx="146227"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a:t>
            </a:r>
          </a:p>
        </p:txBody>
      </p:sp>
      <p:sp>
        <p:nvSpPr>
          <p:cNvPr id="255" name="ANUARIO_ANEXO_P122_L031"/>
          <p:cNvSpPr txBox="1"/>
          <p:nvPr/>
        </p:nvSpPr>
        <p:spPr>
          <a:xfrm>
            <a:off x="4647536" y="873048"/>
            <a:ext cx="412816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Herfindahl- Hirschman (IHH):</a:t>
            </a:r>
            <a:r>
              <a:rPr sz="640" b="0" i="0">
                <a:solidFill>
                  <a:srgbClr val="1F3031"/>
                </a:solidFill>
                <a:latin typeface="Noto Sans"/>
              </a:rPr>
              <a:t> Este índice se calcula a partir de las participaciones de los </a:t>
            </a:r>
          </a:p>
        </p:txBody>
      </p:sp>
      <p:sp>
        <p:nvSpPr>
          <p:cNvPr id="256" name="ANUARIO_ANEXO_P122_L032"/>
          <p:cNvSpPr txBox="1"/>
          <p:nvPr/>
        </p:nvSpPr>
        <p:spPr>
          <a:xfrm>
            <a:off x="4647536" y="983506"/>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agentes económicos en los mercados relevantes y/o relacionados. El IHH aumenta cuando el número </a:t>
            </a:r>
          </a:p>
        </p:txBody>
      </p:sp>
      <p:sp>
        <p:nvSpPr>
          <p:cNvPr id="257" name="ANUARIO_ANEXO_P122_L033"/>
          <p:cNvSpPr txBox="1"/>
          <p:nvPr/>
        </p:nvSpPr>
        <p:spPr>
          <a:xfrm>
            <a:off x="4647536" y="1093282"/>
            <a:ext cx="41279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empresas disminuye. Esta característica implica que cualquier fusión o adquisición completa entre </a:t>
            </a:r>
          </a:p>
        </p:txBody>
      </p:sp>
      <p:sp>
        <p:nvSpPr>
          <p:cNvPr id="258" name="ANUARIO_ANEXO_P122_L034"/>
          <p:cNvSpPr txBox="1"/>
          <p:nvPr/>
        </p:nvSpPr>
        <p:spPr>
          <a:xfrm>
            <a:off x="4647536" y="1203056"/>
            <a:ext cx="41284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dos o más empresas se ve reflejada en un valor más alto del IHH. Entre más pequeño sea el número de </a:t>
            </a:r>
          </a:p>
        </p:txBody>
      </p:sp>
      <p:sp>
        <p:nvSpPr>
          <p:cNvPr id="259" name="ANUARIO_ANEXO_P122_L035"/>
          <p:cNvSpPr txBox="1"/>
          <p:nvPr/>
        </p:nvSpPr>
        <p:spPr>
          <a:xfrm>
            <a:off x="4647536" y="1312831"/>
            <a:ext cx="41263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participantes, es más probable que las variaciones en el número de participantes o de las participaciones, </a:t>
            </a:r>
          </a:p>
        </p:txBody>
      </p:sp>
      <p:sp>
        <p:nvSpPr>
          <p:cNvPr id="260" name="ANUARIO_ANEXO_P122_L036"/>
          <p:cNvSpPr txBox="1"/>
          <p:nvPr/>
        </p:nvSpPr>
        <p:spPr>
          <a:xfrm>
            <a:off x="4647536" y="1422606"/>
            <a:ext cx="41278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modifiquen las condiciones de competencia para el resto de los agentes económicos. Este indicador </a:t>
            </a:r>
          </a:p>
        </p:txBody>
      </p:sp>
      <p:sp>
        <p:nvSpPr>
          <p:cNvPr id="261" name="ANUARIO_ANEXO_P122_L037"/>
          <p:cNvSpPr txBox="1"/>
          <p:nvPr/>
        </p:nvSpPr>
        <p:spPr>
          <a:xfrm>
            <a:off x="4647536" y="1532381"/>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fue calculado conforme a la metodología establecida por el IFT en el ACUERDO MEDIANTE EL </a:t>
            </a:r>
          </a:p>
        </p:txBody>
      </p:sp>
      <p:sp>
        <p:nvSpPr>
          <p:cNvPr id="262" name="ANUARIO_ANEXO_P122_L038"/>
          <p:cNvSpPr txBox="1"/>
          <p:nvPr/>
        </p:nvSpPr>
        <p:spPr>
          <a:xfrm>
            <a:off x="4647536" y="1642156"/>
            <a:ext cx="41279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CUAL EL PLENO DEL INSTITUTO FEDERAL DE TELECOMUNICACIONES MODIFICA EL CRITERIO </a:t>
            </a:r>
          </a:p>
        </p:txBody>
      </p:sp>
      <p:sp>
        <p:nvSpPr>
          <p:cNvPr id="263" name="ANUARIO_ANEXO_P122_L039"/>
          <p:cNvSpPr txBox="1"/>
          <p:nvPr/>
        </p:nvSpPr>
        <p:spPr>
          <a:xfrm>
            <a:off x="4647536" y="1751930"/>
            <a:ext cx="41284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TÉCNICO PARA EL CÁLCULO Y APLICACIÓN DE UN ÍNDICE CUANTITATIVO A FIN DE DETERMINAR </a:t>
            </a:r>
          </a:p>
        </p:txBody>
      </p:sp>
      <p:sp>
        <p:nvSpPr>
          <p:cNvPr id="264" name="ANUARIO_ANEXO_P122_L040"/>
          <p:cNvSpPr txBox="1"/>
          <p:nvPr/>
        </p:nvSpPr>
        <p:spPr>
          <a:xfrm>
            <a:off x="4647536" y="1861705"/>
            <a:ext cx="41284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GRADO DE CONCENTRACIÓN EN LOS MERCADOS Y SERVICIOS CORRESPONDIENTES A LOS </a:t>
            </a:r>
          </a:p>
        </p:txBody>
      </p:sp>
      <p:sp>
        <p:nvSpPr>
          <p:cNvPr id="265" name="ANUARIO_ANEXO_P122_L041"/>
          <p:cNvSpPr txBox="1"/>
          <p:nvPr/>
        </p:nvSpPr>
        <p:spPr>
          <a:xfrm>
            <a:off x="4647536" y="1971480"/>
            <a:ext cx="41077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SECTORES DE TELECOMUNICACIONES Y RADIODIFUSIÓN. Disponible en: </a:t>
            </a:r>
            <a:r>
              <a:rPr sz="640" b="0" i="0">
                <a:solidFill>
                  <a:srgbClr val="0563C1"/>
                </a:solidFill>
                <a:latin typeface="Noto Sans"/>
                <a:hlinkClick r:id="rId4"/>
              </a:rPr>
              <a:t>https://www.dof.gob.</a:t>
            </a:r>
          </a:p>
        </p:txBody>
      </p:sp>
      <p:sp>
        <p:nvSpPr>
          <p:cNvPr id="266" name="ANUARIO_ANEXO_P122_L042"/>
          <p:cNvSpPr txBox="1"/>
          <p:nvPr/>
        </p:nvSpPr>
        <p:spPr>
          <a:xfrm>
            <a:off x="4647537" y="2081255"/>
            <a:ext cx="2992121" cy="144446"/>
          </a:xfrm>
          <a:prstGeom prst="rect">
            <a:avLst/>
          </a:prstGeom>
          <a:noFill/>
        </p:spPr>
        <p:txBody>
          <a:bodyPr wrap="none" lIns="0" rIns="0" tIns="0" bIns="0">
            <a:noAutofit/>
          </a:bodyPr>
          <a:lstStyle/>
          <a:p>
            <a:pPr>
              <a:spcBef>
                <a:spcPts val="0"/>
              </a:spcBef>
              <a:spcAft>
                <a:spcPts val="0"/>
              </a:spcAft>
            </a:pPr>
            <a:r>
              <a:rPr sz="640" b="0" i="0">
                <a:solidFill>
                  <a:srgbClr val="0563C1"/>
                </a:solidFill>
                <a:latin typeface="Noto Sans"/>
              </a:rPr>
              <a:t>mx/nota_detalle.php?codigo=5645045&amp;fecha=09/03/2022#gsc.tab=0</a:t>
            </a:r>
            <a:r>
              <a:rPr sz="640" b="0" i="0">
                <a:solidFill>
                  <a:srgbClr val="1F3031"/>
                </a:solidFill>
                <a:latin typeface="Noto Sans"/>
              </a:rPr>
              <a:t>.</a:t>
            </a:r>
          </a:p>
        </p:txBody>
      </p:sp>
      <p:sp>
        <p:nvSpPr>
          <p:cNvPr id="267" name="ANUARIO_ANEXO_P122_L043"/>
          <p:cNvSpPr txBox="1"/>
          <p:nvPr/>
        </p:nvSpPr>
        <p:spPr>
          <a:xfrm>
            <a:off x="4647537" y="2297148"/>
            <a:ext cx="41282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Índice Nacional de Precios al Consumidor (INPC):</a:t>
            </a:r>
            <a:r>
              <a:rPr sz="640" b="0" i="0">
                <a:solidFill>
                  <a:srgbClr val="1F3031"/>
                </a:solidFill>
                <a:latin typeface="Noto Sans"/>
              </a:rPr>
              <a:t> Indicador económico cuya finalidad es la de medir </a:t>
            </a:r>
          </a:p>
        </p:txBody>
      </p:sp>
      <p:sp>
        <p:nvSpPr>
          <p:cNvPr id="268" name="ANUARIO_ANEXO_P122_L044"/>
          <p:cNvSpPr txBox="1"/>
          <p:nvPr/>
        </p:nvSpPr>
        <p:spPr>
          <a:xfrm>
            <a:off x="4647537" y="2407606"/>
            <a:ext cx="41281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través del tiempo la variación de los precios de una canasta fija de bienes y servicios representativa </a:t>
            </a:r>
          </a:p>
        </p:txBody>
      </p:sp>
      <p:sp>
        <p:nvSpPr>
          <p:cNvPr id="269" name="ANUARIO_ANEXO_P122_L045"/>
          <p:cNvSpPr txBox="1"/>
          <p:nvPr/>
        </p:nvSpPr>
        <p:spPr>
          <a:xfrm>
            <a:off x="4647537" y="2517381"/>
            <a:ext cx="412859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consumo de los hogares. El INPC se presenta en este estudio con precios en base diciembre de </a:t>
            </a:r>
          </a:p>
        </p:txBody>
      </p:sp>
      <p:sp>
        <p:nvSpPr>
          <p:cNvPr id="270" name="ANUARIO_ANEXO_P122_L046"/>
          <p:cNvSpPr txBox="1"/>
          <p:nvPr/>
        </p:nvSpPr>
        <p:spPr>
          <a:xfrm>
            <a:off x="4647537" y="2627156"/>
            <a:ext cx="41283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2013. Para más información sobre los ponderadores de los servicios de telecomunicaciones dentro </a:t>
            </a:r>
          </a:p>
        </p:txBody>
      </p:sp>
      <p:sp>
        <p:nvSpPr>
          <p:cNvPr id="271" name="ANUARIO_ANEXO_P122_L047"/>
          <p:cNvSpPr txBox="1"/>
          <p:nvPr/>
        </p:nvSpPr>
        <p:spPr>
          <a:xfrm>
            <a:off x="4647537" y="2736931"/>
            <a:ext cx="41282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INPC y los índices de los servicios que integran el Índice de Precios de Comunicaciones, consultar </a:t>
            </a:r>
          </a:p>
        </p:txBody>
      </p:sp>
      <p:sp>
        <p:nvSpPr>
          <p:cNvPr id="272" name="ANUARIO_ANEXO_P122_L048"/>
          <p:cNvSpPr txBox="1"/>
          <p:nvPr/>
        </p:nvSpPr>
        <p:spPr>
          <a:xfrm>
            <a:off x="4647537" y="2846705"/>
            <a:ext cx="10961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Anexo III. Metodologías.</a:t>
            </a:r>
          </a:p>
        </p:txBody>
      </p:sp>
      <p:sp>
        <p:nvSpPr>
          <p:cNvPr id="273" name="ANUARIO_ANEXO_P122_L049"/>
          <p:cNvSpPr txBox="1"/>
          <p:nvPr/>
        </p:nvSpPr>
        <p:spPr>
          <a:xfrm>
            <a:off x="4647537" y="3062598"/>
            <a:ext cx="41282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Infantil:</a:t>
            </a:r>
            <a:r>
              <a:rPr sz="640" b="0" i="0">
                <a:solidFill>
                  <a:srgbClr val="1F3031"/>
                </a:solidFill>
                <a:latin typeface="Noto Sans"/>
              </a:rPr>
              <a:t> Son programas enfocados directamente a los niños, aunque no excluyen a un auditorio </a:t>
            </a:r>
          </a:p>
        </p:txBody>
      </p:sp>
      <p:sp>
        <p:nvSpPr>
          <p:cNvPr id="274" name="ANUARIO_ANEXO_P122_L050"/>
          <p:cNvSpPr txBox="1"/>
          <p:nvPr/>
        </p:nvSpPr>
        <p:spPr>
          <a:xfrm>
            <a:off x="4647537" y="3173057"/>
            <a:ext cx="41284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adulto. Estas producciones generalmente no comprenden caricaturas, ya que su tendencia es </a:t>
            </a:r>
          </a:p>
        </p:txBody>
      </p:sp>
      <p:sp>
        <p:nvSpPr>
          <p:cNvPr id="275" name="ANUARIO_ANEXO_P122_L051"/>
          <p:cNvSpPr txBox="1"/>
          <p:nvPr/>
        </p:nvSpPr>
        <p:spPr>
          <a:xfrm>
            <a:off x="4647537" y="3282832"/>
            <a:ext cx="412859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didáctica y se estructuran a partir del uso de lenguaje sencillo, en función de la edad del auditorio </a:t>
            </a:r>
          </a:p>
        </p:txBody>
      </p:sp>
      <p:sp>
        <p:nvSpPr>
          <p:cNvPr id="276" name="ANUARIO_ANEXO_P122_L052"/>
          <p:cNvSpPr txBox="1"/>
          <p:nvPr/>
        </p:nvSpPr>
        <p:spPr>
          <a:xfrm>
            <a:off x="4647537" y="3392607"/>
            <a:ext cx="37486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objetivo. En ocasiones, la conducción recae en niños para lograr una mayor identificación.</a:t>
            </a:r>
          </a:p>
        </p:txBody>
      </p:sp>
      <p:sp>
        <p:nvSpPr>
          <p:cNvPr id="277" name="ANUARIO_ANEXO_P122_L053"/>
          <p:cNvSpPr txBox="1"/>
          <p:nvPr/>
        </p:nvSpPr>
        <p:spPr>
          <a:xfrm>
            <a:off x="4647537" y="3608500"/>
            <a:ext cx="412876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Ingresos:</a:t>
            </a:r>
            <a:r>
              <a:rPr sz="640" b="0" i="0">
                <a:solidFill>
                  <a:srgbClr val="1F3031"/>
                </a:solidFill>
                <a:latin typeface="Noto Sans"/>
              </a:rPr>
              <a:t> Es la suma de los ingresos en pesos corrientes recibidos por cada operador por la prestación </a:t>
            </a:r>
          </a:p>
        </p:txBody>
      </p:sp>
      <p:sp>
        <p:nvSpPr>
          <p:cNvPr id="278" name="ANUARIO_ANEXO_P122_L054"/>
          <p:cNvSpPr txBox="1"/>
          <p:nvPr/>
        </p:nvSpPr>
        <p:spPr>
          <a:xfrm>
            <a:off x="4647537" y="3718959"/>
            <a:ext cx="215516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servicios de telecomunicaciones. Comprenden:</a:t>
            </a:r>
          </a:p>
        </p:txBody>
      </p:sp>
      <p:sp>
        <p:nvSpPr>
          <p:cNvPr id="279" name="ANUARIO_ANEXO_P122_L055"/>
          <p:cNvSpPr txBox="1"/>
          <p:nvPr/>
        </p:nvSpPr>
        <p:spPr>
          <a:xfrm>
            <a:off x="4814610" y="3934851"/>
            <a:ext cx="275814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1. </a:t>
            </a:r>
            <a:r>
              <a:rPr sz="640" b="0" i="0">
                <a:solidFill>
                  <a:srgbClr val="1F3031"/>
                </a:solidFill>
                <a:latin typeface="Noto Sans"/>
              </a:rPr>
              <a:t>Ingresos por venta o renta de equipos de telecomunicaciones. </a:t>
            </a:r>
          </a:p>
        </p:txBody>
      </p:sp>
      <p:sp>
        <p:nvSpPr>
          <p:cNvPr id="280" name="ANUARIO_ANEXO_P122_L056"/>
          <p:cNvSpPr txBox="1"/>
          <p:nvPr/>
        </p:nvSpPr>
        <p:spPr>
          <a:xfrm>
            <a:off x="4814610" y="4151428"/>
            <a:ext cx="396132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2. </a:t>
            </a:r>
            <a:r>
              <a:rPr sz="640" b="0" i="0">
                <a:solidFill>
                  <a:srgbClr val="1F3031"/>
                </a:solidFill>
                <a:latin typeface="Noto Sans"/>
              </a:rPr>
              <a:t> Ingresos por instalación y mantenimiento para servicios considerados de telecomunicaciones. </a:t>
            </a:r>
          </a:p>
        </p:txBody>
      </p:sp>
      <p:sp>
        <p:nvSpPr>
          <p:cNvPr id="281" name="ANUARIO_ANEXO_P122_L057"/>
          <p:cNvSpPr txBox="1"/>
          <p:nvPr/>
        </p:nvSpPr>
        <p:spPr>
          <a:xfrm>
            <a:off x="4814610" y="4368005"/>
            <a:ext cx="311456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3. </a:t>
            </a:r>
            <a:r>
              <a:rPr sz="640" b="0" i="0">
                <a:solidFill>
                  <a:srgbClr val="1F3031"/>
                </a:solidFill>
                <a:latin typeface="Noto Sans"/>
              </a:rPr>
              <a:t> Ingresos por servicios considerados minoristas de telecomunicaciones. </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123</a:t>
            </a:r>
          </a:p>
        </p:txBody>
      </p:sp>
      <p:sp>
        <p:nvSpPr>
          <p:cNvPr id="225" name="ANUARIO_ANEXO_P123_L001"/>
          <p:cNvSpPr txBox="1"/>
          <p:nvPr/>
        </p:nvSpPr>
        <p:spPr>
          <a:xfrm>
            <a:off x="695494" y="656471"/>
            <a:ext cx="312899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Ingresos por servicios considerados mayoristas de telecomunicaciones. </a:t>
            </a:r>
          </a:p>
        </p:txBody>
      </p:sp>
      <p:sp>
        <p:nvSpPr>
          <p:cNvPr id="226" name="ANUARIO_ANEXO_P123_L002"/>
          <p:cNvSpPr txBox="1"/>
          <p:nvPr/>
        </p:nvSpPr>
        <p:spPr>
          <a:xfrm>
            <a:off x="695494" y="874823"/>
            <a:ext cx="237730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 </a:t>
            </a:r>
            <a:r>
              <a:rPr sz="592" b="0" i="0">
                <a:solidFill>
                  <a:srgbClr val="1F3031"/>
                </a:solidFill>
                <a:latin typeface="Noto Sans"/>
              </a:rPr>
              <a:t> Ingresos minoristas por servicio </a:t>
            </a:r>
            <a:r>
              <a:rPr sz="592" b="0" i="1">
                <a:solidFill>
                  <a:srgbClr val="1F3031"/>
                </a:solidFill>
                <a:latin typeface="Noto Sans"/>
              </a:rPr>
              <a:t>Over The Top</a:t>
            </a:r>
            <a:r>
              <a:rPr sz="592" b="0" i="0">
                <a:solidFill>
                  <a:srgbClr val="1F3031"/>
                </a:solidFill>
                <a:latin typeface="Noto Sans"/>
              </a:rPr>
              <a:t> (OTT). </a:t>
            </a:r>
          </a:p>
        </p:txBody>
      </p:sp>
      <p:sp>
        <p:nvSpPr>
          <p:cNvPr id="227" name="ANUARIO_ANEXO_P123_L003"/>
          <p:cNvSpPr txBox="1"/>
          <p:nvPr/>
        </p:nvSpPr>
        <p:spPr>
          <a:xfrm>
            <a:off x="695494" y="1093174"/>
            <a:ext cx="241427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6. </a:t>
            </a:r>
            <a:r>
              <a:rPr sz="592" b="0" i="0">
                <a:solidFill>
                  <a:srgbClr val="1F3031"/>
                </a:solidFill>
                <a:latin typeface="Noto Sans"/>
              </a:rPr>
              <a:t> Ingresos mayoristas por servicios Over The Top (OTT).</a:t>
            </a:r>
          </a:p>
        </p:txBody>
      </p:sp>
      <p:sp>
        <p:nvSpPr>
          <p:cNvPr id="228" name="ANUARIO_ANEXO_P123_L004"/>
          <p:cNvSpPr txBox="1"/>
          <p:nvPr/>
        </p:nvSpPr>
        <p:spPr>
          <a:xfrm>
            <a:off x="695494" y="1311525"/>
            <a:ext cx="13606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7. </a:t>
            </a:r>
            <a:r>
              <a:rPr sz="592" b="0" i="0">
                <a:solidFill>
                  <a:srgbClr val="1F3031"/>
                </a:solidFill>
                <a:latin typeface="Noto Sans"/>
              </a:rPr>
              <a:t>Ingresos por otros servicios.</a:t>
            </a:r>
          </a:p>
        </p:txBody>
      </p:sp>
      <p:sp>
        <p:nvSpPr>
          <p:cNvPr id="229" name="ANUARIO_ANEXO_P123_L005"/>
          <p:cNvSpPr txBox="1"/>
          <p:nvPr/>
        </p:nvSpPr>
        <p:spPr>
          <a:xfrm>
            <a:off x="528422" y="1530559"/>
            <a:ext cx="41278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Todos los valores de los ingresos son considerados sin IVA ni ningún otro impuesto aplicable, y con </a:t>
            </a:r>
          </a:p>
        </p:txBody>
      </p:sp>
      <p:sp>
        <p:nvSpPr>
          <p:cNvPr id="230" name="ANUARIO_ANEXO_P123_L006"/>
          <p:cNvSpPr txBox="1"/>
          <p:nvPr/>
        </p:nvSpPr>
        <p:spPr>
          <a:xfrm>
            <a:off x="528422" y="1642109"/>
            <a:ext cx="404141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descuentos y bonificaciones tarifarias que se consideren en sus Planes Tarifarios ya aplicadas. </a:t>
            </a:r>
          </a:p>
        </p:txBody>
      </p:sp>
      <p:sp>
        <p:nvSpPr>
          <p:cNvPr id="231" name="ANUARIO_ANEXO_P123_L007"/>
          <p:cNvSpPr txBox="1"/>
          <p:nvPr/>
        </p:nvSpPr>
        <p:spPr>
          <a:xfrm>
            <a:off x="528422" y="1859776"/>
            <a:ext cx="412765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Ingreso corriente:</a:t>
            </a:r>
            <a:r>
              <a:rPr sz="592" b="0" i="0">
                <a:solidFill>
                  <a:srgbClr val="1F3031"/>
                </a:solidFill>
                <a:latin typeface="Noto Sans"/>
              </a:rPr>
              <a:t> Máximo de recursos al que un hogar puede acceder de manera regular y que </a:t>
            </a:r>
          </a:p>
        </p:txBody>
      </p:sp>
      <p:sp>
        <p:nvSpPr>
          <p:cNvPr id="232" name="ANUARIO_ANEXO_P123_L008"/>
          <p:cNvSpPr txBox="1"/>
          <p:nvPr/>
        </p:nvSpPr>
        <p:spPr>
          <a:xfrm>
            <a:off x="528422" y="1972009"/>
            <a:ext cx="41278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están disponibles para su consumo de bienes y servicios en un lapso dado, manteniendo inalterado </a:t>
            </a:r>
          </a:p>
        </p:txBody>
      </p:sp>
      <p:sp>
        <p:nvSpPr>
          <p:cNvPr id="233" name="ANUARIO_ANEXO_P123_L009"/>
          <p:cNvSpPr txBox="1"/>
          <p:nvPr/>
        </p:nvSpPr>
        <p:spPr>
          <a:xfrm>
            <a:off x="528422" y="2083558"/>
            <a:ext cx="10873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patrimonio del hogar.</a:t>
            </a:r>
          </a:p>
        </p:txBody>
      </p:sp>
      <p:sp>
        <p:nvSpPr>
          <p:cNvPr id="234" name="ANUARIO_ANEXO_P123_L010"/>
          <p:cNvSpPr txBox="1"/>
          <p:nvPr/>
        </p:nvSpPr>
        <p:spPr>
          <a:xfrm>
            <a:off x="528422" y="2301225"/>
            <a:ext cx="4128426"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Inversión privada en telecomunicaciones:</a:t>
            </a:r>
            <a:r>
              <a:rPr sz="592" b="0" i="0">
                <a:solidFill>
                  <a:srgbClr val="1F3031"/>
                </a:solidFill>
                <a:latin typeface="Noto Sans"/>
              </a:rPr>
              <a:t> Es la suma de la inversión en infraestructura en pesos </a:t>
            </a:r>
          </a:p>
        </p:txBody>
      </p:sp>
      <p:sp>
        <p:nvSpPr>
          <p:cNvPr id="235" name="ANUARIO_ANEXO_P123_L011"/>
          <p:cNvSpPr txBox="1"/>
          <p:nvPr/>
        </p:nvSpPr>
        <p:spPr>
          <a:xfrm>
            <a:off x="528422" y="2413458"/>
            <a:ext cx="41282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corrientes realizada por cada uno de los operadores de servicios de telecomunicaciones y comprende </a:t>
            </a:r>
          </a:p>
        </p:txBody>
      </p:sp>
      <p:sp>
        <p:nvSpPr>
          <p:cNvPr id="236" name="ANUARIO_ANEXO_P123_L012"/>
          <p:cNvSpPr txBox="1"/>
          <p:nvPr/>
        </p:nvSpPr>
        <p:spPr>
          <a:xfrm>
            <a:off x="528422" y="2525007"/>
            <a:ext cx="6312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 siguiente: </a:t>
            </a:r>
          </a:p>
        </p:txBody>
      </p:sp>
      <p:sp>
        <p:nvSpPr>
          <p:cNvPr id="237" name="ANUARIO_ANEXO_P123_L013"/>
          <p:cNvSpPr txBox="1"/>
          <p:nvPr/>
        </p:nvSpPr>
        <p:spPr>
          <a:xfrm>
            <a:off x="695494" y="2742675"/>
            <a:ext cx="39613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 </a:t>
            </a:r>
            <a:r>
              <a:rPr sz="592" b="0" i="0">
                <a:solidFill>
                  <a:srgbClr val="1F3031"/>
                </a:solidFill>
                <a:latin typeface="Noto Sans"/>
              </a:rPr>
              <a:t>Inversión bruta en servicios de telecomunicaciones realizada para la adquisición o mejora </a:t>
            </a:r>
          </a:p>
        </p:txBody>
      </p:sp>
      <p:sp>
        <p:nvSpPr>
          <p:cNvPr id="238" name="ANUARIO_ANEXO_P123_L014"/>
          <p:cNvSpPr txBox="1"/>
          <p:nvPr/>
        </p:nvSpPr>
        <p:spPr>
          <a:xfrm>
            <a:off x="806876" y="2854908"/>
            <a:ext cx="384941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infraestructura de telecomunicaciones en el territorio nacional. Incluye la inversión en las </a:t>
            </a:r>
          </a:p>
        </p:txBody>
      </p:sp>
      <p:sp>
        <p:nvSpPr>
          <p:cNvPr id="239" name="ANUARIO_ANEXO_P123_L015"/>
          <p:cNvSpPr txBox="1"/>
          <p:nvPr/>
        </p:nvSpPr>
        <p:spPr>
          <a:xfrm>
            <a:off x="806876" y="2966457"/>
            <a:ext cx="38501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instalaciones para la operación, así como las adiciones o modificaciones a las instalaciones </a:t>
            </a:r>
          </a:p>
        </p:txBody>
      </p:sp>
      <p:sp>
        <p:nvSpPr>
          <p:cNvPr id="240" name="ANUARIO_ANEXO_P123_L016"/>
          <p:cNvSpPr txBox="1"/>
          <p:nvPr/>
        </p:nvSpPr>
        <p:spPr>
          <a:xfrm>
            <a:off x="806876" y="3078006"/>
            <a:ext cx="3849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existentes cuya utilización se prevé para un amplio periodo, por ejemplo, equipos de </a:t>
            </a:r>
          </a:p>
        </p:txBody>
      </p:sp>
      <p:sp>
        <p:nvSpPr>
          <p:cNvPr id="241" name="ANUARIO_ANEXO_P123_L017"/>
          <p:cNvSpPr txBox="1"/>
          <p:nvPr/>
        </p:nvSpPr>
        <p:spPr>
          <a:xfrm>
            <a:off x="806876" y="3189555"/>
            <a:ext cx="384941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conmutación, de señalización, sincronización, transmisión, fuerza eléctrica y clima, entre </a:t>
            </a:r>
          </a:p>
        </p:txBody>
      </p:sp>
      <p:sp>
        <p:nvSpPr>
          <p:cNvPr id="242" name="ANUARIO_ANEXO_P123_L018"/>
          <p:cNvSpPr txBox="1"/>
          <p:nvPr/>
        </p:nvSpPr>
        <p:spPr>
          <a:xfrm>
            <a:off x="806876" y="3301105"/>
            <a:ext cx="37300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otros. </a:t>
            </a:r>
          </a:p>
        </p:txBody>
      </p:sp>
      <p:sp>
        <p:nvSpPr>
          <p:cNvPr id="243" name="ANUARIO_ANEXO_P123_L019"/>
          <p:cNvSpPr txBox="1"/>
          <p:nvPr/>
        </p:nvSpPr>
        <p:spPr>
          <a:xfrm>
            <a:off x="695494" y="3518771"/>
            <a:ext cx="396116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 </a:t>
            </a:r>
            <a:r>
              <a:rPr sz="592" b="0" i="0">
                <a:solidFill>
                  <a:srgbClr val="1F3031"/>
                </a:solidFill>
                <a:latin typeface="Noto Sans"/>
              </a:rPr>
              <a:t> Inversión bruta por concepto de compra de terrenos y/o edificios asociados al servicio de </a:t>
            </a:r>
          </a:p>
        </p:txBody>
      </p:sp>
      <p:sp>
        <p:nvSpPr>
          <p:cNvPr id="244" name="ANUARIO_ANEXO_P123_L020"/>
          <p:cNvSpPr txBox="1"/>
          <p:nvPr/>
        </p:nvSpPr>
        <p:spPr>
          <a:xfrm>
            <a:off x="806876" y="3631004"/>
            <a:ext cx="95645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telecomunicaciones.</a:t>
            </a:r>
          </a:p>
        </p:txBody>
      </p:sp>
      <p:sp>
        <p:nvSpPr>
          <p:cNvPr id="245" name="ANUARIO_ANEXO_P123_L021"/>
          <p:cNvSpPr txBox="1"/>
          <p:nvPr/>
        </p:nvSpPr>
        <p:spPr>
          <a:xfrm>
            <a:off x="528422" y="3848672"/>
            <a:ext cx="412798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Índice de Precios de Comunicaciones (IPCOM):</a:t>
            </a:r>
            <a:r>
              <a:rPr sz="592" b="0" i="0">
                <a:solidFill>
                  <a:srgbClr val="1F3031"/>
                </a:solidFill>
                <a:latin typeface="Noto Sans"/>
              </a:rPr>
              <a:t> Este índice integra los índices de precios de los </a:t>
            </a:r>
          </a:p>
        </p:txBody>
      </p:sp>
      <p:sp>
        <p:nvSpPr>
          <p:cNvPr id="246" name="ANUARIO_ANEXO_P123_L022"/>
          <p:cNvSpPr txBox="1"/>
          <p:nvPr/>
        </p:nvSpPr>
        <p:spPr>
          <a:xfrm>
            <a:off x="528422" y="3960905"/>
            <a:ext cx="41277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de telefonía móvil, telefonía fija, Internet, paquetes de telefonía, Internet y televisión de paga, </a:t>
            </a:r>
          </a:p>
        </p:txBody>
      </p:sp>
      <p:sp>
        <p:nvSpPr>
          <p:cNvPr id="247" name="ANUARIO_ANEXO_P123_L023"/>
          <p:cNvSpPr txBox="1"/>
          <p:nvPr/>
        </p:nvSpPr>
        <p:spPr>
          <a:xfrm>
            <a:off x="528422" y="4072454"/>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equipos terminales de comunicación y paquetería. Para más información sobre los ponderadores de </a:t>
            </a:r>
          </a:p>
        </p:txBody>
      </p:sp>
      <p:sp>
        <p:nvSpPr>
          <p:cNvPr id="248" name="ANUARIO_ANEXO_P123_L024"/>
          <p:cNvSpPr txBox="1"/>
          <p:nvPr/>
        </p:nvSpPr>
        <p:spPr>
          <a:xfrm>
            <a:off x="528422" y="4184003"/>
            <a:ext cx="364036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dentro del INPC consultar Anexo III. Metodologías.</a:t>
            </a:r>
          </a:p>
        </p:txBody>
      </p:sp>
      <p:sp>
        <p:nvSpPr>
          <p:cNvPr id="249" name="ANUARIO_ANEXO_P123_L025"/>
          <p:cNvSpPr txBox="1"/>
          <p:nvPr/>
        </p:nvSpPr>
        <p:spPr>
          <a:xfrm>
            <a:off x="4647536" y="656471"/>
            <a:ext cx="20129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a:t>
            </a:r>
          </a:p>
        </p:txBody>
      </p:sp>
      <p:sp>
        <p:nvSpPr>
          <p:cNvPr id="250" name="ANUARIO_ANEXO_P123_L026"/>
          <p:cNvSpPr txBox="1"/>
          <p:nvPr/>
        </p:nvSpPr>
        <p:spPr>
          <a:xfrm>
            <a:off x="4647536" y="884748"/>
            <a:ext cx="4128278" cy="146070"/>
          </a:xfrm>
          <a:prstGeom prst="rect">
            <a:avLst/>
          </a:prstGeom>
          <a:noFill/>
        </p:spPr>
        <p:txBody>
          <a:bodyPr wrap="none" lIns="0" rIns="0" tIns="0" bIns="0">
            <a:noAutofit/>
          </a:bodyPr>
          <a:lstStyle/>
          <a:p>
            <a:pPr>
              <a:spcBef>
                <a:spcPts val="0"/>
              </a:spcBef>
              <a:spcAft>
                <a:spcPts val="0"/>
              </a:spcAft>
            </a:pPr>
            <a:r>
              <a:rPr sz="592" b="1" i="1">
                <a:solidFill>
                  <a:srgbClr val="1F3031"/>
                </a:solidFill>
                <a:latin typeface="Noto Sans"/>
              </a:rPr>
              <a:t>Magazine</a:t>
            </a:r>
            <a:r>
              <a:rPr sz="592" b="1" i="0">
                <a:solidFill>
                  <a:srgbClr val="1F3031"/>
                </a:solidFill>
                <a:latin typeface="Noto Sans"/>
              </a:rPr>
              <a:t>:</a:t>
            </a:r>
            <a:r>
              <a:rPr sz="592" b="0" i="0">
                <a:solidFill>
                  <a:srgbClr val="1F3031"/>
                </a:solidFill>
                <a:latin typeface="Noto Sans"/>
              </a:rPr>
              <a:t> Programas cuya producción contiene diferentes cuadros, tales como variedades, </a:t>
            </a:r>
          </a:p>
        </p:txBody>
      </p:sp>
      <p:sp>
        <p:nvSpPr>
          <p:cNvPr id="251" name="ANUARIO_ANEXO_P123_L027"/>
          <p:cNvSpPr txBox="1"/>
          <p:nvPr/>
        </p:nvSpPr>
        <p:spPr>
          <a:xfrm>
            <a:off x="4647536" y="1006906"/>
            <a:ext cx="412847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entrevistas, reportajes, investigaciones y comentarios. Dentro de este género también se contemplan </a:t>
            </a:r>
          </a:p>
        </p:txBody>
      </p:sp>
      <p:sp>
        <p:nvSpPr>
          <p:cNvPr id="252" name="ANUARIO_ANEXO_P123_L028"/>
          <p:cNvSpPr txBox="1"/>
          <p:nvPr/>
        </p:nvSpPr>
        <p:spPr>
          <a:xfrm>
            <a:off x="4647536" y="1128380"/>
            <a:ext cx="412845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aquellos programas cuyas características no sean clasificables dentro de algún otro género, tales </a:t>
            </a:r>
          </a:p>
        </p:txBody>
      </p:sp>
      <p:sp>
        <p:nvSpPr>
          <p:cNvPr id="253" name="ANUARIO_ANEXO_P123_L029"/>
          <p:cNvSpPr txBox="1"/>
          <p:nvPr/>
        </p:nvSpPr>
        <p:spPr>
          <a:xfrm>
            <a:off x="4647536" y="1249854"/>
            <a:ext cx="33650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cobertura de eventos (exceptuando los religiosos, deportivos y culturales).</a:t>
            </a:r>
          </a:p>
        </p:txBody>
      </p:sp>
      <p:sp>
        <p:nvSpPr>
          <p:cNvPr id="254" name="ANUARIO_ANEXO_P123_L030"/>
          <p:cNvSpPr txBox="1"/>
          <p:nvPr/>
        </p:nvSpPr>
        <p:spPr>
          <a:xfrm>
            <a:off x="4647536" y="1477447"/>
            <a:ext cx="3302834"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Megabyte (MB):</a:t>
            </a:r>
            <a:r>
              <a:rPr sz="592" b="0" i="0">
                <a:solidFill>
                  <a:srgbClr val="1F3031"/>
                </a:solidFill>
                <a:latin typeface="Noto Sans"/>
              </a:rPr>
              <a:t> Es la unidad de medida de la transmisión de datos de Internet.</a:t>
            </a:r>
          </a:p>
        </p:txBody>
      </p:sp>
      <p:sp>
        <p:nvSpPr>
          <p:cNvPr id="255" name="ANUARIO_ANEXO_P123_L031"/>
          <p:cNvSpPr txBox="1"/>
          <p:nvPr/>
        </p:nvSpPr>
        <p:spPr>
          <a:xfrm>
            <a:off x="4647536" y="1705722"/>
            <a:ext cx="4128163"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Megabits (Mbps):</a:t>
            </a:r>
            <a:r>
              <a:rPr sz="592" b="0" i="0">
                <a:solidFill>
                  <a:srgbClr val="1F3031"/>
                </a:solidFill>
                <a:latin typeface="Noto Sans"/>
              </a:rPr>
              <a:t> Megabits por segundo es la medida de la velocidad de transmisión de datos de </a:t>
            </a:r>
          </a:p>
        </p:txBody>
      </p:sp>
      <p:sp>
        <p:nvSpPr>
          <p:cNvPr id="256" name="ANUARIO_ANEXO_P123_L032"/>
          <p:cNvSpPr txBox="1"/>
          <p:nvPr/>
        </p:nvSpPr>
        <p:spPr>
          <a:xfrm>
            <a:off x="4647536" y="1827880"/>
            <a:ext cx="6564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banda ancha.</a:t>
            </a:r>
          </a:p>
        </p:txBody>
      </p:sp>
      <p:sp>
        <p:nvSpPr>
          <p:cNvPr id="257" name="ANUARIO_ANEXO_P123_L033"/>
          <p:cNvSpPr txBox="1"/>
          <p:nvPr/>
        </p:nvSpPr>
        <p:spPr>
          <a:xfrm>
            <a:off x="4647536" y="2055473"/>
            <a:ext cx="34097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Megahertz (MHz):</a:t>
            </a:r>
            <a:r>
              <a:rPr sz="592" b="0" i="0">
                <a:solidFill>
                  <a:srgbClr val="1F3031"/>
                </a:solidFill>
                <a:latin typeface="Noto Sans"/>
              </a:rPr>
              <a:t> Es la unidad de medida de la frecuencia y equivale a 106 Hertz.</a:t>
            </a:r>
          </a:p>
        </p:txBody>
      </p:sp>
      <p:sp>
        <p:nvSpPr>
          <p:cNvPr id="258" name="ANUARIO_ANEXO_P123_L034"/>
          <p:cNvSpPr txBox="1"/>
          <p:nvPr/>
        </p:nvSpPr>
        <p:spPr>
          <a:xfrm>
            <a:off x="4647536" y="2283749"/>
            <a:ext cx="412850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Mercadeo:</a:t>
            </a:r>
            <a:r>
              <a:rPr sz="592" b="0" i="0">
                <a:solidFill>
                  <a:srgbClr val="1F3031"/>
                </a:solidFill>
                <a:latin typeface="Noto Sans"/>
              </a:rPr>
              <a:t> Programa que promueve la venta de productos vía telefónica. Generalmente, en este </a:t>
            </a:r>
          </a:p>
        </p:txBody>
      </p:sp>
      <p:sp>
        <p:nvSpPr>
          <p:cNvPr id="259" name="ANUARIO_ANEXO_P123_L035"/>
          <p:cNvSpPr txBox="1"/>
          <p:nvPr/>
        </p:nvSpPr>
        <p:spPr>
          <a:xfrm>
            <a:off x="4647536" y="2405907"/>
            <a:ext cx="41285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tipo de programas se realizan demostraciones o explicaciones del funcionamiento del o de los </a:t>
            </a:r>
          </a:p>
        </p:txBody>
      </p:sp>
      <p:sp>
        <p:nvSpPr>
          <p:cNvPr id="260" name="ANUARIO_ANEXO_P123_L036"/>
          <p:cNvSpPr txBox="1"/>
          <p:nvPr/>
        </p:nvSpPr>
        <p:spPr>
          <a:xfrm>
            <a:off x="4647536" y="2527381"/>
            <a:ext cx="412849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artículos ofrecidos. También se encuentran dentro de esta categoría los programas pagados por </a:t>
            </a:r>
          </a:p>
        </p:txBody>
      </p:sp>
      <p:sp>
        <p:nvSpPr>
          <p:cNvPr id="261" name="ANUARIO_ANEXO_P123_L037"/>
          <p:cNvSpPr txBox="1"/>
          <p:nvPr/>
        </p:nvSpPr>
        <p:spPr>
          <a:xfrm>
            <a:off x="4647536" y="2648855"/>
            <a:ext cx="412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instituciones, asociaciones civiles o religiosas, en los cuales el tiempo aire es utilizado para la difusión </a:t>
            </a:r>
          </a:p>
        </p:txBody>
      </p:sp>
      <p:sp>
        <p:nvSpPr>
          <p:cNvPr id="262" name="ANUARIO_ANEXO_P123_L038"/>
          <p:cNvSpPr txBox="1"/>
          <p:nvPr/>
        </p:nvSpPr>
        <p:spPr>
          <a:xfrm>
            <a:off x="4647536" y="2770329"/>
            <a:ext cx="729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un mensaje.</a:t>
            </a:r>
          </a:p>
        </p:txBody>
      </p:sp>
      <p:sp>
        <p:nvSpPr>
          <p:cNvPr id="263" name="ANUARIO_ANEXO_P123_L039"/>
          <p:cNvSpPr txBox="1"/>
          <p:nvPr/>
        </p:nvSpPr>
        <p:spPr>
          <a:xfrm>
            <a:off x="4647536" y="2997922"/>
            <a:ext cx="412812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Musicales:</a:t>
            </a:r>
            <a:r>
              <a:rPr sz="592" b="0" i="0">
                <a:solidFill>
                  <a:srgbClr val="1F3031"/>
                </a:solidFill>
                <a:latin typeface="Noto Sans"/>
              </a:rPr>
              <a:t> Programas de corte musical, tales como videos, conciertos, presentaciones de cantantes </a:t>
            </a:r>
          </a:p>
        </p:txBody>
      </p:sp>
      <p:sp>
        <p:nvSpPr>
          <p:cNvPr id="264" name="ANUARIO_ANEXO_P123_L040"/>
          <p:cNvSpPr txBox="1"/>
          <p:nvPr/>
        </p:nvSpPr>
        <p:spPr>
          <a:xfrm>
            <a:off x="4647536" y="3120080"/>
            <a:ext cx="36704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grupos, que pueden incluir o no semblanzas o entrevistas con los artistas presentados.</a:t>
            </a:r>
          </a:p>
        </p:txBody>
      </p:sp>
      <p:sp>
        <p:nvSpPr>
          <p:cNvPr id="265" name="ANUARIO_ANEXO_P123_L041"/>
          <p:cNvSpPr txBox="1"/>
          <p:nvPr/>
        </p:nvSpPr>
        <p:spPr>
          <a:xfrm>
            <a:off x="4647536" y="3347673"/>
            <a:ext cx="189710"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a:t>
            </a:r>
          </a:p>
        </p:txBody>
      </p:sp>
      <p:sp>
        <p:nvSpPr>
          <p:cNvPr id="266" name="ANUARIO_ANEXO_P123_L042"/>
          <p:cNvSpPr txBox="1"/>
          <p:nvPr/>
        </p:nvSpPr>
        <p:spPr>
          <a:xfrm>
            <a:off x="4647536" y="3575948"/>
            <a:ext cx="4128437"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Noticieros:</a:t>
            </a:r>
            <a:r>
              <a:rPr sz="592" b="0" i="0">
                <a:solidFill>
                  <a:srgbClr val="1F3031"/>
                </a:solidFill>
                <a:latin typeface="Noto Sans"/>
              </a:rPr>
              <a:t> Programación basada en la actualidad informativa nacional e internacional, articulada </a:t>
            </a:r>
          </a:p>
        </p:txBody>
      </p:sp>
      <p:sp>
        <p:nvSpPr>
          <p:cNvPr id="267" name="ANUARIO_ANEXO_P123_L043"/>
          <p:cNvSpPr txBox="1"/>
          <p:nvPr/>
        </p:nvSpPr>
        <p:spPr>
          <a:xfrm>
            <a:off x="4647536" y="3698107"/>
            <a:ext cx="41280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con los géneros tradicionales del periodismo escrito, tales como la nota informativa, el reportaje, la </a:t>
            </a:r>
          </a:p>
        </p:txBody>
      </p:sp>
      <p:sp>
        <p:nvSpPr>
          <p:cNvPr id="268" name="ANUARIO_ANEXO_P123_L044"/>
          <p:cNvSpPr txBox="1"/>
          <p:nvPr/>
        </p:nvSpPr>
        <p:spPr>
          <a:xfrm>
            <a:off x="4647536" y="3819580"/>
            <a:ext cx="41284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entrevista, la editorial, entre otros. Generalmente se estructuran en bloques temáticos que buscan </a:t>
            </a:r>
          </a:p>
        </p:txBody>
      </p:sp>
      <p:sp>
        <p:nvSpPr>
          <p:cNvPr id="269" name="ANUARIO_ANEXO_P123_L045"/>
          <p:cNvSpPr txBox="1"/>
          <p:nvPr/>
        </p:nvSpPr>
        <p:spPr>
          <a:xfrm>
            <a:off x="4647536" y="3941055"/>
            <a:ext cx="412796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mantener el interés y eliminar los factores de distracción a los que está expuesto el televidente. </a:t>
            </a:r>
          </a:p>
        </p:txBody>
      </p:sp>
      <p:sp>
        <p:nvSpPr>
          <p:cNvPr id="270" name="ANUARIO_ANEXO_P123_L046"/>
          <p:cNvSpPr txBox="1"/>
          <p:nvPr/>
        </p:nvSpPr>
        <p:spPr>
          <a:xfrm>
            <a:off x="4647536" y="4062528"/>
            <a:ext cx="412806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Dentro de este género se contemplan también aquellos programas de carácter informativo, de </a:t>
            </a:r>
          </a:p>
        </p:txBody>
      </p:sp>
      <p:sp>
        <p:nvSpPr>
          <p:cNvPr id="271" name="ANUARIO_ANEXO_P123_L047"/>
          <p:cNvSpPr txBox="1"/>
          <p:nvPr/>
        </p:nvSpPr>
        <p:spPr>
          <a:xfrm>
            <a:off x="4647536" y="4184003"/>
            <a:ext cx="254053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análisis o reportajes especializados sobre temas específicos.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124</a:t>
            </a:r>
          </a:p>
        </p:txBody>
      </p:sp>
      <p:sp>
        <p:nvSpPr>
          <p:cNvPr id="225" name="ANUARIO_ANEXO_P124_L001"/>
          <p:cNvSpPr txBox="1"/>
          <p:nvPr/>
        </p:nvSpPr>
        <p:spPr>
          <a:xfrm>
            <a:off x="528422" y="656471"/>
            <a:ext cx="19380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a:t>
            </a:r>
          </a:p>
        </p:txBody>
      </p:sp>
      <p:sp>
        <p:nvSpPr>
          <p:cNvPr id="226" name="ANUARIO_ANEXO_P124_L002"/>
          <p:cNvSpPr txBox="1"/>
          <p:nvPr/>
        </p:nvSpPr>
        <p:spPr>
          <a:xfrm>
            <a:off x="528422" y="879387"/>
            <a:ext cx="412837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Operador de telecomunicaciones:</a:t>
            </a:r>
            <a:r>
              <a:rPr sz="640" b="0" i="0">
                <a:solidFill>
                  <a:srgbClr val="1F3031"/>
                </a:solidFill>
                <a:latin typeface="Noto Sans"/>
              </a:rPr>
              <a:t> Persona física o moral titular de una o varias concesiones, </a:t>
            </a:r>
          </a:p>
        </p:txBody>
      </p:sp>
      <p:sp>
        <p:nvSpPr>
          <p:cNvPr id="227" name="ANUARIO_ANEXO_P124_L003"/>
          <p:cNvSpPr txBox="1"/>
          <p:nvPr/>
        </p:nvSpPr>
        <p:spPr>
          <a:xfrm>
            <a:off x="528422" y="996183"/>
            <a:ext cx="412661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autorizaciones, permisos o asignaciones, que lo habilitan para explotar servicios de telecomunicaciones, </a:t>
            </a:r>
          </a:p>
        </p:txBody>
      </p:sp>
      <p:sp>
        <p:nvSpPr>
          <p:cNvPr id="228" name="ANUARIO_ANEXO_P124_L004"/>
          <p:cNvSpPr txBox="1"/>
          <p:nvPr/>
        </p:nvSpPr>
        <p:spPr>
          <a:xfrm>
            <a:off x="528422" y="1112296"/>
            <a:ext cx="2078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espectro radioeléctrico, y/o recursos orbitales.</a:t>
            </a:r>
          </a:p>
        </p:txBody>
      </p:sp>
      <p:sp>
        <p:nvSpPr>
          <p:cNvPr id="229" name="ANUARIO_ANEXO_P124_L005"/>
          <p:cNvSpPr txBox="1"/>
          <p:nvPr/>
        </p:nvSpPr>
        <p:spPr>
          <a:xfrm>
            <a:off x="528422" y="1334528"/>
            <a:ext cx="412851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Over the Top (OTT)</a:t>
            </a:r>
            <a:r>
              <a:rPr sz="640" b="1" i="0">
                <a:solidFill>
                  <a:srgbClr val="1F3031"/>
                </a:solidFill>
                <a:latin typeface="Noto Sans"/>
              </a:rPr>
              <a:t>:</a:t>
            </a:r>
            <a:r>
              <a:rPr sz="640" b="0" i="0">
                <a:solidFill>
                  <a:srgbClr val="1F3031"/>
                </a:solidFill>
                <a:latin typeface="Noto Sans"/>
              </a:rPr>
              <a:t> Se consideran servicios en línea que, según la Unión Internacional de </a:t>
            </a:r>
          </a:p>
        </p:txBody>
      </p:sp>
      <p:sp>
        <p:nvSpPr>
          <p:cNvPr id="230" name="ANUARIO_ANEXO_P124_L006"/>
          <p:cNvSpPr txBox="1"/>
          <p:nvPr/>
        </p:nvSpPr>
        <p:spPr>
          <a:xfrm>
            <a:off x="528422" y="1451324"/>
            <a:ext cx="41284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se pueden considerar sustitutos potenciales de los servicios tradicionales de </a:t>
            </a:r>
          </a:p>
        </p:txBody>
      </p:sp>
      <p:sp>
        <p:nvSpPr>
          <p:cNvPr id="231" name="ANUARIO_ANEXO_P124_L007"/>
          <p:cNvSpPr txBox="1"/>
          <p:nvPr/>
        </p:nvSpPr>
        <p:spPr>
          <a:xfrm>
            <a:off x="528422" y="1567438"/>
            <a:ext cx="20544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y de contenido audiovisual.</a:t>
            </a:r>
          </a:p>
        </p:txBody>
      </p:sp>
      <p:sp>
        <p:nvSpPr>
          <p:cNvPr id="232" name="ANUARIO_ANEXO_P124_L008"/>
          <p:cNvSpPr txBox="1"/>
          <p:nvPr/>
        </p:nvSpPr>
        <p:spPr>
          <a:xfrm>
            <a:off x="528422" y="1789669"/>
            <a:ext cx="17340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t>
            </a:r>
          </a:p>
        </p:txBody>
      </p:sp>
      <p:sp>
        <p:nvSpPr>
          <p:cNvPr id="233" name="ANUARIO_ANEXO_P124_L009"/>
          <p:cNvSpPr txBox="1"/>
          <p:nvPr/>
        </p:nvSpPr>
        <p:spPr>
          <a:xfrm>
            <a:off x="528422" y="2012584"/>
            <a:ext cx="412841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Partidos Políticos:</a:t>
            </a:r>
            <a:r>
              <a:rPr sz="640" b="0" i="0">
                <a:solidFill>
                  <a:srgbClr val="1F3031"/>
                </a:solidFill>
                <a:latin typeface="Noto Sans"/>
              </a:rPr>
              <a:t> Programa cuyo contenido es la presentación o difusión de los mensajes y/o </a:t>
            </a:r>
          </a:p>
        </p:txBody>
      </p:sp>
      <p:sp>
        <p:nvSpPr>
          <p:cNvPr id="234" name="ANUARIO_ANEXO_P124_L010"/>
          <p:cNvSpPr txBox="1"/>
          <p:nvPr/>
        </p:nvSpPr>
        <p:spPr>
          <a:xfrm>
            <a:off x="528422" y="2129381"/>
            <a:ext cx="41279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actividades de los diferentes partidos políticos registrados. Las identificaciones de la producción </a:t>
            </a:r>
          </a:p>
        </p:txBody>
      </p:sp>
      <p:sp>
        <p:nvSpPr>
          <p:cNvPr id="235" name="ANUARIO_ANEXO_P124_L011"/>
          <p:cNvSpPr txBox="1"/>
          <p:nvPr/>
        </p:nvSpPr>
        <p:spPr>
          <a:xfrm>
            <a:off x="528422" y="2245493"/>
            <a:ext cx="23246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pueden presentar a una o varias asociaciones políticas.</a:t>
            </a:r>
          </a:p>
        </p:txBody>
      </p:sp>
      <p:sp>
        <p:nvSpPr>
          <p:cNvPr id="236" name="ANUARIO_ANEXO_P124_L012"/>
          <p:cNvSpPr txBox="1"/>
          <p:nvPr/>
        </p:nvSpPr>
        <p:spPr>
          <a:xfrm>
            <a:off x="528422" y="2467725"/>
            <a:ext cx="412769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Películas:</a:t>
            </a:r>
            <a:r>
              <a:rPr sz="640" b="0" i="0">
                <a:solidFill>
                  <a:srgbClr val="1F3031"/>
                </a:solidFill>
                <a:latin typeface="Noto Sans"/>
              </a:rPr>
              <a:t> Producción genérica al nombre. Normalmente es realizada para el cine o, y se transmite </a:t>
            </a:r>
          </a:p>
        </p:txBody>
      </p:sp>
      <p:sp>
        <p:nvSpPr>
          <p:cNvPr id="237" name="ANUARIO_ANEXO_P124_L013"/>
          <p:cNvSpPr txBox="1"/>
          <p:nvPr/>
        </p:nvSpPr>
        <p:spPr>
          <a:xfrm>
            <a:off x="528422" y="2584522"/>
            <a:ext cx="41279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televisión. En este caso, se incluyen las producciones nacionales y extranjeras. En este género no </a:t>
            </a:r>
          </a:p>
        </p:txBody>
      </p:sp>
      <p:sp>
        <p:nvSpPr>
          <p:cNvPr id="238" name="ANUARIO_ANEXO_P124_L014"/>
          <p:cNvSpPr txBox="1"/>
          <p:nvPr/>
        </p:nvSpPr>
        <p:spPr>
          <a:xfrm>
            <a:off x="528422" y="2700635"/>
            <a:ext cx="355428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está contemplado el cine documental de carácter didáctico o que incluya entrevistas.</a:t>
            </a:r>
          </a:p>
        </p:txBody>
      </p:sp>
      <p:sp>
        <p:nvSpPr>
          <p:cNvPr id="239" name="ANUARIO_ANEXO_P124_L015"/>
          <p:cNvSpPr txBox="1"/>
          <p:nvPr/>
        </p:nvSpPr>
        <p:spPr>
          <a:xfrm>
            <a:off x="528422" y="2922866"/>
            <a:ext cx="412820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Producto Interno Bruto (PIB):</a:t>
            </a:r>
            <a:r>
              <a:rPr sz="640" b="0" i="0">
                <a:solidFill>
                  <a:srgbClr val="1F3031"/>
                </a:solidFill>
                <a:latin typeface="Noto Sans"/>
              </a:rPr>
              <a:t> Indica el valor de la producción de bienes y servicios de un país durante </a:t>
            </a:r>
          </a:p>
        </p:txBody>
      </p:sp>
      <p:sp>
        <p:nvSpPr>
          <p:cNvPr id="240" name="ANUARIO_ANEXO_P124_L016"/>
          <p:cNvSpPr txBox="1"/>
          <p:nvPr/>
        </p:nvSpPr>
        <p:spPr>
          <a:xfrm>
            <a:off x="528422" y="3039663"/>
            <a:ext cx="361843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 determinado periodo. En este documento se presenta a precios constantes de 2018.</a:t>
            </a:r>
          </a:p>
        </p:txBody>
      </p:sp>
      <p:sp>
        <p:nvSpPr>
          <p:cNvPr id="241" name="ANUARIO_ANEXO_P124_L017"/>
          <p:cNvSpPr txBox="1"/>
          <p:nvPr/>
        </p:nvSpPr>
        <p:spPr>
          <a:xfrm>
            <a:off x="528422" y="3261894"/>
            <a:ext cx="412837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controlado:</a:t>
            </a:r>
            <a:r>
              <a:rPr sz="640" b="0" i="0">
                <a:solidFill>
                  <a:srgbClr val="1F3031"/>
                </a:solidFill>
                <a:latin typeface="Noto Sans"/>
              </a:rPr>
              <a:t> Esquema de contratación mediante el cual el suscriptor paga servicios de </a:t>
            </a:r>
          </a:p>
        </p:txBody>
      </p:sp>
      <p:sp>
        <p:nvSpPr>
          <p:cNvPr id="242" name="ANUARIO_ANEXO_P124_L018"/>
          <p:cNvSpPr txBox="1"/>
          <p:nvPr/>
        </p:nvSpPr>
        <p:spPr>
          <a:xfrm>
            <a:off x="528422" y="3378691"/>
            <a:ext cx="39000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su utilización y no se permite recargas adicionales.</a:t>
            </a:r>
          </a:p>
        </p:txBody>
      </p:sp>
      <p:sp>
        <p:nvSpPr>
          <p:cNvPr id="243" name="ANUARIO_ANEXO_P124_L019"/>
          <p:cNvSpPr txBox="1"/>
          <p:nvPr/>
        </p:nvSpPr>
        <p:spPr>
          <a:xfrm>
            <a:off x="528422" y="3600922"/>
            <a:ext cx="412807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 libre:</a:t>
            </a:r>
            <a:r>
              <a:rPr sz="640" b="0" i="0">
                <a:solidFill>
                  <a:srgbClr val="1F3031"/>
                </a:solidFill>
                <a:latin typeface="Noto Sans"/>
              </a:rPr>
              <a:t> Esquema de contratación mediante el cual el suscriptor paga servicios de </a:t>
            </a:r>
          </a:p>
        </p:txBody>
      </p:sp>
      <p:sp>
        <p:nvSpPr>
          <p:cNvPr id="244" name="ANUARIO_ANEXO_P124_L020"/>
          <p:cNvSpPr txBox="1"/>
          <p:nvPr/>
        </p:nvSpPr>
        <p:spPr>
          <a:xfrm>
            <a:off x="528422" y="3717719"/>
            <a:ext cx="410782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inicialmente de pospago, pero permite realizar recargas adicionales (prepago).</a:t>
            </a:r>
          </a:p>
        </p:txBody>
      </p:sp>
      <p:sp>
        <p:nvSpPr>
          <p:cNvPr id="245" name="ANUARIO_ANEXO_P124_L021"/>
          <p:cNvSpPr txBox="1"/>
          <p:nvPr/>
        </p:nvSpPr>
        <p:spPr>
          <a:xfrm>
            <a:off x="528422" y="3939950"/>
            <a:ext cx="412789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Pospago:</a:t>
            </a:r>
            <a:r>
              <a:rPr sz="640" b="0" i="0">
                <a:solidFill>
                  <a:srgbClr val="1F3031"/>
                </a:solidFill>
                <a:latin typeface="Noto Sans"/>
              </a:rPr>
              <a:t> Esquema de contratación mediante el cual el suscriptor paga servicios de </a:t>
            </a:r>
          </a:p>
        </p:txBody>
      </p:sp>
      <p:sp>
        <p:nvSpPr>
          <p:cNvPr id="246" name="ANUARIO_ANEXO_P124_L022"/>
          <p:cNvSpPr txBox="1"/>
          <p:nvPr/>
        </p:nvSpPr>
        <p:spPr>
          <a:xfrm>
            <a:off x="528422" y="4056747"/>
            <a:ext cx="30735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posterior a la utilización de los mismos. </a:t>
            </a:r>
          </a:p>
        </p:txBody>
      </p:sp>
      <p:sp>
        <p:nvSpPr>
          <p:cNvPr id="247" name="ANUARIO_ANEXO_P124_L023"/>
          <p:cNvSpPr txBox="1"/>
          <p:nvPr/>
        </p:nvSpPr>
        <p:spPr>
          <a:xfrm>
            <a:off x="528422" y="4278978"/>
            <a:ext cx="4128255"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Prepago:</a:t>
            </a:r>
            <a:r>
              <a:rPr sz="640" b="0" i="0">
                <a:solidFill>
                  <a:srgbClr val="1F3031"/>
                </a:solidFill>
                <a:latin typeface="Noto Sans"/>
              </a:rPr>
              <a:t> Esquema de contratación mediante el cual el suscriptor paga servicios de </a:t>
            </a:r>
          </a:p>
        </p:txBody>
      </p:sp>
      <p:sp>
        <p:nvSpPr>
          <p:cNvPr id="248" name="ANUARIO_ANEXO_P124_L024"/>
          <p:cNvSpPr txBox="1"/>
          <p:nvPr/>
        </p:nvSpPr>
        <p:spPr>
          <a:xfrm>
            <a:off x="528422" y="4395775"/>
            <a:ext cx="31278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telecomunicaciones de manera anticipada a la utilización de los mismos. </a:t>
            </a:r>
          </a:p>
        </p:txBody>
      </p:sp>
      <p:sp>
        <p:nvSpPr>
          <p:cNvPr id="249" name="ANUARIO_ANEXO_P124_L025"/>
          <p:cNvSpPr txBox="1"/>
          <p:nvPr/>
        </p:nvSpPr>
        <p:spPr>
          <a:xfrm>
            <a:off x="4647536" y="656471"/>
            <a:ext cx="176434"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a:t>
            </a:r>
          </a:p>
        </p:txBody>
      </p:sp>
      <p:sp>
        <p:nvSpPr>
          <p:cNvPr id="250" name="ANUARIO_ANEXO_P124_L026"/>
          <p:cNvSpPr txBox="1"/>
          <p:nvPr/>
        </p:nvSpPr>
        <p:spPr>
          <a:xfrm>
            <a:off x="4647536" y="870075"/>
            <a:ext cx="4127897"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Rating</a:t>
            </a:r>
            <a:r>
              <a:rPr sz="640" b="1" i="0">
                <a:solidFill>
                  <a:srgbClr val="1F3031"/>
                </a:solidFill>
                <a:latin typeface="Noto Sans"/>
              </a:rPr>
              <a:t> (rat%):</a:t>
            </a:r>
            <a:r>
              <a:rPr sz="640" b="0" i="0">
                <a:solidFill>
                  <a:srgbClr val="1F3031"/>
                </a:solidFill>
                <a:latin typeface="Noto Sans"/>
              </a:rPr>
              <a:t> Porcentaje de hogares o personas que estuvieron viendo la televisión en un canal/ </a:t>
            </a:r>
          </a:p>
        </p:txBody>
      </p:sp>
      <p:sp>
        <p:nvSpPr>
          <p:cNvPr id="251" name="ANUARIO_ANEXO_P124_L027"/>
          <p:cNvSpPr txBox="1"/>
          <p:nvPr/>
        </p:nvSpPr>
        <p:spPr>
          <a:xfrm>
            <a:off x="4647536" y="977561"/>
            <a:ext cx="20530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estación en un periodo de tiempo determinado.</a:t>
            </a:r>
          </a:p>
        </p:txBody>
      </p:sp>
      <p:sp>
        <p:nvSpPr>
          <p:cNvPr id="252" name="ANUARIO_ANEXO_P124_L028"/>
          <p:cNvSpPr txBox="1"/>
          <p:nvPr/>
        </p:nvSpPr>
        <p:spPr>
          <a:xfrm>
            <a:off x="4647536" y="1190481"/>
            <a:ext cx="4128573"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Reality Show</a:t>
            </a:r>
            <a:r>
              <a:rPr sz="640" b="1" i="0">
                <a:solidFill>
                  <a:srgbClr val="1F3031"/>
                </a:solidFill>
                <a:latin typeface="Noto Sans"/>
              </a:rPr>
              <a:t>:</a:t>
            </a:r>
            <a:r>
              <a:rPr sz="640" b="0" i="0">
                <a:solidFill>
                  <a:srgbClr val="1F3031"/>
                </a:solidFill>
                <a:latin typeface="Noto Sans"/>
              </a:rPr>
              <a:t> También conocidos como Televisión Real, es un género televisivo en donde un </a:t>
            </a:r>
          </a:p>
        </p:txBody>
      </p:sp>
      <p:sp>
        <p:nvSpPr>
          <p:cNvPr id="253" name="ANUARIO_ANEXO_P124_L029"/>
          <p:cNvSpPr txBox="1"/>
          <p:nvPr/>
        </p:nvSpPr>
        <p:spPr>
          <a:xfrm>
            <a:off x="4647536" y="1297966"/>
            <a:ext cx="41280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grupo de personas –comunes o famosas- permite que sus vidas sean grabadas durante un periodo </a:t>
            </a:r>
          </a:p>
        </p:txBody>
      </p:sp>
      <p:sp>
        <p:nvSpPr>
          <p:cNvPr id="254" name="ANUARIO_ANEXO_P124_L030"/>
          <p:cNvSpPr txBox="1"/>
          <p:nvPr/>
        </p:nvSpPr>
        <p:spPr>
          <a:xfrm>
            <a:off x="4647536" y="1404768"/>
            <a:ext cx="41279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determinado. Generalmente se encuentran en un sitio común, sin importar su locación, y pueden o </a:t>
            </a:r>
          </a:p>
        </p:txBody>
      </p:sp>
      <p:sp>
        <p:nvSpPr>
          <p:cNvPr id="255" name="ANUARIO_ANEXO_P124_L031"/>
          <p:cNvSpPr txBox="1"/>
          <p:nvPr/>
        </p:nvSpPr>
        <p:spPr>
          <a:xfrm>
            <a:off x="4647536" y="1511570"/>
            <a:ext cx="16087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no estar compitiendo por un premio.</a:t>
            </a:r>
          </a:p>
        </p:txBody>
      </p:sp>
      <p:sp>
        <p:nvSpPr>
          <p:cNvPr id="256" name="ANUARIO_ANEXO_P124_L032"/>
          <p:cNvSpPr txBox="1"/>
          <p:nvPr/>
        </p:nvSpPr>
        <p:spPr>
          <a:xfrm>
            <a:off x="4647536" y="1724491"/>
            <a:ext cx="4127872"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Religión:</a:t>
            </a:r>
            <a:r>
              <a:rPr sz="640" b="0" i="0">
                <a:solidFill>
                  <a:srgbClr val="1F3031"/>
                </a:solidFill>
                <a:latin typeface="Noto Sans"/>
              </a:rPr>
              <a:t> Programas de contenido estrictamente religioso, tales como misas, retiros y coberturas de </a:t>
            </a:r>
          </a:p>
        </p:txBody>
      </p:sp>
      <p:sp>
        <p:nvSpPr>
          <p:cNvPr id="257" name="ANUARIO_ANEXO_P124_L033"/>
          <p:cNvSpPr txBox="1"/>
          <p:nvPr/>
        </p:nvSpPr>
        <p:spPr>
          <a:xfrm>
            <a:off x="4647536" y="1831976"/>
            <a:ext cx="412826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visitas pastorales. En este género no están incluidos programas de reportaje que, en un capítulo en </a:t>
            </a:r>
          </a:p>
        </p:txBody>
      </p:sp>
      <p:sp>
        <p:nvSpPr>
          <p:cNvPr id="258" name="ANUARIO_ANEXO_P124_L034"/>
          <p:cNvSpPr txBox="1"/>
          <p:nvPr/>
        </p:nvSpPr>
        <p:spPr>
          <a:xfrm>
            <a:off x="4647536" y="1938778"/>
            <a:ext cx="16569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específico, aborden un tema religioso.</a:t>
            </a:r>
          </a:p>
        </p:txBody>
      </p:sp>
      <p:sp>
        <p:nvSpPr>
          <p:cNvPr id="259" name="ANUARIO_ANEXO_P124_L035"/>
          <p:cNvSpPr txBox="1"/>
          <p:nvPr/>
        </p:nvSpPr>
        <p:spPr>
          <a:xfrm>
            <a:off x="4647536" y="2151698"/>
            <a:ext cx="170553"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a:t>
            </a:r>
          </a:p>
        </p:txBody>
      </p:sp>
      <p:sp>
        <p:nvSpPr>
          <p:cNvPr id="260" name="ANUARIO_ANEXO_P124_L036"/>
          <p:cNvSpPr txBox="1"/>
          <p:nvPr/>
        </p:nvSpPr>
        <p:spPr>
          <a:xfrm>
            <a:off x="4647536" y="2365302"/>
            <a:ext cx="412787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Series:</a:t>
            </a:r>
            <a:r>
              <a:rPr sz="640" b="0" i="0">
                <a:solidFill>
                  <a:srgbClr val="1F3031"/>
                </a:solidFill>
                <a:latin typeface="Noto Sans"/>
              </a:rPr>
              <a:t> Formato presentado en emisiones sucesivas, que individualmente mantienen una unidad </a:t>
            </a:r>
          </a:p>
        </p:txBody>
      </p:sp>
      <p:sp>
        <p:nvSpPr>
          <p:cNvPr id="261" name="ANUARIO_ANEXO_P124_L037"/>
          <p:cNvSpPr txBox="1"/>
          <p:nvPr/>
        </p:nvSpPr>
        <p:spPr>
          <a:xfrm>
            <a:off x="4647536" y="2472788"/>
            <a:ext cx="412849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argumental en sí misma, aunque presentan continuidad, al menos temática, entre los diferentes </a:t>
            </a:r>
          </a:p>
        </p:txBody>
      </p:sp>
      <p:sp>
        <p:nvSpPr>
          <p:cNvPr id="262" name="ANUARIO_ANEXO_P124_L038"/>
          <p:cNvSpPr txBox="1"/>
          <p:nvPr/>
        </p:nvSpPr>
        <p:spPr>
          <a:xfrm>
            <a:off x="4647536" y="2579590"/>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episodios que la integran. Incluye diferentes subgéneros, como la ficción, acción, suspenso, comedia, </a:t>
            </a:r>
          </a:p>
        </p:txBody>
      </p:sp>
      <p:sp>
        <p:nvSpPr>
          <p:cNvPr id="263" name="ANUARIO_ANEXO_P124_L039"/>
          <p:cNvSpPr txBox="1"/>
          <p:nvPr/>
        </p:nvSpPr>
        <p:spPr>
          <a:xfrm>
            <a:off x="4647536" y="2686392"/>
            <a:ext cx="412780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etcétera. Bajo este género se pueden encontrar tanto producciones nacionales como extranjeras. </a:t>
            </a:r>
          </a:p>
        </p:txBody>
      </p:sp>
      <p:sp>
        <p:nvSpPr>
          <p:cNvPr id="264" name="ANUARIO_ANEXO_P124_L040"/>
          <p:cNvSpPr txBox="1"/>
          <p:nvPr/>
        </p:nvSpPr>
        <p:spPr>
          <a:xfrm>
            <a:off x="4647536" y="2793193"/>
            <a:ext cx="220024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Las miniseries también se agrupan en este formato.</a:t>
            </a:r>
          </a:p>
        </p:txBody>
      </p:sp>
      <p:sp>
        <p:nvSpPr>
          <p:cNvPr id="265" name="ANUARIO_ANEXO_P124_L041"/>
          <p:cNvSpPr txBox="1"/>
          <p:nvPr/>
        </p:nvSpPr>
        <p:spPr>
          <a:xfrm>
            <a:off x="4647536" y="3006114"/>
            <a:ext cx="41282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de televisión restringida:</a:t>
            </a:r>
            <a:r>
              <a:rPr sz="640" b="0" i="0">
                <a:solidFill>
                  <a:srgbClr val="1F3031"/>
                </a:solidFill>
                <a:latin typeface="Noto Sans"/>
              </a:rPr>
              <a:t> Servicio de telecomunicaciones de audio, o de audio y video </a:t>
            </a:r>
          </a:p>
        </p:txBody>
      </p:sp>
      <p:sp>
        <p:nvSpPr>
          <p:cNvPr id="266" name="ANUARIO_ANEXO_P124_L042"/>
          <p:cNvSpPr txBox="1"/>
          <p:nvPr/>
        </p:nvSpPr>
        <p:spPr>
          <a:xfrm>
            <a:off x="4647536" y="3113600"/>
            <a:ext cx="412831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asociados, que se presta a suscriptores, a través de redes públicas de telecomunicaciones, mediante </a:t>
            </a:r>
          </a:p>
        </p:txBody>
      </p:sp>
      <p:sp>
        <p:nvSpPr>
          <p:cNvPr id="267" name="ANUARIO_ANEXO_P124_L043"/>
          <p:cNvSpPr txBox="1"/>
          <p:nvPr/>
        </p:nvSpPr>
        <p:spPr>
          <a:xfrm>
            <a:off x="4647536" y="3220401"/>
            <a:ext cx="41284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contrato y el pago periódico de una cantidad preestablecida. Este servicio se mide en número de </a:t>
            </a:r>
          </a:p>
        </p:txBody>
      </p:sp>
      <p:sp>
        <p:nvSpPr>
          <p:cNvPr id="268" name="ANUARIO_ANEXO_P124_L044"/>
          <p:cNvSpPr txBox="1"/>
          <p:nvPr/>
        </p:nvSpPr>
        <p:spPr>
          <a:xfrm>
            <a:off x="4647536" y="3327203"/>
            <a:ext cx="4572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accesos.</a:t>
            </a:r>
          </a:p>
        </p:txBody>
      </p:sp>
      <p:sp>
        <p:nvSpPr>
          <p:cNvPr id="269" name="ANUARIO_ANEXO_P124_L045"/>
          <p:cNvSpPr txBox="1"/>
          <p:nvPr/>
        </p:nvSpPr>
        <p:spPr>
          <a:xfrm>
            <a:off x="4647536" y="3540123"/>
            <a:ext cx="412822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acceso a Internet:</a:t>
            </a:r>
            <a:r>
              <a:rPr sz="640" b="0" i="0">
                <a:solidFill>
                  <a:srgbClr val="1F3031"/>
                </a:solidFill>
                <a:latin typeface="Noto Sans"/>
              </a:rPr>
              <a:t> Mediante este servicio un operador provee el acceso por el cual </a:t>
            </a:r>
          </a:p>
        </p:txBody>
      </p:sp>
      <p:sp>
        <p:nvSpPr>
          <p:cNvPr id="270" name="ANUARIO_ANEXO_P124_L046"/>
          <p:cNvSpPr txBox="1"/>
          <p:nvPr/>
        </p:nvSpPr>
        <p:spPr>
          <a:xfrm>
            <a:off x="4647536" y="3647609"/>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presta el servicio de transferencia de datos a través de equipos terminales que tienen una ubicación </a:t>
            </a:r>
          </a:p>
        </p:txBody>
      </p:sp>
      <p:sp>
        <p:nvSpPr>
          <p:cNvPr id="271" name="ANUARIO_ANEXO_P124_L047"/>
          <p:cNvSpPr txBox="1"/>
          <p:nvPr/>
        </p:nvSpPr>
        <p:spPr>
          <a:xfrm>
            <a:off x="4647536" y="3754411"/>
            <a:ext cx="291746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Este servicio se mide en número de accesos.</a:t>
            </a:r>
          </a:p>
        </p:txBody>
      </p:sp>
      <p:sp>
        <p:nvSpPr>
          <p:cNvPr id="272" name="ANUARIO_ANEXO_P124_L048"/>
          <p:cNvSpPr txBox="1"/>
          <p:nvPr/>
        </p:nvSpPr>
        <p:spPr>
          <a:xfrm>
            <a:off x="4647536" y="3967331"/>
            <a:ext cx="412814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 de telefonía:</a:t>
            </a:r>
            <a:r>
              <a:rPr sz="640" b="0" i="0">
                <a:solidFill>
                  <a:srgbClr val="1F3031"/>
                </a:solidFill>
                <a:latin typeface="Noto Sans"/>
              </a:rPr>
              <a:t> Mediante este servicio un operador provee el acceso por el cual presta el </a:t>
            </a:r>
          </a:p>
        </p:txBody>
      </p:sp>
      <p:sp>
        <p:nvSpPr>
          <p:cNvPr id="273" name="ANUARIO_ANEXO_P124_L049"/>
          <p:cNvSpPr txBox="1"/>
          <p:nvPr/>
        </p:nvSpPr>
        <p:spPr>
          <a:xfrm>
            <a:off x="4647536" y="4074817"/>
            <a:ext cx="41277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servicio de transporte de voz, a través de equipos terminales que tienen una ubicación geográfica </a:t>
            </a:r>
          </a:p>
        </p:txBody>
      </p:sp>
      <p:sp>
        <p:nvSpPr>
          <p:cNvPr id="274" name="ANUARIO_ANEXO_P124_L050"/>
          <p:cNvSpPr txBox="1"/>
          <p:nvPr/>
        </p:nvSpPr>
        <p:spPr>
          <a:xfrm>
            <a:off x="4647536" y="4181619"/>
            <a:ext cx="41279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permite, además de efectuar y recibir llamadas locales y/o de larga </a:t>
            </a:r>
          </a:p>
        </p:txBody>
      </p:sp>
      <p:sp>
        <p:nvSpPr>
          <p:cNvPr id="275" name="ANUARIO_ANEXO_P124_L051"/>
          <p:cNvSpPr txBox="1"/>
          <p:nvPr/>
        </p:nvSpPr>
        <p:spPr>
          <a:xfrm>
            <a:off x="4647536" y="4288421"/>
            <a:ext cx="41283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hacer uso de una serie de servicios adicionales tales como acceso a servicios </a:t>
            </a:r>
          </a:p>
        </p:txBody>
      </p:sp>
      <p:sp>
        <p:nvSpPr>
          <p:cNvPr id="276" name="ANUARIO_ANEXO_P124_L052"/>
          <p:cNvSpPr txBox="1"/>
          <p:nvPr/>
        </p:nvSpPr>
        <p:spPr>
          <a:xfrm>
            <a:off x="4647536" y="4395223"/>
            <a:ext cx="358912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emergencia o servicios suplementarios, entre otros. Este servicio se mide en líneas.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_5"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 DEFINICIONES</a:t>
            </a:r>
          </a:p>
        </p:txBody>
      </p:sp>
      <p:sp>
        <p:nvSpPr>
          <p:cNvPr id="224"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125</a:t>
            </a:r>
          </a:p>
        </p:txBody>
      </p:sp>
      <p:sp>
        <p:nvSpPr>
          <p:cNvPr id="225" name="ANUARIO_TABLA_REFERENCIA_0"/>
          <p:cNvSpPr/>
          <p:nvPr/>
        </p:nvSpPr>
        <p:spPr>
          <a:xfrm>
            <a:off x="4648234" y="2112387"/>
            <a:ext cx="4129490" cy="2264360"/>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6" name="Connector 225"/>
          <p:cNvCxnSpPr/>
          <p:nvPr/>
        </p:nvCxnSpPr>
        <p:spPr>
          <a:xfrm>
            <a:off x="4648234" y="2265354"/>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648234" y="2960100"/>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648234" y="331708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648234" y="347002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648234" y="3624355"/>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48234" y="384623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48234" y="4068117"/>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648234" y="4222446"/>
            <a:ext cx="412949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4" name="ANUARIO_ANEXO_P125_L001"/>
          <p:cNvSpPr txBox="1"/>
          <p:nvPr/>
        </p:nvSpPr>
        <p:spPr>
          <a:xfrm>
            <a:off x="528422" y="656471"/>
            <a:ext cx="412829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fijo:</a:t>
            </a:r>
            <a:r>
              <a:rPr sz="640" b="0" i="0">
                <a:solidFill>
                  <a:srgbClr val="1F3031"/>
                </a:solidFill>
                <a:latin typeface="Noto Sans"/>
              </a:rPr>
              <a:t> Servicio de telecomunicaciones para usuarios finales, que se puede prestar mientras </a:t>
            </a:r>
          </a:p>
        </p:txBody>
      </p:sp>
      <p:sp>
        <p:nvSpPr>
          <p:cNvPr id="235" name="ANUARIO_ANEXO_P125_L002"/>
          <p:cNvSpPr txBox="1"/>
          <p:nvPr/>
        </p:nvSpPr>
        <p:spPr>
          <a:xfrm>
            <a:off x="528422" y="765026"/>
            <a:ext cx="412832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Equipo Terminal se encuentra sin movilidad, o con movilidad limitada a un área geográfica </a:t>
            </a:r>
          </a:p>
        </p:txBody>
      </p:sp>
      <p:sp>
        <p:nvSpPr>
          <p:cNvPr id="236" name="ANUARIO_ANEXO_P125_L003"/>
          <p:cNvSpPr txBox="1"/>
          <p:nvPr/>
        </p:nvSpPr>
        <p:spPr>
          <a:xfrm>
            <a:off x="528422" y="872896"/>
            <a:ext cx="28959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por el Operador, independientemente de su Cobertura.</a:t>
            </a:r>
          </a:p>
        </p:txBody>
      </p:sp>
      <p:sp>
        <p:nvSpPr>
          <p:cNvPr id="237" name="ANUARIO_ANEXO_P125_L004"/>
          <p:cNvSpPr txBox="1"/>
          <p:nvPr/>
        </p:nvSpPr>
        <p:spPr>
          <a:xfrm>
            <a:off x="528422" y="1070864"/>
            <a:ext cx="412821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acceso a Internet:</a:t>
            </a:r>
            <a:r>
              <a:rPr sz="640" b="0" i="0">
                <a:solidFill>
                  <a:srgbClr val="1F3031"/>
                </a:solidFill>
                <a:latin typeface="Noto Sans"/>
              </a:rPr>
              <a:t> Este servicio permite enviar y recibir datos dentro del territorio </a:t>
            </a:r>
          </a:p>
        </p:txBody>
      </p:sp>
      <p:sp>
        <p:nvSpPr>
          <p:cNvPr id="238" name="ANUARIO_ANEXO_P125_L005"/>
          <p:cNvSpPr txBox="1"/>
          <p:nvPr/>
        </p:nvSpPr>
        <p:spPr>
          <a:xfrm>
            <a:off x="528422" y="1179418"/>
            <a:ext cx="412823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y/o en itinerancia, a través de equipos terminales que no tienen una ubicación geográfica </a:t>
            </a:r>
          </a:p>
        </p:txBody>
      </p:sp>
      <p:sp>
        <p:nvSpPr>
          <p:cNvPr id="239" name="ANUARIO_ANEXO_P125_L006"/>
          <p:cNvSpPr txBox="1"/>
          <p:nvPr/>
        </p:nvSpPr>
        <p:spPr>
          <a:xfrm>
            <a:off x="528422" y="1287288"/>
            <a:ext cx="19167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determinada. Este servicio se mide en líneas.</a:t>
            </a:r>
          </a:p>
        </p:txBody>
      </p:sp>
      <p:sp>
        <p:nvSpPr>
          <p:cNvPr id="240" name="ANUARIO_ANEXO_P125_L007"/>
          <p:cNvSpPr txBox="1"/>
          <p:nvPr/>
        </p:nvSpPr>
        <p:spPr>
          <a:xfrm>
            <a:off x="528422" y="1485257"/>
            <a:ext cx="412794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 de telefonía:</a:t>
            </a:r>
            <a:r>
              <a:rPr sz="640" b="0" i="0">
                <a:solidFill>
                  <a:srgbClr val="1F3031"/>
                </a:solidFill>
                <a:latin typeface="Noto Sans"/>
              </a:rPr>
              <a:t> Este servicio permite efectuar y recibir llamadas locales, de larga </a:t>
            </a:r>
          </a:p>
        </p:txBody>
      </p:sp>
      <p:sp>
        <p:nvSpPr>
          <p:cNvPr id="241" name="ANUARIO_ANEXO_P125_L008"/>
          <p:cNvSpPr txBox="1"/>
          <p:nvPr/>
        </p:nvSpPr>
        <p:spPr>
          <a:xfrm>
            <a:off x="528422" y="1593810"/>
            <a:ext cx="412820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distancia internacional y/o de itinerancia a través de equipos terminales que no tienen una ubicación </a:t>
            </a:r>
          </a:p>
        </p:txBody>
      </p:sp>
      <p:sp>
        <p:nvSpPr>
          <p:cNvPr id="242" name="ANUARIO_ANEXO_P125_L009"/>
          <p:cNvSpPr txBox="1"/>
          <p:nvPr/>
        </p:nvSpPr>
        <p:spPr>
          <a:xfrm>
            <a:off x="528422" y="1701680"/>
            <a:ext cx="412855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geográfica determinada, además permite hacer uso de una serie de servicios adicionales tales como </a:t>
            </a:r>
          </a:p>
        </p:txBody>
      </p:sp>
      <p:sp>
        <p:nvSpPr>
          <p:cNvPr id="243" name="ANUARIO_ANEXO_P125_L010"/>
          <p:cNvSpPr txBox="1"/>
          <p:nvPr/>
        </p:nvSpPr>
        <p:spPr>
          <a:xfrm>
            <a:off x="528422" y="1809550"/>
            <a:ext cx="412804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acceso a servicios de emergencia o servicios suplementarios, entre otros. Este servicio se mide en </a:t>
            </a:r>
          </a:p>
        </p:txBody>
      </p:sp>
      <p:sp>
        <p:nvSpPr>
          <p:cNvPr id="244" name="ANUARIO_ANEXO_P125_L011"/>
          <p:cNvSpPr txBox="1"/>
          <p:nvPr/>
        </p:nvSpPr>
        <p:spPr>
          <a:xfrm>
            <a:off x="528422" y="1917420"/>
            <a:ext cx="37469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líneas.</a:t>
            </a:r>
          </a:p>
        </p:txBody>
      </p:sp>
      <p:sp>
        <p:nvSpPr>
          <p:cNvPr id="245" name="ANUARIO_ANEXO_P125_L012"/>
          <p:cNvSpPr txBox="1"/>
          <p:nvPr/>
        </p:nvSpPr>
        <p:spPr>
          <a:xfrm>
            <a:off x="528422" y="2115389"/>
            <a:ext cx="412815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Servicio móvil:</a:t>
            </a:r>
            <a:r>
              <a:rPr sz="640" b="0" i="0">
                <a:solidFill>
                  <a:srgbClr val="1F3031"/>
                </a:solidFill>
                <a:latin typeface="Noto Sans"/>
              </a:rPr>
              <a:t> Servicio de telecomunicaciones para usuarios finales que se puede prestar en </a:t>
            </a:r>
          </a:p>
        </p:txBody>
      </p:sp>
      <p:sp>
        <p:nvSpPr>
          <p:cNvPr id="246" name="ANUARIO_ANEXO_P125_L013"/>
          <p:cNvSpPr txBox="1"/>
          <p:nvPr/>
        </p:nvSpPr>
        <p:spPr>
          <a:xfrm>
            <a:off x="528422" y="2223942"/>
            <a:ext cx="412768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movilidad mientras el Equipo Terminal se encuentre en cualquier área geográfica dentro de la </a:t>
            </a:r>
          </a:p>
        </p:txBody>
      </p:sp>
      <p:sp>
        <p:nvSpPr>
          <p:cNvPr id="247" name="ANUARIO_ANEXO_P125_L014"/>
          <p:cNvSpPr txBox="1"/>
          <p:nvPr/>
        </p:nvSpPr>
        <p:spPr>
          <a:xfrm>
            <a:off x="528422" y="2331813"/>
            <a:ext cx="113751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Cobertura del Operador. </a:t>
            </a:r>
          </a:p>
        </p:txBody>
      </p:sp>
      <p:sp>
        <p:nvSpPr>
          <p:cNvPr id="248" name="ANUARIO_ANEXO_P125_L015"/>
          <p:cNvSpPr txBox="1"/>
          <p:nvPr/>
        </p:nvSpPr>
        <p:spPr>
          <a:xfrm>
            <a:off x="528422" y="2529782"/>
            <a:ext cx="17197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a:t>
            </a:r>
          </a:p>
        </p:txBody>
      </p:sp>
      <p:sp>
        <p:nvSpPr>
          <p:cNvPr id="249" name="ANUARIO_ANEXO_P125_L016"/>
          <p:cNvSpPr txBox="1"/>
          <p:nvPr/>
        </p:nvSpPr>
        <p:spPr>
          <a:xfrm>
            <a:off x="528422" y="2728433"/>
            <a:ext cx="4127895" cy="146070"/>
          </a:xfrm>
          <a:prstGeom prst="rect">
            <a:avLst/>
          </a:prstGeom>
          <a:noFill/>
        </p:spPr>
        <p:txBody>
          <a:bodyPr wrap="none" lIns="0" rIns="0" tIns="0" bIns="0">
            <a:noAutofit/>
          </a:bodyPr>
          <a:lstStyle/>
          <a:p>
            <a:pPr>
              <a:spcBef>
                <a:spcPts val="0"/>
              </a:spcBef>
              <a:spcAft>
                <a:spcPts val="0"/>
              </a:spcAft>
            </a:pPr>
            <a:r>
              <a:rPr sz="640" b="1" i="1">
                <a:solidFill>
                  <a:srgbClr val="1F3031"/>
                </a:solidFill>
                <a:latin typeface="Noto Sans"/>
              </a:rPr>
              <a:t>Talk show</a:t>
            </a:r>
            <a:r>
              <a:rPr sz="640" b="1" i="0">
                <a:solidFill>
                  <a:srgbClr val="1F3031"/>
                </a:solidFill>
                <a:latin typeface="Noto Sans"/>
              </a:rPr>
              <a:t>:</a:t>
            </a:r>
            <a:r>
              <a:rPr sz="640" b="0" i="0">
                <a:solidFill>
                  <a:srgbClr val="1F3031"/>
                </a:solidFill>
                <a:latin typeface="Noto Sans"/>
              </a:rPr>
              <a:t> Programa de televisión en el que varios invitados hablan sobre un tema de actualidad o </a:t>
            </a:r>
          </a:p>
        </p:txBody>
      </p:sp>
      <p:sp>
        <p:nvSpPr>
          <p:cNvPr id="250" name="ANUARIO_ANEXO_P125_L017"/>
          <p:cNvSpPr txBox="1"/>
          <p:nvPr/>
        </p:nvSpPr>
        <p:spPr>
          <a:xfrm>
            <a:off x="528422" y="2836987"/>
            <a:ext cx="326967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brindan testimonios personales (los invitados no son especialistas en el tema).</a:t>
            </a:r>
          </a:p>
        </p:txBody>
      </p:sp>
      <p:sp>
        <p:nvSpPr>
          <p:cNvPr id="251" name="ANUARIO_ANEXO_P125_L018"/>
          <p:cNvSpPr txBox="1"/>
          <p:nvPr/>
        </p:nvSpPr>
        <p:spPr>
          <a:xfrm>
            <a:off x="528422" y="3034955"/>
            <a:ext cx="4128221"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Telehogares:</a:t>
            </a:r>
            <a:r>
              <a:rPr sz="640" b="0" i="0">
                <a:solidFill>
                  <a:srgbClr val="1F3031"/>
                </a:solidFill>
                <a:latin typeface="Noto Sans"/>
              </a:rPr>
              <a:t> Hogares en los cuales reside de forma permanente al menos una persona y cuentan </a:t>
            </a:r>
          </a:p>
        </p:txBody>
      </p:sp>
      <p:sp>
        <p:nvSpPr>
          <p:cNvPr id="252" name="ANUARIO_ANEXO_P125_L019"/>
          <p:cNvSpPr txBox="1"/>
          <p:nvPr/>
        </p:nvSpPr>
        <p:spPr>
          <a:xfrm>
            <a:off x="528422" y="3143509"/>
            <a:ext cx="18327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por lo menos con un aparato de televisión.</a:t>
            </a:r>
          </a:p>
        </p:txBody>
      </p:sp>
      <p:sp>
        <p:nvSpPr>
          <p:cNvPr id="253" name="ANUARIO_ANEXO_P125_L020"/>
          <p:cNvSpPr txBox="1"/>
          <p:nvPr/>
        </p:nvSpPr>
        <p:spPr>
          <a:xfrm>
            <a:off x="528422" y="3341477"/>
            <a:ext cx="412841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Telenovelas:</a:t>
            </a:r>
            <a:r>
              <a:rPr sz="640" b="0" i="0">
                <a:solidFill>
                  <a:srgbClr val="1F3031"/>
                </a:solidFill>
                <a:latin typeface="Noto Sans"/>
              </a:rPr>
              <a:t> Historias o novelas producidas para la televisión, transmitidas en episodios diarios </a:t>
            </a:r>
          </a:p>
        </p:txBody>
      </p:sp>
      <p:sp>
        <p:nvSpPr>
          <p:cNvPr id="254" name="ANUARIO_ANEXO_P125_L021"/>
          <p:cNvSpPr txBox="1"/>
          <p:nvPr/>
        </p:nvSpPr>
        <p:spPr>
          <a:xfrm>
            <a:off x="528422" y="3450031"/>
            <a:ext cx="412825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consecutivos. Narran una historia ficticia –aunque puede estar basada en hechos reales— </a:t>
            </a:r>
          </a:p>
        </p:txBody>
      </p:sp>
      <p:sp>
        <p:nvSpPr>
          <p:cNvPr id="255" name="ANUARIO_ANEXO_P125_L022"/>
          <p:cNvSpPr txBox="1"/>
          <p:nvPr/>
        </p:nvSpPr>
        <p:spPr>
          <a:xfrm>
            <a:off x="528422" y="3557901"/>
            <a:ext cx="412793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contenido melodramático, sin que se excluyan otros géneros, y cada capítulo cuenta con los </a:t>
            </a:r>
          </a:p>
        </p:txBody>
      </p:sp>
      <p:sp>
        <p:nvSpPr>
          <p:cNvPr id="256" name="ANUARIO_ANEXO_P125_L023"/>
          <p:cNvSpPr txBox="1"/>
          <p:nvPr/>
        </p:nvSpPr>
        <p:spPr>
          <a:xfrm>
            <a:off x="528422" y="3665772"/>
            <a:ext cx="412831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elementos inicio, desarrollo, clímax y, al término, una situación de suspenso que puede ser coincidente </a:t>
            </a:r>
          </a:p>
        </p:txBody>
      </p:sp>
      <p:sp>
        <p:nvSpPr>
          <p:cNvPr id="257" name="ANUARIO_ANEXO_P125_L024"/>
          <p:cNvSpPr txBox="1"/>
          <p:nvPr/>
        </p:nvSpPr>
        <p:spPr>
          <a:xfrm>
            <a:off x="528422" y="3773642"/>
            <a:ext cx="66757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el clímax.</a:t>
            </a:r>
          </a:p>
        </p:txBody>
      </p:sp>
      <p:sp>
        <p:nvSpPr>
          <p:cNvPr id="258" name="ANUARIO_ANEXO_P125_L025"/>
          <p:cNvSpPr txBox="1"/>
          <p:nvPr/>
        </p:nvSpPr>
        <p:spPr>
          <a:xfrm>
            <a:off x="528422" y="3971609"/>
            <a:ext cx="4128158"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Televisión por protocolo de Internet (IPTV, por sus siglas en inglés </a:t>
            </a:r>
            <a:r>
              <a:rPr sz="640" b="1" i="1">
                <a:solidFill>
                  <a:srgbClr val="1F3031"/>
                </a:solidFill>
                <a:latin typeface="Noto Sans"/>
              </a:rPr>
              <a:t>Internet Protocol Television</a:t>
            </a:r>
            <a:r>
              <a:rPr sz="640" b="1" i="0">
                <a:solidFill>
                  <a:srgbClr val="1F3031"/>
                </a:solidFill>
                <a:latin typeface="Noto Sans"/>
              </a:rPr>
              <a:t>):</a:t>
            </a:r>
            <a:r>
              <a:rPr sz="640" b="0" i="0">
                <a:solidFill>
                  <a:srgbClr val="1F3031"/>
                </a:solidFill>
                <a:latin typeface="Noto Sans"/>
              </a:rPr>
              <a:t> La </a:t>
            </a:r>
          </a:p>
        </p:txBody>
      </p:sp>
      <p:sp>
        <p:nvSpPr>
          <p:cNvPr id="259" name="ANUARIO_ANEXO_P125_L026"/>
          <p:cNvSpPr txBox="1"/>
          <p:nvPr/>
        </p:nvSpPr>
        <p:spPr>
          <a:xfrm>
            <a:off x="528422" y="4080164"/>
            <a:ext cx="41276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televisión sobre el protocolo IP o IPTV es una tecnología que permite que los servicios de televisión </a:t>
            </a:r>
          </a:p>
        </p:txBody>
      </p:sp>
      <p:sp>
        <p:nvSpPr>
          <p:cNvPr id="260" name="ANUARIO_ANEXO_P125_L027"/>
          <p:cNvSpPr txBox="1"/>
          <p:nvPr/>
        </p:nvSpPr>
        <p:spPr>
          <a:xfrm>
            <a:off x="528422" y="4188034"/>
            <a:ext cx="412849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sean emitidos a través de la banda ancha de una red de paquete de datos privados mediante el uso </a:t>
            </a:r>
          </a:p>
        </p:txBody>
      </p:sp>
      <p:sp>
        <p:nvSpPr>
          <p:cNvPr id="261" name="ANUARIO_ANEXO_P125_L028"/>
          <p:cNvSpPr txBox="1"/>
          <p:nvPr/>
        </p:nvSpPr>
        <p:spPr>
          <a:xfrm>
            <a:off x="528422" y="4295904"/>
            <a:ext cx="115845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protocolo de Internet.</a:t>
            </a:r>
          </a:p>
        </p:txBody>
      </p:sp>
      <p:sp>
        <p:nvSpPr>
          <p:cNvPr id="262" name="ANUARIO_ANEXO_P125_L029"/>
          <p:cNvSpPr txBox="1"/>
          <p:nvPr/>
        </p:nvSpPr>
        <p:spPr>
          <a:xfrm>
            <a:off x="4647536" y="656471"/>
            <a:ext cx="184899"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a:t>
            </a:r>
          </a:p>
        </p:txBody>
      </p:sp>
      <p:sp>
        <p:nvSpPr>
          <p:cNvPr id="263" name="ANUARIO_ANEXO_P125_L030"/>
          <p:cNvSpPr txBox="1"/>
          <p:nvPr/>
        </p:nvSpPr>
        <p:spPr>
          <a:xfrm>
            <a:off x="4647536" y="877083"/>
            <a:ext cx="4128240"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Unidades Económicas (UE):</a:t>
            </a:r>
            <a:r>
              <a:rPr sz="640" b="0" i="0">
                <a:solidFill>
                  <a:srgbClr val="1F3031"/>
                </a:solidFill>
                <a:latin typeface="Noto Sans"/>
              </a:rPr>
              <a:t> Son las unidades estadísticas sobre las cuales se recopilan datos, </a:t>
            </a:r>
          </a:p>
        </p:txBody>
      </p:sp>
      <p:sp>
        <p:nvSpPr>
          <p:cNvPr id="264" name="ANUARIO_ANEXO_P125_L031"/>
          <p:cNvSpPr txBox="1"/>
          <p:nvPr/>
        </p:nvSpPr>
        <p:spPr>
          <a:xfrm>
            <a:off x="4647536" y="991575"/>
            <a:ext cx="412796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dedican principalmente a un tipo de actividad de manera permanente en construcciones e </a:t>
            </a:r>
          </a:p>
        </p:txBody>
      </p:sp>
      <p:sp>
        <p:nvSpPr>
          <p:cNvPr id="265" name="ANUARIO_ANEXO_P125_L032"/>
          <p:cNvSpPr txBox="1"/>
          <p:nvPr/>
        </p:nvSpPr>
        <p:spPr>
          <a:xfrm>
            <a:off x="4647536" y="1105384"/>
            <a:ext cx="412778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instalaciones fijas, combinando acciones y recursos bajo el control de una sola entidad propietaria o </a:t>
            </a:r>
          </a:p>
        </p:txBody>
      </p:sp>
      <p:sp>
        <p:nvSpPr>
          <p:cNvPr id="266" name="ANUARIO_ANEXO_P125_L033"/>
          <p:cNvSpPr txBox="1"/>
          <p:nvPr/>
        </p:nvSpPr>
        <p:spPr>
          <a:xfrm>
            <a:off x="4647536" y="1219193"/>
            <a:ext cx="412851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controladora, para llevar a cabo producción de bienes y servicios, sea con fines mercantiles o no. Se </a:t>
            </a:r>
          </a:p>
        </p:txBody>
      </p:sp>
      <p:sp>
        <p:nvSpPr>
          <p:cNvPr id="267" name="ANUARIO_ANEXO_P125_L034"/>
          <p:cNvSpPr txBox="1"/>
          <p:nvPr/>
        </p:nvSpPr>
        <p:spPr>
          <a:xfrm>
            <a:off x="4647536" y="1333002"/>
            <a:ext cx="412842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definen por sector de acuerdo con la disponibilidad de registros contables y la necesidad de obtener </a:t>
            </a:r>
          </a:p>
        </p:txBody>
      </p:sp>
      <p:sp>
        <p:nvSpPr>
          <p:cNvPr id="268" name="ANUARIO_ANEXO_P125_L035"/>
          <p:cNvSpPr txBox="1"/>
          <p:nvPr/>
        </p:nvSpPr>
        <p:spPr>
          <a:xfrm>
            <a:off x="4647536" y="1446811"/>
            <a:ext cx="226905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con el mayor nivel de precisión analítica.</a:t>
            </a:r>
          </a:p>
        </p:txBody>
      </p:sp>
      <p:sp>
        <p:nvSpPr>
          <p:cNvPr id="269" name="ANUARIO_ANEXO_P125_L036"/>
          <p:cNvSpPr txBox="1"/>
          <p:nvPr/>
        </p:nvSpPr>
        <p:spPr>
          <a:xfrm>
            <a:off x="4647536" y="1666738"/>
            <a:ext cx="4128336" cy="146070"/>
          </a:xfrm>
          <a:prstGeom prst="rect">
            <a:avLst/>
          </a:prstGeom>
          <a:noFill/>
        </p:spPr>
        <p:txBody>
          <a:bodyPr wrap="none" lIns="0" rIns="0" tIns="0" bIns="0">
            <a:noAutofit/>
          </a:bodyPr>
          <a:lstStyle/>
          <a:p>
            <a:pPr>
              <a:spcBef>
                <a:spcPts val="0"/>
              </a:spcBef>
              <a:spcAft>
                <a:spcPts val="0"/>
              </a:spcAft>
            </a:pPr>
            <a:r>
              <a:rPr sz="640" b="1" i="0">
                <a:solidFill>
                  <a:srgbClr val="1F3031"/>
                </a:solidFill>
                <a:latin typeface="Noto Sans"/>
              </a:rPr>
              <a:t>Universo:</a:t>
            </a:r>
            <a:r>
              <a:rPr sz="640" b="0" i="0">
                <a:solidFill>
                  <a:srgbClr val="1F3031"/>
                </a:solidFill>
                <a:latin typeface="Noto Sans"/>
              </a:rPr>
              <a:t> Conjunto de individuos o elementos que tienen una o más características en común y que </a:t>
            </a:r>
          </a:p>
        </p:txBody>
      </p:sp>
      <p:sp>
        <p:nvSpPr>
          <p:cNvPr id="270" name="ANUARIO_ANEXO_P125_L037"/>
          <p:cNvSpPr txBox="1"/>
          <p:nvPr/>
        </p:nvSpPr>
        <p:spPr>
          <a:xfrm>
            <a:off x="4647536" y="1781231"/>
            <a:ext cx="412778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 someten a un estudio estadístico. En este caso conformado por los individuos capaces de recibir </a:t>
            </a:r>
          </a:p>
        </p:txBody>
      </p:sp>
      <p:sp>
        <p:nvSpPr>
          <p:cNvPr id="271" name="ANUARIO_ANEXO_P125_L038"/>
          <p:cNvSpPr txBox="1"/>
          <p:nvPr/>
        </p:nvSpPr>
        <p:spPr>
          <a:xfrm>
            <a:off x="4647536" y="1895040"/>
            <a:ext cx="226539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señales de audio y video asociado (televisión) o radio.</a:t>
            </a:r>
          </a:p>
        </p:txBody>
      </p:sp>
      <p:sp>
        <p:nvSpPr>
          <p:cNvPr id="272" name="ANUARIO_ANEXO_P125_L039"/>
          <p:cNvSpPr txBox="1"/>
          <p:nvPr/>
        </p:nvSpPr>
        <p:spPr>
          <a:xfrm>
            <a:off x="5502008" y="2145346"/>
            <a:ext cx="477989"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Televisión</a:t>
            </a:r>
          </a:p>
        </p:txBody>
      </p:sp>
      <p:sp>
        <p:nvSpPr>
          <p:cNvPr id="273" name="ANUARIO_ANEXO_P125_L040"/>
          <p:cNvSpPr txBox="1"/>
          <p:nvPr/>
        </p:nvSpPr>
        <p:spPr>
          <a:xfrm>
            <a:off x="7642940" y="2145346"/>
            <a:ext cx="326966" cy="132954"/>
          </a:xfrm>
          <a:prstGeom prst="rect">
            <a:avLst/>
          </a:prstGeom>
          <a:noFill/>
        </p:spPr>
        <p:txBody>
          <a:bodyPr wrap="none" lIns="0" rIns="0" tIns="0" bIns="0">
            <a:noAutofit/>
          </a:bodyPr>
          <a:lstStyle/>
          <a:p>
            <a:pPr>
              <a:spcBef>
                <a:spcPts val="0"/>
              </a:spcBef>
              <a:spcAft>
                <a:spcPts val="0"/>
              </a:spcAft>
            </a:pPr>
            <a:r>
              <a:rPr sz="560" b="1" i="0">
                <a:solidFill>
                  <a:srgbClr val="1F4544"/>
                </a:solidFill>
                <a:latin typeface="Noto Sans"/>
              </a:rPr>
              <a:t>Radio</a:t>
            </a:r>
          </a:p>
        </p:txBody>
      </p:sp>
      <p:sp>
        <p:nvSpPr>
          <p:cNvPr id="274" name="ANUARIO_ANEXO_P125_L041"/>
          <p:cNvSpPr txBox="1"/>
          <p:nvPr/>
        </p:nvSpPr>
        <p:spPr>
          <a:xfrm>
            <a:off x="4742180"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75" name="ANUARIO_ANEXO_P125_L042"/>
          <p:cNvSpPr txBox="1"/>
          <p:nvPr/>
        </p:nvSpPr>
        <p:spPr>
          <a:xfrm>
            <a:off x="5587522" y="2406381"/>
            <a:ext cx="111027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4 o más años que </a:t>
            </a:r>
          </a:p>
        </p:txBody>
      </p:sp>
      <p:sp>
        <p:nvSpPr>
          <p:cNvPr id="276" name="ANUARIO_ANEXO_P125_L043"/>
          <p:cNvSpPr txBox="1"/>
          <p:nvPr/>
        </p:nvSpPr>
        <p:spPr>
          <a:xfrm>
            <a:off x="5508681" y="2489686"/>
            <a:ext cx="126796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cuenten con un televisor funcional </a:t>
            </a:r>
          </a:p>
        </p:txBody>
      </p:sp>
      <p:sp>
        <p:nvSpPr>
          <p:cNvPr id="277" name="ANUARIO_ANEXO_P125_L044"/>
          <p:cNvSpPr txBox="1"/>
          <p:nvPr/>
        </p:nvSpPr>
        <p:spPr>
          <a:xfrm>
            <a:off x="5605982" y="2572992"/>
            <a:ext cx="107335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en el hogar. Se incluyen a los </a:t>
            </a:r>
          </a:p>
        </p:txBody>
      </p:sp>
      <p:sp>
        <p:nvSpPr>
          <p:cNvPr id="278" name="ANUARIO_ANEXO_P125_L045"/>
          <p:cNvSpPr txBox="1"/>
          <p:nvPr/>
        </p:nvSpPr>
        <p:spPr>
          <a:xfrm>
            <a:off x="5463182" y="2656159"/>
            <a:ext cx="1358952" cy="125078"/>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usuarios visitantes en el hogar (</a:t>
            </a:r>
            <a:r>
              <a:rPr sz="520" b="0" i="1">
                <a:solidFill>
                  <a:srgbClr val="1F3031"/>
                </a:solidFill>
                <a:latin typeface="Noto Sans"/>
              </a:rPr>
              <a:t>Guest </a:t>
            </a:r>
          </a:p>
        </p:txBody>
      </p:sp>
      <p:sp>
        <p:nvSpPr>
          <p:cNvPr id="279" name="ANUARIO_ANEXO_P125_L046"/>
          <p:cNvSpPr txBox="1"/>
          <p:nvPr/>
        </p:nvSpPr>
        <p:spPr>
          <a:xfrm>
            <a:off x="5910162" y="2739464"/>
            <a:ext cx="448346" cy="125078"/>
          </a:xfrm>
          <a:prstGeom prst="rect">
            <a:avLst/>
          </a:prstGeom>
          <a:noFill/>
        </p:spPr>
        <p:txBody>
          <a:bodyPr wrap="none" lIns="0" rIns="0" tIns="0" bIns="0">
            <a:noAutofit/>
          </a:bodyPr>
          <a:lstStyle/>
          <a:p>
            <a:pPr>
              <a:spcBef>
                <a:spcPts val="0"/>
              </a:spcBef>
              <a:spcAft>
                <a:spcPts val="0"/>
              </a:spcAft>
            </a:pPr>
            <a:r>
              <a:rPr sz="520" b="0" i="1">
                <a:solidFill>
                  <a:srgbClr val="1F3031"/>
                </a:solidFill>
                <a:latin typeface="Noto Sans"/>
              </a:rPr>
              <a:t>Viewers</a:t>
            </a:r>
            <a:r>
              <a:rPr sz="520" b="0" i="0">
                <a:solidFill>
                  <a:srgbClr val="1F3031"/>
                </a:solidFill>
                <a:latin typeface="Noto Sans"/>
              </a:rPr>
              <a:t>).</a:t>
            </a:r>
            <a:r>
              <a:rPr sz="303" b="0" i="0">
                <a:solidFill>
                  <a:srgbClr val="1F3031"/>
                </a:solidFill>
                <a:latin typeface="Noto Sans"/>
              </a:rPr>
              <a:t>12</a:t>
            </a:r>
          </a:p>
        </p:txBody>
      </p:sp>
      <p:sp>
        <p:nvSpPr>
          <p:cNvPr id="280" name="ANUARIO_ANEXO_P125_L047"/>
          <p:cNvSpPr txBox="1"/>
          <p:nvPr/>
        </p:nvSpPr>
        <p:spPr>
          <a:xfrm>
            <a:off x="6816691" y="2569190"/>
            <a:ext cx="717652" cy="132954"/>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Especificaciones</a:t>
            </a:r>
          </a:p>
        </p:txBody>
      </p:sp>
      <p:sp>
        <p:nvSpPr>
          <p:cNvPr id="281" name="ANUARIO_ANEXO_P125_L048"/>
          <p:cNvSpPr txBox="1"/>
          <p:nvPr/>
        </p:nvSpPr>
        <p:spPr>
          <a:xfrm>
            <a:off x="7627455" y="2572992"/>
            <a:ext cx="1160303"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Personas de 8 años en adelante.</a:t>
            </a:r>
          </a:p>
        </p:txBody>
      </p:sp>
      <p:sp>
        <p:nvSpPr>
          <p:cNvPr id="282" name="ANUARIO_ANEXO_P125_L049"/>
          <p:cNvSpPr txBox="1"/>
          <p:nvPr/>
        </p:nvSpPr>
        <p:spPr>
          <a:xfrm>
            <a:off x="4854878" y="3095056"/>
            <a:ext cx="492249"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3" name="ANUARIO_ANEXO_P125_L050"/>
          <p:cNvSpPr txBox="1"/>
          <p:nvPr/>
        </p:nvSpPr>
        <p:spPr>
          <a:xfrm>
            <a:off x="5575104" y="3057205"/>
            <a:ext cx="1135116"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 ciudades que comprende el </a:t>
            </a:r>
          </a:p>
        </p:txBody>
      </p:sp>
      <p:sp>
        <p:nvSpPr>
          <p:cNvPr id="284" name="ANUARIO_ANEXO_P125_L051"/>
          <p:cNvSpPr txBox="1"/>
          <p:nvPr/>
        </p:nvSpPr>
        <p:spPr>
          <a:xfrm>
            <a:off x="5529385" y="3140511"/>
            <a:ext cx="120989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estudio de Nielsen IBOPE México</a:t>
            </a:r>
          </a:p>
        </p:txBody>
      </p:sp>
      <p:sp>
        <p:nvSpPr>
          <p:cNvPr id="285" name="ANUARIO_ANEXO_P125_L052"/>
          <p:cNvSpPr txBox="1"/>
          <p:nvPr/>
        </p:nvSpPr>
        <p:spPr>
          <a:xfrm>
            <a:off x="6929390" y="3095056"/>
            <a:ext cx="492250"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Cobertura</a:t>
            </a:r>
          </a:p>
        </p:txBody>
      </p:sp>
      <p:sp>
        <p:nvSpPr>
          <p:cNvPr id="286" name="ANUARIO_ANEXO_P125_L053"/>
          <p:cNvSpPr txBox="1"/>
          <p:nvPr/>
        </p:nvSpPr>
        <p:spPr>
          <a:xfrm>
            <a:off x="7612033" y="3057205"/>
            <a:ext cx="12077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Ciudad de México, Guadalajara y </a:t>
            </a:r>
          </a:p>
        </p:txBody>
      </p:sp>
      <p:sp>
        <p:nvSpPr>
          <p:cNvPr id="287" name="ANUARIO_ANEXO_P125_L054"/>
          <p:cNvSpPr txBox="1"/>
          <p:nvPr/>
        </p:nvSpPr>
        <p:spPr>
          <a:xfrm>
            <a:off x="7974705" y="3140511"/>
            <a:ext cx="465805"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Monterrey</a:t>
            </a:r>
          </a:p>
        </p:txBody>
      </p:sp>
      <p:sp>
        <p:nvSpPr>
          <p:cNvPr id="288" name="ANUARIO_ANEXO_P125_L055"/>
          <p:cNvSpPr txBox="1"/>
          <p:nvPr/>
        </p:nvSpPr>
        <p:spPr>
          <a:xfrm>
            <a:off x="5520290" y="3350018"/>
            <a:ext cx="441422"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a:t>
            </a:r>
          </a:p>
        </p:txBody>
      </p:sp>
      <p:sp>
        <p:nvSpPr>
          <p:cNvPr id="289" name="ANUARIO_ANEXO_P125_L056"/>
          <p:cNvSpPr txBox="1"/>
          <p:nvPr/>
        </p:nvSpPr>
        <p:spPr>
          <a:xfrm>
            <a:off x="7568092" y="3427183"/>
            <a:ext cx="47666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Universos</a:t>
            </a:r>
          </a:p>
        </p:txBody>
      </p:sp>
      <p:sp>
        <p:nvSpPr>
          <p:cNvPr id="290" name="ANUARIO_ANEXO_P125_L057"/>
          <p:cNvSpPr txBox="1"/>
          <p:nvPr/>
        </p:nvSpPr>
        <p:spPr>
          <a:xfrm>
            <a:off x="4818937" y="3503652"/>
            <a:ext cx="564134"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28 Ciudades</a:t>
            </a:r>
          </a:p>
        </p:txBody>
      </p:sp>
      <p:sp>
        <p:nvSpPr>
          <p:cNvPr id="291" name="ANUARIO_ANEXO_P125_L058"/>
          <p:cNvSpPr txBox="1"/>
          <p:nvPr/>
        </p:nvSpPr>
        <p:spPr>
          <a:xfrm>
            <a:off x="5910449" y="3507455"/>
            <a:ext cx="44776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58,151,356</a:t>
            </a:r>
          </a:p>
        </p:txBody>
      </p:sp>
      <p:sp>
        <p:nvSpPr>
          <p:cNvPr id="292" name="ANUARIO_ANEXO_P125_L059"/>
          <p:cNvSpPr txBox="1"/>
          <p:nvPr/>
        </p:nvSpPr>
        <p:spPr>
          <a:xfrm>
            <a:off x="4717851" y="3691757"/>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3" name="ANUARIO_ANEXO_P125_L060"/>
          <p:cNvSpPr txBox="1"/>
          <p:nvPr/>
        </p:nvSpPr>
        <p:spPr>
          <a:xfrm>
            <a:off x="5899156" y="3695560"/>
            <a:ext cx="470357"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20,258,180</a:t>
            </a:r>
          </a:p>
        </p:txBody>
      </p:sp>
      <p:sp>
        <p:nvSpPr>
          <p:cNvPr id="294" name="ANUARIO_ANEXO_P125_L061"/>
          <p:cNvSpPr txBox="1"/>
          <p:nvPr/>
        </p:nvSpPr>
        <p:spPr>
          <a:xfrm>
            <a:off x="6826865" y="3691757"/>
            <a:ext cx="697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Total 3 ciudades</a:t>
            </a:r>
          </a:p>
        </p:txBody>
      </p:sp>
      <p:sp>
        <p:nvSpPr>
          <p:cNvPr id="295" name="ANUARIO_ANEXO_P125_L062"/>
          <p:cNvSpPr txBox="1"/>
          <p:nvPr/>
        </p:nvSpPr>
        <p:spPr>
          <a:xfrm>
            <a:off x="7977713" y="3695560"/>
            <a:ext cx="45978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27,325,688</a:t>
            </a:r>
          </a:p>
        </p:txBody>
      </p:sp>
      <p:sp>
        <p:nvSpPr>
          <p:cNvPr id="296" name="ANUARIO_ANEXO_P125_L063"/>
          <p:cNvSpPr txBox="1"/>
          <p:nvPr/>
        </p:nvSpPr>
        <p:spPr>
          <a:xfrm>
            <a:off x="4825096" y="3913638"/>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297" name="ANUARIO_ANEXO_P125_L064"/>
          <p:cNvSpPr txBox="1"/>
          <p:nvPr/>
        </p:nvSpPr>
        <p:spPr>
          <a:xfrm>
            <a:off x="5931735" y="3917441"/>
            <a:ext cx="405198"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4,840,117</a:t>
            </a:r>
          </a:p>
        </p:txBody>
      </p:sp>
      <p:sp>
        <p:nvSpPr>
          <p:cNvPr id="298" name="ANUARIO_ANEXO_P125_L065"/>
          <p:cNvSpPr txBox="1"/>
          <p:nvPr/>
        </p:nvSpPr>
        <p:spPr>
          <a:xfrm>
            <a:off x="6792363" y="3913638"/>
            <a:ext cx="76630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Ciudad de México</a:t>
            </a:r>
          </a:p>
        </p:txBody>
      </p:sp>
      <p:sp>
        <p:nvSpPr>
          <p:cNvPr id="299" name="ANUARIO_ANEXO_P125_L066"/>
          <p:cNvSpPr txBox="1"/>
          <p:nvPr/>
        </p:nvSpPr>
        <p:spPr>
          <a:xfrm>
            <a:off x="7977675" y="3917441"/>
            <a:ext cx="45985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18,224,996</a:t>
            </a:r>
          </a:p>
        </p:txBody>
      </p:sp>
      <p:sp>
        <p:nvSpPr>
          <p:cNvPr id="300" name="ANUARIO_ANEXO_P125_L067"/>
          <p:cNvSpPr txBox="1"/>
          <p:nvPr/>
        </p:nvSpPr>
        <p:spPr>
          <a:xfrm>
            <a:off x="4849497" y="4101743"/>
            <a:ext cx="5030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1" name="ANUARIO_ANEXO_P125_L068"/>
          <p:cNvSpPr txBox="1"/>
          <p:nvPr/>
        </p:nvSpPr>
        <p:spPr>
          <a:xfrm>
            <a:off x="5925797" y="4105545"/>
            <a:ext cx="417072"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4,819,593</a:t>
            </a:r>
          </a:p>
        </p:txBody>
      </p:sp>
      <p:sp>
        <p:nvSpPr>
          <p:cNvPr id="302" name="ANUARIO_ANEXO_P125_L069"/>
          <p:cNvSpPr txBox="1"/>
          <p:nvPr/>
        </p:nvSpPr>
        <p:spPr>
          <a:xfrm>
            <a:off x="6899608" y="4101743"/>
            <a:ext cx="551816"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Guadalajara</a:t>
            </a:r>
          </a:p>
        </p:txBody>
      </p:sp>
      <p:sp>
        <p:nvSpPr>
          <p:cNvPr id="303" name="ANUARIO_ANEXO_P125_L070"/>
          <p:cNvSpPr txBox="1"/>
          <p:nvPr/>
        </p:nvSpPr>
        <p:spPr>
          <a:xfrm>
            <a:off x="7989260" y="4105545"/>
            <a:ext cx="43669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4,640,377</a:t>
            </a:r>
          </a:p>
        </p:txBody>
      </p:sp>
      <p:sp>
        <p:nvSpPr>
          <p:cNvPr id="304" name="ANUARIO_ANEXO_P125_L071"/>
          <p:cNvSpPr txBox="1"/>
          <p:nvPr/>
        </p:nvSpPr>
        <p:spPr>
          <a:xfrm>
            <a:off x="4820067" y="4256072"/>
            <a:ext cx="561873"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25 Ciudades</a:t>
            </a:r>
          </a:p>
        </p:txBody>
      </p:sp>
      <p:sp>
        <p:nvSpPr>
          <p:cNvPr id="305" name="ANUARIO_ANEXO_P125_L072"/>
          <p:cNvSpPr txBox="1"/>
          <p:nvPr/>
        </p:nvSpPr>
        <p:spPr>
          <a:xfrm>
            <a:off x="5897564" y="4259874"/>
            <a:ext cx="473541"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28,233,465</a:t>
            </a:r>
          </a:p>
        </p:txBody>
      </p:sp>
      <p:sp>
        <p:nvSpPr>
          <p:cNvPr id="306" name="ANUARIO_ANEXO_P125_L073"/>
          <p:cNvSpPr txBox="1"/>
          <p:nvPr/>
        </p:nvSpPr>
        <p:spPr>
          <a:xfrm>
            <a:off x="6924009" y="4256072"/>
            <a:ext cx="503017" cy="132955"/>
          </a:xfrm>
          <a:prstGeom prst="rect">
            <a:avLst/>
          </a:prstGeom>
          <a:noFill/>
        </p:spPr>
        <p:txBody>
          <a:bodyPr wrap="none" lIns="0" rIns="0" tIns="0" bIns="0">
            <a:noAutofit/>
          </a:bodyPr>
          <a:lstStyle/>
          <a:p>
            <a:pPr>
              <a:spcBef>
                <a:spcPts val="0"/>
              </a:spcBef>
              <a:spcAft>
                <a:spcPts val="0"/>
              </a:spcAft>
            </a:pPr>
            <a:r>
              <a:rPr sz="560" b="1" i="0">
                <a:solidFill>
                  <a:srgbClr val="1F3031"/>
                </a:solidFill>
                <a:latin typeface="Noto Sans"/>
              </a:rPr>
              <a:t>Monterrey</a:t>
            </a:r>
          </a:p>
        </p:txBody>
      </p:sp>
      <p:sp>
        <p:nvSpPr>
          <p:cNvPr id="307" name="ANUARIO_ANEXO_P125_L074"/>
          <p:cNvSpPr txBox="1"/>
          <p:nvPr/>
        </p:nvSpPr>
        <p:spPr>
          <a:xfrm>
            <a:off x="7991867" y="4259874"/>
            <a:ext cx="431479" cy="124939"/>
          </a:xfrm>
          <a:prstGeom prst="rect">
            <a:avLst/>
          </a:prstGeom>
          <a:noFill/>
        </p:spPr>
        <p:txBody>
          <a:bodyPr wrap="none" lIns="0" rIns="0" tIns="0" bIns="0">
            <a:noAutofit/>
          </a:bodyPr>
          <a:lstStyle/>
          <a:p>
            <a:pPr>
              <a:spcBef>
                <a:spcPts val="0"/>
              </a:spcBef>
              <a:spcAft>
                <a:spcPts val="0"/>
              </a:spcAft>
            </a:pPr>
            <a:r>
              <a:rPr sz="520" b="0" i="0">
                <a:solidFill>
                  <a:srgbClr val="1F3031"/>
                </a:solidFill>
                <a:latin typeface="Noto Sans"/>
              </a:rPr>
              <a:t>4,460,315</a:t>
            </a:r>
          </a:p>
        </p:txBody>
      </p:sp>
      <p:sp>
        <p:nvSpPr>
          <p:cNvPr id="308" name="ANUARIO_ANEXO_P125_L075"/>
          <p:cNvSpPr txBox="1"/>
          <p:nvPr/>
        </p:nvSpPr>
        <p:spPr>
          <a:xfrm>
            <a:off x="383625" y="4527909"/>
            <a:ext cx="6321051"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12</a:t>
            </a:r>
            <a:r>
              <a:rPr sz="480" b="0" i="0">
                <a:solidFill>
                  <a:srgbClr val="1F3031"/>
                </a:solidFill>
                <a:latin typeface="Noto Sans"/>
              </a:rPr>
              <a:t> El Universo de TV corresponde al promedio de los universos del estudio de Nielsen IBOPE México para el periodo de julio de 2023 a junio de 2024, obtenido a través de la evaluación del </a:t>
            </a:r>
            <a:r>
              <a:rPr sz="480" b="0" i="1">
                <a:solidFill>
                  <a:srgbClr val="1F3031"/>
                </a:solidFill>
                <a:latin typeface="Noto Sans"/>
              </a:rPr>
              <a:t>target</a:t>
            </a:r>
            <a:r>
              <a:rPr sz="480" b="0" i="0">
                <a:solidFill>
                  <a:srgbClr val="1F3031"/>
                </a:solidFill>
                <a:latin typeface="Noto Sans"/>
              </a:rPr>
              <a:t> en el periodo.</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1"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126</a:t>
            </a:r>
          </a:p>
        </p:txBody>
      </p:sp>
      <p:sp>
        <p:nvSpPr>
          <p:cNvPr id="222" name="ANUARIO_ANEXO_P126_L001"/>
          <p:cNvSpPr txBox="1"/>
          <p:nvPr/>
        </p:nvSpPr>
        <p:spPr>
          <a:xfrm>
            <a:off x="589682" y="653802"/>
            <a:ext cx="2064194" cy="211646"/>
          </a:xfrm>
          <a:prstGeom prst="rect">
            <a:avLst/>
          </a:prstGeom>
          <a:noFill/>
        </p:spPr>
        <p:txBody>
          <a:bodyPr wrap="none" lIns="0" rIns="0" tIns="0" bIns="0">
            <a:noAutofit/>
          </a:bodyPr>
          <a:lstStyle/>
          <a:p>
            <a:pPr>
              <a:spcBef>
                <a:spcPts val="0"/>
              </a:spcBef>
              <a:spcAft>
                <a:spcPts val="0"/>
              </a:spcAft>
            </a:pPr>
            <a:r>
              <a:rPr sz="1040" b="1" i="0">
                <a:solidFill>
                  <a:srgbClr val="484979"/>
                </a:solidFill>
                <a:latin typeface="Noto Sans"/>
              </a:rPr>
              <a:t>ANEXO III. METODOLOGÍAS</a:t>
            </a:r>
          </a:p>
        </p:txBody>
      </p:sp>
      <p:sp>
        <p:nvSpPr>
          <p:cNvPr id="223" name="ANUARIO_ANEXO_P126_L002"/>
          <p:cNvSpPr txBox="1"/>
          <p:nvPr/>
        </p:nvSpPr>
        <p:spPr>
          <a:xfrm>
            <a:off x="383625" y="1066161"/>
            <a:ext cx="3990354"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SOBRE INFORMACIÓN DE SERVICIOS DE TELECOMUNICACIONES</a:t>
            </a:r>
          </a:p>
        </p:txBody>
      </p:sp>
      <p:sp>
        <p:nvSpPr>
          <p:cNvPr id="224" name="ANUARIO_ANEXO_P126_L003"/>
          <p:cNvSpPr txBox="1"/>
          <p:nvPr/>
        </p:nvSpPr>
        <p:spPr>
          <a:xfrm>
            <a:off x="528422" y="1397086"/>
            <a:ext cx="824724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Los indicadores mostrados en el presente Anuario Estadístico fueron elaborados con la información trimestral proporcionada por los operadores de telecomunicaciones a la CRT, la cual es revisada, procesada </a:t>
            </a:r>
          </a:p>
        </p:txBody>
      </p:sp>
      <p:sp>
        <p:nvSpPr>
          <p:cNvPr id="225" name="ANUARIO_ANEXO_P126_L004"/>
          <p:cNvSpPr txBox="1"/>
          <p:nvPr/>
        </p:nvSpPr>
        <p:spPr>
          <a:xfrm>
            <a:off x="528422" y="1503888"/>
            <a:ext cx="593549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analizada por la Coordinación General de Planeación Estratégica para su publicación en el Banco de Información de Telecomunicaciones (BIT).</a:t>
            </a:r>
          </a:p>
        </p:txBody>
      </p:sp>
      <p:sp>
        <p:nvSpPr>
          <p:cNvPr id="226" name="ANUARIO_ANEXO_P126_L005"/>
          <p:cNvSpPr txBox="1"/>
          <p:nvPr/>
        </p:nvSpPr>
        <p:spPr>
          <a:xfrm>
            <a:off x="528422" y="1717491"/>
            <a:ext cx="824792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Debido a la naturaleza de los servicios de telecomunicaciones móviles, el número de líneas de los servicios móviles de telefonía y de acceso a Internet no cuentan con desagregación a nivel entidad </a:t>
            </a:r>
          </a:p>
        </p:txBody>
      </p:sp>
      <p:sp>
        <p:nvSpPr>
          <p:cNvPr id="227" name="ANUARIO_ANEXO_P126_L006"/>
          <p:cNvSpPr txBox="1"/>
          <p:nvPr/>
        </p:nvSpPr>
        <p:spPr>
          <a:xfrm>
            <a:off x="528422" y="1824293"/>
            <a:ext cx="824839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federativa, por lo que, para obtener los indicadores del número de líneas por cada 100 habitantes, se obtuvo información de la ENDUTIH 2025 y se tomaron los siguientes supuestos de acuerdo con el tipo </a:t>
            </a:r>
          </a:p>
        </p:txBody>
      </p:sp>
      <p:sp>
        <p:nvSpPr>
          <p:cNvPr id="228" name="ANUARIO_ANEXO_P126_L007"/>
          <p:cNvSpPr txBox="1"/>
          <p:nvPr/>
        </p:nvSpPr>
        <p:spPr>
          <a:xfrm>
            <a:off x="528422" y="1931095"/>
            <a:ext cx="59237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servicio: </a:t>
            </a:r>
          </a:p>
        </p:txBody>
      </p:sp>
      <p:sp>
        <p:nvSpPr>
          <p:cNvPr id="229" name="ANUARIO_ANEXO_P126_L008"/>
          <p:cNvSpPr txBox="1"/>
          <p:nvPr/>
        </p:nvSpPr>
        <p:spPr>
          <a:xfrm>
            <a:off x="662080" y="2144016"/>
            <a:ext cx="8113861"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telefonía.</a:t>
            </a:r>
            <a:r>
              <a:rPr sz="640" b="0" i="0">
                <a:solidFill>
                  <a:srgbClr val="1F3031"/>
                </a:solidFill>
                <a:latin typeface="Noto Sans"/>
              </a:rPr>
              <a:t> Se elaboró una estimación del número de usuarios de este servicio con base en la población de 6 años o más, residente en cada entidad federativa, que respondió contar </a:t>
            </a:r>
          </a:p>
        </p:txBody>
      </p:sp>
      <p:sp>
        <p:nvSpPr>
          <p:cNvPr id="230" name="ANUARIO_ANEXO_P126_L009"/>
          <p:cNvSpPr txBox="1"/>
          <p:nvPr/>
        </p:nvSpPr>
        <p:spPr>
          <a:xfrm>
            <a:off x="717770" y="2251501"/>
            <a:ext cx="441137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un teléfono celular y haberlo usado en los últimos tres meses previos al levantamiento de la encuesta. </a:t>
            </a:r>
          </a:p>
        </p:txBody>
      </p:sp>
      <p:sp>
        <p:nvSpPr>
          <p:cNvPr id="231" name="ANUARIO_ANEXO_P126_L010"/>
          <p:cNvSpPr txBox="1"/>
          <p:nvPr/>
        </p:nvSpPr>
        <p:spPr>
          <a:xfrm>
            <a:off x="662080" y="2464421"/>
            <a:ext cx="8114496" cy="146070"/>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 </a:t>
            </a:r>
            <a:r>
              <a:rPr sz="640" b="1" i="0">
                <a:solidFill>
                  <a:srgbClr val="1F3031"/>
                </a:solidFill>
                <a:latin typeface="Noto Sans"/>
              </a:rPr>
              <a:t>Servicio móvil de acceso a Internet.</a:t>
            </a:r>
            <a:r>
              <a:rPr sz="640" b="0" i="0">
                <a:solidFill>
                  <a:srgbClr val="1F3031"/>
                </a:solidFill>
                <a:latin typeface="Noto Sans"/>
              </a:rPr>
              <a:t> Se elaboró una estimación del número de usuarios de este servicio con base en la población de 6 años o más, residente en cada entidad federativa, que respondió </a:t>
            </a:r>
          </a:p>
        </p:txBody>
      </p:sp>
      <p:sp>
        <p:nvSpPr>
          <p:cNvPr id="232" name="ANUARIO_ANEXO_P126_L011"/>
          <p:cNvSpPr txBox="1"/>
          <p:nvPr/>
        </p:nvSpPr>
        <p:spPr>
          <a:xfrm>
            <a:off x="717770" y="2571907"/>
            <a:ext cx="523853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haberse conectado a Internet mediante red celular (conexión de datos) a través de un teléfono móvil inteligente (</a:t>
            </a:r>
            <a:r>
              <a:rPr sz="640" b="0" i="1">
                <a:solidFill>
                  <a:srgbClr val="1F3031"/>
                </a:solidFill>
                <a:latin typeface="Noto Sans"/>
              </a:rPr>
              <a:t>Smartphone</a:t>
            </a:r>
            <a:r>
              <a:rPr sz="640" b="0" i="0">
                <a:solidFill>
                  <a:srgbClr val="1F3031"/>
                </a:solidFill>
                <a:latin typeface="Noto Sans"/>
              </a:rPr>
              <a:t>).</a:t>
            </a:r>
          </a:p>
        </p:txBody>
      </p:sp>
      <p:sp>
        <p:nvSpPr>
          <p:cNvPr id="233" name="ANUARIO_ANEXO_P126_L012"/>
          <p:cNvSpPr txBox="1"/>
          <p:nvPr/>
        </p:nvSpPr>
        <p:spPr>
          <a:xfrm>
            <a:off x="528422" y="2785511"/>
            <a:ext cx="824655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número de hogares y el número de habitantes a nivel entidad federativa se obtienen a partir de estimaciones propias con base en los datos de la ENDUTIH 2025 y el Censo de Población </a:t>
            </a:r>
          </a:p>
        </p:txBody>
      </p:sp>
      <p:sp>
        <p:nvSpPr>
          <p:cNvPr id="234" name="ANUARIO_ANEXO_P126_L013"/>
          <p:cNvSpPr txBox="1"/>
          <p:nvPr/>
        </p:nvSpPr>
        <p:spPr>
          <a:xfrm>
            <a:off x="528422" y="2892313"/>
            <a:ext cx="77646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Vivienda 2020.</a:t>
            </a:r>
          </a:p>
        </p:txBody>
      </p:sp>
      <p:sp>
        <p:nvSpPr>
          <p:cNvPr id="235" name="ANUARIO_ANEXO_P126_L014"/>
          <p:cNvSpPr txBox="1"/>
          <p:nvPr/>
        </p:nvSpPr>
        <p:spPr>
          <a:xfrm>
            <a:off x="528422" y="3105917"/>
            <a:ext cx="751130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 Los accesos/líneas por cada 100 hogares se calculan dividiendo los accesos. Asimismo, el número de unidades económicas a nivel entidad federativa se obtuvo del DENUE del INEGI.</a:t>
            </a:r>
          </a:p>
        </p:txBody>
      </p:sp>
      <p:sp>
        <p:nvSpPr>
          <p:cNvPr id="236" name="ANUARIO_ANEXO_P126_L015"/>
          <p:cNvSpPr txBox="1"/>
          <p:nvPr/>
        </p:nvSpPr>
        <p:spPr>
          <a:xfrm>
            <a:off x="383625" y="3456547"/>
            <a:ext cx="1361211" cy="185415"/>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ÍNDICES DE PRECIOS</a:t>
            </a:r>
          </a:p>
        </p:txBody>
      </p:sp>
      <p:sp>
        <p:nvSpPr>
          <p:cNvPr id="237" name="ANUARIO_ANEXO_P126_L016"/>
          <p:cNvSpPr txBox="1"/>
          <p:nvPr/>
        </p:nvSpPr>
        <p:spPr>
          <a:xfrm>
            <a:off x="528422" y="3768089"/>
            <a:ext cx="824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INEGI construye el INPC utilizando las variaciones en los precios de los bienes y servicios de una canasta representativa del consumo de los hogares mexicanos. Dichos bienes y servicios pueden </a:t>
            </a:r>
          </a:p>
        </p:txBody>
      </p:sp>
      <p:sp>
        <p:nvSpPr>
          <p:cNvPr id="238" name="ANUARIO_ANEXO_P126_L017"/>
          <p:cNvSpPr txBox="1"/>
          <p:nvPr/>
        </p:nvSpPr>
        <p:spPr>
          <a:xfrm>
            <a:off x="528422" y="3874890"/>
            <a:ext cx="82476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representarse por medio de la Clasificación del Consumo Individual por Finalidades (CCIF), el cual consta de doce divisiones que se desagregan en Grupos y Clases, las cuales representan categorías de </a:t>
            </a:r>
          </a:p>
        </p:txBody>
      </p:sp>
      <p:sp>
        <p:nvSpPr>
          <p:cNvPr id="239" name="ANUARIO_ANEXO_P126_L018"/>
          <p:cNvSpPr txBox="1"/>
          <p:nvPr/>
        </p:nvSpPr>
        <p:spPr>
          <a:xfrm>
            <a:off x="528422" y="3981692"/>
            <a:ext cx="25719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finalidad de los bienes y servicios compuestos por genéricos.</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2"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127</a:t>
            </a:r>
          </a:p>
        </p:txBody>
      </p:sp>
      <p:sp>
        <p:nvSpPr>
          <p:cNvPr id="222" name="ANUARIO_TABLA_REFERENCIA_0"/>
          <p:cNvSpPr/>
          <p:nvPr/>
        </p:nvSpPr>
        <p:spPr>
          <a:xfrm>
            <a:off x="529117" y="675067"/>
            <a:ext cx="3986900" cy="1737448"/>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3" name="Connector 222"/>
          <p:cNvCxnSpPr/>
          <p:nvPr/>
        </p:nvCxnSpPr>
        <p:spPr>
          <a:xfrm>
            <a:off x="529117" y="8841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29117" y="1037132"/>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29117" y="114863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529117" y="126013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529117" y="137163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529117" y="148313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529117" y="159463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529117" y="170613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529117" y="1817640"/>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529117" y="192914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529117" y="20406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529117" y="215214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529117" y="226364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36" name="ANUARIO_TABLA_REFERENCIA_1"/>
          <p:cNvSpPr/>
          <p:nvPr/>
        </p:nvSpPr>
        <p:spPr>
          <a:xfrm>
            <a:off x="529117" y="3042279"/>
            <a:ext cx="3986900" cy="1179943"/>
          </a:xfrm>
          <a:prstGeom prst="rect">
            <a:avLst/>
          </a:prstGeom>
          <a:noFill/>
          <a:ln w="5715">
            <a:solidFill>
              <a:srgbClr val="D3DE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7" name="Connector 236"/>
          <p:cNvCxnSpPr/>
          <p:nvPr/>
        </p:nvCxnSpPr>
        <p:spPr>
          <a:xfrm>
            <a:off x="529117" y="325140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29117" y="3404343"/>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29117" y="3521184"/>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29117" y="3638025"/>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9117" y="3754867"/>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9117" y="3871708"/>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29117" y="3988549"/>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29117" y="4105391"/>
            <a:ext cx="3986900" cy="0"/>
          </a:xfrm>
          <a:prstGeom prst="line">
            <a:avLst/>
          </a:prstGeom>
          <a:ln w="4445">
            <a:solidFill>
              <a:srgbClr val="DDE6E4"/>
            </a:solidFill>
          </a:ln>
        </p:spPr>
        <p:style>
          <a:lnRef idx="2">
            <a:schemeClr val="accent1"/>
          </a:lnRef>
          <a:fillRef idx="0">
            <a:schemeClr val="accent1"/>
          </a:fillRef>
          <a:effectRef idx="1">
            <a:schemeClr val="accent1"/>
          </a:effectRef>
          <a:fontRef idx="minor">
            <a:schemeClr val="tx1"/>
          </a:fontRef>
        </p:style>
      </p:cxnSp>
      <p:sp>
        <p:nvSpPr>
          <p:cNvPr id="245" name="ANUARIO_ANEXO_P127_L001"/>
          <p:cNvSpPr txBox="1"/>
          <p:nvPr/>
        </p:nvSpPr>
        <p:spPr>
          <a:xfrm>
            <a:off x="629361" y="753928"/>
            <a:ext cx="387345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1. </a:t>
            </a:r>
            <a:r>
              <a:rPr sz="592" b="0" i="0">
                <a:solidFill>
                  <a:srgbClr val="1F3031"/>
                </a:solidFill>
                <a:latin typeface="Noto Sans"/>
              </a:rPr>
              <a:t>Clasificación del Consumo Individual por Finalidades (CCIF), Ponderador por División</a:t>
            </a:r>
          </a:p>
        </p:txBody>
      </p:sp>
      <p:sp>
        <p:nvSpPr>
          <p:cNvPr id="246" name="ANUARIO_ANEXO_P127_L002"/>
          <p:cNvSpPr txBox="1"/>
          <p:nvPr/>
        </p:nvSpPr>
        <p:spPr>
          <a:xfrm>
            <a:off x="1962028" y="917143"/>
            <a:ext cx="412730"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División</a:t>
            </a:r>
          </a:p>
        </p:txBody>
      </p:sp>
      <p:sp>
        <p:nvSpPr>
          <p:cNvPr id="247" name="ANUARIO_ANEXO_P127_L003"/>
          <p:cNvSpPr txBox="1"/>
          <p:nvPr/>
        </p:nvSpPr>
        <p:spPr>
          <a:xfrm>
            <a:off x="3889474" y="917143"/>
            <a:ext cx="545275" cy="132954"/>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48" name="ANUARIO_ANEXO_P127_L004"/>
          <p:cNvSpPr txBox="1"/>
          <p:nvPr/>
        </p:nvSpPr>
        <p:spPr>
          <a:xfrm>
            <a:off x="1536400" y="1050495"/>
            <a:ext cx="12639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Alimentos y bebidas no alcohólicas</a:t>
            </a:r>
          </a:p>
        </p:txBody>
      </p:sp>
      <p:sp>
        <p:nvSpPr>
          <p:cNvPr id="249" name="ANUARIO_ANEXO_P127_L005"/>
          <p:cNvSpPr txBox="1"/>
          <p:nvPr/>
        </p:nvSpPr>
        <p:spPr>
          <a:xfrm>
            <a:off x="3983182" y="1050495"/>
            <a:ext cx="35785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25.77%</a:t>
            </a:r>
          </a:p>
        </p:txBody>
      </p:sp>
      <p:sp>
        <p:nvSpPr>
          <p:cNvPr id="250" name="ANUARIO_ANEXO_P127_L006"/>
          <p:cNvSpPr txBox="1"/>
          <p:nvPr/>
        </p:nvSpPr>
        <p:spPr>
          <a:xfrm>
            <a:off x="1641594" y="1161996"/>
            <a:ext cx="105358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Bebidas alcohólicas y tabaco</a:t>
            </a:r>
          </a:p>
        </p:txBody>
      </p:sp>
      <p:sp>
        <p:nvSpPr>
          <p:cNvPr id="251" name="ANUARIO_ANEXO_P127_L007"/>
          <p:cNvSpPr txBox="1"/>
          <p:nvPr/>
        </p:nvSpPr>
        <p:spPr>
          <a:xfrm>
            <a:off x="3998819" y="1161996"/>
            <a:ext cx="32658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2.69%</a:t>
            </a:r>
          </a:p>
        </p:txBody>
      </p:sp>
      <p:sp>
        <p:nvSpPr>
          <p:cNvPr id="252" name="ANUARIO_ANEXO_P127_L008"/>
          <p:cNvSpPr txBox="1"/>
          <p:nvPr/>
        </p:nvSpPr>
        <p:spPr>
          <a:xfrm>
            <a:off x="1670590" y="1273497"/>
            <a:ext cx="99560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Prendas de vestir y calzado</a:t>
            </a:r>
          </a:p>
        </p:txBody>
      </p:sp>
      <p:sp>
        <p:nvSpPr>
          <p:cNvPr id="253" name="ANUARIO_ANEXO_P127_L009"/>
          <p:cNvSpPr txBox="1"/>
          <p:nvPr/>
        </p:nvSpPr>
        <p:spPr>
          <a:xfrm>
            <a:off x="4000992" y="1273497"/>
            <a:ext cx="32223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4.78%</a:t>
            </a:r>
          </a:p>
        </p:txBody>
      </p:sp>
      <p:sp>
        <p:nvSpPr>
          <p:cNvPr id="254" name="ANUARIO_ANEXO_P127_L010"/>
          <p:cNvSpPr txBox="1"/>
          <p:nvPr/>
        </p:nvSpPr>
        <p:spPr>
          <a:xfrm>
            <a:off x="1238307" y="1384998"/>
            <a:ext cx="18601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Vivienda, agua, electricidad, gas y otros combustibles</a:t>
            </a:r>
          </a:p>
        </p:txBody>
      </p:sp>
      <p:sp>
        <p:nvSpPr>
          <p:cNvPr id="255" name="ANUARIO_ANEXO_P127_L011"/>
          <p:cNvSpPr txBox="1"/>
          <p:nvPr/>
        </p:nvSpPr>
        <p:spPr>
          <a:xfrm>
            <a:off x="3988647" y="1384998"/>
            <a:ext cx="3469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19.64%</a:t>
            </a:r>
          </a:p>
        </p:txBody>
      </p:sp>
      <p:sp>
        <p:nvSpPr>
          <p:cNvPr id="256" name="ANUARIO_ANEXO_P127_L012"/>
          <p:cNvSpPr txBox="1"/>
          <p:nvPr/>
        </p:nvSpPr>
        <p:spPr>
          <a:xfrm>
            <a:off x="1207900" y="1496498"/>
            <a:ext cx="192098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Muebles, artículos para el hogar y para su conservación</a:t>
            </a:r>
          </a:p>
        </p:txBody>
      </p:sp>
      <p:sp>
        <p:nvSpPr>
          <p:cNvPr id="257" name="ANUARIO_ANEXO_P127_L013"/>
          <p:cNvSpPr txBox="1"/>
          <p:nvPr/>
        </p:nvSpPr>
        <p:spPr>
          <a:xfrm>
            <a:off x="3999109" y="1496498"/>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4.53%</a:t>
            </a:r>
          </a:p>
        </p:txBody>
      </p:sp>
      <p:sp>
        <p:nvSpPr>
          <p:cNvPr id="258" name="ANUARIO_ANEXO_P127_L014"/>
          <p:cNvSpPr txBox="1"/>
          <p:nvPr/>
        </p:nvSpPr>
        <p:spPr>
          <a:xfrm>
            <a:off x="2017878" y="1607999"/>
            <a:ext cx="3010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Salud</a:t>
            </a:r>
          </a:p>
        </p:txBody>
      </p:sp>
      <p:sp>
        <p:nvSpPr>
          <p:cNvPr id="259" name="ANUARIO_ANEXO_P127_L015"/>
          <p:cNvSpPr txBox="1"/>
          <p:nvPr/>
        </p:nvSpPr>
        <p:spPr>
          <a:xfrm>
            <a:off x="3997625" y="1607999"/>
            <a:ext cx="32897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3.08%</a:t>
            </a:r>
          </a:p>
        </p:txBody>
      </p:sp>
      <p:sp>
        <p:nvSpPr>
          <p:cNvPr id="260" name="ANUARIO_ANEXO_P127_L016"/>
          <p:cNvSpPr txBox="1"/>
          <p:nvPr/>
        </p:nvSpPr>
        <p:spPr>
          <a:xfrm>
            <a:off x="1931725" y="1719500"/>
            <a:ext cx="47332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Transporte</a:t>
            </a:r>
          </a:p>
        </p:txBody>
      </p:sp>
      <p:sp>
        <p:nvSpPr>
          <p:cNvPr id="261" name="ANUARIO_ANEXO_P127_L017"/>
          <p:cNvSpPr txBox="1"/>
          <p:nvPr/>
        </p:nvSpPr>
        <p:spPr>
          <a:xfrm>
            <a:off x="3990603" y="1719500"/>
            <a:ext cx="3430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13.76%</a:t>
            </a:r>
          </a:p>
        </p:txBody>
      </p:sp>
      <p:sp>
        <p:nvSpPr>
          <p:cNvPr id="262" name="ANUARIO_ANEXO_P127_L018"/>
          <p:cNvSpPr txBox="1"/>
          <p:nvPr/>
        </p:nvSpPr>
        <p:spPr>
          <a:xfrm>
            <a:off x="1831274" y="1831001"/>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63" name="ANUARIO_ANEXO_P127_L019"/>
          <p:cNvSpPr txBox="1"/>
          <p:nvPr/>
        </p:nvSpPr>
        <p:spPr>
          <a:xfrm>
            <a:off x="4010367" y="1831001"/>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64" name="ANUARIO_ANEXO_P127_L020"/>
          <p:cNvSpPr txBox="1"/>
          <p:nvPr/>
        </p:nvSpPr>
        <p:spPr>
          <a:xfrm>
            <a:off x="1775528" y="1942502"/>
            <a:ext cx="78572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Recreación y cultura</a:t>
            </a:r>
          </a:p>
        </p:txBody>
      </p:sp>
      <p:sp>
        <p:nvSpPr>
          <p:cNvPr id="265" name="ANUARIO_ANEXO_P127_L021"/>
          <p:cNvSpPr txBox="1"/>
          <p:nvPr/>
        </p:nvSpPr>
        <p:spPr>
          <a:xfrm>
            <a:off x="4001571" y="1942502"/>
            <a:ext cx="32107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4.87%</a:t>
            </a:r>
          </a:p>
        </p:txBody>
      </p:sp>
      <p:sp>
        <p:nvSpPr>
          <p:cNvPr id="266" name="ANUARIO_ANEXO_P127_L022"/>
          <p:cNvSpPr txBox="1"/>
          <p:nvPr/>
        </p:nvSpPr>
        <p:spPr>
          <a:xfrm>
            <a:off x="1937553" y="2054002"/>
            <a:ext cx="4616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Educación</a:t>
            </a:r>
          </a:p>
        </p:txBody>
      </p:sp>
      <p:sp>
        <p:nvSpPr>
          <p:cNvPr id="267" name="ANUARIO_ANEXO_P127_L023"/>
          <p:cNvSpPr txBox="1"/>
          <p:nvPr/>
        </p:nvSpPr>
        <p:spPr>
          <a:xfrm>
            <a:off x="3999109" y="2054002"/>
            <a:ext cx="32600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3.54%</a:t>
            </a:r>
          </a:p>
        </p:txBody>
      </p:sp>
      <p:sp>
        <p:nvSpPr>
          <p:cNvPr id="268" name="ANUARIO_ANEXO_P127_L024"/>
          <p:cNvSpPr txBox="1"/>
          <p:nvPr/>
        </p:nvSpPr>
        <p:spPr>
          <a:xfrm>
            <a:off x="1739404" y="2165504"/>
            <a:ext cx="857969"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Restaurantes y hoteles</a:t>
            </a:r>
          </a:p>
        </p:txBody>
      </p:sp>
      <p:sp>
        <p:nvSpPr>
          <p:cNvPr id="269" name="ANUARIO_ANEXO_P127_L025"/>
          <p:cNvSpPr txBox="1"/>
          <p:nvPr/>
        </p:nvSpPr>
        <p:spPr>
          <a:xfrm>
            <a:off x="4003054" y="2165504"/>
            <a:ext cx="3181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9.52%</a:t>
            </a:r>
          </a:p>
        </p:txBody>
      </p:sp>
      <p:sp>
        <p:nvSpPr>
          <p:cNvPr id="270" name="ANUARIO_ANEXO_P127_L026"/>
          <p:cNvSpPr txBox="1"/>
          <p:nvPr/>
        </p:nvSpPr>
        <p:spPr>
          <a:xfrm>
            <a:off x="1681449" y="2295695"/>
            <a:ext cx="97387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Bienes y servicios diversos</a:t>
            </a:r>
          </a:p>
        </p:txBody>
      </p:sp>
      <p:sp>
        <p:nvSpPr>
          <p:cNvPr id="271" name="ANUARIO_ANEXO_P127_L027"/>
          <p:cNvSpPr txBox="1"/>
          <p:nvPr/>
        </p:nvSpPr>
        <p:spPr>
          <a:xfrm>
            <a:off x="3998602" y="2295695"/>
            <a:ext cx="32701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4.69%</a:t>
            </a:r>
          </a:p>
        </p:txBody>
      </p:sp>
      <p:sp>
        <p:nvSpPr>
          <p:cNvPr id="272" name="ANUARIO_ANEXO_P127_L028"/>
          <p:cNvSpPr txBox="1"/>
          <p:nvPr/>
        </p:nvSpPr>
        <p:spPr>
          <a:xfrm>
            <a:off x="551394" y="2447630"/>
            <a:ext cx="3916450"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Índice Nacional de Precios al Consumidor, Documento metodológico. Base segunda quincena de julio de 2018, INEGI.</a:t>
            </a:r>
          </a:p>
        </p:txBody>
      </p:sp>
      <p:sp>
        <p:nvSpPr>
          <p:cNvPr id="273" name="ANUARIO_ANEXO_P127_L029"/>
          <p:cNvSpPr txBox="1"/>
          <p:nvPr/>
        </p:nvSpPr>
        <p:spPr>
          <a:xfrm>
            <a:off x="528422" y="2686869"/>
            <a:ext cx="412822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división de &lt;&lt;Comunicaciones&gt;&gt; representa 3.13% de la ponderación del INPC general. Dicha </a:t>
            </a:r>
          </a:p>
        </p:txBody>
      </p:sp>
      <p:sp>
        <p:nvSpPr>
          <p:cNvPr id="274" name="ANUARIO_ANEXO_P127_L030"/>
          <p:cNvSpPr txBox="1"/>
          <p:nvPr/>
        </p:nvSpPr>
        <p:spPr>
          <a:xfrm>
            <a:off x="528422" y="2812471"/>
            <a:ext cx="38267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división incluye seis conceptos, de los cuales el servicio de telefonía móvil representa 1.28%.</a:t>
            </a:r>
          </a:p>
        </p:txBody>
      </p:sp>
      <p:sp>
        <p:nvSpPr>
          <p:cNvPr id="275" name="ANUARIO_ANEXO_P127_L031"/>
          <p:cNvSpPr txBox="1"/>
          <p:nvPr/>
        </p:nvSpPr>
        <p:spPr>
          <a:xfrm>
            <a:off x="629361" y="3121141"/>
            <a:ext cx="287308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Tabla 2.</a:t>
            </a:r>
            <a:r>
              <a:rPr sz="592" b="0" i="0">
                <a:solidFill>
                  <a:srgbClr val="1F3031"/>
                </a:solidFill>
                <a:latin typeface="Noto Sans"/>
              </a:rPr>
              <a:t> Ponderadores de la división &lt;&lt;Comunicaciones&gt;&gt; del INPC</a:t>
            </a:r>
          </a:p>
        </p:txBody>
      </p:sp>
      <p:sp>
        <p:nvSpPr>
          <p:cNvPr id="276" name="ANUARIO_ANEXO_P127_L032"/>
          <p:cNvSpPr txBox="1"/>
          <p:nvPr/>
        </p:nvSpPr>
        <p:spPr>
          <a:xfrm>
            <a:off x="1930917" y="3284355"/>
            <a:ext cx="474947"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Concepto</a:t>
            </a:r>
          </a:p>
        </p:txBody>
      </p:sp>
      <p:sp>
        <p:nvSpPr>
          <p:cNvPr id="277" name="ANUARIO_ANEXO_P127_L033"/>
          <p:cNvSpPr txBox="1"/>
          <p:nvPr/>
        </p:nvSpPr>
        <p:spPr>
          <a:xfrm>
            <a:off x="3888778" y="3284355"/>
            <a:ext cx="545275" cy="132955"/>
          </a:xfrm>
          <a:prstGeom prst="rect">
            <a:avLst/>
          </a:prstGeom>
          <a:noFill/>
        </p:spPr>
        <p:txBody>
          <a:bodyPr wrap="none" lIns="0" rIns="0" tIns="0" bIns="0">
            <a:noAutofit/>
          </a:bodyPr>
          <a:lstStyle/>
          <a:p>
            <a:pPr>
              <a:spcBef>
                <a:spcPts val="0"/>
              </a:spcBef>
              <a:spcAft>
                <a:spcPts val="0"/>
              </a:spcAft>
            </a:pPr>
            <a:r>
              <a:rPr sz="518" b="1" i="0">
                <a:solidFill>
                  <a:srgbClr val="1F4544"/>
                </a:solidFill>
                <a:latin typeface="Noto Sans"/>
              </a:rPr>
              <a:t>Ponderador</a:t>
            </a:r>
          </a:p>
        </p:txBody>
      </p:sp>
      <p:sp>
        <p:nvSpPr>
          <p:cNvPr id="278" name="ANUARIO_ANEXO_P127_L034"/>
          <p:cNvSpPr txBox="1"/>
          <p:nvPr/>
        </p:nvSpPr>
        <p:spPr>
          <a:xfrm>
            <a:off x="1831274" y="3423048"/>
            <a:ext cx="67423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Comunicaciones</a:t>
            </a:r>
          </a:p>
        </p:txBody>
      </p:sp>
      <p:sp>
        <p:nvSpPr>
          <p:cNvPr id="279" name="ANUARIO_ANEXO_P127_L035"/>
          <p:cNvSpPr txBox="1"/>
          <p:nvPr/>
        </p:nvSpPr>
        <p:spPr>
          <a:xfrm>
            <a:off x="4009670" y="3423048"/>
            <a:ext cx="30348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3.13%</a:t>
            </a:r>
          </a:p>
        </p:txBody>
      </p:sp>
      <p:sp>
        <p:nvSpPr>
          <p:cNvPr id="280" name="ANUARIO_ANEXO_P127_L036"/>
          <p:cNvSpPr txBox="1"/>
          <p:nvPr/>
        </p:nvSpPr>
        <p:spPr>
          <a:xfrm>
            <a:off x="1676453" y="3539889"/>
            <a:ext cx="983877"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móvil</a:t>
            </a:r>
          </a:p>
        </p:txBody>
      </p:sp>
      <p:sp>
        <p:nvSpPr>
          <p:cNvPr id="281" name="ANUARIO_ANEXO_P127_L037"/>
          <p:cNvSpPr txBox="1"/>
          <p:nvPr/>
        </p:nvSpPr>
        <p:spPr>
          <a:xfrm>
            <a:off x="4004242" y="3539889"/>
            <a:ext cx="314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1.28%</a:t>
            </a:r>
          </a:p>
        </p:txBody>
      </p:sp>
      <p:sp>
        <p:nvSpPr>
          <p:cNvPr id="282" name="ANUARIO_ANEXO_P127_L038"/>
          <p:cNvSpPr txBox="1"/>
          <p:nvPr/>
        </p:nvSpPr>
        <p:spPr>
          <a:xfrm>
            <a:off x="1274614" y="3656730"/>
            <a:ext cx="1787553"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Paquetes de Internet, telefonía y televisión de paga</a:t>
            </a:r>
          </a:p>
        </p:txBody>
      </p:sp>
      <p:sp>
        <p:nvSpPr>
          <p:cNvPr id="283" name="ANUARIO_ANEXO_P127_L039"/>
          <p:cNvSpPr txBox="1"/>
          <p:nvPr/>
        </p:nvSpPr>
        <p:spPr>
          <a:xfrm>
            <a:off x="4002213" y="3656730"/>
            <a:ext cx="318400"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1.09%</a:t>
            </a:r>
          </a:p>
        </p:txBody>
      </p:sp>
      <p:sp>
        <p:nvSpPr>
          <p:cNvPr id="284" name="ANUARIO_ANEXO_P127_L040"/>
          <p:cNvSpPr txBox="1"/>
          <p:nvPr/>
        </p:nvSpPr>
        <p:spPr>
          <a:xfrm>
            <a:off x="1556671" y="3773571"/>
            <a:ext cx="1223442"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Equipo terminal de comunicación</a:t>
            </a:r>
          </a:p>
        </p:txBody>
      </p:sp>
      <p:sp>
        <p:nvSpPr>
          <p:cNvPr id="285" name="ANUARIO_ANEXO_P127_L041"/>
          <p:cNvSpPr txBox="1"/>
          <p:nvPr/>
        </p:nvSpPr>
        <p:spPr>
          <a:xfrm>
            <a:off x="3995083" y="3773571"/>
            <a:ext cx="33265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0.35%</a:t>
            </a:r>
          </a:p>
        </p:txBody>
      </p:sp>
      <p:sp>
        <p:nvSpPr>
          <p:cNvPr id="286" name="ANUARIO_ANEXO_P127_L042"/>
          <p:cNvSpPr txBox="1"/>
          <p:nvPr/>
        </p:nvSpPr>
        <p:spPr>
          <a:xfrm>
            <a:off x="1716236" y="3890412"/>
            <a:ext cx="90431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telefonía fija</a:t>
            </a:r>
          </a:p>
        </p:txBody>
      </p:sp>
      <p:sp>
        <p:nvSpPr>
          <p:cNvPr id="287" name="ANUARIO_ANEXO_P127_L043"/>
          <p:cNvSpPr txBox="1"/>
          <p:nvPr/>
        </p:nvSpPr>
        <p:spPr>
          <a:xfrm>
            <a:off x="3994938" y="3890412"/>
            <a:ext cx="332945"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0.28%</a:t>
            </a:r>
          </a:p>
        </p:txBody>
      </p:sp>
      <p:sp>
        <p:nvSpPr>
          <p:cNvPr id="288" name="ANUARIO_ANEXO_P127_L044"/>
          <p:cNvSpPr txBox="1"/>
          <p:nvPr/>
        </p:nvSpPr>
        <p:spPr>
          <a:xfrm>
            <a:off x="1787837" y="4007253"/>
            <a:ext cx="761108"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Servicio de Internet</a:t>
            </a:r>
          </a:p>
        </p:txBody>
      </p:sp>
      <p:sp>
        <p:nvSpPr>
          <p:cNvPr id="289" name="ANUARIO_ANEXO_P127_L045"/>
          <p:cNvSpPr txBox="1"/>
          <p:nvPr/>
        </p:nvSpPr>
        <p:spPr>
          <a:xfrm>
            <a:off x="4006738" y="4007253"/>
            <a:ext cx="309351"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0.12%</a:t>
            </a:r>
          </a:p>
        </p:txBody>
      </p:sp>
      <p:sp>
        <p:nvSpPr>
          <p:cNvPr id="290" name="ANUARIO_ANEXO_P127_L046"/>
          <p:cNvSpPr txBox="1"/>
          <p:nvPr/>
        </p:nvSpPr>
        <p:spPr>
          <a:xfrm>
            <a:off x="1933028" y="4124093"/>
            <a:ext cx="47072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Paquetería</a:t>
            </a:r>
          </a:p>
        </p:txBody>
      </p:sp>
      <p:sp>
        <p:nvSpPr>
          <p:cNvPr id="291" name="ANUARIO_ANEXO_P127_L047"/>
          <p:cNvSpPr txBox="1"/>
          <p:nvPr/>
        </p:nvSpPr>
        <p:spPr>
          <a:xfrm>
            <a:off x="3996241" y="4124093"/>
            <a:ext cx="330346" cy="124939"/>
          </a:xfrm>
          <a:prstGeom prst="rect">
            <a:avLst/>
          </a:prstGeom>
          <a:noFill/>
        </p:spPr>
        <p:txBody>
          <a:bodyPr wrap="none" lIns="0" rIns="0" tIns="0" bIns="0">
            <a:noAutofit/>
          </a:bodyPr>
          <a:lstStyle/>
          <a:p>
            <a:pPr>
              <a:spcBef>
                <a:spcPts val="0"/>
              </a:spcBef>
              <a:spcAft>
                <a:spcPts val="0"/>
              </a:spcAft>
            </a:pPr>
            <a:r>
              <a:rPr sz="480" b="0" i="0">
                <a:solidFill>
                  <a:srgbClr val="1F3031"/>
                </a:solidFill>
                <a:latin typeface="Noto Sans"/>
              </a:rPr>
              <a:t>0.02%</a:t>
            </a:r>
          </a:p>
        </p:txBody>
      </p:sp>
      <p:sp>
        <p:nvSpPr>
          <p:cNvPr id="292" name="ANUARIO_ANEXO_P127_L048"/>
          <p:cNvSpPr txBox="1"/>
          <p:nvPr/>
        </p:nvSpPr>
        <p:spPr>
          <a:xfrm>
            <a:off x="551394" y="4262679"/>
            <a:ext cx="4075542" cy="119839"/>
          </a:xfrm>
          <a:prstGeom prst="rect">
            <a:avLst/>
          </a:prstGeom>
          <a:noFill/>
        </p:spPr>
        <p:txBody>
          <a:bodyPr wrap="none" lIns="0" rIns="0" tIns="0" bIns="0">
            <a:noAutofit/>
          </a:bodyPr>
          <a:lstStyle/>
          <a:p>
            <a:pPr>
              <a:spcBef>
                <a:spcPts val="0"/>
              </a:spcBef>
              <a:spcAft>
                <a:spcPts val="0"/>
              </a:spcAft>
            </a:pPr>
            <a:r>
              <a:rPr sz="444" b="1" i="0">
                <a:solidFill>
                  <a:srgbClr val="1F3031"/>
                </a:solidFill>
                <a:latin typeface="Noto Sans"/>
              </a:rPr>
              <a:t>Fuente:</a:t>
            </a:r>
            <a:r>
              <a:rPr sz="444" b="0" i="0">
                <a:solidFill>
                  <a:srgbClr val="1F3031"/>
                </a:solidFill>
                <a:latin typeface="Noto Sans"/>
              </a:rPr>
              <a:t> Ponderadores del INPC, Por Objeto del Gasto Nacional por Genérico. Segunda quincena julio 2018=100, del INEGI. Disponible </a:t>
            </a:r>
          </a:p>
        </p:txBody>
      </p:sp>
      <p:sp>
        <p:nvSpPr>
          <p:cNvPr id="293" name="ANUARIO_ANEXO_P127_L049"/>
          <p:cNvSpPr txBox="1"/>
          <p:nvPr/>
        </p:nvSpPr>
        <p:spPr>
          <a:xfrm>
            <a:off x="551394" y="4340218"/>
            <a:ext cx="1678241" cy="118493"/>
          </a:xfrm>
          <a:prstGeom prst="rect">
            <a:avLst/>
          </a:prstGeom>
          <a:noFill/>
        </p:spPr>
        <p:txBody>
          <a:bodyPr wrap="none" lIns="0" rIns="0" tIns="0" bIns="0">
            <a:noAutofit/>
          </a:bodyPr>
          <a:lstStyle/>
          <a:p>
            <a:pPr>
              <a:spcBef>
                <a:spcPts val="0"/>
              </a:spcBef>
              <a:spcAft>
                <a:spcPts val="0"/>
              </a:spcAft>
            </a:pPr>
            <a:r>
              <a:rPr sz="444" b="0" i="0">
                <a:solidFill>
                  <a:srgbClr val="1F3031"/>
                </a:solidFill>
                <a:latin typeface="Noto Sans"/>
              </a:rPr>
              <a:t>en: </a:t>
            </a:r>
            <a:r>
              <a:rPr sz="444" b="0" i="0">
                <a:solidFill>
                  <a:srgbClr val="0563C1"/>
                </a:solidFill>
                <a:latin typeface="Noto Sans"/>
                <a:hlinkClick r:id="rId2"/>
              </a:rPr>
              <a:t>https://www.inegi.org.mx/programas/inpc/2018/</a:t>
            </a:r>
            <a:r>
              <a:rPr sz="444" b="0" i="0">
                <a:solidFill>
                  <a:srgbClr val="1F3031"/>
                </a:solidFill>
                <a:latin typeface="Noto Sans"/>
              </a:rPr>
              <a:t>.</a:t>
            </a:r>
          </a:p>
        </p:txBody>
      </p:sp>
      <p:sp>
        <p:nvSpPr>
          <p:cNvPr id="294" name="ANUARIO_ANEXO_P127_L050"/>
          <p:cNvSpPr txBox="1"/>
          <p:nvPr/>
        </p:nvSpPr>
        <p:spPr>
          <a:xfrm>
            <a:off x="4647536" y="649999"/>
            <a:ext cx="4098297"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SOBRE INFORMACIÓN DE INGRESO Y GASTO DE LOS HOGARES EN </a:t>
            </a:r>
          </a:p>
        </p:txBody>
      </p:sp>
      <p:sp>
        <p:nvSpPr>
          <p:cNvPr id="295" name="ANUARIO_ANEXO_P127_L051"/>
          <p:cNvSpPr txBox="1"/>
          <p:nvPr/>
        </p:nvSpPr>
        <p:spPr>
          <a:xfrm>
            <a:off x="4647536" y="792395"/>
            <a:ext cx="2578313" cy="185416"/>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TELECOMUNICACIONES FIJAS Y MÓVILES</a:t>
            </a:r>
          </a:p>
        </p:txBody>
      </p:sp>
      <p:sp>
        <p:nvSpPr>
          <p:cNvPr id="296" name="ANUARIO_ANEXO_P127_L052"/>
          <p:cNvSpPr txBox="1"/>
          <p:nvPr/>
        </p:nvSpPr>
        <p:spPr>
          <a:xfrm>
            <a:off x="4647536" y="1017562"/>
            <a:ext cx="412840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mostrada en el Anuario en lo que se refiere al gasto e ingreso de los hogares en </a:t>
            </a:r>
          </a:p>
        </p:txBody>
      </p:sp>
      <p:sp>
        <p:nvSpPr>
          <p:cNvPr id="297" name="ANUARIO_ANEXO_P127_L053"/>
          <p:cNvSpPr txBox="1"/>
          <p:nvPr/>
        </p:nvSpPr>
        <p:spPr>
          <a:xfrm>
            <a:off x="4647536" y="1125781"/>
            <a:ext cx="41281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servicios de telecomunicaciones se obtuvo con base en la información de la ENIGH 2024 que </a:t>
            </a:r>
          </a:p>
        </p:txBody>
      </p:sp>
      <p:sp>
        <p:nvSpPr>
          <p:cNvPr id="298" name="ANUARIO_ANEXO_P127_L054"/>
          <p:cNvSpPr txBox="1"/>
          <p:nvPr/>
        </p:nvSpPr>
        <p:spPr>
          <a:xfrm>
            <a:off x="4647536" y="1234000"/>
            <a:ext cx="242960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publica el INEGI. La metodología utilizada es la siguiente:</a:t>
            </a:r>
          </a:p>
        </p:txBody>
      </p:sp>
      <p:sp>
        <p:nvSpPr>
          <p:cNvPr id="299" name="ANUARIO_ANEXO_P127_L055"/>
          <p:cNvSpPr txBox="1"/>
          <p:nvPr/>
        </p:nvSpPr>
        <p:spPr>
          <a:xfrm>
            <a:off x="4814609" y="1448337"/>
            <a:ext cx="3960701"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1.</a:t>
            </a:r>
            <a:r>
              <a:rPr sz="592" b="0" i="0">
                <a:solidFill>
                  <a:srgbClr val="1F3031"/>
                </a:solidFill>
                <a:latin typeface="Noto Sans"/>
              </a:rPr>
              <a:t>En primera instancia, se clasifican los hogares en deciles de acuerdo con su ingreso trimestral. </a:t>
            </a:r>
          </a:p>
        </p:txBody>
      </p:sp>
      <p:sp>
        <p:nvSpPr>
          <p:cNvPr id="300" name="ANUARIO_ANEXO_P127_L056"/>
          <p:cNvSpPr txBox="1"/>
          <p:nvPr/>
        </p:nvSpPr>
        <p:spPr>
          <a:xfrm>
            <a:off x="4925991" y="1557240"/>
            <a:ext cx="384976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esto se utiliza el ingreso corriente que se encuentra en una de las tablas disponibles </a:t>
            </a:r>
          </a:p>
        </p:txBody>
      </p:sp>
      <p:sp>
        <p:nvSpPr>
          <p:cNvPr id="301" name="ANUARIO_ANEXO_P127_L057"/>
          <p:cNvSpPr txBox="1"/>
          <p:nvPr/>
        </p:nvSpPr>
        <p:spPr>
          <a:xfrm>
            <a:off x="4925991" y="1665459"/>
            <a:ext cx="384968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encuesta llamada CONCENTRADOHOGAR. Los deciles se calculan de acuerdo con el </a:t>
            </a:r>
          </a:p>
        </p:txBody>
      </p:sp>
      <p:sp>
        <p:nvSpPr>
          <p:cNvPr id="302" name="ANUARIO_ANEXO_P127_L058"/>
          <p:cNvSpPr txBox="1"/>
          <p:nvPr/>
        </p:nvSpPr>
        <p:spPr>
          <a:xfrm>
            <a:off x="4925991" y="1773678"/>
            <a:ext cx="384980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universo que se esté considerando, ya sea a nivel nacional o para cada una de las entidades </a:t>
            </a:r>
          </a:p>
        </p:txBody>
      </p:sp>
      <p:sp>
        <p:nvSpPr>
          <p:cNvPr id="303" name="ANUARIO_ANEXO_P127_L059"/>
          <p:cNvSpPr txBox="1"/>
          <p:nvPr/>
        </p:nvSpPr>
        <p:spPr>
          <a:xfrm>
            <a:off x="4925991" y="1881897"/>
            <a:ext cx="58604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federativas.</a:t>
            </a:r>
          </a:p>
        </p:txBody>
      </p:sp>
      <p:sp>
        <p:nvSpPr>
          <p:cNvPr id="304" name="ANUARIO_ANEXO_P127_L060"/>
          <p:cNvSpPr txBox="1"/>
          <p:nvPr/>
        </p:nvSpPr>
        <p:spPr>
          <a:xfrm>
            <a:off x="4814609" y="2096234"/>
            <a:ext cx="396115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2.</a:t>
            </a:r>
            <a:r>
              <a:rPr sz="592" b="0" i="0">
                <a:solidFill>
                  <a:srgbClr val="1F3031"/>
                </a:solidFill>
                <a:latin typeface="Noto Sans"/>
              </a:rPr>
              <a:t>  Para las figuras mostradas tanto en la parte nacional como la estatal, se definen dos universos: </a:t>
            </a:r>
          </a:p>
        </p:txBody>
      </p:sp>
      <p:sp>
        <p:nvSpPr>
          <p:cNvPr id="305" name="ANUARIO_ANEXO_P127_L061"/>
          <p:cNvSpPr txBox="1"/>
          <p:nvPr/>
        </p:nvSpPr>
        <p:spPr>
          <a:xfrm>
            <a:off x="4925991" y="2205137"/>
            <a:ext cx="384989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fijas (Universo A) y </a:t>
            </a:r>
          </a:p>
        </p:txBody>
      </p:sp>
      <p:sp>
        <p:nvSpPr>
          <p:cNvPr id="306" name="ANUARIO_ANEXO_P127_L062"/>
          <p:cNvSpPr txBox="1"/>
          <p:nvPr/>
        </p:nvSpPr>
        <p:spPr>
          <a:xfrm>
            <a:off x="4925991" y="2313356"/>
            <a:ext cx="38498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hogares que gastan y disponen de los servicios de telecomunicaciones móviles (Universo </a:t>
            </a:r>
          </a:p>
        </p:txBody>
      </p:sp>
      <p:sp>
        <p:nvSpPr>
          <p:cNvPr id="307" name="ANUARIO_ANEXO_P127_L063"/>
          <p:cNvSpPr txBox="1"/>
          <p:nvPr/>
        </p:nvSpPr>
        <p:spPr>
          <a:xfrm>
            <a:off x="4925991" y="2421575"/>
            <a:ext cx="2234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B).</a:t>
            </a:r>
          </a:p>
        </p:txBody>
      </p:sp>
      <p:sp>
        <p:nvSpPr>
          <p:cNvPr id="308" name="ANUARIO_ANEXO_P127_L064"/>
          <p:cNvSpPr txBox="1"/>
          <p:nvPr/>
        </p:nvSpPr>
        <p:spPr>
          <a:xfrm>
            <a:off x="4814609" y="2635913"/>
            <a:ext cx="396089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3.</a:t>
            </a:r>
            <a:r>
              <a:rPr sz="592" b="0" i="0">
                <a:solidFill>
                  <a:srgbClr val="1F3031"/>
                </a:solidFill>
                <a:latin typeface="Noto Sans"/>
              </a:rPr>
              <a:t>  Para estos universos se estima el gasto trimestral en los servicios de telecomunicaciones fijas </a:t>
            </a:r>
          </a:p>
        </p:txBody>
      </p:sp>
      <p:sp>
        <p:nvSpPr>
          <p:cNvPr id="309" name="ANUARIO_ANEXO_P127_L065"/>
          <p:cNvSpPr txBox="1"/>
          <p:nvPr/>
        </p:nvSpPr>
        <p:spPr>
          <a:xfrm>
            <a:off x="4925991" y="2744815"/>
            <a:ext cx="384998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y móviles considerando los siguientes conceptos, utilizando la tabla GASTOSHOGAR de la </a:t>
            </a:r>
          </a:p>
        </p:txBody>
      </p:sp>
      <p:sp>
        <p:nvSpPr>
          <p:cNvPr id="310" name="ANUARIO_ANEXO_P127_L066"/>
          <p:cNvSpPr txBox="1"/>
          <p:nvPr/>
        </p:nvSpPr>
        <p:spPr>
          <a:xfrm>
            <a:off x="4925991" y="2853034"/>
            <a:ext cx="50816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encuesta:</a:t>
            </a:r>
          </a:p>
        </p:txBody>
      </p:sp>
      <p:sp>
        <p:nvSpPr>
          <p:cNvPr id="311" name="ANUARIO_ANEXO_P127_L067"/>
          <p:cNvSpPr txBox="1"/>
          <p:nvPr/>
        </p:nvSpPr>
        <p:spPr>
          <a:xfrm>
            <a:off x="4647536" y="3068055"/>
            <a:ext cx="185703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fijas (Universo A):</a:t>
            </a:r>
          </a:p>
        </p:txBody>
      </p:sp>
      <p:sp>
        <p:nvSpPr>
          <p:cNvPr id="312" name="ANUARIO_ANEXO_P127_L068"/>
          <p:cNvSpPr txBox="1"/>
          <p:nvPr/>
        </p:nvSpPr>
        <p:spPr>
          <a:xfrm>
            <a:off x="4781194" y="3283077"/>
            <a:ext cx="17950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R005: Larga distancia en línea particular</a:t>
            </a:r>
          </a:p>
        </p:txBody>
      </p:sp>
      <p:sp>
        <p:nvSpPr>
          <p:cNvPr id="313" name="ANUARIO_ANEXO_P127_L069"/>
          <p:cNvSpPr txBox="1"/>
          <p:nvPr/>
        </p:nvSpPr>
        <p:spPr>
          <a:xfrm>
            <a:off x="4781194" y="3391295"/>
            <a:ext cx="187163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R006: Llamadas locales de línea particular</a:t>
            </a:r>
          </a:p>
        </p:txBody>
      </p:sp>
      <p:sp>
        <p:nvSpPr>
          <p:cNvPr id="314" name="ANUARIO_ANEXO_P127_L070"/>
          <p:cNvSpPr txBox="1"/>
          <p:nvPr/>
        </p:nvSpPr>
        <p:spPr>
          <a:xfrm>
            <a:off x="4781194" y="3499514"/>
            <a:ext cx="765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R008: Internet</a:t>
            </a:r>
          </a:p>
        </p:txBody>
      </p:sp>
      <p:sp>
        <p:nvSpPr>
          <p:cNvPr id="315" name="ANUARIO_ANEXO_P127_L071"/>
          <p:cNvSpPr txBox="1"/>
          <p:nvPr/>
        </p:nvSpPr>
        <p:spPr>
          <a:xfrm>
            <a:off x="4781194" y="3607733"/>
            <a:ext cx="117778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R009: Televisión de paga</a:t>
            </a:r>
          </a:p>
        </p:txBody>
      </p:sp>
      <p:sp>
        <p:nvSpPr>
          <p:cNvPr id="316" name="ANUARIO_ANEXO_P127_L072"/>
          <p:cNvSpPr txBox="1"/>
          <p:nvPr/>
        </p:nvSpPr>
        <p:spPr>
          <a:xfrm>
            <a:off x="4781194" y="3715952"/>
            <a:ext cx="153029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R010: Paquete Internet y teléfono</a:t>
            </a:r>
          </a:p>
        </p:txBody>
      </p:sp>
      <p:sp>
        <p:nvSpPr>
          <p:cNvPr id="317" name="ANUARIO_ANEXO_P127_L073"/>
          <p:cNvSpPr txBox="1"/>
          <p:nvPr/>
        </p:nvSpPr>
        <p:spPr>
          <a:xfrm>
            <a:off x="4781194" y="3824171"/>
            <a:ext cx="23004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R011: Paquete Internet, teléfono y televisión de paga </a:t>
            </a:r>
          </a:p>
        </p:txBody>
      </p:sp>
      <p:sp>
        <p:nvSpPr>
          <p:cNvPr id="318" name="ANUARIO_ANEXO_P127_L074"/>
          <p:cNvSpPr txBox="1"/>
          <p:nvPr/>
        </p:nvSpPr>
        <p:spPr>
          <a:xfrm>
            <a:off x="4647536" y="4039192"/>
            <a:ext cx="199924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Para telecomunicaciones móviles (Universo B):</a:t>
            </a:r>
          </a:p>
        </p:txBody>
      </p:sp>
      <p:sp>
        <p:nvSpPr>
          <p:cNvPr id="319" name="ANUARIO_ANEXO_P127_L075"/>
          <p:cNvSpPr txBox="1"/>
          <p:nvPr/>
        </p:nvSpPr>
        <p:spPr>
          <a:xfrm>
            <a:off x="4781194" y="4254213"/>
            <a:ext cx="28627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F003: Compra de tarjetas y pago por el servicio de teléfono celular</a:t>
            </a:r>
          </a:p>
        </p:txBody>
      </p:sp>
      <p:sp>
        <p:nvSpPr>
          <p:cNvPr id="320" name="ANUARIO_ANEXO_P127_L076"/>
          <p:cNvSpPr txBox="1"/>
          <p:nvPr/>
        </p:nvSpPr>
        <p:spPr>
          <a:xfrm>
            <a:off x="4781194" y="4362433"/>
            <a:ext cx="181721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 R007: Teléfonos celulares (plan mensual)</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3"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128</a:t>
            </a:r>
          </a:p>
        </p:txBody>
      </p:sp>
      <p:sp>
        <p:nvSpPr>
          <p:cNvPr id="222" name="ANUARIO_ANEXO_P128_L001"/>
          <p:cNvSpPr txBox="1"/>
          <p:nvPr/>
        </p:nvSpPr>
        <p:spPr>
          <a:xfrm>
            <a:off x="695494" y="656471"/>
            <a:ext cx="3961265"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4. </a:t>
            </a:r>
            <a:r>
              <a:rPr sz="592" b="0" i="0">
                <a:solidFill>
                  <a:srgbClr val="1F3031"/>
                </a:solidFill>
                <a:latin typeface="Noto Sans"/>
              </a:rPr>
              <a:t> Para obtener el gasto promedio en servicios fijos o en servicios móviles, según sea el caso, </a:t>
            </a:r>
          </a:p>
        </p:txBody>
      </p:sp>
      <p:sp>
        <p:nvSpPr>
          <p:cNvPr id="223" name="ANUARIO_ANEXO_P128_L002"/>
          <p:cNvSpPr txBox="1"/>
          <p:nvPr/>
        </p:nvSpPr>
        <p:spPr>
          <a:xfrm>
            <a:off x="806876" y="770873"/>
            <a:ext cx="385005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 utilizan los gastos listados en el paso tres y se dividen entre tres para que sean mensuales. </a:t>
            </a:r>
          </a:p>
        </p:txBody>
      </p:sp>
      <p:sp>
        <p:nvSpPr>
          <p:cNvPr id="224" name="ANUARIO_ANEXO_P128_L003"/>
          <p:cNvSpPr txBox="1"/>
          <p:nvPr/>
        </p:nvSpPr>
        <p:spPr>
          <a:xfrm>
            <a:off x="806876" y="884591"/>
            <a:ext cx="384969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Posteriormente, el gasto se divide entre el número de hogares que disponen y gastan en los </a:t>
            </a:r>
          </a:p>
        </p:txBody>
      </p:sp>
      <p:sp>
        <p:nvSpPr>
          <p:cNvPr id="225" name="ANUARIO_ANEXO_P128_L004"/>
          <p:cNvSpPr txBox="1"/>
          <p:nvPr/>
        </p:nvSpPr>
        <p:spPr>
          <a:xfrm>
            <a:off x="806876" y="998309"/>
            <a:ext cx="384940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servicios analizados. De esta manera, el gasto mostrado en las figuras del Anuario representa </a:t>
            </a:r>
          </a:p>
        </p:txBody>
      </p:sp>
      <p:sp>
        <p:nvSpPr>
          <p:cNvPr id="226" name="ANUARIO_ANEXO_P128_L005"/>
          <p:cNvSpPr txBox="1"/>
          <p:nvPr/>
        </p:nvSpPr>
        <p:spPr>
          <a:xfrm>
            <a:off x="806876" y="1112027"/>
            <a:ext cx="385004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gasto promedio mensual en telecomunicaciones fijas o en telecomunicaciones móviles </a:t>
            </a:r>
          </a:p>
        </p:txBody>
      </p:sp>
      <p:sp>
        <p:nvSpPr>
          <p:cNvPr id="227" name="ANUARIO_ANEXO_P128_L006"/>
          <p:cNvSpPr txBox="1"/>
          <p:nvPr/>
        </p:nvSpPr>
        <p:spPr>
          <a:xfrm>
            <a:off x="806876" y="1225745"/>
            <a:ext cx="291584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que tuvieron los hogares que disponían y gastaban en estos servicios.</a:t>
            </a:r>
          </a:p>
        </p:txBody>
      </p:sp>
      <p:sp>
        <p:nvSpPr>
          <p:cNvPr id="228" name="ANUARIO_ANEXO_P128_L007"/>
          <p:cNvSpPr txBox="1"/>
          <p:nvPr/>
        </p:nvSpPr>
        <p:spPr>
          <a:xfrm>
            <a:off x="695494" y="1445582"/>
            <a:ext cx="3960549" cy="146070"/>
          </a:xfrm>
          <a:prstGeom prst="rect">
            <a:avLst/>
          </a:prstGeom>
          <a:noFill/>
        </p:spPr>
        <p:txBody>
          <a:bodyPr wrap="none" lIns="0" rIns="0" tIns="0" bIns="0">
            <a:noAutofit/>
          </a:bodyPr>
          <a:lstStyle/>
          <a:p>
            <a:pPr>
              <a:spcBef>
                <a:spcPts val="0"/>
              </a:spcBef>
              <a:spcAft>
                <a:spcPts val="0"/>
              </a:spcAft>
            </a:pPr>
            <a:r>
              <a:rPr sz="592" b="1" i="0">
                <a:solidFill>
                  <a:srgbClr val="1F3031"/>
                </a:solidFill>
                <a:latin typeface="Noto Sans"/>
              </a:rPr>
              <a:t>5.</a:t>
            </a:r>
            <a:r>
              <a:rPr sz="592" b="0" i="0">
                <a:solidFill>
                  <a:srgbClr val="1F3031"/>
                </a:solidFill>
                <a:latin typeface="Noto Sans"/>
              </a:rPr>
              <a:t>  Para el porcentaje del gasto con respecto al ingreso, para cada decil de ingreso se toman los </a:t>
            </a:r>
          </a:p>
        </p:txBody>
      </p:sp>
      <p:sp>
        <p:nvSpPr>
          <p:cNvPr id="229" name="ANUARIO_ANEXO_P128_L008"/>
          <p:cNvSpPr txBox="1"/>
          <p:nvPr/>
        </p:nvSpPr>
        <p:spPr>
          <a:xfrm>
            <a:off x="806876" y="1559984"/>
            <a:ext cx="38500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gastos en telecomunicaciones fijas y móviles que se explican en el paso dos y se dividen entre </a:t>
            </a:r>
          </a:p>
        </p:txBody>
      </p:sp>
      <p:sp>
        <p:nvSpPr>
          <p:cNvPr id="230" name="ANUARIO_ANEXO_P128_L009"/>
          <p:cNvSpPr txBox="1"/>
          <p:nvPr/>
        </p:nvSpPr>
        <p:spPr>
          <a:xfrm>
            <a:off x="806876" y="1673702"/>
            <a:ext cx="324312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ingreso total de los hogares que dispusieron y gastaron en dichos servicios.</a:t>
            </a:r>
          </a:p>
        </p:txBody>
      </p:sp>
      <p:sp>
        <p:nvSpPr>
          <p:cNvPr id="231" name="ANUARIO_ANEXO_P128_L010"/>
          <p:cNvSpPr txBox="1"/>
          <p:nvPr/>
        </p:nvSpPr>
        <p:spPr>
          <a:xfrm>
            <a:off x="528422" y="1896891"/>
            <a:ext cx="3547076"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CONSUMO DE RADIO Y TELEVISIÓN, PARTICULARIDADES </a:t>
            </a:r>
          </a:p>
        </p:txBody>
      </p:sp>
      <p:sp>
        <p:nvSpPr>
          <p:cNvPr id="232" name="ANUARIO_ANEXO_P128_L011"/>
          <p:cNvSpPr txBox="1"/>
          <p:nvPr/>
        </p:nvSpPr>
        <p:spPr>
          <a:xfrm>
            <a:off x="528422" y="2044786"/>
            <a:ext cx="1217495"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METODOLÓGICAS</a:t>
            </a:r>
          </a:p>
        </p:txBody>
      </p:sp>
      <p:sp>
        <p:nvSpPr>
          <p:cNvPr id="233" name="ANUARIO_ANEXO_P128_L012"/>
          <p:cNvSpPr txBox="1"/>
          <p:nvPr/>
        </p:nvSpPr>
        <p:spPr>
          <a:xfrm>
            <a:off x="528422" y="2275452"/>
            <a:ext cx="41281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información presentada toma como base los datos compilados por Nielsen IBOPE (Nielsen </a:t>
            </a:r>
          </a:p>
        </p:txBody>
      </p:sp>
      <p:sp>
        <p:nvSpPr>
          <p:cNvPr id="234" name="ANUARIO_ANEXO_P128_L013"/>
          <p:cNvSpPr txBox="1"/>
          <p:nvPr/>
        </p:nvSpPr>
        <p:spPr>
          <a:xfrm>
            <a:off x="528422" y="2389170"/>
            <a:ext cx="412814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IBOPE México S.A de C.V.), a través dispositivos llamados “people meter”, mismos que permiten la </a:t>
            </a:r>
          </a:p>
        </p:txBody>
      </p:sp>
      <p:sp>
        <p:nvSpPr>
          <p:cNvPr id="235" name="ANUARIO_ANEXO_P128_L014"/>
          <p:cNvSpPr txBox="1"/>
          <p:nvPr/>
        </p:nvSpPr>
        <p:spPr>
          <a:xfrm>
            <a:off x="528422" y="2502889"/>
            <a:ext cx="192804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recopilación de datos por medio electrónico.</a:t>
            </a:r>
          </a:p>
        </p:txBody>
      </p:sp>
      <p:sp>
        <p:nvSpPr>
          <p:cNvPr id="236" name="ANUARIO_ANEXO_P128_L015"/>
          <p:cNvSpPr txBox="1"/>
          <p:nvPr/>
        </p:nvSpPr>
        <p:spPr>
          <a:xfrm>
            <a:off x="528422" y="2723408"/>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Nielsen IBOPE tiene mediciones agrupadas en cinco rubros o dominios en México: AMCM (Área </a:t>
            </a:r>
          </a:p>
        </p:txBody>
      </p:sp>
      <p:sp>
        <p:nvSpPr>
          <p:cNvPr id="237" name="ANUARIO_ANEXO_P128_L016"/>
          <p:cNvSpPr txBox="1"/>
          <p:nvPr/>
        </p:nvSpPr>
        <p:spPr>
          <a:xfrm>
            <a:off x="528422" y="2837126"/>
            <a:ext cx="412780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Metropolitana de la Ciudad de México), Monterrey (Área Metropolitana de la Ciudad de Monterrey), </a:t>
            </a:r>
          </a:p>
        </p:txBody>
      </p:sp>
      <p:sp>
        <p:nvSpPr>
          <p:cNvPr id="238" name="ANUARIO_ANEXO_P128_L017"/>
          <p:cNvSpPr txBox="1"/>
          <p:nvPr/>
        </p:nvSpPr>
        <p:spPr>
          <a:xfrm>
            <a:off x="528422" y="2950845"/>
            <a:ext cx="4127936"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Guadalajara (Área Metropolitana de la Ciudad de Guadalajara); los dos anteriores considerados </a:t>
            </a:r>
          </a:p>
        </p:txBody>
      </p:sp>
      <p:sp>
        <p:nvSpPr>
          <p:cNvPr id="239" name="ANUARIO_ANEXO_P128_L018"/>
          <p:cNvSpPr txBox="1"/>
          <p:nvPr/>
        </p:nvSpPr>
        <p:spPr>
          <a:xfrm>
            <a:off x="528422" y="3064563"/>
            <a:ext cx="412768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como dominios indicativos, además un conglomerado de 25 ciudades del interior de la república y </a:t>
            </a:r>
          </a:p>
        </p:txBody>
      </p:sp>
      <p:sp>
        <p:nvSpPr>
          <p:cNvPr id="240" name="ANUARIO_ANEXO_P128_L019"/>
          <p:cNvSpPr txBox="1"/>
          <p:nvPr/>
        </p:nvSpPr>
        <p:spPr>
          <a:xfrm>
            <a:off x="528422" y="3178281"/>
            <a:ext cx="412788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conjunto de las 28 ciudades del estudio. Los datos que se presentan a nivel país (28 ciudades) son </a:t>
            </a:r>
          </a:p>
        </p:txBody>
      </p:sp>
      <p:sp>
        <p:nvSpPr>
          <p:cNvPr id="241" name="ANUARIO_ANEXO_P128_L020"/>
          <p:cNvSpPr txBox="1"/>
          <p:nvPr/>
        </p:nvSpPr>
        <p:spPr>
          <a:xfrm>
            <a:off x="528422" y="3291999"/>
            <a:ext cx="23476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del total de los dominios evaluados por Nielsen IBOPE. </a:t>
            </a:r>
          </a:p>
        </p:txBody>
      </p:sp>
      <p:sp>
        <p:nvSpPr>
          <p:cNvPr id="242" name="ANUARIO_ANEXO_P128_L021"/>
          <p:cNvSpPr txBox="1"/>
          <p:nvPr/>
        </p:nvSpPr>
        <p:spPr>
          <a:xfrm>
            <a:off x="528422" y="3512519"/>
            <a:ext cx="412807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referirse al Universo de Personas se consideran las personas mayores de 4 años que tengan acceso </a:t>
            </a:r>
          </a:p>
        </p:txBody>
      </p:sp>
      <p:sp>
        <p:nvSpPr>
          <p:cNvPr id="243" name="ANUARIO_ANEXO_P128_L022"/>
          <p:cNvSpPr txBox="1"/>
          <p:nvPr/>
        </p:nvSpPr>
        <p:spPr>
          <a:xfrm>
            <a:off x="528422" y="3626237"/>
            <a:ext cx="179652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 una televisión funcionando en su hogar.</a:t>
            </a:r>
          </a:p>
        </p:txBody>
      </p:sp>
      <p:sp>
        <p:nvSpPr>
          <p:cNvPr id="244" name="ANUARIO_ANEXO_P128_L023"/>
          <p:cNvSpPr txBox="1"/>
          <p:nvPr/>
        </p:nvSpPr>
        <p:spPr>
          <a:xfrm>
            <a:off x="4647536" y="657155"/>
            <a:ext cx="412825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niveles de audiencia reportados son de las personas que cuentan con un televisor que funciona y </a:t>
            </a:r>
          </a:p>
        </p:txBody>
      </p:sp>
      <p:sp>
        <p:nvSpPr>
          <p:cNvPr id="245" name="ANUARIO_ANEXO_P128_L024"/>
          <p:cNvSpPr txBox="1"/>
          <p:nvPr/>
        </p:nvSpPr>
        <p:spPr>
          <a:xfrm>
            <a:off x="4647536" y="764151"/>
            <a:ext cx="412777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tiene acceso a ver algún tipo de contenido en canales de TV a través de del mismo, independientemente </a:t>
            </a:r>
          </a:p>
        </p:txBody>
      </p:sp>
      <p:sp>
        <p:nvSpPr>
          <p:cNvPr id="246" name="ANUARIO_ANEXO_P128_L025"/>
          <p:cNvSpPr txBox="1"/>
          <p:nvPr/>
        </p:nvSpPr>
        <p:spPr>
          <a:xfrm>
            <a:off x="4647536" y="871146"/>
            <a:ext cx="412842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la forma en que reciban la señal (señal abierta, o restringida u otros dispositivos conectados a la </a:t>
            </a:r>
          </a:p>
        </p:txBody>
      </p:sp>
      <p:sp>
        <p:nvSpPr>
          <p:cNvPr id="247" name="ANUARIO_ANEXO_P128_L026"/>
          <p:cNvSpPr txBox="1"/>
          <p:nvPr/>
        </p:nvSpPr>
        <p:spPr>
          <a:xfrm>
            <a:off x="4647536" y="978142"/>
            <a:ext cx="24083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TV) y se incluyen invitados en el hogar (Guests Viewers). </a:t>
            </a:r>
          </a:p>
        </p:txBody>
      </p:sp>
      <p:sp>
        <p:nvSpPr>
          <p:cNvPr id="248" name="ANUARIO_ANEXO_P128_L027"/>
          <p:cNvSpPr txBox="1"/>
          <p:nvPr/>
        </p:nvSpPr>
        <p:spPr>
          <a:xfrm>
            <a:off x="4647536" y="1191940"/>
            <a:ext cx="412843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Cuando se habla de canales nacionales de acuerdo al análisis definido por el IFT se consideran: </a:t>
            </a:r>
          </a:p>
        </p:txBody>
      </p:sp>
      <p:sp>
        <p:nvSpPr>
          <p:cNvPr id="249" name="ANUARIO_ANEXO_P128_L028"/>
          <p:cNvSpPr txBox="1"/>
          <p:nvPr/>
        </p:nvSpPr>
        <p:spPr>
          <a:xfrm>
            <a:off x="4647536" y="1298935"/>
            <a:ext cx="346571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Azteca Uno, Las Estrellas, Imagen TV, Canal 5, Azteca 7, NU9VE, A MAS + y ADN40.</a:t>
            </a:r>
          </a:p>
        </p:txBody>
      </p:sp>
      <p:sp>
        <p:nvSpPr>
          <p:cNvPr id="250" name="ANUARIO_ANEXO_P128_L029"/>
          <p:cNvSpPr txBox="1"/>
          <p:nvPr/>
        </p:nvSpPr>
        <p:spPr>
          <a:xfrm>
            <a:off x="4647536" y="1512733"/>
            <a:ext cx="4128168"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El análisis e interpretación fue realizado bajo la responsabilidad del IFT, con información de </a:t>
            </a:r>
          </a:p>
        </p:txBody>
      </p:sp>
      <p:sp>
        <p:nvSpPr>
          <p:cNvPr id="251" name="ANUARIO_ANEXO_P128_L030"/>
          <p:cNvSpPr txBox="1"/>
          <p:nvPr/>
        </p:nvSpPr>
        <p:spPr>
          <a:xfrm>
            <a:off x="4647536" y="1619728"/>
            <a:ext cx="412795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audiencias de Nielsen IBOPE México bajo los términos contractuales de licenciamiento de las bases </a:t>
            </a:r>
          </a:p>
        </p:txBody>
      </p:sp>
      <p:sp>
        <p:nvSpPr>
          <p:cNvPr id="252" name="ANUARIO_ANEXO_P128_L031"/>
          <p:cNvSpPr txBox="1"/>
          <p:nvPr/>
        </p:nvSpPr>
        <p:spPr>
          <a:xfrm>
            <a:off x="4647536" y="1726723"/>
            <a:ext cx="4128070"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datos de audiencias de televisión, Nielsen IBOPE ha validado al IFT que la información estadística </a:t>
            </a:r>
          </a:p>
        </p:txBody>
      </p:sp>
      <p:sp>
        <p:nvSpPr>
          <p:cNvPr id="253" name="ANUARIO_ANEXO_P128_L032"/>
          <p:cNvSpPr txBox="1"/>
          <p:nvPr/>
        </p:nvSpPr>
        <p:spPr>
          <a:xfrm>
            <a:off x="4647536" y="1833719"/>
            <a:ext cx="412822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audiencias de televisión contenida en el mencionado reporte concuerda con aquellas licenciadas </a:t>
            </a:r>
          </a:p>
        </p:txBody>
      </p:sp>
      <p:sp>
        <p:nvSpPr>
          <p:cNvPr id="254" name="ANUARIO_ANEXO_P128_L033"/>
          <p:cNvSpPr txBox="1"/>
          <p:nvPr/>
        </p:nvSpPr>
        <p:spPr>
          <a:xfrm>
            <a:off x="4647536" y="1940714"/>
            <a:ext cx="11266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al IFT por Nielsen IBOPE.</a:t>
            </a:r>
          </a:p>
        </p:txBody>
      </p:sp>
      <p:sp>
        <p:nvSpPr>
          <p:cNvPr id="255" name="ANUARIO_ANEXO_P128_L034"/>
          <p:cNvSpPr txBox="1"/>
          <p:nvPr/>
        </p:nvSpPr>
        <p:spPr>
          <a:xfrm>
            <a:off x="4647536" y="2157182"/>
            <a:ext cx="3526619"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ENCUESTA NACIONAL SOBRE DISPONIBILIDAD Y USO DE </a:t>
            </a:r>
          </a:p>
        </p:txBody>
      </p:sp>
      <p:sp>
        <p:nvSpPr>
          <p:cNvPr id="256" name="ANUARIO_ANEXO_P128_L035"/>
          <p:cNvSpPr txBox="1"/>
          <p:nvPr/>
        </p:nvSpPr>
        <p:spPr>
          <a:xfrm>
            <a:off x="4647536" y="2298355"/>
            <a:ext cx="4106260"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TECNOLOGÍAS DE LA INFORMACIÓN EN LOS HOGARES (ENDUTIH) </a:t>
            </a:r>
          </a:p>
        </p:txBody>
      </p:sp>
      <p:sp>
        <p:nvSpPr>
          <p:cNvPr id="257" name="ANUARIO_ANEXO_P128_L036"/>
          <p:cNvSpPr txBox="1"/>
          <p:nvPr/>
        </p:nvSpPr>
        <p:spPr>
          <a:xfrm>
            <a:off x="4647536" y="2439527"/>
            <a:ext cx="2852194" cy="185415"/>
          </a:xfrm>
          <a:prstGeom prst="rect">
            <a:avLst/>
          </a:prstGeom>
          <a:noFill/>
        </p:spPr>
        <p:txBody>
          <a:bodyPr wrap="none" lIns="0" rIns="0" tIns="0" bIns="0">
            <a:noAutofit/>
          </a:bodyPr>
          <a:lstStyle/>
          <a:p>
            <a:pPr>
              <a:spcBef>
                <a:spcPts val="0"/>
              </a:spcBef>
              <a:spcAft>
                <a:spcPts val="0"/>
              </a:spcAft>
            </a:pPr>
            <a:r>
              <a:rPr sz="814" b="1" i="0">
                <a:solidFill>
                  <a:srgbClr val="484979"/>
                </a:solidFill>
                <a:latin typeface="Noto Sans"/>
              </a:rPr>
              <a:t>2025, PARTICULARIDADES METODOLÓGICAS</a:t>
            </a:r>
            <a:r>
              <a:rPr sz="475" b="1" i="0">
                <a:solidFill>
                  <a:srgbClr val="484979"/>
                </a:solidFill>
                <a:latin typeface="Noto Sans"/>
              </a:rPr>
              <a:t>13</a:t>
            </a:r>
          </a:p>
        </p:txBody>
      </p:sp>
      <p:sp>
        <p:nvSpPr>
          <p:cNvPr id="258" name="ANUARIO_ANEXO_P128_L037"/>
          <p:cNvSpPr txBox="1"/>
          <p:nvPr/>
        </p:nvSpPr>
        <p:spPr>
          <a:xfrm>
            <a:off x="4647536" y="2663470"/>
            <a:ext cx="4128384"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La ENDUTIH tiene como finalidad obtener información sobre la disponibilidad y el uso de las </a:t>
            </a:r>
          </a:p>
        </p:txBody>
      </p:sp>
      <p:sp>
        <p:nvSpPr>
          <p:cNvPr id="259" name="ANUARIO_ANEXO_P128_L038"/>
          <p:cNvSpPr txBox="1"/>
          <p:nvPr/>
        </p:nvSpPr>
        <p:spPr>
          <a:xfrm>
            <a:off x="4647536" y="2770466"/>
            <a:ext cx="412816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tecnologías de información y comunicaciones en los hogares y su utilización por los individuos de </a:t>
            </a:r>
          </a:p>
        </p:txBody>
      </p:sp>
      <p:sp>
        <p:nvSpPr>
          <p:cNvPr id="260" name="ANUARIO_ANEXO_P128_L039"/>
          <p:cNvSpPr txBox="1"/>
          <p:nvPr/>
        </p:nvSpPr>
        <p:spPr>
          <a:xfrm>
            <a:off x="4647536" y="2877461"/>
            <a:ext cx="4127535"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seis años o más en México. A partir de la publicación de los resultados del año 2021 de la ENDUTIH, </a:t>
            </a:r>
          </a:p>
        </p:txBody>
      </p:sp>
      <p:sp>
        <p:nvSpPr>
          <p:cNvPr id="261" name="ANUARIO_ANEXO_P128_L040"/>
          <p:cNvSpPr txBox="1"/>
          <p:nvPr/>
        </p:nvSpPr>
        <p:spPr>
          <a:xfrm>
            <a:off x="4647536" y="2984457"/>
            <a:ext cx="4127722"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factores de expansión responden a la nueva estimación de población, en lugar de las cifras de las </a:t>
            </a:r>
          </a:p>
        </p:txBody>
      </p:sp>
      <p:sp>
        <p:nvSpPr>
          <p:cNvPr id="262" name="ANUARIO_ANEXO_P128_L041"/>
          <p:cNvSpPr txBox="1"/>
          <p:nvPr/>
        </p:nvSpPr>
        <p:spPr>
          <a:xfrm>
            <a:off x="4647536" y="3091453"/>
            <a:ext cx="4128411"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proyecciones poblacionales que se venían utilizando desde 2013. Ahora, el INEGI estará generando </a:t>
            </a:r>
          </a:p>
        </p:txBody>
      </p:sp>
      <p:sp>
        <p:nvSpPr>
          <p:cNvPr id="263" name="ANUARIO_ANEXO_P128_L042"/>
          <p:cNvSpPr txBox="1"/>
          <p:nvPr/>
        </p:nvSpPr>
        <p:spPr>
          <a:xfrm>
            <a:off x="4647536" y="3198448"/>
            <a:ext cx="3678139"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una estimación de población, con base en la propia actualización de la Muestra Maestra.</a:t>
            </a:r>
          </a:p>
        </p:txBody>
      </p:sp>
      <p:sp>
        <p:nvSpPr>
          <p:cNvPr id="264" name="ANUARIO_ANEXO_P128_L043"/>
          <p:cNvSpPr txBox="1"/>
          <p:nvPr/>
        </p:nvSpPr>
        <p:spPr>
          <a:xfrm>
            <a:off x="4647536" y="3412246"/>
            <a:ext cx="412859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Los eventos de los años 2017 a 2020 fueron actualizados con estimación de la población el 4 de julio </a:t>
            </a:r>
          </a:p>
        </p:txBody>
      </p:sp>
      <p:sp>
        <p:nvSpPr>
          <p:cNvPr id="265" name="ANUARIO_ANEXO_P128_L044"/>
          <p:cNvSpPr txBox="1"/>
          <p:nvPr/>
        </p:nvSpPr>
        <p:spPr>
          <a:xfrm>
            <a:off x="4647536" y="3519241"/>
            <a:ext cx="4128767"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de 2022, a la par de la publicación de 2021. Los eventos del año 2015-2016 se actualizaron el 30 de </a:t>
            </a:r>
          </a:p>
        </p:txBody>
      </p:sp>
      <p:sp>
        <p:nvSpPr>
          <p:cNvPr id="266" name="ANUARIO_ANEXO_P128_L045"/>
          <p:cNvSpPr txBox="1"/>
          <p:nvPr/>
        </p:nvSpPr>
        <p:spPr>
          <a:xfrm>
            <a:off x="4647536" y="3626237"/>
            <a:ext cx="935423" cy="144446"/>
          </a:xfrm>
          <a:prstGeom prst="rect">
            <a:avLst/>
          </a:prstGeom>
          <a:noFill/>
        </p:spPr>
        <p:txBody>
          <a:bodyPr wrap="none" lIns="0" rIns="0" tIns="0" bIns="0">
            <a:noAutofit/>
          </a:bodyPr>
          <a:lstStyle/>
          <a:p>
            <a:pPr>
              <a:spcBef>
                <a:spcPts val="0"/>
              </a:spcBef>
              <a:spcAft>
                <a:spcPts val="0"/>
              </a:spcAft>
            </a:pPr>
            <a:r>
              <a:rPr sz="592" b="0" i="0">
                <a:solidFill>
                  <a:srgbClr val="1F3031"/>
                </a:solidFill>
                <a:latin typeface="Noto Sans"/>
              </a:rPr>
              <a:t>noviembre de 2022. </a:t>
            </a:r>
          </a:p>
        </p:txBody>
      </p:sp>
      <p:sp>
        <p:nvSpPr>
          <p:cNvPr id="267" name="ANUARIO_ANEXO_P128_L046"/>
          <p:cNvSpPr txBox="1"/>
          <p:nvPr/>
        </p:nvSpPr>
        <p:spPr>
          <a:xfrm>
            <a:off x="383625" y="4429651"/>
            <a:ext cx="3840370" cy="118622"/>
          </a:xfrm>
          <a:prstGeom prst="rect">
            <a:avLst/>
          </a:prstGeom>
          <a:noFill/>
        </p:spPr>
        <p:txBody>
          <a:bodyPr wrap="none" lIns="0" rIns="0" tIns="0" bIns="0">
            <a:noAutofit/>
          </a:bodyPr>
          <a:lstStyle/>
          <a:p>
            <a:pPr>
              <a:spcBef>
                <a:spcPts val="0"/>
              </a:spcBef>
              <a:spcAft>
                <a:spcPts val="0"/>
              </a:spcAft>
            </a:pPr>
            <a:r>
              <a:rPr sz="259" b="0" i="0">
                <a:solidFill>
                  <a:srgbClr val="1F3031"/>
                </a:solidFill>
                <a:latin typeface="Noto Sans"/>
              </a:rPr>
              <a:t>13</a:t>
            </a:r>
            <a:r>
              <a:rPr sz="444" b="0" i="0">
                <a:solidFill>
                  <a:srgbClr val="1F3031"/>
                </a:solidFill>
                <a:latin typeface="Noto Sans"/>
              </a:rPr>
              <a:t> Fuente: IFT con información del INEGI. Para más información consultar: </a:t>
            </a:r>
            <a:r>
              <a:rPr sz="444" b="0" i="0">
                <a:solidFill>
                  <a:srgbClr val="0563C1"/>
                </a:solidFill>
                <a:latin typeface="Noto Sans"/>
                <a:hlinkClick r:id="rId2"/>
              </a:rPr>
              <a:t>https://www.inegi.org.mx/programas/endutih/2025/</a:t>
            </a:r>
            <a:r>
              <a:rPr sz="444" b="0" i="0">
                <a:solidFill>
                  <a:srgbClr val="1F3031"/>
                </a:solidFill>
                <a:latin typeface="Noto Sans"/>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II_4"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III. METODOLOGÍAS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129</a:t>
            </a:r>
          </a:p>
        </p:txBody>
      </p:sp>
      <p:sp>
        <p:nvSpPr>
          <p:cNvPr id="222" name="ANUARIO_ANEXO_P129_L001"/>
          <p:cNvSpPr txBox="1"/>
          <p:nvPr/>
        </p:nvSpPr>
        <p:spPr>
          <a:xfrm>
            <a:off x="528422" y="1048163"/>
            <a:ext cx="3580401"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ENCUESTA NACIONAL DE OCUPACIÓN Y EMPLEO (ENOE), </a:t>
            </a:r>
          </a:p>
        </p:txBody>
      </p:sp>
      <p:sp>
        <p:nvSpPr>
          <p:cNvPr id="223" name="ANUARIO_ANEXO_P129_L002"/>
          <p:cNvSpPr txBox="1"/>
          <p:nvPr/>
        </p:nvSpPr>
        <p:spPr>
          <a:xfrm>
            <a:off x="528422" y="1189142"/>
            <a:ext cx="383192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POBLACIÓN DE 15 AÑOS Y MÁS DE EDAD, PARTICULARIDADES </a:t>
            </a:r>
          </a:p>
        </p:txBody>
      </p:sp>
      <p:sp>
        <p:nvSpPr>
          <p:cNvPr id="224" name="ANUARIO_ANEXO_P129_L003"/>
          <p:cNvSpPr txBox="1"/>
          <p:nvPr/>
        </p:nvSpPr>
        <p:spPr>
          <a:xfrm>
            <a:off x="528422" y="1330121"/>
            <a:ext cx="1285996"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14</a:t>
            </a:r>
          </a:p>
        </p:txBody>
      </p:sp>
      <p:sp>
        <p:nvSpPr>
          <p:cNvPr id="225" name="ANUARIO_ANEXO_P129_L004"/>
          <p:cNvSpPr txBox="1"/>
          <p:nvPr/>
        </p:nvSpPr>
        <p:spPr>
          <a:xfrm>
            <a:off x="528422" y="1553871"/>
            <a:ext cx="41281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ENOE es la principal fuente de información sobre el mercado laboral mexicano al ofrecer datos </a:t>
            </a:r>
          </a:p>
        </p:txBody>
      </p:sp>
      <p:sp>
        <p:nvSpPr>
          <p:cNvPr id="226" name="ANUARIO_ANEXO_P129_L005"/>
          <p:cNvSpPr txBox="1"/>
          <p:nvPr/>
        </p:nvSpPr>
        <p:spPr>
          <a:xfrm>
            <a:off x="528422" y="1660673"/>
            <a:ext cx="412849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mensuales y trimestrales de la fuerza de trabajo, la ocupación, la informalidad laboral, la subocupación </a:t>
            </a:r>
          </a:p>
        </p:txBody>
      </p:sp>
      <p:sp>
        <p:nvSpPr>
          <p:cNvPr id="227" name="ANUARIO_ANEXO_P129_L006"/>
          <p:cNvSpPr txBox="1"/>
          <p:nvPr/>
        </p:nvSpPr>
        <p:spPr>
          <a:xfrm>
            <a:off x="528422" y="1767475"/>
            <a:ext cx="88258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y la desocupación. </a:t>
            </a:r>
          </a:p>
        </p:txBody>
      </p:sp>
      <p:sp>
        <p:nvSpPr>
          <p:cNvPr id="228" name="ANUARIO_ANEXO_P129_L007"/>
          <p:cNvSpPr txBox="1"/>
          <p:nvPr/>
        </p:nvSpPr>
        <p:spPr>
          <a:xfrm>
            <a:off x="528422" y="1981079"/>
            <a:ext cx="412796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enero de 2023, se retoma el levantamiento de la ENOE como Información de Interés </a:t>
            </a:r>
          </a:p>
        </p:txBody>
      </p:sp>
      <p:sp>
        <p:nvSpPr>
          <p:cNvPr id="229" name="ANUARIO_ANEXO_P129_L008"/>
          <p:cNvSpPr txBox="1"/>
          <p:nvPr/>
        </p:nvSpPr>
        <p:spPr>
          <a:xfrm>
            <a:off x="528422" y="2087880"/>
            <a:ext cx="41284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Nacional e incorporando las preguntas de migración y lugar de trabajo y la aplicación de entrevistas </a:t>
            </a:r>
          </a:p>
        </p:txBody>
      </p:sp>
      <p:sp>
        <p:nvSpPr>
          <p:cNvPr id="230" name="ANUARIO_ANEXO_P129_L009"/>
          <p:cNvSpPr txBox="1"/>
          <p:nvPr/>
        </p:nvSpPr>
        <p:spPr>
          <a:xfrm>
            <a:off x="528422" y="2194682"/>
            <a:ext cx="109973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cara a cara y telefónicas.</a:t>
            </a:r>
          </a:p>
        </p:txBody>
      </p:sp>
      <p:sp>
        <p:nvSpPr>
          <p:cNvPr id="231" name="ANUARIO_ANEXO_P129_L010"/>
          <p:cNvSpPr txBox="1"/>
          <p:nvPr/>
        </p:nvSpPr>
        <p:spPr>
          <a:xfrm>
            <a:off x="528422" y="2408286"/>
            <a:ext cx="412788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Información sobre el periodo de suspensión del levantamiento de la ENOE en abril de 2020, debido </a:t>
            </a:r>
          </a:p>
        </p:txBody>
      </p:sp>
      <p:sp>
        <p:nvSpPr>
          <p:cNvPr id="232" name="ANUARIO_ANEXO_P129_L011"/>
          <p:cNvSpPr txBox="1"/>
          <p:nvPr/>
        </p:nvSpPr>
        <p:spPr>
          <a:xfrm>
            <a:off x="528422" y="2515088"/>
            <a:ext cx="41277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la contingencia sanitaria, consultar la publicación de la ETOE de abril a junio de 2020, así como los </a:t>
            </a:r>
          </a:p>
        </p:txBody>
      </p:sp>
      <p:sp>
        <p:nvSpPr>
          <p:cNvPr id="233" name="ANUARIO_ANEXO_P129_L012"/>
          <p:cNvSpPr txBox="1"/>
          <p:nvPr/>
        </p:nvSpPr>
        <p:spPr>
          <a:xfrm>
            <a:off x="528422" y="2621890"/>
            <a:ext cx="4107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resultados de la ENOE Nueva Edición (ENOEN) para el periodo de julio de 2020 a diciembre de 2022.</a:t>
            </a:r>
          </a:p>
        </p:txBody>
      </p:sp>
      <p:sp>
        <p:nvSpPr>
          <p:cNvPr id="234" name="ANUARIO_ANEXO_P129_L013"/>
          <p:cNvSpPr txBox="1"/>
          <p:nvPr/>
        </p:nvSpPr>
        <p:spPr>
          <a:xfrm>
            <a:off x="528422" y="2835494"/>
            <a:ext cx="41280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 partir de la publicación del primer trimestre de 2021 de la ENOE</a:t>
            </a:r>
            <a:r>
              <a:rPr sz="373" b="0" i="0">
                <a:solidFill>
                  <a:srgbClr val="1F3031"/>
                </a:solidFill>
                <a:latin typeface="Noto Sans"/>
              </a:rPr>
              <a:t>N</a:t>
            </a:r>
            <a:r>
              <a:rPr sz="640" b="0" i="0">
                <a:solidFill>
                  <a:srgbClr val="1F3031"/>
                </a:solidFill>
                <a:latin typeface="Noto Sans"/>
              </a:rPr>
              <a:t> (17 de mayo de 2021), los factores </a:t>
            </a:r>
          </a:p>
        </p:txBody>
      </p:sp>
      <p:sp>
        <p:nvSpPr>
          <p:cNvPr id="235" name="ANUARIO_ANEXO_P129_L014"/>
          <p:cNvSpPr txBox="1"/>
          <p:nvPr/>
        </p:nvSpPr>
        <p:spPr>
          <a:xfrm>
            <a:off x="528422" y="2942296"/>
            <a:ext cx="412788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expansión responden a la nueva estimación de población, en lugar de las cifras de las proyecciones </a:t>
            </a:r>
          </a:p>
        </p:txBody>
      </p:sp>
      <p:sp>
        <p:nvSpPr>
          <p:cNvPr id="236" name="ANUARIO_ANEXO_P129_L015"/>
          <p:cNvSpPr txBox="1"/>
          <p:nvPr/>
        </p:nvSpPr>
        <p:spPr>
          <a:xfrm>
            <a:off x="528422" y="3049098"/>
            <a:ext cx="4128212"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poblacionales que se venían utilizando desde 2013. Ahora, el INEGI estará generando una estimación </a:t>
            </a:r>
          </a:p>
        </p:txBody>
      </p:sp>
      <p:sp>
        <p:nvSpPr>
          <p:cNvPr id="237" name="ANUARIO_ANEXO_P129_L016"/>
          <p:cNvSpPr txBox="1"/>
          <p:nvPr/>
        </p:nvSpPr>
        <p:spPr>
          <a:xfrm>
            <a:off x="528422" y="3155900"/>
            <a:ext cx="399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población por entidad federativa, con base en la propia actualización del Marco de Muestreo.</a:t>
            </a:r>
          </a:p>
        </p:txBody>
      </p:sp>
      <p:sp>
        <p:nvSpPr>
          <p:cNvPr id="238" name="ANUARIO_ANEXO_P129_L017"/>
          <p:cNvSpPr txBox="1"/>
          <p:nvPr/>
        </p:nvSpPr>
        <p:spPr>
          <a:xfrm>
            <a:off x="528422" y="3369504"/>
            <a:ext cx="412830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 la finalidad de actualizar totalmente la serie histórica para la ENOE y ENOE</a:t>
            </a:r>
            <a:r>
              <a:rPr sz="373" b="0" i="0">
                <a:solidFill>
                  <a:srgbClr val="1F3031"/>
                </a:solidFill>
                <a:latin typeface="Noto Sans"/>
              </a:rPr>
              <a:t>N</a:t>
            </a:r>
            <a:r>
              <a:rPr sz="640" b="0" i="0">
                <a:solidFill>
                  <a:srgbClr val="1F3031"/>
                </a:solidFill>
                <a:latin typeface="Noto Sans"/>
              </a:rPr>
              <a:t> con la nueva </a:t>
            </a:r>
          </a:p>
        </p:txBody>
      </p:sp>
      <p:sp>
        <p:nvSpPr>
          <p:cNvPr id="239" name="ANUARIO_ANEXO_P129_L018"/>
          <p:cNvSpPr txBox="1"/>
          <p:nvPr/>
        </p:nvSpPr>
        <p:spPr>
          <a:xfrm>
            <a:off x="528422" y="3476306"/>
            <a:ext cx="412860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estimación de población, que será de 2005 hasta 2020, se llevará a cabo un esquema de divulgación </a:t>
            </a:r>
          </a:p>
        </p:txBody>
      </p:sp>
      <p:sp>
        <p:nvSpPr>
          <p:cNvPr id="240" name="ANUARIO_ANEXO_P129_L019"/>
          <p:cNvSpPr txBox="1"/>
          <p:nvPr/>
        </p:nvSpPr>
        <p:spPr>
          <a:xfrm>
            <a:off x="528422" y="3583108"/>
            <a:ext cx="300674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que permitirá reemplazar de forma paulatina los productos publicados. </a:t>
            </a:r>
          </a:p>
        </p:txBody>
      </p:sp>
      <p:sp>
        <p:nvSpPr>
          <p:cNvPr id="241" name="ANUARIO_ANEXO_P129_L020"/>
          <p:cNvSpPr txBox="1"/>
          <p:nvPr/>
        </p:nvSpPr>
        <p:spPr>
          <a:xfrm>
            <a:off x="4647536" y="1048163"/>
            <a:ext cx="3452983"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PRODUCTO INTERNO BRUTO (PIB), PARTICULARIDADES </a:t>
            </a:r>
          </a:p>
        </p:txBody>
      </p:sp>
      <p:sp>
        <p:nvSpPr>
          <p:cNvPr id="242" name="ANUARIO_ANEXO_P129_L021"/>
          <p:cNvSpPr txBox="1"/>
          <p:nvPr/>
        </p:nvSpPr>
        <p:spPr>
          <a:xfrm>
            <a:off x="4647536" y="1197036"/>
            <a:ext cx="1285852" cy="185416"/>
          </a:xfrm>
          <a:prstGeom prst="rect">
            <a:avLst/>
          </a:prstGeom>
          <a:noFill/>
        </p:spPr>
        <p:txBody>
          <a:bodyPr wrap="none" lIns="0" rIns="0" tIns="0" bIns="0">
            <a:noAutofit/>
          </a:bodyPr>
          <a:lstStyle/>
          <a:p>
            <a:pPr>
              <a:spcBef>
                <a:spcPts val="0"/>
              </a:spcBef>
              <a:spcAft>
                <a:spcPts val="0"/>
              </a:spcAft>
            </a:pPr>
            <a:r>
              <a:rPr sz="880" b="1" i="0">
                <a:solidFill>
                  <a:srgbClr val="484979"/>
                </a:solidFill>
                <a:latin typeface="Noto Sans"/>
              </a:rPr>
              <a:t>METODOLÓGICAS</a:t>
            </a:r>
            <a:r>
              <a:rPr sz="513" b="1" i="0">
                <a:solidFill>
                  <a:srgbClr val="484979"/>
                </a:solidFill>
                <a:latin typeface="Noto Sans"/>
              </a:rPr>
              <a:t>15</a:t>
            </a:r>
          </a:p>
        </p:txBody>
      </p:sp>
      <p:sp>
        <p:nvSpPr>
          <p:cNvPr id="243" name="ANUARIO_ANEXO_P129_L022"/>
          <p:cNvSpPr txBox="1"/>
          <p:nvPr/>
        </p:nvSpPr>
        <p:spPr>
          <a:xfrm>
            <a:off x="4647536" y="1428681"/>
            <a:ext cx="412842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Producto Interno Bruto (PIB) es el principal indicador de la actividad económica en el país. Se </a:t>
            </a:r>
          </a:p>
        </p:txBody>
      </p:sp>
      <p:sp>
        <p:nvSpPr>
          <p:cNvPr id="244" name="ANUARIO_ANEXO_P129_L023"/>
          <p:cNvSpPr txBox="1"/>
          <p:nvPr/>
        </p:nvSpPr>
        <p:spPr>
          <a:xfrm>
            <a:off x="4647536" y="1543376"/>
            <a:ext cx="412833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puede estimar en términos reales (eliminando los efectos de los precios) o en términos corrientes. </a:t>
            </a:r>
          </a:p>
        </p:txBody>
      </p:sp>
      <p:sp>
        <p:nvSpPr>
          <p:cNvPr id="245" name="ANUARIO_ANEXO_P129_L024"/>
          <p:cNvSpPr txBox="1"/>
          <p:nvPr/>
        </p:nvSpPr>
        <p:spPr>
          <a:xfrm>
            <a:off x="4647536" y="1658073"/>
            <a:ext cx="360569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Este indicador se puede calcular por tres métodos: 1) producción, 2) gasto y 3) ingreso. </a:t>
            </a:r>
          </a:p>
        </p:txBody>
      </p:sp>
      <p:sp>
        <p:nvSpPr>
          <p:cNvPr id="246" name="ANUARIO_ANEXO_P129_L025"/>
          <p:cNvSpPr txBox="1"/>
          <p:nvPr/>
        </p:nvSpPr>
        <p:spPr>
          <a:xfrm>
            <a:off x="4647536" y="1879571"/>
            <a:ext cx="4128420"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PIB trimestral ofrece en el corto plazo una visión oportuna, completa y coherente de la evolución </a:t>
            </a:r>
          </a:p>
        </p:txBody>
      </p:sp>
      <p:sp>
        <p:nvSpPr>
          <p:cNvPr id="247" name="ANUARIO_ANEXO_P129_L026"/>
          <p:cNvSpPr txBox="1"/>
          <p:nvPr/>
        </p:nvSpPr>
        <p:spPr>
          <a:xfrm>
            <a:off x="4647536" y="1994267"/>
            <a:ext cx="4127979"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 las actividades económicas del país, proporcionando información actualizada para apoyar la </a:t>
            </a:r>
          </a:p>
        </p:txBody>
      </p:sp>
      <p:sp>
        <p:nvSpPr>
          <p:cNvPr id="248" name="ANUARIO_ANEXO_P129_L027"/>
          <p:cNvSpPr txBox="1"/>
          <p:nvPr/>
        </p:nvSpPr>
        <p:spPr>
          <a:xfrm>
            <a:off x="4647536" y="2108964"/>
            <a:ext cx="9234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toma de decisiones.</a:t>
            </a:r>
          </a:p>
        </p:txBody>
      </p:sp>
      <p:sp>
        <p:nvSpPr>
          <p:cNvPr id="249" name="ANUARIO_ANEXO_P129_L028"/>
          <p:cNvSpPr txBox="1"/>
          <p:nvPr/>
        </p:nvSpPr>
        <p:spPr>
          <a:xfrm>
            <a:off x="4647536" y="2330461"/>
            <a:ext cx="412835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El 29 de agosto de 2023 el Instituto Nacional de Estadística y Geografía (INEGI) presentó la </a:t>
            </a:r>
          </a:p>
        </p:txBody>
      </p:sp>
      <p:sp>
        <p:nvSpPr>
          <p:cNvPr id="250" name="ANUARIO_ANEXO_P129_L029"/>
          <p:cNvSpPr txBox="1"/>
          <p:nvPr/>
        </p:nvSpPr>
        <p:spPr>
          <a:xfrm>
            <a:off x="4647536" y="2445157"/>
            <a:ext cx="4128063"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del Sistema de Cuentas Nacionales de México (SCNM), Base 2018 (CAB 2018), con </a:t>
            </a:r>
          </a:p>
        </p:txBody>
      </p:sp>
      <p:sp>
        <p:nvSpPr>
          <p:cNvPr id="251" name="ANUARIO_ANEXO_P129_L030"/>
          <p:cNvSpPr txBox="1"/>
          <p:nvPr/>
        </p:nvSpPr>
        <p:spPr>
          <a:xfrm>
            <a:off x="4647536" y="2559854"/>
            <a:ext cx="412841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que el PIB tendría modificaciones. Lo anterior, en función de los Lineamientos para el Ciclo de </a:t>
            </a:r>
          </a:p>
        </p:txBody>
      </p:sp>
      <p:sp>
        <p:nvSpPr>
          <p:cNvPr id="252" name="ANUARIO_ANEXO_P129_L031"/>
          <p:cNvSpPr txBox="1"/>
          <p:nvPr/>
        </p:nvSpPr>
        <p:spPr>
          <a:xfrm>
            <a:off x="4647536" y="2674550"/>
            <a:ext cx="412825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Actualización de la Información Económica, publicados en julio de 2015. La clave para la integración </a:t>
            </a:r>
          </a:p>
        </p:txBody>
      </p:sp>
      <p:sp>
        <p:nvSpPr>
          <p:cNvPr id="253" name="ANUARIO_ANEXO_P129_L032"/>
          <p:cNvSpPr txBox="1"/>
          <p:nvPr/>
        </p:nvSpPr>
        <p:spPr>
          <a:xfrm>
            <a:off x="4647536" y="2789246"/>
            <a:ext cx="4128075"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conceptual fue la adopción y adaptación del marco teórico-contable que han ofrecido las versiones </a:t>
            </a:r>
          </a:p>
        </p:txBody>
      </p:sp>
      <p:sp>
        <p:nvSpPr>
          <p:cNvPr id="254" name="ANUARIO_ANEXO_P129_L033"/>
          <p:cNvSpPr txBox="1"/>
          <p:nvPr/>
        </p:nvSpPr>
        <p:spPr>
          <a:xfrm>
            <a:off x="4647536" y="2903942"/>
            <a:ext cx="4128584"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del Sistema de Cuentas Nacionales (SCN) aprobado por la Comisión de Estadística de las Naciones </a:t>
            </a:r>
          </a:p>
        </p:txBody>
      </p:sp>
      <p:sp>
        <p:nvSpPr>
          <p:cNvPr id="255" name="ANUARIO_ANEXO_P129_L034"/>
          <p:cNvSpPr txBox="1"/>
          <p:nvPr/>
        </p:nvSpPr>
        <p:spPr>
          <a:xfrm>
            <a:off x="4647536" y="3018639"/>
            <a:ext cx="412867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Unidas para 1968, 1993 y 2008, y algunos aspectos de la revisión del SCN hacia el nuevo marco del </a:t>
            </a:r>
          </a:p>
        </p:txBody>
      </p:sp>
      <p:sp>
        <p:nvSpPr>
          <p:cNvPr id="256" name="ANUARIO_ANEXO_P129_L035"/>
          <p:cNvSpPr txBox="1"/>
          <p:nvPr/>
        </p:nvSpPr>
        <p:spPr>
          <a:xfrm>
            <a:off x="4647536" y="3133335"/>
            <a:ext cx="336467"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2025.</a:t>
            </a:r>
          </a:p>
        </p:txBody>
      </p:sp>
      <p:sp>
        <p:nvSpPr>
          <p:cNvPr id="257" name="ANUARIO_ANEXO_P129_L036"/>
          <p:cNvSpPr txBox="1"/>
          <p:nvPr/>
        </p:nvSpPr>
        <p:spPr>
          <a:xfrm>
            <a:off x="4647536" y="3354833"/>
            <a:ext cx="4127788"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La cobertura geográfica del PIB es nacional y alcanza una representatividad de 97.7% del valor </a:t>
            </a:r>
          </a:p>
        </p:txBody>
      </p:sp>
      <p:sp>
        <p:nvSpPr>
          <p:cNvPr id="258" name="ANUARIO_ANEXO_P129_L037"/>
          <p:cNvSpPr txBox="1"/>
          <p:nvPr/>
        </p:nvSpPr>
        <p:spPr>
          <a:xfrm>
            <a:off x="4647536" y="3469529"/>
            <a:ext cx="4128146"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agregado bruto del año base 2018. Se presenta por actividad económica, sectores, subsectores y las </a:t>
            </a:r>
          </a:p>
        </p:txBody>
      </p:sp>
      <p:sp>
        <p:nvSpPr>
          <p:cNvPr id="259" name="ANUARIO_ANEXO_P129_L038"/>
          <p:cNvSpPr txBox="1"/>
          <p:nvPr/>
        </p:nvSpPr>
        <p:spPr>
          <a:xfrm>
            <a:off x="4647536" y="3584225"/>
            <a:ext cx="2246771" cy="144446"/>
          </a:xfrm>
          <a:prstGeom prst="rect">
            <a:avLst/>
          </a:prstGeom>
          <a:noFill/>
        </p:spPr>
        <p:txBody>
          <a:bodyPr wrap="none" lIns="0" rIns="0" tIns="0" bIns="0">
            <a:noAutofit/>
          </a:bodyPr>
          <a:lstStyle/>
          <a:p>
            <a:pPr>
              <a:spcBef>
                <a:spcPts val="0"/>
              </a:spcBef>
              <a:spcAft>
                <a:spcPts val="0"/>
              </a:spcAft>
            </a:pPr>
            <a:r>
              <a:rPr sz="640" b="0" i="0">
                <a:solidFill>
                  <a:srgbClr val="1F3031"/>
                </a:solidFill>
                <a:latin typeface="Noto Sans"/>
              </a:rPr>
              <a:t>ramas de actividad de las industrias manufactureras. </a:t>
            </a:r>
          </a:p>
        </p:txBody>
      </p:sp>
      <p:sp>
        <p:nvSpPr>
          <p:cNvPr id="260" name="ANUARIO_ANEXO_P129_L039"/>
          <p:cNvSpPr txBox="1"/>
          <p:nvPr/>
        </p:nvSpPr>
        <p:spPr>
          <a:xfrm>
            <a:off x="383625" y="4429651"/>
            <a:ext cx="3909100"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14</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2"/>
              </a:rPr>
              <a:t>https://www.inegi.org.mx/programas/enoe/15ymas/</a:t>
            </a:r>
            <a:r>
              <a:rPr sz="480" b="0" i="0">
                <a:solidFill>
                  <a:srgbClr val="1F3031"/>
                </a:solidFill>
                <a:latin typeface="Noto Sans"/>
              </a:rPr>
              <a:t>.</a:t>
            </a:r>
          </a:p>
        </p:txBody>
      </p:sp>
      <p:sp>
        <p:nvSpPr>
          <p:cNvPr id="261" name="ANUARIO_ANEXO_P129_L040"/>
          <p:cNvSpPr txBox="1"/>
          <p:nvPr/>
        </p:nvSpPr>
        <p:spPr>
          <a:xfrm>
            <a:off x="383625" y="4527909"/>
            <a:ext cx="4803382" cy="118622"/>
          </a:xfrm>
          <a:prstGeom prst="rect">
            <a:avLst/>
          </a:prstGeom>
          <a:noFill/>
        </p:spPr>
        <p:txBody>
          <a:bodyPr wrap="none" lIns="0" rIns="0" tIns="0" bIns="0">
            <a:noAutofit/>
          </a:bodyPr>
          <a:lstStyle/>
          <a:p>
            <a:pPr>
              <a:spcBef>
                <a:spcPts val="0"/>
              </a:spcBef>
              <a:spcAft>
                <a:spcPts val="0"/>
              </a:spcAft>
            </a:pPr>
            <a:r>
              <a:rPr sz="280" b="0" i="0">
                <a:solidFill>
                  <a:srgbClr val="1F3031"/>
                </a:solidFill>
                <a:latin typeface="Noto Sans"/>
              </a:rPr>
              <a:t>15</a:t>
            </a:r>
            <a:r>
              <a:rPr sz="480" b="0" i="0">
                <a:solidFill>
                  <a:srgbClr val="1F3031"/>
                </a:solidFill>
                <a:latin typeface="Noto Sans"/>
              </a:rPr>
              <a:t> Fuente: IFT con información del INEGI. Para más información consultar: </a:t>
            </a:r>
            <a:r>
              <a:rPr sz="480" b="0" i="0">
                <a:solidFill>
                  <a:srgbClr val="0563C1"/>
                </a:solidFill>
                <a:latin typeface="Noto Sans"/>
                <a:hlinkClick r:id="rId3"/>
              </a:rPr>
              <a:t>https://www.inegi.org.mx/contenidos/programas/pib/2018/doc/guia_cab2018.pdf</a:t>
            </a:r>
            <a:r>
              <a:rPr sz="480" b="0" i="0">
                <a:solidFill>
                  <a:srgbClr val="1F3031"/>
                </a:solidFill>
                <a:latin typeface="Noto Sans"/>
              </a:rPr>
              <a:t>.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2" name="ANUARIO_HEADER_ANEXO_IV" descr="ROLE=SECTION_HEADER"/>
          <p:cNvSpPr txBox="1">
            <a:spLocks noGrp="1"/>
          </p:cNvSpPr>
          <p:nvPr>
            <p:ph type="title"/>
          </p:nvPr>
        </p:nvSpPr>
        <p:spPr>
          <a:xfrm>
            <a:off x="191525" y="37775"/>
            <a:ext cx="7311000" cy="452100"/>
          </a:xfrm>
          <a:prstGeom prst="rect">
            <a:avLst/>
          </a:prstGeom>
        </p:spPr>
        <p:txBody>
          <a:bodyPr spcFirstLastPara="1" wrap="square" lIns="91425" tIns="91425" rIns="91425" bIns="91425" anchor="ctr" anchorCtr="0">
            <a:normAutofit fontScale="90000"/>
          </a:bodyPr>
          <a:lstStyle/>
          <a:p>
            <a:r>
              <a:t>ANEXO IV. MÉTODOS DE CÁLCULO DE INDICADORES</a:t>
            </a:r>
          </a:p>
        </p:txBody>
      </p:sp>
      <p:sp>
        <p:nvSpPr>
          <p:cNvPr id="221" name="ANUARIO_PAGE_NUMBER"/>
          <p:cNvSpPr txBox="1"/>
          <p:nvPr/>
        </p:nvSpPr>
        <p:spPr>
          <a:xfrm>
            <a:off x="274320" y="4800600"/>
            <a:ext cx="502920" cy="164592"/>
          </a:xfrm>
          <a:prstGeom prst="rect">
            <a:avLst/>
          </a:prstGeom>
          <a:noFill/>
        </p:spPr>
        <p:txBody>
          <a:bodyPr wrap="none">
            <a:spAutoFit/>
          </a:bodyPr>
          <a:lstStyle/>
          <a:p>
            <a:pPr algn="l"/>
            <a:r>
              <a:rPr sz="650" b="1">
                <a:solidFill>
                  <a:srgbClr val="203634"/>
                </a:solidFill>
                <a:latin typeface="Noto Sans"/>
              </a:rPr>
              <a:t>130</a:t>
            </a:r>
          </a:p>
        </p:txBody>
      </p:sp>
      <p:sp>
        <p:nvSpPr>
          <p:cNvPr id="222" name="ANUARIO_ANEXO_IV_TITLE"/>
          <p:cNvSpPr txBox="1"/>
          <p:nvPr/>
        </p:nvSpPr>
        <p:spPr>
          <a:xfrm>
            <a:off x="384048" y="667512"/>
            <a:ext cx="8321040" cy="265176"/>
          </a:xfrm>
          <a:prstGeom prst="rect">
            <a:avLst/>
          </a:prstGeom>
          <a:noFill/>
        </p:spPr>
        <p:txBody>
          <a:bodyPr wrap="square" lIns="0" rIns="0" tIns="0" bIns="0">
            <a:noAutofit/>
          </a:bodyPr>
          <a:lstStyle/>
          <a:p>
            <a:pPr algn="l">
              <a:lnSpc>
                <a:spcPct val="100000"/>
              </a:lnSpc>
              <a:spcBef>
                <a:spcPts val="0"/>
              </a:spcBef>
              <a:spcAft>
                <a:spcPts val="0"/>
              </a:spcAft>
            </a:pPr>
            <a:r>
              <a:rPr sz="1200" b="1">
                <a:solidFill>
                  <a:srgbClr val="1F4544"/>
                </a:solidFill>
                <a:latin typeface="Noto Sans"/>
              </a:rPr>
              <a:t>ANEXO IV. MÉTODOS DE CÁLCULO DE INDICADORES</a:t>
            </a:r>
          </a:p>
        </p:txBody>
      </p:sp>
      <p:sp>
        <p:nvSpPr>
          <p:cNvPr id="223" name="ANUARIO_ANEXO_IV_INTRO"/>
          <p:cNvSpPr txBox="1"/>
          <p:nvPr/>
        </p:nvSpPr>
        <p:spPr>
          <a:xfrm>
            <a:off x="384048" y="978408"/>
            <a:ext cx="8321040" cy="155448"/>
          </a:xfrm>
          <a:prstGeom prst="rect">
            <a:avLst/>
          </a:prstGeom>
          <a:noFill/>
        </p:spPr>
        <p:txBody>
          <a:bodyPr wrap="square" lIns="0" rIns="0" tIns="0" bIns="0">
            <a:noAutofit/>
          </a:bodyPr>
          <a:lstStyle/>
          <a:p>
            <a:pPr algn="l">
              <a:lnSpc>
                <a:spcPct val="100000"/>
              </a:lnSpc>
              <a:spcBef>
                <a:spcPts val="0"/>
              </a:spcBef>
              <a:spcAft>
                <a:spcPts val="0"/>
              </a:spcAft>
            </a:pPr>
            <a:r>
              <a:rPr sz="750" b="0">
                <a:solidFill>
                  <a:srgbClr val="1F3031"/>
                </a:solidFill>
                <a:latin typeface="Noto Sans"/>
              </a:rPr>
              <a:t>Para obtener los indicadores mostrados en el documento se utilizaron los siguientes métodos de cálculo:</a:t>
            </a:r>
          </a:p>
        </p:txBody>
      </p:sp>
      <p:graphicFrame>
        <p:nvGraphicFramePr>
          <p:cNvPr id="224" name="ANUARIO_ANEXO_IV_TABLA_IZQUIERDA"/>
          <p:cNvGraphicFramePr>
            <a:graphicFrameLocks noGrp="1"/>
          </p:cNvGraphicFramePr>
          <p:nvPr/>
        </p:nvGraphicFramePr>
        <p:xfrm>
          <a:off x="384048"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621792">
                <a:tc>
                  <a:txBody>
                    <a:bodyPr/>
                    <a:lstStyle/>
                    <a:p>
                      <a:pPr algn="ctr">
                        <a:spcBef>
                          <a:spcPts val="0"/>
                        </a:spcBef>
                        <a:spcAft>
                          <a:spcPts val="0"/>
                        </a:spcAft>
                      </a:pPr>
                      <a:r>
                        <a:rPr sz="655" b="0">
                          <a:solidFill>
                            <a:srgbClr val="1F3031"/>
                          </a:solidFill>
                          <a:latin typeface="Noto Sans"/>
                        </a:rPr>
                        <a:t>Índice de Herfindahl-Hirschman (IHH)</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(participación de mercado de cada grupo económico × 100)²</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o accesos residenciales por cada 100 hogares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Accesos o líneas residenciales ÷ hogares de ENDUTIH del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o accesos no residenciales por cada 100 UE</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Accesos o líneas no residenciales ÷ unidades económicas de DENUE × 100</a:t>
                      </a:r>
                    </a:p>
                  </a:txBody>
                  <a:tcPr anchor="ctr" marL="54864" marR="54864" marT="18288" marB="18288">
                    <a:solidFill>
                      <a:srgbClr val="FFFFFF"/>
                    </a:solidFill>
                  </a:tcPr>
                </a:tc>
              </a:tr>
              <a:tr h="621792">
                <a:tc>
                  <a:txBody>
                    <a:bodyPr/>
                    <a:lstStyle/>
                    <a:p>
                      <a:pPr algn="ctr">
                        <a:spcBef>
                          <a:spcPts val="0"/>
                        </a:spcBef>
                        <a:spcAft>
                          <a:spcPts val="0"/>
                        </a:spcAft>
                      </a:pPr>
                      <a:r>
                        <a:rPr sz="655" b="0">
                          <a:solidFill>
                            <a:srgbClr val="1F3031"/>
                          </a:solidFill>
                          <a:latin typeface="Noto Sans"/>
                        </a:rPr>
                        <a:t>Líneas móviles de telefonía por cada 100 habitantes</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Líneas del servicio móvil de telefonía ÷ población compatible con el corte × 100</a:t>
                      </a:r>
                    </a:p>
                  </a:txBody>
                  <a:tcPr anchor="ctr" marL="54864" marR="54864" marT="18288" marB="18288">
                    <a:solidFill>
                      <a:srgbClr val="F2F7F6"/>
                    </a:solidFill>
                  </a:tcPr>
                </a:tc>
              </a:tr>
              <a:tr h="621792">
                <a:tc>
                  <a:txBody>
                    <a:bodyPr/>
                    <a:lstStyle/>
                    <a:p>
                      <a:pPr algn="ctr">
                        <a:spcBef>
                          <a:spcPts val="0"/>
                        </a:spcBef>
                        <a:spcAft>
                          <a:spcPts val="0"/>
                        </a:spcAft>
                      </a:pPr>
                      <a:r>
                        <a:rPr sz="655" b="0">
                          <a:solidFill>
                            <a:srgbClr val="1F3031"/>
                          </a:solidFill>
                          <a:latin typeface="Noto Sans"/>
                        </a:rPr>
                        <a:t>Líneas de Internet móvil por cada 100 habitantes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Líneas del servicio móvil de Internet ÷ población compatible con el corte × 100</a:t>
                      </a:r>
                    </a:p>
                  </a:txBody>
                  <a:tcPr anchor="ctr" marL="54864" marR="54864" marT="18288" marB="18288">
                    <a:solidFill>
                      <a:srgbClr val="FFFFFF"/>
                    </a:solidFill>
                  </a:tcPr>
                </a:tc>
              </a:tr>
            </a:tbl>
          </a:graphicData>
        </a:graphic>
      </p:graphicFrame>
      <p:graphicFrame>
        <p:nvGraphicFramePr>
          <p:cNvPr id="225" name="ANUARIO_ANEXO_IV_TABLA_DERECHA"/>
          <p:cNvGraphicFramePr>
            <a:graphicFrameLocks noGrp="1"/>
          </p:cNvGraphicFramePr>
          <p:nvPr/>
        </p:nvGraphicFramePr>
        <p:xfrm>
          <a:off x="4645152" y="1115568"/>
          <a:ext cx="4114800" cy="3374136"/>
        </p:xfrm>
        <a:graphic>
          <a:graphicData uri="http://schemas.openxmlformats.org/drawingml/2006/table">
            <a:tbl>
              <a:tblPr firstRow="1" bandRow="1">
                <a:tableStyleId>{5C22544A-7EE6-4342-B048-85BDC9FD1C3A}</a:tableStyleId>
              </a:tblPr>
              <a:tblGrid>
                <a:gridCol w="1627632"/>
                <a:gridCol w="2487168"/>
              </a:tblGrid>
              <a:tr h="265176">
                <a:tc>
                  <a:txBody>
                    <a:bodyPr/>
                    <a:lstStyle/>
                    <a:p>
                      <a:pPr algn="ctr">
                        <a:spcBef>
                          <a:spcPts val="0"/>
                        </a:spcBef>
                        <a:spcAft>
                          <a:spcPts val="0"/>
                        </a:spcAft>
                      </a:pPr>
                      <a:r>
                        <a:rPr sz="700" b="1">
                          <a:solidFill>
                            <a:srgbClr val="FFFFFF"/>
                          </a:solidFill>
                          <a:latin typeface="Noto Sans"/>
                        </a:rPr>
                        <a:t>Indicador</a:t>
                      </a:r>
                    </a:p>
                  </a:txBody>
                  <a:tcPr anchor="ctr" marL="54864" marR="54864" marT="18288" marB="18288">
                    <a:solidFill>
                      <a:srgbClr val="1F4544"/>
                    </a:solidFill>
                  </a:tcPr>
                </a:tc>
                <a:tc>
                  <a:txBody>
                    <a:bodyPr/>
                    <a:lstStyle/>
                    <a:p>
                      <a:pPr algn="ctr">
                        <a:spcBef>
                          <a:spcPts val="0"/>
                        </a:spcBef>
                        <a:spcAft>
                          <a:spcPts val="0"/>
                        </a:spcAft>
                      </a:pPr>
                      <a:r>
                        <a:rPr sz="700" b="1">
                          <a:solidFill>
                            <a:srgbClr val="FFFFFF"/>
                          </a:solidFill>
                          <a:latin typeface="Noto Sans"/>
                        </a:rPr>
                        <a:t>Método de cálculo</a:t>
                      </a:r>
                    </a:p>
                  </a:txBody>
                  <a:tcPr anchor="ctr" marL="54864" marR="54864" marT="18288" marB="18288">
                    <a:solidFill>
                      <a:srgbClr val="1F4544"/>
                    </a:solidFill>
                  </a:tcPr>
                </a:tc>
              </a:tr>
              <a:tr h="777240">
                <a:tc>
                  <a:txBody>
                    <a:bodyPr/>
                    <a:lstStyle/>
                    <a:p>
                      <a:pPr algn="ctr">
                        <a:spcBef>
                          <a:spcPts val="0"/>
                        </a:spcBef>
                        <a:spcAft>
                          <a:spcPts val="0"/>
                        </a:spcAft>
                      </a:pPr>
                      <a:r>
                        <a:rPr sz="655" b="0">
                          <a:solidFill>
                            <a:srgbClr val="1F3031"/>
                          </a:solidFill>
                          <a:latin typeface="Noto Sans"/>
                        </a:rPr>
                        <a:t>Minutos de uso promedio mensual (MOU)</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(minutos mensuales ÷ líneas del servicio de telefonía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Tráfico mensual promedio de Internet móvil</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Σ (GB mensuales ÷ líneas de Internet móvil de cada mes) ÷ 12</a:t>
                      </a:r>
                    </a:p>
                  </a:txBody>
                  <a:tcPr anchor="ctr" marL="54864" marR="54864" marT="18288" marB="18288">
                    <a:solidFill>
                      <a:srgbClr val="F2F7F6"/>
                    </a:solidFill>
                  </a:tcPr>
                </a:tc>
              </a:tr>
              <a:tr h="777240">
                <a:tc>
                  <a:txBody>
                    <a:bodyPr/>
                    <a:lstStyle/>
                    <a:p>
                      <a:pPr algn="ctr">
                        <a:spcBef>
                          <a:spcPts val="0"/>
                        </a:spcBef>
                        <a:spcAft>
                          <a:spcPts val="0"/>
                        </a:spcAft>
                      </a:pPr>
                      <a:r>
                        <a:rPr sz="655" b="0">
                          <a:solidFill>
                            <a:srgbClr val="1F3031"/>
                          </a:solidFill>
                          <a:latin typeface="Noto Sans"/>
                        </a:rPr>
                        <a:t>Mensajes de texto promedio (SMS)</a:t>
                      </a:r>
                    </a:p>
                  </a:txBody>
                  <a:tcPr anchor="ctr" marL="54864" marR="54864" marT="18288" marB="18288">
                    <a:solidFill>
                      <a:srgbClr val="FFFFFF"/>
                    </a:solidFill>
                  </a:tcPr>
                </a:tc>
                <a:tc>
                  <a:txBody>
                    <a:bodyPr/>
                    <a:lstStyle/>
                    <a:p>
                      <a:pPr algn="ctr">
                        <a:spcBef>
                          <a:spcPts val="0"/>
                        </a:spcBef>
                        <a:spcAft>
                          <a:spcPts val="0"/>
                        </a:spcAft>
                      </a:pPr>
                      <a:r>
                        <a:rPr sz="670" b="0">
                          <a:solidFill>
                            <a:srgbClr val="1F3031"/>
                          </a:solidFill>
                          <a:latin typeface="Noto Sans"/>
                        </a:rPr>
                        <a:t>Σ (SMS enviados por mes ÷ líneas móviles de cada mes) ÷ 12</a:t>
                      </a:r>
                    </a:p>
                  </a:txBody>
                  <a:tcPr anchor="ctr" marL="54864" marR="54864" marT="18288" marB="18288">
                    <a:solidFill>
                      <a:srgbClr val="FFFFFF"/>
                    </a:solidFill>
                  </a:tcPr>
                </a:tc>
              </a:tr>
              <a:tr h="777240">
                <a:tc>
                  <a:txBody>
                    <a:bodyPr/>
                    <a:lstStyle/>
                    <a:p>
                      <a:pPr algn="ctr">
                        <a:spcBef>
                          <a:spcPts val="0"/>
                        </a:spcBef>
                        <a:spcAft>
                          <a:spcPts val="0"/>
                        </a:spcAft>
                      </a:pPr>
                      <a:r>
                        <a:rPr sz="655" b="0">
                          <a:solidFill>
                            <a:srgbClr val="1F3031"/>
                          </a:solidFill>
                          <a:latin typeface="Noto Sans"/>
                        </a:rPr>
                        <a:t>Margen de utilidad</a:t>
                      </a:r>
                    </a:p>
                  </a:txBody>
                  <a:tcPr anchor="ctr" marL="54864" marR="54864" marT="18288" marB="18288">
                    <a:solidFill>
                      <a:srgbClr val="F2F7F6"/>
                    </a:solidFill>
                  </a:tcPr>
                </a:tc>
                <a:tc>
                  <a:txBody>
                    <a:bodyPr/>
                    <a:lstStyle/>
                    <a:p>
                      <a:pPr algn="ctr">
                        <a:spcBef>
                          <a:spcPts val="0"/>
                        </a:spcBef>
                        <a:spcAft>
                          <a:spcPts val="0"/>
                        </a:spcAft>
                      </a:pPr>
                      <a:r>
                        <a:rPr sz="670" b="0">
                          <a:solidFill>
                            <a:srgbClr val="1F3031"/>
                          </a:solidFill>
                          <a:latin typeface="Noto Sans"/>
                        </a:rPr>
                        <a:t>Ingresos brutos − egresos operativos</a:t>
                      </a:r>
                    </a:p>
                  </a:txBody>
                  <a:tcPr anchor="ctr" marL="54864" marR="54864" marT="18288" marB="18288">
                    <a:solidFill>
                      <a:srgbClr val="F2F7F6"/>
                    </a:solidFill>
                  </a:tcPr>
                </a:tc>
              </a:tr>
            </a:tbl>
          </a:graphicData>
        </a:graphic>
      </p:graphicFrame>
      <p:sp>
        <p:nvSpPr>
          <p:cNvPr id="226" name="ANUARIO_ANEXO_IV_NOTA"/>
          <p:cNvSpPr txBox="1"/>
          <p:nvPr/>
        </p:nvSpPr>
        <p:spPr>
          <a:xfrm>
            <a:off x="393192" y="4553712"/>
            <a:ext cx="8321040" cy="164592"/>
          </a:xfrm>
          <a:prstGeom prst="rect">
            <a:avLst/>
          </a:prstGeom>
          <a:noFill/>
        </p:spPr>
        <p:txBody>
          <a:bodyPr wrap="square" lIns="0" rIns="0" tIns="0" bIns="0">
            <a:noAutofit/>
          </a:bodyPr>
          <a:lstStyle/>
          <a:p>
            <a:pPr algn="l">
              <a:lnSpc>
                <a:spcPct val="100000"/>
              </a:lnSpc>
              <a:spcBef>
                <a:spcPts val="0"/>
              </a:spcBef>
              <a:spcAft>
                <a:spcPts val="0"/>
              </a:spcAft>
            </a:pPr>
            <a:r>
              <a:rPr sz="620" b="0">
                <a:solidFill>
                  <a:srgbClr val="4B5858"/>
                </a:solidFill>
                <a:latin typeface="Noto Sans"/>
              </a:rPr>
              <a:t>Nota: hogares y población corresponden a la ENDUTIH del corte de cada figura; las UE provienen del DENUE. Las figuras identifican fuente y periodo.</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6" name="ANUARIO_COVER_YEAR"/>
          <p:cNvSpPr txBox="1"/>
          <p:nvPr/>
        </p:nvSpPr>
        <p:spPr>
          <a:xfrm>
            <a:off x="2483550" y="3010223"/>
            <a:ext cx="4176900" cy="471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750"/>
              </a:spcBef>
              <a:spcAft>
                <a:spcPts val="750"/>
              </a:spcAft>
              <a:buClr>
                <a:srgbClr val="000000"/>
              </a:buClr>
              <a:buSzPts val="5025"/>
              <a:buFont typeface="Arial"/>
              <a:buNone/>
            </a:pPr>
            <a:r>
              <a:rPr lang="es-419" sz="2000" dirty="0">
                <a:solidFill>
                  <a:srgbClr val="E6D195"/>
                </a:solidFill>
                <a:latin typeface="Noto Sans Light"/>
                <a:ea typeface="Noto Sans Light"/>
                <a:cs typeface="Noto Sans Light"/>
                <a:sym typeface="Noto Sans Light"/>
              </a:rPr>
              <a:t>2026</a:t>
            </a:r>
            <a:endParaRPr lang="es-419" sz="2000" b="0" i="0" u="none" strike="noStrike" cap="none" dirty="0">
              <a:solidFill>
                <a:srgbClr val="E6D195"/>
              </a:solidFill>
              <a:latin typeface="Noto Sans Light"/>
              <a:ea typeface="Noto Sans Light"/>
              <a:cs typeface="Noto Sans Light"/>
              <a:sym typeface="Noto Sans Light"/>
            </a:endParaRPr>
          </a:p>
        </p:txBody>
      </p:sp>
      <p:sp>
        <p:nvSpPr>
          <p:cNvPr id="147" name="ANUARIO_COVER_TITLE"/>
          <p:cNvSpPr txBox="1"/>
          <p:nvPr/>
        </p:nvSpPr>
        <p:spPr>
          <a:xfrm>
            <a:off x="1651800" y="1808275"/>
            <a:ext cx="5840400" cy="83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s-419" sz="3500" dirty="0">
                <a:solidFill>
                  <a:srgbClr val="FFFFFF"/>
                </a:solidFill>
                <a:latin typeface="Noto Sans ExtraBold"/>
                <a:ea typeface="Noto Sans ExtraBold"/>
                <a:cs typeface="Noto Sans ExtraBold"/>
                <a:sym typeface="Noto Sans ExtraBold"/>
              </a:rPr>
              <a:t>Anuario estadístico</a:t>
            </a:r>
            <a:endParaRPr lang="es-419" sz="3500" b="0" i="0" u="none" strike="noStrike" cap="none" dirty="0">
              <a:solidFill>
                <a:srgbClr val="FFFFFF"/>
              </a:solidFill>
              <a:latin typeface="Noto Sans ExtraBold"/>
              <a:ea typeface="Noto Sans ExtraBold"/>
              <a:cs typeface="Noto Sans ExtraBold"/>
              <a:sym typeface="Noto Sans ExtraBold"/>
            </a:endParaRPr>
          </a:p>
        </p:txBody>
      </p:sp>
      <p:cxnSp>
        <p:nvCxnSpPr>
          <p:cNvPr id="148" name="Google Shape;148;p13"/>
          <p:cNvCxnSpPr/>
          <p:nvPr/>
        </p:nvCxnSpPr>
        <p:spPr>
          <a:xfrm>
            <a:off x="1651800" y="2807935"/>
            <a:ext cx="5840400" cy="0"/>
          </a:xfrm>
          <a:prstGeom prst="straightConnector1">
            <a:avLst/>
          </a:prstGeom>
          <a:noFill/>
          <a:ln w="21450" cap="flat" cmpd="sng">
            <a:solidFill>
              <a:srgbClr val="E6D195"/>
            </a:solidFill>
            <a:prstDash val="solid"/>
            <a:round/>
            <a:headEnd type="none" w="sm" len="sm"/>
            <a:tailEnd type="none" w="sm" len="sm"/>
          </a:ln>
        </p:spPr>
      </p:cxnSp>
      <p:sp>
        <p:nvSpPr>
          <p:cNvPr id="149" name="ANUARIO_BACK_CONTACT"/>
          <p:cNvSpPr txBox="1"/>
          <p:nvPr/>
        </p:nvSpPr>
        <p:spPr>
          <a:xfrm>
            <a:off x="914400" y="3374136"/>
            <a:ext cx="7315200" cy="713232"/>
          </a:xfrm>
          <a:prstGeom prst="rect">
            <a:avLst/>
          </a:prstGeom>
          <a:noFill/>
        </p:spPr>
        <p:txBody>
          <a:bodyPr wrap="square" lIns="0" rIns="0" tIns="0" bIns="0">
            <a:spAutoFit/>
          </a:bodyPr>
          <a:lstStyle/>
          <a:p>
            <a:pPr algn="ctr">
              <a:spcBef>
                <a:spcPts val="0"/>
              </a:spcBef>
              <a:spcAft>
                <a:spcPts val="0"/>
              </a:spcAft>
            </a:pPr>
            <a:r>
              <a:rPr sz="720" b="1">
                <a:solidFill>
                  <a:srgbClr val="EFF7F3"/>
                </a:solidFill>
                <a:latin typeface="Noto Sans"/>
              </a:rPr>
              <a:t>Comisión Reguladora de Telecomunicaciones · www.gob.mx/crt</a:t>
            </a:r>
          </a:p>
          <a:p>
            <a:pPr algn="ctr">
              <a:spcBef>
                <a:spcPts val="0"/>
              </a:spcBef>
              <a:spcAft>
                <a:spcPts val="0"/>
              </a:spcAft>
            </a:pPr>
            <a:r>
              <a:rPr sz="665" b="0">
                <a:solidFill>
                  <a:srgbClr val="EFF7F3"/>
                </a:solidFill>
                <a:latin typeface="Noto Sans"/>
              </a:rPr>
              <a:t>Av. Insurgentes Sur 1143, Col. Nochebuena, Benito Juárez, C.P. 03720, Ciudad de México · Tel. 55 5015 4000</a:t>
            </a:r>
          </a:p>
          <a:p>
            <a:pPr algn="ctr">
              <a:spcBef>
                <a:spcPts val="0"/>
              </a:spcBef>
              <a:spcAft>
                <a:spcPts val="0"/>
              </a:spcAft>
            </a:pPr>
            <a:r>
              <a:rPr sz="665" b="0">
                <a:solidFill>
                  <a:srgbClr val="EFF7F3"/>
                </a:solidFill>
                <a:latin typeface="Noto Sans"/>
              </a:rPr>
              <a:t>Banco de Información de Telecomunicaciones: https://bit.crt.gob.mx/BitWebApp/</a:t>
            </a:r>
          </a:p>
        </p:txBody>
      </p:sp>
    </p:spTree>
  </p:cSld>
  <p:clrMapOvr>
    <a:masterClrMapping/>
  </p:clrMapOvr>
</p:sld>
</file>

<file path=ppt/theme/s9_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EBCBE3C554DA24CB7C8D4C20CA639E2" ma:contentTypeVersion="5" ma:contentTypeDescription="Crear nuevo documento." ma:contentTypeScope="" ma:versionID="0fcc438b67c801b3c2d9fb562e1e9338">
  <xsd:schema xmlns:xsd="http://www.w3.org/2001/XMLSchema" xmlns:xs="http://www.w3.org/2001/XMLSchema" xmlns:p="http://schemas.microsoft.com/office/2006/metadata/properties" xmlns:ns3="e85a5d3e-7efa-40e1-bbb8-3d115bd3e7d8" targetNamespace="http://schemas.microsoft.com/office/2006/metadata/properties" ma:root="true" ma:fieldsID="a6812b3cfc37913c39a104671458b8db" ns3:_="">
    <xsd:import namespace="e85a5d3e-7efa-40e1-bbb8-3d115bd3e7d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5a5d3e-7efa-40e1-bbb8-3d115bd3e7d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85a5d3e-7efa-40e1-bbb8-3d115bd3e7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655FB2-7D4B-41EB-AB16-DA03FD3DD15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5a5d3e-7efa-40e1-bbb8-3d115bd3e7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96415D-E6AE-49DC-90DB-3F584607812F}">
  <ds:schemaRefs>
    <ds:schemaRef ds:uri="http://purl.org/dc/dcmitype/"/>
    <ds:schemaRef ds:uri="http://schemas.microsoft.com/office/2006/documentManagement/types"/>
    <ds:schemaRef ds:uri="http://schemas.microsoft.com/office/2006/metadata/properties"/>
    <ds:schemaRef ds:uri="http://schemas.openxmlformats.org/package/2006/metadata/core-properties"/>
    <ds:schemaRef ds:uri="http://www.w3.org/XML/1998/namespace"/>
    <ds:schemaRef ds:uri="http://purl.org/dc/elements/1.1/"/>
    <ds:schemaRef ds:uri="http://schemas.microsoft.com/office/infopath/2007/PartnerControls"/>
    <ds:schemaRef ds:uri="e85a5d3e-7efa-40e1-bbb8-3d115bd3e7d8"/>
    <ds:schemaRef ds:uri="http://purl.org/dc/terms/"/>
  </ds:schemaRefs>
</ds:datastoreItem>
</file>

<file path=customXml/itemProps3.xml><?xml version="1.0" encoding="utf-8"?>
<ds:datastoreItem xmlns:ds="http://schemas.openxmlformats.org/officeDocument/2006/customXml" ds:itemID="{6081950B-401E-479D-907B-8F99CA9433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TotalTime>
  <Words>528</Words>
  <Application>Microsoft Office PowerPoint</Application>
  <PresentationFormat>Presentación en pantalla (16:9)</PresentationFormat>
  <Paragraphs>68</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Noto Sans Light</vt:lpstr>
      <vt:lpstr>Poppins</vt:lpstr>
      <vt:lpstr>Arial</vt:lpstr>
      <vt:lpstr>Noto Sans</vt:lpstr>
      <vt:lpstr>Noto Sans ExtraBold</vt:lpstr>
      <vt:lpstr>Noto Sans Black</vt:lpstr>
      <vt:lpstr>Simple Light</vt:lpstr>
      <vt:lpstr>Presentación de PowerPoint</vt:lpstr>
      <vt:lpstr>Presentación de PowerPoint</vt:lpstr>
      <vt:lpstr>A. INDICADORES ECONÓMICOS</vt:lpstr>
      <vt:lpstr>A. INDICADORES ECONÓMICOS</vt:lpstr>
      <vt:lpstr>A. INDICADORES ECONÓMICOS</vt:lpstr>
      <vt:lpstr>A. INDICADORES ECONÓMICOS</vt:lpstr>
      <vt:lpstr>A. INDICADORES ECONÓMICOS</vt:lpstr>
      <vt:lpstr>A. INDICADORES ECONÓMICOS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Gustavo Ivan Garcia Quiroz</dc:creator>
  <cp:lastModifiedBy>Gustavo Ivan Garcia Quiroz</cp:lastModifiedBy>
  <cp:revision>2</cp:revision>
  <dcterms:modified xsi:type="dcterms:W3CDTF">2026-09-15T18:13:40Z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0x010100EEBCBE3C554DA24CB7C8D4C20CA639E2</vt:lpwstr>
  </property>
</Properties>
</file>