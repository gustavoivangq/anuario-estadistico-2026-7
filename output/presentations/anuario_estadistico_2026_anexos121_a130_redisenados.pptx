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Default Extension="bin" ContentType="application/vnd.openxmlformats-officedocument.presentationml.printerSettings"/>
  <Default Extension="jpeg" ContentType="image/jpeg"/>
  <Override PartName="/ppt/slideLayouts/s9_slideLayout1.xml" ContentType="application/vnd.openxmlformats-officedocument.presentationml.slideLayout+xml"/>
  <Override PartName="/ppt/slideLayouts/s9_slideLayout10.xml" ContentType="application/vnd.openxmlformats-officedocument.presentationml.slideLayout+xml"/>
  <Override PartName="/ppt/slideLayouts/s9_slideLayout11.xml" ContentType="application/vnd.openxmlformats-officedocument.presentationml.slideLayout+xml"/>
  <Override PartName="/ppt/slideLayouts/s9_slideLayout2.xml" ContentType="application/vnd.openxmlformats-officedocument.presentationml.slideLayout+xml"/>
  <Override PartName="/ppt/slideLayouts/s9_slideLayout3.xml" ContentType="application/vnd.openxmlformats-officedocument.presentationml.slideLayout+xml"/>
  <Override PartName="/ppt/slideLayouts/s9_slideLayout4.xml" ContentType="application/vnd.openxmlformats-officedocument.presentationml.slideLayout+xml"/>
  <Override PartName="/ppt/slideLayouts/s9_slideLayout5.xml" ContentType="application/vnd.openxmlformats-officedocument.presentationml.slideLayout+xml"/>
  <Override PartName="/ppt/slideLayouts/s9_slideLayout6.xml" ContentType="application/vnd.openxmlformats-officedocument.presentationml.slideLayout+xml"/>
  <Override PartName="/ppt/slideLayouts/s9_slideLayout7.xml" ContentType="application/vnd.openxmlformats-officedocument.presentationml.slideLayout+xml"/>
  <Override PartName="/ppt/slideLayouts/s9_slideLayout8.xml" ContentType="application/vnd.openxmlformats-officedocument.presentationml.slideLayout+xml"/>
  <Override PartName="/ppt/slideLayouts/s9_slideLayout9.xml" ContentType="application/vnd.openxmlformats-officedocument.presentationml.slideLayout+xml"/>
  <Override PartName="/ppt/slideMasters/s9_slideMaster1.xml" ContentType="application/vnd.openxmlformats-officedocument.presentationml.slideMaster+xml"/>
  <Override PartName="/ppt/theme/s9_theme1.xml" ContentType="application/vnd.openxmlformats-officedocument.theme+xml"/>
  <Default Extension="jpg" ContentType="image/jp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slideMasters/s121_slideMaster1.xml" ContentType="application/vnd.openxmlformats-officedocument.presentationml.slideMaster+xml"/>
  <Override PartName="/ppt/theme/s121_theme1.xml" ContentType="application/vnd.openxmlformats-officedocument.theme+xml"/>
  <Override PartName="/ppt/slideLayouts/s121_slideLayout1.xml" ContentType="application/vnd.openxmlformats-officedocument.presentationml.slideLayout+xml"/>
  <Override PartName="/ppt/slideMasters/s125_slideMaster1.xml" ContentType="application/vnd.openxmlformats-officedocument.presentationml.slideMaster+xml"/>
  <Override PartName="/ppt/theme/s125_theme1.xml" ContentType="application/vnd.openxmlformats-officedocument.theme+xml"/>
  <Override PartName="/ppt/slideLayouts/s125_slideLayout1.xml" ContentType="application/vnd.openxmlformats-officedocument.presentationml.slideLayout+xml"/>
  <Override PartName="/ppt/theme/a121_130_theme1.xml" ContentType="application/vnd.openxmlformats-officedocument.theme+xml"/>
  <Override PartName="/ppt/slideMasters/a121_130_slideMaster1.xml" ContentType="application/vnd.openxmlformats-officedocument.presentationml.slideMaster+xml"/>
  <Override PartName="/ppt/slideMasters/theme/a121_130_theme2.xml" ContentType="application/vnd.openxmlformats-officedocument.theme+xml"/>
  <Override PartName="/ppt/slideLayouts/a121_130_slideLayout1.xml" ContentType="application/vnd.openxmlformats-officedocument.presentationml.slideLayou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 id="2147490000" r:id="rIdSlide9ReferenceMaster"/>
    <p:sldMasterId id="2147500000" r:id="rIdSlide121ReferenceMaster"/>
    <p:sldMasterId id="2147510000" r:id="rIdSlide125ReferenceMaster"/>
    <p:sldMasterId id="2147520000" r:id="rIdAnnexBlockReferenceMaster"/>
  </p:sldMasterIdLst>
  <p:notesMasterIdLst>
    <p:notesMasterId r:id="rId13"/>
  </p:notesMasterIdLst>
  <p:sldIdLst>
    <p:sldId id="259" r:id="rId5"/>
    <p:sldId id="260" r:id="rId6"/>
    <p:sldId id="386" r:id="rId12"/>
    <p:sldId id="387" r:id="rId11"/>
    <p:sldId id="388" r:id="rId10"/>
    <p:sldId id="389" r:id="rId9"/>
    <p:sldId id="270" r:id="rId35"/>
    <p:sldId id="390" r:id="rId8"/>
    <p:sldId id="391" r:id="rId7"/>
    <p:sldId id="392" r:id="rId151"/>
    <p:sldId id="272" r:id="rId37"/>
    <p:sldId id="273" r:id="rId38"/>
    <p:sldId id="274" r:id="rId39"/>
    <p:sldId id="275" r:id="rId40"/>
    <p:sldId id="276" r:id="rId41"/>
    <p:sldId id="277" r:id="rId42"/>
    <p:sldId id="278" r:id="rId43"/>
    <p:sldId id="279" r:id="rId44"/>
    <p:sldId id="280" r:id="rId45"/>
    <p:sldId id="281" r:id="rId46"/>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9" r:id="rId74"/>
    <p:sldId id="310" r:id="rId75"/>
    <p:sldId id="311" r:id="rId76"/>
    <p:sldId id="313" r:id="rId78"/>
    <p:sldId id="314" r:id="rId79"/>
    <p:sldId id="315" r:id="rId80"/>
    <p:sldId id="316" r:id="rId81"/>
    <p:sldId id="317" r:id="rId82"/>
    <p:sldId id="318" r:id="rId83"/>
    <p:sldId id="319" r:id="rId84"/>
    <p:sldId id="320" r:id="rId85"/>
    <p:sldId id="321" r:id="rId86"/>
    <p:sldId id="322" r:id="rId87"/>
    <p:sldId id="323" r:id="rId88"/>
    <p:sldId id="324" r:id="rId89"/>
    <p:sldId id="326" r:id="rId91"/>
    <p:sldId id="327" r:id="rId92"/>
    <p:sldId id="328" r:id="rId93"/>
    <p:sldId id="329" r:id="rId94"/>
    <p:sldId id="330" r:id="rId95"/>
    <p:sldId id="331" r:id="rId96"/>
    <p:sldId id="332" r:id="rId97"/>
    <p:sldId id="333" r:id="rId98"/>
    <p:sldId id="334" r:id="rId99"/>
    <p:sldId id="335" r:id="rId100"/>
    <p:sldId id="336" r:id="rId101"/>
    <p:sldId id="338" r:id="rId103"/>
    <p:sldId id="339" r:id="rId104"/>
    <p:sldId id="340" r:id="rId105"/>
    <p:sldId id="341" r:id="rId106"/>
    <p:sldId id="342" r:id="rId107"/>
    <p:sldId id="343" r:id="rId108"/>
    <p:sldId id="344" r:id="rId109"/>
    <p:sldId id="345" r:id="rId110"/>
    <p:sldId id="346" r:id="rId111"/>
    <p:sldId id="393" r:id="rId15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3"/>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94" r:id="rId153"/>
    <p:sldId id="395" r:id="rId154"/>
    <p:sldId id="396" r:id="rId155"/>
    <p:sldId id="397" r:id="rId156"/>
    <p:sldId id="398" r:id="rId157"/>
    <p:sldId id="399" r:id="rId158"/>
    <p:sldId id="400" r:id="rId159"/>
    <p:sldId id="401" r:id="rId160"/>
    <p:sldId id="402" r:id="rId161"/>
    <p:sldId id="403" r:id="rId162"/>
    <p:sldId id="404" r:id="rId163"/>
    <p:sldId id="405" r:id="rId164"/>
    <p:sldId id="406" r:id="rId165"/>
    <p:sldId id="407" r:id="rId166"/>
    <p:sldId id="408" r:id="rId167"/>
    <p:sldId id="409" r:id="rId168"/>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5" Type="http://schemas.openxmlformats.org/officeDocument/2006/relationships/slide" Target="slides/slide7.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 Id="rId52" Type="http://schemas.openxmlformats.org/officeDocument/2006/relationships/slide" Target="slides/slide25.xml"/><Relationship Id="rId53" Type="http://schemas.openxmlformats.org/officeDocument/2006/relationships/slide" Target="slides/slide26.xml"/><Relationship Id="rId54" Type="http://schemas.openxmlformats.org/officeDocument/2006/relationships/slide" Target="slides/slide27.xml"/><Relationship Id="rId55" Type="http://schemas.openxmlformats.org/officeDocument/2006/relationships/slide" Target="slides/slide28.xml"/><Relationship Id="rId56" Type="http://schemas.openxmlformats.org/officeDocument/2006/relationships/slide" Target="slides/slide29.xml"/><Relationship Id="rId57" Type="http://schemas.openxmlformats.org/officeDocument/2006/relationships/slide" Target="slides/slide30.xml"/><Relationship Id="rId58" Type="http://schemas.openxmlformats.org/officeDocument/2006/relationships/slide" Target="slides/slide31.xml"/><Relationship Id="rId59" Type="http://schemas.openxmlformats.org/officeDocument/2006/relationships/slide" Target="slides/slide32.xml"/><Relationship Id="rId60" Type="http://schemas.openxmlformats.org/officeDocument/2006/relationships/slide" Target="slides/slide33.xml"/><Relationship Id="rId61" Type="http://schemas.openxmlformats.org/officeDocument/2006/relationships/slide" Target="slides/slide34.xml"/><Relationship Id="rId62" Type="http://schemas.openxmlformats.org/officeDocument/2006/relationships/slide" Target="slides/slide35.xml"/><Relationship Id="rId63" Type="http://schemas.openxmlformats.org/officeDocument/2006/relationships/slide" Target="slides/slide36.xml"/><Relationship Id="rId64"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slide" Target="slides/slide42.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 Id="rId89" Type="http://schemas.openxmlformats.org/officeDocument/2006/relationships/slide" Target="slides/slide60.xml"/><Relationship Id="rId91" Type="http://schemas.openxmlformats.org/officeDocument/2006/relationships/slide" Target="slides/slide61.xml"/><Relationship Id="rId92" Type="http://schemas.openxmlformats.org/officeDocument/2006/relationships/slide" Target="slides/slide62.xml"/><Relationship Id="rId93" Type="http://schemas.openxmlformats.org/officeDocument/2006/relationships/slide" Target="slides/slide63.xml"/><Relationship Id="rId94" Type="http://schemas.openxmlformats.org/officeDocument/2006/relationships/slide" Target="slides/slide64.xml"/><Relationship Id="rId95" Type="http://schemas.openxmlformats.org/officeDocument/2006/relationships/slide" Target="slides/slide65.xml"/><Relationship Id="rId96" Type="http://schemas.openxmlformats.org/officeDocument/2006/relationships/slide" Target="slides/slide66.xml"/><Relationship Id="rId97" Type="http://schemas.openxmlformats.org/officeDocument/2006/relationships/slide" Target="slides/slide67.xml"/><Relationship Id="rId98" Type="http://schemas.openxmlformats.org/officeDocument/2006/relationships/slide" Target="slides/slide68.xml"/><Relationship Id="rId99" Type="http://schemas.openxmlformats.org/officeDocument/2006/relationships/slide" Target="slides/slide69.xml"/><Relationship Id="rId100" Type="http://schemas.openxmlformats.org/officeDocument/2006/relationships/slide" Target="slides/slide70.xml"/><Relationship Id="rId101" Type="http://schemas.openxmlformats.org/officeDocument/2006/relationships/slide" Target="slides/slide71.xml"/><Relationship Id="rId103" Type="http://schemas.openxmlformats.org/officeDocument/2006/relationships/slide" Target="slides/slide72.xml"/><Relationship Id="rId104" Type="http://schemas.openxmlformats.org/officeDocument/2006/relationships/slide" Target="slides/slide73.xml"/><Relationship Id="rId105" Type="http://schemas.openxmlformats.org/officeDocument/2006/relationships/slide" Target="slides/slide74.xml"/><Relationship Id="rId106" Type="http://schemas.openxmlformats.org/officeDocument/2006/relationships/slide" Target="slides/slide75.xml"/><Relationship Id="rId107" Type="http://schemas.openxmlformats.org/officeDocument/2006/relationships/slide" Target="slides/slide76.xml"/><Relationship Id="rId108" Type="http://schemas.openxmlformats.org/officeDocument/2006/relationships/slide" Target="slides/slide77.xml"/><Relationship Id="rId109" Type="http://schemas.openxmlformats.org/officeDocument/2006/relationships/slide" Target="slides/slide78.xml"/><Relationship Id="rId110" Type="http://schemas.openxmlformats.org/officeDocument/2006/relationships/slide" Target="slides/slide79.xml"/><Relationship Id="rId111" Type="http://schemas.openxmlformats.org/officeDocument/2006/relationships/slide" Target="slides/slide80.xml"/><Relationship Id="rId113" Type="http://schemas.openxmlformats.org/officeDocument/2006/relationships/slide" Target="slides/slide82.xml"/><Relationship Id="rId114" Type="http://schemas.openxmlformats.org/officeDocument/2006/relationships/slide" Target="slides/slide83.xml"/><Relationship Id="rId115" Type="http://schemas.openxmlformats.org/officeDocument/2006/relationships/slide" Target="slides/slide84.xml"/><Relationship Id="rId116" Type="http://schemas.openxmlformats.org/officeDocument/2006/relationships/slide" Target="slides/slide85.xml"/><Relationship Id="rId117" Type="http://schemas.openxmlformats.org/officeDocument/2006/relationships/slide" Target="slides/slide86.xml"/><Relationship Id="rId118" Type="http://schemas.openxmlformats.org/officeDocument/2006/relationships/slide" Target="slides/slide87.xml"/><Relationship Id="rId119" Type="http://schemas.openxmlformats.org/officeDocument/2006/relationships/slide" Target="slides/slide88.xml"/><Relationship Id="rId120" Type="http://schemas.openxmlformats.org/officeDocument/2006/relationships/slide" Target="slides/slide89.xml"/><Relationship Id="rId121" Type="http://schemas.openxmlformats.org/officeDocument/2006/relationships/slide" Target="slides/slide90.xml"/><Relationship Id="rId122" Type="http://schemas.openxmlformats.org/officeDocument/2006/relationships/slide" Target="slides/slide91.xml"/><Relationship Id="rId123" Type="http://schemas.openxmlformats.org/officeDocument/2006/relationships/slide" Target="slides/slide92.xml"/><Relationship Id="rId124" Type="http://schemas.openxmlformats.org/officeDocument/2006/relationships/slide" Target="slides/slide93.xml"/><Relationship Id="rId125" Type="http://schemas.openxmlformats.org/officeDocument/2006/relationships/slide" Target="slides/slide94.xml"/><Relationship Id="rId126" Type="http://schemas.openxmlformats.org/officeDocument/2006/relationships/slide" Target="slides/slide95.xml"/><Relationship Id="rId127" Type="http://schemas.openxmlformats.org/officeDocument/2006/relationships/slide" Target="slides/slide96.xml"/><Relationship Id="rId128" Type="http://schemas.openxmlformats.org/officeDocument/2006/relationships/slide" Target="slides/slide97.xml"/><Relationship Id="rId129" Type="http://schemas.openxmlformats.org/officeDocument/2006/relationships/slide" Target="slides/slide98.xml"/><Relationship Id="rId130" Type="http://schemas.openxmlformats.org/officeDocument/2006/relationships/slide" Target="slides/slide99.xml"/><Relationship Id="rId131" Type="http://schemas.openxmlformats.org/officeDocument/2006/relationships/slide" Target="slides/slide100.xml"/><Relationship Id="rId133" Type="http://schemas.openxmlformats.org/officeDocument/2006/relationships/slide" Target="slides/slide101.xml"/><Relationship Id="rId135" Type="http://schemas.openxmlformats.org/officeDocument/2006/relationships/slide" Target="slides/slide102.xml"/><Relationship Id="rId136" Type="http://schemas.openxmlformats.org/officeDocument/2006/relationships/slide" Target="slides/slide103.xml"/><Relationship Id="rId137" Type="http://schemas.openxmlformats.org/officeDocument/2006/relationships/slide" Target="slides/slide104.xml"/><Relationship Id="rId138" Type="http://schemas.openxmlformats.org/officeDocument/2006/relationships/slide" Target="slides/slide105.xml"/><Relationship Id="rId139" Type="http://schemas.openxmlformats.org/officeDocument/2006/relationships/slide" Target="slides/slide106.xml"/><Relationship Id="rId140" Type="http://schemas.openxmlformats.org/officeDocument/2006/relationships/slide" Target="slides/slide107.xml"/><Relationship Id="rId141" Type="http://schemas.openxmlformats.org/officeDocument/2006/relationships/slide" Target="slides/slide108.xml"/><Relationship Id="rId142" Type="http://schemas.openxmlformats.org/officeDocument/2006/relationships/slide" Target="slides/slide109.xml"/><Relationship Id="rId143" Type="http://schemas.openxmlformats.org/officeDocument/2006/relationships/slide" Target="slides/slide110.xml"/><Relationship Id="rId144" Type="http://schemas.openxmlformats.org/officeDocument/2006/relationships/slide" Target="slides/slide111.xml"/><Relationship Id="rId145" Type="http://schemas.openxmlformats.org/officeDocument/2006/relationships/slide" Target="slides/slide112.xml"/><Relationship Id="rId146" Type="http://schemas.openxmlformats.org/officeDocument/2006/relationships/slide" Target="slides/slide113.xml"/><Relationship Id="rId147" Type="http://schemas.openxmlformats.org/officeDocument/2006/relationships/slide" Target="slides/slide114.xml"/><Relationship Id="rId148" Type="http://schemas.openxmlformats.org/officeDocument/2006/relationships/slide" Target="slides/slide115.xml"/><Relationship Id="rId151" Type="http://schemas.openxmlformats.org/officeDocument/2006/relationships/slide" Target="slides/slide10.xml"/><Relationship Id="rId152" Type="http://schemas.openxmlformats.org/officeDocument/2006/relationships/slide" Target="slides/slide81.xml"/><Relationship Id="rId153" Type="http://schemas.openxmlformats.org/officeDocument/2006/relationships/slide" Target="slides/slide116.xml"/><Relationship Id="rId154" Type="http://schemas.openxmlformats.org/officeDocument/2006/relationships/slide" Target="slides/slide117.xml"/><Relationship Id="rId155" Type="http://schemas.openxmlformats.org/officeDocument/2006/relationships/slide" Target="slides/slide118.xml"/><Relationship Id="rId156" Type="http://schemas.openxmlformats.org/officeDocument/2006/relationships/slide" Target="slides/slide119.xml"/><Relationship Id="rId157" Type="http://schemas.openxmlformats.org/officeDocument/2006/relationships/slide" Target="slides/slide120.xml"/><Relationship Id="rId158" Type="http://schemas.openxmlformats.org/officeDocument/2006/relationships/slide" Target="slides/slide121.xml"/><Relationship Id="rId159" Type="http://schemas.openxmlformats.org/officeDocument/2006/relationships/slide" Target="slides/slide122.xml"/><Relationship Id="rId160" Type="http://schemas.openxmlformats.org/officeDocument/2006/relationships/slide" Target="slides/slide123.xml"/><Relationship Id="rId161" Type="http://schemas.openxmlformats.org/officeDocument/2006/relationships/slide" Target="slides/slide124.xml"/><Relationship Id="rId162" Type="http://schemas.openxmlformats.org/officeDocument/2006/relationships/slide" Target="slides/slide125.xml"/><Relationship Id="rId163" Type="http://schemas.openxmlformats.org/officeDocument/2006/relationships/slide" Target="slides/slide126.xml"/><Relationship Id="rId164" Type="http://schemas.openxmlformats.org/officeDocument/2006/relationships/slide" Target="slides/slide127.xml"/><Relationship Id="rId165" Type="http://schemas.openxmlformats.org/officeDocument/2006/relationships/slide" Target="slides/slide128.xml"/><Relationship Id="rId166" Type="http://schemas.openxmlformats.org/officeDocument/2006/relationships/slide" Target="slides/slide129.xml"/><Relationship Id="rId167" Type="http://schemas.openxmlformats.org/officeDocument/2006/relationships/slide" Target="slides/slide130.xml"/><Relationship Id="rId168" Type="http://schemas.openxmlformats.org/officeDocument/2006/relationships/slide" Target="slides/slide131.xml"/><Relationship Id="rIdSlide9ReferenceMaster" Type="http://schemas.openxmlformats.org/officeDocument/2006/relationships/slideMaster" Target="slideMasters/s9_slideMaster1.xml"/><Relationship Id="rIdSlide121ReferenceMaster" Type="http://schemas.openxmlformats.org/officeDocument/2006/relationships/slideMaster" Target="slideMasters/s121_slideMaster1.xml"/><Relationship Id="rIdSlide125ReferenceMaster" Type="http://schemas.openxmlformats.org/officeDocument/2006/relationships/slideMaster" Target="slideMasters/s125_slideMaster1.xml"/><Relationship Id="rIdAnnexBlockReferenceMaster" Type="http://schemas.openxmlformats.org/officeDocument/2006/relationships/slideMaster" Target="slideMasters/a121_130_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a121_130_slideLayout1.xml.rels><?xml version='1.0' encoding='UTF-8' standalone='yes'?>
<Relationships xmlns="http://schemas.openxmlformats.org/package/2006/relationships"><Relationship Type="http://schemas.openxmlformats.org/officeDocument/2006/relationships/slideMaster" Target="../slideMasters/a121_130_slideMaster1.xml" Id="R2815022223364e29"/></Relationships>
</file>

<file path=ppt/slideLayouts/_rels/s9_slideLayout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2.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3.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4.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5.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6.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7.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8.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9.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0.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121_slideLayout1.xml.rels><?xml version='1.0' encoding='UTF-8' standalone='yes'?>
<Relationships xmlns="http://schemas.openxmlformats.org/package/2006/relationships"><Relationship Id="rId1" Type="http://schemas.openxmlformats.org/officeDocument/2006/relationships/slideMaster" Target="../slideMasters/s121_slideMaster1.xml"/></Relationships>
</file>

<file path=ppt/slideLayouts/_rels/s125_slideLayout1.xml.rels><?xml version='1.0' encoding='UTF-8' standalone='yes'?>
<Relationships xmlns="http://schemas.openxmlformats.org/package/2006/relationships"><Relationship Id="rId1" Type="http://schemas.openxmlformats.org/officeDocument/2006/relationships/slideMaster" Target="../slideMasters/s125_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a121_130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9_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9_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9_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9_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9_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9_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9_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9_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9_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9_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9_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121_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125_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pic>
        <p:nvPicPr>
          <p:cNvPr id="44" name="Google Shape;44;p7" title="Logo horizontal ATDT CRT.png"/>
          <p:cNvPicPr preferRelativeResize="0"/>
          <p:nvPr/>
        </p:nvPicPr>
        <p:blipFill rotWithShape="1">
          <a:blip r:embed="rId3">
            <a:alphaModFix/>
          </a:blip>
          <a:srcRect t="515" b="505"/>
          <a:stretch/>
        </p:blipFill>
        <p:spPr>
          <a:xfrm>
            <a:off x="6411224" y="179426"/>
            <a:ext cx="2539175" cy="246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55" name="Google Shape;55;p9"/>
          <p:cNvSpPr/>
          <p:nvPr/>
        </p:nvSpPr>
        <p:spPr>
          <a:xfrm>
            <a:off x="-25" y="0"/>
            <a:ext cx="9144000" cy="5217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9"/>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pic>
        <p:nvPicPr>
          <p:cNvPr id="60" name="Google Shape;60;p9"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a121_130_slideMaster1.xml.rels><?xml version='1.0' encoding='UTF-8' standalone='yes'?>
<Relationships xmlns="http://schemas.openxmlformats.org/package/2006/relationships"><Relationship Type="http://schemas.openxmlformats.org/officeDocument/2006/relationships/theme" Target="theme/a121_130_theme2.xml" Id="R0d97e60dc76c4f3e"/><Relationship Type="http://schemas.openxmlformats.org/officeDocument/2006/relationships/slideLayout" Target="../slideLayouts/a121_130_slideLayout1.xml" Id="R8cbbc4ddcf3345d8"/></Relationships>
</file>

<file path=ppt/slideMasters/_rels/s9_slideMaster1.xml.rels><?xml version='1.0' encoding='UTF-8' standalone='yes'?>
<Relationships xmlns="http://schemas.openxmlformats.org/package/2006/relationships"><Relationship Id="rId1" Type="http://schemas.openxmlformats.org/officeDocument/2006/relationships/slideLayout" Target="../slideLayouts/s9_slideLayout1.xml"/><Relationship Id="rId2" Type="http://schemas.openxmlformats.org/officeDocument/2006/relationships/slideLayout" Target="../slideLayouts/s9_slideLayout2.xml"/><Relationship Id="rId3" Type="http://schemas.openxmlformats.org/officeDocument/2006/relationships/slideLayout" Target="../slideLayouts/s9_slideLayout3.xml"/><Relationship Id="rId4" Type="http://schemas.openxmlformats.org/officeDocument/2006/relationships/slideLayout" Target="../slideLayouts/s9_slideLayout4.xml"/><Relationship Id="rId5" Type="http://schemas.openxmlformats.org/officeDocument/2006/relationships/slideLayout" Target="../slideLayouts/s9_slideLayout5.xml"/><Relationship Id="rId6" Type="http://schemas.openxmlformats.org/officeDocument/2006/relationships/slideLayout" Target="../slideLayouts/s9_slideLayout6.xml"/><Relationship Id="rId7" Type="http://schemas.openxmlformats.org/officeDocument/2006/relationships/slideLayout" Target="../slideLayouts/s9_slideLayout7.xml"/><Relationship Id="rId8" Type="http://schemas.openxmlformats.org/officeDocument/2006/relationships/slideLayout" Target="../slideLayouts/s9_slideLayout8.xml"/><Relationship Id="rId9" Type="http://schemas.openxmlformats.org/officeDocument/2006/relationships/slideLayout" Target="../slideLayouts/s9_slideLayout9.xml"/><Relationship Id="rId10" Type="http://schemas.openxmlformats.org/officeDocument/2006/relationships/slideLayout" Target="../slideLayouts/s9_slideLayout10.xml"/><Relationship Id="rId11" Type="http://schemas.openxmlformats.org/officeDocument/2006/relationships/slideLayout" Target="../slideLayouts/s9_slideLayout11.xml"/><Relationship Id="rId12" Type="http://schemas.openxmlformats.org/officeDocument/2006/relationships/theme" Target="../theme/s9_theme1.xml"/></Relationships>
</file>

<file path=ppt/slideMasters/_rels/s121_slideMaster1.xml.rels><?xml version='1.0' encoding='UTF-8' standalone='yes'?>
<Relationships xmlns="http://schemas.openxmlformats.org/package/2006/relationships"><Relationship Id="rId1" Type="http://schemas.openxmlformats.org/officeDocument/2006/relationships/slideLayout" Target="../slideLayouts/s121_slideLayout1.xml"/><Relationship Id="rId2" Type="http://schemas.openxmlformats.org/officeDocument/2006/relationships/theme" Target="../theme/s121_theme1.xml"/></Relationships>
</file>

<file path=ppt/slideMasters/_rels/s125_slideMaster1.xml.rels><?xml version='1.0' encoding='UTF-8' standalone='yes'?>
<Relationships xmlns="http://schemas.openxmlformats.org/package/2006/relationships"><Relationship Id="rId1" Type="http://schemas.openxmlformats.org/officeDocument/2006/relationships/slideLayout" Target="../slideLayouts/s125_slideLayout1.xml"/><Relationship Id="rId2" Type="http://schemas.openxmlformats.org/officeDocument/2006/relationships/theme" Target="../theme/s125_theme1.xml"/></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a121_130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520001" r:id="R8cbbc4ddcf3345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9_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90001" r:id="rId1"/>
    <p:sldLayoutId id="2147490002" r:id="rId2"/>
    <p:sldLayoutId id="2147490003" r:id="rId3"/>
    <p:sldLayoutId id="2147490004" r:id="rId4"/>
    <p:sldLayoutId id="2147490005" r:id="rId5"/>
    <p:sldLayoutId id="2147490006" r:id="rId6"/>
    <p:sldLayoutId id="2147490007" r:id="rId7"/>
    <p:sldLayoutId id="2147490008" r:id="rId8"/>
    <p:sldLayoutId id="2147490009" r:id="rId9"/>
    <p:sldLayoutId id="2147490010" r:id="rId10"/>
    <p:sldLayoutId id="21474900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121_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50000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125_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51000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theme/a121_130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it.crt.gob.mx/BitWebApp/" TargetMode="External"/></Relationships>
</file>

<file path=ppt/slides/_rels/slide3.xml.rels><?xml version='1.0' encoding='UTF-8' standalone='yes'?>
<Relationships xmlns="http://schemas.openxmlformats.org/package/2006/relationships"><Relationship Type="http://schemas.openxmlformats.org/officeDocument/2006/relationships/slideLayout" Target="../slideLayouts/slideLayout5.xml" Id="R75873b9008704f5e"/><Relationship Type="http://schemas.openxmlformats.org/officeDocument/2006/relationships/image" Target="../media/slide3_diseno_image.png" Id="R7dd46c82ccd34f7d"/><Relationship Type="http://schemas.openxmlformats.org/officeDocument/2006/relationships/image" Target="../media/slide3_diseno_image2.png" Id="Rbccc84560eec49cf"/><Relationship Type="http://schemas.openxmlformats.org/officeDocument/2006/relationships/image" Target="../media/slide3_diseno_image3.png" Id="R6d4963d98410402b"/><Relationship Type="http://schemas.openxmlformats.org/officeDocument/2006/relationships/image" Target="../media/slide3_diseno_image4.png" Id="Rcb20aff7f10a4f9b"/><Relationship Type="http://schemas.openxmlformats.org/officeDocument/2006/relationships/hyperlink" Target="https://bit.crt.gob.mx/BitWebApp/" TargetMode="External" Id="R5b60e0be82104cba"/></Relationships>
</file>

<file path=ppt/slides/_rels/slide4.xml.rels><?xml version='1.0' encoding='UTF-8' standalone='yes'?>
<Relationships xmlns="http://schemas.openxmlformats.org/package/2006/relationships"><Relationship Type="http://schemas.openxmlformats.org/officeDocument/2006/relationships/slideLayout" Target="../slideLayouts/slideLayout5.xml" Id="Rbe9c7cf808de4e9d"/><Relationship Type="http://schemas.openxmlformats.org/officeDocument/2006/relationships/image" Target="../media/slide4_diseno_image.png" Id="Re9d5d72c38924a16"/><Relationship Type="http://schemas.openxmlformats.org/officeDocument/2006/relationships/image" Target="../media/slide4_diseno_image2.png" Id="Rb5c444f1c6cb476e"/><Relationship Type="http://schemas.openxmlformats.org/officeDocument/2006/relationships/image" Target="../media/slide4_diseno_image3.png" Id="R45279ff6ee7f4af1"/><Relationship Type="http://schemas.openxmlformats.org/officeDocument/2006/relationships/image" Target="../media/slide4_diseno_image4.png" Id="R30298c0e75084c3d"/><Relationship Type="http://schemas.openxmlformats.org/officeDocument/2006/relationships/hyperlink" Target="https://bit.crt.gob.mx/BitWebApp/" TargetMode="External" Id="R44a62cbf7b934b2e"/></Relationships>
</file>

<file path=ppt/slides/_rels/slide5.xml.rels><?xml version='1.0' encoding='UTF-8' standalone='yes'?>
<Relationships xmlns="http://schemas.openxmlformats.org/package/2006/relationships"><Relationship Type="http://schemas.openxmlformats.org/officeDocument/2006/relationships/slideLayout" Target="../slideLayouts/slideLayout5.xml" Id="R46abcff555714d09"/><Relationship Type="http://schemas.openxmlformats.org/officeDocument/2006/relationships/image" Target="../media/slide5_diseno_image5.png" Id="Rd0c2a94fb7504565"/><Relationship Type="http://schemas.openxmlformats.org/officeDocument/2006/relationships/image" Target="../media/slide5_diseno_image6.png" Id="R053ec0800dab470a"/><Relationship Type="http://schemas.openxmlformats.org/officeDocument/2006/relationships/image" Target="../media/slide5_diseno_image7.png" Id="R9b21366084f1421c"/><Relationship Type="http://schemas.openxmlformats.org/officeDocument/2006/relationships/image" Target="../media/slide5_diseno_image8.png" Id="R30bbdc5925644f1f"/><Relationship Type="http://schemas.openxmlformats.org/officeDocument/2006/relationships/hyperlink" Target="https://bit.crt.gob.mx/BitWebApp/" TargetMode="External" Id="R063e77096b704b59"/><Relationship Type="http://schemas.openxmlformats.org/officeDocument/2006/relationships/image" Target="../media/slide5_diseno_image9.png" Id="R5f7ecf3039b54788"/><Relationship Type="http://schemas.openxmlformats.org/officeDocument/2006/relationships/image" Target="../media/slide5_diseno_image10.png" Id="Rca2af74a4db24cd7"/><Relationship Type="http://schemas.openxmlformats.org/officeDocument/2006/relationships/image" Target="../media/slide5_diseno_image11.png" Id="R17eda56c66264122"/><Relationship Type="http://schemas.openxmlformats.org/officeDocument/2006/relationships/image" Target="../media/slide5_diseno_image12.png" Id="R0598c2e78d6345bf"/></Relationships>
</file>

<file path=ppt/slides/_rels/slide6.xml.rels><?xml version='1.0' encoding='UTF-8' standalone='yes'?>
<Relationships xmlns="http://schemas.openxmlformats.org/package/2006/relationships"><Relationship Type="http://schemas.openxmlformats.org/officeDocument/2006/relationships/slideLayout" Target="../slideLayouts/slideLayout5.xml" Id="R66974e7e788647ff"/><Relationship Type="http://schemas.openxmlformats.org/officeDocument/2006/relationships/image" Target="../media/slide6_diseno_image13.png" Id="Ra85e1c9945e94a7e"/><Relationship Type="http://schemas.openxmlformats.org/officeDocument/2006/relationships/image" Target="../media/slide6_diseno_image14.png" Id="R5101691e18134900"/><Relationship Type="http://schemas.openxmlformats.org/officeDocument/2006/relationships/image" Target="../media/slide6_diseno_image15.png" Id="Rcd1fc5a8caa9402d"/><Relationship Type="http://schemas.openxmlformats.org/officeDocument/2006/relationships/image" Target="../media/slide6_diseno_image16.png" Id="Ra902198852794fa7"/><Relationship Type="http://schemas.openxmlformats.org/officeDocument/2006/relationships/hyperlink" Target="https://bit.crt.gob.mx/BitWebApp/" TargetMode="External" Id="Rbf38f4683d754baf"/><Relationship Type="http://schemas.openxmlformats.org/officeDocument/2006/relationships/image" Target="../media/slide6_diseno_image17.png" Id="Rc151f4e85cd14391"/><Relationship Type="http://schemas.openxmlformats.org/officeDocument/2006/relationships/image" Target="../media/slide6_diseno_image18.png" Id="R8e1ef3adc9d843cd"/><Relationship Type="http://schemas.openxmlformats.org/officeDocument/2006/relationships/image" Target="../media/slide6_diseno_image19.png" Id="R8f9341f9b5c94c17"/><Relationship Type="http://schemas.openxmlformats.org/officeDocument/2006/relationships/image" Target="../media/slide6_diseno_image20.png" Id="R18bf096c142f478e"/></Relationships>
</file>

<file path=ppt/slides/_rels/slide7.xml.rels><?xml version='1.0' encoding='UTF-8' standalone='yes'?>
<Relationships xmlns="http://schemas.openxmlformats.org/package/2006/relationships"><Relationship Type="http://schemas.openxmlformats.org/officeDocument/2006/relationships/slideLayout" Target="../slideLayouts/slideLayout5.xml" Id="Ra94795058d6343e6"/><Relationship Type="http://schemas.openxmlformats.org/officeDocument/2006/relationships/image" Target="../media/slide7_diseno_image.png" Id="Ra2f113fc51c24590"/><Relationship Type="http://schemas.openxmlformats.org/officeDocument/2006/relationships/image" Target="../media/slide7_diseno_image2.png" Id="R5124f4555e354735"/><Relationship Type="http://schemas.openxmlformats.org/officeDocument/2006/relationships/image" Target="../media/slide7_diseno_image3.png" Id="R055272988eb84dce"/><Relationship Type="http://schemas.openxmlformats.org/officeDocument/2006/relationships/image" Target="../media/slide7_diseno_image4.png" Id="R9648ba0efd3e4fb5"/><Relationship Type="http://schemas.openxmlformats.org/officeDocument/2006/relationships/hyperlink" Target="https://bit.crt.gob.mx/BitWebApp/" TargetMode="External" Id="R44fd49cd4a32425c"/></Relationships>
</file>

<file path=ppt/slides/_rels/slide8.xml.rels><?xml version='1.0' encoding='UTF-8' standalone='yes'?>
<Relationships xmlns="http://schemas.openxmlformats.org/package/2006/relationships"><Relationship Type="http://schemas.openxmlformats.org/officeDocument/2006/relationships/slideLayout" Target="../slideLayouts/slideLayout5.xml" Id="R0f556a324a294929"/><Relationship Type="http://schemas.openxmlformats.org/officeDocument/2006/relationships/image" Target="../media/slide8_diseno_image.png" Id="Rab0adeb70d7b4625"/><Relationship Type="http://schemas.openxmlformats.org/officeDocument/2006/relationships/image" Target="../media/slide8_diseno_image2.png" Id="Rea391cf12914453e"/><Relationship Type="http://schemas.openxmlformats.org/officeDocument/2006/relationships/image" Target="../media/slide8_diseno_image3.png" Id="R4f2cbbb30dda4051"/><Relationship Type="http://schemas.openxmlformats.org/officeDocument/2006/relationships/image" Target="../media/slide8_diseno_image4.png" Id="R4d12f4a07a004500"/><Relationship Type="http://schemas.openxmlformats.org/officeDocument/2006/relationships/hyperlink" Target="https://bit.crt.gob.mx/BitWebApp/" TargetMode="External" Id="R4e3103bf1d6a40b8"/></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9_slideLayout7.xml"/><Relationship Id="rId2" Type="http://schemas.openxmlformats.org/officeDocument/2006/relationships/image" Target="../media/s9_image1.png"/><Relationship Id="rId3" Type="http://schemas.openxmlformats.org/officeDocument/2006/relationships/image" Target="../media/s9_image2.png"/><Relationship Id="rId4" Type="http://schemas.openxmlformats.org/officeDocument/2006/relationships/image" Target="../media/s9_image3.png"/><Relationship Id="rId5" Type="http://schemas.openxmlformats.org/officeDocument/2006/relationships/image" Target="../media/s9_image4.png"/><Relationship Id="rId6" Type="http://schemas.openxmlformats.org/officeDocument/2006/relationships/image" Target="../media/s9_image5.png"/><Relationship Id="rId7" Type="http://schemas.openxmlformats.org/officeDocument/2006/relationships/image" Target="../media/s9_image6.png"/><Relationship Id="rId8" Type="http://schemas.openxmlformats.org/officeDocument/2006/relationships/image" Target="../media/s9_image7.png"/><Relationship Id="rId9" Type="http://schemas.openxmlformats.org/officeDocument/2006/relationships/image" Target="../media/s9_image8.png"/><Relationship Id="rId10" Type="http://schemas.openxmlformats.org/officeDocument/2006/relationships/image" Target="../media/s9_image9.png"/><Relationship Id="rId11" Type="http://schemas.openxmlformats.org/officeDocument/2006/relationships/image" Target="../media/s9_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svg"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2.svg"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3.svg"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4.svg"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5.svg"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6.svg"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7.svg"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8.svg"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9.svg"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0.svg"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svg"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svg"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3.svg"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4.svg"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5.svg"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6.svg"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7.svg"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8.svg"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9.svg"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0.svg"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1.svg"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2.svg"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3.svg"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4.svg"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5.svg"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6.svg"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7.svg"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8.svg"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9.svg"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0.svg"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1.svg"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2.svg"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3.svg"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4.svg"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5.svg"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svg"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2.svg"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4.svg" /><Relationship Id="rId3" Type="http://schemas.openxmlformats.org/officeDocument/2006/relationships/image" Target="../media/anuario_figure_c_3.svg"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5.svg"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6.svg"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7.svg"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8.svg"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9.svg" /></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0.svg"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1.svg"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2.svg"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3.svg"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4.svg" /></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5.svg" /></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6.svg"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svg"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2.svg"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3.svg"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4.svg" /></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5.svg"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6.svg"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7.svg"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8.svg"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9.svg"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0.svg" /></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1.svg"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1.svg"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2.svg"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3.svg"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4.svg"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5.svg"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6.svg"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7.svg"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8.svg"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9.sv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1.svg"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2.svg"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3.svg"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4.svg"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2.svg"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3.svg"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4.svg"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5.svg"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6.svg"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7.svg"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8.svg"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9.svg"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0.svg"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1.svg"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2.svg"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3.svg"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4.svg"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5.svg"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6.svg"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g_1.svg"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estatal.ift.org.mx/" TargetMode="External"/><Relationship Id="rId3" Type="http://schemas.openxmlformats.org/officeDocument/2006/relationships/hyperlink" Target="https://calculadoraprob.ift.org.mx/" TargetMode="External"/><Relationship Id="rId4" Type="http://schemas.openxmlformats.org/officeDocument/2006/relationships/hyperlink" Target="https://bit.crt.gob.mx/BitWebApp/"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121_slideLayout1.xml"/></Relationships>
</file>

<file path=ppt/slides/_rels/slide122.xml.rels><?xml version='1.0' encoding='UTF-8' standalone='yes'?>
<Relationships xmlns="http://schemas.openxmlformats.org/package/2006/relationships"><Relationship Type="http://schemas.openxmlformats.org/officeDocument/2006/relationships/slideLayout" Target="../slideLayouts/a121_130_slideLayout1.xml" Id="R2811c67ff0114818"/></Relationships>
</file>

<file path=ppt/slides/_rels/slide123.xml.rels><?xml version='1.0' encoding='UTF-8' standalone='yes'?>
<Relationships xmlns="http://schemas.openxmlformats.org/package/2006/relationships"><Relationship Type="http://schemas.openxmlformats.org/officeDocument/2006/relationships/slideLayout" Target="../slideLayouts/a121_130_slideLayout1.xml" Id="R5d742b8616a745cf"/></Relationships>
</file>

<file path=ppt/slides/_rels/slide124.xml.rels><?xml version='1.0' encoding='UTF-8' standalone='yes'?>
<Relationships xmlns="http://schemas.openxmlformats.org/package/2006/relationships"><Relationship Type="http://schemas.openxmlformats.org/officeDocument/2006/relationships/slideLayout" Target="../slideLayouts/a121_130_slideLayout1.xml" Id="R453b3cd00aaf4b5e"/></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125_slideLayout1.xml"/></Relationships>
</file>

<file path=ppt/slides/_rels/slide126.xml.rels><?xml version='1.0' encoding='UTF-8' standalone='yes'?>
<Relationships xmlns="http://schemas.openxmlformats.org/package/2006/relationships"><Relationship Type="http://schemas.openxmlformats.org/officeDocument/2006/relationships/slideLayout" Target="../slideLayouts/a121_130_slideLayout1.xml" Id="R631a4a7c6fa14d7d"/></Relationships>
</file>

<file path=ppt/slides/_rels/slide127.xml.rels><?xml version='1.0' encoding='UTF-8' standalone='yes'?>
<Relationships xmlns="http://schemas.openxmlformats.org/package/2006/relationships"><Relationship Type="http://schemas.openxmlformats.org/officeDocument/2006/relationships/slideLayout" Target="../slideLayouts/a121_130_slideLayout1.xml" Id="R7a3265c2c80e42cc"/></Relationships>
</file>

<file path=ppt/slides/_rels/slide128.xml.rels><?xml version='1.0' encoding='UTF-8' standalone='yes'?>
<Relationships xmlns="http://schemas.openxmlformats.org/package/2006/relationships"><Relationship Type="http://schemas.openxmlformats.org/officeDocument/2006/relationships/slideLayout" Target="../slideLayouts/a121_130_slideLayout1.xml" Id="R3e924c45b0ed45f3"/></Relationships>
</file>

<file path=ppt/slides/_rels/slide129.xml.rels><?xml version='1.0' encoding='UTF-8' standalone='yes'?>
<Relationships xmlns="http://schemas.openxmlformats.org/package/2006/relationships"><Relationship Type="http://schemas.openxmlformats.org/officeDocument/2006/relationships/slideLayout" Target="../slideLayouts/a121_130_slideLayout1.xml" Id="Rc8e4db0dd9244e49"/></Relationships>
</file>

<file path=ppt/slides/_rels/slide130.xml.rels><?xml version='1.0' encoding='UTF-8' standalone='yes'?>
<Relationships xmlns="http://schemas.openxmlformats.org/package/2006/relationships"><Relationship Type="http://schemas.openxmlformats.org/officeDocument/2006/relationships/slideLayout" Target="../slideLayouts/a121_130_slideLayout1.xml" Id="Rac96220c17124d95"/></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ANUARIO_INDEX_TITLE"/>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r>
              <a:rPr sz="2600" b="1">
                <a:solidFill>
                  <a:srgbClr val="F3F3F3"/>
                </a:solidFill>
                <a:latin typeface="Noto Sans ExtraBold"/>
              </a:rPr>
              <a:t>ÍNDICE</a:t>
            </a:r>
          </a:p>
        </p:txBody>
      </p:sp>
      <p:sp>
        <p:nvSpPr>
          <p:cNvPr id="158" name="ANUARIO_PAGE_NUMBER"/>
          <p:cNvSpPr txBox="1"/>
          <p:nvPr/>
        </p:nvSpPr>
        <p:spPr>
          <a:xfrm>
            <a:off x="274320" y="4800600"/>
            <a:ext cx="502920" cy="164592"/>
          </a:xfrm>
          <a:prstGeom prst="rect">
            <a:avLst/>
          </a:prstGeom>
          <a:noFill/>
        </p:spPr>
        <p:txBody>
          <a:bodyPr wrap="none">
            <a:spAutoFit/>
          </a:bodyPr>
          <a:lstStyle/>
          <a:p>
            <a:pPr algn="l"/>
            <a:r>
              <a:rPr sz="650" b="1">
                <a:solidFill>
                  <a:srgbClr val="F3F3F3"/>
                </a:solidFill>
                <a:latin typeface="Noto Sans"/>
              </a:rPr>
              <a:t>2</a:t>
            </a:r>
          </a:p>
        </p:txBody>
      </p:sp>
      <p:sp>
        <p:nvSpPr>
          <p:cNvPr id="159" name="ANUARIO_REFERENCIA_2024_P2_L001"/>
          <p:cNvSpPr txBox="1"/>
          <p:nvPr/>
        </p:nvSpPr>
        <p:spPr>
          <a:xfrm>
            <a:off x="504772" y="1152716"/>
            <a:ext cx="414108"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LEGALES </a:t>
            </a:r>
          </a:p>
        </p:txBody>
      </p:sp>
      <p:sp>
        <p:nvSpPr>
          <p:cNvPr id="160" name="ANUARIO_REFERENCIA_2024_P2_L002"/>
          <p:cNvSpPr txBox="1"/>
          <p:nvPr/>
        </p:nvSpPr>
        <p:spPr>
          <a:xfrm>
            <a:off x="3608432" y="1152716"/>
            <a:ext cx="143264"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3</a:t>
            </a:r>
          </a:p>
        </p:txBody>
      </p:sp>
      <p:sp>
        <p:nvSpPr>
          <p:cNvPr id="161" name="ANUARIO_REFERENCIA_2024_P2_L003"/>
          <p:cNvSpPr txBox="1"/>
          <p:nvPr/>
        </p:nvSpPr>
        <p:spPr>
          <a:xfrm>
            <a:off x="504794" y="1220197"/>
            <a:ext cx="4766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GLOSARIO </a:t>
            </a:r>
          </a:p>
        </p:txBody>
      </p:sp>
      <p:sp>
        <p:nvSpPr>
          <p:cNvPr id="162" name="ANUARIO_REFERENCIA_2024_P2_L004"/>
          <p:cNvSpPr txBox="1"/>
          <p:nvPr/>
        </p:nvSpPr>
        <p:spPr>
          <a:xfrm>
            <a:off x="3606140" y="1220197"/>
            <a:ext cx="145555"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5</a:t>
            </a:r>
          </a:p>
        </p:txBody>
      </p:sp>
      <p:sp>
        <p:nvSpPr>
          <p:cNvPr id="163" name="ANUARIO_REFERENCIA_2024_P2_L005"/>
          <p:cNvSpPr txBox="1"/>
          <p:nvPr/>
        </p:nvSpPr>
        <p:spPr>
          <a:xfrm>
            <a:off x="504793" y="1287676"/>
            <a:ext cx="66491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INTRODUCCIÓN </a:t>
            </a:r>
          </a:p>
        </p:txBody>
      </p:sp>
      <p:sp>
        <p:nvSpPr>
          <p:cNvPr id="164" name="ANUARIO_REFERENCIA_2024_P2_L006"/>
          <p:cNvSpPr txBox="1"/>
          <p:nvPr/>
        </p:nvSpPr>
        <p:spPr>
          <a:xfrm>
            <a:off x="3611665" y="1287676"/>
            <a:ext cx="14002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7</a:t>
            </a:r>
          </a:p>
        </p:txBody>
      </p:sp>
      <p:sp>
        <p:nvSpPr>
          <p:cNvPr id="165" name="ANUARIO_REFERENCIA_2024_P2_L007"/>
          <p:cNvSpPr txBox="1"/>
          <p:nvPr/>
        </p:nvSpPr>
        <p:spPr>
          <a:xfrm>
            <a:off x="504792" y="1355156"/>
            <a:ext cx="63971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PUNTOS CLAVE </a:t>
            </a:r>
          </a:p>
        </p:txBody>
      </p:sp>
      <p:sp>
        <p:nvSpPr>
          <p:cNvPr id="166" name="ANUARIO_REFERENCIA_2024_P2_L008"/>
          <p:cNvSpPr txBox="1"/>
          <p:nvPr/>
        </p:nvSpPr>
        <p:spPr>
          <a:xfrm>
            <a:off x="3601895" y="1355156"/>
            <a:ext cx="14980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9</a:t>
            </a:r>
          </a:p>
        </p:txBody>
      </p:sp>
      <p:sp>
        <p:nvSpPr>
          <p:cNvPr id="167" name="ANUARIO_REFERENCIA_2024_P2_L009"/>
          <p:cNvSpPr txBox="1"/>
          <p:nvPr/>
        </p:nvSpPr>
        <p:spPr>
          <a:xfrm>
            <a:off x="504793" y="1431533"/>
            <a:ext cx="27944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INDICADORES DE TELECOMUNICACIONES Y RADIODIFUSIÓN A NIVEL NACIONAL </a:t>
            </a:r>
          </a:p>
        </p:txBody>
      </p:sp>
      <p:sp>
        <p:nvSpPr>
          <p:cNvPr id="168" name="ANUARIO_REFERENCIA_2024_P2_L010"/>
          <p:cNvSpPr txBox="1"/>
          <p:nvPr/>
        </p:nvSpPr>
        <p:spPr>
          <a:xfrm>
            <a:off x="3588686" y="1431516"/>
            <a:ext cx="16300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11</a:t>
            </a:r>
          </a:p>
        </p:txBody>
      </p:sp>
      <p:sp>
        <p:nvSpPr>
          <p:cNvPr id="169" name="ANUARIO_REFERENCIA_2024_P2_L011"/>
          <p:cNvSpPr txBox="1"/>
          <p:nvPr/>
        </p:nvSpPr>
        <p:spPr>
          <a:xfrm>
            <a:off x="627311" y="1517024"/>
            <a:ext cx="113713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 INDICADORES ECONÓMICOS</a:t>
            </a:r>
          </a:p>
        </p:txBody>
      </p:sp>
      <p:sp>
        <p:nvSpPr>
          <p:cNvPr id="170" name="ANUARIO_REFERENCIA_2024_P2_L012"/>
          <p:cNvSpPr txBox="1"/>
          <p:nvPr/>
        </p:nvSpPr>
        <p:spPr>
          <a:xfrm>
            <a:off x="3591988" y="1517046"/>
            <a:ext cx="159707"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a:t>
            </a:r>
          </a:p>
        </p:txBody>
      </p:sp>
      <p:sp>
        <p:nvSpPr>
          <p:cNvPr id="171" name="ANUARIO_REFERENCIA_2024_P2_L013"/>
          <p:cNvSpPr txBox="1"/>
          <p:nvPr/>
        </p:nvSpPr>
        <p:spPr>
          <a:xfrm>
            <a:off x="749832" y="1592571"/>
            <a:ext cx="243246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Y CONTRIBUCIÓN DE LOS SECTORES DE TYR</a:t>
            </a:r>
          </a:p>
        </p:txBody>
      </p:sp>
      <p:sp>
        <p:nvSpPr>
          <p:cNvPr id="172" name="ANUARIO_REFERENCIA_2024_P2_L014"/>
          <p:cNvSpPr txBox="1"/>
          <p:nvPr/>
        </p:nvSpPr>
        <p:spPr>
          <a:xfrm>
            <a:off x="3600462" y="1592571"/>
            <a:ext cx="15123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a:t>
            </a:r>
          </a:p>
        </p:txBody>
      </p:sp>
      <p:sp>
        <p:nvSpPr>
          <p:cNvPr id="173" name="ANUARIO_REFERENCIA_2024_P2_L015"/>
          <p:cNvSpPr txBox="1"/>
          <p:nvPr/>
        </p:nvSpPr>
        <p:spPr>
          <a:xfrm>
            <a:off x="749811" y="1654723"/>
            <a:ext cx="1147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EMPLEO EN LOS SECTORES DE TYR </a:t>
            </a:r>
          </a:p>
        </p:txBody>
      </p:sp>
      <p:sp>
        <p:nvSpPr>
          <p:cNvPr id="174" name="ANUARIO_REFERENCIA_2024_P2_L016"/>
          <p:cNvSpPr txBox="1"/>
          <p:nvPr/>
        </p:nvSpPr>
        <p:spPr>
          <a:xfrm>
            <a:off x="3591457" y="1654723"/>
            <a:ext cx="16024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a:t>
            </a:r>
          </a:p>
        </p:txBody>
      </p:sp>
      <p:sp>
        <p:nvSpPr>
          <p:cNvPr id="175" name="ANUARIO_REFERENCIA_2024_P2_L017"/>
          <p:cNvSpPr txBox="1"/>
          <p:nvPr/>
        </p:nvSpPr>
        <p:spPr>
          <a:xfrm>
            <a:off x="749812" y="1716876"/>
            <a:ext cx="73828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176" name="ANUARIO_REFERENCIA_2024_P2_L018"/>
          <p:cNvSpPr txBox="1"/>
          <p:nvPr/>
        </p:nvSpPr>
        <p:spPr>
          <a:xfrm>
            <a:off x="3590967" y="1716876"/>
            <a:ext cx="1607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13</a:t>
            </a:r>
          </a:p>
        </p:txBody>
      </p:sp>
      <p:sp>
        <p:nvSpPr>
          <p:cNvPr id="177" name="ANUARIO_REFERENCIA_2024_P2_L019"/>
          <p:cNvSpPr txBox="1"/>
          <p:nvPr/>
        </p:nvSpPr>
        <p:spPr>
          <a:xfrm>
            <a:off x="749812" y="1779029"/>
            <a:ext cx="15701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INVERSIÓN PRIVADA EN TELECOMUNICACIONES </a:t>
            </a:r>
          </a:p>
        </p:txBody>
      </p:sp>
      <p:sp>
        <p:nvSpPr>
          <p:cNvPr id="178" name="ANUARIO_REFERENCIA_2024_P2_L020"/>
          <p:cNvSpPr txBox="1"/>
          <p:nvPr/>
        </p:nvSpPr>
        <p:spPr>
          <a:xfrm>
            <a:off x="3589802" y="1779029"/>
            <a:ext cx="1618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14</a:t>
            </a:r>
          </a:p>
        </p:txBody>
      </p:sp>
      <p:sp>
        <p:nvSpPr>
          <p:cNvPr id="179" name="ANUARIO_REFERENCIA_2024_P2_L021"/>
          <p:cNvSpPr txBox="1"/>
          <p:nvPr/>
        </p:nvSpPr>
        <p:spPr>
          <a:xfrm>
            <a:off x="749811" y="1841181"/>
            <a:ext cx="14461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FLUJOS DE INVERSIÓN EXTRANJERA DIRECTA </a:t>
            </a:r>
          </a:p>
        </p:txBody>
      </p:sp>
      <p:sp>
        <p:nvSpPr>
          <p:cNvPr id="180" name="ANUARIO_REFERENCIA_2024_P2_L022"/>
          <p:cNvSpPr txBox="1"/>
          <p:nvPr/>
        </p:nvSpPr>
        <p:spPr>
          <a:xfrm>
            <a:off x="3589006" y="1841181"/>
            <a:ext cx="16269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15</a:t>
            </a:r>
          </a:p>
        </p:txBody>
      </p:sp>
      <p:sp>
        <p:nvSpPr>
          <p:cNvPr id="181" name="ANUARIO_REFERENCIA_2024_P2_L023"/>
          <p:cNvSpPr txBox="1"/>
          <p:nvPr/>
        </p:nvSpPr>
        <p:spPr>
          <a:xfrm>
            <a:off x="749812" y="1903334"/>
            <a:ext cx="22939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INGRESOS, EGRESOS Y MARGEN DEL SECTOR DE TELECOMUNICACIONES </a:t>
            </a:r>
          </a:p>
        </p:txBody>
      </p:sp>
      <p:sp>
        <p:nvSpPr>
          <p:cNvPr id="182" name="ANUARIO_REFERENCIA_2024_P2_L024"/>
          <p:cNvSpPr txBox="1"/>
          <p:nvPr/>
        </p:nvSpPr>
        <p:spPr>
          <a:xfrm>
            <a:off x="3586801" y="1903334"/>
            <a:ext cx="16489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16</a:t>
            </a:r>
          </a:p>
        </p:txBody>
      </p:sp>
      <p:sp>
        <p:nvSpPr>
          <p:cNvPr id="183" name="ANUARIO_REFERENCIA_2024_P2_L025"/>
          <p:cNvSpPr txBox="1"/>
          <p:nvPr/>
        </p:nvSpPr>
        <p:spPr>
          <a:xfrm>
            <a:off x="749812" y="1965487"/>
            <a:ext cx="2211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FIJAS </a:t>
            </a:r>
          </a:p>
        </p:txBody>
      </p:sp>
      <p:sp>
        <p:nvSpPr>
          <p:cNvPr id="184" name="ANUARIO_REFERENCIA_2024_P2_L026"/>
          <p:cNvSpPr txBox="1"/>
          <p:nvPr/>
        </p:nvSpPr>
        <p:spPr>
          <a:xfrm>
            <a:off x="3592928" y="1965487"/>
            <a:ext cx="1587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17</a:t>
            </a:r>
          </a:p>
        </p:txBody>
      </p:sp>
      <p:sp>
        <p:nvSpPr>
          <p:cNvPr id="185" name="ANUARIO_REFERENCIA_2024_P2_L027"/>
          <p:cNvSpPr txBox="1"/>
          <p:nvPr/>
        </p:nvSpPr>
        <p:spPr>
          <a:xfrm>
            <a:off x="749812" y="2027640"/>
            <a:ext cx="23203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MÓVILES </a:t>
            </a:r>
          </a:p>
        </p:txBody>
      </p:sp>
      <p:sp>
        <p:nvSpPr>
          <p:cNvPr id="186" name="ANUARIO_REFERENCIA_2024_P2_L028"/>
          <p:cNvSpPr txBox="1"/>
          <p:nvPr/>
        </p:nvSpPr>
        <p:spPr>
          <a:xfrm>
            <a:off x="3586616" y="2027640"/>
            <a:ext cx="1650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19</a:t>
            </a:r>
          </a:p>
        </p:txBody>
      </p:sp>
      <p:sp>
        <p:nvSpPr>
          <p:cNvPr id="187" name="ANUARIO_REFERENCIA_2024_P2_L029"/>
          <p:cNvSpPr txBox="1"/>
          <p:nvPr/>
        </p:nvSpPr>
        <p:spPr>
          <a:xfrm>
            <a:off x="627303" y="2099506"/>
            <a:ext cx="163010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B. SERVICIOS FIJOS DE TELECOMUNICACIONES</a:t>
            </a:r>
          </a:p>
        </p:txBody>
      </p:sp>
      <p:sp>
        <p:nvSpPr>
          <p:cNvPr id="188" name="ANUARIO_REFERENCIA_2024_P2_L030"/>
          <p:cNvSpPr txBox="1"/>
          <p:nvPr/>
        </p:nvSpPr>
        <p:spPr>
          <a:xfrm>
            <a:off x="3580534" y="2099506"/>
            <a:ext cx="17116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21</a:t>
            </a:r>
          </a:p>
        </p:txBody>
      </p:sp>
      <p:sp>
        <p:nvSpPr>
          <p:cNvPr id="189" name="ANUARIO_REFERENCIA_2024_P2_L031"/>
          <p:cNvSpPr txBox="1"/>
          <p:nvPr/>
        </p:nvSpPr>
        <p:spPr>
          <a:xfrm>
            <a:off x="749833" y="2175031"/>
            <a:ext cx="195834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FIJOS DE TELECOMUNICACIONES EN LOS HOGARES</a:t>
            </a:r>
          </a:p>
        </p:txBody>
      </p:sp>
      <p:sp>
        <p:nvSpPr>
          <p:cNvPr id="190" name="ANUARIO_REFERENCIA_2024_P2_L032"/>
          <p:cNvSpPr txBox="1"/>
          <p:nvPr/>
        </p:nvSpPr>
        <p:spPr>
          <a:xfrm>
            <a:off x="3589068" y="2175031"/>
            <a:ext cx="16262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21</a:t>
            </a:r>
          </a:p>
        </p:txBody>
      </p:sp>
      <p:sp>
        <p:nvSpPr>
          <p:cNvPr id="191" name="ANUARIO_REFERENCIA_2024_P2_L033"/>
          <p:cNvSpPr txBox="1"/>
          <p:nvPr/>
        </p:nvSpPr>
        <p:spPr>
          <a:xfrm>
            <a:off x="749812" y="2237184"/>
            <a:ext cx="98505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TELEFONÍA </a:t>
            </a:r>
          </a:p>
        </p:txBody>
      </p:sp>
      <p:sp>
        <p:nvSpPr>
          <p:cNvPr id="192" name="ANUARIO_REFERENCIA_2024_P2_L034"/>
          <p:cNvSpPr txBox="1"/>
          <p:nvPr/>
        </p:nvSpPr>
        <p:spPr>
          <a:xfrm>
            <a:off x="3580735" y="2237184"/>
            <a:ext cx="170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24</a:t>
            </a:r>
          </a:p>
        </p:txBody>
      </p:sp>
      <p:sp>
        <p:nvSpPr>
          <p:cNvPr id="193" name="ANUARIO_REFERENCIA_2024_P2_L035"/>
          <p:cNvSpPr txBox="1"/>
          <p:nvPr/>
        </p:nvSpPr>
        <p:spPr>
          <a:xfrm>
            <a:off x="749811" y="2299336"/>
            <a:ext cx="127153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ACCESO A INTERNET </a:t>
            </a:r>
          </a:p>
        </p:txBody>
      </p:sp>
      <p:sp>
        <p:nvSpPr>
          <p:cNvPr id="194" name="ANUARIO_REFERENCIA_2024_P2_L036"/>
          <p:cNvSpPr txBox="1"/>
          <p:nvPr/>
        </p:nvSpPr>
        <p:spPr>
          <a:xfrm>
            <a:off x="3590478" y="2299336"/>
            <a:ext cx="16122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31</a:t>
            </a:r>
          </a:p>
        </p:txBody>
      </p:sp>
      <p:sp>
        <p:nvSpPr>
          <p:cNvPr id="195" name="ANUARIO_REFERENCIA_2024_P2_L037"/>
          <p:cNvSpPr txBox="1"/>
          <p:nvPr/>
        </p:nvSpPr>
        <p:spPr>
          <a:xfrm>
            <a:off x="749813" y="2361489"/>
            <a:ext cx="12734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DE TELEVISIÓN RESTRINGIDA </a:t>
            </a:r>
          </a:p>
        </p:txBody>
      </p:sp>
      <p:sp>
        <p:nvSpPr>
          <p:cNvPr id="196" name="ANUARIO_REFERENCIA_2024_P2_L038"/>
          <p:cNvSpPr txBox="1"/>
          <p:nvPr/>
        </p:nvSpPr>
        <p:spPr>
          <a:xfrm>
            <a:off x="3577304" y="2361489"/>
            <a:ext cx="1743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39</a:t>
            </a:r>
          </a:p>
        </p:txBody>
      </p:sp>
      <p:sp>
        <p:nvSpPr>
          <p:cNvPr id="197" name="ANUARIO_REFERENCIA_2024_P2_L039"/>
          <p:cNvSpPr txBox="1"/>
          <p:nvPr/>
        </p:nvSpPr>
        <p:spPr>
          <a:xfrm>
            <a:off x="627304" y="2433355"/>
            <a:ext cx="17621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C. SERVICIOS MÓVILES DE TELECOMUNICACIONES</a:t>
            </a:r>
          </a:p>
        </p:txBody>
      </p:sp>
      <p:sp>
        <p:nvSpPr>
          <p:cNvPr id="198" name="ANUARIO_REFERENCIA_2024_P2_L040"/>
          <p:cNvSpPr txBox="1"/>
          <p:nvPr/>
        </p:nvSpPr>
        <p:spPr>
          <a:xfrm>
            <a:off x="3564292" y="2433355"/>
            <a:ext cx="18740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46</a:t>
            </a:r>
          </a:p>
        </p:txBody>
      </p:sp>
      <p:sp>
        <p:nvSpPr>
          <p:cNvPr id="199" name="ANUARIO_REFERENCIA_2024_P2_L041"/>
          <p:cNvSpPr txBox="1"/>
          <p:nvPr/>
        </p:nvSpPr>
        <p:spPr>
          <a:xfrm>
            <a:off x="749833" y="2508879"/>
            <a:ext cx="24080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BANDA DE FRECUENCIA</a:t>
            </a:r>
          </a:p>
        </p:txBody>
      </p:sp>
      <p:sp>
        <p:nvSpPr>
          <p:cNvPr id="200" name="ANUARIO_REFERENCIA_2024_P2_L042"/>
          <p:cNvSpPr txBox="1"/>
          <p:nvPr/>
        </p:nvSpPr>
        <p:spPr>
          <a:xfrm>
            <a:off x="3575223" y="2508879"/>
            <a:ext cx="1764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46</a:t>
            </a:r>
          </a:p>
        </p:txBody>
      </p:sp>
      <p:sp>
        <p:nvSpPr>
          <p:cNvPr id="201" name="ANUARIO_REFERENCIA_2024_P2_L043"/>
          <p:cNvSpPr txBox="1"/>
          <p:nvPr/>
        </p:nvSpPr>
        <p:spPr>
          <a:xfrm>
            <a:off x="749813" y="2571032"/>
            <a:ext cx="206299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OPERADOR </a:t>
            </a:r>
          </a:p>
        </p:txBody>
      </p:sp>
      <p:sp>
        <p:nvSpPr>
          <p:cNvPr id="202" name="ANUARIO_REFERENCIA_2024_P2_L044"/>
          <p:cNvSpPr txBox="1"/>
          <p:nvPr/>
        </p:nvSpPr>
        <p:spPr>
          <a:xfrm>
            <a:off x="3582575" y="2571032"/>
            <a:ext cx="16912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47</a:t>
            </a:r>
          </a:p>
        </p:txBody>
      </p:sp>
      <p:sp>
        <p:nvSpPr>
          <p:cNvPr id="203" name="ANUARIO_REFERENCIA_2024_P2_L045"/>
          <p:cNvSpPr txBox="1"/>
          <p:nvPr/>
        </p:nvSpPr>
        <p:spPr>
          <a:xfrm>
            <a:off x="749813" y="2633185"/>
            <a:ext cx="252932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MÓVILES DE TELECOMUNICACIONES POR LA POBLACIÓN </a:t>
            </a:r>
          </a:p>
        </p:txBody>
      </p:sp>
      <p:sp>
        <p:nvSpPr>
          <p:cNvPr id="204" name="ANUARIO_REFERENCIA_2024_P2_L046"/>
          <p:cNvSpPr txBox="1"/>
          <p:nvPr/>
        </p:nvSpPr>
        <p:spPr>
          <a:xfrm>
            <a:off x="3576081" y="2633185"/>
            <a:ext cx="17561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48</a:t>
            </a:r>
          </a:p>
        </p:txBody>
      </p:sp>
      <p:sp>
        <p:nvSpPr>
          <p:cNvPr id="205" name="ANUARIO_REFERENCIA_2024_P2_L047"/>
          <p:cNvSpPr txBox="1"/>
          <p:nvPr/>
        </p:nvSpPr>
        <p:spPr>
          <a:xfrm>
            <a:off x="749813" y="2695337"/>
            <a:ext cx="10627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TELEFONÍA </a:t>
            </a:r>
          </a:p>
        </p:txBody>
      </p:sp>
      <p:sp>
        <p:nvSpPr>
          <p:cNvPr id="206" name="ANUARIO_REFERENCIA_2024_P2_L048"/>
          <p:cNvSpPr txBox="1"/>
          <p:nvPr/>
        </p:nvSpPr>
        <p:spPr>
          <a:xfrm>
            <a:off x="3575651" y="2695337"/>
            <a:ext cx="17604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49</a:t>
            </a:r>
          </a:p>
        </p:txBody>
      </p:sp>
      <p:sp>
        <p:nvSpPr>
          <p:cNvPr id="207" name="ANUARIO_REFERENCIA_2024_P2_L049"/>
          <p:cNvSpPr txBox="1"/>
          <p:nvPr/>
        </p:nvSpPr>
        <p:spPr>
          <a:xfrm>
            <a:off x="749812" y="2757490"/>
            <a:ext cx="134921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ACCESO A INTERNET </a:t>
            </a:r>
          </a:p>
        </p:txBody>
      </p:sp>
      <p:sp>
        <p:nvSpPr>
          <p:cNvPr id="208" name="ANUARIO_REFERENCIA_2024_P2_L050"/>
          <p:cNvSpPr txBox="1"/>
          <p:nvPr/>
        </p:nvSpPr>
        <p:spPr>
          <a:xfrm>
            <a:off x="3578469" y="2757490"/>
            <a:ext cx="17322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55</a:t>
            </a:r>
          </a:p>
        </p:txBody>
      </p:sp>
      <p:sp>
        <p:nvSpPr>
          <p:cNvPr id="209" name="ANUARIO_REFERENCIA_2024_P2_L051"/>
          <p:cNvSpPr txBox="1"/>
          <p:nvPr/>
        </p:nvSpPr>
        <p:spPr>
          <a:xfrm>
            <a:off x="627304" y="2829356"/>
            <a:ext cx="21932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D. TECNOLOGÍAS DE LA INFORMACIÓN Y COMUNICACIÓN (TIC)</a:t>
            </a:r>
          </a:p>
        </p:txBody>
      </p:sp>
      <p:sp>
        <p:nvSpPr>
          <p:cNvPr id="210" name="ANUARIO_REFERENCIA_2024_P2_L052"/>
          <p:cNvSpPr txBox="1"/>
          <p:nvPr/>
        </p:nvSpPr>
        <p:spPr>
          <a:xfrm>
            <a:off x="3577702" y="2829356"/>
            <a:ext cx="1739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61</a:t>
            </a:r>
          </a:p>
        </p:txBody>
      </p:sp>
      <p:sp>
        <p:nvSpPr>
          <p:cNvPr id="211" name="ANUARIO_REFERENCIA_2024_P2_L053"/>
          <p:cNvSpPr txBox="1"/>
          <p:nvPr/>
        </p:nvSpPr>
        <p:spPr>
          <a:xfrm>
            <a:off x="749833" y="2904881"/>
            <a:ext cx="265540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DISPONIBILIDAD DE LAS TECNOLOGÍAS DE LA INFORMACIÓN Y COMUNICACIÓN (TIC)</a:t>
            </a:r>
          </a:p>
        </p:txBody>
      </p:sp>
      <p:sp>
        <p:nvSpPr>
          <p:cNvPr id="212" name="ANUARIO_REFERENCIA_2024_P2_L054"/>
          <p:cNvSpPr txBox="1"/>
          <p:nvPr/>
        </p:nvSpPr>
        <p:spPr>
          <a:xfrm>
            <a:off x="749833" y="2958154"/>
            <a:ext cx="6478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a:t>
            </a:r>
          </a:p>
        </p:txBody>
      </p:sp>
      <p:sp>
        <p:nvSpPr>
          <p:cNvPr id="213" name="ANUARIO_REFERENCIA_2024_P2_L055"/>
          <p:cNvSpPr txBox="1"/>
          <p:nvPr/>
        </p:nvSpPr>
        <p:spPr>
          <a:xfrm>
            <a:off x="3587291" y="2958154"/>
            <a:ext cx="16440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61</a:t>
            </a:r>
          </a:p>
        </p:txBody>
      </p:sp>
      <p:sp>
        <p:nvSpPr>
          <p:cNvPr id="214" name="ANUARIO_REFERENCIA_2024_P2_L056"/>
          <p:cNvSpPr txBox="1"/>
          <p:nvPr/>
        </p:nvSpPr>
        <p:spPr>
          <a:xfrm>
            <a:off x="749812" y="3020085"/>
            <a:ext cx="184508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a:t>
            </a:r>
            <a:r>
              <a:rPr sz="500" b="1" i="1">
                <a:solidFill>
                  <a:srgbClr val="EFF3EF"/>
                </a:solidFill>
                <a:latin typeface="Noto Sans"/>
              </a:rPr>
              <a:t>SMARTPHONE</a:t>
            </a:r>
            <a:r>
              <a:rPr sz="500" b="1" i="0">
                <a:solidFill>
                  <a:srgbClr val="EFF3EF"/>
                </a:solidFill>
                <a:latin typeface="Noto Sans"/>
              </a:rPr>
              <a:t> E INTERNET POR GRUPOS DE EDAD </a:t>
            </a:r>
          </a:p>
        </p:txBody>
      </p:sp>
      <p:sp>
        <p:nvSpPr>
          <p:cNvPr id="215" name="ANUARIO_REFERENCIA_2024_P2_L057"/>
          <p:cNvSpPr txBox="1"/>
          <p:nvPr/>
        </p:nvSpPr>
        <p:spPr>
          <a:xfrm>
            <a:off x="3578224" y="3020307"/>
            <a:ext cx="17347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62</a:t>
            </a:r>
          </a:p>
        </p:txBody>
      </p:sp>
      <p:sp>
        <p:nvSpPr>
          <p:cNvPr id="216" name="ANUARIO_REFERENCIA_2024_P2_L058"/>
          <p:cNvSpPr txBox="1"/>
          <p:nvPr/>
        </p:nvSpPr>
        <p:spPr>
          <a:xfrm>
            <a:off x="749812" y="3082460"/>
            <a:ext cx="25203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PORCENTAJE DE HORAS PROMEDIO DE USO DE INTERNET POR GRUPOS DE EDAD </a:t>
            </a:r>
          </a:p>
        </p:txBody>
      </p:sp>
      <p:sp>
        <p:nvSpPr>
          <p:cNvPr id="217" name="ANUARIO_REFERENCIA_2024_P2_L059"/>
          <p:cNvSpPr txBox="1"/>
          <p:nvPr/>
        </p:nvSpPr>
        <p:spPr>
          <a:xfrm>
            <a:off x="3577734" y="3082460"/>
            <a:ext cx="1739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63</a:t>
            </a:r>
          </a:p>
        </p:txBody>
      </p:sp>
      <p:sp>
        <p:nvSpPr>
          <p:cNvPr id="218" name="ANUARIO_REFERENCIA_2024_P2_L060"/>
          <p:cNvSpPr txBox="1"/>
          <p:nvPr/>
        </p:nvSpPr>
        <p:spPr>
          <a:xfrm>
            <a:off x="749812" y="3144612"/>
            <a:ext cx="20422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DISPOSITIVOS INTELIGENTES CONECTADOS A INTERNET </a:t>
            </a:r>
          </a:p>
        </p:txBody>
      </p:sp>
      <p:sp>
        <p:nvSpPr>
          <p:cNvPr id="219" name="ANUARIO_REFERENCIA_2024_P2_L061"/>
          <p:cNvSpPr txBox="1"/>
          <p:nvPr/>
        </p:nvSpPr>
        <p:spPr>
          <a:xfrm>
            <a:off x="3574610" y="3144612"/>
            <a:ext cx="1770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64</a:t>
            </a:r>
          </a:p>
        </p:txBody>
      </p:sp>
      <p:sp>
        <p:nvSpPr>
          <p:cNvPr id="220" name="ANUARIO_REFERENCIA_2024_P2_L062"/>
          <p:cNvSpPr txBox="1"/>
          <p:nvPr/>
        </p:nvSpPr>
        <p:spPr>
          <a:xfrm>
            <a:off x="749813" y="3206765"/>
            <a:ext cx="2538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EFECTOS DE LA DESCONFIANZA EN INTERNET SOBRE LAS ACTIVIDADES EN LÍNEA 
</a:t>
            </a:r>
          </a:p>
        </p:txBody>
      </p:sp>
      <p:sp>
        <p:nvSpPr>
          <p:cNvPr id="221" name="ANUARIO_REFERENCIA_2024_P2_L063"/>
          <p:cNvSpPr txBox="1"/>
          <p:nvPr/>
        </p:nvSpPr>
        <p:spPr>
          <a:xfrm>
            <a:off x="749813" y="3260039"/>
            <a:ext cx="6578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LOS USUARIOS </a:t>
            </a:r>
          </a:p>
        </p:txBody>
      </p:sp>
      <p:sp>
        <p:nvSpPr>
          <p:cNvPr id="222" name="ANUARIO_REFERENCIA_2024_P2_L064"/>
          <p:cNvSpPr txBox="1"/>
          <p:nvPr/>
        </p:nvSpPr>
        <p:spPr>
          <a:xfrm>
            <a:off x="3576141" y="3260039"/>
            <a:ext cx="1755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65</a:t>
            </a:r>
          </a:p>
        </p:txBody>
      </p:sp>
      <p:sp>
        <p:nvSpPr>
          <p:cNvPr id="223" name="ANUARIO_REFERENCIA_2024_P2_L065"/>
          <p:cNvSpPr txBox="1"/>
          <p:nvPr/>
        </p:nvSpPr>
        <p:spPr>
          <a:xfrm>
            <a:off x="749812" y="3322192"/>
            <a:ext cx="26019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O GRADO DE CONFIANZA QUE TIENEN LAS PERSONAS AL HACER USO 
</a:t>
            </a:r>
          </a:p>
        </p:txBody>
      </p:sp>
      <p:sp>
        <p:nvSpPr>
          <p:cNvPr id="224" name="ANUARIO_REFERENCIA_2024_P2_L066"/>
          <p:cNvSpPr txBox="1"/>
          <p:nvPr/>
        </p:nvSpPr>
        <p:spPr>
          <a:xfrm>
            <a:off x="749812" y="3375465"/>
            <a:ext cx="55663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DEL INTERNET. </a:t>
            </a:r>
          </a:p>
        </p:txBody>
      </p:sp>
      <p:sp>
        <p:nvSpPr>
          <p:cNvPr id="225" name="ANUARIO_REFERENCIA_2024_P2_L067"/>
          <p:cNvSpPr txBox="1"/>
          <p:nvPr/>
        </p:nvSpPr>
        <p:spPr>
          <a:xfrm>
            <a:off x="3574425" y="3375465"/>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68</a:t>
            </a:r>
          </a:p>
        </p:txBody>
      </p:sp>
      <p:sp>
        <p:nvSpPr>
          <p:cNvPr id="226" name="ANUARIO_REFERENCIA_2024_P2_L068"/>
          <p:cNvSpPr txBox="1"/>
          <p:nvPr/>
        </p:nvSpPr>
        <p:spPr>
          <a:xfrm>
            <a:off x="749812" y="3437618"/>
            <a:ext cx="25584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SEGÚN NIVEL DE SEGURIDAD QUE TIENEN LAS PERSONAS USUARIAS 
</a:t>
            </a:r>
          </a:p>
        </p:txBody>
      </p:sp>
      <p:sp>
        <p:nvSpPr>
          <p:cNvPr id="227" name="ANUARIO_REFERENCIA_2024_P2_L069"/>
          <p:cNvSpPr txBox="1"/>
          <p:nvPr/>
        </p:nvSpPr>
        <p:spPr>
          <a:xfrm>
            <a:off x="749812" y="3490892"/>
            <a:ext cx="211715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INTERNET AL REALIZAR DIFERENTES ACTIVIDADES EN INTERNET </a:t>
            </a:r>
          </a:p>
        </p:txBody>
      </p:sp>
      <p:sp>
        <p:nvSpPr>
          <p:cNvPr id="228" name="ANUARIO_REFERENCIA_2024_P2_L070"/>
          <p:cNvSpPr txBox="1"/>
          <p:nvPr/>
        </p:nvSpPr>
        <p:spPr>
          <a:xfrm>
            <a:off x="3574915" y="3490892"/>
            <a:ext cx="176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69</a:t>
            </a:r>
          </a:p>
        </p:txBody>
      </p:sp>
      <p:sp>
        <p:nvSpPr>
          <p:cNvPr id="229" name="ANUARIO_REFERENCIA_2024_P2_L071"/>
          <p:cNvSpPr txBox="1"/>
          <p:nvPr/>
        </p:nvSpPr>
        <p:spPr>
          <a:xfrm>
            <a:off x="749812" y="3553044"/>
            <a:ext cx="282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POBLACIÓN USUARIA DE INTERNET SEGÚN NIVEL DE SEGURIDAD QUE CONSIDERAN, TIENE </a:t>
            </a:r>
          </a:p>
        </p:txBody>
      </p:sp>
      <p:sp>
        <p:nvSpPr>
          <p:cNvPr id="230" name="ANUARIO_REFERENCIA_2024_P2_L072"/>
          <p:cNvSpPr txBox="1"/>
          <p:nvPr/>
        </p:nvSpPr>
        <p:spPr>
          <a:xfrm>
            <a:off x="749812" y="3606318"/>
            <a:ext cx="198880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REALIZAR DIFERENTES ACTIVIDADES EN INTERNET (POR SEXO). </a:t>
            </a:r>
          </a:p>
        </p:txBody>
      </p:sp>
      <p:sp>
        <p:nvSpPr>
          <p:cNvPr id="231" name="ANUARIO_REFERENCIA_2024_P2_L073"/>
          <p:cNvSpPr txBox="1"/>
          <p:nvPr/>
        </p:nvSpPr>
        <p:spPr>
          <a:xfrm>
            <a:off x="3592807" y="3606318"/>
            <a:ext cx="1588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71</a:t>
            </a:r>
          </a:p>
        </p:txBody>
      </p:sp>
      <p:sp>
        <p:nvSpPr>
          <p:cNvPr id="232" name="ANUARIO_REFERENCIA_2024_P2_L074"/>
          <p:cNvSpPr txBox="1"/>
          <p:nvPr/>
        </p:nvSpPr>
        <p:spPr>
          <a:xfrm>
            <a:off x="627305" y="3678185"/>
            <a:ext cx="226802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E. PERSONAS USUARIAS DE SERVICIOS DE TELECOMUNICACIONES</a:t>
            </a:r>
          </a:p>
        </p:txBody>
      </p:sp>
      <p:sp>
        <p:nvSpPr>
          <p:cNvPr id="233" name="ANUARIO_REFERENCIA_2024_P2_L075"/>
          <p:cNvSpPr txBox="1"/>
          <p:nvPr/>
        </p:nvSpPr>
        <p:spPr>
          <a:xfrm>
            <a:off x="3574808" y="3678185"/>
            <a:ext cx="17689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72</a:t>
            </a:r>
          </a:p>
        </p:txBody>
      </p:sp>
      <p:sp>
        <p:nvSpPr>
          <p:cNvPr id="234" name="ANUARIO_REFERENCIA_2024_P2_L076"/>
          <p:cNvSpPr txBox="1"/>
          <p:nvPr/>
        </p:nvSpPr>
        <p:spPr>
          <a:xfrm>
            <a:off x="749835" y="3753709"/>
            <a:ext cx="25067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a:t>
            </a:r>
          </a:p>
        </p:txBody>
      </p:sp>
      <p:sp>
        <p:nvSpPr>
          <p:cNvPr id="235" name="ANUARIO_REFERENCIA_2024_P2_L077"/>
          <p:cNvSpPr txBox="1"/>
          <p:nvPr/>
        </p:nvSpPr>
        <p:spPr>
          <a:xfrm>
            <a:off x="749835" y="3806983"/>
            <a:ext cx="8562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PERSONAS USUARIAS </a:t>
            </a:r>
          </a:p>
        </p:txBody>
      </p:sp>
      <p:sp>
        <p:nvSpPr>
          <p:cNvPr id="236" name="ANUARIO_REFERENCIA_2024_P2_L078"/>
          <p:cNvSpPr txBox="1"/>
          <p:nvPr/>
        </p:nvSpPr>
        <p:spPr>
          <a:xfrm>
            <a:off x="3583923" y="3806983"/>
            <a:ext cx="1677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72</a:t>
            </a:r>
          </a:p>
        </p:txBody>
      </p:sp>
      <p:sp>
        <p:nvSpPr>
          <p:cNvPr id="237" name="ANUARIO_REFERENCIA_2024_P2_L079"/>
          <p:cNvSpPr txBox="1"/>
          <p:nvPr/>
        </p:nvSpPr>
        <p:spPr>
          <a:xfrm>
            <a:off x="749813" y="3869135"/>
            <a:ext cx="268180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CONOCIMIENTO Y PERCEPCIÓN DE LA INTELIGENCIA ARTIFICIAL (IA) Y CHAT GPT </a:t>
            </a:r>
          </a:p>
        </p:txBody>
      </p:sp>
      <p:sp>
        <p:nvSpPr>
          <p:cNvPr id="238" name="ANUARIO_REFERENCIA_2024_P2_L080"/>
          <p:cNvSpPr txBox="1"/>
          <p:nvPr/>
        </p:nvSpPr>
        <p:spPr>
          <a:xfrm>
            <a:off x="3582515" y="3869135"/>
            <a:ext cx="1691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73</a:t>
            </a:r>
          </a:p>
        </p:txBody>
      </p:sp>
      <p:sp>
        <p:nvSpPr>
          <p:cNvPr id="239" name="ANUARIO_REFERENCIA_2024_P2_L081"/>
          <p:cNvSpPr txBox="1"/>
          <p:nvPr/>
        </p:nvSpPr>
        <p:spPr>
          <a:xfrm>
            <a:off x="749814" y="3931288"/>
            <a:ext cx="253496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 
</a:t>
            </a:r>
          </a:p>
        </p:txBody>
      </p:sp>
      <p:sp>
        <p:nvSpPr>
          <p:cNvPr id="240" name="ANUARIO_REFERENCIA_2024_P2_L082"/>
          <p:cNvSpPr txBox="1"/>
          <p:nvPr/>
        </p:nvSpPr>
        <p:spPr>
          <a:xfrm>
            <a:off x="749814" y="3984562"/>
            <a:ext cx="5334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EMPRESAS </a:t>
            </a:r>
          </a:p>
        </p:txBody>
      </p:sp>
      <p:sp>
        <p:nvSpPr>
          <p:cNvPr id="241" name="ANUARIO_REFERENCIA_2024_P2_L083"/>
          <p:cNvSpPr txBox="1"/>
          <p:nvPr/>
        </p:nvSpPr>
        <p:spPr>
          <a:xfrm>
            <a:off x="3585454" y="3984562"/>
            <a:ext cx="16624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74</a:t>
            </a:r>
          </a:p>
        </p:txBody>
      </p:sp>
      <p:sp>
        <p:nvSpPr>
          <p:cNvPr id="242" name="ANUARIO_REFERENCIA_2024_P2_L084"/>
          <p:cNvSpPr txBox="1"/>
          <p:nvPr/>
        </p:nvSpPr>
        <p:spPr>
          <a:xfrm>
            <a:off x="749813" y="4046714"/>
            <a:ext cx="248523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CONTRATADOS POR LAS MICRO, PEQUEÑAS Y MEDIANAS EMPRESAS </a:t>
            </a:r>
          </a:p>
        </p:txBody>
      </p:sp>
      <p:sp>
        <p:nvSpPr>
          <p:cNvPr id="243" name="ANUARIO_REFERENCIA_2024_P2_L085"/>
          <p:cNvSpPr txBox="1"/>
          <p:nvPr/>
        </p:nvSpPr>
        <p:spPr>
          <a:xfrm>
            <a:off x="3582024" y="4046714"/>
            <a:ext cx="1696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75</a:t>
            </a:r>
          </a:p>
        </p:txBody>
      </p:sp>
      <p:sp>
        <p:nvSpPr>
          <p:cNvPr id="244" name="ANUARIO_REFERENCIA_2024_P2_L086"/>
          <p:cNvSpPr txBox="1"/>
          <p:nvPr/>
        </p:nvSpPr>
        <p:spPr>
          <a:xfrm>
            <a:off x="749813" y="4108867"/>
            <a:ext cx="25395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DE TELECOMUNICACIONES PARA REALIZAR ACTIVIDADES 
</a:t>
            </a:r>
          </a:p>
        </p:txBody>
      </p:sp>
      <p:sp>
        <p:nvSpPr>
          <p:cNvPr id="245" name="ANUARIO_REFERENCIA_2024_P2_L087"/>
          <p:cNvSpPr txBox="1"/>
          <p:nvPr/>
        </p:nvSpPr>
        <p:spPr>
          <a:xfrm>
            <a:off x="749813" y="4162141"/>
            <a:ext cx="12440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IMPORTACIÓN Y/O EXPORTACIÓN. </a:t>
            </a:r>
          </a:p>
        </p:txBody>
      </p:sp>
      <p:sp>
        <p:nvSpPr>
          <p:cNvPr id="246" name="ANUARIO_REFERENCIA_2024_P2_L088"/>
          <p:cNvSpPr txBox="1"/>
          <p:nvPr/>
        </p:nvSpPr>
        <p:spPr>
          <a:xfrm>
            <a:off x="3571118" y="4162141"/>
            <a:ext cx="1805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80</a:t>
            </a:r>
          </a:p>
        </p:txBody>
      </p:sp>
      <p:sp>
        <p:nvSpPr>
          <p:cNvPr id="247" name="ANUARIO_REFERENCIA_2024_P2_L089"/>
          <p:cNvSpPr txBox="1"/>
          <p:nvPr/>
        </p:nvSpPr>
        <p:spPr>
          <a:xfrm>
            <a:off x="4716788" y="1167216"/>
            <a:ext cx="166400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F. INDICADORES CON PERSPECTIVA DE GÉNERO</a:t>
            </a:r>
          </a:p>
        </p:txBody>
      </p:sp>
      <p:sp>
        <p:nvSpPr>
          <p:cNvPr id="248" name="ANUARIO_REFERENCIA_2024_P2_L090"/>
          <p:cNvSpPr txBox="1"/>
          <p:nvPr/>
        </p:nvSpPr>
        <p:spPr>
          <a:xfrm>
            <a:off x="7668131" y="1167216"/>
            <a:ext cx="1730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81</a:t>
            </a:r>
          </a:p>
        </p:txBody>
      </p:sp>
      <p:sp>
        <p:nvSpPr>
          <p:cNvPr id="249" name="ANUARIO_REFERENCIA_2024_P2_L091"/>
          <p:cNvSpPr txBox="1"/>
          <p:nvPr/>
        </p:nvSpPr>
        <p:spPr>
          <a:xfrm>
            <a:off x="4839318" y="1242740"/>
            <a:ext cx="17166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EN EL TELÉFONO CELULAR INTELIGENTE</a:t>
            </a:r>
          </a:p>
        </p:txBody>
      </p:sp>
      <p:sp>
        <p:nvSpPr>
          <p:cNvPr id="250" name="ANUARIO_REFERENCIA_2024_P2_L092"/>
          <p:cNvSpPr txBox="1"/>
          <p:nvPr/>
        </p:nvSpPr>
        <p:spPr>
          <a:xfrm>
            <a:off x="7677206" y="1242740"/>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1" name="ANUARIO_REFERENCIA_2024_P2_L093"/>
          <p:cNvSpPr txBox="1"/>
          <p:nvPr/>
        </p:nvSpPr>
        <p:spPr>
          <a:xfrm>
            <a:off x="4839298" y="1304893"/>
            <a:ext cx="132298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REALIZADAS EN INTERNET </a:t>
            </a:r>
          </a:p>
        </p:txBody>
      </p:sp>
      <p:sp>
        <p:nvSpPr>
          <p:cNvPr id="252" name="ANUARIO_REFERENCIA_2024_P2_L094"/>
          <p:cNvSpPr txBox="1"/>
          <p:nvPr/>
        </p:nvSpPr>
        <p:spPr>
          <a:xfrm>
            <a:off x="7677207" y="1304893"/>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3" name="ANUARIO_REFERENCIA_2024_P2_L095"/>
          <p:cNvSpPr txBox="1"/>
          <p:nvPr/>
        </p:nvSpPr>
        <p:spPr>
          <a:xfrm>
            <a:off x="4839299" y="1367046"/>
            <a:ext cx="221671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PERSONAS EMPLEADAS EN TELECOMUNICACIONES Y RADIODIFUSIÓN </a:t>
            </a:r>
          </a:p>
        </p:txBody>
      </p:sp>
      <p:sp>
        <p:nvSpPr>
          <p:cNvPr id="254" name="ANUARIO_REFERENCIA_2024_P2_L096"/>
          <p:cNvSpPr txBox="1"/>
          <p:nvPr/>
        </p:nvSpPr>
        <p:spPr>
          <a:xfrm>
            <a:off x="7663912" y="1367046"/>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86</a:t>
            </a:r>
          </a:p>
        </p:txBody>
      </p:sp>
      <p:sp>
        <p:nvSpPr>
          <p:cNvPr id="255" name="ANUARIO_REFERENCIA_2024_P2_L097"/>
          <p:cNvSpPr txBox="1"/>
          <p:nvPr/>
        </p:nvSpPr>
        <p:spPr>
          <a:xfrm>
            <a:off x="4839298" y="1429198"/>
            <a:ext cx="5181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CIBERACOSO </a:t>
            </a:r>
          </a:p>
        </p:txBody>
      </p:sp>
      <p:sp>
        <p:nvSpPr>
          <p:cNvPr id="256" name="ANUARIO_REFERENCIA_2024_P2_L098"/>
          <p:cNvSpPr txBox="1"/>
          <p:nvPr/>
        </p:nvSpPr>
        <p:spPr>
          <a:xfrm>
            <a:off x="7670958" y="1429198"/>
            <a:ext cx="1702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87</a:t>
            </a:r>
          </a:p>
        </p:txBody>
      </p:sp>
      <p:sp>
        <p:nvSpPr>
          <p:cNvPr id="257" name="ANUARIO_REFERENCIA_2024_P2_L099"/>
          <p:cNvSpPr txBox="1"/>
          <p:nvPr/>
        </p:nvSpPr>
        <p:spPr>
          <a:xfrm>
            <a:off x="4839298" y="1491351"/>
            <a:ext cx="22631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MEDIDAS DE PROTECCIÓN QUE TOMAN LAS PERSONAS USUARIAS ANTE 
</a:t>
            </a:r>
          </a:p>
        </p:txBody>
      </p:sp>
      <p:sp>
        <p:nvSpPr>
          <p:cNvPr id="258" name="ANUARIO_REFERENCIA_2024_P2_L100"/>
          <p:cNvSpPr txBox="1"/>
          <p:nvPr/>
        </p:nvSpPr>
        <p:spPr>
          <a:xfrm>
            <a:off x="4839298" y="1544625"/>
            <a:ext cx="8164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t>
            </a:r>
          </a:p>
        </p:txBody>
      </p:sp>
      <p:sp>
        <p:nvSpPr>
          <p:cNvPr id="259" name="ANUARIO_REFERENCIA_2024_P2_L101"/>
          <p:cNvSpPr txBox="1"/>
          <p:nvPr/>
        </p:nvSpPr>
        <p:spPr>
          <a:xfrm>
            <a:off x="7664156" y="1544625"/>
            <a:ext cx="1770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98</a:t>
            </a:r>
          </a:p>
        </p:txBody>
      </p:sp>
      <p:sp>
        <p:nvSpPr>
          <p:cNvPr id="260" name="ANUARIO_REFERENCIA_2024_P2_L102"/>
          <p:cNvSpPr txBox="1"/>
          <p:nvPr/>
        </p:nvSpPr>
        <p:spPr>
          <a:xfrm>
            <a:off x="4839297" y="1606778"/>
            <a:ext cx="26786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REALIZADAS POR LAS PERSONAS USUARIAS PARA PROTEGERSE O PREVENIR </a:t>
            </a:r>
          </a:p>
        </p:txBody>
      </p:sp>
      <p:sp>
        <p:nvSpPr>
          <p:cNvPr id="261" name="ANUARIO_REFERENCIA_2024_P2_L103"/>
          <p:cNvSpPr txBox="1"/>
          <p:nvPr/>
        </p:nvSpPr>
        <p:spPr>
          <a:xfrm>
            <a:off x="4839319" y="1660051"/>
            <a:ext cx="18764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 TRAVÉS DE INTERNET (POR SEXO). </a:t>
            </a:r>
          </a:p>
        </p:txBody>
      </p:sp>
      <p:sp>
        <p:nvSpPr>
          <p:cNvPr id="262" name="ANUARIO_REFERENCIA_2024_P2_L104"/>
          <p:cNvSpPr txBox="1"/>
          <p:nvPr/>
        </p:nvSpPr>
        <p:spPr>
          <a:xfrm>
            <a:off x="7662502" y="1660051"/>
            <a:ext cx="1786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99</a:t>
            </a:r>
          </a:p>
        </p:txBody>
      </p:sp>
      <p:sp>
        <p:nvSpPr>
          <p:cNvPr id="263" name="ANUARIO_REFERENCIA_2024_P2_L105"/>
          <p:cNvSpPr txBox="1"/>
          <p:nvPr/>
        </p:nvSpPr>
        <p:spPr>
          <a:xfrm>
            <a:off x="4839297" y="1722204"/>
            <a:ext cx="26301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QUE REALIZARÍAN LAS PERSONAS USUARIAS EN CASO DE EXPERIMENTAR 
</a:t>
            </a:r>
          </a:p>
        </p:txBody>
      </p:sp>
      <p:sp>
        <p:nvSpPr>
          <p:cNvPr id="264" name="ANUARIO_REFERENCIA_2024_P2_L106"/>
          <p:cNvSpPr txBox="1"/>
          <p:nvPr/>
        </p:nvSpPr>
        <p:spPr>
          <a:xfrm>
            <a:off x="4839297" y="1775478"/>
            <a:ext cx="17854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VIOLENCIA DIGITAL A TRAVÉS DE INTERNET (POR SEXO). </a:t>
            </a:r>
          </a:p>
        </p:txBody>
      </p:sp>
      <p:sp>
        <p:nvSpPr>
          <p:cNvPr id="265" name="ANUARIO_REFERENCIA_2024_P2_L107"/>
          <p:cNvSpPr txBox="1"/>
          <p:nvPr/>
        </p:nvSpPr>
        <p:spPr>
          <a:xfrm>
            <a:off x="7633403" y="1775478"/>
            <a:ext cx="207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100</a:t>
            </a:r>
          </a:p>
        </p:txBody>
      </p:sp>
      <p:sp>
        <p:nvSpPr>
          <p:cNvPr id="266" name="ANUARIO_REFERENCIA_2024_P2_L108"/>
          <p:cNvSpPr txBox="1"/>
          <p:nvPr/>
        </p:nvSpPr>
        <p:spPr>
          <a:xfrm>
            <a:off x="4716790" y="1847344"/>
            <a:ext cx="1318349"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G. INDICADORES DE RADIODIFUSIÓN</a:t>
            </a:r>
          </a:p>
        </p:txBody>
      </p:sp>
      <p:sp>
        <p:nvSpPr>
          <p:cNvPr id="267" name="ANUARIO_REFERENCIA_2024_P2_L109"/>
          <p:cNvSpPr txBox="1"/>
          <p:nvPr/>
        </p:nvSpPr>
        <p:spPr>
          <a:xfrm>
            <a:off x="7637266" y="1847344"/>
            <a:ext cx="20391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101</a:t>
            </a:r>
          </a:p>
        </p:txBody>
      </p:sp>
      <p:sp>
        <p:nvSpPr>
          <p:cNvPr id="268" name="ANUARIO_REFERENCIA_2024_P2_L110"/>
          <p:cNvSpPr txBox="1"/>
          <p:nvPr/>
        </p:nvSpPr>
        <p:spPr>
          <a:xfrm>
            <a:off x="4716797" y="1932559"/>
            <a:ext cx="13494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 CONSUMO DE RADIO Y TELEVISIÓN</a:t>
            </a:r>
          </a:p>
        </p:txBody>
      </p:sp>
      <p:sp>
        <p:nvSpPr>
          <p:cNvPr id="269" name="ANUARIO_REFERENCIA_2024_P2_L111"/>
          <p:cNvSpPr txBox="1"/>
          <p:nvPr/>
        </p:nvSpPr>
        <p:spPr>
          <a:xfrm>
            <a:off x="7629314" y="1932582"/>
            <a:ext cx="21186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102</a:t>
            </a:r>
          </a:p>
        </p:txBody>
      </p:sp>
      <p:sp>
        <p:nvSpPr>
          <p:cNvPr id="270" name="ANUARIO_REFERENCIA_2024_P2_L112"/>
          <p:cNvSpPr txBox="1"/>
          <p:nvPr/>
        </p:nvSpPr>
        <p:spPr>
          <a:xfrm>
            <a:off x="4839319" y="2008106"/>
            <a:ext cx="231623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A NIVEL NACIONAL (28 CIUDADES)</a:t>
            </a:r>
          </a:p>
        </p:txBody>
      </p:sp>
      <p:sp>
        <p:nvSpPr>
          <p:cNvPr id="271" name="ANUARIO_REFERENCIA_2024_P2_L113"/>
          <p:cNvSpPr txBox="1"/>
          <p:nvPr/>
        </p:nvSpPr>
        <p:spPr>
          <a:xfrm>
            <a:off x="7642530" y="2008106"/>
            <a:ext cx="198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102</a:t>
            </a:r>
          </a:p>
        </p:txBody>
      </p:sp>
      <p:sp>
        <p:nvSpPr>
          <p:cNvPr id="272" name="ANUARIO_REFERENCIA_2024_P2_L114"/>
          <p:cNvSpPr txBox="1"/>
          <p:nvPr/>
        </p:nvSpPr>
        <p:spPr>
          <a:xfrm>
            <a:off x="4839298" y="2070259"/>
            <a:ext cx="27463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 NIVEL </a:t>
            </a:r>
          </a:p>
        </p:txBody>
      </p:sp>
      <p:sp>
        <p:nvSpPr>
          <p:cNvPr id="273" name="ANUARIO_REFERENCIA_2024_P2_L115"/>
          <p:cNvSpPr txBox="1"/>
          <p:nvPr/>
        </p:nvSpPr>
        <p:spPr>
          <a:xfrm>
            <a:off x="4839298" y="2123532"/>
            <a:ext cx="8988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NACIONAL (28 CIUDADES) </a:t>
            </a:r>
          </a:p>
        </p:txBody>
      </p:sp>
      <p:sp>
        <p:nvSpPr>
          <p:cNvPr id="274" name="ANUARIO_REFERENCIA_2024_P2_L116"/>
          <p:cNvSpPr txBox="1"/>
          <p:nvPr/>
        </p:nvSpPr>
        <p:spPr>
          <a:xfrm>
            <a:off x="7641305" y="2123532"/>
            <a:ext cx="1998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103</a:t>
            </a:r>
          </a:p>
        </p:txBody>
      </p:sp>
      <p:sp>
        <p:nvSpPr>
          <p:cNvPr id="275" name="ANUARIO_REFERENCIA_2024_P2_L117"/>
          <p:cNvSpPr txBox="1"/>
          <p:nvPr/>
        </p:nvSpPr>
        <p:spPr>
          <a:xfrm>
            <a:off x="4839298" y="2185685"/>
            <a:ext cx="20145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CIUDAD DE MÉXICO </a:t>
            </a:r>
          </a:p>
        </p:txBody>
      </p:sp>
      <p:sp>
        <p:nvSpPr>
          <p:cNvPr id="276" name="ANUARIO_REFERENCIA_2024_P2_L118"/>
          <p:cNvSpPr txBox="1"/>
          <p:nvPr/>
        </p:nvSpPr>
        <p:spPr>
          <a:xfrm>
            <a:off x="7639222" y="2185685"/>
            <a:ext cx="201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104</a:t>
            </a:r>
          </a:p>
        </p:txBody>
      </p:sp>
      <p:sp>
        <p:nvSpPr>
          <p:cNvPr id="277" name="ANUARIO_REFERENCIA_2024_P2_L119"/>
          <p:cNvSpPr txBox="1"/>
          <p:nvPr/>
        </p:nvSpPr>
        <p:spPr>
          <a:xfrm>
            <a:off x="4839298" y="2247838"/>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78" name="ANUARIO_REFERENCIA_2024_P2_L120"/>
          <p:cNvSpPr txBox="1"/>
          <p:nvPr/>
        </p:nvSpPr>
        <p:spPr>
          <a:xfrm>
            <a:off x="4839298" y="2301112"/>
            <a:ext cx="9078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LA CIUDAD DE MÉXICO </a:t>
            </a:r>
          </a:p>
        </p:txBody>
      </p:sp>
      <p:sp>
        <p:nvSpPr>
          <p:cNvPr id="279" name="ANUARIO_REFERENCIA_2024_P2_L121"/>
          <p:cNvSpPr txBox="1"/>
          <p:nvPr/>
        </p:nvSpPr>
        <p:spPr>
          <a:xfrm>
            <a:off x="7639406" y="2301112"/>
            <a:ext cx="201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105</a:t>
            </a:r>
          </a:p>
        </p:txBody>
      </p:sp>
      <p:sp>
        <p:nvSpPr>
          <p:cNvPr id="280" name="ANUARIO_REFERENCIA_2024_P2_L122"/>
          <p:cNvSpPr txBox="1"/>
          <p:nvPr/>
        </p:nvSpPr>
        <p:spPr>
          <a:xfrm>
            <a:off x="4839298" y="2363264"/>
            <a:ext cx="18581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GUADALAJARA </a:t>
            </a:r>
          </a:p>
        </p:txBody>
      </p:sp>
      <p:sp>
        <p:nvSpPr>
          <p:cNvPr id="281" name="ANUARIO_REFERENCIA_2024_P2_L123"/>
          <p:cNvSpPr txBox="1"/>
          <p:nvPr/>
        </p:nvSpPr>
        <p:spPr>
          <a:xfrm>
            <a:off x="7636587" y="2363264"/>
            <a:ext cx="2045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106</a:t>
            </a:r>
          </a:p>
        </p:txBody>
      </p:sp>
      <p:sp>
        <p:nvSpPr>
          <p:cNvPr id="282" name="ANUARIO_REFERENCIA_2024_P2_L124"/>
          <p:cNvSpPr txBox="1"/>
          <p:nvPr/>
        </p:nvSpPr>
        <p:spPr>
          <a:xfrm>
            <a:off x="4839298" y="2425417"/>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3" name="ANUARIO_REFERENCIA_2024_P2_L125"/>
          <p:cNvSpPr txBox="1"/>
          <p:nvPr/>
        </p:nvSpPr>
        <p:spPr>
          <a:xfrm>
            <a:off x="4839298" y="2478691"/>
            <a:ext cx="6602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GUADALAJARA </a:t>
            </a:r>
          </a:p>
        </p:txBody>
      </p:sp>
      <p:sp>
        <p:nvSpPr>
          <p:cNvPr id="284" name="ANUARIO_REFERENCIA_2024_P2_L126"/>
          <p:cNvSpPr txBox="1"/>
          <p:nvPr/>
        </p:nvSpPr>
        <p:spPr>
          <a:xfrm>
            <a:off x="7644368" y="2478691"/>
            <a:ext cx="19681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107</a:t>
            </a:r>
          </a:p>
        </p:txBody>
      </p:sp>
      <p:sp>
        <p:nvSpPr>
          <p:cNvPr id="285" name="ANUARIO_REFERENCIA_2024_P2_L127"/>
          <p:cNvSpPr txBox="1"/>
          <p:nvPr/>
        </p:nvSpPr>
        <p:spPr>
          <a:xfrm>
            <a:off x="4839298" y="2540843"/>
            <a:ext cx="17964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MONTERREY </a:t>
            </a:r>
          </a:p>
        </p:txBody>
      </p:sp>
      <p:sp>
        <p:nvSpPr>
          <p:cNvPr id="286" name="ANUARIO_REFERENCIA_2024_P2_L128"/>
          <p:cNvSpPr txBox="1"/>
          <p:nvPr/>
        </p:nvSpPr>
        <p:spPr>
          <a:xfrm>
            <a:off x="7637874" y="2540843"/>
            <a:ext cx="2033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108</a:t>
            </a:r>
          </a:p>
        </p:txBody>
      </p:sp>
      <p:sp>
        <p:nvSpPr>
          <p:cNvPr id="287" name="ANUARIO_REFERENCIA_2024_P2_L129"/>
          <p:cNvSpPr txBox="1"/>
          <p:nvPr/>
        </p:nvSpPr>
        <p:spPr>
          <a:xfrm>
            <a:off x="4839298" y="2602996"/>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8" name="ANUARIO_REFERENCIA_2024_P2_L130"/>
          <p:cNvSpPr txBox="1"/>
          <p:nvPr/>
        </p:nvSpPr>
        <p:spPr>
          <a:xfrm>
            <a:off x="4839298" y="2656270"/>
            <a:ext cx="5986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MONTERREY </a:t>
            </a:r>
          </a:p>
        </p:txBody>
      </p:sp>
      <p:sp>
        <p:nvSpPr>
          <p:cNvPr id="289" name="ANUARIO_REFERENCIA_2024_P2_L131"/>
          <p:cNvSpPr txBox="1"/>
          <p:nvPr/>
        </p:nvSpPr>
        <p:spPr>
          <a:xfrm>
            <a:off x="7636342" y="2656270"/>
            <a:ext cx="20484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109</a:t>
            </a:r>
          </a:p>
        </p:txBody>
      </p:sp>
      <p:sp>
        <p:nvSpPr>
          <p:cNvPr id="290" name="ANUARIO_REFERENCIA_2024_P2_L132"/>
          <p:cNvSpPr txBox="1"/>
          <p:nvPr/>
        </p:nvSpPr>
        <p:spPr>
          <a:xfrm>
            <a:off x="4839297" y="2718423"/>
            <a:ext cx="18102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25 CIUDADES </a:t>
            </a:r>
          </a:p>
        </p:txBody>
      </p:sp>
      <p:sp>
        <p:nvSpPr>
          <p:cNvPr id="291" name="ANUARIO_REFERENCIA_2024_P2_L133"/>
          <p:cNvSpPr txBox="1"/>
          <p:nvPr/>
        </p:nvSpPr>
        <p:spPr>
          <a:xfrm>
            <a:off x="7650189" y="2718423"/>
            <a:ext cx="1909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110</a:t>
            </a:r>
          </a:p>
        </p:txBody>
      </p:sp>
      <p:sp>
        <p:nvSpPr>
          <p:cNvPr id="292" name="ANUARIO_REFERENCIA_2024_P2_L134"/>
          <p:cNvSpPr txBox="1"/>
          <p:nvPr/>
        </p:nvSpPr>
        <p:spPr>
          <a:xfrm>
            <a:off x="4839298" y="2780575"/>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93" name="ANUARIO_REFERENCIA_2024_P2_L135"/>
          <p:cNvSpPr txBox="1"/>
          <p:nvPr/>
        </p:nvSpPr>
        <p:spPr>
          <a:xfrm>
            <a:off x="4839298" y="2833849"/>
            <a:ext cx="6124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25 CIUDADES </a:t>
            </a:r>
          </a:p>
        </p:txBody>
      </p:sp>
      <p:sp>
        <p:nvSpPr>
          <p:cNvPr id="294" name="ANUARIO_REFERENCIA_2024_P2_L136"/>
          <p:cNvSpPr txBox="1"/>
          <p:nvPr/>
        </p:nvSpPr>
        <p:spPr>
          <a:xfrm>
            <a:off x="7666976" y="2833849"/>
            <a:ext cx="1742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111</a:t>
            </a:r>
          </a:p>
        </p:txBody>
      </p:sp>
      <p:sp>
        <p:nvSpPr>
          <p:cNvPr id="295" name="ANUARIO_REFERENCIA_2024_P2_L137"/>
          <p:cNvSpPr txBox="1"/>
          <p:nvPr/>
        </p:nvSpPr>
        <p:spPr>
          <a:xfrm>
            <a:off x="4839298" y="2896002"/>
            <a:ext cx="28758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PRINCIPALES CIUDADES DEL PAÍS (CIUDAD DE MÉXICO, </a:t>
            </a:r>
          </a:p>
        </p:txBody>
      </p:sp>
      <p:sp>
        <p:nvSpPr>
          <p:cNvPr id="296" name="ANUARIO_REFERENCIA_2024_P2_L138"/>
          <p:cNvSpPr txBox="1"/>
          <p:nvPr/>
        </p:nvSpPr>
        <p:spPr>
          <a:xfrm>
            <a:off x="4839298" y="2949275"/>
            <a:ext cx="10284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GUADALAJARA Y MONTERREY) </a:t>
            </a:r>
          </a:p>
        </p:txBody>
      </p:sp>
      <p:sp>
        <p:nvSpPr>
          <p:cNvPr id="297" name="ANUARIO_REFERENCIA_2024_P2_L139"/>
          <p:cNvSpPr txBox="1"/>
          <p:nvPr/>
        </p:nvSpPr>
        <p:spPr>
          <a:xfrm>
            <a:off x="7657970" y="2949275"/>
            <a:ext cx="18321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112</a:t>
            </a:r>
          </a:p>
        </p:txBody>
      </p:sp>
      <p:sp>
        <p:nvSpPr>
          <p:cNvPr id="298" name="ANUARIO_REFERENCIA_2024_P2_L140"/>
          <p:cNvSpPr txBox="1"/>
          <p:nvPr/>
        </p:nvSpPr>
        <p:spPr>
          <a:xfrm>
            <a:off x="4839299" y="3011428"/>
            <a:ext cx="185776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CIUDAD DE MÉXICO </a:t>
            </a:r>
          </a:p>
        </p:txBody>
      </p:sp>
      <p:sp>
        <p:nvSpPr>
          <p:cNvPr id="299" name="ANUARIO_REFERENCIA_2024_P2_L141"/>
          <p:cNvSpPr txBox="1"/>
          <p:nvPr/>
        </p:nvSpPr>
        <p:spPr>
          <a:xfrm>
            <a:off x="7657480" y="3011428"/>
            <a:ext cx="18370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113</a:t>
            </a:r>
          </a:p>
        </p:txBody>
      </p:sp>
      <p:sp>
        <p:nvSpPr>
          <p:cNvPr id="300" name="ANUARIO_REFERENCIA_2024_P2_L142"/>
          <p:cNvSpPr txBox="1"/>
          <p:nvPr/>
        </p:nvSpPr>
        <p:spPr>
          <a:xfrm>
            <a:off x="4839299" y="3073581"/>
            <a:ext cx="17012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GUADALAJARA </a:t>
            </a:r>
          </a:p>
        </p:txBody>
      </p:sp>
      <p:sp>
        <p:nvSpPr>
          <p:cNvPr id="301" name="ANUARIO_REFERENCIA_2024_P2_L143"/>
          <p:cNvSpPr txBox="1"/>
          <p:nvPr/>
        </p:nvSpPr>
        <p:spPr>
          <a:xfrm>
            <a:off x="7656315" y="3073581"/>
            <a:ext cx="1848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114</a:t>
            </a:r>
          </a:p>
        </p:txBody>
      </p:sp>
      <p:sp>
        <p:nvSpPr>
          <p:cNvPr id="302" name="ANUARIO_REFERENCIA_2024_P2_L144"/>
          <p:cNvSpPr txBox="1"/>
          <p:nvPr/>
        </p:nvSpPr>
        <p:spPr>
          <a:xfrm>
            <a:off x="4839298" y="3135733"/>
            <a:ext cx="16396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MONTERREY </a:t>
            </a:r>
          </a:p>
        </p:txBody>
      </p:sp>
      <p:sp>
        <p:nvSpPr>
          <p:cNvPr id="303" name="ANUARIO_REFERENCIA_2024_P2_L145"/>
          <p:cNvSpPr txBox="1"/>
          <p:nvPr/>
        </p:nvSpPr>
        <p:spPr>
          <a:xfrm>
            <a:off x="7655520" y="3135733"/>
            <a:ext cx="1856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115</a:t>
            </a:r>
          </a:p>
        </p:txBody>
      </p:sp>
      <p:sp>
        <p:nvSpPr>
          <p:cNvPr id="304" name="ANUARIO_REFERENCIA_2024_P2_L146"/>
          <p:cNvSpPr txBox="1"/>
          <p:nvPr/>
        </p:nvSpPr>
        <p:spPr>
          <a:xfrm>
            <a:off x="4716790" y="3207600"/>
            <a:ext cx="75914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HERRAMIENTAS IFT </a:t>
            </a:r>
          </a:p>
        </p:txBody>
      </p:sp>
      <p:sp>
        <p:nvSpPr>
          <p:cNvPr id="305" name="ANUARIO_REFERENCIA_2024_P2_L147"/>
          <p:cNvSpPr txBox="1"/>
          <p:nvPr/>
        </p:nvSpPr>
        <p:spPr>
          <a:xfrm>
            <a:off x="7640097" y="3207600"/>
            <a:ext cx="20108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116</a:t>
            </a:r>
          </a:p>
        </p:txBody>
      </p:sp>
      <p:sp>
        <p:nvSpPr>
          <p:cNvPr id="306" name="ANUARIO_REFERENCIA_2024_P2_L148"/>
          <p:cNvSpPr txBox="1"/>
          <p:nvPr/>
        </p:nvSpPr>
        <p:spPr>
          <a:xfrm>
            <a:off x="4716799" y="3292816"/>
            <a:ext cx="287623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 RESUMEN DE INDICADORES DE TELECOMUNICACIONES Y RADIODIFUSIÓN </a:t>
            </a:r>
          </a:p>
        </p:txBody>
      </p:sp>
      <p:sp>
        <p:nvSpPr>
          <p:cNvPr id="307" name="ANUARIO_REFERENCIA_2024_P2_L149"/>
          <p:cNvSpPr txBox="1"/>
          <p:nvPr/>
        </p:nvSpPr>
        <p:spPr>
          <a:xfrm>
            <a:off x="7647647" y="3292838"/>
            <a:ext cx="19353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117</a:t>
            </a:r>
          </a:p>
        </p:txBody>
      </p:sp>
      <p:sp>
        <p:nvSpPr>
          <p:cNvPr id="308" name="ANUARIO_REFERENCIA_2024_P2_L150"/>
          <p:cNvSpPr txBox="1"/>
          <p:nvPr/>
        </p:nvSpPr>
        <p:spPr>
          <a:xfrm>
            <a:off x="4716800" y="3378054"/>
            <a:ext cx="932261"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 DEFINICIONES </a:t>
            </a:r>
          </a:p>
        </p:txBody>
      </p:sp>
      <p:sp>
        <p:nvSpPr>
          <p:cNvPr id="309" name="ANUARIO_REFERENCIA_2024_P2_L151"/>
          <p:cNvSpPr txBox="1"/>
          <p:nvPr/>
        </p:nvSpPr>
        <p:spPr>
          <a:xfrm>
            <a:off x="7643334" y="3378076"/>
            <a:ext cx="1978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121</a:t>
            </a:r>
          </a:p>
        </p:txBody>
      </p:sp>
      <p:sp>
        <p:nvSpPr>
          <p:cNvPr id="310" name="ANUARIO_REFERENCIA_2024_P2_L152"/>
          <p:cNvSpPr txBox="1"/>
          <p:nvPr/>
        </p:nvSpPr>
        <p:spPr>
          <a:xfrm>
            <a:off x="4716800" y="3463292"/>
            <a:ext cx="101233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III. METODOLOGÍAS </a:t>
            </a:r>
          </a:p>
        </p:txBody>
      </p:sp>
      <p:sp>
        <p:nvSpPr>
          <p:cNvPr id="311" name="ANUARIO_REFERENCIA_2024_P2_L153"/>
          <p:cNvSpPr txBox="1"/>
          <p:nvPr/>
        </p:nvSpPr>
        <p:spPr>
          <a:xfrm>
            <a:off x="7631405" y="3463314"/>
            <a:ext cx="20978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126</a:t>
            </a:r>
          </a:p>
        </p:txBody>
      </p:sp>
      <p:sp>
        <p:nvSpPr>
          <p:cNvPr id="312" name="ANUARIO_REFERENCIA_2024_P2_L154"/>
          <p:cNvSpPr txBox="1"/>
          <p:nvPr/>
        </p:nvSpPr>
        <p:spPr>
          <a:xfrm>
            <a:off x="4839320" y="3538838"/>
            <a:ext cx="204840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SERVICIOS DE TELECOMUNICACIONES </a:t>
            </a:r>
          </a:p>
        </p:txBody>
      </p:sp>
      <p:sp>
        <p:nvSpPr>
          <p:cNvPr id="313" name="ANUARIO_REFERENCIA_2024_P2_L155"/>
          <p:cNvSpPr txBox="1"/>
          <p:nvPr/>
        </p:nvSpPr>
        <p:spPr>
          <a:xfrm>
            <a:off x="7644921" y="3538838"/>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4" name="ANUARIO_REFERENCIA_2024_P2_L156"/>
          <p:cNvSpPr txBox="1"/>
          <p:nvPr/>
        </p:nvSpPr>
        <p:spPr>
          <a:xfrm>
            <a:off x="4839300" y="3600991"/>
            <a:ext cx="7382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315" name="ANUARIO_REFERENCIA_2024_P2_L157"/>
          <p:cNvSpPr txBox="1"/>
          <p:nvPr/>
        </p:nvSpPr>
        <p:spPr>
          <a:xfrm>
            <a:off x="7644921" y="3600991"/>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6" name="ANUARIO_REFERENCIA_2024_P2_L158"/>
          <p:cNvSpPr txBox="1"/>
          <p:nvPr/>
        </p:nvSpPr>
        <p:spPr>
          <a:xfrm>
            <a:off x="4839300" y="3663143"/>
            <a:ext cx="28248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INGRESO Y GASTO DE LOS HOGARES EN TELECOMUNICACIONES 
</a:t>
            </a:r>
          </a:p>
        </p:txBody>
      </p:sp>
      <p:sp>
        <p:nvSpPr>
          <p:cNvPr id="317" name="ANUARIO_REFERENCIA_2024_P2_L159"/>
          <p:cNvSpPr txBox="1"/>
          <p:nvPr/>
        </p:nvSpPr>
        <p:spPr>
          <a:xfrm>
            <a:off x="4839300" y="3716417"/>
            <a:ext cx="6036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FIJAS Y MÓVILES </a:t>
            </a:r>
          </a:p>
        </p:txBody>
      </p:sp>
      <p:sp>
        <p:nvSpPr>
          <p:cNvPr id="318" name="ANUARIO_REFERENCIA_2024_P2_L160"/>
          <p:cNvSpPr txBox="1"/>
          <p:nvPr/>
        </p:nvSpPr>
        <p:spPr>
          <a:xfrm>
            <a:off x="7650436" y="3716417"/>
            <a:ext cx="1907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127</a:t>
            </a:r>
          </a:p>
        </p:txBody>
      </p:sp>
      <p:sp>
        <p:nvSpPr>
          <p:cNvPr id="319" name="ANUARIO_REFERENCIA_2024_P2_L161"/>
          <p:cNvSpPr txBox="1"/>
          <p:nvPr/>
        </p:nvSpPr>
        <p:spPr>
          <a:xfrm>
            <a:off x="4839301" y="3778570"/>
            <a:ext cx="23691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CONSUMO DE RADIO Y TELEVISIÓN, PARTICULARIDADES METODOLÓGICAS </a:t>
            </a:r>
          </a:p>
        </p:txBody>
      </p:sp>
      <p:sp>
        <p:nvSpPr>
          <p:cNvPr id="320" name="ANUARIO_REFERENCIA_2024_P2_L162"/>
          <p:cNvSpPr txBox="1"/>
          <p:nvPr/>
        </p:nvSpPr>
        <p:spPr>
          <a:xfrm>
            <a:off x="7644800" y="3778570"/>
            <a:ext cx="1963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128</a:t>
            </a:r>
          </a:p>
        </p:txBody>
      </p:sp>
      <p:sp>
        <p:nvSpPr>
          <p:cNvPr id="321" name="ANUARIO_REFERENCIA_2024_P2_L163"/>
          <p:cNvSpPr txBox="1"/>
          <p:nvPr/>
        </p:nvSpPr>
        <p:spPr>
          <a:xfrm>
            <a:off x="4839301" y="3840723"/>
            <a:ext cx="28954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SOBRE DISPONIBILIDAD Y USO DE TECNOLOGÍAS DE LA INFORMACIÓN </a:t>
            </a:r>
          </a:p>
        </p:txBody>
      </p:sp>
      <p:sp>
        <p:nvSpPr>
          <p:cNvPr id="322" name="ANUARIO_REFERENCIA_2024_P2_L164"/>
          <p:cNvSpPr txBox="1"/>
          <p:nvPr/>
        </p:nvSpPr>
        <p:spPr>
          <a:xfrm>
            <a:off x="4839321" y="3893996"/>
            <a:ext cx="23189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(ENDUTIH) 2023, PARTICULARIDADES METODOLÓGICAS </a:t>
            </a:r>
          </a:p>
        </p:txBody>
      </p:sp>
      <p:sp>
        <p:nvSpPr>
          <p:cNvPr id="323" name="ANUARIO_REFERENCIA_2024_P2_L165"/>
          <p:cNvSpPr txBox="1"/>
          <p:nvPr/>
        </p:nvSpPr>
        <p:spPr>
          <a:xfrm>
            <a:off x="7650676" y="3893996"/>
            <a:ext cx="19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4" name="ANUARIO_REFERENCIA_2024_P2_L166"/>
          <p:cNvSpPr txBox="1"/>
          <p:nvPr/>
        </p:nvSpPr>
        <p:spPr>
          <a:xfrm>
            <a:off x="4839301" y="3956149"/>
            <a:ext cx="25682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DE OCUPACIÓN Y EMPLEO (ENOE), POBLACIÓN DE 15 AÑOS 
</a:t>
            </a:r>
          </a:p>
        </p:txBody>
      </p:sp>
      <p:sp>
        <p:nvSpPr>
          <p:cNvPr id="325" name="ANUARIO_REFERENCIA_2024_P2_L167"/>
          <p:cNvSpPr txBox="1"/>
          <p:nvPr/>
        </p:nvSpPr>
        <p:spPr>
          <a:xfrm>
            <a:off x="4839301" y="4009423"/>
            <a:ext cx="177175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Y MÁS DE EDAD, PARTICULARIDADES METODOLÓGICAS </a:t>
            </a:r>
          </a:p>
        </p:txBody>
      </p:sp>
      <p:sp>
        <p:nvSpPr>
          <p:cNvPr id="326" name="ANUARIO_REFERENCIA_2024_P2_L168"/>
          <p:cNvSpPr txBox="1"/>
          <p:nvPr/>
        </p:nvSpPr>
        <p:spPr>
          <a:xfrm>
            <a:off x="7648531" y="4009423"/>
            <a:ext cx="192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129</a:t>
            </a:r>
          </a:p>
        </p:txBody>
      </p:sp>
      <p:sp>
        <p:nvSpPr>
          <p:cNvPr id="327" name="ANUARIO_REFERENCIA_2024_P2_L169"/>
          <p:cNvSpPr txBox="1"/>
          <p:nvPr/>
        </p:nvSpPr>
        <p:spPr>
          <a:xfrm>
            <a:off x="4839300" y="4071575"/>
            <a:ext cx="23215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PARTICULARIDADES METODOLÓGICAS </a:t>
            </a:r>
          </a:p>
        </p:txBody>
      </p:sp>
      <p:sp>
        <p:nvSpPr>
          <p:cNvPr id="328" name="ANUARIO_REFERENCIA_2024_P2_L170"/>
          <p:cNvSpPr txBox="1"/>
          <p:nvPr/>
        </p:nvSpPr>
        <p:spPr>
          <a:xfrm>
            <a:off x="7642655" y="4071575"/>
            <a:ext cx="1985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129</a:t>
            </a:r>
          </a:p>
        </p:txBody>
      </p:sp>
      <p:sp>
        <p:nvSpPr>
          <p:cNvPr id="329" name="ANUARIO_REFERENCIA_2024_P2_L171"/>
          <p:cNvSpPr txBox="1"/>
          <p:nvPr/>
        </p:nvSpPr>
        <p:spPr>
          <a:xfrm>
            <a:off x="4716791" y="4143442"/>
            <a:ext cx="183254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IV. MÉTODOS DE CÁLCULO DE INDICADORES </a:t>
            </a:r>
          </a:p>
        </p:txBody>
      </p:sp>
      <p:sp>
        <p:nvSpPr>
          <p:cNvPr id="330" name="ANUARIO_REFERENCIA_2024_P2_L172"/>
          <p:cNvSpPr txBox="1"/>
          <p:nvPr/>
        </p:nvSpPr>
        <p:spPr>
          <a:xfrm>
            <a:off x="7627362" y="4143442"/>
            <a:ext cx="22932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130 </a:t>
            </a:r>
          </a:p>
        </p:txBody>
      </p:sp>
      <p:sp>
        <p:nvSpPr>
          <p:cNvPr id="33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3"/>
              </a:rPr>
              <a:t>BIT CRT: https://bit.crt.gob.mx/BitWebApp/</a:t>
            </a:r>
          </a:p>
        </p:txBody>
      </p:sp>
    </p:spTree>
  </p:cSld>
  <p:clrMapOvr>
    <a:masterClrMapping/>
  </p:clrMapOvr>
</p:sld>
</file>

<file path=ppt/slides/slide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7dd46c82ccd34f7d"/>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bccc84560eec49cf"/>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LEGALES_QR_FONDO">
            <a:extLst xmlns:a="http://schemas.openxmlformats.org/drawingml/2006/main">
              <a:ext uri="{FF2B5EF4-FFF2-40B4-BE49-F238E27FC236}">
                <a16:creationId xmlns:a16="http://schemas.microsoft.com/office/drawing/2014/main" id="{C4B88A73-ECC8-4C47-BA34-4A7B036DD40F}"/>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6d4963d98410402b"/>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cb20aff7f10a4f9b"/>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LEGALES_DESIGN_2026">
            <a:extLst xmlns:a="http://schemas.openxmlformats.org/drawingml/2006/main">
              <a:ext uri="{FF2B5EF4-FFF2-40B4-BE49-F238E27FC236}">
                <a16:creationId xmlns:a16="http://schemas.microsoft.com/office/drawing/2014/main" id="{A7B809D4-9ECA-4D1F-BDA8-1BB112B9B676}"/>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FUNDAMENTO_DIVISOR">
            <a:extLst xmlns:a="http://schemas.openxmlformats.org/drawingml/2006/main">
              <a:ext uri="{FF2B5EF4-FFF2-40B4-BE49-F238E27FC236}">
                <a16:creationId xmlns:a16="http://schemas.microsoft.com/office/drawing/2014/main" id="{306E8479-3BEC-4168-9CE0-9394CA6BE81D}"/>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LEGALES_RECUADRO_USUARIOS">
            <a:extLst xmlns:a="http://schemas.openxmlformats.org/drawingml/2006/main">
              <a:ext uri="{FF2B5EF4-FFF2-40B4-BE49-F238E27FC236}">
                <a16:creationId xmlns:a16="http://schemas.microsoft.com/office/drawing/2014/main" id="{C177147B-6B51-40DC-ACA2-C9096A0EECDE}"/>
              </a:ext>
            </a:extLst>
          </p:cNvPr>
          <p:cNvSpPr>
            <a:spLocks xmlns:a="http://schemas.openxmlformats.org/drawingml/2006/main" noGrp="1"/>
          </p:cNvSpPr>
          <p:nvPr/>
        </p:nvSpPr>
        <p:spPr>
          <a:xfrm xmlns:a="http://schemas.openxmlformats.org/drawingml/2006/main">
            <a:off x="2489200" y="609600"/>
            <a:ext cx="3098800" cy="2717800"/>
          </a:xfrm>
          <a:prstGeom xmlns:a="http://schemas.openxmlformats.org/drawingml/2006/main" prst="roundRect">
            <a:avLst>
              <a:gd name="adj" fmla="val 1402"/>
            </a:avLst>
          </a:prstGeom>
          <a:solidFill xmlns:a="http://schemas.openxmlformats.org/drawingml/2006/main">
            <a:srgbClr val="F6FAF9"/>
          </a:solidFill>
          <a:ln xmlns:a="http://schemas.openxmlformats.org/drawingml/2006/main" w="8890">
            <a:solidFill>
              <a:srgbClr val="CFE0DC"/>
            </a:solidFill>
          </a:ln>
        </p:spPr>
      </p:sp>
      <p:sp>
        <p:nvSpPr>
          <p:cNvPr id="9" name="LEGALES_ACENTO_USUARIOS">
            <a:extLst xmlns:a="http://schemas.openxmlformats.org/drawingml/2006/main">
              <a:ext uri="{FF2B5EF4-FFF2-40B4-BE49-F238E27FC236}">
                <a16:creationId xmlns:a16="http://schemas.microsoft.com/office/drawing/2014/main" id="{9D7ECA7A-418B-4F87-90A0-64125678ED32}"/>
              </a:ext>
            </a:extLst>
          </p:cNvPr>
          <p:cNvSpPr>
            <a:spLocks xmlns:a="http://schemas.openxmlformats.org/drawingml/2006/main" noGrp="1"/>
          </p:cNvSpPr>
          <p:nvPr/>
        </p:nvSpPr>
        <p:spPr>
          <a:xfrm xmlns:a="http://schemas.openxmlformats.org/drawingml/2006/main">
            <a:off x="2489200" y="685800"/>
            <a:ext cx="38100" cy="256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LEGALES_RECUADRO_TIC">
            <a:extLst xmlns:a="http://schemas.openxmlformats.org/drawingml/2006/main">
              <a:ext uri="{FF2B5EF4-FFF2-40B4-BE49-F238E27FC236}">
                <a16:creationId xmlns:a16="http://schemas.microsoft.com/office/drawing/2014/main" id="{E64024A6-78A1-400A-98FD-FEB9CA7F5AE1}"/>
              </a:ext>
            </a:extLst>
          </p:cNvPr>
          <p:cNvSpPr>
            <a:spLocks xmlns:a="http://schemas.openxmlformats.org/drawingml/2006/main" noGrp="1"/>
          </p:cNvSpPr>
          <p:nvPr/>
        </p:nvSpPr>
        <p:spPr>
          <a:xfrm xmlns:a="http://schemas.openxmlformats.org/drawingml/2006/main">
            <a:off x="2489200" y="3429000"/>
            <a:ext cx="3098800" cy="1447800"/>
          </a:xfrm>
          <a:prstGeom xmlns:a="http://schemas.openxmlformats.org/drawingml/2006/main" prst="roundRect">
            <a:avLst>
              <a:gd name="adj" fmla="val 2632"/>
            </a:avLst>
          </a:prstGeom>
          <a:solidFill xmlns:a="http://schemas.openxmlformats.org/drawingml/2006/main">
            <a:srgbClr val="F6FAF9"/>
          </a:solidFill>
          <a:ln xmlns:a="http://schemas.openxmlformats.org/drawingml/2006/main" w="8890">
            <a:solidFill>
              <a:srgbClr val="CFE0DC"/>
            </a:solidFill>
          </a:ln>
        </p:spPr>
      </p:sp>
      <p:sp>
        <p:nvSpPr>
          <p:cNvPr id="11" name="LEGALES_ACENTO_TIC">
            <a:extLst xmlns:a="http://schemas.openxmlformats.org/drawingml/2006/main">
              <a:ext uri="{FF2B5EF4-FFF2-40B4-BE49-F238E27FC236}">
                <a16:creationId xmlns:a16="http://schemas.microsoft.com/office/drawing/2014/main" id="{09A8036B-DFF8-4E11-86E0-3C9A785469C4}"/>
              </a:ext>
            </a:extLst>
          </p:cNvPr>
          <p:cNvSpPr>
            <a:spLocks xmlns:a="http://schemas.openxmlformats.org/drawingml/2006/main" noGrp="1"/>
          </p:cNvSpPr>
          <p:nvPr/>
        </p:nvSpPr>
        <p:spPr>
          <a:xfrm xmlns:a="http://schemas.openxmlformats.org/drawingml/2006/main">
            <a:off x="2489200" y="3505200"/>
            <a:ext cx="38100" cy="129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LEGALES_RECUADRO_GENERO">
            <a:extLst xmlns:a="http://schemas.openxmlformats.org/drawingml/2006/main">
              <a:ext uri="{FF2B5EF4-FFF2-40B4-BE49-F238E27FC236}">
                <a16:creationId xmlns:a16="http://schemas.microsoft.com/office/drawing/2014/main" id="{F93445A7-77CA-4839-9F5A-8768D3E2F30E}"/>
              </a:ext>
            </a:extLst>
          </p:cNvPr>
          <p:cNvSpPr>
            <a:spLocks xmlns:a="http://schemas.openxmlformats.org/drawingml/2006/main" noGrp="1"/>
          </p:cNvSpPr>
          <p:nvPr/>
        </p:nvSpPr>
        <p:spPr>
          <a:xfrm xmlns:a="http://schemas.openxmlformats.org/drawingml/2006/main">
            <a:off x="5689600" y="609600"/>
            <a:ext cx="3149600" cy="787400"/>
          </a:xfrm>
          <a:prstGeom xmlns:a="http://schemas.openxmlformats.org/drawingml/2006/main" prst="roundRect">
            <a:avLst>
              <a:gd name="adj" fmla="val 4839"/>
            </a:avLst>
          </a:prstGeom>
          <a:solidFill xmlns:a="http://schemas.openxmlformats.org/drawingml/2006/main">
            <a:srgbClr val="F6FAF9"/>
          </a:solidFill>
          <a:ln xmlns:a="http://schemas.openxmlformats.org/drawingml/2006/main" w="8890">
            <a:solidFill>
              <a:srgbClr val="CFE0DC"/>
            </a:solidFill>
          </a:ln>
        </p:spPr>
      </p:sp>
      <p:sp>
        <p:nvSpPr>
          <p:cNvPr id="13" name="LEGALES_ACENTO_GENERO">
            <a:extLst xmlns:a="http://schemas.openxmlformats.org/drawingml/2006/main">
              <a:ext uri="{FF2B5EF4-FFF2-40B4-BE49-F238E27FC236}">
                <a16:creationId xmlns:a16="http://schemas.microsoft.com/office/drawing/2014/main" id="{DA765D97-A995-48F4-89CF-78F530752B15}"/>
              </a:ext>
            </a:extLst>
          </p:cNvPr>
          <p:cNvSpPr>
            <a:spLocks xmlns:a="http://schemas.openxmlformats.org/drawingml/2006/main" noGrp="1"/>
          </p:cNvSpPr>
          <p:nvPr/>
        </p:nvSpPr>
        <p:spPr>
          <a:xfrm xmlns:a="http://schemas.openxmlformats.org/drawingml/2006/main">
            <a:off x="5689600" y="685800"/>
            <a:ext cx="38100" cy="635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4" name="LEGALES_RECUADRO_RADIO_TV">
            <a:extLst xmlns:a="http://schemas.openxmlformats.org/drawingml/2006/main">
              <a:ext uri="{FF2B5EF4-FFF2-40B4-BE49-F238E27FC236}">
                <a16:creationId xmlns:a16="http://schemas.microsoft.com/office/drawing/2014/main" id="{01B88975-BC53-48C3-BF10-CEC9ACF2E59C}"/>
              </a:ext>
            </a:extLst>
          </p:cNvPr>
          <p:cNvSpPr>
            <a:spLocks xmlns:a="http://schemas.openxmlformats.org/drawingml/2006/main" noGrp="1"/>
          </p:cNvSpPr>
          <p:nvPr/>
        </p:nvSpPr>
        <p:spPr>
          <a:xfrm xmlns:a="http://schemas.openxmlformats.org/drawingml/2006/main">
            <a:off x="5689600" y="1498600"/>
            <a:ext cx="3149600" cy="1041400"/>
          </a:xfrm>
          <a:prstGeom xmlns:a="http://schemas.openxmlformats.org/drawingml/2006/main" prst="roundRect">
            <a:avLst>
              <a:gd name="adj" fmla="val 3659"/>
            </a:avLst>
          </a:prstGeom>
          <a:solidFill xmlns:a="http://schemas.openxmlformats.org/drawingml/2006/main">
            <a:srgbClr val="F6FAF9"/>
          </a:solidFill>
          <a:ln xmlns:a="http://schemas.openxmlformats.org/drawingml/2006/main" w="8890">
            <a:solidFill>
              <a:srgbClr val="CFE0DC"/>
            </a:solidFill>
          </a:ln>
        </p:spPr>
      </p:sp>
      <p:sp>
        <p:nvSpPr>
          <p:cNvPr id="15" name="LEGALES_ACENTO_RADIO_TV">
            <a:extLst xmlns:a="http://schemas.openxmlformats.org/drawingml/2006/main">
              <a:ext uri="{FF2B5EF4-FFF2-40B4-BE49-F238E27FC236}">
                <a16:creationId xmlns:a16="http://schemas.microsoft.com/office/drawing/2014/main" id="{AB3A2C0C-BFE0-4546-A589-2D22FDA974E1}"/>
              </a:ext>
            </a:extLst>
          </p:cNvPr>
          <p:cNvSpPr>
            <a:spLocks xmlns:a="http://schemas.openxmlformats.org/drawingml/2006/main" noGrp="1"/>
          </p:cNvSpPr>
          <p:nvPr/>
        </p:nvSpPr>
        <p:spPr>
          <a:xfrm xmlns:a="http://schemas.openxmlformats.org/drawingml/2006/main">
            <a:off x="5689600" y="1574800"/>
            <a:ext cx="38100" cy="889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LEGALES_RECUADRO_NIELSEN">
            <a:extLst xmlns:a="http://schemas.openxmlformats.org/drawingml/2006/main">
              <a:ext uri="{FF2B5EF4-FFF2-40B4-BE49-F238E27FC236}">
                <a16:creationId xmlns:a16="http://schemas.microsoft.com/office/drawing/2014/main" id="{312B9452-5100-465F-855B-858A04556F85}"/>
              </a:ext>
            </a:extLst>
          </p:cNvPr>
          <p:cNvSpPr>
            <a:spLocks xmlns:a="http://schemas.openxmlformats.org/drawingml/2006/main" noGrp="1"/>
          </p:cNvSpPr>
          <p:nvPr/>
        </p:nvSpPr>
        <p:spPr>
          <a:xfrm xmlns:a="http://schemas.openxmlformats.org/drawingml/2006/main">
            <a:off x="5689600" y="2641600"/>
            <a:ext cx="3149600" cy="2235200"/>
          </a:xfrm>
          <a:prstGeom xmlns:a="http://schemas.openxmlformats.org/drawingml/2006/main" prst="roundRect">
            <a:avLst>
              <a:gd name="adj" fmla="val 1705"/>
            </a:avLst>
          </a:prstGeom>
          <a:solidFill xmlns:a="http://schemas.openxmlformats.org/drawingml/2006/main">
            <a:srgbClr val="F6FAF9"/>
          </a:solidFill>
          <a:ln xmlns:a="http://schemas.openxmlformats.org/drawingml/2006/main" w="8890">
            <a:solidFill>
              <a:srgbClr val="CFE0DC"/>
            </a:solidFill>
          </a:ln>
        </p:spPr>
      </p:sp>
      <p:sp>
        <p:nvSpPr>
          <p:cNvPr id="17" name="LEGALES_ACENTO_NIELSEN">
            <a:extLst xmlns:a="http://schemas.openxmlformats.org/drawingml/2006/main">
              <a:ext uri="{FF2B5EF4-FFF2-40B4-BE49-F238E27FC236}">
                <a16:creationId xmlns:a16="http://schemas.microsoft.com/office/drawing/2014/main" id="{1677D2CE-04E4-425E-9ABA-FB9AFC8A9127}"/>
              </a:ext>
            </a:extLst>
          </p:cNvPr>
          <p:cNvSpPr>
            <a:spLocks xmlns:a="http://schemas.openxmlformats.org/drawingml/2006/main" noGrp="1"/>
          </p:cNvSpPr>
          <p:nvPr/>
        </p:nvSpPr>
        <p:spPr>
          <a:xfrm xmlns:a="http://schemas.openxmlformats.org/drawingml/2006/main">
            <a:off x="5689600" y="2717800"/>
            <a:ext cx="38100" cy="2082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8" name="LEGALES_TEXTO_1">
            <a:extLst xmlns:a="http://schemas.openxmlformats.org/drawingml/2006/main">
              <a:ext uri="{FF2B5EF4-FFF2-40B4-BE49-F238E27FC236}">
                <a16:creationId xmlns:a16="http://schemas.microsoft.com/office/drawing/2014/main" id="{3B88C635-96AB-46C0-8C01-B9220EFB73FA}"/>
              </a:ext>
            </a:extLst>
          </p:cNvPr>
          <p:cNvSpPr>
            <a:spLocks xmlns:a="http://schemas.openxmlformats.org/drawingml/2006/main" noGrp="1"/>
          </p:cNvSpPr>
          <p:nvPr/>
        </p:nvSpPr>
        <p:spPr>
          <a:xfrm xmlns:a="http://schemas.openxmlformats.org/drawingml/2006/main">
            <a:off x="304914" y="127480"/>
            <a:ext cx="18923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19" name="LEGALES_FUNDAMENTO_TITULO">
            <a:extLst xmlns:a="http://schemas.openxmlformats.org/drawingml/2006/main">
              <a:ext uri="{FF2B5EF4-FFF2-40B4-BE49-F238E27FC236}">
                <a16:creationId xmlns:a16="http://schemas.microsoft.com/office/drawing/2014/main" id="{E06B48EB-8155-4EC9-BF67-9E64D31B3D6D}"/>
              </a:ext>
            </a:extLst>
          </p:cNvPr>
          <p:cNvSpPr>
            <a:spLocks xmlns:a="http://schemas.openxmlformats.org/drawingml/2006/main" noGrp="1"/>
          </p:cNvSpPr>
          <p:nvPr/>
        </p:nvSpPr>
        <p:spPr>
          <a:xfrm xmlns:a="http://schemas.openxmlformats.org/drawingml/2006/main">
            <a:off x="482600" y="819150"/>
            <a:ext cx="1752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F U N D A M E N T O  L E G A L</a:t>
            </a:r>
          </a:p>
        </p:txBody>
      </p:sp>
      <p:sp>
        <p:nvSpPr>
          <p:cNvPr id="20" name="LEGALES_TEXTO_2">
            <a:extLst xmlns:a="http://schemas.openxmlformats.org/drawingml/2006/main">
              <a:ext uri="{FF2B5EF4-FFF2-40B4-BE49-F238E27FC236}">
                <a16:creationId xmlns:a16="http://schemas.microsoft.com/office/drawing/2014/main" id="{1F13ECC0-3543-4565-A27E-519166E76F8F}"/>
              </a:ext>
            </a:extLst>
          </p:cNvPr>
          <p:cNvSpPr>
            <a:spLocks xmlns:a="http://schemas.openxmlformats.org/drawingml/2006/main" noGrp="1"/>
          </p:cNvSpPr>
          <p:nvPr/>
        </p:nvSpPr>
        <p:spPr>
          <a:xfrm xmlns:a="http://schemas.openxmlformats.org/drawingml/2006/main">
            <a:off x="482765" y="111088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 fundamento en lo dispuesto por </a:t>
            </a:r>
          </a:p>
        </p:txBody>
      </p:sp>
      <p:sp>
        <p:nvSpPr>
          <p:cNvPr id="21" name="LEGALES_TEXTO_3">
            <a:extLst xmlns:a="http://schemas.openxmlformats.org/drawingml/2006/main">
              <a:ext uri="{FF2B5EF4-FFF2-40B4-BE49-F238E27FC236}">
                <a16:creationId xmlns:a16="http://schemas.microsoft.com/office/drawing/2014/main" id="{7C95A3E1-F2B9-4282-AA7E-94A7213E4235}"/>
              </a:ext>
            </a:extLst>
          </p:cNvPr>
          <p:cNvSpPr>
            <a:spLocks xmlns:a="http://schemas.openxmlformats.org/drawingml/2006/main" noGrp="1"/>
          </p:cNvSpPr>
          <p:nvPr/>
        </p:nvSpPr>
        <p:spPr>
          <a:xfrm xmlns:a="http://schemas.openxmlformats.org/drawingml/2006/main">
            <a:off x="482765" y="1230037"/>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los artículos 15, fracción 50 y 177, </a:t>
            </a:r>
          </a:p>
        </p:txBody>
      </p:sp>
      <p:sp>
        <p:nvSpPr>
          <p:cNvPr id="22" name="LEGALES_TEXTO_4">
            <a:extLst xmlns:a="http://schemas.openxmlformats.org/drawingml/2006/main">
              <a:ext uri="{FF2B5EF4-FFF2-40B4-BE49-F238E27FC236}">
                <a16:creationId xmlns:a16="http://schemas.microsoft.com/office/drawing/2014/main" id="{608F814F-C881-4504-AFE1-DC45DA630969}"/>
              </a:ext>
            </a:extLst>
          </p:cNvPr>
          <p:cNvSpPr>
            <a:spLocks xmlns:a="http://schemas.openxmlformats.org/drawingml/2006/main" noGrp="1"/>
          </p:cNvSpPr>
          <p:nvPr/>
        </p:nvSpPr>
        <p:spPr>
          <a:xfrm xmlns:a="http://schemas.openxmlformats.org/drawingml/2006/main">
            <a:off x="482765" y="134920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fracción XVIII, de la Ley Federal de </a:t>
            </a:r>
          </a:p>
        </p:txBody>
      </p:sp>
      <p:sp>
        <p:nvSpPr>
          <p:cNvPr id="23" name="LEGALES_TEXTO_5">
            <a:extLst xmlns:a="http://schemas.openxmlformats.org/drawingml/2006/main">
              <a:ext uri="{FF2B5EF4-FFF2-40B4-BE49-F238E27FC236}">
                <a16:creationId xmlns:a16="http://schemas.microsoft.com/office/drawing/2014/main" id="{8C2F3215-FEE1-4428-979C-88AA05FCDC2F}"/>
              </a:ext>
            </a:extLst>
          </p:cNvPr>
          <p:cNvSpPr>
            <a:spLocks xmlns:a="http://schemas.openxmlformats.org/drawingml/2006/main" noGrp="1"/>
          </p:cNvSpPr>
          <p:nvPr/>
        </p:nvSpPr>
        <p:spPr>
          <a:xfrm xmlns:a="http://schemas.openxmlformats.org/drawingml/2006/main">
            <a:off x="482765" y="146836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y Radiodifusión, </a:t>
            </a:r>
          </a:p>
        </p:txBody>
      </p:sp>
      <p:sp>
        <p:nvSpPr>
          <p:cNvPr id="24" name="LEGALES_TEXTO_6">
            <a:extLst xmlns:a="http://schemas.openxmlformats.org/drawingml/2006/main">
              <a:ext uri="{FF2B5EF4-FFF2-40B4-BE49-F238E27FC236}">
                <a16:creationId xmlns:a16="http://schemas.microsoft.com/office/drawing/2014/main" id="{CB5BA0CB-A125-41BE-A854-407E1F4FE992}"/>
              </a:ext>
            </a:extLst>
          </p:cNvPr>
          <p:cNvSpPr>
            <a:spLocks xmlns:a="http://schemas.openxmlformats.org/drawingml/2006/main" noGrp="1"/>
          </p:cNvSpPr>
          <p:nvPr/>
        </p:nvSpPr>
        <p:spPr>
          <a:xfrm xmlns:a="http://schemas.openxmlformats.org/drawingml/2006/main">
            <a:off x="482765" y="158751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así como por el artículo 73, fracción </a:t>
            </a:r>
          </a:p>
        </p:txBody>
      </p:sp>
      <p:sp>
        <p:nvSpPr>
          <p:cNvPr id="25" name="LEGALES_TEXTO_7">
            <a:extLst xmlns:a="http://schemas.openxmlformats.org/drawingml/2006/main">
              <a:ext uri="{FF2B5EF4-FFF2-40B4-BE49-F238E27FC236}">
                <a16:creationId xmlns:a16="http://schemas.microsoft.com/office/drawing/2014/main" id="{6D8185FB-7965-45B1-9207-F8C763DE6F36}"/>
              </a:ext>
            </a:extLst>
          </p:cNvPr>
          <p:cNvSpPr>
            <a:spLocks xmlns:a="http://schemas.openxmlformats.org/drawingml/2006/main" noGrp="1"/>
          </p:cNvSpPr>
          <p:nvPr/>
        </p:nvSpPr>
        <p:spPr>
          <a:xfrm xmlns:a="http://schemas.openxmlformats.org/drawingml/2006/main">
            <a:off x="482765" y="170668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VIII, del Estatuto Orgánico del </a:t>
            </a:r>
          </a:p>
        </p:txBody>
      </p:sp>
      <p:sp>
        <p:nvSpPr>
          <p:cNvPr id="26" name="LEGALES_TEXTO_8">
            <a:extLst xmlns:a="http://schemas.openxmlformats.org/drawingml/2006/main">
              <a:ext uri="{FF2B5EF4-FFF2-40B4-BE49-F238E27FC236}">
                <a16:creationId xmlns:a16="http://schemas.microsoft.com/office/drawing/2014/main" id="{62E27B9A-D08F-4CCB-ACF9-08C33CC7EDC7}"/>
              </a:ext>
            </a:extLst>
          </p:cNvPr>
          <p:cNvSpPr>
            <a:spLocks xmlns:a="http://schemas.openxmlformats.org/drawingml/2006/main" noGrp="1"/>
          </p:cNvSpPr>
          <p:nvPr/>
        </p:nvSpPr>
        <p:spPr>
          <a:xfrm xmlns:a="http://schemas.openxmlformats.org/drawingml/2006/main">
            <a:off x="482765" y="182584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27" name="LEGALES_TEXTO_9">
            <a:extLst xmlns:a="http://schemas.openxmlformats.org/drawingml/2006/main">
              <a:ext uri="{FF2B5EF4-FFF2-40B4-BE49-F238E27FC236}">
                <a16:creationId xmlns:a16="http://schemas.microsoft.com/office/drawing/2014/main" id="{3524738D-2B40-4AB5-BE5F-CA2647E491A1}"/>
              </a:ext>
            </a:extLst>
          </p:cNvPr>
          <p:cNvSpPr>
            <a:spLocks xmlns:a="http://schemas.openxmlformats.org/drawingml/2006/main" noGrp="1"/>
          </p:cNvSpPr>
          <p:nvPr/>
        </p:nvSpPr>
        <p:spPr>
          <a:xfrm xmlns:a="http://schemas.openxmlformats.org/drawingml/2006/main">
            <a:off x="482765" y="194499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la Dirección </a:t>
            </a:r>
          </a:p>
        </p:txBody>
      </p:sp>
      <p:sp>
        <p:nvSpPr>
          <p:cNvPr id="28" name="LEGALES_TEXTO_10">
            <a:extLst xmlns:a="http://schemas.openxmlformats.org/drawingml/2006/main">
              <a:ext uri="{FF2B5EF4-FFF2-40B4-BE49-F238E27FC236}">
                <a16:creationId xmlns:a16="http://schemas.microsoft.com/office/drawing/2014/main" id="{61CF7D80-DB0E-4A65-AE4C-75F95171836C}"/>
              </a:ext>
            </a:extLst>
          </p:cNvPr>
          <p:cNvSpPr>
            <a:spLocks xmlns:a="http://schemas.openxmlformats.org/drawingml/2006/main" noGrp="1"/>
          </p:cNvSpPr>
          <p:nvPr/>
        </p:nvSpPr>
        <p:spPr>
          <a:xfrm xmlns:a="http://schemas.openxmlformats.org/drawingml/2006/main">
            <a:off x="482765" y="206416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General Adjunta de Estadística y </a:t>
            </a:r>
          </a:p>
        </p:txBody>
      </p:sp>
      <p:sp>
        <p:nvSpPr>
          <p:cNvPr id="29" name="LEGALES_TEXTO_11">
            <a:extLst xmlns:a="http://schemas.openxmlformats.org/drawingml/2006/main">
              <a:ext uri="{FF2B5EF4-FFF2-40B4-BE49-F238E27FC236}">
                <a16:creationId xmlns:a16="http://schemas.microsoft.com/office/drawing/2014/main" id="{D0D36BEC-91CA-4455-972E-9B13658CBC42}"/>
              </a:ext>
            </a:extLst>
          </p:cNvPr>
          <p:cNvSpPr>
            <a:spLocks xmlns:a="http://schemas.openxmlformats.org/drawingml/2006/main" noGrp="1"/>
          </p:cNvSpPr>
          <p:nvPr/>
        </p:nvSpPr>
        <p:spPr>
          <a:xfrm xmlns:a="http://schemas.openxmlformats.org/drawingml/2006/main">
            <a:off x="482765" y="218332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Análisis de Indicadores, adscrita a la </a:t>
            </a:r>
          </a:p>
        </p:txBody>
      </p:sp>
      <p:sp>
        <p:nvSpPr>
          <p:cNvPr id="30" name="LEGALES_TEXTO_12">
            <a:extLst xmlns:a="http://schemas.openxmlformats.org/drawingml/2006/main">
              <a:ext uri="{FF2B5EF4-FFF2-40B4-BE49-F238E27FC236}">
                <a16:creationId xmlns:a16="http://schemas.microsoft.com/office/drawing/2014/main" id="{2358C160-D046-4567-AB6C-095880E78A39}"/>
              </a:ext>
            </a:extLst>
          </p:cNvPr>
          <p:cNvSpPr>
            <a:spLocks xmlns:a="http://schemas.openxmlformats.org/drawingml/2006/main" noGrp="1"/>
          </p:cNvSpPr>
          <p:nvPr/>
        </p:nvSpPr>
        <p:spPr>
          <a:xfrm xmlns:a="http://schemas.openxmlformats.org/drawingml/2006/main">
            <a:off x="482765" y="230247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Coordinación General de Planeación </a:t>
            </a:r>
          </a:p>
        </p:txBody>
      </p:sp>
      <p:sp>
        <p:nvSpPr>
          <p:cNvPr id="31" name="LEGALES_TEXTO_13">
            <a:extLst xmlns:a="http://schemas.openxmlformats.org/drawingml/2006/main">
              <a:ext uri="{FF2B5EF4-FFF2-40B4-BE49-F238E27FC236}">
                <a16:creationId xmlns:a16="http://schemas.microsoft.com/office/drawing/2014/main" id="{23B81FDA-1DFC-4D9B-82D7-7F1BC9F9DD41}"/>
              </a:ext>
            </a:extLst>
          </p:cNvPr>
          <p:cNvSpPr>
            <a:spLocks xmlns:a="http://schemas.openxmlformats.org/drawingml/2006/main" noGrp="1"/>
          </p:cNvSpPr>
          <p:nvPr/>
        </p:nvSpPr>
        <p:spPr>
          <a:xfrm xmlns:a="http://schemas.openxmlformats.org/drawingml/2006/main">
            <a:off x="482765" y="242164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Estratégica (CGPE), publica el </a:t>
            </a:r>
          </a:p>
        </p:txBody>
      </p:sp>
      <p:sp>
        <p:nvSpPr>
          <p:cNvPr id="32" name="LEGALES_TEXTO_14">
            <a:extLst xmlns:a="http://schemas.openxmlformats.org/drawingml/2006/main">
              <a:ext uri="{FF2B5EF4-FFF2-40B4-BE49-F238E27FC236}">
                <a16:creationId xmlns:a16="http://schemas.microsoft.com/office/drawing/2014/main" id="{20ED492E-F4FE-4A93-83FB-3087E5084471}"/>
              </a:ext>
            </a:extLst>
          </p:cNvPr>
          <p:cNvSpPr>
            <a:spLocks xmlns:a="http://schemas.openxmlformats.org/drawingml/2006/main" noGrp="1"/>
          </p:cNvSpPr>
          <p:nvPr/>
        </p:nvSpPr>
        <p:spPr>
          <a:xfrm xmlns:a="http://schemas.openxmlformats.org/drawingml/2006/main">
            <a:off x="482765" y="254080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presente Anuario Estadístico 2024, el </a:t>
            </a:r>
          </a:p>
        </p:txBody>
      </p:sp>
      <p:sp>
        <p:nvSpPr>
          <p:cNvPr id="33" name="LEGALES_TEXTO_15">
            <a:extLst xmlns:a="http://schemas.openxmlformats.org/drawingml/2006/main">
              <a:ext uri="{FF2B5EF4-FFF2-40B4-BE49-F238E27FC236}">
                <a16:creationId xmlns:a16="http://schemas.microsoft.com/office/drawing/2014/main" id="{F33E4D73-86E0-4F09-A10C-0132FB26D445}"/>
              </a:ext>
            </a:extLst>
          </p:cNvPr>
          <p:cNvSpPr>
            <a:spLocks xmlns:a="http://schemas.openxmlformats.org/drawingml/2006/main" noGrp="1"/>
          </p:cNvSpPr>
          <p:nvPr/>
        </p:nvSpPr>
        <p:spPr>
          <a:xfrm xmlns:a="http://schemas.openxmlformats.org/drawingml/2006/main">
            <a:off x="482765" y="265995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cual se elaboró con datos del </a:t>
            </a:r>
          </a:p>
        </p:txBody>
      </p:sp>
      <p:sp>
        <p:nvSpPr>
          <p:cNvPr id="34" name="LEGALES_TEXTO_16">
            <a:extLst xmlns:a="http://schemas.openxmlformats.org/drawingml/2006/main">
              <a:ext uri="{FF2B5EF4-FFF2-40B4-BE49-F238E27FC236}">
                <a16:creationId xmlns:a16="http://schemas.microsoft.com/office/drawing/2014/main" id="{F9D06E99-7010-4076-8203-70FA32B74942}"/>
              </a:ext>
            </a:extLst>
          </p:cNvPr>
          <p:cNvSpPr>
            <a:spLocks xmlns:a="http://schemas.openxmlformats.org/drawingml/2006/main" noGrp="1"/>
          </p:cNvSpPr>
          <p:nvPr/>
        </p:nvSpPr>
        <p:spPr>
          <a:xfrm xmlns:a="http://schemas.openxmlformats.org/drawingml/2006/main">
            <a:off x="482765" y="277912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35" name="LEGALES_TEXTO_17">
            <a:extLst xmlns:a="http://schemas.openxmlformats.org/drawingml/2006/main">
              <a:ext uri="{FF2B5EF4-FFF2-40B4-BE49-F238E27FC236}">
                <a16:creationId xmlns:a16="http://schemas.microsoft.com/office/drawing/2014/main" id="{BF17EFBA-F848-49D9-B9AA-F0E5BB07E0BD}"/>
              </a:ext>
            </a:extLst>
          </p:cNvPr>
          <p:cNvSpPr>
            <a:spLocks xmlns:a="http://schemas.openxmlformats.org/drawingml/2006/main" noGrp="1"/>
          </p:cNvSpPr>
          <p:nvPr/>
        </p:nvSpPr>
        <p:spPr>
          <a:xfrm xmlns:a="http://schemas.openxmlformats.org/drawingml/2006/main">
            <a:off x="482765" y="289828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(IFT), aquella </a:t>
            </a:r>
          </a:p>
        </p:txBody>
      </p:sp>
      <p:sp>
        <p:nvSpPr>
          <p:cNvPr id="36" name="LEGALES_TEXTO_18">
            <a:extLst xmlns:a="http://schemas.openxmlformats.org/drawingml/2006/main">
              <a:ext uri="{FF2B5EF4-FFF2-40B4-BE49-F238E27FC236}">
                <a16:creationId xmlns:a16="http://schemas.microsoft.com/office/drawing/2014/main" id="{D60473B6-DF71-4811-9F86-1B16BB568C1A}"/>
              </a:ext>
            </a:extLst>
          </p:cNvPr>
          <p:cNvSpPr>
            <a:spLocks xmlns:a="http://schemas.openxmlformats.org/drawingml/2006/main" noGrp="1"/>
          </p:cNvSpPr>
          <p:nvPr/>
        </p:nvSpPr>
        <p:spPr>
          <a:xfrm xmlns:a="http://schemas.openxmlformats.org/drawingml/2006/main">
            <a:off x="482765" y="301743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proporcionada por los operadores del </a:t>
            </a:r>
          </a:p>
        </p:txBody>
      </p:sp>
      <p:sp>
        <p:nvSpPr>
          <p:cNvPr id="37" name="LEGALES_TEXTO_19">
            <a:extLst xmlns:a="http://schemas.openxmlformats.org/drawingml/2006/main">
              <a:ext uri="{FF2B5EF4-FFF2-40B4-BE49-F238E27FC236}">
                <a16:creationId xmlns:a16="http://schemas.microsoft.com/office/drawing/2014/main" id="{5D599E04-EB91-43E2-BEEA-0C80BF2974AC}"/>
              </a:ext>
            </a:extLst>
          </p:cNvPr>
          <p:cNvSpPr>
            <a:spLocks xmlns:a="http://schemas.openxmlformats.org/drawingml/2006/main" noGrp="1"/>
          </p:cNvSpPr>
          <p:nvPr/>
        </p:nvSpPr>
        <p:spPr>
          <a:xfrm xmlns:a="http://schemas.openxmlformats.org/drawingml/2006/main">
            <a:off x="482765" y="313659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sector de telecomunicaciones y la </a:t>
            </a:r>
          </a:p>
        </p:txBody>
      </p:sp>
      <p:sp>
        <p:nvSpPr>
          <p:cNvPr id="38" name="LEGALES_TEXTO_20">
            <a:extLst xmlns:a="http://schemas.openxmlformats.org/drawingml/2006/main">
              <a:ext uri="{FF2B5EF4-FFF2-40B4-BE49-F238E27FC236}">
                <a16:creationId xmlns:a16="http://schemas.microsoft.com/office/drawing/2014/main" id="{15B85156-1120-46B3-B771-212B046E1854}"/>
              </a:ext>
            </a:extLst>
          </p:cNvPr>
          <p:cNvSpPr>
            <a:spLocks xmlns:a="http://schemas.openxmlformats.org/drawingml/2006/main" noGrp="1"/>
          </p:cNvSpPr>
          <p:nvPr/>
        </p:nvSpPr>
        <p:spPr>
          <a:xfrm xmlns:a="http://schemas.openxmlformats.org/drawingml/2006/main">
            <a:off x="482765" y="325576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publicada por el Instituto Nacional de </a:t>
            </a:r>
          </a:p>
        </p:txBody>
      </p:sp>
      <p:sp>
        <p:nvSpPr>
          <p:cNvPr id="39" name="LEGALES_TEXTO_21">
            <a:extLst xmlns:a="http://schemas.openxmlformats.org/drawingml/2006/main">
              <a:ext uri="{FF2B5EF4-FFF2-40B4-BE49-F238E27FC236}">
                <a16:creationId xmlns:a16="http://schemas.microsoft.com/office/drawing/2014/main" id="{EDEAA6A3-0DF3-4485-BE64-7F04E77F2703}"/>
              </a:ext>
            </a:extLst>
          </p:cNvPr>
          <p:cNvSpPr>
            <a:spLocks xmlns:a="http://schemas.openxmlformats.org/drawingml/2006/main" noGrp="1"/>
          </p:cNvSpPr>
          <p:nvPr/>
        </p:nvSpPr>
        <p:spPr>
          <a:xfrm xmlns:a="http://schemas.openxmlformats.org/drawingml/2006/main">
            <a:off x="482765" y="337491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Estadística y Geografía (INEGI), la </a:t>
            </a:r>
          </a:p>
        </p:txBody>
      </p:sp>
      <p:sp>
        <p:nvSpPr>
          <p:cNvPr id="40" name="LEGALES_TEXTO_22">
            <a:extLst xmlns:a="http://schemas.openxmlformats.org/drawingml/2006/main">
              <a:ext uri="{FF2B5EF4-FFF2-40B4-BE49-F238E27FC236}">
                <a16:creationId xmlns:a16="http://schemas.microsoft.com/office/drawing/2014/main" id="{CD70AAB7-A1C7-454D-B038-F69586AA3480}"/>
              </a:ext>
            </a:extLst>
          </p:cNvPr>
          <p:cNvSpPr>
            <a:spLocks xmlns:a="http://schemas.openxmlformats.org/drawingml/2006/main" noGrp="1"/>
          </p:cNvSpPr>
          <p:nvPr/>
        </p:nvSpPr>
        <p:spPr>
          <a:xfrm xmlns:a="http://schemas.openxmlformats.org/drawingml/2006/main">
            <a:off x="482765" y="349407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Secretaría de Economía (SE) y el </a:t>
            </a:r>
          </a:p>
        </p:txBody>
      </p:sp>
      <p:sp>
        <p:nvSpPr>
          <p:cNvPr id="41" name="LEGALES_TEXTO_23">
            <a:extLst xmlns:a="http://schemas.openxmlformats.org/drawingml/2006/main">
              <a:ext uri="{FF2B5EF4-FFF2-40B4-BE49-F238E27FC236}">
                <a16:creationId xmlns:a16="http://schemas.microsoft.com/office/drawing/2014/main" id="{4D858354-283D-4490-9549-B41DF334F802}"/>
              </a:ext>
            </a:extLst>
          </p:cNvPr>
          <p:cNvSpPr>
            <a:spLocks xmlns:a="http://schemas.openxmlformats.org/drawingml/2006/main" noGrp="1"/>
          </p:cNvSpPr>
          <p:nvPr/>
        </p:nvSpPr>
        <p:spPr>
          <a:xfrm xmlns:a="http://schemas.openxmlformats.org/drawingml/2006/main">
            <a:off x="482765" y="361324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Consejo Nacional de Población </a:t>
            </a:r>
          </a:p>
        </p:txBody>
      </p:sp>
      <p:sp>
        <p:nvSpPr>
          <p:cNvPr id="42" name="LEGALES_TEXTO_24">
            <a:extLst xmlns:a="http://schemas.openxmlformats.org/drawingml/2006/main">
              <a:ext uri="{FF2B5EF4-FFF2-40B4-BE49-F238E27FC236}">
                <a16:creationId xmlns:a16="http://schemas.microsoft.com/office/drawing/2014/main" id="{E4F68D72-C97D-460A-A204-04A5F0FA0154}"/>
              </a:ext>
            </a:extLst>
          </p:cNvPr>
          <p:cNvSpPr>
            <a:spLocks xmlns:a="http://schemas.openxmlformats.org/drawingml/2006/main" noGrp="1"/>
          </p:cNvSpPr>
          <p:nvPr/>
        </p:nvSpPr>
        <p:spPr>
          <a:xfrm xmlns:a="http://schemas.openxmlformats.org/drawingml/2006/main">
            <a:off x="482765" y="373239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(CONAPO). La información reportada </a:t>
            </a:r>
          </a:p>
        </p:txBody>
      </p:sp>
      <p:sp>
        <p:nvSpPr>
          <p:cNvPr id="43" name="LEGALES_TEXTO_25">
            <a:extLst xmlns:a="http://schemas.openxmlformats.org/drawingml/2006/main">
              <a:ext uri="{FF2B5EF4-FFF2-40B4-BE49-F238E27FC236}">
                <a16:creationId xmlns:a16="http://schemas.microsoft.com/office/drawing/2014/main" id="{57027F96-4EE3-4F8A-BD88-89E7FBBEEFFA}"/>
              </a:ext>
            </a:extLst>
          </p:cNvPr>
          <p:cNvSpPr>
            <a:spLocks xmlns:a="http://schemas.openxmlformats.org/drawingml/2006/main" noGrp="1"/>
          </p:cNvSpPr>
          <p:nvPr/>
        </p:nvSpPr>
        <p:spPr>
          <a:xfrm xmlns:a="http://schemas.openxmlformats.org/drawingml/2006/main">
            <a:off x="482765" y="385155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está sujeta a revisiones y a </a:t>
            </a:r>
          </a:p>
        </p:txBody>
      </p:sp>
      <p:sp>
        <p:nvSpPr>
          <p:cNvPr id="44" name="LEGALES_TEXTO_26">
            <a:extLst xmlns:a="http://schemas.openxmlformats.org/drawingml/2006/main">
              <a:ext uri="{FF2B5EF4-FFF2-40B4-BE49-F238E27FC236}">
                <a16:creationId xmlns:a16="http://schemas.microsoft.com/office/drawing/2014/main" id="{6ED7E1AC-7BF4-4033-97DF-A8855D0E5EF1}"/>
              </a:ext>
            </a:extLst>
          </p:cNvPr>
          <p:cNvSpPr>
            <a:spLocks xmlns:a="http://schemas.openxmlformats.org/drawingml/2006/main" noGrp="1"/>
          </p:cNvSpPr>
          <p:nvPr/>
        </p:nvSpPr>
        <p:spPr>
          <a:xfrm xmlns:a="http://schemas.openxmlformats.org/drawingml/2006/main">
            <a:off x="482765" y="3970722"/>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modificaciones derivadas de cambios </a:t>
            </a:r>
          </a:p>
        </p:txBody>
      </p:sp>
      <p:sp>
        <p:nvSpPr>
          <p:cNvPr id="45" name="LEGALES_TEXTO_27">
            <a:extLst xmlns:a="http://schemas.openxmlformats.org/drawingml/2006/main">
              <a:ext uri="{FF2B5EF4-FFF2-40B4-BE49-F238E27FC236}">
                <a16:creationId xmlns:a16="http://schemas.microsoft.com/office/drawing/2014/main" id="{A25CEC14-2BD4-40CC-94CF-15154A1A141C}"/>
              </a:ext>
            </a:extLst>
          </p:cNvPr>
          <p:cNvSpPr>
            <a:spLocks xmlns:a="http://schemas.openxmlformats.org/drawingml/2006/main" noGrp="1"/>
          </p:cNvSpPr>
          <p:nvPr/>
        </p:nvSpPr>
        <p:spPr>
          <a:xfrm xmlns:a="http://schemas.openxmlformats.org/drawingml/2006/main">
            <a:off x="482765" y="408987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que realizan los operadores a las </a:t>
            </a:r>
          </a:p>
        </p:txBody>
      </p:sp>
      <p:sp>
        <p:nvSpPr>
          <p:cNvPr id="46" name="LEGALES_TEXTO_28">
            <a:extLst xmlns:a="http://schemas.openxmlformats.org/drawingml/2006/main">
              <a:ext uri="{FF2B5EF4-FFF2-40B4-BE49-F238E27FC236}">
                <a16:creationId xmlns:a16="http://schemas.microsoft.com/office/drawing/2014/main" id="{08837145-28D9-45EF-8138-656AC7A5370A}"/>
              </a:ext>
            </a:extLst>
          </p:cNvPr>
          <p:cNvSpPr>
            <a:spLocks xmlns:a="http://schemas.openxmlformats.org/drawingml/2006/main" noGrp="1"/>
          </p:cNvSpPr>
          <p:nvPr/>
        </p:nvSpPr>
        <p:spPr>
          <a:xfrm xmlns:a="http://schemas.openxmlformats.org/drawingml/2006/main">
            <a:off x="482765" y="420903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cifras previamente reportadas.</a:t>
            </a:r>
          </a:p>
        </p:txBody>
      </p:sp>
      <p:sp>
        <p:nvSpPr>
          <p:cNvPr id="47" name="LEGALES_TEXTO_29">
            <a:extLst xmlns:a="http://schemas.openxmlformats.org/drawingml/2006/main">
              <a:ext uri="{FF2B5EF4-FFF2-40B4-BE49-F238E27FC236}">
                <a16:creationId xmlns:a16="http://schemas.microsoft.com/office/drawing/2014/main" id="{19D75855-7EC8-4D95-8186-0105303345CF}"/>
              </a:ext>
            </a:extLst>
          </p:cNvPr>
          <p:cNvSpPr>
            <a:spLocks xmlns:a="http://schemas.openxmlformats.org/drawingml/2006/main" noGrp="1"/>
          </p:cNvSpPr>
          <p:nvPr/>
        </p:nvSpPr>
        <p:spPr>
          <a:xfrm xmlns:a="http://schemas.openxmlformats.org/drawingml/2006/main">
            <a:off x="5501157" y="135999"/>
            <a:ext cx="2323874"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8" name="LEGALES_TEXTO_30">
            <a:extLst xmlns:a="http://schemas.openxmlformats.org/drawingml/2006/main">
              <a:ext uri="{FF2B5EF4-FFF2-40B4-BE49-F238E27FC236}">
                <a16:creationId xmlns:a16="http://schemas.microsoft.com/office/drawing/2014/main" id="{AE048434-059E-43A2-80C3-21948358811C}"/>
              </a:ext>
            </a:extLst>
            <a:hlinkClick xmlns:r="http://schemas.openxmlformats.org/officeDocument/2006/relationships" xmlns:a="http://schemas.openxmlformats.org/drawingml/2006/main" r:id="R5b60e0be82104cba"/>
          </p:cNvPr>
          <p:cNvSpPr>
            <a:spLocks xmlns:a="http://schemas.openxmlformats.org/drawingml/2006/main" noGrp="1"/>
          </p:cNvSpPr>
          <p:nvPr/>
        </p:nvSpPr>
        <p:spPr>
          <a:xfrm xmlns:a="http://schemas.openxmlformats.org/drawingml/2006/main">
            <a:off x="5924880" y="225645"/>
            <a:ext cx="1896883"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rPr>
              <a:t>BIT CRT · bit.crt.gob.mx/BitWebApp</a:t>
            </a:r>
          </a:p>
        </p:txBody>
      </p:sp>
      <p:sp>
        <p:nvSpPr>
          <p:cNvPr id="49" name="LEGALES_TEXTO_31">
            <a:extLst xmlns:a="http://schemas.openxmlformats.org/drawingml/2006/main">
              <a:ext uri="{FF2B5EF4-FFF2-40B4-BE49-F238E27FC236}">
                <a16:creationId xmlns:a16="http://schemas.microsoft.com/office/drawing/2014/main" id="{A1121D0D-9FE4-4817-A841-9F7DB85C50E7}"/>
              </a:ext>
            </a:extLst>
          </p:cNvPr>
          <p:cNvSpPr>
            <a:spLocks xmlns:a="http://schemas.openxmlformats.org/drawingml/2006/main" noGrp="1"/>
          </p:cNvSpPr>
          <p:nvPr/>
        </p:nvSpPr>
        <p:spPr>
          <a:xfrm xmlns:a="http://schemas.openxmlformats.org/drawingml/2006/main">
            <a:off x="2616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Usuarios de servicios de telecomunicaciones</a:t>
            </a:r>
          </a:p>
        </p:txBody>
      </p:sp>
      <p:sp>
        <p:nvSpPr>
          <p:cNvPr id="50" name="LEGALES_TEXTO_32">
            <a:extLst xmlns:a="http://schemas.openxmlformats.org/drawingml/2006/main">
              <a:ext uri="{FF2B5EF4-FFF2-40B4-BE49-F238E27FC236}">
                <a16:creationId xmlns:a16="http://schemas.microsoft.com/office/drawing/2014/main" id="{E4AE738F-454F-4A78-8C28-63DD24B8A060}"/>
              </a:ext>
            </a:extLst>
          </p:cNvPr>
          <p:cNvSpPr>
            <a:spLocks xmlns:a="http://schemas.openxmlformats.org/drawingml/2006/main" noGrp="1"/>
          </p:cNvSpPr>
          <p:nvPr/>
        </p:nvSpPr>
        <p:spPr>
          <a:xfrm xmlns:a="http://schemas.openxmlformats.org/drawingml/2006/main">
            <a:off x="2616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“Usuarios de servicios de Telecomunicaciones”</a:t>
            </a:r>
            <a:r>
              <a:rPr sz="600" b="0" i="0">
                <a:solidFill>
                  <a:srgbClr val="26312F"/>
                </a:solidFill>
                <a:latin typeface="Noto Sans"/>
                <a:ea typeface="Noto Sans"/>
                <a:cs typeface="Noto Sans"/>
              </a:rPr>
              <a:t> se </a:t>
            </a:r>
          </a:p>
        </p:txBody>
      </p:sp>
      <p:sp>
        <p:nvSpPr>
          <p:cNvPr id="51" name="LEGALES_TEXTO_33">
            <a:extLst xmlns:a="http://schemas.openxmlformats.org/drawingml/2006/main">
              <a:ext uri="{FF2B5EF4-FFF2-40B4-BE49-F238E27FC236}">
                <a16:creationId xmlns:a16="http://schemas.microsoft.com/office/drawing/2014/main" id="{6FD85C88-57CE-4351-9F93-47D4ACFA2F46}"/>
              </a:ext>
            </a:extLst>
          </p:cNvPr>
          <p:cNvSpPr>
            <a:spLocks xmlns:a="http://schemas.openxmlformats.org/drawingml/2006/main" noGrp="1"/>
          </p:cNvSpPr>
          <p:nvPr/>
        </p:nvSpPr>
        <p:spPr>
          <a:xfrm xmlns:a="http://schemas.openxmlformats.org/drawingml/2006/main">
            <a:off x="2616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realizó con base en la información proporcionada por la Coordinación </a:t>
            </a:r>
          </a:p>
        </p:txBody>
      </p:sp>
      <p:sp>
        <p:nvSpPr>
          <p:cNvPr id="52" name="LEGALES_TEXTO_34">
            <a:extLst xmlns:a="http://schemas.openxmlformats.org/drawingml/2006/main">
              <a:ext uri="{FF2B5EF4-FFF2-40B4-BE49-F238E27FC236}">
                <a16:creationId xmlns:a16="http://schemas.microsoft.com/office/drawing/2014/main" id="{AEC40161-D7FE-4B43-BEEC-9C9B88D5A23B}"/>
              </a:ext>
            </a:extLst>
          </p:cNvPr>
          <p:cNvSpPr>
            <a:spLocks xmlns:a="http://schemas.openxmlformats.org/drawingml/2006/main" noGrp="1"/>
          </p:cNvSpPr>
          <p:nvPr/>
        </p:nvSpPr>
        <p:spPr>
          <a:xfrm xmlns:a="http://schemas.openxmlformats.org/drawingml/2006/main">
            <a:off x="2616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General de Política del Usuario (CGPU) del IFT, de acuerdo con la </a:t>
            </a:r>
          </a:p>
        </p:txBody>
      </p:sp>
      <p:sp>
        <p:nvSpPr>
          <p:cNvPr id="53" name="LEGALES_TEXTO_35">
            <a:extLst xmlns:a="http://schemas.openxmlformats.org/drawingml/2006/main">
              <a:ext uri="{FF2B5EF4-FFF2-40B4-BE49-F238E27FC236}">
                <a16:creationId xmlns:a16="http://schemas.microsoft.com/office/drawing/2014/main" id="{467B3509-F21B-483F-B360-7D5D4E8D967E}"/>
              </a:ext>
            </a:extLst>
          </p:cNvPr>
          <p:cNvSpPr>
            <a:spLocks xmlns:a="http://schemas.openxmlformats.org/drawingml/2006/main" noGrp="1"/>
          </p:cNvSpPr>
          <p:nvPr/>
        </p:nvSpPr>
        <p:spPr>
          <a:xfrm xmlns:a="http://schemas.openxmlformats.org/drawingml/2006/main">
            <a:off x="2616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 los siguientes documentos: “Tercera Encuesta 2023, </a:t>
            </a:r>
          </a:p>
        </p:txBody>
      </p:sp>
      <p:sp>
        <p:nvSpPr>
          <p:cNvPr id="54" name="LEGALES_TEXTO_36">
            <a:extLst xmlns:a="http://schemas.openxmlformats.org/drawingml/2006/main">
              <a:ext uri="{FF2B5EF4-FFF2-40B4-BE49-F238E27FC236}">
                <a16:creationId xmlns:a16="http://schemas.microsoft.com/office/drawing/2014/main" id="{1C8BC33B-86ED-4FD0-A052-56178FCEE798}"/>
              </a:ext>
            </a:extLst>
          </p:cNvPr>
          <p:cNvSpPr>
            <a:spLocks xmlns:a="http://schemas.openxmlformats.org/drawingml/2006/main" noGrp="1"/>
          </p:cNvSpPr>
          <p:nvPr/>
        </p:nvSpPr>
        <p:spPr>
          <a:xfrm xmlns:a="http://schemas.openxmlformats.org/drawingml/2006/main">
            <a:off x="2616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Usuarios de Servicios de Telecomunicaciones, de donde se obtuvieron los </a:t>
            </a:r>
          </a:p>
        </p:txBody>
      </p:sp>
      <p:sp>
        <p:nvSpPr>
          <p:cNvPr id="55" name="LEGALES_TEXTO_37">
            <a:extLst xmlns:a="http://schemas.openxmlformats.org/drawingml/2006/main">
              <a:ext uri="{FF2B5EF4-FFF2-40B4-BE49-F238E27FC236}">
                <a16:creationId xmlns:a16="http://schemas.microsoft.com/office/drawing/2014/main" id="{1A634FFD-37AA-4936-918C-6AC34A101ED4}"/>
              </a:ext>
            </a:extLst>
          </p:cNvPr>
          <p:cNvSpPr>
            <a:spLocks xmlns:a="http://schemas.openxmlformats.org/drawingml/2006/main" noGrp="1"/>
          </p:cNvSpPr>
          <p:nvPr/>
        </p:nvSpPr>
        <p:spPr>
          <a:xfrm xmlns:a="http://schemas.openxmlformats.org/drawingml/2006/main">
            <a:off x="2616175" y="13663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niveles de satisfacción que tienen las personas usuarias de los servicios </a:t>
            </a:r>
          </a:p>
        </p:txBody>
      </p:sp>
      <p:sp>
        <p:nvSpPr>
          <p:cNvPr id="56" name="LEGALES_TEXTO_38">
            <a:extLst xmlns:a="http://schemas.openxmlformats.org/drawingml/2006/main">
              <a:ext uri="{FF2B5EF4-FFF2-40B4-BE49-F238E27FC236}">
                <a16:creationId xmlns:a16="http://schemas.microsoft.com/office/drawing/2014/main" id="{239C74DE-A202-4DE6-B42A-96E30DDB9D5F}"/>
              </a:ext>
            </a:extLst>
          </p:cNvPr>
          <p:cNvSpPr>
            <a:spLocks xmlns:a="http://schemas.openxmlformats.org/drawingml/2006/main" noGrp="1"/>
          </p:cNvSpPr>
          <p:nvPr/>
        </p:nvSpPr>
        <p:spPr>
          <a:xfrm xmlns:a="http://schemas.openxmlformats.org/drawingml/2006/main">
            <a:off x="2616175" y="14668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de Internet fijo, Telefonía fija, Televisión de paga y </a:t>
            </a:r>
          </a:p>
        </p:txBody>
      </p:sp>
      <p:sp>
        <p:nvSpPr>
          <p:cNvPr id="57" name="LEGALES_TEXTO_39">
            <a:extLst xmlns:a="http://schemas.openxmlformats.org/drawingml/2006/main">
              <a:ext uri="{FF2B5EF4-FFF2-40B4-BE49-F238E27FC236}">
                <a16:creationId xmlns:a16="http://schemas.microsoft.com/office/drawing/2014/main" id="{3E17EF72-3C22-484D-B66D-E027FFD3EE38}"/>
              </a:ext>
            </a:extLst>
          </p:cNvPr>
          <p:cNvSpPr>
            <a:spLocks xmlns:a="http://schemas.openxmlformats.org/drawingml/2006/main" noGrp="1"/>
          </p:cNvSpPr>
          <p:nvPr/>
        </p:nvSpPr>
        <p:spPr>
          <a:xfrm xmlns:a="http://schemas.openxmlformats.org/drawingml/2006/main">
            <a:off x="2616175" y="15672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móvil; “Cuarta Encuesta 2023, Usuarios de Servicios de </a:t>
            </a:r>
          </a:p>
        </p:txBody>
      </p:sp>
      <p:sp>
        <p:nvSpPr>
          <p:cNvPr id="58" name="LEGALES_TEXTO_40">
            <a:extLst xmlns:a="http://schemas.openxmlformats.org/drawingml/2006/main">
              <a:ext uri="{FF2B5EF4-FFF2-40B4-BE49-F238E27FC236}">
                <a16:creationId xmlns:a16="http://schemas.microsoft.com/office/drawing/2014/main" id="{F52DAF0F-C49D-400E-83B9-CC261BA2321A}"/>
              </a:ext>
            </a:extLst>
          </p:cNvPr>
          <p:cNvSpPr>
            <a:spLocks xmlns:a="http://schemas.openxmlformats.org/drawingml/2006/main" noGrp="1"/>
          </p:cNvSpPr>
          <p:nvPr/>
        </p:nvSpPr>
        <p:spPr>
          <a:xfrm xmlns:a="http://schemas.openxmlformats.org/drawingml/2006/main">
            <a:off x="2616175" y="16677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(Micro, pequeñas y medianas empresas)”, de la que </a:t>
            </a:r>
          </a:p>
        </p:txBody>
      </p:sp>
      <p:sp>
        <p:nvSpPr>
          <p:cNvPr id="59" name="LEGALES_TEXTO_41">
            <a:extLst xmlns:a="http://schemas.openxmlformats.org/drawingml/2006/main">
              <a:ext uri="{FF2B5EF4-FFF2-40B4-BE49-F238E27FC236}">
                <a16:creationId xmlns:a16="http://schemas.microsoft.com/office/drawing/2014/main" id="{5F9C9DFE-8175-4657-8FAC-E29E1271EAE9}"/>
              </a:ext>
            </a:extLst>
          </p:cNvPr>
          <p:cNvSpPr>
            <a:spLocks xmlns:a="http://schemas.openxmlformats.org/drawingml/2006/main" noGrp="1"/>
          </p:cNvSpPr>
          <p:nvPr/>
        </p:nvSpPr>
        <p:spPr>
          <a:xfrm xmlns:a="http://schemas.openxmlformats.org/drawingml/2006/main">
            <a:off x="2616175" y="17681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 obtienen los niveles de satisfacción que tienen las empresas de los </a:t>
            </a:r>
          </a:p>
        </p:txBody>
      </p:sp>
      <p:sp>
        <p:nvSpPr>
          <p:cNvPr id="60" name="LEGALES_TEXTO_42">
            <a:extLst xmlns:a="http://schemas.openxmlformats.org/drawingml/2006/main">
              <a:ext uri="{FF2B5EF4-FFF2-40B4-BE49-F238E27FC236}">
                <a16:creationId xmlns:a16="http://schemas.microsoft.com/office/drawing/2014/main" id="{D64939D4-3226-4154-81CE-D9610B3EA348}"/>
              </a:ext>
            </a:extLst>
          </p:cNvPr>
          <p:cNvSpPr>
            <a:spLocks xmlns:a="http://schemas.openxmlformats.org/drawingml/2006/main" noGrp="1"/>
          </p:cNvSpPr>
          <p:nvPr/>
        </p:nvSpPr>
        <p:spPr>
          <a:xfrm xmlns:a="http://schemas.openxmlformats.org/drawingml/2006/main">
            <a:off x="2616175" y="186857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servicios de telecomunicaciones de Internet fijo, Telefonía fija, Televisión </a:t>
            </a:r>
          </a:p>
        </p:txBody>
      </p:sp>
      <p:sp>
        <p:nvSpPr>
          <p:cNvPr id="61" name="LEGALES_TEXTO_43">
            <a:extLst xmlns:a="http://schemas.openxmlformats.org/drawingml/2006/main">
              <a:ext uri="{FF2B5EF4-FFF2-40B4-BE49-F238E27FC236}">
                <a16:creationId xmlns:a16="http://schemas.microsoft.com/office/drawing/2014/main" id="{0A6E23C9-C2D6-4FCC-8969-0988501211F5}"/>
              </a:ext>
            </a:extLst>
          </p:cNvPr>
          <p:cNvSpPr>
            <a:spLocks xmlns:a="http://schemas.openxmlformats.org/drawingml/2006/main" noGrp="1"/>
          </p:cNvSpPr>
          <p:nvPr/>
        </p:nvSpPr>
        <p:spPr>
          <a:xfrm xmlns:a="http://schemas.openxmlformats.org/drawingml/2006/main">
            <a:off x="2616175" y="19690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paga y Telefonía móvil, los dispositivos que utilizan para realizar sus </a:t>
            </a:r>
          </a:p>
        </p:txBody>
      </p:sp>
      <p:sp>
        <p:nvSpPr>
          <p:cNvPr id="62" name="LEGALES_TEXTO_44">
            <a:extLst xmlns:a="http://schemas.openxmlformats.org/drawingml/2006/main">
              <a:ext uri="{FF2B5EF4-FFF2-40B4-BE49-F238E27FC236}">
                <a16:creationId xmlns:a16="http://schemas.microsoft.com/office/drawing/2014/main" id="{ED22C625-4DCE-473F-87CE-6A0EFB54E322}"/>
              </a:ext>
            </a:extLst>
          </p:cNvPr>
          <p:cNvSpPr>
            <a:spLocks xmlns:a="http://schemas.openxmlformats.org/drawingml/2006/main" noGrp="1"/>
          </p:cNvSpPr>
          <p:nvPr/>
        </p:nvSpPr>
        <p:spPr>
          <a:xfrm xmlns:a="http://schemas.openxmlformats.org/drawingml/2006/main">
            <a:off x="2616175" y="206946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actividades, los servicios de telecomunicaciones contratados por las </a:t>
            </a:r>
          </a:p>
        </p:txBody>
      </p:sp>
      <p:sp>
        <p:nvSpPr>
          <p:cNvPr id="63" name="LEGALES_TEXTO_45">
            <a:extLst xmlns:a="http://schemas.openxmlformats.org/drawingml/2006/main">
              <a:ext uri="{FF2B5EF4-FFF2-40B4-BE49-F238E27FC236}">
                <a16:creationId xmlns:a16="http://schemas.microsoft.com/office/drawing/2014/main" id="{6499F7CC-06AD-46DE-B79C-54581704A8EC}"/>
              </a:ext>
            </a:extLst>
          </p:cNvPr>
          <p:cNvSpPr>
            <a:spLocks xmlns:a="http://schemas.openxmlformats.org/drawingml/2006/main" noGrp="1"/>
          </p:cNvSpPr>
          <p:nvPr/>
        </p:nvSpPr>
        <p:spPr>
          <a:xfrm xmlns:a="http://schemas.openxmlformats.org/drawingml/2006/main">
            <a:off x="2616175" y="21698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y los beneficios que perciben de los servicios de </a:t>
            </a:r>
          </a:p>
        </p:txBody>
      </p:sp>
      <p:sp>
        <p:nvSpPr>
          <p:cNvPr id="64" name="LEGALES_TEXTO_46">
            <a:extLst xmlns:a="http://schemas.openxmlformats.org/drawingml/2006/main">
              <a:ext uri="{FF2B5EF4-FFF2-40B4-BE49-F238E27FC236}">
                <a16:creationId xmlns:a16="http://schemas.microsoft.com/office/drawing/2014/main" id="{7292D786-0D04-46B0-8687-68E90782C0FD}"/>
              </a:ext>
            </a:extLst>
          </p:cNvPr>
          <p:cNvSpPr>
            <a:spLocks xmlns:a="http://schemas.openxmlformats.org/drawingml/2006/main" noGrp="1"/>
          </p:cNvSpPr>
          <p:nvPr/>
        </p:nvSpPr>
        <p:spPr>
          <a:xfrm xmlns:a="http://schemas.openxmlformats.org/drawingml/2006/main">
            <a:off x="2616175" y="227034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“Contratación, percepción y uso del Internet fijo y </a:t>
            </a:r>
          </a:p>
        </p:txBody>
      </p:sp>
      <p:sp>
        <p:nvSpPr>
          <p:cNvPr id="65" name="LEGALES_TEXTO_47">
            <a:extLst xmlns:a="http://schemas.openxmlformats.org/drawingml/2006/main">
              <a:ext uri="{FF2B5EF4-FFF2-40B4-BE49-F238E27FC236}">
                <a16:creationId xmlns:a16="http://schemas.microsoft.com/office/drawing/2014/main" id="{20264679-6DF8-42F5-9ABD-E3A2AF1E320D}"/>
              </a:ext>
            </a:extLst>
          </p:cNvPr>
          <p:cNvSpPr>
            <a:spLocks xmlns:a="http://schemas.openxmlformats.org/drawingml/2006/main" noGrp="1"/>
          </p:cNvSpPr>
          <p:nvPr/>
        </p:nvSpPr>
        <p:spPr>
          <a:xfrm xmlns:a="http://schemas.openxmlformats.org/drawingml/2006/main">
            <a:off x="2616175" y="237078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fija en las micro, pequeñas y medianas empresas (MiPymes) </a:t>
            </a:r>
          </a:p>
        </p:txBody>
      </p:sp>
      <p:sp>
        <p:nvSpPr>
          <p:cNvPr id="66" name="LEGALES_TEXTO_48">
            <a:extLst xmlns:a="http://schemas.openxmlformats.org/drawingml/2006/main">
              <a:ext uri="{FF2B5EF4-FFF2-40B4-BE49-F238E27FC236}">
                <a16:creationId xmlns:a16="http://schemas.microsoft.com/office/drawing/2014/main" id="{A42396E9-8F8F-4DE5-BA66-BA2A14A7C37D}"/>
              </a:ext>
            </a:extLst>
          </p:cNvPr>
          <p:cNvSpPr>
            <a:spLocks xmlns:a="http://schemas.openxmlformats.org/drawingml/2006/main" noGrp="1"/>
          </p:cNvSpPr>
          <p:nvPr/>
        </p:nvSpPr>
        <p:spPr>
          <a:xfrm xmlns:a="http://schemas.openxmlformats.org/drawingml/2006/main">
            <a:off x="2616175" y="247121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realizar actividades de importación y/o exportación”, del cual se </a:t>
            </a:r>
          </a:p>
        </p:txBody>
      </p:sp>
      <p:sp>
        <p:nvSpPr>
          <p:cNvPr id="67" name="LEGALES_TEXTO_49">
            <a:extLst xmlns:a="http://schemas.openxmlformats.org/drawingml/2006/main">
              <a:ext uri="{FF2B5EF4-FFF2-40B4-BE49-F238E27FC236}">
                <a16:creationId xmlns:a16="http://schemas.microsoft.com/office/drawing/2014/main" id="{272D65AD-0B0E-4CF2-AAE1-7CA49172901A}"/>
              </a:ext>
            </a:extLst>
          </p:cNvPr>
          <p:cNvSpPr>
            <a:spLocks xmlns:a="http://schemas.openxmlformats.org/drawingml/2006/main" noGrp="1"/>
          </p:cNvSpPr>
          <p:nvPr/>
        </p:nvSpPr>
        <p:spPr>
          <a:xfrm xmlns:a="http://schemas.openxmlformats.org/drawingml/2006/main">
            <a:off x="2616175" y="257166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obtuvo información de los servicios que consideran más importantes las </a:t>
            </a:r>
          </a:p>
        </p:txBody>
      </p:sp>
      <p:sp>
        <p:nvSpPr>
          <p:cNvPr id="68" name="LEGALES_TEXTO_50">
            <a:extLst xmlns:a="http://schemas.openxmlformats.org/drawingml/2006/main">
              <a:ext uri="{FF2B5EF4-FFF2-40B4-BE49-F238E27FC236}">
                <a16:creationId xmlns:a16="http://schemas.microsoft.com/office/drawing/2014/main" id="{A7B45028-B284-4E9D-974E-7FB2FBE636C1}"/>
              </a:ext>
            </a:extLst>
          </p:cNvPr>
          <p:cNvSpPr>
            <a:spLocks xmlns:a="http://schemas.openxmlformats.org/drawingml/2006/main" noGrp="1"/>
          </p:cNvSpPr>
          <p:nvPr/>
        </p:nvSpPr>
        <p:spPr>
          <a:xfrm xmlns:a="http://schemas.openxmlformats.org/drawingml/2006/main">
            <a:off x="2616175" y="267210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para realizar sus actividades de importación y/o exportación; y </a:t>
            </a:r>
          </a:p>
        </p:txBody>
      </p:sp>
      <p:sp>
        <p:nvSpPr>
          <p:cNvPr id="69" name="LEGALES_TEXTO_51">
            <a:extLst xmlns:a="http://schemas.openxmlformats.org/drawingml/2006/main">
              <a:ext uri="{FF2B5EF4-FFF2-40B4-BE49-F238E27FC236}">
                <a16:creationId xmlns:a16="http://schemas.microsoft.com/office/drawing/2014/main" id="{FC95FC02-0B6E-43B1-85CB-2F92154B8F07}"/>
              </a:ext>
            </a:extLst>
          </p:cNvPr>
          <p:cNvSpPr>
            <a:spLocks xmlns:a="http://schemas.openxmlformats.org/drawingml/2006/main" noGrp="1"/>
          </p:cNvSpPr>
          <p:nvPr/>
        </p:nvSpPr>
        <p:spPr>
          <a:xfrm xmlns:a="http://schemas.openxmlformats.org/drawingml/2006/main">
            <a:off x="2616175" y="27725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finalmente, </a:t>
            </a:r>
            <a:r>
              <a:rPr sz="600" b="1" i="0">
                <a:solidFill>
                  <a:srgbClr val="1F6F66"/>
                </a:solidFill>
                <a:latin typeface="Noto Sans"/>
                <a:ea typeface="Noto Sans"/>
                <a:cs typeface="Noto Sans"/>
              </a:rPr>
              <a:t>“Conocimiento y percepción sobre la Inteligencia </a:t>
            </a:r>
          </a:p>
        </p:txBody>
      </p:sp>
      <p:sp>
        <p:nvSpPr>
          <p:cNvPr id="70" name="LEGALES_TEXTO_52">
            <a:extLst xmlns:a="http://schemas.openxmlformats.org/drawingml/2006/main">
              <a:ext uri="{FF2B5EF4-FFF2-40B4-BE49-F238E27FC236}">
                <a16:creationId xmlns:a16="http://schemas.microsoft.com/office/drawing/2014/main" id="{80EC98BA-85D8-4AFD-BD32-1F24B52DA682}"/>
              </a:ext>
            </a:extLst>
          </p:cNvPr>
          <p:cNvSpPr>
            <a:spLocks xmlns:a="http://schemas.openxmlformats.org/drawingml/2006/main" noGrp="1"/>
          </p:cNvSpPr>
          <p:nvPr/>
        </p:nvSpPr>
        <p:spPr>
          <a:xfrm xmlns:a="http://schemas.openxmlformats.org/drawingml/2006/main">
            <a:off x="2616175" y="28729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Artificial (IA) y ChatGPT 2023”</a:t>
            </a:r>
            <a:r>
              <a:rPr sz="600" b="0" i="0">
                <a:solidFill>
                  <a:srgbClr val="26312F"/>
                </a:solidFill>
                <a:latin typeface="Noto Sans"/>
                <a:ea typeface="Noto Sans"/>
                <a:cs typeface="Noto Sans"/>
              </a:rPr>
              <a:t> para los principales hallazgos de la </a:t>
            </a:r>
          </a:p>
        </p:txBody>
      </p:sp>
      <p:sp>
        <p:nvSpPr>
          <p:cNvPr id="71" name="LEGALES_TEXTO_53">
            <a:extLst xmlns:a="http://schemas.openxmlformats.org/drawingml/2006/main">
              <a:ext uri="{FF2B5EF4-FFF2-40B4-BE49-F238E27FC236}">
                <a16:creationId xmlns:a16="http://schemas.microsoft.com/office/drawing/2014/main" id="{93CB2EEA-4357-4963-859F-4F13546BAE08}"/>
              </a:ext>
            </a:extLst>
          </p:cNvPr>
          <p:cNvSpPr>
            <a:spLocks xmlns:a="http://schemas.openxmlformats.org/drawingml/2006/main" noGrp="1"/>
          </p:cNvSpPr>
          <p:nvPr/>
        </p:nvSpPr>
        <p:spPr>
          <a:xfrm xmlns:a="http://schemas.openxmlformats.org/drawingml/2006/main">
            <a:off x="2616175" y="297342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Inteligencia Artificial (IA) y ChatGPT.</a:t>
            </a:r>
          </a:p>
        </p:txBody>
      </p:sp>
      <p:sp>
        <p:nvSpPr>
          <p:cNvPr id="72" name="LEGALES_TEXTO_54">
            <a:extLst xmlns:a="http://schemas.openxmlformats.org/drawingml/2006/main">
              <a:ext uri="{FF2B5EF4-FFF2-40B4-BE49-F238E27FC236}">
                <a16:creationId xmlns:a16="http://schemas.microsoft.com/office/drawing/2014/main" id="{6234D4D9-5CD4-4A93-9BCF-5959B550EE61}"/>
              </a:ext>
            </a:extLst>
          </p:cNvPr>
          <p:cNvSpPr>
            <a:spLocks xmlns:a="http://schemas.openxmlformats.org/drawingml/2006/main" noGrp="1"/>
          </p:cNvSpPr>
          <p:nvPr/>
        </p:nvSpPr>
        <p:spPr>
          <a:xfrm xmlns:a="http://schemas.openxmlformats.org/drawingml/2006/main">
            <a:off x="2616175" y="3520023"/>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Tecnologías de la Información y Comunicación (TIC)</a:t>
            </a:r>
          </a:p>
        </p:txBody>
      </p:sp>
      <p:sp>
        <p:nvSpPr>
          <p:cNvPr id="73" name="LEGALES_TEXTO_55">
            <a:extLst xmlns:a="http://schemas.openxmlformats.org/drawingml/2006/main">
              <a:ext uri="{FF2B5EF4-FFF2-40B4-BE49-F238E27FC236}">
                <a16:creationId xmlns:a16="http://schemas.microsoft.com/office/drawing/2014/main" id="{5DCC1703-A843-488B-ADC6-0B2B564C6118}"/>
              </a:ext>
            </a:extLst>
          </p:cNvPr>
          <p:cNvSpPr>
            <a:spLocks xmlns:a="http://schemas.openxmlformats.org/drawingml/2006/main" noGrp="1"/>
          </p:cNvSpPr>
          <p:nvPr/>
        </p:nvSpPr>
        <p:spPr>
          <a:xfrm xmlns:a="http://schemas.openxmlformats.org/drawingml/2006/main">
            <a:off x="2616175" y="368570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la sección de </a:t>
            </a:r>
            <a:r>
              <a:rPr sz="600" b="1" i="0">
                <a:solidFill>
                  <a:srgbClr val="1F6F66"/>
                </a:solidFill>
                <a:latin typeface="Noto Sans"/>
                <a:ea typeface="Noto Sans"/>
                <a:cs typeface="Noto Sans"/>
              </a:rPr>
              <a:t>“Tecnologías de la Información y Comunicación </a:t>
            </a:r>
          </a:p>
        </p:txBody>
      </p:sp>
      <p:sp>
        <p:nvSpPr>
          <p:cNvPr id="74" name="LEGALES_TEXTO_56">
            <a:extLst xmlns:a="http://schemas.openxmlformats.org/drawingml/2006/main">
              <a:ext uri="{FF2B5EF4-FFF2-40B4-BE49-F238E27FC236}">
                <a16:creationId xmlns:a16="http://schemas.microsoft.com/office/drawing/2014/main" id="{C58A70E0-D0BB-46E2-B798-D08C91B82CD3}"/>
              </a:ext>
            </a:extLst>
          </p:cNvPr>
          <p:cNvSpPr>
            <a:spLocks xmlns:a="http://schemas.openxmlformats.org/drawingml/2006/main" noGrp="1"/>
          </p:cNvSpPr>
          <p:nvPr/>
        </p:nvSpPr>
        <p:spPr>
          <a:xfrm xmlns:a="http://schemas.openxmlformats.org/drawingml/2006/main">
            <a:off x="2616175" y="37861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(TIC)”</a:t>
            </a:r>
            <a:r>
              <a:rPr sz="600" b="0" i="0">
                <a:solidFill>
                  <a:srgbClr val="26312F"/>
                </a:solidFill>
                <a:latin typeface="Noto Sans"/>
                <a:ea typeface="Noto Sans"/>
                <a:cs typeface="Noto Sans"/>
              </a:rPr>
              <a:t> se utilizó información de la </a:t>
            </a:r>
            <a:r>
              <a:rPr sz="600" b="1" i="0">
                <a:solidFill>
                  <a:srgbClr val="1F6F66"/>
                </a:solidFill>
                <a:latin typeface="Noto Sans"/>
                <a:ea typeface="Noto Sans"/>
                <a:cs typeface="Noto Sans"/>
              </a:rPr>
              <a:t>“Encuesta Nacional sobre </a:t>
            </a:r>
          </a:p>
        </p:txBody>
      </p:sp>
      <p:sp>
        <p:nvSpPr>
          <p:cNvPr id="75" name="LEGALES_TEXTO_57">
            <a:extLst xmlns:a="http://schemas.openxmlformats.org/drawingml/2006/main">
              <a:ext uri="{FF2B5EF4-FFF2-40B4-BE49-F238E27FC236}">
                <a16:creationId xmlns:a16="http://schemas.microsoft.com/office/drawing/2014/main" id="{874BA817-93AA-461A-96E0-21ABAFE93118}"/>
              </a:ext>
            </a:extLst>
          </p:cNvPr>
          <p:cNvSpPr>
            <a:spLocks xmlns:a="http://schemas.openxmlformats.org/drawingml/2006/main" noGrp="1"/>
          </p:cNvSpPr>
          <p:nvPr/>
        </p:nvSpPr>
        <p:spPr>
          <a:xfrm xmlns:a="http://schemas.openxmlformats.org/drawingml/2006/main">
            <a:off x="2616175" y="38865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Disponibilidad y Uso de Tecnologías de la Información en los </a:t>
            </a:r>
          </a:p>
        </p:txBody>
      </p:sp>
      <p:sp>
        <p:nvSpPr>
          <p:cNvPr id="76" name="LEGALES_TEXTO_58">
            <a:extLst xmlns:a="http://schemas.openxmlformats.org/drawingml/2006/main">
              <a:ext uri="{FF2B5EF4-FFF2-40B4-BE49-F238E27FC236}">
                <a16:creationId xmlns:a16="http://schemas.microsoft.com/office/drawing/2014/main" id="{54259248-885B-444B-97AD-5D72EE24BC05}"/>
              </a:ext>
            </a:extLst>
          </p:cNvPr>
          <p:cNvSpPr>
            <a:spLocks xmlns:a="http://schemas.openxmlformats.org/drawingml/2006/main" noGrp="1"/>
          </p:cNvSpPr>
          <p:nvPr/>
        </p:nvSpPr>
        <p:spPr>
          <a:xfrm xmlns:a="http://schemas.openxmlformats.org/drawingml/2006/main">
            <a:off x="2616175" y="39870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Hogares (ENDUTIH) 2023”</a:t>
            </a:r>
            <a:r>
              <a:rPr sz="600" b="0" i="0">
                <a:solidFill>
                  <a:srgbClr val="26312F"/>
                </a:solidFill>
                <a:latin typeface="Noto Sans"/>
                <a:ea typeface="Noto Sans"/>
                <a:cs typeface="Noto Sans"/>
              </a:rPr>
              <a:t> para obtener la disponibilidad de las TIC en </a:t>
            </a:r>
          </a:p>
        </p:txBody>
      </p:sp>
      <p:sp>
        <p:nvSpPr>
          <p:cNvPr id="77" name="LEGALES_TEXTO_59">
            <a:extLst xmlns:a="http://schemas.openxmlformats.org/drawingml/2006/main">
              <a:ext uri="{FF2B5EF4-FFF2-40B4-BE49-F238E27FC236}">
                <a16:creationId xmlns:a16="http://schemas.microsoft.com/office/drawing/2014/main" id="{63783503-A25A-4874-A398-D7F5A75D0539}"/>
              </a:ext>
            </a:extLst>
          </p:cNvPr>
          <p:cNvSpPr>
            <a:spLocks xmlns:a="http://schemas.openxmlformats.org/drawingml/2006/main" noGrp="1"/>
          </p:cNvSpPr>
          <p:nvPr/>
        </p:nvSpPr>
        <p:spPr>
          <a:xfrm xmlns:a="http://schemas.openxmlformats.org/drawingml/2006/main">
            <a:off x="2616175" y="4087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los hogares, el uso de </a:t>
            </a:r>
            <a:r>
              <a:rPr sz="600" b="0" i="1">
                <a:solidFill>
                  <a:srgbClr val="26312F"/>
                </a:solidFill>
                <a:latin typeface="Noto Sans"/>
                <a:ea typeface="Noto Sans"/>
                <a:cs typeface="Noto Sans"/>
              </a:rPr>
              <a:t>Smartphone</a:t>
            </a:r>
            <a:r>
              <a:rPr sz="600" b="0" i="0">
                <a:solidFill>
                  <a:srgbClr val="26312F"/>
                </a:solidFill>
                <a:latin typeface="Noto Sans"/>
                <a:ea typeface="Noto Sans"/>
                <a:cs typeface="Noto Sans"/>
              </a:rPr>
              <a:t> e Internet por grupos de edad, el </a:t>
            </a:r>
          </a:p>
        </p:txBody>
      </p:sp>
      <p:sp>
        <p:nvSpPr>
          <p:cNvPr id="78" name="LEGALES_TEXTO_60">
            <a:extLst xmlns:a="http://schemas.openxmlformats.org/drawingml/2006/main">
              <a:ext uri="{FF2B5EF4-FFF2-40B4-BE49-F238E27FC236}">
                <a16:creationId xmlns:a16="http://schemas.microsoft.com/office/drawing/2014/main" id="{89CAA21E-26B7-41C7-930C-C208CF22536D}"/>
              </a:ext>
            </a:extLst>
          </p:cNvPr>
          <p:cNvSpPr>
            <a:spLocks xmlns:a="http://schemas.openxmlformats.org/drawingml/2006/main" noGrp="1"/>
          </p:cNvSpPr>
          <p:nvPr/>
        </p:nvSpPr>
        <p:spPr>
          <a:xfrm xmlns:a="http://schemas.openxmlformats.org/drawingml/2006/main">
            <a:off x="2616175" y="41879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porcentaje de horas promedio de uso de Internet por grupos de edad y el </a:t>
            </a:r>
          </a:p>
        </p:txBody>
      </p:sp>
      <p:sp>
        <p:nvSpPr>
          <p:cNvPr id="79" name="LEGALES_TEXTO_61">
            <a:extLst xmlns:a="http://schemas.openxmlformats.org/drawingml/2006/main">
              <a:ext uri="{FF2B5EF4-FFF2-40B4-BE49-F238E27FC236}">
                <a16:creationId xmlns:a16="http://schemas.microsoft.com/office/drawing/2014/main" id="{402944B1-8F18-452B-A2CB-203ECD6301A8}"/>
              </a:ext>
            </a:extLst>
          </p:cNvPr>
          <p:cNvSpPr>
            <a:spLocks xmlns:a="http://schemas.openxmlformats.org/drawingml/2006/main" noGrp="1"/>
          </p:cNvSpPr>
          <p:nvPr/>
        </p:nvSpPr>
        <p:spPr>
          <a:xfrm xmlns:a="http://schemas.openxmlformats.org/drawingml/2006/main">
            <a:off x="2616175" y="42883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uso de dispositivos inteligentes conectados a Internet; para los efectos de </a:t>
            </a:r>
          </a:p>
        </p:txBody>
      </p:sp>
      <p:sp>
        <p:nvSpPr>
          <p:cNvPr id="80" name="LEGALES_TEXTO_62">
            <a:extLst xmlns:a="http://schemas.openxmlformats.org/drawingml/2006/main">
              <a:ext uri="{FF2B5EF4-FFF2-40B4-BE49-F238E27FC236}">
                <a16:creationId xmlns:a16="http://schemas.microsoft.com/office/drawing/2014/main" id="{015CBCF2-2A54-4EAC-806D-8D5654BF4EDD}"/>
              </a:ext>
            </a:extLst>
          </p:cNvPr>
          <p:cNvSpPr>
            <a:spLocks xmlns:a="http://schemas.openxmlformats.org/drawingml/2006/main" noGrp="1"/>
          </p:cNvSpPr>
          <p:nvPr/>
        </p:nvSpPr>
        <p:spPr>
          <a:xfrm xmlns:a="http://schemas.openxmlformats.org/drawingml/2006/main">
            <a:off x="2616175" y="438877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desconfianza en Internet sobre las actividades en línea de los usuarios </a:t>
            </a:r>
          </a:p>
        </p:txBody>
      </p:sp>
      <p:sp>
        <p:nvSpPr>
          <p:cNvPr id="81" name="LEGALES_TEXTO_63">
            <a:extLst xmlns:a="http://schemas.openxmlformats.org/drawingml/2006/main">
              <a:ext uri="{FF2B5EF4-FFF2-40B4-BE49-F238E27FC236}">
                <a16:creationId xmlns:a16="http://schemas.microsoft.com/office/drawing/2014/main" id="{174D32EB-2058-4884-9DFA-FE5FD0D8FA1F}"/>
              </a:ext>
            </a:extLst>
          </p:cNvPr>
          <p:cNvSpPr>
            <a:spLocks xmlns:a="http://schemas.openxmlformats.org/drawingml/2006/main" noGrp="1"/>
          </p:cNvSpPr>
          <p:nvPr/>
        </p:nvSpPr>
        <p:spPr>
          <a:xfrm xmlns:a="http://schemas.openxmlformats.org/drawingml/2006/main">
            <a:off x="2616175" y="44892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y la percepción o grado de desconfianza que tienen las personas al hacer </a:t>
            </a:r>
          </a:p>
        </p:txBody>
      </p:sp>
      <p:sp>
        <p:nvSpPr>
          <p:cNvPr id="82" name="LEGALES_TEXTO_64">
            <a:extLst xmlns:a="http://schemas.openxmlformats.org/drawingml/2006/main">
              <a:ext uri="{FF2B5EF4-FFF2-40B4-BE49-F238E27FC236}">
                <a16:creationId xmlns:a16="http://schemas.microsoft.com/office/drawing/2014/main" id="{B6D9C307-668A-4F2B-9909-6B2F3D234587}"/>
              </a:ext>
            </a:extLst>
          </p:cNvPr>
          <p:cNvSpPr>
            <a:spLocks xmlns:a="http://schemas.openxmlformats.org/drawingml/2006/main" noGrp="1"/>
          </p:cNvSpPr>
          <p:nvPr/>
        </p:nvSpPr>
        <p:spPr>
          <a:xfrm xmlns:a="http://schemas.openxmlformats.org/drawingml/2006/main">
            <a:off x="2616175" y="45896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uso del Internet se consultó la Encuesta de Confianza Servicio de </a:t>
            </a:r>
          </a:p>
        </p:txBody>
      </p:sp>
      <p:sp>
        <p:nvSpPr>
          <p:cNvPr id="83" name="LEGALES_TEXTO_65">
            <a:extLst xmlns:a="http://schemas.openxmlformats.org/drawingml/2006/main">
              <a:ext uri="{FF2B5EF4-FFF2-40B4-BE49-F238E27FC236}">
                <a16:creationId xmlns:a16="http://schemas.microsoft.com/office/drawing/2014/main" id="{553CD496-F665-44C3-A9E2-19ACC4BC5B65}"/>
              </a:ext>
            </a:extLst>
          </p:cNvPr>
          <p:cNvSpPr>
            <a:spLocks xmlns:a="http://schemas.openxmlformats.org/drawingml/2006/main" noGrp="1"/>
          </p:cNvSpPr>
          <p:nvPr/>
        </p:nvSpPr>
        <p:spPr>
          <a:xfrm xmlns:a="http://schemas.openxmlformats.org/drawingml/2006/main">
            <a:off x="2616175" y="46900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Internet (ECSI) 2024 del IFT.</a:t>
            </a:r>
          </a:p>
        </p:txBody>
      </p:sp>
      <p:sp>
        <p:nvSpPr>
          <p:cNvPr id="84" name="LEGALES_TEXTO_66">
            <a:extLst xmlns:a="http://schemas.openxmlformats.org/drawingml/2006/main">
              <a:ext uri="{FF2B5EF4-FFF2-40B4-BE49-F238E27FC236}">
                <a16:creationId xmlns:a16="http://schemas.microsoft.com/office/drawing/2014/main" id="{D31411B6-7FF1-4573-A4DE-05DE842306CB}"/>
              </a:ext>
            </a:extLst>
          </p:cNvPr>
          <p:cNvSpPr>
            <a:spLocks xmlns:a="http://schemas.openxmlformats.org/drawingml/2006/main" noGrp="1"/>
          </p:cNvSpPr>
          <p:nvPr/>
        </p:nvSpPr>
        <p:spPr>
          <a:xfrm xmlns:a="http://schemas.openxmlformats.org/drawingml/2006/main">
            <a:off x="5842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Indicadores con perspectiva de género</a:t>
            </a:r>
          </a:p>
        </p:txBody>
      </p:sp>
      <p:sp>
        <p:nvSpPr>
          <p:cNvPr id="85" name="LEGALES_TEXTO_67">
            <a:extLst xmlns:a="http://schemas.openxmlformats.org/drawingml/2006/main">
              <a:ext uri="{FF2B5EF4-FFF2-40B4-BE49-F238E27FC236}">
                <a16:creationId xmlns:a16="http://schemas.microsoft.com/office/drawing/2014/main" id="{4615CCDC-A12B-40EC-9027-6F9AB766FFD7}"/>
              </a:ext>
            </a:extLst>
          </p:cNvPr>
          <p:cNvSpPr>
            <a:spLocks xmlns:a="http://schemas.openxmlformats.org/drawingml/2006/main" noGrp="1"/>
          </p:cNvSpPr>
          <p:nvPr/>
        </p:nvSpPr>
        <p:spPr>
          <a:xfrm xmlns:a="http://schemas.openxmlformats.org/drawingml/2006/main">
            <a:off x="5842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“Indicadores con perspectiva de género”</a:t>
            </a:r>
            <a:r>
              <a:rPr sz="600" b="0" i="0">
                <a:solidFill>
                  <a:srgbClr val="26312F"/>
                </a:solidFill>
                <a:latin typeface="Noto Sans"/>
                <a:ea typeface="Noto Sans"/>
                <a:cs typeface="Noto Sans"/>
              </a:rPr>
              <a:t> se realizó </a:t>
            </a:r>
          </a:p>
        </p:txBody>
      </p:sp>
      <p:sp>
        <p:nvSpPr>
          <p:cNvPr id="86" name="LEGALES_TEXTO_68">
            <a:extLst xmlns:a="http://schemas.openxmlformats.org/drawingml/2006/main">
              <a:ext uri="{FF2B5EF4-FFF2-40B4-BE49-F238E27FC236}">
                <a16:creationId xmlns:a16="http://schemas.microsoft.com/office/drawing/2014/main" id="{44036247-F94D-46A0-B27D-F819A9F85F2D}"/>
              </a:ext>
            </a:extLst>
          </p:cNvPr>
          <p:cNvSpPr>
            <a:spLocks xmlns:a="http://schemas.openxmlformats.org/drawingml/2006/main" noGrp="1"/>
          </p:cNvSpPr>
          <p:nvPr/>
        </p:nvSpPr>
        <p:spPr>
          <a:xfrm xmlns:a="http://schemas.openxmlformats.org/drawingml/2006/main">
            <a:off x="5842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con información obtenida de la </a:t>
            </a:r>
            <a:r>
              <a:rPr sz="600" b="1" i="0">
                <a:solidFill>
                  <a:srgbClr val="1F6F66"/>
                </a:solidFill>
                <a:latin typeface="Noto Sans"/>
                <a:ea typeface="Noto Sans"/>
                <a:cs typeface="Noto Sans"/>
              </a:rPr>
              <a:t>“ENDUTIH 2023”</a:t>
            </a:r>
            <a:r>
              <a:rPr sz="600" b="0" i="0">
                <a:solidFill>
                  <a:srgbClr val="26312F"/>
                </a:solidFill>
                <a:latin typeface="Noto Sans"/>
                <a:ea typeface="Noto Sans"/>
                <a:cs typeface="Noto Sans"/>
              </a:rPr>
              <a:t>, la </a:t>
            </a:r>
            <a:r>
              <a:rPr sz="600" b="1" i="0">
                <a:solidFill>
                  <a:srgbClr val="1F6F66"/>
                </a:solidFill>
                <a:latin typeface="Noto Sans"/>
                <a:ea typeface="Noto Sans"/>
                <a:cs typeface="Noto Sans"/>
              </a:rPr>
              <a:t>“Encuesta </a:t>
            </a:r>
          </a:p>
        </p:txBody>
      </p:sp>
      <p:sp>
        <p:nvSpPr>
          <p:cNvPr id="87" name="LEGALES_TEXTO_69">
            <a:extLst xmlns:a="http://schemas.openxmlformats.org/drawingml/2006/main">
              <a:ext uri="{FF2B5EF4-FFF2-40B4-BE49-F238E27FC236}">
                <a16:creationId xmlns:a16="http://schemas.microsoft.com/office/drawing/2014/main" id="{18E797FC-7C07-4216-98B4-B52984A311E7}"/>
              </a:ext>
            </a:extLst>
          </p:cNvPr>
          <p:cNvSpPr>
            <a:spLocks xmlns:a="http://schemas.openxmlformats.org/drawingml/2006/main" noGrp="1"/>
          </p:cNvSpPr>
          <p:nvPr/>
        </p:nvSpPr>
        <p:spPr>
          <a:xfrm xmlns:a="http://schemas.openxmlformats.org/drawingml/2006/main">
            <a:off x="5842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Nacional de Ocupación y Empleo (ENOE) 2024”</a:t>
            </a:r>
            <a:r>
              <a:rPr sz="600" b="0" i="0">
                <a:solidFill>
                  <a:srgbClr val="26312F"/>
                </a:solidFill>
                <a:latin typeface="Noto Sans"/>
                <a:ea typeface="Noto Sans"/>
                <a:cs typeface="Noto Sans"/>
              </a:rPr>
              <a:t> y el Módulo sobre </a:t>
            </a:r>
          </a:p>
        </p:txBody>
      </p:sp>
      <p:sp>
        <p:nvSpPr>
          <p:cNvPr id="88" name="LEGALES_TEXTO_70">
            <a:extLst xmlns:a="http://schemas.openxmlformats.org/drawingml/2006/main">
              <a:ext uri="{FF2B5EF4-FFF2-40B4-BE49-F238E27FC236}">
                <a16:creationId xmlns:a16="http://schemas.microsoft.com/office/drawing/2014/main" id="{A3C6FA5F-01B5-44AB-AE30-55796084AB69}"/>
              </a:ext>
            </a:extLst>
          </p:cNvPr>
          <p:cNvSpPr>
            <a:spLocks xmlns:a="http://schemas.openxmlformats.org/drawingml/2006/main" noGrp="1"/>
          </p:cNvSpPr>
          <p:nvPr/>
        </p:nvSpPr>
        <p:spPr>
          <a:xfrm xmlns:a="http://schemas.openxmlformats.org/drawingml/2006/main">
            <a:off x="5842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Ciberacoso (MOCIBA) 2023 del INEGI, así como de la Tercera Encuesta </a:t>
            </a:r>
          </a:p>
        </p:txBody>
      </p:sp>
      <p:sp>
        <p:nvSpPr>
          <p:cNvPr id="89" name="LEGALES_TEXTO_71">
            <a:extLst xmlns:a="http://schemas.openxmlformats.org/drawingml/2006/main">
              <a:ext uri="{FF2B5EF4-FFF2-40B4-BE49-F238E27FC236}">
                <a16:creationId xmlns:a16="http://schemas.microsoft.com/office/drawing/2014/main" id="{7C467844-57DD-44AD-B89E-DC6D75A7BDAF}"/>
              </a:ext>
            </a:extLst>
          </p:cNvPr>
          <p:cNvSpPr>
            <a:spLocks xmlns:a="http://schemas.openxmlformats.org/drawingml/2006/main" noGrp="1"/>
          </p:cNvSpPr>
          <p:nvPr/>
        </p:nvSpPr>
        <p:spPr>
          <a:xfrm xmlns:a="http://schemas.openxmlformats.org/drawingml/2006/main">
            <a:off x="5842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2023, Usuarios de Servicios de Telecomunicaciones de CGPU .</a:t>
            </a:r>
          </a:p>
        </p:txBody>
      </p:sp>
      <p:sp>
        <p:nvSpPr>
          <p:cNvPr id="90" name="LEGALES_TEXTO_72">
            <a:extLst xmlns:a="http://schemas.openxmlformats.org/drawingml/2006/main">
              <a:ext uri="{FF2B5EF4-FFF2-40B4-BE49-F238E27FC236}">
                <a16:creationId xmlns:a16="http://schemas.microsoft.com/office/drawing/2014/main" id="{BD1FBA6A-BABF-40C7-9392-81C8C0DE389D}"/>
              </a:ext>
            </a:extLst>
          </p:cNvPr>
          <p:cNvSpPr>
            <a:spLocks xmlns:a="http://schemas.openxmlformats.org/drawingml/2006/main" noGrp="1"/>
          </p:cNvSpPr>
          <p:nvPr/>
        </p:nvSpPr>
        <p:spPr>
          <a:xfrm xmlns:a="http://schemas.openxmlformats.org/drawingml/2006/main">
            <a:off x="5842175" y="1581228"/>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Panorama de consumo de televisión y radio</a:t>
            </a:r>
          </a:p>
        </p:txBody>
      </p:sp>
      <p:sp>
        <p:nvSpPr>
          <p:cNvPr id="91" name="LEGALES_TEXTO_73">
            <a:extLst xmlns:a="http://schemas.openxmlformats.org/drawingml/2006/main">
              <a:ext uri="{FF2B5EF4-FFF2-40B4-BE49-F238E27FC236}">
                <a16:creationId xmlns:a16="http://schemas.microsoft.com/office/drawing/2014/main" id="{C240A1AD-1990-4EFF-8DBF-F851D4BC111A}"/>
              </a:ext>
            </a:extLst>
          </p:cNvPr>
          <p:cNvSpPr>
            <a:spLocks xmlns:a="http://schemas.openxmlformats.org/drawingml/2006/main" noGrp="1"/>
          </p:cNvSpPr>
          <p:nvPr/>
        </p:nvSpPr>
        <p:spPr>
          <a:xfrm xmlns:a="http://schemas.openxmlformats.org/drawingml/2006/main">
            <a:off x="5842175" y="17472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“Panorama de Consumo de Televisión y Radio”</a:t>
            </a:r>
            <a:r>
              <a:rPr sz="600" b="0" i="0">
                <a:solidFill>
                  <a:srgbClr val="26312F"/>
                </a:solidFill>
                <a:latin typeface="Noto Sans"/>
                <a:ea typeface="Noto Sans"/>
                <a:cs typeface="Noto Sans"/>
              </a:rPr>
              <a:t> fue </a:t>
            </a:r>
          </a:p>
        </p:txBody>
      </p:sp>
      <p:sp>
        <p:nvSpPr>
          <p:cNvPr id="92" name="LEGALES_TEXTO_74">
            <a:extLst xmlns:a="http://schemas.openxmlformats.org/drawingml/2006/main">
              <a:ext uri="{FF2B5EF4-FFF2-40B4-BE49-F238E27FC236}">
                <a16:creationId xmlns:a16="http://schemas.microsoft.com/office/drawing/2014/main" id="{156F81B9-A05A-47C3-9363-5D5943BA8B41}"/>
              </a:ext>
            </a:extLst>
          </p:cNvPr>
          <p:cNvSpPr>
            <a:spLocks xmlns:a="http://schemas.openxmlformats.org/drawingml/2006/main" noGrp="1"/>
          </p:cNvSpPr>
          <p:nvPr/>
        </p:nvSpPr>
        <p:spPr>
          <a:xfrm xmlns:a="http://schemas.openxmlformats.org/drawingml/2006/main">
            <a:off x="5842175" y="184769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generada por la Unidad de Medios y Contenidos Audiovisuales del </a:t>
            </a:r>
          </a:p>
        </p:txBody>
      </p:sp>
      <p:sp>
        <p:nvSpPr>
          <p:cNvPr id="93" name="LEGALES_TEXTO_75">
            <a:extLst xmlns:a="http://schemas.openxmlformats.org/drawingml/2006/main">
              <a:ext uri="{FF2B5EF4-FFF2-40B4-BE49-F238E27FC236}">
                <a16:creationId xmlns:a16="http://schemas.microsoft.com/office/drawing/2014/main" id="{B9710AFD-3D44-4C42-A664-1C6E2FE9B5AD}"/>
              </a:ext>
            </a:extLst>
          </p:cNvPr>
          <p:cNvSpPr>
            <a:spLocks xmlns:a="http://schemas.openxmlformats.org/drawingml/2006/main" noGrp="1"/>
          </p:cNvSpPr>
          <p:nvPr/>
        </p:nvSpPr>
        <p:spPr>
          <a:xfrm xmlns:a="http://schemas.openxmlformats.org/drawingml/2006/main">
            <a:off x="5842175" y="194814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Federal de Telecomunicaciones, a partir de datos recopilados a </a:t>
            </a:r>
          </a:p>
        </p:txBody>
      </p:sp>
      <p:sp>
        <p:nvSpPr>
          <p:cNvPr id="94" name="LEGALES_TEXTO_76">
            <a:extLst xmlns:a="http://schemas.openxmlformats.org/drawingml/2006/main">
              <a:ext uri="{FF2B5EF4-FFF2-40B4-BE49-F238E27FC236}">
                <a16:creationId xmlns:a16="http://schemas.microsoft.com/office/drawing/2014/main" id="{629CF789-2DE9-4EAE-9AAE-CD1573B535CB}"/>
              </a:ext>
            </a:extLst>
          </p:cNvPr>
          <p:cNvSpPr>
            <a:spLocks xmlns:a="http://schemas.openxmlformats.org/drawingml/2006/main" noGrp="1"/>
          </p:cNvSpPr>
          <p:nvPr/>
        </p:nvSpPr>
        <p:spPr>
          <a:xfrm xmlns:a="http://schemas.openxmlformats.org/drawingml/2006/main">
            <a:off x="5842175" y="204858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través de muestreo por la empresa Nielsen IBOPE México S.A. de C.V. </a:t>
            </a:r>
          </a:p>
        </p:txBody>
      </p:sp>
      <p:sp>
        <p:nvSpPr>
          <p:cNvPr id="95" name="LEGALES_TEXTO_77">
            <a:extLst xmlns:a="http://schemas.openxmlformats.org/drawingml/2006/main">
              <a:ext uri="{FF2B5EF4-FFF2-40B4-BE49-F238E27FC236}">
                <a16:creationId xmlns:a16="http://schemas.microsoft.com/office/drawing/2014/main" id="{D2CF7B25-53B2-4110-B8FC-BBA164B3BE85}"/>
              </a:ext>
            </a:extLst>
          </p:cNvPr>
          <p:cNvSpPr>
            <a:spLocks xmlns:a="http://schemas.openxmlformats.org/drawingml/2006/main" noGrp="1"/>
          </p:cNvSpPr>
          <p:nvPr/>
        </p:nvSpPr>
        <p:spPr>
          <a:xfrm xmlns:a="http://schemas.openxmlformats.org/drawingml/2006/main">
            <a:off x="5842175" y="214901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e Investigación de Mercados INRA, por lo cual la </a:t>
            </a:r>
          </a:p>
        </p:txBody>
      </p:sp>
      <p:sp>
        <p:nvSpPr>
          <p:cNvPr id="96" name="LEGALES_TEXTO_78">
            <a:extLst xmlns:a="http://schemas.openxmlformats.org/drawingml/2006/main">
              <a:ext uri="{FF2B5EF4-FFF2-40B4-BE49-F238E27FC236}">
                <a16:creationId xmlns:a16="http://schemas.microsoft.com/office/drawing/2014/main" id="{B9000ACF-949B-4FE7-856B-FA85A9EF6351}"/>
              </a:ext>
            </a:extLst>
          </p:cNvPr>
          <p:cNvSpPr>
            <a:spLocks xmlns:a="http://schemas.openxmlformats.org/drawingml/2006/main" noGrp="1"/>
          </p:cNvSpPr>
          <p:nvPr/>
        </p:nvSpPr>
        <p:spPr>
          <a:xfrm xmlns:a="http://schemas.openxmlformats.org/drawingml/2006/main">
            <a:off x="5842175" y="224946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información presentada debe ser considerada como estimaciones. Se le </a:t>
            </a:r>
          </a:p>
        </p:txBody>
      </p:sp>
      <p:sp>
        <p:nvSpPr>
          <p:cNvPr id="97" name="LEGALES_TEXTO_79">
            <a:extLst xmlns:a="http://schemas.openxmlformats.org/drawingml/2006/main">
              <a:ext uri="{FF2B5EF4-FFF2-40B4-BE49-F238E27FC236}">
                <a16:creationId xmlns:a16="http://schemas.microsoft.com/office/drawing/2014/main" id="{7CCE6EA6-CDF9-4AE4-B481-792D32123FE2}"/>
              </a:ext>
            </a:extLst>
          </p:cNvPr>
          <p:cNvSpPr>
            <a:spLocks xmlns:a="http://schemas.openxmlformats.org/drawingml/2006/main" noGrp="1"/>
          </p:cNvSpPr>
          <p:nvPr/>
        </p:nvSpPr>
        <p:spPr>
          <a:xfrm xmlns:a="http://schemas.openxmlformats.org/drawingml/2006/main">
            <a:off x="5842175" y="234990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recomienda al lector consultar el Anexo: Definiciones para su mejor </a:t>
            </a:r>
          </a:p>
        </p:txBody>
      </p:sp>
      <p:sp>
        <p:nvSpPr>
          <p:cNvPr id="98" name="LEGALES_TEXTO_80">
            <a:extLst xmlns:a="http://schemas.openxmlformats.org/drawingml/2006/main">
              <a:ext uri="{FF2B5EF4-FFF2-40B4-BE49-F238E27FC236}">
                <a16:creationId xmlns:a16="http://schemas.microsoft.com/office/drawing/2014/main" id="{07F3746D-D964-49E2-9C37-B094463B0F14}"/>
              </a:ext>
            </a:extLst>
          </p:cNvPr>
          <p:cNvSpPr>
            <a:spLocks xmlns:a="http://schemas.openxmlformats.org/drawingml/2006/main" noGrp="1"/>
          </p:cNvSpPr>
          <p:nvPr/>
        </p:nvSpPr>
        <p:spPr>
          <a:xfrm xmlns:a="http://schemas.openxmlformats.org/drawingml/2006/main">
            <a:off x="5842175" y="245033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a:t>
            </a:r>
          </a:p>
        </p:txBody>
      </p:sp>
      <p:sp>
        <p:nvSpPr>
          <p:cNvPr id="99" name="LEGALES_TEXTO_81">
            <a:extLst xmlns:a="http://schemas.openxmlformats.org/drawingml/2006/main">
              <a:ext uri="{FF2B5EF4-FFF2-40B4-BE49-F238E27FC236}">
                <a16:creationId xmlns:a16="http://schemas.microsoft.com/office/drawing/2014/main" id="{0705E1B7-D2EC-43CE-84C0-D32278AA3074}"/>
              </a:ext>
            </a:extLst>
          </p:cNvPr>
          <p:cNvSpPr>
            <a:spLocks xmlns:a="http://schemas.openxmlformats.org/drawingml/2006/main" noGrp="1"/>
          </p:cNvSpPr>
          <p:nvPr/>
        </p:nvSpPr>
        <p:spPr>
          <a:xfrm xmlns:a="http://schemas.openxmlformats.org/drawingml/2006/main">
            <a:off x="5842175" y="2724952"/>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Notas sobre audiencias de televisión (Nielsen IBOPE)</a:t>
            </a:r>
          </a:p>
        </p:txBody>
      </p:sp>
      <p:sp>
        <p:nvSpPr>
          <p:cNvPr id="100" name="LEGALES_TEXTO_82">
            <a:extLst xmlns:a="http://schemas.openxmlformats.org/drawingml/2006/main">
              <a:ext uri="{FF2B5EF4-FFF2-40B4-BE49-F238E27FC236}">
                <a16:creationId xmlns:a16="http://schemas.microsoft.com/office/drawing/2014/main" id="{D8BA4F0A-5054-424A-8C6B-1EB1CBFBA0B4}"/>
              </a:ext>
            </a:extLst>
          </p:cNvPr>
          <p:cNvSpPr>
            <a:spLocks xmlns:a="http://schemas.openxmlformats.org/drawingml/2006/main" noGrp="1"/>
          </p:cNvSpPr>
          <p:nvPr/>
        </p:nvSpPr>
        <p:spPr>
          <a:xfrm xmlns:a="http://schemas.openxmlformats.org/drawingml/2006/main">
            <a:off x="5842175" y="28908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información que contiene el presente reporte en cuanto a su análisis e </a:t>
            </a:r>
          </a:p>
        </p:txBody>
      </p:sp>
      <p:sp>
        <p:nvSpPr>
          <p:cNvPr id="101" name="LEGALES_TEXTO_83">
            <a:extLst xmlns:a="http://schemas.openxmlformats.org/drawingml/2006/main">
              <a:ext uri="{FF2B5EF4-FFF2-40B4-BE49-F238E27FC236}">
                <a16:creationId xmlns:a16="http://schemas.microsoft.com/office/drawing/2014/main" id="{DE77F7C0-8FCA-49D6-8B07-2EB34C313662}"/>
              </a:ext>
            </a:extLst>
          </p:cNvPr>
          <p:cNvSpPr>
            <a:spLocks xmlns:a="http://schemas.openxmlformats.org/drawingml/2006/main" noGrp="1"/>
          </p:cNvSpPr>
          <p:nvPr/>
        </p:nvSpPr>
        <p:spPr>
          <a:xfrm xmlns:a="http://schemas.openxmlformats.org/drawingml/2006/main">
            <a:off x="5842175" y="29897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 fue realizada bajo la responsabilidad del Instituto Federal </a:t>
            </a:r>
          </a:p>
        </p:txBody>
      </p:sp>
      <p:sp>
        <p:nvSpPr>
          <p:cNvPr id="102" name="LEGALES_TEXTO_84">
            <a:extLst xmlns:a="http://schemas.openxmlformats.org/drawingml/2006/main">
              <a:ext uri="{FF2B5EF4-FFF2-40B4-BE49-F238E27FC236}">
                <a16:creationId xmlns:a16="http://schemas.microsoft.com/office/drawing/2014/main" id="{E47B8FD3-F41A-474A-8078-1EEDE80EA698}"/>
              </a:ext>
            </a:extLst>
          </p:cNvPr>
          <p:cNvSpPr>
            <a:spLocks xmlns:a="http://schemas.openxmlformats.org/drawingml/2006/main" noGrp="1"/>
          </p:cNvSpPr>
          <p:nvPr/>
        </p:nvSpPr>
        <p:spPr>
          <a:xfrm xmlns:a="http://schemas.openxmlformats.org/drawingml/2006/main">
            <a:off x="5842175" y="30887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(IFT) con información de audiencias propiedad de </a:t>
            </a:r>
          </a:p>
        </p:txBody>
      </p:sp>
      <p:sp>
        <p:nvSpPr>
          <p:cNvPr id="103" name="LEGALES_TEXTO_85">
            <a:extLst xmlns:a="http://schemas.openxmlformats.org/drawingml/2006/main">
              <a:ext uri="{FF2B5EF4-FFF2-40B4-BE49-F238E27FC236}">
                <a16:creationId xmlns:a16="http://schemas.microsoft.com/office/drawing/2014/main" id="{2600AE3C-89A2-4429-B1F7-63CD6E20515D}"/>
              </a:ext>
            </a:extLst>
          </p:cNvPr>
          <p:cNvSpPr>
            <a:spLocks xmlns:a="http://schemas.openxmlformats.org/drawingml/2006/main" noGrp="1"/>
          </p:cNvSpPr>
          <p:nvPr/>
        </p:nvSpPr>
        <p:spPr>
          <a:xfrm xmlns:a="http://schemas.openxmlformats.org/drawingml/2006/main">
            <a:off x="5842175" y="31876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 Bajo los términos contractuales del </a:t>
            </a:r>
          </a:p>
        </p:txBody>
      </p:sp>
      <p:sp>
        <p:nvSpPr>
          <p:cNvPr id="104" name="LEGALES_TEXTO_86">
            <a:extLst xmlns:a="http://schemas.openxmlformats.org/drawingml/2006/main">
              <a:ext uri="{FF2B5EF4-FFF2-40B4-BE49-F238E27FC236}">
                <a16:creationId xmlns:a16="http://schemas.microsoft.com/office/drawing/2014/main" id="{6D381704-7446-4964-AE66-5460B39FA41E}"/>
              </a:ext>
            </a:extLst>
          </p:cNvPr>
          <p:cNvSpPr>
            <a:spLocks xmlns:a="http://schemas.openxmlformats.org/drawingml/2006/main" noGrp="1"/>
          </p:cNvSpPr>
          <p:nvPr/>
        </p:nvSpPr>
        <p:spPr>
          <a:xfrm xmlns:a="http://schemas.openxmlformats.org/drawingml/2006/main">
            <a:off x="5842175" y="32865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licenciamiento de las Bases de datos de audiencias de televisión, Nielsen </a:t>
            </a:r>
          </a:p>
        </p:txBody>
      </p:sp>
      <p:sp>
        <p:nvSpPr>
          <p:cNvPr id="105" name="LEGALES_TEXTO_87">
            <a:extLst xmlns:a="http://schemas.openxmlformats.org/drawingml/2006/main">
              <a:ext uri="{FF2B5EF4-FFF2-40B4-BE49-F238E27FC236}">
                <a16:creationId xmlns:a16="http://schemas.microsoft.com/office/drawing/2014/main" id="{D33530D2-EDEA-4610-9529-09441555AFA5}"/>
              </a:ext>
            </a:extLst>
          </p:cNvPr>
          <p:cNvSpPr>
            <a:spLocks xmlns:a="http://schemas.openxmlformats.org/drawingml/2006/main" noGrp="1"/>
          </p:cNvSpPr>
          <p:nvPr/>
        </p:nvSpPr>
        <p:spPr>
          <a:xfrm xmlns:a="http://schemas.openxmlformats.org/drawingml/2006/main">
            <a:off x="5842175" y="33855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IBOPE México, S.A. De C.V. ha validado al IFT que la información </a:t>
            </a:r>
          </a:p>
        </p:txBody>
      </p:sp>
      <p:sp>
        <p:nvSpPr>
          <p:cNvPr id="106" name="LEGALES_TEXTO_88">
            <a:extLst xmlns:a="http://schemas.openxmlformats.org/drawingml/2006/main">
              <a:ext uri="{FF2B5EF4-FFF2-40B4-BE49-F238E27FC236}">
                <a16:creationId xmlns:a16="http://schemas.microsoft.com/office/drawing/2014/main" id="{6E9D6700-BF1F-4066-9D50-0680827F7226}"/>
              </a:ext>
            </a:extLst>
          </p:cNvPr>
          <p:cNvSpPr>
            <a:spLocks xmlns:a="http://schemas.openxmlformats.org/drawingml/2006/main" noGrp="1"/>
          </p:cNvSpPr>
          <p:nvPr/>
        </p:nvSpPr>
        <p:spPr>
          <a:xfrm xmlns:a="http://schemas.openxmlformats.org/drawingml/2006/main">
            <a:off x="5842175" y="3484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estadística de audiencias de televisión contenida en el mencionado </a:t>
            </a:r>
          </a:p>
        </p:txBody>
      </p:sp>
      <p:sp>
        <p:nvSpPr>
          <p:cNvPr id="107" name="LEGALES_TEXTO_89">
            <a:extLst xmlns:a="http://schemas.openxmlformats.org/drawingml/2006/main">
              <a:ext uri="{FF2B5EF4-FFF2-40B4-BE49-F238E27FC236}">
                <a16:creationId xmlns:a16="http://schemas.microsoft.com/office/drawing/2014/main" id="{78A4BF30-D981-4932-8ED5-DC4863B7E0B4}"/>
              </a:ext>
            </a:extLst>
          </p:cNvPr>
          <p:cNvSpPr>
            <a:spLocks xmlns:a="http://schemas.openxmlformats.org/drawingml/2006/main" noGrp="1"/>
          </p:cNvSpPr>
          <p:nvPr/>
        </p:nvSpPr>
        <p:spPr>
          <a:xfrm xmlns:a="http://schemas.openxmlformats.org/drawingml/2006/main">
            <a:off x="5842175" y="35833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reporte concuerda con aquellas bases de datos licenciadas al IFT por </a:t>
            </a:r>
          </a:p>
        </p:txBody>
      </p:sp>
      <p:sp>
        <p:nvSpPr>
          <p:cNvPr id="108" name="LEGALES_TEXTO_90">
            <a:extLst xmlns:a="http://schemas.openxmlformats.org/drawingml/2006/main">
              <a:ext uri="{FF2B5EF4-FFF2-40B4-BE49-F238E27FC236}">
                <a16:creationId xmlns:a16="http://schemas.microsoft.com/office/drawing/2014/main" id="{72EC4A6F-3ED2-4E58-AFD0-DE94CCF8589D}"/>
              </a:ext>
            </a:extLst>
          </p:cNvPr>
          <p:cNvSpPr>
            <a:spLocks xmlns:a="http://schemas.openxmlformats.org/drawingml/2006/main" noGrp="1"/>
          </p:cNvSpPr>
          <p:nvPr/>
        </p:nvSpPr>
        <p:spPr>
          <a:xfrm xmlns:a="http://schemas.openxmlformats.org/drawingml/2006/main">
            <a:off x="5842175" y="368233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a:t>
            </a:r>
          </a:p>
        </p:txBody>
      </p:sp>
      <p:sp>
        <p:nvSpPr>
          <p:cNvPr id="109" name="LEGALES_TEXTO_91">
            <a:extLst xmlns:a="http://schemas.openxmlformats.org/drawingml/2006/main">
              <a:ext uri="{FF2B5EF4-FFF2-40B4-BE49-F238E27FC236}">
                <a16:creationId xmlns:a16="http://schemas.microsoft.com/office/drawing/2014/main" id="{3F2B4ADB-6731-4B15-8BCF-82CACFDA0026}"/>
              </a:ext>
            </a:extLst>
          </p:cNvPr>
          <p:cNvSpPr>
            <a:spLocks xmlns:a="http://schemas.openxmlformats.org/drawingml/2006/main" noGrp="1"/>
          </p:cNvSpPr>
          <p:nvPr/>
        </p:nvSpPr>
        <p:spPr>
          <a:xfrm xmlns:a="http://schemas.openxmlformats.org/drawingml/2006/main">
            <a:off x="5842175" y="38312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Instituto Federal de Telecomunicaciones recuerda al lector que al </a:t>
            </a:r>
          </a:p>
        </p:txBody>
      </p:sp>
      <p:sp>
        <p:nvSpPr>
          <p:cNvPr id="110" name="LEGALES_TEXTO_92">
            <a:extLst xmlns:a="http://schemas.openxmlformats.org/drawingml/2006/main">
              <a:ext uri="{FF2B5EF4-FFF2-40B4-BE49-F238E27FC236}">
                <a16:creationId xmlns:a16="http://schemas.microsoft.com/office/drawing/2014/main" id="{5288253F-5212-4F87-89BF-7C8921D8BEEC}"/>
              </a:ext>
            </a:extLst>
          </p:cNvPr>
          <p:cNvSpPr>
            <a:spLocks xmlns:a="http://schemas.openxmlformats.org/drawingml/2006/main" noGrp="1"/>
          </p:cNvSpPr>
          <p:nvPr/>
        </p:nvSpPr>
        <p:spPr>
          <a:xfrm xmlns:a="http://schemas.openxmlformats.org/drawingml/2006/main">
            <a:off x="5842175" y="393019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momento de realizar análisis de la información contenida en la presente </a:t>
            </a:r>
          </a:p>
        </p:txBody>
      </p:sp>
      <p:sp>
        <p:nvSpPr>
          <p:cNvPr id="111" name="LEGALES_TEXTO_93">
            <a:extLst xmlns:a="http://schemas.openxmlformats.org/drawingml/2006/main">
              <a:ext uri="{FF2B5EF4-FFF2-40B4-BE49-F238E27FC236}">
                <a16:creationId xmlns:a16="http://schemas.microsoft.com/office/drawing/2014/main" id="{345A5E08-26AF-4BD5-9C20-3E0213E58B83}"/>
              </a:ext>
            </a:extLst>
          </p:cNvPr>
          <p:cNvSpPr>
            <a:spLocks xmlns:a="http://schemas.openxmlformats.org/drawingml/2006/main" noGrp="1"/>
          </p:cNvSpPr>
          <p:nvPr/>
        </p:nvSpPr>
        <p:spPr>
          <a:xfrm xmlns:a="http://schemas.openxmlformats.org/drawingml/2006/main">
            <a:off x="5842175" y="402911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debe tomar en cuenta la existencia de distintos factores de </a:t>
            </a:r>
          </a:p>
        </p:txBody>
      </p:sp>
      <p:sp>
        <p:nvSpPr>
          <p:cNvPr id="112" name="LEGALES_TEXTO_94">
            <a:extLst xmlns:a="http://schemas.openxmlformats.org/drawingml/2006/main">
              <a:ext uri="{FF2B5EF4-FFF2-40B4-BE49-F238E27FC236}">
                <a16:creationId xmlns:a16="http://schemas.microsoft.com/office/drawing/2014/main" id="{121D9F6A-D871-4639-B011-EDDF2D8B29C1}"/>
              </a:ext>
            </a:extLst>
          </p:cNvPr>
          <p:cNvSpPr>
            <a:spLocks xmlns:a="http://schemas.openxmlformats.org/drawingml/2006/main" noGrp="1"/>
          </p:cNvSpPr>
          <p:nvPr/>
        </p:nvSpPr>
        <p:spPr>
          <a:xfrm xmlns:a="http://schemas.openxmlformats.org/drawingml/2006/main">
            <a:off x="5842175" y="41280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cambio en el mercado televisivo, así como en el estudio de medición de </a:t>
            </a:r>
          </a:p>
        </p:txBody>
      </p:sp>
      <p:sp>
        <p:nvSpPr>
          <p:cNvPr id="113" name="LEGALES_TEXTO_95">
            <a:extLst xmlns:a="http://schemas.openxmlformats.org/drawingml/2006/main">
              <a:ext uri="{FF2B5EF4-FFF2-40B4-BE49-F238E27FC236}">
                <a16:creationId xmlns:a16="http://schemas.microsoft.com/office/drawing/2014/main" id="{8434DF72-DFAD-4AE4-96A9-4821245C8516}"/>
              </a:ext>
            </a:extLst>
          </p:cNvPr>
          <p:cNvSpPr>
            <a:spLocks xmlns:a="http://schemas.openxmlformats.org/drawingml/2006/main" noGrp="1"/>
          </p:cNvSpPr>
          <p:nvPr/>
        </p:nvSpPr>
        <p:spPr>
          <a:xfrm xmlns:a="http://schemas.openxmlformats.org/drawingml/2006/main">
            <a:off x="5842175" y="42269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audiencias de Nielsen IBOPE México, para las conclusiones que se </a:t>
            </a:r>
          </a:p>
        </p:txBody>
      </p:sp>
      <p:sp>
        <p:nvSpPr>
          <p:cNvPr id="114" name="LEGALES_TEXTO_96">
            <a:extLst xmlns:a="http://schemas.openxmlformats.org/drawingml/2006/main">
              <a:ext uri="{FF2B5EF4-FFF2-40B4-BE49-F238E27FC236}">
                <a16:creationId xmlns:a16="http://schemas.microsoft.com/office/drawing/2014/main" id="{529DBD6F-2A47-4BD2-A5F0-B06022B47494}"/>
              </a:ext>
            </a:extLst>
          </p:cNvPr>
          <p:cNvSpPr>
            <a:spLocks xmlns:a="http://schemas.openxmlformats.org/drawingml/2006/main" noGrp="1"/>
          </p:cNvSpPr>
          <p:nvPr/>
        </p:nvSpPr>
        <p:spPr>
          <a:xfrm xmlns:a="http://schemas.openxmlformats.org/drawingml/2006/main">
            <a:off x="5842175" y="43259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formulen con la información reportada en los documentos que emita el </a:t>
            </a:r>
          </a:p>
        </p:txBody>
      </p:sp>
      <p:sp>
        <p:nvSpPr>
          <p:cNvPr id="115" name="LEGALES_TEXTO_97">
            <a:extLst xmlns:a="http://schemas.openxmlformats.org/drawingml/2006/main">
              <a:ext uri="{FF2B5EF4-FFF2-40B4-BE49-F238E27FC236}">
                <a16:creationId xmlns:a16="http://schemas.microsoft.com/office/drawing/2014/main" id="{F978ADF3-A783-4EE0-8C9D-A8A89471E346}"/>
              </a:ext>
            </a:extLst>
          </p:cNvPr>
          <p:cNvSpPr>
            <a:spLocks xmlns:a="http://schemas.openxmlformats.org/drawingml/2006/main" noGrp="1"/>
          </p:cNvSpPr>
          <p:nvPr/>
        </p:nvSpPr>
        <p:spPr>
          <a:xfrm xmlns:a="http://schemas.openxmlformats.org/drawingml/2006/main">
            <a:off x="5842175" y="44248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por distintos periodos. El Instituto Federal de </a:t>
            </a:r>
          </a:p>
        </p:txBody>
      </p:sp>
      <p:sp>
        <p:nvSpPr>
          <p:cNvPr id="116" name="LEGALES_TEXTO_98">
            <a:extLst xmlns:a="http://schemas.openxmlformats.org/drawingml/2006/main">
              <a:ext uri="{FF2B5EF4-FFF2-40B4-BE49-F238E27FC236}">
                <a16:creationId xmlns:a16="http://schemas.microsoft.com/office/drawing/2014/main" id="{852B498E-F1A1-41F3-9B39-504CEE4B7610}"/>
              </a:ext>
            </a:extLst>
          </p:cNvPr>
          <p:cNvSpPr>
            <a:spLocks xmlns:a="http://schemas.openxmlformats.org/drawingml/2006/main" noGrp="1"/>
          </p:cNvSpPr>
          <p:nvPr/>
        </p:nvSpPr>
        <p:spPr>
          <a:xfrm xmlns:a="http://schemas.openxmlformats.org/drawingml/2006/main">
            <a:off x="5842175" y="45237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derivado de su relación comercial con Nielsen IBOPE </a:t>
            </a:r>
          </a:p>
        </p:txBody>
      </p:sp>
      <p:sp>
        <p:nvSpPr>
          <p:cNvPr id="117" name="LEGALES_TEXTO_99">
            <a:extLst xmlns:a="http://schemas.openxmlformats.org/drawingml/2006/main">
              <a:ext uri="{FF2B5EF4-FFF2-40B4-BE49-F238E27FC236}">
                <a16:creationId xmlns:a16="http://schemas.microsoft.com/office/drawing/2014/main" id="{B58804A9-499F-43A9-8244-2F2FFA638CA6}"/>
              </a:ext>
            </a:extLst>
          </p:cNvPr>
          <p:cNvSpPr>
            <a:spLocks xmlns:a="http://schemas.openxmlformats.org/drawingml/2006/main" noGrp="1"/>
          </p:cNvSpPr>
          <p:nvPr/>
        </p:nvSpPr>
        <p:spPr>
          <a:xfrm xmlns:a="http://schemas.openxmlformats.org/drawingml/2006/main">
            <a:off x="5842175" y="46227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México, S.A. De C.V. no se hace responsable de la interpretación que </a:t>
            </a:r>
          </a:p>
        </p:txBody>
      </p:sp>
      <p:sp>
        <p:nvSpPr>
          <p:cNvPr id="118" name="LEGALES_TEXTO_100">
            <a:extLst xmlns:a="http://schemas.openxmlformats.org/drawingml/2006/main">
              <a:ext uri="{FF2B5EF4-FFF2-40B4-BE49-F238E27FC236}">
                <a16:creationId xmlns:a16="http://schemas.microsoft.com/office/drawing/2014/main" id="{462D49E8-51DE-40AF-B2E6-14D566BE9440}"/>
              </a:ext>
            </a:extLst>
          </p:cNvPr>
          <p:cNvSpPr>
            <a:spLocks xmlns:a="http://schemas.openxmlformats.org/drawingml/2006/main" noGrp="1"/>
          </p:cNvSpPr>
          <p:nvPr/>
        </p:nvSpPr>
        <p:spPr>
          <a:xfrm xmlns:a="http://schemas.openxmlformats.org/drawingml/2006/main">
            <a:off x="5842175" y="4721658"/>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terceras personas puedan hacer sobre los datos publicados.</a:t>
            </a:r>
          </a:p>
        </p:txBody>
      </p:sp>
      <p:sp>
        <p:nvSpPr>
          <p:cNvPr id="119" name="ANUARIO_PAGE_NUMBER">
            <a:extLst xmlns:a="http://schemas.openxmlformats.org/drawingml/2006/main">
              <a:ext uri="{FF2B5EF4-FFF2-40B4-BE49-F238E27FC236}">
                <a16:creationId xmlns:a16="http://schemas.microsoft.com/office/drawing/2014/main" id="{15C8D55E-458C-4FD9-96A3-BD9900637CD5}"/>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3</a:t>
            </a:r>
          </a:p>
        </p:txBody>
      </p:sp>
      <p:sp>
        <p:nvSpPr>
          <p:cNvPr id="120" name="LEGALES_EDICION_PIE">
            <a:extLst xmlns:a="http://schemas.openxmlformats.org/drawingml/2006/main">
              <a:ext uri="{FF2B5EF4-FFF2-40B4-BE49-F238E27FC236}">
                <a16:creationId xmlns:a16="http://schemas.microsoft.com/office/drawing/2014/main" id="{4D88EDE6-3043-49E6-BCA2-CBDBB9DB3A4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1569216563"/>
      </p:ext>
    </p:extLst>
  </p:cSld>
</p:sld>
</file>

<file path=ppt/slides/slide4.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9d5d72c38924a16"/>
          <a:srcRect xmlns:a="http://schemas.openxmlformats.org/drawingml/2006/main" l="0" t="37" r="0" b="37"/>
          <a:stretch xmlns:a="http://schemas.openxmlformats.org/drawingml/2006/main">
            <a:fillRect l="0" t="0" r="0" b="0"/>
          </a:stretch>
        </p:blipFill>
        <p:spPr>
          <a:xfrm xmlns:a="http://schemas.openxmlformats.org/drawingml/2006/main">
            <a:off x="0" y="0"/>
            <a:ext cx="9143644" cy="456844"/>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5c444f1c6cb476e"/>
          <a:srcRect xmlns:a="http://schemas.openxmlformats.org/drawingml/2006/main" l="0" t="156" r="0" b="156"/>
          <a:stretch xmlns:a="http://schemas.openxmlformats.org/drawingml/2006/main">
            <a:fillRect l="0" t="0" r="0" b="0"/>
          </a:stretch>
        </p:blipFill>
        <p:spPr>
          <a:xfrm xmlns:a="http://schemas.openxmlformats.org/drawingml/2006/main">
            <a:off x="0" y="4990683"/>
            <a:ext cx="9143644" cy="151917"/>
          </a:xfrm>
          <a:prstGeom xmlns:a="http://schemas.openxmlformats.org/drawingml/2006/main" prst="rect">
            <a:avLst/>
          </a:prstGeom>
        </p:spPr>
      </p:pic>
      <p:sp>
        <p:nvSpPr>
          <p:cNvPr id="3" name="ANUARIO_QR_FONDO">
            <a:extLst xmlns:a="http://schemas.openxmlformats.org/drawingml/2006/main">
              <a:ext uri="{FF2B5EF4-FFF2-40B4-BE49-F238E27FC236}">
                <a16:creationId xmlns:a16="http://schemas.microsoft.com/office/drawing/2014/main" id="{EE1B343B-CBB7-4ADB-A4DD-3473AA5B9F8E}"/>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5279ff6ee7f4af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0298c0e75084c3d"/>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TITULO">
            <a:extLst xmlns:a="http://schemas.openxmlformats.org/drawingml/2006/main">
              <a:ext uri="{FF2B5EF4-FFF2-40B4-BE49-F238E27FC236}">
                <a16:creationId xmlns:a16="http://schemas.microsoft.com/office/drawing/2014/main" id="{E13A28F4-B26D-46B7-A110-4EE4FA2EF88D}"/>
              </a:ext>
            </a:extLst>
          </p:cNvPr>
          <p:cNvSpPr>
            <a:spLocks xmlns:a="http://schemas.openxmlformats.org/drawingml/2006/main" noGrp="1"/>
          </p:cNvSpPr>
          <p:nvPr/>
        </p:nvSpPr>
        <p:spPr>
          <a:xfrm xmlns:a="http://schemas.openxmlformats.org/drawingml/2006/main">
            <a:off x="304800" y="1270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FFFFFF"/>
                </a:solidFill>
                <a:latin typeface="Noto Sans"/>
                <a:ea typeface="Noto Sans"/>
                <a:cs typeface="Noto Sans"/>
              </a:defRPr>
            </a:pPr>
            <a:r>
              <a:rPr sz="1500" b="1">
                <a:solidFill>
                  <a:srgbClr val="FFFFFF"/>
                </a:solidFill>
                <a:latin typeface="Noto Sans"/>
                <a:ea typeface="Noto Sans"/>
                <a:cs typeface="Noto Sans"/>
              </a:rPr>
              <a:t>LEGALES</a:t>
            </a:r>
          </a:p>
        </p:txBody>
      </p:sp>
      <p:sp>
        <p:nvSpPr>
          <p:cNvPr id="7" name="ANUARIO_ENCABEZADO_1">
            <a:extLst xmlns:a="http://schemas.openxmlformats.org/drawingml/2006/main">
              <a:ext uri="{FF2B5EF4-FFF2-40B4-BE49-F238E27FC236}">
                <a16:creationId xmlns:a16="http://schemas.microsoft.com/office/drawing/2014/main" id="{C4F4D267-61DF-4126-BBDD-0A466628648D}"/>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8" name="ANUARIO_ENCABEZADO_2">
            <a:extLst xmlns:a="http://schemas.openxmlformats.org/drawingml/2006/main">
              <a:ext uri="{FF2B5EF4-FFF2-40B4-BE49-F238E27FC236}">
                <a16:creationId xmlns:a16="http://schemas.microsoft.com/office/drawing/2014/main" id="{5B40B105-5F7E-4F78-8C44-8648894E5734}"/>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44a62cbf7b934b2e"/>
              </a:rPr>
              <a:t>BIT CRT · bit.crt.gob.mx/BitWebApp</a:t>
            </a:r>
          </a:p>
        </p:txBody>
      </p:sp>
      <p:sp>
        <p:nvSpPr>
          <p:cNvPr id="9" name="ANUARIO_PAGE_NUMBER">
            <a:extLst xmlns:a="http://schemas.openxmlformats.org/drawingml/2006/main">
              <a:ext uri="{FF2B5EF4-FFF2-40B4-BE49-F238E27FC236}">
                <a16:creationId xmlns:a16="http://schemas.microsoft.com/office/drawing/2014/main" id="{33691248-A250-49AD-A4F7-917A83E6C27F}"/>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700" b="1">
                <a:solidFill>
                  <a:srgbClr val="FFFFFF"/>
                </a:solidFill>
                <a:latin typeface="Noto Sans"/>
                <a:ea typeface="Noto Sans"/>
                <a:cs typeface="Noto Sans"/>
              </a:rPr>
              <a:t>4</a:t>
            </a:r>
          </a:p>
        </p:txBody>
      </p:sp>
      <p:sp>
        <p:nvSpPr>
          <p:cNvPr id="10" name="ANUARIO_EDICION_PIE">
            <a:extLst xmlns:a="http://schemas.openxmlformats.org/drawingml/2006/main">
              <a:ext uri="{FF2B5EF4-FFF2-40B4-BE49-F238E27FC236}">
                <a16:creationId xmlns:a16="http://schemas.microsoft.com/office/drawing/2014/main" id="{A167F292-1B2D-4E85-8DB7-8EFF6FC0870E}"/>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FFFFFF"/>
                </a:solidFill>
                <a:latin typeface="Noto Sans"/>
                <a:ea typeface="Noto Sans"/>
                <a:cs typeface="Noto Sans"/>
              </a:defRPr>
            </a:pPr>
            <a:r>
              <a:rPr sz="565">
                <a:solidFill>
                  <a:srgbClr val="FFFFFF"/>
                </a:solidFill>
                <a:latin typeface="Noto Sans"/>
                <a:ea typeface="Noto Sans"/>
                <a:cs typeface="Noto Sans"/>
              </a:rPr>
              <a:t>A N U A R I O   E S T A D Í S T I C O   2 0 2 6</a:t>
            </a:r>
          </a:p>
        </p:txBody>
      </p:sp>
      <p:sp xmlns:a="http://schemas.openxmlformats.org/drawingml/2006/main">
        <p:nvSpPr>
          <p:cNvPr id="16" name="ANUARIO_LEGALES_CONT_DESIGN_2026"/>
          <p:cNvSpPr txBox="1"/>
          <p:nvPr/>
        </p:nvSpPr>
        <p:spPr>
          <a:xfrm>
            <a:off x="2709365" y="947629"/>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Adicional a estas consideraciones, es importante mencionar que el año 2016 se identifica como un periodo de adaptación para los hogares frente a </a:t>
            </a:r>
          </a:p>
        </p:txBody>
      </p:sp>
      <p:sp xmlns:a="http://schemas.openxmlformats.org/drawingml/2006/main">
        <p:nvSpPr>
          <p:cNvPr id="17" name="ANUARIO_REFERENCIA_2024_P4_L002"/>
          <p:cNvSpPr txBox="1"/>
          <p:nvPr/>
        </p:nvSpPr>
        <p:spPr>
          <a:xfrm>
            <a:off x="2709365" y="1050181"/>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los cambios presentados por el apagón analógico; por lo cual no podrá ser comparado con el total de los años anteriores, ni realizar comparaciones </a:t>
            </a:r>
          </a:p>
        </p:txBody>
      </p:sp>
      <p:sp xmlns:a="http://schemas.openxmlformats.org/drawingml/2006/main">
        <p:nvSpPr>
          <p:cNvPr id="18" name="ANUARIO_REFERENCIA_2024_P4_L003"/>
          <p:cNvSpPr txBox="1"/>
          <p:nvPr/>
        </p:nvSpPr>
        <p:spPr>
          <a:xfrm>
            <a:off x="2709365" y="1152732"/>
            <a:ext cx="42383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lineales.</a:t>
            </a:r>
          </a:p>
        </p:txBody>
      </p:sp>
      <p:sp xmlns:a="http://schemas.openxmlformats.org/drawingml/2006/main">
        <p:nvSpPr>
          <p:cNvPr id="19" name="ANUARIO_REFERENCIA_2024_P4_L004"/>
          <p:cNvSpPr txBox="1"/>
          <p:nvPr/>
        </p:nvSpPr>
        <p:spPr>
          <a:xfrm>
            <a:off x="2709365" y="1357836"/>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También es importante considerar que en los análisis realizados a partir del 2017 y 2018 las Bases de Datos que contienen información de audiencias </a:t>
            </a:r>
          </a:p>
        </p:txBody>
      </p:sp>
      <p:sp xmlns:a="http://schemas.openxmlformats.org/drawingml/2006/main">
        <p:nvSpPr>
          <p:cNvPr id="20" name="ANUARIO_REFERENCIA_2024_P4_L005"/>
          <p:cNvSpPr txBox="1"/>
          <p:nvPr/>
        </p:nvSpPr>
        <p:spPr>
          <a:xfrm>
            <a:off x="2709365" y="1460388"/>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televisión, son un producto nuevo mediante el cual Nielsen IBOPE compila su información y que son distintas de aquellas que hasta el año </a:t>
            </a:r>
          </a:p>
        </p:txBody>
      </p:sp>
      <p:sp xmlns:a="http://schemas.openxmlformats.org/drawingml/2006/main">
        <p:nvSpPr>
          <p:cNvPr id="21" name="ANUARIO_REFERENCIA_2024_P4_L006"/>
          <p:cNvSpPr txBox="1"/>
          <p:nvPr/>
        </p:nvSpPr>
        <p:spPr>
          <a:xfrm>
            <a:off x="2709365" y="1562939"/>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2016 pudo haber licenciado al IFT, esto ya que a partir del 1 de enero de 2017 se cuenta con nuevos elementos para su definición y asignación, </a:t>
            </a:r>
          </a:p>
        </p:txBody>
      </p:sp>
      <p:sp xmlns:a="http://schemas.openxmlformats.org/drawingml/2006/main">
        <p:nvSpPr>
          <p:cNvPr id="22" name="ANUARIO_REFERENCIA_2024_P4_L007"/>
          <p:cNvSpPr txBox="1"/>
          <p:nvPr/>
        </p:nvSpPr>
        <p:spPr>
          <a:xfrm>
            <a:off x="2709365" y="1665491"/>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como son los aspectos tecnológicos y de definición de hogares; por lo cual no podrá ser comparado con el total de los años anteriores, ni realizar </a:t>
            </a:r>
          </a:p>
        </p:txBody>
      </p:sp>
      <p:sp xmlns:a="http://schemas.openxmlformats.org/drawingml/2006/main">
        <p:nvSpPr>
          <p:cNvPr id="23" name="ANUARIO_REFERENCIA_2024_P4_L008"/>
          <p:cNvSpPr txBox="1"/>
          <p:nvPr/>
        </p:nvSpPr>
        <p:spPr>
          <a:xfrm>
            <a:off x="2709365" y="1768043"/>
            <a:ext cx="107320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comparaciones lineales.</a:t>
            </a:r>
          </a:p>
        </p:txBody>
      </p:sp>
      <p:sp xmlns:a="http://schemas.openxmlformats.org/drawingml/2006/main">
        <p:nvSpPr>
          <p:cNvPr id="24" name="ANUARIO_REFERENCIA_2024_P4_L009"/>
          <p:cNvSpPr txBox="1"/>
          <p:nvPr/>
        </p:nvSpPr>
        <p:spPr>
          <a:xfrm>
            <a:off x="2709365" y="1973146"/>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El lector puede consultar las recomendaciones respecto al uso de la información propiedad de Nielsen IBOPE México, S.A. De C.V. contenidas en </a:t>
            </a:r>
          </a:p>
        </p:txBody>
      </p:sp>
      <p:sp xmlns:a="http://schemas.openxmlformats.org/drawingml/2006/main">
        <p:nvSpPr>
          <p:cNvPr id="25" name="ANUARIO_REFERENCIA_2024_P4_L010"/>
          <p:cNvSpPr txBox="1"/>
          <p:nvPr/>
        </p:nvSpPr>
        <p:spPr>
          <a:xfrm>
            <a:off x="2709365" y="2075698"/>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la “Guía para el uso de datos de audiencia Nielsen IBOPE México” que puede descargar descargar en </a:t>
            </a:r>
            <a:r>
              <a:rPr sz="688" b="0" i="0">
                <a:solidFill>
                  <a:srgbClr val="0563C1"/>
                </a:solidFill>
                <a:latin typeface="Noto Sans"/>
              </a:rPr>
              <a:t>https://www.nielsenibope.com/wp-content/</a:t>
            </a:r>
          </a:p>
        </p:txBody>
      </p:sp>
      <p:sp xmlns:a="http://schemas.openxmlformats.org/drawingml/2006/main">
        <p:nvSpPr>
          <p:cNvPr id="26" name="ANUARIO_REFERENCIA_2024_P4_L011"/>
          <p:cNvSpPr txBox="1"/>
          <p:nvPr/>
        </p:nvSpPr>
        <p:spPr>
          <a:xfrm>
            <a:off x="2709365" y="2178249"/>
            <a:ext cx="3098689" cy="135763"/>
          </a:xfrm>
          <a:prstGeom prst="rect">
            <a:avLst/>
          </a:prstGeom>
          <a:noFill/>
        </p:spPr>
        <p:txBody>
          <a:bodyPr wrap="none" anchor="t" lIns="0" rIns="0" tIns="0" bIns="0">
            <a:noAutofit/>
          </a:bodyPr>
          <a:lstStyle/>
          <a:p>
            <a:pPr>
              <a:spcBef>
                <a:spcPts val="0"/>
              </a:spcBef>
              <a:spcAft>
                <a:spcPts val="0"/>
              </a:spcAft>
            </a:pPr>
            <a:r>
              <a:rPr sz="688" b="0" i="0">
                <a:solidFill>
                  <a:srgbClr val="0563C1"/>
                </a:solidFill>
                <a:latin typeface="Noto Sans"/>
              </a:rPr>
              <a:t>uploads/sites/14/2020/08/Gui%CC%81a-de-uso-de-datos-NIM-2020.pdf</a:t>
            </a:r>
            <a:r>
              <a:rPr sz="688" b="0" i="0">
                <a:solidFill>
                  <a:srgbClr val="1C2829"/>
                </a:solidFill>
                <a:latin typeface="Noto Sans"/>
              </a:rPr>
              <a:t>.</a:t>
            </a:r>
          </a:p>
        </p:txBody>
      </p:sp>
    </p:spTree>
    <p:extLst>
      <p:ext uri="{BB962C8B-B14F-4D97-AF65-F5344CB8AC3E}">
        <p14:creationId xmlns:p14="http://schemas.microsoft.com/office/powerpoint/2010/main" val="323097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5.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d0c2a94fb7504565"/>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053ec0800dab470a"/>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9b21366084f1421c"/>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30bbdc5925644f1f"/>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A52027BC-6A47-44A1-AAA5-072193A5651E}"/>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ECE57C74-B73B-4552-96C1-368EF002ADA5}"/>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CD640ADB-FF74-4F25-BE94-FCCC658AC292}"/>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063e77096b704b59"/>
              </a:rPr>
              <a:t>BIT CRT · bit.crt.gob.mx/BitWebApp</a:t>
            </a:r>
          </a:p>
        </p:txBody>
      </p:sp>
      <p:sp>
        <p:nvSpPr>
          <p:cNvPr id="8" name="GLOSARIO_LATERAL_RECTO">
            <a:extLst xmlns:a="http://schemas.openxmlformats.org/drawingml/2006/main">
              <a:ext uri="{FF2B5EF4-FFF2-40B4-BE49-F238E27FC236}">
                <a16:creationId xmlns:a16="http://schemas.microsoft.com/office/drawing/2014/main" id="{699C2FCA-C9C4-4AF6-ABA6-D6F2BFCD49D1}"/>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0AC81507-881F-4EDF-BB67-8DF3A81185E3}"/>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5f7ecf3039b54788"/>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ca2af74a4db24cd7">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0E6172A9-F67F-4B8E-90F9-C32B5388C9C6}"/>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141D10EE-5C75-47C0-B92C-5F63A861D14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17eda56c66264122">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1A92E49E-789C-4286-A024-BA5584A5F2A8}"/>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0C260FF1-6926-4D51-98D7-271F4E65104F}"/>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0598c2e78d6345bf">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8" name="ANUARIO_GLOSARIO_DESIGN_2026">
            <a:extLst xmlns:a="http://schemas.openxmlformats.org/drawingml/2006/main">
              <a:ext uri="{FF2B5EF4-FFF2-40B4-BE49-F238E27FC236}">
                <a16:creationId xmlns:a16="http://schemas.microsoft.com/office/drawing/2014/main" id="{48BA1C1B-8330-4327-9FCE-B139C29FE229}"/>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19" name="GLOSARIO_DIVISOR_COLUMNAS">
            <a:extLst xmlns:a="http://schemas.openxmlformats.org/drawingml/2006/main">
              <a:ext uri="{FF2B5EF4-FFF2-40B4-BE49-F238E27FC236}">
                <a16:creationId xmlns:a16="http://schemas.microsoft.com/office/drawing/2014/main" id="{98822660-0FB6-438D-AE91-8F863314B2FC}"/>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0" name="GLOSARIO_left_1_1">
            <a:extLst xmlns:a="http://schemas.openxmlformats.org/drawingml/2006/main">
              <a:ext uri="{FF2B5EF4-FFF2-40B4-BE49-F238E27FC236}">
                <a16:creationId xmlns:a16="http://schemas.microsoft.com/office/drawing/2014/main" id="{D2E84C62-40C7-4290-8F1D-BDCC6C2944DD}"/>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ARPU: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promedio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suscriptor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Average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Revenue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User</a:t>
            </a:r>
            <a:r>
              <a:rPr sz="720" b="0" i="0">
                <a:solidFill>
                  <a:srgbClr val="263632"/>
                </a:solidFill>
                <a:latin typeface="Noto Sans"/>
                <a:ea typeface="Noto Sans"/>
                <a:cs typeface="Noto Sans"/>
              </a:rPr>
              <a:t>,</a:t>
            </a:r>
          </a:p>
        </p:txBody>
      </p:sp>
      <p:sp>
        <p:nvSpPr>
          <p:cNvPr id="21" name="GLOSARIO_left_1_2">
            <a:extLst xmlns:a="http://schemas.openxmlformats.org/drawingml/2006/main">
              <a:ext uri="{FF2B5EF4-FFF2-40B4-BE49-F238E27FC236}">
                <a16:creationId xmlns:a16="http://schemas.microsoft.com/office/drawing/2014/main" id="{30652296-330A-4FAC-A15A-D8FBCE001304}"/>
              </a:ext>
            </a:extLst>
          </p:cNvPr>
          <p:cNvSpPr>
            <a:spLocks xmlns:a="http://schemas.openxmlformats.org/drawingml/2006/main" noGrp="1"/>
          </p:cNvSpPr>
          <p:nvPr/>
        </p:nvSpPr>
        <p:spPr>
          <a:xfrm xmlns:a="http://schemas.openxmlformats.org/drawingml/2006/main">
            <a:off x="2742844"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ARPU)</a:t>
            </a:r>
          </a:p>
        </p:txBody>
      </p:sp>
      <p:sp>
        <p:nvSpPr>
          <p:cNvPr id="22" name="GLOSARIO_left_2_1">
            <a:extLst xmlns:a="http://schemas.openxmlformats.org/drawingml/2006/main">
              <a:ext uri="{FF2B5EF4-FFF2-40B4-BE49-F238E27FC236}">
                <a16:creationId xmlns:a16="http://schemas.microsoft.com/office/drawing/2014/main" id="{071C1390-31F8-4B69-AAD9-43F652A30DFB}"/>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BARD</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DE</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GOOGLE: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23" name="GLOSARIO_left_2_2">
            <a:extLst xmlns:a="http://schemas.openxmlformats.org/drawingml/2006/main">
              <a:ext uri="{FF2B5EF4-FFF2-40B4-BE49-F238E27FC236}">
                <a16:creationId xmlns:a16="http://schemas.microsoft.com/office/drawing/2014/main" id="{EEC876AC-76F1-4063-9597-B1F5984C4BEC}"/>
              </a:ext>
            </a:extLst>
          </p:cNvPr>
          <p:cNvSpPr>
            <a:spLocks xmlns:a="http://schemas.openxmlformats.org/drawingml/2006/main" noGrp="1"/>
          </p:cNvSpPr>
          <p:nvPr/>
        </p:nvSpPr>
        <p:spPr>
          <a:xfrm xmlns:a="http://schemas.openxmlformats.org/drawingml/2006/main">
            <a:off x="2742844" y="18465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Google</a:t>
            </a:r>
          </a:p>
        </p:txBody>
      </p:sp>
      <p:sp>
        <p:nvSpPr>
          <p:cNvPr id="24" name="GLOSARIO_left_3_1">
            <a:extLst xmlns:a="http://schemas.openxmlformats.org/drawingml/2006/main">
              <a:ext uri="{FF2B5EF4-FFF2-40B4-BE49-F238E27FC236}">
                <a16:creationId xmlns:a16="http://schemas.microsoft.com/office/drawing/2014/main" id="{78C9500A-426C-4134-A665-7DDE8E460DD7}"/>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BEAUTIFUL.AI: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Herramienta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presentación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p>
        </p:txBody>
      </p:sp>
      <p:sp>
        <p:nvSpPr>
          <p:cNvPr id="25" name="GLOSARIO_left_3_2">
            <a:extLst xmlns:a="http://schemas.openxmlformats.org/drawingml/2006/main">
              <a:ext uri="{FF2B5EF4-FFF2-40B4-BE49-F238E27FC236}">
                <a16:creationId xmlns:a16="http://schemas.microsoft.com/office/drawing/2014/main" id="{113D92FC-BFBB-4B46-89CF-860F59A582EC}"/>
              </a:ext>
            </a:extLst>
          </p:cNvPr>
          <p:cNvSpPr>
            <a:spLocks xmlns:a="http://schemas.openxmlformats.org/drawingml/2006/main" noGrp="1"/>
          </p:cNvSpPr>
          <p:nvPr/>
        </p:nvSpPr>
        <p:spPr>
          <a:xfrm xmlns:a="http://schemas.openxmlformats.org/drawingml/2006/main">
            <a:off x="2742844" y="21590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Artificial</a:t>
            </a:r>
          </a:p>
        </p:txBody>
      </p:sp>
      <p:sp>
        <p:nvSpPr>
          <p:cNvPr id="26" name="GLOSARIO_left_4_1">
            <a:extLst xmlns:a="http://schemas.openxmlformats.org/drawingml/2006/main">
              <a:ext uri="{FF2B5EF4-FFF2-40B4-BE49-F238E27FC236}">
                <a16:creationId xmlns:a16="http://schemas.microsoft.com/office/drawing/2014/main" id="{A623A67D-3CA0-48C2-BC55-A11A4C8EEFB7}"/>
              </a:ext>
            </a:extLst>
          </p:cNvPr>
          <p:cNvSpPr>
            <a:spLocks xmlns:a="http://schemas.openxmlformats.org/drawingml/2006/main" noGrp="1"/>
          </p:cNvSpPr>
          <p:nvPr/>
        </p:nvSpPr>
        <p:spPr>
          <a:xfrm xmlns:a="http://schemas.openxmlformats.org/drawingml/2006/main">
            <a:off x="2742844" y="23596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BIT: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Banco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27" name="GLOSARIO_left_5_1">
            <a:extLst xmlns:a="http://schemas.openxmlformats.org/drawingml/2006/main">
              <a:ext uri="{FF2B5EF4-FFF2-40B4-BE49-F238E27FC236}">
                <a16:creationId xmlns:a16="http://schemas.microsoft.com/office/drawing/2014/main" id="{39A0E94F-063D-4270-8C59-957AA6D65884}"/>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BRAND24:</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Software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monitorear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identificar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eventos</a:t>
            </a:r>
          </a:p>
        </p:txBody>
      </p:sp>
      <p:sp>
        <p:nvSpPr>
          <p:cNvPr id="28" name="GLOSARIO_left_5_2">
            <a:extLst xmlns:a="http://schemas.openxmlformats.org/drawingml/2006/main">
              <a:ext uri="{FF2B5EF4-FFF2-40B4-BE49-F238E27FC236}">
                <a16:creationId xmlns:a16="http://schemas.microsoft.com/office/drawing/2014/main" id="{0914911E-23EA-45D3-8B23-C5CF11DE2D54}"/>
              </a:ext>
            </a:extLst>
          </p:cNvPr>
          <p:cNvSpPr>
            <a:spLocks xmlns:a="http://schemas.openxmlformats.org/drawingml/2006/main" noGrp="1"/>
          </p:cNvSpPr>
          <p:nvPr/>
        </p:nvSpPr>
        <p:spPr>
          <a:xfrm xmlns:a="http://schemas.openxmlformats.org/drawingml/2006/main">
            <a:off x="2742844" y="26720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relacionados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p>
        </p:txBody>
      </p:sp>
      <p:sp>
        <p:nvSpPr>
          <p:cNvPr id="29" name="GLOSARIO_left_6_1">
            <a:extLst xmlns:a="http://schemas.openxmlformats.org/drawingml/2006/main">
              <a:ext uri="{FF2B5EF4-FFF2-40B4-BE49-F238E27FC236}">
                <a16:creationId xmlns:a16="http://schemas.microsoft.com/office/drawing/2014/main" id="{D2C5D36A-B9F7-4821-86A5-0F9149E4AFA0}"/>
              </a:ext>
            </a:extLst>
          </p:cNvPr>
          <p:cNvSpPr>
            <a:spLocks xmlns:a="http://schemas.openxmlformats.org/drawingml/2006/main" noGrp="1"/>
          </p:cNvSpPr>
          <p:nvPr/>
        </p:nvSpPr>
        <p:spPr>
          <a:xfrm xmlns:a="http://schemas.openxmlformats.org/drawingml/2006/main">
            <a:off x="2742844" y="28727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CANVA: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Web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diseño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gráfico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imágenes</a:t>
            </a:r>
          </a:p>
        </p:txBody>
      </p:sp>
      <p:sp>
        <p:nvSpPr>
          <p:cNvPr id="30" name="GLOSARIO_left_7_1">
            <a:extLst xmlns:a="http://schemas.openxmlformats.org/drawingml/2006/main">
              <a:ext uri="{FF2B5EF4-FFF2-40B4-BE49-F238E27FC236}">
                <a16:creationId xmlns:a16="http://schemas.microsoft.com/office/drawing/2014/main" id="{B6202D1B-723D-482A-8CB6-6F8BA8F3E10D}"/>
              </a:ext>
            </a:extLst>
          </p:cNvPr>
          <p:cNvSpPr>
            <a:spLocks xmlns:a="http://schemas.openxmlformats.org/drawingml/2006/main" noGrp="1"/>
          </p:cNvSpPr>
          <p:nvPr/>
        </p:nvSpPr>
        <p:spPr>
          <a:xfrm xmlns:a="http://schemas.openxmlformats.org/drawingml/2006/main">
            <a:off x="2742844" y="3073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CONAPO: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Consejo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p>
        </p:txBody>
      </p:sp>
      <p:sp>
        <p:nvSpPr>
          <p:cNvPr id="31" name="GLOSARIO_left_8_1">
            <a:extLst xmlns:a="http://schemas.openxmlformats.org/drawingml/2006/main">
              <a:ext uri="{FF2B5EF4-FFF2-40B4-BE49-F238E27FC236}">
                <a16:creationId xmlns:a16="http://schemas.microsoft.com/office/drawing/2014/main" id="{704296A2-A02D-4998-8265-C9E12157DEC3}"/>
              </a:ext>
            </a:extLst>
          </p:cNvPr>
          <p:cNvSpPr>
            <a:spLocks xmlns:a="http://schemas.openxmlformats.org/drawingml/2006/main" noGrp="1"/>
          </p:cNvSpPr>
          <p:nvPr/>
        </p:nvSpPr>
        <p:spPr>
          <a:xfrm xmlns:a="http://schemas.openxmlformats.org/drawingml/2006/main">
            <a:off x="2742844" y="3274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Planeación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Estratégica</a:t>
            </a:r>
          </a:p>
        </p:txBody>
      </p:sp>
      <p:sp>
        <p:nvSpPr>
          <p:cNvPr id="32" name="GLOSARIO_left_9_1">
            <a:extLst xmlns:a="http://schemas.openxmlformats.org/drawingml/2006/main">
              <a:ext uri="{FF2B5EF4-FFF2-40B4-BE49-F238E27FC236}">
                <a16:creationId xmlns:a16="http://schemas.microsoft.com/office/drawing/2014/main" id="{4D97EECB-4D8F-48E3-90A5-9E7B2E336241}"/>
              </a:ext>
            </a:extLst>
          </p:cNvPr>
          <p:cNvSpPr>
            <a:spLocks xmlns:a="http://schemas.openxmlformats.org/drawingml/2006/main" noGrp="1"/>
          </p:cNvSpPr>
          <p:nvPr/>
        </p:nvSpPr>
        <p:spPr>
          <a:xfrm xmlns:a="http://schemas.openxmlformats.org/drawingml/2006/main">
            <a:off x="2742844" y="34747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Política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a:t>
            </a:r>
          </a:p>
        </p:txBody>
      </p:sp>
      <p:sp>
        <p:nvSpPr>
          <p:cNvPr id="33" name="GLOSARIO_left_10_1">
            <a:extLst xmlns:a="http://schemas.openxmlformats.org/drawingml/2006/main">
              <a:ext uri="{FF2B5EF4-FFF2-40B4-BE49-F238E27FC236}">
                <a16:creationId xmlns:a16="http://schemas.microsoft.com/office/drawing/2014/main" id="{792FAAF8-9AC2-4CBA-B81B-54B850F3F4B7}"/>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CHATGPT: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generativo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pre-entrenado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Chat</a:t>
            </a:r>
          </a:p>
        </p:txBody>
      </p:sp>
      <p:sp>
        <p:nvSpPr>
          <p:cNvPr id="34" name="GLOSARIO_left_10_2">
            <a:extLst xmlns:a="http://schemas.openxmlformats.org/drawingml/2006/main">
              <a:ext uri="{FF2B5EF4-FFF2-40B4-BE49-F238E27FC236}">
                <a16:creationId xmlns:a16="http://schemas.microsoft.com/office/drawing/2014/main" id="{5E005B0F-6756-43CD-902B-628938E1FF63}"/>
              </a:ext>
            </a:extLst>
          </p:cNvPr>
          <p:cNvSpPr>
            <a:spLocks xmlns:a="http://schemas.openxmlformats.org/drawingml/2006/main" noGrp="1"/>
          </p:cNvSpPr>
          <p:nvPr/>
        </p:nvSpPr>
        <p:spPr>
          <a:xfrm xmlns:a="http://schemas.openxmlformats.org/drawingml/2006/main">
            <a:off x="2742844" y="3787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Generative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Pre-Trained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5" name="GLOSARIO_left_11_1">
            <a:extLst xmlns:a="http://schemas.openxmlformats.org/drawingml/2006/main">
              <a:ext uri="{FF2B5EF4-FFF2-40B4-BE49-F238E27FC236}">
                <a16:creationId xmlns:a16="http://schemas.microsoft.com/office/drawing/2014/main" id="{56321304-CD8C-4028-9F86-45BE92FCDC6E}"/>
              </a:ext>
            </a:extLst>
          </p:cNvPr>
          <p:cNvSpPr>
            <a:spLocks xmlns:a="http://schemas.openxmlformats.org/drawingml/2006/main" noGrp="1"/>
          </p:cNvSpPr>
          <p:nvPr/>
        </p:nvSpPr>
        <p:spPr>
          <a:xfrm xmlns:a="http://schemas.openxmlformats.org/drawingml/2006/main">
            <a:off x="2742844" y="3987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DENUE: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Directorio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36" name="GLOSARIO_left_12_1">
            <a:extLst xmlns:a="http://schemas.openxmlformats.org/drawingml/2006/main">
              <a:ext uri="{FF2B5EF4-FFF2-40B4-BE49-F238E27FC236}">
                <a16:creationId xmlns:a16="http://schemas.microsoft.com/office/drawing/2014/main" id="{076C8C86-41EA-4950-98E3-1B2ACC5BE94A}"/>
              </a:ext>
            </a:extLst>
          </p:cNvPr>
          <p:cNvSpPr>
            <a:spLocks xmlns:a="http://schemas.openxmlformats.org/drawingml/2006/main" noGrp="1"/>
          </p:cNvSpPr>
          <p:nvPr/>
        </p:nvSpPr>
        <p:spPr>
          <a:xfrm xmlns:a="http://schemas.openxmlformats.org/drawingml/2006/main">
            <a:off x="2742844" y="41884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DSL: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Suscriber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Line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37" name="GLOSARIO_left_12_2">
            <a:extLst xmlns:a="http://schemas.openxmlformats.org/drawingml/2006/main">
              <a:ext uri="{FF2B5EF4-FFF2-40B4-BE49-F238E27FC236}">
                <a16:creationId xmlns:a16="http://schemas.microsoft.com/office/drawing/2014/main" id="{4C2B7A6A-9BBA-4A0D-B1A9-E321CF251DA1}"/>
              </a:ext>
            </a:extLst>
          </p:cNvPr>
          <p:cNvSpPr>
            <a:spLocks xmlns:a="http://schemas.openxmlformats.org/drawingml/2006/main" noGrp="1"/>
          </p:cNvSpPr>
          <p:nvPr/>
        </p:nvSpPr>
        <p:spPr>
          <a:xfrm xmlns:a="http://schemas.openxmlformats.org/drawingml/2006/main">
            <a:off x="2742844" y="4300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DSL)</a:t>
            </a:r>
          </a:p>
        </p:txBody>
      </p:sp>
      <p:sp>
        <p:nvSpPr>
          <p:cNvPr id="38" name="GLOSARIO_right_1_1">
            <a:extLst xmlns:a="http://schemas.openxmlformats.org/drawingml/2006/main">
              <a:ext uri="{FF2B5EF4-FFF2-40B4-BE49-F238E27FC236}">
                <a16:creationId xmlns:a16="http://schemas.microsoft.com/office/drawing/2014/main" id="{262187B2-9926-42D7-8E5C-92613FB92745}"/>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ENDUTIH: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Disponibilidad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DD04441E-F2E8-4281-BBF0-B179206D87BE}"/>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0" name="GLOSARIO_right_2_1">
            <a:extLst xmlns:a="http://schemas.openxmlformats.org/drawingml/2006/main">
              <a:ext uri="{FF2B5EF4-FFF2-40B4-BE49-F238E27FC236}">
                <a16:creationId xmlns:a16="http://schemas.microsoft.com/office/drawing/2014/main" id="{B3DE5079-6828-4F4E-A61B-3C86A4FD163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ENIGH: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Gastos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1" name="GLOSARIO_right_3_1">
            <a:extLst xmlns:a="http://schemas.openxmlformats.org/drawingml/2006/main">
              <a:ext uri="{FF2B5EF4-FFF2-40B4-BE49-F238E27FC236}">
                <a16:creationId xmlns:a16="http://schemas.microsoft.com/office/drawing/2014/main" id="{DF7A6659-582D-44F8-9C37-8ABAA85AF30F}"/>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ENOE: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Ocupación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Empleo</a:t>
            </a:r>
          </a:p>
        </p:txBody>
      </p:sp>
      <p:sp>
        <p:nvSpPr>
          <p:cNvPr id="42" name="GLOSARIO_right_4_1">
            <a:extLst xmlns:a="http://schemas.openxmlformats.org/drawingml/2006/main">
              <a:ext uri="{FF2B5EF4-FFF2-40B4-BE49-F238E27FC236}">
                <a16:creationId xmlns:a16="http://schemas.microsoft.com/office/drawing/2014/main" id="{29682737-2AB5-434B-B2DE-E4A98254AF89}"/>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43" name="GLOSARIO_right_5_1">
            <a:extLst xmlns:a="http://schemas.openxmlformats.org/drawingml/2006/main">
              <a:ext uri="{FF2B5EF4-FFF2-40B4-BE49-F238E27FC236}">
                <a16:creationId xmlns:a16="http://schemas.microsoft.com/office/drawing/2014/main" id="{DC9ABA5C-049E-49B6-8412-CCF28B603198}"/>
              </a:ext>
            </a:extLst>
          </p:cNvPr>
          <p:cNvSpPr>
            <a:spLocks xmlns:a="http://schemas.openxmlformats.org/drawingml/2006/main" noGrp="1"/>
          </p:cNvSpPr>
          <p:nvPr/>
        </p:nvSpPr>
        <p:spPr>
          <a:xfrm xmlns:a="http://schemas.openxmlformats.org/drawingml/2006/main">
            <a:off x="5852160" y="2336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BING:</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44" name="GLOSARIO_right_5_2">
            <a:extLst xmlns:a="http://schemas.openxmlformats.org/drawingml/2006/main">
              <a:ext uri="{FF2B5EF4-FFF2-40B4-BE49-F238E27FC236}">
                <a16:creationId xmlns:a16="http://schemas.microsoft.com/office/drawing/2014/main" id="{6BE13D77-88DC-4EC4-AFC1-E3CE5153B0ED}"/>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Microsoft</a:t>
            </a:r>
          </a:p>
        </p:txBody>
      </p:sp>
      <p:sp>
        <p:nvSpPr>
          <p:cNvPr id="45" name="GLOSARIO_right_6_1">
            <a:extLst xmlns:a="http://schemas.openxmlformats.org/drawingml/2006/main">
              <a:ext uri="{FF2B5EF4-FFF2-40B4-BE49-F238E27FC236}">
                <a16:creationId xmlns:a16="http://schemas.microsoft.com/office/drawing/2014/main" id="{D65AD992-3126-47BA-AF6A-FCD3378CE793}"/>
              </a:ext>
            </a:extLst>
          </p:cNvPr>
          <p:cNvSpPr>
            <a:spLocks xmlns:a="http://schemas.openxmlformats.org/drawingml/2006/main" noGrp="1"/>
          </p:cNvSpPr>
          <p:nvPr/>
        </p:nvSpPr>
        <p:spPr>
          <a:xfrm xmlns:a="http://schemas.openxmlformats.org/drawingml/2006/main">
            <a:off x="5852160" y="2649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Inversión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Extranjera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Directa</a:t>
            </a:r>
          </a:p>
        </p:txBody>
      </p:sp>
      <p:sp>
        <p:nvSpPr>
          <p:cNvPr id="46" name="GLOSARIO_right_7_1">
            <a:extLst xmlns:a="http://schemas.openxmlformats.org/drawingml/2006/main">
              <a:ext uri="{FF2B5EF4-FFF2-40B4-BE49-F238E27FC236}">
                <a16:creationId xmlns:a16="http://schemas.microsoft.com/office/drawing/2014/main" id="{11013531-D72E-4C79-99AF-2E4B4A927960}"/>
              </a:ext>
            </a:extLst>
          </p:cNvPr>
          <p:cNvSpPr>
            <a:spLocks xmlns:a="http://schemas.openxmlformats.org/drawingml/2006/main" noGrp="1"/>
          </p:cNvSpPr>
          <p:nvPr/>
        </p:nvSpPr>
        <p:spPr>
          <a:xfrm xmlns:a="http://schemas.openxmlformats.org/drawingml/2006/main">
            <a:off x="5852160" y="28498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IFT: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47" name="GLOSARIO_right_8_1">
            <a:extLst xmlns:a="http://schemas.openxmlformats.org/drawingml/2006/main">
              <a:ext uri="{FF2B5EF4-FFF2-40B4-BE49-F238E27FC236}">
                <a16:creationId xmlns:a16="http://schemas.microsoft.com/office/drawing/2014/main" id="{B710E0C1-BFFD-45A4-948A-7B4B9B5D2FD8}"/>
              </a:ext>
            </a:extLst>
          </p:cNvPr>
          <p:cNvSpPr>
            <a:spLocks xmlns:a="http://schemas.openxmlformats.org/drawingml/2006/main" noGrp="1"/>
          </p:cNvSpPr>
          <p:nvPr/>
        </p:nvSpPr>
        <p:spPr>
          <a:xfrm xmlns:a="http://schemas.openxmlformats.org/drawingml/2006/main">
            <a:off x="5852160" y="30505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IHH: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Herfindahl-Hirschman</a:t>
            </a:r>
          </a:p>
        </p:txBody>
      </p:sp>
      <p:sp>
        <p:nvSpPr>
          <p:cNvPr id="48" name="GLOSARIO_right_9_1">
            <a:extLst xmlns:a="http://schemas.openxmlformats.org/drawingml/2006/main">
              <a:ext uri="{FF2B5EF4-FFF2-40B4-BE49-F238E27FC236}">
                <a16:creationId xmlns:a16="http://schemas.microsoft.com/office/drawing/2014/main" id="{185579AF-B6FD-47BC-BDC9-B8845C5EB14C}"/>
              </a:ext>
            </a:extLst>
          </p:cNvPr>
          <p:cNvSpPr>
            <a:spLocks xmlns:a="http://schemas.openxmlformats.org/drawingml/2006/main" noGrp="1"/>
          </p:cNvSpPr>
          <p:nvPr/>
        </p:nvSpPr>
        <p:spPr>
          <a:xfrm xmlns:a="http://schemas.openxmlformats.org/drawingml/2006/main">
            <a:off x="5852160" y="32512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IMT: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Internacionales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International</a:t>
            </a:r>
          </a:p>
        </p:txBody>
      </p:sp>
      <p:sp>
        <p:nvSpPr>
          <p:cNvPr id="49" name="GLOSARIO_right_9_2">
            <a:extLst xmlns:a="http://schemas.openxmlformats.org/drawingml/2006/main">
              <a:ext uri="{FF2B5EF4-FFF2-40B4-BE49-F238E27FC236}">
                <a16:creationId xmlns:a16="http://schemas.microsoft.com/office/drawing/2014/main" id="{C766DF5A-C1D6-4863-9648-2A43E24D2E49}"/>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Mobile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Telecommunications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IMT)</a:t>
            </a:r>
          </a:p>
        </p:txBody>
      </p:sp>
      <p:sp>
        <p:nvSpPr>
          <p:cNvPr id="50" name="GLOSARIO_right_10_1">
            <a:extLst xmlns:a="http://schemas.openxmlformats.org/drawingml/2006/main">
              <a:ext uri="{FF2B5EF4-FFF2-40B4-BE49-F238E27FC236}">
                <a16:creationId xmlns:a16="http://schemas.microsoft.com/office/drawing/2014/main" id="{455CE990-BB99-4AC1-93DA-125FA333F9B5}"/>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INEGI: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Geografía</a:t>
            </a:r>
          </a:p>
        </p:txBody>
      </p:sp>
      <p:sp>
        <p:nvSpPr>
          <p:cNvPr id="51" name="GLOSARIO_right_11_1">
            <a:extLst xmlns:a="http://schemas.openxmlformats.org/drawingml/2006/main">
              <a:ext uri="{FF2B5EF4-FFF2-40B4-BE49-F238E27FC236}">
                <a16:creationId xmlns:a16="http://schemas.microsoft.com/office/drawing/2014/main" id="{E16CACFA-2675-4181-9BCF-F7A4524D0A4D}"/>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INPC: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Consumidor</a:t>
            </a:r>
          </a:p>
        </p:txBody>
      </p:sp>
      <p:sp>
        <p:nvSpPr>
          <p:cNvPr id="52" name="GLOSARIO_right_12_1">
            <a:extLst xmlns:a="http://schemas.openxmlformats.org/drawingml/2006/main">
              <a:ext uri="{FF2B5EF4-FFF2-40B4-BE49-F238E27FC236}">
                <a16:creationId xmlns:a16="http://schemas.microsoft.com/office/drawing/2014/main" id="{43849EA2-50D1-4DE7-A1F0-9C566B939AFF}"/>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IGS: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p>
        </p:txBody>
      </p:sp>
      <p:sp>
        <p:nvSpPr>
          <p:cNvPr id="53" name="GLOSARIO_right_13_1">
            <a:extLst xmlns:a="http://schemas.openxmlformats.org/drawingml/2006/main">
              <a:ext uri="{FF2B5EF4-FFF2-40B4-BE49-F238E27FC236}">
                <a16:creationId xmlns:a16="http://schemas.microsoft.com/office/drawing/2014/main" id="{B53140D2-AB35-45C3-81A7-3053494A0D2F}"/>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JASPER: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Biblioteca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escrita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Java</a:t>
            </a:r>
          </a:p>
        </p:txBody>
      </p:sp>
      <p:sp>
        <p:nvSpPr>
          <p:cNvPr id="54" name="ANUARIO_PAGE_NUMBER">
            <a:extLst xmlns:a="http://schemas.openxmlformats.org/drawingml/2006/main">
              <a:ext uri="{FF2B5EF4-FFF2-40B4-BE49-F238E27FC236}">
                <a16:creationId xmlns:a16="http://schemas.microsoft.com/office/drawing/2014/main" id="{7B8F292A-9186-46E0-AFD0-46B4CB4D3801}"/>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5</a:t>
            </a:r>
          </a:p>
        </p:txBody>
      </p:sp>
      <p:sp>
        <p:nvSpPr>
          <p:cNvPr id="55" name="ANUARIO_EDICION_PIE">
            <a:extLst xmlns:a="http://schemas.openxmlformats.org/drawingml/2006/main">
              <a:ext uri="{FF2B5EF4-FFF2-40B4-BE49-F238E27FC236}">
                <a16:creationId xmlns:a16="http://schemas.microsoft.com/office/drawing/2014/main" id="{D82C8C6F-147F-4FF7-AB40-49AE9A8337EB}"/>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72682934"/>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6.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85e1c9945e94a7e"/>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5101691e18134900"/>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cd1fc5a8caa9402d"/>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a902198852794fa7"/>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F883BFF5-67ED-47FC-8BA7-E4E07EBD6368}"/>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14057280-D4CF-4514-A2FF-CEDF5C793794}"/>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B8EF6B10-EFC3-4432-AAE9-52BE2B4C4B0B}"/>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bf38f4683d754baf"/>
              </a:rPr>
              <a:t>BIT CRT · bit.crt.gob.mx/BitWebApp</a:t>
            </a:r>
          </a:p>
        </p:txBody>
      </p:sp>
      <p:sp>
        <p:nvSpPr>
          <p:cNvPr id="8" name="GLOSARIO_LATERAL_RECTO">
            <a:extLst xmlns:a="http://schemas.openxmlformats.org/drawingml/2006/main">
              <a:ext uri="{FF2B5EF4-FFF2-40B4-BE49-F238E27FC236}">
                <a16:creationId xmlns:a16="http://schemas.microsoft.com/office/drawing/2014/main" id="{858539AE-EE15-457B-B081-2DEC2AF77BFE}"/>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EE342DF5-0EC0-4C3B-A5A4-C33EBE8E6B55}"/>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c151f4e85cd14391"/>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8e1ef3adc9d843cd">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EBEEC178-35EA-46FF-9731-E9C4AB9C384A}"/>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7AD70741-077A-4D91-981B-7C1DDA20B35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8f9341f9b5c94c17">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52D0C20F-671D-481B-8FFF-B5E5F0AEEE52}"/>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83D1B68D-F8D4-4AF0-AB9B-52908CF1890B}"/>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sp>
        <p:nvSpPr>
          <p:cNvPr id="17" name="GLOSARIO_CONTINUACION">
            <a:extLst xmlns:a="http://schemas.openxmlformats.org/drawingml/2006/main">
              <a:ext uri="{FF2B5EF4-FFF2-40B4-BE49-F238E27FC236}">
                <a16:creationId xmlns:a16="http://schemas.microsoft.com/office/drawing/2014/main" id="{1D360054-6A45-445E-8BD1-88FFF2C08756}"/>
              </a:ext>
            </a:extLst>
          </p:cNvPr>
          <p:cNvSpPr>
            <a:spLocks xmlns:a="http://schemas.openxmlformats.org/drawingml/2006/main" noGrp="1"/>
          </p:cNvSpPr>
          <p:nvPr/>
        </p:nvSpPr>
        <p:spPr>
          <a:xfrm xmlns:a="http://schemas.openxmlformats.org/drawingml/2006/main">
            <a:off x="7493000" y="835660"/>
            <a:ext cx="1143000" cy="16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20">
                <a:solidFill>
                  <a:srgbClr val="263632"/>
                </a:solidFill>
                <a:latin typeface="Noto Sans"/>
                <a:ea typeface="Noto Sans"/>
                <a:cs typeface="Noto Sans"/>
              </a:defRPr>
            </a:pPr>
            <a:r>
              <a:rPr sz="720" b="0">
                <a:solidFill>
                  <a:srgbClr val="4A7D76"/>
                </a:solidFill>
                <a:latin typeface="Noto Sans"/>
                <a:ea typeface="Noto Sans"/>
                <a:cs typeface="Noto Sans"/>
              </a:rPr>
              <a:t>Continuación</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18bf096c142f478e">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9" name="ANUARIO_GLOSARIO_CONT_DESIGN_2026">
            <a:extLst xmlns:a="http://schemas.openxmlformats.org/drawingml/2006/main">
              <a:ext uri="{FF2B5EF4-FFF2-40B4-BE49-F238E27FC236}">
                <a16:creationId xmlns:a16="http://schemas.microsoft.com/office/drawing/2014/main" id="{4BF3652A-400F-48F3-912C-66C15ABAF386}"/>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20" name="GLOSARIO_DIVISOR_COLUMNAS">
            <a:extLst xmlns:a="http://schemas.openxmlformats.org/drawingml/2006/main">
              <a:ext uri="{FF2B5EF4-FFF2-40B4-BE49-F238E27FC236}">
                <a16:creationId xmlns:a16="http://schemas.microsoft.com/office/drawing/2014/main" id="{BC67FC0B-947D-41EB-B1C1-8824C1C0F915}"/>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GLOSARIO_left_1_1">
            <a:extLst xmlns:a="http://schemas.openxmlformats.org/drawingml/2006/main">
              <a:ext uri="{FF2B5EF4-FFF2-40B4-BE49-F238E27FC236}">
                <a16:creationId xmlns:a16="http://schemas.microsoft.com/office/drawing/2014/main" id="{0C2EF6C7-874B-49CA-AE72-E1B811AA1DD8}"/>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pequeñas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empresas</a:t>
            </a:r>
          </a:p>
        </p:txBody>
      </p:sp>
      <p:sp>
        <p:nvSpPr>
          <p:cNvPr id="22" name="GLOSARIO_left_2_1">
            <a:extLst xmlns:a="http://schemas.openxmlformats.org/drawingml/2006/main">
              <a:ext uri="{FF2B5EF4-FFF2-40B4-BE49-F238E27FC236}">
                <a16:creationId xmlns:a16="http://schemas.microsoft.com/office/drawing/2014/main" id="{253C5165-02D3-4863-8802-BAA3BF279B71}"/>
              </a:ext>
            </a:extLst>
          </p:cNvPr>
          <p:cNvSpPr>
            <a:spLocks xmlns:a="http://schemas.openxmlformats.org/drawingml/2006/main" noGrp="1"/>
          </p:cNvSpPr>
          <p:nvPr/>
        </p:nvSpPr>
        <p:spPr>
          <a:xfrm xmlns:a="http://schemas.openxmlformats.org/drawingml/2006/main">
            <a:off x="2742844" y="1623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ManyChat: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automatización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chatbots</a:t>
            </a:r>
          </a:p>
        </p:txBody>
      </p:sp>
      <p:sp>
        <p:nvSpPr>
          <p:cNvPr id="23" name="GLOSARIO_left_2_2">
            <a:extLst xmlns:a="http://schemas.openxmlformats.org/drawingml/2006/main">
              <a:ext uri="{FF2B5EF4-FFF2-40B4-BE49-F238E27FC236}">
                <a16:creationId xmlns:a16="http://schemas.microsoft.com/office/drawing/2014/main" id="{9FCF245C-A973-48AE-8FE9-80AF82A660C1}"/>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Facebook</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Messenger,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Instagram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WhatsApp</a:t>
            </a:r>
          </a:p>
        </p:txBody>
      </p:sp>
      <p:sp>
        <p:nvSpPr>
          <p:cNvPr id="24" name="GLOSARIO_left_3_1">
            <a:extLst xmlns:a="http://schemas.openxmlformats.org/drawingml/2006/main">
              <a:ext uri="{FF2B5EF4-FFF2-40B4-BE49-F238E27FC236}">
                <a16:creationId xmlns:a16="http://schemas.microsoft.com/office/drawing/2014/main" id="{A17C0660-9816-4186-BC8D-EE2D4F9A94D7}"/>
              </a:ext>
            </a:extLst>
          </p:cNvPr>
          <p:cNvSpPr>
            <a:spLocks xmlns:a="http://schemas.openxmlformats.org/drawingml/2006/main" noGrp="1"/>
          </p:cNvSpPr>
          <p:nvPr/>
        </p:nvSpPr>
        <p:spPr>
          <a:xfrm xmlns:a="http://schemas.openxmlformats.org/drawingml/2006/main">
            <a:off x="2742844"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IoT: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Cosas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Things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p>
        </p:txBody>
      </p:sp>
      <p:sp>
        <p:nvSpPr>
          <p:cNvPr id="25" name="GLOSARIO_left_3_2">
            <a:extLst xmlns:a="http://schemas.openxmlformats.org/drawingml/2006/main">
              <a:ext uri="{FF2B5EF4-FFF2-40B4-BE49-F238E27FC236}">
                <a16:creationId xmlns:a16="http://schemas.microsoft.com/office/drawing/2014/main" id="{C51E6591-8DB2-427A-B85F-C9509360D5C0}"/>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IoT)</a:t>
            </a:r>
          </a:p>
        </p:txBody>
      </p:sp>
      <p:sp>
        <p:nvSpPr>
          <p:cNvPr id="26" name="GLOSARIO_left_4_1">
            <a:extLst xmlns:a="http://schemas.openxmlformats.org/drawingml/2006/main">
              <a:ext uri="{FF2B5EF4-FFF2-40B4-BE49-F238E27FC236}">
                <a16:creationId xmlns:a16="http://schemas.microsoft.com/office/drawing/2014/main" id="{63B129E8-1914-4C4B-89AD-B753EB3FE9EC}"/>
              </a:ext>
            </a:extLst>
          </p:cNvPr>
          <p:cNvSpPr>
            <a:spLocks xmlns:a="http://schemas.openxmlformats.org/drawingml/2006/main" noGrp="1"/>
          </p:cNvSpPr>
          <p:nvPr/>
        </p:nvSpPr>
        <p:spPr>
          <a:xfrm xmlns:a="http://schemas.openxmlformats.org/drawingml/2006/main">
            <a:off x="2742844"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IPCOM: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Comunicaciones</a:t>
            </a:r>
          </a:p>
        </p:txBody>
      </p:sp>
      <p:sp>
        <p:nvSpPr>
          <p:cNvPr id="27" name="GLOSARIO_left_5_1">
            <a:extLst xmlns:a="http://schemas.openxmlformats.org/drawingml/2006/main">
              <a:ext uri="{FF2B5EF4-FFF2-40B4-BE49-F238E27FC236}">
                <a16:creationId xmlns:a16="http://schemas.microsoft.com/office/drawing/2014/main" id="{8946F43A-DD6B-4778-B592-6E027AC54E0D}"/>
              </a:ext>
            </a:extLst>
          </p:cNvPr>
          <p:cNvSpPr>
            <a:spLocks xmlns:a="http://schemas.openxmlformats.org/drawingml/2006/main" noGrp="1"/>
          </p:cNvSpPr>
          <p:nvPr/>
        </p:nvSpPr>
        <p:spPr>
          <a:xfrm xmlns:a="http://schemas.openxmlformats.org/drawingml/2006/main">
            <a:off x="2742844"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IPTV: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protocolo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Protocol</a:t>
            </a:r>
          </a:p>
        </p:txBody>
      </p:sp>
      <p:sp>
        <p:nvSpPr>
          <p:cNvPr id="28" name="GLOSARIO_left_5_2">
            <a:extLst xmlns:a="http://schemas.openxmlformats.org/drawingml/2006/main">
              <a:ext uri="{FF2B5EF4-FFF2-40B4-BE49-F238E27FC236}">
                <a16:creationId xmlns:a16="http://schemas.microsoft.com/office/drawing/2014/main" id="{1B1E59AC-4925-4298-AAAF-BFC8615E543B}"/>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Television</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IPTV)</a:t>
            </a:r>
          </a:p>
        </p:txBody>
      </p:sp>
      <p:sp>
        <p:nvSpPr>
          <p:cNvPr id="29" name="GLOSARIO_left_6_1">
            <a:extLst xmlns:a="http://schemas.openxmlformats.org/drawingml/2006/main">
              <a:ext uri="{FF2B5EF4-FFF2-40B4-BE49-F238E27FC236}">
                <a16:creationId xmlns:a16="http://schemas.microsoft.com/office/drawing/2014/main" id="{F7205DD0-FBC3-4C9F-9C6B-D11397ED9251}"/>
              </a:ext>
            </a:extLst>
          </p:cNvPr>
          <p:cNvSpPr>
            <a:spLocks xmlns:a="http://schemas.openxmlformats.org/drawingml/2006/main" noGrp="1"/>
          </p:cNvSpPr>
          <p:nvPr/>
        </p:nvSpPr>
        <p:spPr>
          <a:xfrm xmlns:a="http://schemas.openxmlformats.org/drawingml/2006/main">
            <a:off x="2742844"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LFTR: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30" name="GLOSARIO_left_7_1">
            <a:extLst xmlns:a="http://schemas.openxmlformats.org/drawingml/2006/main">
              <a:ext uri="{FF2B5EF4-FFF2-40B4-BE49-F238E27FC236}">
                <a16:creationId xmlns:a16="http://schemas.microsoft.com/office/drawing/2014/main" id="{0BE27991-AB85-4CDB-B891-F1B9D8F2CAA0}"/>
              </a:ext>
            </a:extLst>
          </p:cNvPr>
          <p:cNvSpPr>
            <a:spLocks xmlns:a="http://schemas.openxmlformats.org/drawingml/2006/main" noGrp="1"/>
          </p:cNvSpPr>
          <p:nvPr/>
        </p:nvSpPr>
        <p:spPr>
          <a:xfrm xmlns:a="http://schemas.openxmlformats.org/drawingml/2006/main">
            <a:off x="2742844"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Megabyte</a:t>
            </a:r>
          </a:p>
        </p:txBody>
      </p:sp>
      <p:sp>
        <p:nvSpPr>
          <p:cNvPr id="31" name="GLOSARIO_left_8_1">
            <a:extLst xmlns:a="http://schemas.openxmlformats.org/drawingml/2006/main">
              <a:ext uri="{FF2B5EF4-FFF2-40B4-BE49-F238E27FC236}">
                <a16:creationId xmlns:a16="http://schemas.microsoft.com/office/drawing/2014/main" id="{DD59973D-F693-4FF7-A20F-6A320E57DD93}"/>
              </a:ext>
            </a:extLst>
          </p:cNvPr>
          <p:cNvSpPr>
            <a:spLocks xmlns:a="http://schemas.openxmlformats.org/drawingml/2006/main" noGrp="1"/>
          </p:cNvSpPr>
          <p:nvPr/>
        </p:nvSpPr>
        <p:spPr>
          <a:xfrm xmlns:a="http://schemas.openxmlformats.org/drawingml/2006/main">
            <a:off x="2742844"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MHz:</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Megahertz</a:t>
            </a:r>
          </a:p>
        </p:txBody>
      </p:sp>
      <p:sp>
        <p:nvSpPr>
          <p:cNvPr id="32" name="GLOSARIO_left_9_1">
            <a:extLst xmlns:a="http://schemas.openxmlformats.org/drawingml/2006/main">
              <a:ext uri="{FF2B5EF4-FFF2-40B4-BE49-F238E27FC236}">
                <a16:creationId xmlns:a16="http://schemas.microsoft.com/office/drawing/2014/main" id="{EED8D146-EB43-47F4-9339-51184F974E91}"/>
              </a:ext>
            </a:extLst>
          </p:cNvPr>
          <p:cNvSpPr>
            <a:spLocks xmlns:a="http://schemas.openxmlformats.org/drawingml/2006/main" noGrp="1"/>
          </p:cNvSpPr>
          <p:nvPr/>
        </p:nvSpPr>
        <p:spPr>
          <a:xfrm xmlns:a="http://schemas.openxmlformats.org/drawingml/2006/main">
            <a:off x="2742844"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MOCIBA: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Módulo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p>
        </p:txBody>
      </p:sp>
      <p:sp>
        <p:nvSpPr>
          <p:cNvPr id="33" name="GLOSARIO_left_10_1">
            <a:extLst xmlns:a="http://schemas.openxmlformats.org/drawingml/2006/main">
              <a:ext uri="{FF2B5EF4-FFF2-40B4-BE49-F238E27FC236}">
                <a16:creationId xmlns:a16="http://schemas.microsoft.com/office/drawing/2014/main" id="{C2E53825-8B09-44C8-8E76-9F48DBE922AB}"/>
              </a:ext>
            </a:extLst>
          </p:cNvPr>
          <p:cNvSpPr>
            <a:spLocks xmlns:a="http://schemas.openxmlformats.org/drawingml/2006/main" noGrp="1"/>
          </p:cNvSpPr>
          <p:nvPr/>
        </p:nvSpPr>
        <p:spPr>
          <a:xfrm xmlns:a="http://schemas.openxmlformats.org/drawingml/2006/main">
            <a:off x="2742844"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Minutos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Minutes</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4" name="GLOSARIO_left_10_2">
            <a:extLst xmlns:a="http://schemas.openxmlformats.org/drawingml/2006/main">
              <a:ext uri="{FF2B5EF4-FFF2-40B4-BE49-F238E27FC236}">
                <a16:creationId xmlns:a16="http://schemas.microsoft.com/office/drawing/2014/main" id="{C8AD18E1-5738-4D56-A335-4F59CE25E15A}"/>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MOU)</a:t>
            </a:r>
          </a:p>
        </p:txBody>
      </p:sp>
      <p:sp>
        <p:nvSpPr>
          <p:cNvPr id="35" name="GLOSARIO_left_11_1">
            <a:extLst xmlns:a="http://schemas.openxmlformats.org/drawingml/2006/main">
              <a:ext uri="{FF2B5EF4-FFF2-40B4-BE49-F238E27FC236}">
                <a16:creationId xmlns:a16="http://schemas.microsoft.com/office/drawing/2014/main" id="{7F622D61-AC84-4583-A454-25ADCB55E0CD}"/>
              </a:ext>
            </a:extLst>
          </p:cNvPr>
          <p:cNvSpPr>
            <a:spLocks xmlns:a="http://schemas.openxmlformats.org/drawingml/2006/main" noGrp="1"/>
          </p:cNvSpPr>
          <p:nvPr/>
        </p:nvSpPr>
        <p:spPr>
          <a:xfrm xmlns:a="http://schemas.openxmlformats.org/drawingml/2006/main">
            <a:off x="2742844" y="38760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OMV: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Operador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Virtual</a:t>
            </a:r>
          </a:p>
        </p:txBody>
      </p:sp>
      <p:sp>
        <p:nvSpPr>
          <p:cNvPr id="36" name="GLOSARIO_left_12_1">
            <a:extLst xmlns:a="http://schemas.openxmlformats.org/drawingml/2006/main">
              <a:ext uri="{FF2B5EF4-FFF2-40B4-BE49-F238E27FC236}">
                <a16:creationId xmlns:a16="http://schemas.microsoft.com/office/drawing/2014/main" id="{144E5B24-9572-452F-B662-B205649C45EF}"/>
              </a:ext>
            </a:extLst>
          </p:cNvPr>
          <p:cNvSpPr>
            <a:spLocks xmlns:a="http://schemas.openxmlformats.org/drawingml/2006/main" noGrp="1"/>
          </p:cNvSpPr>
          <p:nvPr/>
        </p:nvSpPr>
        <p:spPr>
          <a:xfrm xmlns:a="http://schemas.openxmlformats.org/drawingml/2006/main">
            <a:off x="2742844" y="40767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OTT: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Over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Top</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OTT)</a:t>
            </a:r>
          </a:p>
        </p:txBody>
      </p:sp>
      <p:sp>
        <p:nvSpPr>
          <p:cNvPr id="37" name="GLOSARIO_left_13_1">
            <a:extLst xmlns:a="http://schemas.openxmlformats.org/drawingml/2006/main">
              <a:ext uri="{FF2B5EF4-FFF2-40B4-BE49-F238E27FC236}">
                <a16:creationId xmlns:a16="http://schemas.microsoft.com/office/drawing/2014/main" id="{6C44E656-CF25-451B-9FFF-5D71194D869A}"/>
              </a:ext>
            </a:extLst>
          </p:cNvPr>
          <p:cNvSpPr>
            <a:spLocks xmlns:a="http://schemas.openxmlformats.org/drawingml/2006/main" noGrp="1"/>
          </p:cNvSpPr>
          <p:nvPr/>
        </p:nvSpPr>
        <p:spPr>
          <a:xfrm xmlns:a="http://schemas.openxmlformats.org/drawingml/2006/main">
            <a:off x="2742844" y="42773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Producto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Bruto</a:t>
            </a:r>
          </a:p>
        </p:txBody>
      </p:sp>
      <p:sp>
        <p:nvSpPr>
          <p:cNvPr id="38" name="GLOSARIO_right_1_1">
            <a:extLst xmlns:a="http://schemas.openxmlformats.org/drawingml/2006/main">
              <a:ext uri="{FF2B5EF4-FFF2-40B4-BE49-F238E27FC236}">
                <a16:creationId xmlns:a16="http://schemas.microsoft.com/office/drawing/2014/main" id="{93D93936-CDA1-48D6-8CAB-B4DC549453EB}"/>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PICTORY: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edición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99C1885C-2FB9-48EC-A89E-5B07B443B9E6}"/>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imágenes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0" name="GLOSARIO_right_2_1">
            <a:extLst xmlns:a="http://schemas.openxmlformats.org/drawingml/2006/main">
              <a:ext uri="{FF2B5EF4-FFF2-40B4-BE49-F238E27FC236}">
                <a16:creationId xmlns:a16="http://schemas.microsoft.com/office/drawing/2014/main" id="{F10AD116-67E6-4AB7-A884-BA1FE5992BB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SCIAN: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Sistema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Clasificación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Industrial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América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Norte</a:t>
            </a:r>
          </a:p>
        </p:txBody>
      </p:sp>
      <p:sp>
        <p:nvSpPr>
          <p:cNvPr id="41" name="GLOSARIO_right_3_1">
            <a:extLst xmlns:a="http://schemas.openxmlformats.org/drawingml/2006/main">
              <a:ext uri="{FF2B5EF4-FFF2-40B4-BE49-F238E27FC236}">
                <a16:creationId xmlns:a16="http://schemas.microsoft.com/office/drawing/2014/main" id="{76F3ED9A-787E-463F-AF7E-B33596B9574C}"/>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Secretaría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Economía</a:t>
            </a:r>
          </a:p>
        </p:txBody>
      </p:sp>
      <p:sp>
        <p:nvSpPr>
          <p:cNvPr id="42" name="GLOSARIO_right_4_1">
            <a:extLst xmlns:a="http://schemas.openxmlformats.org/drawingml/2006/main">
              <a:ext uri="{FF2B5EF4-FFF2-40B4-BE49-F238E27FC236}">
                <a16:creationId xmlns:a16="http://schemas.microsoft.com/office/drawing/2014/main" id="{413F936E-F71F-40FD-9CBD-28732EF56EC3}"/>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SYNTHESIA: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p>
        </p:txBody>
      </p:sp>
      <p:sp>
        <p:nvSpPr>
          <p:cNvPr id="43" name="GLOSARIO_right_4_2">
            <a:extLst xmlns:a="http://schemas.openxmlformats.org/drawingml/2006/main">
              <a:ext uri="{FF2B5EF4-FFF2-40B4-BE49-F238E27FC236}">
                <a16:creationId xmlns:a16="http://schemas.microsoft.com/office/drawing/2014/main" id="{84BA95DE-4E80-4B06-92EC-7A4C232F867B}"/>
              </a:ext>
            </a:extLst>
          </p:cNvPr>
          <p:cNvSpPr>
            <a:spLocks xmlns:a="http://schemas.openxmlformats.org/drawingml/2006/main" noGrp="1"/>
          </p:cNvSpPr>
          <p:nvPr/>
        </p:nvSpPr>
        <p:spPr>
          <a:xfrm xmlns:a="http://schemas.openxmlformats.org/drawingml/2006/main">
            <a:off x="5852160"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sintéticas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4" name="GLOSARIO_right_5_1">
            <a:extLst xmlns:a="http://schemas.openxmlformats.org/drawingml/2006/main">
              <a:ext uri="{FF2B5EF4-FFF2-40B4-BE49-F238E27FC236}">
                <a16:creationId xmlns:a16="http://schemas.microsoft.com/office/drawing/2014/main" id="{E4748B60-9371-4380-A539-AA6CB000EBE3}"/>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SMS: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Texto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Short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Message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Service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45" name="GLOSARIO_right_5_2">
            <a:extLst xmlns:a="http://schemas.openxmlformats.org/drawingml/2006/main">
              <a:ext uri="{FF2B5EF4-FFF2-40B4-BE49-F238E27FC236}">
                <a16:creationId xmlns:a16="http://schemas.microsoft.com/office/drawing/2014/main" id="{AA1B58F8-07DC-41ED-AF7A-06610A750AFE}"/>
              </a:ext>
            </a:extLst>
          </p:cNvPr>
          <p:cNvSpPr>
            <a:spLocks xmlns:a="http://schemas.openxmlformats.org/drawingml/2006/main" noGrp="1"/>
          </p:cNvSpPr>
          <p:nvPr/>
        </p:nvSpPr>
        <p:spPr>
          <a:xfrm xmlns:a="http://schemas.openxmlformats.org/drawingml/2006/main">
            <a:off x="5852160"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SMS)</a:t>
            </a:r>
          </a:p>
        </p:txBody>
      </p:sp>
      <p:sp>
        <p:nvSpPr>
          <p:cNvPr id="46" name="GLOSARIO_right_6_1">
            <a:extLst xmlns:a="http://schemas.openxmlformats.org/drawingml/2006/main">
              <a:ext uri="{FF2B5EF4-FFF2-40B4-BE49-F238E27FC236}">
                <a16:creationId xmlns:a16="http://schemas.microsoft.com/office/drawing/2014/main" id="{C6D85338-1C8E-4385-8307-D91A5833C205}"/>
              </a:ext>
            </a:extLst>
          </p:cNvPr>
          <p:cNvSpPr>
            <a:spLocks xmlns:a="http://schemas.openxmlformats.org/drawingml/2006/main" noGrp="1"/>
          </p:cNvSpPr>
          <p:nvPr/>
        </p:nvSpPr>
        <p:spPr>
          <a:xfrm xmlns:a="http://schemas.openxmlformats.org/drawingml/2006/main">
            <a:off x="5852160"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Tasa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Anual</a:t>
            </a:r>
          </a:p>
        </p:txBody>
      </p:sp>
      <p:sp>
        <p:nvSpPr>
          <p:cNvPr id="47" name="GLOSARIO_right_7_1">
            <a:extLst xmlns:a="http://schemas.openxmlformats.org/drawingml/2006/main">
              <a:ext uri="{FF2B5EF4-FFF2-40B4-BE49-F238E27FC236}">
                <a16:creationId xmlns:a16="http://schemas.microsoft.com/office/drawing/2014/main" id="{F305028A-C6FD-4F9C-AD6C-F95DD45B71CA}"/>
              </a:ext>
            </a:extLst>
          </p:cNvPr>
          <p:cNvSpPr>
            <a:spLocks xmlns:a="http://schemas.openxmlformats.org/drawingml/2006/main" noGrp="1"/>
          </p:cNvSpPr>
          <p:nvPr/>
        </p:nvSpPr>
        <p:spPr>
          <a:xfrm xmlns:a="http://schemas.openxmlformats.org/drawingml/2006/main">
            <a:off x="5852160"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TDT: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Terrestre</a:t>
            </a:r>
          </a:p>
        </p:txBody>
      </p:sp>
      <p:sp>
        <p:nvSpPr>
          <p:cNvPr id="48" name="GLOSARIO_right_8_1">
            <a:extLst xmlns:a="http://schemas.openxmlformats.org/drawingml/2006/main">
              <a:ext uri="{FF2B5EF4-FFF2-40B4-BE49-F238E27FC236}">
                <a16:creationId xmlns:a16="http://schemas.microsoft.com/office/drawing/2014/main" id="{8D0A407C-EEC1-45EC-8B90-3F540633ABA8}"/>
              </a:ext>
            </a:extLst>
          </p:cNvPr>
          <p:cNvSpPr>
            <a:spLocks xmlns:a="http://schemas.openxmlformats.org/drawingml/2006/main" noGrp="1"/>
          </p:cNvSpPr>
          <p:nvPr/>
        </p:nvSpPr>
        <p:spPr>
          <a:xfrm xmlns:a="http://schemas.openxmlformats.org/drawingml/2006/main">
            <a:off x="5852160"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TIC: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Comunicación</a:t>
            </a:r>
          </a:p>
        </p:txBody>
      </p:sp>
      <p:sp>
        <p:nvSpPr>
          <p:cNvPr id="49" name="GLOSARIO_right_9_1">
            <a:extLst xmlns:a="http://schemas.openxmlformats.org/drawingml/2006/main">
              <a:ext uri="{FF2B5EF4-FFF2-40B4-BE49-F238E27FC236}">
                <a16:creationId xmlns:a16="http://schemas.microsoft.com/office/drawing/2014/main" id="{B0EC5F07-BDF7-4A21-99D8-53B5579D6D46}"/>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TyR: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50" name="GLOSARIO_right_10_1">
            <a:extLst xmlns:a="http://schemas.openxmlformats.org/drawingml/2006/main">
              <a:ext uri="{FF2B5EF4-FFF2-40B4-BE49-F238E27FC236}">
                <a16:creationId xmlns:a16="http://schemas.microsoft.com/office/drawing/2014/main" id="{15E9B818-2C7C-4263-B3A8-92BC5CD4ED2B}"/>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51" name="GLOSARIO_right_11_1">
            <a:extLst xmlns:a="http://schemas.openxmlformats.org/drawingml/2006/main">
              <a:ext uri="{FF2B5EF4-FFF2-40B4-BE49-F238E27FC236}">
                <a16:creationId xmlns:a16="http://schemas.microsoft.com/office/drawing/2014/main" id="{2518C1A0-ABCD-4004-B656-887D23CE27CC}"/>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Espectro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Radioeléctrico</a:t>
            </a:r>
          </a:p>
        </p:txBody>
      </p:sp>
      <p:sp>
        <p:nvSpPr>
          <p:cNvPr id="52" name="GLOSARIO_right_12_1">
            <a:extLst xmlns:a="http://schemas.openxmlformats.org/drawingml/2006/main">
              <a:ext uri="{FF2B5EF4-FFF2-40B4-BE49-F238E27FC236}">
                <a16:creationId xmlns:a16="http://schemas.microsoft.com/office/drawing/2014/main" id="{3349765E-9618-496F-854F-CD53A78071F0}"/>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UCS: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p>
        </p:txBody>
      </p:sp>
      <p:sp>
        <p:nvSpPr>
          <p:cNvPr id="53" name="GLOSARIO_right_13_1">
            <a:extLst xmlns:a="http://schemas.openxmlformats.org/drawingml/2006/main">
              <a:ext uri="{FF2B5EF4-FFF2-40B4-BE49-F238E27FC236}">
                <a16:creationId xmlns:a16="http://schemas.microsoft.com/office/drawing/2014/main" id="{10BB834E-AD04-4470-8236-71E0D502AAE9}"/>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UMCA: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Contenidos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Audiovisuales</a:t>
            </a:r>
          </a:p>
        </p:txBody>
      </p:sp>
      <p:sp>
        <p:nvSpPr>
          <p:cNvPr id="54" name="ANUARIO_PAGE_NUMBER">
            <a:extLst xmlns:a="http://schemas.openxmlformats.org/drawingml/2006/main">
              <a:ext uri="{FF2B5EF4-FFF2-40B4-BE49-F238E27FC236}">
                <a16:creationId xmlns:a16="http://schemas.microsoft.com/office/drawing/2014/main" id="{E1455A6A-EBA4-4834-BC3A-5ECD78444352}"/>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6</a:t>
            </a:r>
          </a:p>
        </p:txBody>
      </p:sp>
      <p:sp>
        <p:nvSpPr>
          <p:cNvPr id="55" name="ANUARIO_EDICION_PIE">
            <a:extLst xmlns:a="http://schemas.openxmlformats.org/drawingml/2006/main">
              <a:ext uri="{FF2B5EF4-FFF2-40B4-BE49-F238E27FC236}">
                <a16:creationId xmlns:a16="http://schemas.microsoft.com/office/drawing/2014/main" id="{916E9D32-8FCF-454B-91DC-97F4E81C61D1}"/>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861836591"/>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a2f113fc51c24590"/>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5124f4555e354735"/>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55272988eb84dce"/>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648ba0efd3e4fb5"/>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INTRO_DESIGN_2026">
            <a:extLst xmlns:a="http://schemas.openxmlformats.org/drawingml/2006/main">
              <a:ext uri="{FF2B5EF4-FFF2-40B4-BE49-F238E27FC236}">
                <a16:creationId xmlns:a16="http://schemas.microsoft.com/office/drawing/2014/main" id="{D2E56BA8-34C0-4D45-8C82-A58470D01637}"/>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INTRO_DIVISOR_LATERAL">
            <a:extLst xmlns:a="http://schemas.openxmlformats.org/drawingml/2006/main">
              <a:ext uri="{FF2B5EF4-FFF2-40B4-BE49-F238E27FC236}">
                <a16:creationId xmlns:a16="http://schemas.microsoft.com/office/drawing/2014/main" id="{A0D154AD-E861-4067-9A80-8713D001C5DA}"/>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INTRO_RECUADRO_RESUMEN">
            <a:extLst xmlns:a="http://schemas.openxmlformats.org/drawingml/2006/main">
              <a:ext uri="{FF2B5EF4-FFF2-40B4-BE49-F238E27FC236}">
                <a16:creationId xmlns:a16="http://schemas.microsoft.com/office/drawing/2014/main" id="{B02C55A4-B8E8-4019-95D0-C677E45EAB4F}"/>
              </a:ext>
            </a:extLst>
          </p:cNvPr>
          <p:cNvSpPr>
            <a:spLocks xmlns:a="http://schemas.openxmlformats.org/drawingml/2006/main" noGrp="1"/>
          </p:cNvSpPr>
          <p:nvPr/>
        </p:nvSpPr>
        <p:spPr>
          <a:xfrm xmlns:a="http://schemas.openxmlformats.org/drawingml/2006/main">
            <a:off x="2489200" y="609600"/>
            <a:ext cx="6350000" cy="482600"/>
          </a:xfrm>
          <a:prstGeom xmlns:a="http://schemas.openxmlformats.org/drawingml/2006/main" prst="roundRect">
            <a:avLst>
              <a:gd name="adj" fmla="val 15789"/>
            </a:avLst>
          </a:prstGeom>
          <a:solidFill xmlns:a="http://schemas.openxmlformats.org/drawingml/2006/main">
            <a:srgbClr val="EAF3F1"/>
          </a:solidFill>
          <a:ln xmlns:a="http://schemas.openxmlformats.org/drawingml/2006/main" w="8890">
            <a:solidFill>
              <a:srgbClr val="EAF3F1"/>
            </a:solidFill>
          </a:ln>
        </p:spPr>
      </p:sp>
      <p:sp>
        <p:nvSpPr>
          <p:cNvPr id="9" name="INTRO_ACENTO_RESUMEN">
            <a:extLst xmlns:a="http://schemas.openxmlformats.org/drawingml/2006/main">
              <a:ext uri="{FF2B5EF4-FFF2-40B4-BE49-F238E27FC236}">
                <a16:creationId xmlns:a16="http://schemas.microsoft.com/office/drawing/2014/main" id="{7F9FF756-7030-4ACD-955B-50DA09E43F2A}"/>
              </a:ext>
            </a:extLst>
          </p:cNvPr>
          <p:cNvSpPr>
            <a:spLocks xmlns:a="http://schemas.openxmlformats.org/drawingml/2006/main" noGrp="1"/>
          </p:cNvSpPr>
          <p:nvPr/>
        </p:nvSpPr>
        <p:spPr>
          <a:xfrm xmlns:a="http://schemas.openxmlformats.org/drawingml/2006/main">
            <a:off x="2489200" y="685800"/>
            <a:ext cx="38100" cy="330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INTRO_RECUADRO_1">
            <a:extLst xmlns:a="http://schemas.openxmlformats.org/drawingml/2006/main">
              <a:ext uri="{FF2B5EF4-FFF2-40B4-BE49-F238E27FC236}">
                <a16:creationId xmlns:a16="http://schemas.microsoft.com/office/drawing/2014/main" id="{67720E19-437C-4106-BF4D-CD921195373C}"/>
              </a:ext>
            </a:extLst>
          </p:cNvPr>
          <p:cNvSpPr>
            <a:spLocks xmlns:a="http://schemas.openxmlformats.org/drawingml/2006/main" noGrp="1"/>
          </p:cNvSpPr>
          <p:nvPr/>
        </p:nvSpPr>
        <p:spPr>
          <a:xfrm xmlns:a="http://schemas.openxmlformats.org/drawingml/2006/main">
            <a:off x="2489200" y="1193800"/>
            <a:ext cx="6350000" cy="609600"/>
          </a:xfrm>
          <a:prstGeom xmlns:a="http://schemas.openxmlformats.org/drawingml/2006/main" prst="roundRect">
            <a:avLst>
              <a:gd name="adj" fmla="val 6250"/>
            </a:avLst>
          </a:prstGeom>
          <a:solidFill xmlns:a="http://schemas.openxmlformats.org/drawingml/2006/main">
            <a:srgbClr val="F6FAF9"/>
          </a:solidFill>
          <a:ln xmlns:a="http://schemas.openxmlformats.org/drawingml/2006/main" w="8890">
            <a:solidFill>
              <a:srgbClr val="DCE9E6"/>
            </a:solidFill>
          </a:ln>
        </p:spPr>
      </p:sp>
      <p:sp>
        <p:nvSpPr>
          <p:cNvPr id="11" name="INTRO_ACENTO_1">
            <a:extLst xmlns:a="http://schemas.openxmlformats.org/drawingml/2006/main">
              <a:ext uri="{FF2B5EF4-FFF2-40B4-BE49-F238E27FC236}">
                <a16:creationId xmlns:a16="http://schemas.microsoft.com/office/drawing/2014/main" id="{24323903-7799-4BD3-9875-4CD2FA212D99}"/>
              </a:ext>
            </a:extLst>
          </p:cNvPr>
          <p:cNvSpPr>
            <a:spLocks xmlns:a="http://schemas.openxmlformats.org/drawingml/2006/main" noGrp="1"/>
          </p:cNvSpPr>
          <p:nvPr/>
        </p:nvSpPr>
        <p:spPr>
          <a:xfrm xmlns:a="http://schemas.openxmlformats.org/drawingml/2006/main">
            <a:off x="2489200" y="1270000"/>
            <a:ext cx="38100" cy="457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INTRO_SEPARADOR_1">
            <a:extLst xmlns:a="http://schemas.openxmlformats.org/drawingml/2006/main">
              <a:ext uri="{FF2B5EF4-FFF2-40B4-BE49-F238E27FC236}">
                <a16:creationId xmlns:a16="http://schemas.microsoft.com/office/drawing/2014/main" id="{E4E544F4-BE6C-4C19-8225-FA4091D83B5D}"/>
              </a:ext>
            </a:extLst>
          </p:cNvPr>
          <p:cNvSpPr>
            <a:spLocks xmlns:a="http://schemas.openxmlformats.org/drawingml/2006/main" noGrp="1"/>
          </p:cNvSpPr>
          <p:nvPr/>
        </p:nvSpPr>
        <p:spPr>
          <a:xfrm xmlns:a="http://schemas.openxmlformats.org/drawingml/2006/main">
            <a:off x="4546600" y="1295400"/>
            <a:ext cx="6985" cy="406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3" name="INTRO_NUMERO_FONDO_1">
            <a:extLst xmlns:a="http://schemas.openxmlformats.org/drawingml/2006/main">
              <a:ext uri="{FF2B5EF4-FFF2-40B4-BE49-F238E27FC236}">
                <a16:creationId xmlns:a16="http://schemas.microsoft.com/office/drawing/2014/main" id="{DD71E86F-A603-4AD0-AC0C-84A6E72518F4}"/>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4" name="INTRO_RECUADRO_2">
            <a:extLst xmlns:a="http://schemas.openxmlformats.org/drawingml/2006/main">
              <a:ext uri="{FF2B5EF4-FFF2-40B4-BE49-F238E27FC236}">
                <a16:creationId xmlns:a16="http://schemas.microsoft.com/office/drawing/2014/main" id="{41AF621E-E608-4D88-8A23-A65F33875DF6}"/>
              </a:ext>
            </a:extLst>
          </p:cNvPr>
          <p:cNvSpPr>
            <a:spLocks xmlns:a="http://schemas.openxmlformats.org/drawingml/2006/main" noGrp="1"/>
          </p:cNvSpPr>
          <p:nvPr/>
        </p:nvSpPr>
        <p:spPr>
          <a:xfrm xmlns:a="http://schemas.openxmlformats.org/drawingml/2006/main">
            <a:off x="2489200" y="1905000"/>
            <a:ext cx="6350000" cy="11176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8890">
            <a:solidFill>
              <a:srgbClr val="DCE9E6"/>
            </a:solidFill>
          </a:ln>
        </p:spPr>
      </p:sp>
      <p:sp>
        <p:nvSpPr>
          <p:cNvPr id="15" name="INTRO_ACENTO_2">
            <a:extLst xmlns:a="http://schemas.openxmlformats.org/drawingml/2006/main">
              <a:ext uri="{FF2B5EF4-FFF2-40B4-BE49-F238E27FC236}">
                <a16:creationId xmlns:a16="http://schemas.microsoft.com/office/drawing/2014/main" id="{61728129-C923-4AE3-B872-3F9512475F8F}"/>
              </a:ext>
            </a:extLst>
          </p:cNvPr>
          <p:cNvSpPr>
            <a:spLocks xmlns:a="http://schemas.openxmlformats.org/drawingml/2006/main" noGrp="1"/>
          </p:cNvSpPr>
          <p:nvPr/>
        </p:nvSpPr>
        <p:spPr>
          <a:xfrm xmlns:a="http://schemas.openxmlformats.org/drawingml/2006/main">
            <a:off x="2489200" y="1981200"/>
            <a:ext cx="38100" cy="965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INTRO_SEPARADOR_2">
            <a:extLst xmlns:a="http://schemas.openxmlformats.org/drawingml/2006/main">
              <a:ext uri="{FF2B5EF4-FFF2-40B4-BE49-F238E27FC236}">
                <a16:creationId xmlns:a16="http://schemas.microsoft.com/office/drawing/2014/main" id="{FCA12AE9-6DE3-4CBA-87FA-0FEC7376A968}"/>
              </a:ext>
            </a:extLst>
          </p:cNvPr>
          <p:cNvSpPr>
            <a:spLocks xmlns:a="http://schemas.openxmlformats.org/drawingml/2006/main" noGrp="1"/>
          </p:cNvSpPr>
          <p:nvPr/>
        </p:nvSpPr>
        <p:spPr>
          <a:xfrm xmlns:a="http://schemas.openxmlformats.org/drawingml/2006/main">
            <a:off x="4546600" y="2006600"/>
            <a:ext cx="6985" cy="914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7" name="INTRO_NUMERO_FONDO_2">
            <a:extLst xmlns:a="http://schemas.openxmlformats.org/drawingml/2006/main">
              <a:ext uri="{FF2B5EF4-FFF2-40B4-BE49-F238E27FC236}">
                <a16:creationId xmlns:a16="http://schemas.microsoft.com/office/drawing/2014/main" id="{BCFC4FE7-D950-4860-B879-00A5F467326C}"/>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8" name="INTRO_RECUADRO_3">
            <a:extLst xmlns:a="http://schemas.openxmlformats.org/drawingml/2006/main">
              <a:ext uri="{FF2B5EF4-FFF2-40B4-BE49-F238E27FC236}">
                <a16:creationId xmlns:a16="http://schemas.microsoft.com/office/drawing/2014/main" id="{D75E72D0-845E-490E-A7D3-645ED3843907}"/>
              </a:ext>
            </a:extLst>
          </p:cNvPr>
          <p:cNvSpPr>
            <a:spLocks xmlns:a="http://schemas.openxmlformats.org/drawingml/2006/main" noGrp="1"/>
          </p:cNvSpPr>
          <p:nvPr/>
        </p:nvSpPr>
        <p:spPr>
          <a:xfrm xmlns:a="http://schemas.openxmlformats.org/drawingml/2006/main">
            <a:off x="2489200" y="3124200"/>
            <a:ext cx="6350000" cy="711200"/>
          </a:xfrm>
          <a:prstGeom xmlns:a="http://schemas.openxmlformats.org/drawingml/2006/main" prst="roundRect">
            <a:avLst>
              <a:gd name="adj" fmla="val 5357"/>
            </a:avLst>
          </a:prstGeom>
          <a:solidFill xmlns:a="http://schemas.openxmlformats.org/drawingml/2006/main">
            <a:srgbClr val="F6FAF9"/>
          </a:solidFill>
          <a:ln xmlns:a="http://schemas.openxmlformats.org/drawingml/2006/main" w="8890">
            <a:solidFill>
              <a:srgbClr val="DCE9E6"/>
            </a:solidFill>
          </a:ln>
        </p:spPr>
      </p:sp>
      <p:sp>
        <p:nvSpPr>
          <p:cNvPr id="19" name="INTRO_ACENTO_3">
            <a:extLst xmlns:a="http://schemas.openxmlformats.org/drawingml/2006/main">
              <a:ext uri="{FF2B5EF4-FFF2-40B4-BE49-F238E27FC236}">
                <a16:creationId xmlns:a16="http://schemas.microsoft.com/office/drawing/2014/main" id="{75B0D7BD-2865-4FCD-B213-CFEE7A5EC5D8}"/>
              </a:ext>
            </a:extLst>
          </p:cNvPr>
          <p:cNvSpPr>
            <a:spLocks xmlns:a="http://schemas.openxmlformats.org/drawingml/2006/main" noGrp="1"/>
          </p:cNvSpPr>
          <p:nvPr/>
        </p:nvSpPr>
        <p:spPr>
          <a:xfrm xmlns:a="http://schemas.openxmlformats.org/drawingml/2006/main">
            <a:off x="2489200" y="3200400"/>
            <a:ext cx="38100" cy="558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0" name="INTRO_SEPARADOR_3">
            <a:extLst xmlns:a="http://schemas.openxmlformats.org/drawingml/2006/main">
              <a:ext uri="{FF2B5EF4-FFF2-40B4-BE49-F238E27FC236}">
                <a16:creationId xmlns:a16="http://schemas.microsoft.com/office/drawing/2014/main" id="{5DEFE68D-640A-4EF7-B111-356AE1457D92}"/>
              </a:ext>
            </a:extLst>
          </p:cNvPr>
          <p:cNvSpPr>
            <a:spLocks xmlns:a="http://schemas.openxmlformats.org/drawingml/2006/main" noGrp="1"/>
          </p:cNvSpPr>
          <p:nvPr/>
        </p:nvSpPr>
        <p:spPr>
          <a:xfrm xmlns:a="http://schemas.openxmlformats.org/drawingml/2006/main">
            <a:off x="4546600" y="3225800"/>
            <a:ext cx="6985" cy="5080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INTRO_NUMERO_FONDO_3">
            <a:extLst xmlns:a="http://schemas.openxmlformats.org/drawingml/2006/main">
              <a:ext uri="{FF2B5EF4-FFF2-40B4-BE49-F238E27FC236}">
                <a16:creationId xmlns:a16="http://schemas.microsoft.com/office/drawing/2014/main" id="{684DDF26-0094-45B8-AF9C-7197FF172D92}"/>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2" name="INTRO_RECUADRO_4">
            <a:extLst xmlns:a="http://schemas.openxmlformats.org/drawingml/2006/main">
              <a:ext uri="{FF2B5EF4-FFF2-40B4-BE49-F238E27FC236}">
                <a16:creationId xmlns:a16="http://schemas.microsoft.com/office/drawing/2014/main" id="{35202227-5020-46FB-B93C-ADFC0BF96C9E}"/>
              </a:ext>
            </a:extLst>
          </p:cNvPr>
          <p:cNvSpPr>
            <a:spLocks xmlns:a="http://schemas.openxmlformats.org/drawingml/2006/main" noGrp="1"/>
          </p:cNvSpPr>
          <p:nvPr/>
        </p:nvSpPr>
        <p:spPr>
          <a:xfrm xmlns:a="http://schemas.openxmlformats.org/drawingml/2006/main">
            <a:off x="2489200" y="3937000"/>
            <a:ext cx="6350000" cy="93980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8890">
            <a:solidFill>
              <a:srgbClr val="DCE9E6"/>
            </a:solidFill>
          </a:ln>
        </p:spPr>
      </p:sp>
      <p:sp>
        <p:nvSpPr>
          <p:cNvPr id="23" name="INTRO_ACENTO_4">
            <a:extLst xmlns:a="http://schemas.openxmlformats.org/drawingml/2006/main">
              <a:ext uri="{FF2B5EF4-FFF2-40B4-BE49-F238E27FC236}">
                <a16:creationId xmlns:a16="http://schemas.microsoft.com/office/drawing/2014/main" id="{58F85FE1-4115-405B-A138-0582579952C2}"/>
              </a:ext>
            </a:extLst>
          </p:cNvPr>
          <p:cNvSpPr>
            <a:spLocks xmlns:a="http://schemas.openxmlformats.org/drawingml/2006/main" noGrp="1"/>
          </p:cNvSpPr>
          <p:nvPr/>
        </p:nvSpPr>
        <p:spPr>
          <a:xfrm xmlns:a="http://schemas.openxmlformats.org/drawingml/2006/main">
            <a:off x="2489200" y="4013200"/>
            <a:ext cx="38100" cy="787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4" name="INTRO_SEPARADOR_4">
            <a:extLst xmlns:a="http://schemas.openxmlformats.org/drawingml/2006/main">
              <a:ext uri="{FF2B5EF4-FFF2-40B4-BE49-F238E27FC236}">
                <a16:creationId xmlns:a16="http://schemas.microsoft.com/office/drawing/2014/main" id="{995BE7EE-0661-403A-AC1E-2F6EB4E2FEA0}"/>
              </a:ext>
            </a:extLst>
          </p:cNvPr>
          <p:cNvSpPr>
            <a:spLocks xmlns:a="http://schemas.openxmlformats.org/drawingml/2006/main" noGrp="1"/>
          </p:cNvSpPr>
          <p:nvPr/>
        </p:nvSpPr>
        <p:spPr>
          <a:xfrm xmlns:a="http://schemas.openxmlformats.org/drawingml/2006/main">
            <a:off x="4546600" y="4038600"/>
            <a:ext cx="6985" cy="736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5" name="INTRO_NUMERO_FONDO_4">
            <a:extLst xmlns:a="http://schemas.openxmlformats.org/drawingml/2006/main">
              <a:ext uri="{FF2B5EF4-FFF2-40B4-BE49-F238E27FC236}">
                <a16:creationId xmlns:a16="http://schemas.microsoft.com/office/drawing/2014/main" id="{C8E650B4-8E56-4ECA-A798-B9FA6DA0AFC4}"/>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6" name="INTRO_TEXTO_1">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27" name="INTRO_TEXTO_2">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8" name="INTRO_TEXTO_3">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4fd49cd4a32425c"/>
              </a:rPr>
              <a:t>BIT CRT · bit.crt.gob.mx/BitWebApp</a:t>
            </a:r>
          </a:p>
        </p:txBody>
      </p:sp>
      <p:sp>
        <p:nvSpPr>
          <p:cNvPr id="29" name="INTRO_SOBRE_TITULO">
            <a:extLst xmlns:a="http://schemas.openxmlformats.org/drawingml/2006/main">
              <a:ext uri="{FF2B5EF4-FFF2-40B4-BE49-F238E27FC236}">
                <a16:creationId xmlns:a16="http://schemas.microsoft.com/office/drawing/2014/main" id="{6AD782A6-78E1-4072-A3B9-2744407D92B6}"/>
              </a:ext>
            </a:extLst>
          </p:cNvPr>
          <p:cNvSpPr>
            <a:spLocks xmlns:a="http://schemas.openxmlformats.org/drawingml/2006/main" noGrp="1"/>
          </p:cNvSpPr>
          <p:nvPr/>
        </p:nvSpPr>
        <p:spPr>
          <a:xfrm xmlns:a="http://schemas.openxmlformats.org/drawingml/2006/main">
            <a:off x="482600" y="819150"/>
            <a:ext cx="1778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S O B R E  E L  A N U A R I O</a:t>
            </a:r>
          </a:p>
        </p:txBody>
      </p:sp>
      <p:sp>
        <p:nvSpPr>
          <p:cNvPr id="30" name="INTRO_TEXTO_4">
            <a:extLst xmlns:a="http://schemas.openxmlformats.org/drawingml/2006/main">
              <a:ext uri="{FF2B5EF4-FFF2-40B4-BE49-F238E27FC236}">
                <a16:creationId xmlns:a16="http://schemas.microsoft.com/office/drawing/2014/main" id="{52216F8A-766E-4906-993B-05F1F8C3E9BD}"/>
              </a:ext>
            </a:extLst>
          </p:cNvPr>
          <p:cNvSpPr>
            <a:spLocks xmlns:a="http://schemas.openxmlformats.org/drawingml/2006/main" noGrp="1"/>
          </p:cNvSpPr>
          <p:nvPr/>
        </p:nvSpPr>
        <p:spPr>
          <a:xfrm xmlns:a="http://schemas.openxmlformats.org/drawingml/2006/main">
            <a:off x="482765" y="111718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Anuario Estadístico 2024 </a:t>
            </a:r>
          </a:p>
        </p:txBody>
      </p:sp>
      <p:sp>
        <p:nvSpPr>
          <p:cNvPr id="31" name="INTRO_TEXTO_5">
            <a:extLst xmlns:a="http://schemas.openxmlformats.org/drawingml/2006/main">
              <a:ext uri="{FF2B5EF4-FFF2-40B4-BE49-F238E27FC236}">
                <a16:creationId xmlns:a16="http://schemas.microsoft.com/office/drawing/2014/main" id="{6BD90689-F106-4D78-96B9-D99D17C93A77}"/>
              </a:ext>
            </a:extLst>
          </p:cNvPr>
          <p:cNvSpPr>
            <a:spLocks xmlns:a="http://schemas.openxmlformats.org/drawingml/2006/main" noGrp="1"/>
          </p:cNvSpPr>
          <p:nvPr/>
        </p:nvSpPr>
        <p:spPr>
          <a:xfrm xmlns:a="http://schemas.openxmlformats.org/drawingml/2006/main">
            <a:off x="482765" y="125147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presenta los principales </a:t>
            </a:r>
          </a:p>
        </p:txBody>
      </p:sp>
      <p:sp>
        <p:nvSpPr>
          <p:cNvPr id="32" name="INTRO_TEXTO_6">
            <a:extLst xmlns:a="http://schemas.openxmlformats.org/drawingml/2006/main">
              <a:ext uri="{FF2B5EF4-FFF2-40B4-BE49-F238E27FC236}">
                <a16:creationId xmlns:a16="http://schemas.microsoft.com/office/drawing/2014/main" id="{211F8CC9-11CC-4601-BE7C-63563AFEAD06}"/>
              </a:ext>
            </a:extLst>
          </p:cNvPr>
          <p:cNvSpPr>
            <a:spLocks xmlns:a="http://schemas.openxmlformats.org/drawingml/2006/main" noGrp="1"/>
          </p:cNvSpPr>
          <p:nvPr/>
        </p:nvSpPr>
        <p:spPr>
          <a:xfrm xmlns:a="http://schemas.openxmlformats.org/drawingml/2006/main">
            <a:off x="482765" y="138575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con los cuales el </a:t>
            </a:r>
          </a:p>
        </p:txBody>
      </p:sp>
      <p:sp>
        <p:nvSpPr>
          <p:cNvPr id="33" name="INTRO_TEXTO_7">
            <a:extLst xmlns:a="http://schemas.openxmlformats.org/drawingml/2006/main">
              <a:ext uri="{FF2B5EF4-FFF2-40B4-BE49-F238E27FC236}">
                <a16:creationId xmlns:a16="http://schemas.microsoft.com/office/drawing/2014/main" id="{536C90CD-CA37-4F83-940E-848F8B2BA1DE}"/>
              </a:ext>
            </a:extLst>
          </p:cNvPr>
          <p:cNvSpPr>
            <a:spLocks xmlns:a="http://schemas.openxmlformats.org/drawingml/2006/main" noGrp="1"/>
          </p:cNvSpPr>
          <p:nvPr/>
        </p:nvSpPr>
        <p:spPr>
          <a:xfrm xmlns:a="http://schemas.openxmlformats.org/drawingml/2006/main">
            <a:off x="482765" y="152002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Instituto Federal de </a:t>
            </a:r>
          </a:p>
        </p:txBody>
      </p:sp>
      <p:sp>
        <p:nvSpPr>
          <p:cNvPr id="34" name="INTRO_TEXTO_8">
            <a:extLst xmlns:a="http://schemas.openxmlformats.org/drawingml/2006/main">
              <a:ext uri="{FF2B5EF4-FFF2-40B4-BE49-F238E27FC236}">
                <a16:creationId xmlns:a16="http://schemas.microsoft.com/office/drawing/2014/main" id="{FD42C724-83B2-4138-BABA-7BD8C01261C1}"/>
              </a:ext>
            </a:extLst>
          </p:cNvPr>
          <p:cNvSpPr>
            <a:spLocks xmlns:a="http://schemas.openxmlformats.org/drawingml/2006/main" noGrp="1"/>
          </p:cNvSpPr>
          <p:nvPr/>
        </p:nvSpPr>
        <p:spPr>
          <a:xfrm xmlns:a="http://schemas.openxmlformats.org/drawingml/2006/main">
            <a:off x="482765" y="165430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(IFT) </a:t>
            </a:r>
          </a:p>
        </p:txBody>
      </p:sp>
      <p:sp>
        <p:nvSpPr>
          <p:cNvPr id="35" name="INTRO_TEXTO_9">
            <a:extLst xmlns:a="http://schemas.openxmlformats.org/drawingml/2006/main">
              <a:ext uri="{FF2B5EF4-FFF2-40B4-BE49-F238E27FC236}">
                <a16:creationId xmlns:a16="http://schemas.microsoft.com/office/drawing/2014/main" id="{DF84B6F4-7CED-4BB0-B780-5E6268BF34C9}"/>
              </a:ext>
            </a:extLst>
          </p:cNvPr>
          <p:cNvSpPr>
            <a:spLocks xmlns:a="http://schemas.openxmlformats.org/drawingml/2006/main" noGrp="1"/>
          </p:cNvSpPr>
          <p:nvPr/>
        </p:nvSpPr>
        <p:spPr>
          <a:xfrm xmlns:a="http://schemas.openxmlformats.org/drawingml/2006/main">
            <a:off x="482765" y="178858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monitorea la evolución de los </a:t>
            </a:r>
          </a:p>
        </p:txBody>
      </p:sp>
      <p:sp>
        <p:nvSpPr>
          <p:cNvPr id="36" name="INTRO_TEXTO_10">
            <a:extLst xmlns:a="http://schemas.openxmlformats.org/drawingml/2006/main">
              <a:ext uri="{FF2B5EF4-FFF2-40B4-BE49-F238E27FC236}">
                <a16:creationId xmlns:a16="http://schemas.microsoft.com/office/drawing/2014/main" id="{C03417EB-44CA-4D79-BB58-F8B351A2FC07}"/>
              </a:ext>
            </a:extLst>
          </p:cNvPr>
          <p:cNvSpPr>
            <a:spLocks xmlns:a="http://schemas.openxmlformats.org/drawingml/2006/main" noGrp="1"/>
          </p:cNvSpPr>
          <p:nvPr/>
        </p:nvSpPr>
        <p:spPr>
          <a:xfrm xmlns:a="http://schemas.openxmlformats.org/drawingml/2006/main">
            <a:off x="482765" y="192287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sectores de las </a:t>
            </a:r>
          </a:p>
        </p:txBody>
      </p:sp>
      <p:sp>
        <p:nvSpPr>
          <p:cNvPr id="37" name="INTRO_TEXTO_11">
            <a:extLst xmlns:a="http://schemas.openxmlformats.org/drawingml/2006/main">
              <a:ext uri="{FF2B5EF4-FFF2-40B4-BE49-F238E27FC236}">
                <a16:creationId xmlns:a16="http://schemas.microsoft.com/office/drawing/2014/main" id="{2AFDC85B-F3D3-4D87-BC6C-8D59FBBF7F2B}"/>
              </a:ext>
            </a:extLst>
          </p:cNvPr>
          <p:cNvSpPr>
            <a:spLocks xmlns:a="http://schemas.openxmlformats.org/drawingml/2006/main" noGrp="1"/>
          </p:cNvSpPr>
          <p:nvPr/>
        </p:nvSpPr>
        <p:spPr>
          <a:xfrm xmlns:a="http://schemas.openxmlformats.org/drawingml/2006/main">
            <a:off x="482765" y="205714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la </a:t>
            </a:r>
          </a:p>
        </p:txBody>
      </p:sp>
      <p:sp>
        <p:nvSpPr>
          <p:cNvPr id="38" name="INTRO_TEXTO_12">
            <a:extLst xmlns:a="http://schemas.openxmlformats.org/drawingml/2006/main">
              <a:ext uri="{FF2B5EF4-FFF2-40B4-BE49-F238E27FC236}">
                <a16:creationId xmlns:a16="http://schemas.microsoft.com/office/drawing/2014/main" id="{DAC77413-34AF-4358-B218-0DE67E23F091}"/>
              </a:ext>
            </a:extLst>
          </p:cNvPr>
          <p:cNvSpPr>
            <a:spLocks xmlns:a="http://schemas.openxmlformats.org/drawingml/2006/main" noGrp="1"/>
          </p:cNvSpPr>
          <p:nvPr/>
        </p:nvSpPr>
        <p:spPr>
          <a:xfrm xmlns:a="http://schemas.openxmlformats.org/drawingml/2006/main">
            <a:off x="482765" y="219142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 (TyR) a nivel </a:t>
            </a:r>
          </a:p>
        </p:txBody>
      </p:sp>
      <p:sp>
        <p:nvSpPr>
          <p:cNvPr id="39" name="INTRO_TEXTO_13">
            <a:extLst xmlns:a="http://schemas.openxmlformats.org/drawingml/2006/main">
              <a:ext uri="{FF2B5EF4-FFF2-40B4-BE49-F238E27FC236}">
                <a16:creationId xmlns:a16="http://schemas.microsoft.com/office/drawing/2014/main" id="{2880C6F5-850C-4338-9989-F687515D82C2}"/>
              </a:ext>
            </a:extLst>
          </p:cNvPr>
          <p:cNvSpPr>
            <a:spLocks xmlns:a="http://schemas.openxmlformats.org/drawingml/2006/main" noGrp="1"/>
          </p:cNvSpPr>
          <p:nvPr/>
        </p:nvSpPr>
        <p:spPr>
          <a:xfrm xmlns:a="http://schemas.openxmlformats.org/drawingml/2006/main">
            <a:off x="482765" y="232570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nacional y para algunos </a:t>
            </a:r>
          </a:p>
        </p:txBody>
      </p:sp>
      <p:sp>
        <p:nvSpPr>
          <p:cNvPr id="40" name="INTRO_TEXTO_14">
            <a:extLst xmlns:a="http://schemas.openxmlformats.org/drawingml/2006/main">
              <a:ext uri="{FF2B5EF4-FFF2-40B4-BE49-F238E27FC236}">
                <a16:creationId xmlns:a16="http://schemas.microsoft.com/office/drawing/2014/main" id="{C2812C43-6634-42CD-A078-9F68137E8AEE}"/>
              </a:ext>
            </a:extLst>
          </p:cNvPr>
          <p:cNvSpPr>
            <a:spLocks xmlns:a="http://schemas.openxmlformats.org/drawingml/2006/main" noGrp="1"/>
          </p:cNvSpPr>
          <p:nvPr/>
        </p:nvSpPr>
        <p:spPr>
          <a:xfrm xmlns:a="http://schemas.openxmlformats.org/drawingml/2006/main">
            <a:off x="482765" y="245999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a nivel entidad </a:t>
            </a:r>
          </a:p>
        </p:txBody>
      </p:sp>
      <p:sp>
        <p:nvSpPr>
          <p:cNvPr id="41" name="INTRO_TEXTO_15">
            <a:extLst xmlns:a="http://schemas.openxmlformats.org/drawingml/2006/main">
              <a:ext uri="{FF2B5EF4-FFF2-40B4-BE49-F238E27FC236}">
                <a16:creationId xmlns:a16="http://schemas.microsoft.com/office/drawing/2014/main" id="{9764DC29-6C4D-4758-8F65-EC118DCDDC92}"/>
              </a:ext>
            </a:extLst>
          </p:cNvPr>
          <p:cNvSpPr>
            <a:spLocks xmlns:a="http://schemas.openxmlformats.org/drawingml/2006/main" noGrp="1"/>
          </p:cNvSpPr>
          <p:nvPr/>
        </p:nvSpPr>
        <p:spPr>
          <a:xfrm xmlns:a="http://schemas.openxmlformats.org/drawingml/2006/main">
            <a:off x="482765" y="259426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federativa. Con ello el IFT, a </a:t>
            </a:r>
          </a:p>
        </p:txBody>
      </p:sp>
      <p:sp>
        <p:nvSpPr>
          <p:cNvPr id="42" name="INTRO_TEXTO_16">
            <a:extLst xmlns:a="http://schemas.openxmlformats.org/drawingml/2006/main">
              <a:ext uri="{FF2B5EF4-FFF2-40B4-BE49-F238E27FC236}">
                <a16:creationId xmlns:a16="http://schemas.microsoft.com/office/drawing/2014/main" id="{E2EAF48C-37E7-4F90-84EB-E956FE5CF668}"/>
              </a:ext>
            </a:extLst>
          </p:cNvPr>
          <p:cNvSpPr>
            <a:spLocks xmlns:a="http://schemas.openxmlformats.org/drawingml/2006/main" noGrp="1"/>
          </p:cNvSpPr>
          <p:nvPr/>
        </p:nvSpPr>
        <p:spPr>
          <a:xfrm xmlns:a="http://schemas.openxmlformats.org/drawingml/2006/main">
            <a:off x="482765" y="2728546"/>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través de la Coordinación General </a:t>
            </a:r>
          </a:p>
        </p:txBody>
      </p:sp>
      <p:sp>
        <p:nvSpPr>
          <p:cNvPr id="43" name="INTRO_TEXTO_17">
            <a:extLst xmlns:a="http://schemas.openxmlformats.org/drawingml/2006/main">
              <a:ext uri="{FF2B5EF4-FFF2-40B4-BE49-F238E27FC236}">
                <a16:creationId xmlns:a16="http://schemas.microsoft.com/office/drawing/2014/main" id="{3E981804-BA50-4EEE-A4F7-85252A027F37}"/>
              </a:ext>
            </a:extLst>
          </p:cNvPr>
          <p:cNvSpPr>
            <a:spLocks xmlns:a="http://schemas.openxmlformats.org/drawingml/2006/main" noGrp="1"/>
          </p:cNvSpPr>
          <p:nvPr/>
        </p:nvSpPr>
        <p:spPr>
          <a:xfrm xmlns:a="http://schemas.openxmlformats.org/drawingml/2006/main">
            <a:off x="482765" y="286282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Planeación Estratégica </a:t>
            </a:r>
          </a:p>
        </p:txBody>
      </p:sp>
      <p:sp>
        <p:nvSpPr>
          <p:cNvPr id="44" name="INTRO_TEXTO_18">
            <a:extLst xmlns:a="http://schemas.openxmlformats.org/drawingml/2006/main">
              <a:ext uri="{FF2B5EF4-FFF2-40B4-BE49-F238E27FC236}">
                <a16:creationId xmlns:a16="http://schemas.microsoft.com/office/drawing/2014/main" id="{66D1E505-90C1-4F64-A9CE-D99EB71B192F}"/>
              </a:ext>
            </a:extLst>
          </p:cNvPr>
          <p:cNvSpPr>
            <a:spLocks xmlns:a="http://schemas.openxmlformats.org/drawingml/2006/main" noGrp="1"/>
          </p:cNvSpPr>
          <p:nvPr/>
        </p:nvSpPr>
        <p:spPr>
          <a:xfrm xmlns:a="http://schemas.openxmlformats.org/drawingml/2006/main">
            <a:off x="482765" y="299711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proporciona información puntual y </a:t>
            </a:r>
          </a:p>
        </p:txBody>
      </p:sp>
      <p:sp>
        <p:nvSpPr>
          <p:cNvPr id="45" name="INTRO_TEXTO_19">
            <a:extLst xmlns:a="http://schemas.openxmlformats.org/drawingml/2006/main">
              <a:ext uri="{FF2B5EF4-FFF2-40B4-BE49-F238E27FC236}">
                <a16:creationId xmlns:a16="http://schemas.microsoft.com/office/drawing/2014/main" id="{F6B19A7F-2D2C-4130-86A5-26B32DB7B22D}"/>
              </a:ext>
            </a:extLst>
          </p:cNvPr>
          <p:cNvSpPr>
            <a:spLocks xmlns:a="http://schemas.openxmlformats.org/drawingml/2006/main" noGrp="1"/>
          </p:cNvSpPr>
          <p:nvPr/>
        </p:nvSpPr>
        <p:spPr>
          <a:xfrm xmlns:a="http://schemas.openxmlformats.org/drawingml/2006/main">
            <a:off x="482765" y="313139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confiable a los diferentes actores </a:t>
            </a:r>
          </a:p>
        </p:txBody>
      </p:sp>
      <p:sp>
        <p:nvSpPr>
          <p:cNvPr id="46" name="INTRO_TEXTO_20">
            <a:extLst xmlns:a="http://schemas.openxmlformats.org/drawingml/2006/main">
              <a:ext uri="{FF2B5EF4-FFF2-40B4-BE49-F238E27FC236}">
                <a16:creationId xmlns:a16="http://schemas.microsoft.com/office/drawing/2014/main" id="{A9ED9EF3-5D71-4FFB-9CC0-BE7CE00E2680}"/>
              </a:ext>
            </a:extLst>
          </p:cNvPr>
          <p:cNvSpPr>
            <a:spLocks xmlns:a="http://schemas.openxmlformats.org/drawingml/2006/main" noGrp="1"/>
          </p:cNvSpPr>
          <p:nvPr/>
        </p:nvSpPr>
        <p:spPr>
          <a:xfrm xmlns:a="http://schemas.openxmlformats.org/drawingml/2006/main">
            <a:off x="482765" y="326566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públicos y privados que participan </a:t>
            </a:r>
          </a:p>
        </p:txBody>
      </p:sp>
      <p:sp>
        <p:nvSpPr>
          <p:cNvPr id="47" name="INTRO_TEXTO_21">
            <a:extLst xmlns:a="http://schemas.openxmlformats.org/drawingml/2006/main">
              <a:ext uri="{FF2B5EF4-FFF2-40B4-BE49-F238E27FC236}">
                <a16:creationId xmlns:a16="http://schemas.microsoft.com/office/drawing/2014/main" id="{79C4BC74-A88B-4B2A-A278-31CF769F5866}"/>
              </a:ext>
            </a:extLst>
          </p:cNvPr>
          <p:cNvSpPr>
            <a:spLocks xmlns:a="http://schemas.openxmlformats.org/drawingml/2006/main" noGrp="1"/>
          </p:cNvSpPr>
          <p:nvPr/>
        </p:nvSpPr>
        <p:spPr>
          <a:xfrm xmlns:a="http://schemas.openxmlformats.org/drawingml/2006/main">
            <a:off x="482765" y="339994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en dichos sectores para </a:t>
            </a:r>
          </a:p>
        </p:txBody>
      </p:sp>
      <p:sp>
        <p:nvSpPr>
          <p:cNvPr id="48" name="INTRO_TEXTO_22">
            <a:extLst xmlns:a="http://schemas.openxmlformats.org/drawingml/2006/main">
              <a:ext uri="{FF2B5EF4-FFF2-40B4-BE49-F238E27FC236}">
                <a16:creationId xmlns:a16="http://schemas.microsoft.com/office/drawing/2014/main" id="{9F6A05EB-15F4-4E1F-B076-CC3F5D455BAA}"/>
              </a:ext>
            </a:extLst>
          </p:cNvPr>
          <p:cNvSpPr>
            <a:spLocks xmlns:a="http://schemas.openxmlformats.org/drawingml/2006/main" noGrp="1"/>
          </p:cNvSpPr>
          <p:nvPr/>
        </p:nvSpPr>
        <p:spPr>
          <a:xfrm xmlns:a="http://schemas.openxmlformats.org/drawingml/2006/main">
            <a:off x="482765" y="353422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robustecer la toma de decisiones, </a:t>
            </a:r>
          </a:p>
        </p:txBody>
      </p:sp>
      <p:sp>
        <p:nvSpPr>
          <p:cNvPr id="49" name="INTRO_TEXTO_23">
            <a:extLst xmlns:a="http://schemas.openxmlformats.org/drawingml/2006/main">
              <a:ext uri="{FF2B5EF4-FFF2-40B4-BE49-F238E27FC236}">
                <a16:creationId xmlns:a16="http://schemas.microsoft.com/office/drawing/2014/main" id="{A144D5CB-03AA-44AE-BADE-E4153C392037}"/>
              </a:ext>
            </a:extLst>
          </p:cNvPr>
          <p:cNvSpPr>
            <a:spLocks xmlns:a="http://schemas.openxmlformats.org/drawingml/2006/main" noGrp="1"/>
          </p:cNvSpPr>
          <p:nvPr/>
        </p:nvSpPr>
        <p:spPr>
          <a:xfrm xmlns:a="http://schemas.openxmlformats.org/drawingml/2006/main">
            <a:off x="482765" y="366851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diseño de nuevas políticas </a:t>
            </a:r>
          </a:p>
        </p:txBody>
      </p:sp>
      <p:sp>
        <p:nvSpPr>
          <p:cNvPr id="50" name="INTRO_TEXTO_24">
            <a:extLst xmlns:a="http://schemas.openxmlformats.org/drawingml/2006/main">
              <a:ext uri="{FF2B5EF4-FFF2-40B4-BE49-F238E27FC236}">
                <a16:creationId xmlns:a16="http://schemas.microsoft.com/office/drawing/2014/main" id="{DFED4B78-00CC-4EF5-94BF-A8C00373ED06}"/>
              </a:ext>
            </a:extLst>
          </p:cNvPr>
          <p:cNvSpPr>
            <a:spLocks xmlns:a="http://schemas.openxmlformats.org/drawingml/2006/main" noGrp="1"/>
          </p:cNvSpPr>
          <p:nvPr/>
        </p:nvSpPr>
        <p:spPr>
          <a:xfrm xmlns:a="http://schemas.openxmlformats.org/drawingml/2006/main">
            <a:off x="482765" y="380278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públicas y regulatorias con el fin </a:t>
            </a:r>
          </a:p>
        </p:txBody>
      </p:sp>
      <p:sp>
        <p:nvSpPr>
          <p:cNvPr id="51" name="INTRO_TEXTO_25">
            <a:extLst xmlns:a="http://schemas.openxmlformats.org/drawingml/2006/main">
              <a:ext uri="{FF2B5EF4-FFF2-40B4-BE49-F238E27FC236}">
                <a16:creationId xmlns:a16="http://schemas.microsoft.com/office/drawing/2014/main" id="{74F91674-2B7A-4779-BEF9-675E54A872D7}"/>
              </a:ext>
            </a:extLst>
          </p:cNvPr>
          <p:cNvSpPr>
            <a:spLocks xmlns:a="http://schemas.openxmlformats.org/drawingml/2006/main" noGrp="1"/>
          </p:cNvSpPr>
          <p:nvPr/>
        </p:nvSpPr>
        <p:spPr>
          <a:xfrm xmlns:a="http://schemas.openxmlformats.org/drawingml/2006/main">
            <a:off x="482765" y="393706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mejorar y garantizar la calidad </a:t>
            </a:r>
          </a:p>
        </p:txBody>
      </p:sp>
      <p:sp>
        <p:nvSpPr>
          <p:cNvPr id="52" name="INTRO_TEXTO_26">
            <a:extLst xmlns:a="http://schemas.openxmlformats.org/drawingml/2006/main">
              <a:ext uri="{FF2B5EF4-FFF2-40B4-BE49-F238E27FC236}">
                <a16:creationId xmlns:a16="http://schemas.microsoft.com/office/drawing/2014/main" id="{F9B0123F-B07D-4A91-8EEE-10AE48E5B72F}"/>
              </a:ext>
            </a:extLst>
          </p:cNvPr>
          <p:cNvSpPr>
            <a:spLocks xmlns:a="http://schemas.openxmlformats.org/drawingml/2006/main" noGrp="1"/>
          </p:cNvSpPr>
          <p:nvPr/>
        </p:nvSpPr>
        <p:spPr>
          <a:xfrm xmlns:a="http://schemas.openxmlformats.org/drawingml/2006/main">
            <a:off x="482765" y="407134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los servicios de </a:t>
            </a:r>
          </a:p>
        </p:txBody>
      </p:sp>
      <p:sp>
        <p:nvSpPr>
          <p:cNvPr id="53" name="INTRO_TEXTO_27">
            <a:extLst xmlns:a="http://schemas.openxmlformats.org/drawingml/2006/main">
              <a:ext uri="{FF2B5EF4-FFF2-40B4-BE49-F238E27FC236}">
                <a16:creationId xmlns:a16="http://schemas.microsoft.com/office/drawing/2014/main" id="{C28A19A7-B4B7-4753-B6CA-93635324508A}"/>
              </a:ext>
            </a:extLst>
          </p:cNvPr>
          <p:cNvSpPr>
            <a:spLocks xmlns:a="http://schemas.openxmlformats.org/drawingml/2006/main" noGrp="1"/>
          </p:cNvSpPr>
          <p:nvPr/>
        </p:nvSpPr>
        <p:spPr>
          <a:xfrm xmlns:a="http://schemas.openxmlformats.org/drawingml/2006/main">
            <a:off x="482765" y="420563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a:t>
            </a:r>
          </a:p>
        </p:txBody>
      </p:sp>
      <p:sp>
        <p:nvSpPr>
          <p:cNvPr id="54" name="INTRO_TEXTO_28">
            <a:extLst xmlns:a="http://schemas.openxmlformats.org/drawingml/2006/main">
              <a:ext uri="{FF2B5EF4-FFF2-40B4-BE49-F238E27FC236}">
                <a16:creationId xmlns:a16="http://schemas.microsoft.com/office/drawing/2014/main" id="{BBAE18BD-1B28-49D9-B073-764D41076BC0}"/>
              </a:ext>
            </a:extLst>
          </p:cNvPr>
          <p:cNvSpPr>
            <a:spLocks xmlns:a="http://schemas.openxmlformats.org/drawingml/2006/main" noGrp="1"/>
          </p:cNvSpPr>
          <p:nvPr/>
        </p:nvSpPr>
        <p:spPr>
          <a:xfrm xmlns:a="http://schemas.openxmlformats.org/drawingml/2006/main">
            <a:off x="482765" y="433990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a:t>
            </a:r>
          </a:p>
        </p:txBody>
      </p:sp>
      <p:sp>
        <p:nvSpPr>
          <p:cNvPr id="55" name="INTRO_TEXTO_29">
            <a:extLst xmlns:a="http://schemas.openxmlformats.org/drawingml/2006/main">
              <a:ext uri="{FF2B5EF4-FFF2-40B4-BE49-F238E27FC236}">
                <a16:creationId xmlns:a16="http://schemas.microsoft.com/office/drawing/2014/main" id="{3B9C67BC-D953-4DEA-ACBE-40A011D92208}"/>
              </a:ext>
            </a:extLst>
          </p:cNvPr>
          <p:cNvSpPr>
            <a:spLocks xmlns:a="http://schemas.openxmlformats.org/drawingml/2006/main" noGrp="1"/>
          </p:cNvSpPr>
          <p:nvPr/>
        </p:nvSpPr>
        <p:spPr>
          <a:xfrm xmlns:a="http://schemas.openxmlformats.org/drawingml/2006/main">
            <a:off x="2666886" y="67061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El Anuario se divide en ocho secciones, las cuales presentan indicadores relevantes para el análisis a nivel </a:t>
            </a:r>
          </a:p>
        </p:txBody>
      </p:sp>
      <p:sp>
        <p:nvSpPr>
          <p:cNvPr id="56" name="INTRO_TEXTO_30">
            <a:extLst xmlns:a="http://schemas.openxmlformats.org/drawingml/2006/main">
              <a:ext uri="{FF2B5EF4-FFF2-40B4-BE49-F238E27FC236}">
                <a16:creationId xmlns:a16="http://schemas.microsoft.com/office/drawing/2014/main" id="{7192D7B4-3601-4AB1-A89D-38A83CAA5152}"/>
              </a:ext>
            </a:extLst>
          </p:cNvPr>
          <p:cNvSpPr>
            <a:spLocks xmlns:a="http://schemas.openxmlformats.org/drawingml/2006/main" noGrp="1"/>
          </p:cNvSpPr>
          <p:nvPr/>
        </p:nvSpPr>
        <p:spPr>
          <a:xfrm xmlns:a="http://schemas.openxmlformats.org/drawingml/2006/main">
            <a:off x="2666886" y="79554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nacional y algunos para el análisis por entidad federativa. A continuación, se da una breve descripción de cada </a:t>
            </a:r>
          </a:p>
        </p:txBody>
      </p:sp>
      <p:sp>
        <p:nvSpPr>
          <p:cNvPr id="57" name="INTRO_TEXTO_31">
            <a:extLst xmlns:a="http://schemas.openxmlformats.org/drawingml/2006/main">
              <a:ext uri="{FF2B5EF4-FFF2-40B4-BE49-F238E27FC236}">
                <a16:creationId xmlns:a16="http://schemas.microsoft.com/office/drawing/2014/main" id="{65E1647B-BCC2-430B-958F-857C94BF4767}"/>
              </a:ext>
            </a:extLst>
          </p:cNvPr>
          <p:cNvSpPr>
            <a:spLocks xmlns:a="http://schemas.openxmlformats.org/drawingml/2006/main" noGrp="1"/>
          </p:cNvSpPr>
          <p:nvPr/>
        </p:nvSpPr>
        <p:spPr>
          <a:xfrm xmlns:a="http://schemas.openxmlformats.org/drawingml/2006/main">
            <a:off x="2666886" y="920458"/>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una:</a:t>
            </a:r>
          </a:p>
        </p:txBody>
      </p:sp>
      <p:sp>
        <p:nvSpPr>
          <p:cNvPr id="58" name="INTRO_NUMERO_1">
            <a:extLst xmlns:a="http://schemas.openxmlformats.org/drawingml/2006/main">
              <a:ext uri="{FF2B5EF4-FFF2-40B4-BE49-F238E27FC236}">
                <a16:creationId xmlns:a16="http://schemas.microsoft.com/office/drawing/2014/main" id="{B2541F9D-9050-4678-AFD4-EA1568263D41}"/>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1</a:t>
            </a:r>
          </a:p>
        </p:txBody>
      </p:sp>
      <p:sp>
        <p:nvSpPr>
          <p:cNvPr id="59" name="INTRO_SECCION_1_1">
            <a:extLst xmlns:a="http://schemas.openxmlformats.org/drawingml/2006/main">
              <a:ext uri="{FF2B5EF4-FFF2-40B4-BE49-F238E27FC236}">
                <a16:creationId xmlns:a16="http://schemas.microsoft.com/office/drawing/2014/main" id="{6F0B13B8-95A6-44CB-AD62-DFCAED5F3B1A}"/>
              </a:ext>
            </a:extLst>
          </p:cNvPr>
          <p:cNvSpPr>
            <a:spLocks xmlns:a="http://schemas.openxmlformats.org/drawingml/2006/main" noGrp="1"/>
          </p:cNvSpPr>
          <p:nvPr/>
        </p:nvSpPr>
        <p:spPr>
          <a:xfrm xmlns:a="http://schemas.openxmlformats.org/drawingml/2006/main">
            <a:off x="2971800" y="13639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Indicadores Económicos </a:t>
            </a:r>
          </a:p>
        </p:txBody>
      </p:sp>
      <p:sp>
        <p:nvSpPr>
          <p:cNvPr id="60" name="INTRO_SECCION_1_2">
            <a:extLst xmlns:a="http://schemas.openxmlformats.org/drawingml/2006/main">
              <a:ext uri="{FF2B5EF4-FFF2-40B4-BE49-F238E27FC236}">
                <a16:creationId xmlns:a16="http://schemas.microsoft.com/office/drawing/2014/main" id="{31F2C968-5A63-4778-84E9-C74850330BC8}"/>
              </a:ext>
            </a:extLst>
          </p:cNvPr>
          <p:cNvSpPr>
            <a:spLocks xmlns:a="http://schemas.openxmlformats.org/drawingml/2006/main" noGrp="1"/>
          </p:cNvSpPr>
          <p:nvPr/>
        </p:nvSpPr>
        <p:spPr>
          <a:xfrm xmlns:a="http://schemas.openxmlformats.org/drawingml/2006/main">
            <a:off x="2971800" y="14986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de las TyR:</a:t>
            </a:r>
          </a:p>
        </p:txBody>
      </p:sp>
      <p:sp>
        <p:nvSpPr>
          <p:cNvPr id="61" name="INTRO_TEXTO_32">
            <a:extLst xmlns:a="http://schemas.openxmlformats.org/drawingml/2006/main">
              <a:ext uri="{FF2B5EF4-FFF2-40B4-BE49-F238E27FC236}">
                <a16:creationId xmlns:a16="http://schemas.microsoft.com/office/drawing/2014/main" id="{CDEF6A0C-4025-4B76-97C8-EB344B40305F}"/>
              </a:ext>
            </a:extLst>
          </p:cNvPr>
          <p:cNvSpPr>
            <a:spLocks xmlns:a="http://schemas.openxmlformats.org/drawingml/2006/main" noGrp="1"/>
          </p:cNvSpPr>
          <p:nvPr/>
        </p:nvSpPr>
        <p:spPr>
          <a:xfrm xmlns:a="http://schemas.openxmlformats.org/drawingml/2006/main">
            <a:off x="4673600" y="127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Producto Interno Bruto (PIB); número de personas empleadas; índices de </a:t>
            </a:r>
          </a:p>
        </p:txBody>
      </p:sp>
      <p:sp>
        <p:nvSpPr>
          <p:cNvPr id="62" name="INTRO_TEXTO_33">
            <a:extLst xmlns:a="http://schemas.openxmlformats.org/drawingml/2006/main">
              <a:ext uri="{FF2B5EF4-FFF2-40B4-BE49-F238E27FC236}">
                <a16:creationId xmlns:a16="http://schemas.microsoft.com/office/drawing/2014/main" id="{CB041FC1-1B59-466E-AB8A-216C6D4B3824}"/>
              </a:ext>
            </a:extLst>
          </p:cNvPr>
          <p:cNvSpPr>
            <a:spLocks xmlns:a="http://schemas.openxmlformats.org/drawingml/2006/main" noGrp="1"/>
          </p:cNvSpPr>
          <p:nvPr/>
        </p:nvSpPr>
        <p:spPr>
          <a:xfrm xmlns:a="http://schemas.openxmlformats.org/drawingml/2006/main">
            <a:off x="4673600" y="138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precios; inversión privada en telecomunicaciones; Inversión Extranjera Directa (IED); </a:t>
            </a:r>
          </a:p>
        </p:txBody>
      </p:sp>
      <p:sp>
        <p:nvSpPr>
          <p:cNvPr id="63" name="INTRO_TEXTO_34">
            <a:extLst xmlns:a="http://schemas.openxmlformats.org/drawingml/2006/main">
              <a:ext uri="{FF2B5EF4-FFF2-40B4-BE49-F238E27FC236}">
                <a16:creationId xmlns:a16="http://schemas.microsoft.com/office/drawing/2014/main" id="{F3B691B4-13E6-4D97-9BF8-D624F901A6F4}"/>
              </a:ext>
            </a:extLst>
          </p:cNvPr>
          <p:cNvSpPr>
            <a:spLocks xmlns:a="http://schemas.openxmlformats.org/drawingml/2006/main" noGrp="1"/>
          </p:cNvSpPr>
          <p:nvPr/>
        </p:nvSpPr>
        <p:spPr>
          <a:xfrm xmlns:a="http://schemas.openxmlformats.org/drawingml/2006/main">
            <a:off x="4673600" y="149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ingresos, egresos y margen del sector; y el ingreso y gasto en los hogares de los </a:t>
            </a:r>
          </a:p>
        </p:txBody>
      </p:sp>
      <p:sp>
        <p:nvSpPr>
          <p:cNvPr id="64" name="INTRO_TEXTO_35">
            <a:extLst xmlns:a="http://schemas.openxmlformats.org/drawingml/2006/main">
              <a:ext uri="{FF2B5EF4-FFF2-40B4-BE49-F238E27FC236}">
                <a16:creationId xmlns:a16="http://schemas.microsoft.com/office/drawing/2014/main" id="{CEBC33AE-C347-439E-AA34-7926D4113DAF}"/>
              </a:ext>
            </a:extLst>
          </p:cNvPr>
          <p:cNvSpPr>
            <a:spLocks xmlns:a="http://schemas.openxmlformats.org/drawingml/2006/main" noGrp="1"/>
          </p:cNvSpPr>
          <p:nvPr/>
        </p:nvSpPr>
        <p:spPr>
          <a:xfrm xmlns:a="http://schemas.openxmlformats.org/drawingml/2006/main">
            <a:off x="4673600" y="16052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servicios de telecomunicaciones fijas y móviles.</a:t>
            </a:r>
          </a:p>
        </p:txBody>
      </p:sp>
      <p:sp>
        <p:nvSpPr>
          <p:cNvPr id="65" name="INTRO_NUMERO_2">
            <a:extLst xmlns:a="http://schemas.openxmlformats.org/drawingml/2006/main">
              <a:ext uri="{FF2B5EF4-FFF2-40B4-BE49-F238E27FC236}">
                <a16:creationId xmlns:a16="http://schemas.microsoft.com/office/drawing/2014/main" id="{10044063-37DE-45C0-9296-26CACE0D658D}"/>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2</a:t>
            </a:r>
          </a:p>
        </p:txBody>
      </p:sp>
      <p:sp>
        <p:nvSpPr>
          <p:cNvPr id="66" name="INTRO_SECCION_2_1">
            <a:extLst xmlns:a="http://schemas.openxmlformats.org/drawingml/2006/main">
              <a:ext uri="{FF2B5EF4-FFF2-40B4-BE49-F238E27FC236}">
                <a16:creationId xmlns:a16="http://schemas.microsoft.com/office/drawing/2014/main" id="{E7A0210B-79BA-49E7-B34D-F84F743641DB}"/>
              </a:ext>
            </a:extLst>
          </p:cNvPr>
          <p:cNvSpPr>
            <a:spLocks xmlns:a="http://schemas.openxmlformats.org/drawingml/2006/main" noGrp="1"/>
          </p:cNvSpPr>
          <p:nvPr/>
        </p:nvSpPr>
        <p:spPr>
          <a:xfrm xmlns:a="http://schemas.openxmlformats.org/drawingml/2006/main">
            <a:off x="2971800" y="2329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Fijos de </a:t>
            </a:r>
          </a:p>
        </p:txBody>
      </p:sp>
      <p:sp>
        <p:nvSpPr>
          <p:cNvPr id="67" name="INTRO_SECCION_2_2">
            <a:extLst xmlns:a="http://schemas.openxmlformats.org/drawingml/2006/main">
              <a:ext uri="{FF2B5EF4-FFF2-40B4-BE49-F238E27FC236}">
                <a16:creationId xmlns:a16="http://schemas.microsoft.com/office/drawing/2014/main" id="{B69FD241-09E4-4FC9-847C-1FF47188FABC}"/>
              </a:ext>
            </a:extLst>
          </p:cNvPr>
          <p:cNvSpPr>
            <a:spLocks xmlns:a="http://schemas.openxmlformats.org/drawingml/2006/main" noGrp="1"/>
          </p:cNvSpPr>
          <p:nvPr/>
        </p:nvSpPr>
        <p:spPr>
          <a:xfrm xmlns:a="http://schemas.openxmlformats.org/drawingml/2006/main">
            <a:off x="2971800" y="2463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68" name="INTRO_TEXTO_36">
            <a:extLst xmlns:a="http://schemas.openxmlformats.org/drawingml/2006/main">
              <a:ext uri="{FF2B5EF4-FFF2-40B4-BE49-F238E27FC236}">
                <a16:creationId xmlns:a16="http://schemas.microsoft.com/office/drawing/2014/main" id="{AC519C1A-51C6-4781-B14F-8AA4A32A00A6}"/>
              </a:ext>
            </a:extLst>
          </p:cNvPr>
          <p:cNvSpPr>
            <a:spLocks xmlns:a="http://schemas.openxmlformats.org/drawingml/2006/main" noGrp="1"/>
          </p:cNvSpPr>
          <p:nvPr/>
        </p:nvSpPr>
        <p:spPr>
          <a:xfrm xmlns:a="http://schemas.openxmlformats.org/drawingml/2006/main">
            <a:off x="4673600" y="1981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Comprende la distribución de los servicios fijos en los hogares; números de </a:t>
            </a:r>
          </a:p>
        </p:txBody>
      </p:sp>
      <p:sp>
        <p:nvSpPr>
          <p:cNvPr id="69" name="INTRO_TEXTO_37">
            <a:extLst xmlns:a="http://schemas.openxmlformats.org/drawingml/2006/main">
              <a:ext uri="{FF2B5EF4-FFF2-40B4-BE49-F238E27FC236}">
                <a16:creationId xmlns:a16="http://schemas.microsoft.com/office/drawing/2014/main" id="{6CFA896A-3F88-470E-85EE-E7AB1337F06F}"/>
              </a:ext>
            </a:extLst>
          </p:cNvPr>
          <p:cNvSpPr>
            <a:spLocks xmlns:a="http://schemas.openxmlformats.org/drawingml/2006/main" noGrp="1"/>
          </p:cNvSpPr>
          <p:nvPr/>
        </p:nvSpPr>
        <p:spPr>
          <a:xfrm xmlns:a="http://schemas.openxmlformats.org/drawingml/2006/main">
            <a:off x="4673600" y="2092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totales; participación y concentración de mercado; números de </a:t>
            </a:r>
          </a:p>
        </p:txBody>
      </p:sp>
      <p:sp>
        <p:nvSpPr>
          <p:cNvPr id="70" name="INTRO_TEXTO_38">
            <a:extLst xmlns:a="http://schemas.openxmlformats.org/drawingml/2006/main">
              <a:ext uri="{FF2B5EF4-FFF2-40B4-BE49-F238E27FC236}">
                <a16:creationId xmlns:a16="http://schemas.microsoft.com/office/drawing/2014/main" id="{D1D873C7-942E-4CD8-9540-24B9F5939835}"/>
              </a:ext>
            </a:extLst>
          </p:cNvPr>
          <p:cNvSpPr>
            <a:spLocks xmlns:a="http://schemas.openxmlformats.org/drawingml/2006/main" noGrp="1"/>
          </p:cNvSpPr>
          <p:nvPr/>
        </p:nvSpPr>
        <p:spPr>
          <a:xfrm xmlns:a="http://schemas.openxmlformats.org/drawingml/2006/main">
            <a:off x="4673600" y="2204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por cada 100 hogares a nivel nacional; números de accesos/líneas por </a:t>
            </a:r>
          </a:p>
        </p:txBody>
      </p:sp>
      <p:sp>
        <p:nvSpPr>
          <p:cNvPr id="71" name="INTRO_TEXTO_39">
            <a:extLst xmlns:a="http://schemas.openxmlformats.org/drawingml/2006/main">
              <a:ext uri="{FF2B5EF4-FFF2-40B4-BE49-F238E27FC236}">
                <a16:creationId xmlns:a16="http://schemas.microsoft.com/office/drawing/2014/main" id="{3A52A9E6-0E13-4D8D-8BC8-6A010B9B9B72}"/>
              </a:ext>
            </a:extLst>
          </p:cNvPr>
          <p:cNvSpPr>
            <a:spLocks xmlns:a="http://schemas.openxmlformats.org/drawingml/2006/main" noGrp="1"/>
          </p:cNvSpPr>
          <p:nvPr/>
        </p:nvSpPr>
        <p:spPr>
          <a:xfrm xmlns:a="http://schemas.openxmlformats.org/drawingml/2006/main">
            <a:off x="4673600" y="2316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cada 100 hogares/unidades económicas en los segmentos residencial y no residencial </a:t>
            </a:r>
          </a:p>
        </p:txBody>
      </p:sp>
      <p:sp>
        <p:nvSpPr>
          <p:cNvPr id="72" name="INTRO_TEXTO_40">
            <a:extLst xmlns:a="http://schemas.openxmlformats.org/drawingml/2006/main">
              <a:ext uri="{FF2B5EF4-FFF2-40B4-BE49-F238E27FC236}">
                <a16:creationId xmlns:a16="http://schemas.microsoft.com/office/drawing/2014/main" id="{CE5BAF5E-6CEF-4B14-8B47-133C4D5DA8CB}"/>
              </a:ext>
            </a:extLst>
          </p:cNvPr>
          <p:cNvSpPr>
            <a:spLocks xmlns:a="http://schemas.openxmlformats.org/drawingml/2006/main" noGrp="1"/>
          </p:cNvSpPr>
          <p:nvPr/>
        </p:nvSpPr>
        <p:spPr>
          <a:xfrm xmlns:a="http://schemas.openxmlformats.org/drawingml/2006/main">
            <a:off x="4673600" y="2428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 nivel entidad federativa de los servicios fijos de telefonía, acceso a Internet y </a:t>
            </a:r>
          </a:p>
        </p:txBody>
      </p:sp>
      <p:sp>
        <p:nvSpPr>
          <p:cNvPr id="73" name="INTRO_TEXTO_41">
            <a:extLst xmlns:a="http://schemas.openxmlformats.org/drawingml/2006/main">
              <a:ext uri="{FF2B5EF4-FFF2-40B4-BE49-F238E27FC236}">
                <a16:creationId xmlns:a16="http://schemas.microsoft.com/office/drawing/2014/main" id="{290DAABE-A5CD-4458-92F4-7FF1F55C122F}"/>
              </a:ext>
            </a:extLst>
          </p:cNvPr>
          <p:cNvSpPr>
            <a:spLocks xmlns:a="http://schemas.openxmlformats.org/drawingml/2006/main" noGrp="1"/>
          </p:cNvSpPr>
          <p:nvPr/>
        </p:nvSpPr>
        <p:spPr>
          <a:xfrm xmlns:a="http://schemas.openxmlformats.org/drawingml/2006/main">
            <a:off x="4673600" y="254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televisión restringida; así como el tráfico del servicio fijo de telefonía; y la participación </a:t>
            </a:r>
          </a:p>
        </p:txBody>
      </p:sp>
      <p:sp>
        <p:nvSpPr>
          <p:cNvPr id="74" name="INTRO_TEXTO_42">
            <a:extLst xmlns:a="http://schemas.openxmlformats.org/drawingml/2006/main">
              <a:ext uri="{FF2B5EF4-FFF2-40B4-BE49-F238E27FC236}">
                <a16:creationId xmlns:a16="http://schemas.microsoft.com/office/drawing/2014/main" id="{A2B33632-BE8E-47DC-B375-9DACABEA28B4}"/>
              </a:ext>
            </a:extLst>
          </p:cNvPr>
          <p:cNvSpPr>
            <a:spLocks xmlns:a="http://schemas.openxmlformats.org/drawingml/2006/main" noGrp="1"/>
          </p:cNvSpPr>
          <p:nvPr/>
        </p:nvSpPr>
        <p:spPr>
          <a:xfrm xmlns:a="http://schemas.openxmlformats.org/drawingml/2006/main">
            <a:off x="4673600" y="265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las tecnologías y rangos de velocidad utilizadas para la prestación del servicio fijo </a:t>
            </a:r>
          </a:p>
        </p:txBody>
      </p:sp>
      <p:sp>
        <p:nvSpPr>
          <p:cNvPr id="75" name="INTRO_TEXTO_43">
            <a:extLst xmlns:a="http://schemas.openxmlformats.org/drawingml/2006/main">
              <a:ext uri="{FF2B5EF4-FFF2-40B4-BE49-F238E27FC236}">
                <a16:creationId xmlns:a16="http://schemas.microsoft.com/office/drawing/2014/main" id="{CCB8D276-D1DB-4BCC-A815-08FDD99136E0}"/>
              </a:ext>
            </a:extLst>
          </p:cNvPr>
          <p:cNvSpPr>
            <a:spLocks xmlns:a="http://schemas.openxmlformats.org/drawingml/2006/main" noGrp="1"/>
          </p:cNvSpPr>
          <p:nvPr/>
        </p:nvSpPr>
        <p:spPr>
          <a:xfrm xmlns:a="http://schemas.openxmlformats.org/drawingml/2006/main">
            <a:off x="4673600" y="276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acceso a Internet y del servicio de televisión restringida.</a:t>
            </a:r>
          </a:p>
        </p:txBody>
      </p:sp>
      <p:sp>
        <p:nvSpPr>
          <p:cNvPr id="76" name="INTRO_NUMERO_3">
            <a:extLst xmlns:a="http://schemas.openxmlformats.org/drawingml/2006/main">
              <a:ext uri="{FF2B5EF4-FFF2-40B4-BE49-F238E27FC236}">
                <a16:creationId xmlns:a16="http://schemas.microsoft.com/office/drawing/2014/main" id="{4E0CE3D0-19FB-405D-BCA5-F5D9FA2A8908}"/>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3</a:t>
            </a:r>
          </a:p>
        </p:txBody>
      </p:sp>
      <p:sp>
        <p:nvSpPr>
          <p:cNvPr id="77" name="INTRO_SECCION_3_1">
            <a:extLst xmlns:a="http://schemas.openxmlformats.org/drawingml/2006/main">
              <a:ext uri="{FF2B5EF4-FFF2-40B4-BE49-F238E27FC236}">
                <a16:creationId xmlns:a16="http://schemas.microsoft.com/office/drawing/2014/main" id="{A274F237-CF90-4FFF-9A27-A2133ED0E35F}"/>
              </a:ext>
            </a:extLst>
          </p:cNvPr>
          <p:cNvSpPr>
            <a:spLocks xmlns:a="http://schemas.openxmlformats.org/drawingml/2006/main" noGrp="1"/>
          </p:cNvSpPr>
          <p:nvPr/>
        </p:nvSpPr>
        <p:spPr>
          <a:xfrm xmlns:a="http://schemas.openxmlformats.org/drawingml/2006/main">
            <a:off x="2971800" y="3345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Móviles de </a:t>
            </a:r>
          </a:p>
        </p:txBody>
      </p:sp>
      <p:sp>
        <p:nvSpPr>
          <p:cNvPr id="78" name="INTRO_SECCION_3_2">
            <a:extLst xmlns:a="http://schemas.openxmlformats.org/drawingml/2006/main">
              <a:ext uri="{FF2B5EF4-FFF2-40B4-BE49-F238E27FC236}">
                <a16:creationId xmlns:a16="http://schemas.microsoft.com/office/drawing/2014/main" id="{62CF09A8-B8F2-4B26-BDA2-255BC627FA0A}"/>
              </a:ext>
            </a:extLst>
          </p:cNvPr>
          <p:cNvSpPr>
            <a:spLocks xmlns:a="http://schemas.openxmlformats.org/drawingml/2006/main" noGrp="1"/>
          </p:cNvSpPr>
          <p:nvPr/>
        </p:nvSpPr>
        <p:spPr>
          <a:xfrm xmlns:a="http://schemas.openxmlformats.org/drawingml/2006/main">
            <a:off x="2971800" y="3479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79" name="INTRO_TEXTO_44">
            <a:extLst xmlns:a="http://schemas.openxmlformats.org/drawingml/2006/main">
              <a:ext uri="{FF2B5EF4-FFF2-40B4-BE49-F238E27FC236}">
                <a16:creationId xmlns:a16="http://schemas.microsoft.com/office/drawing/2014/main" id="{AC35FFD4-5E9A-454E-A12B-FA4C3E3DA713}"/>
              </a:ext>
            </a:extLst>
          </p:cNvPr>
          <p:cNvSpPr>
            <a:spLocks xmlns:a="http://schemas.openxmlformats.org/drawingml/2006/main" noGrp="1"/>
          </p:cNvSpPr>
          <p:nvPr/>
        </p:nvSpPr>
        <p:spPr>
          <a:xfrm xmlns:a="http://schemas.openxmlformats.org/drawingml/2006/main">
            <a:off x="4673600" y="32004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la distribución del espectro radioeléctrico por banda de frecuencia y por </a:t>
            </a:r>
          </a:p>
        </p:txBody>
      </p:sp>
      <p:sp>
        <p:nvSpPr>
          <p:cNvPr id="80" name="INTRO_TEXTO_45">
            <a:extLst xmlns:a="http://schemas.openxmlformats.org/drawingml/2006/main">
              <a:ext uri="{FF2B5EF4-FFF2-40B4-BE49-F238E27FC236}">
                <a16:creationId xmlns:a16="http://schemas.microsoft.com/office/drawing/2014/main" id="{CDFCF6B8-AA49-4D10-A598-E2AAF6B99DF0}"/>
              </a:ext>
            </a:extLst>
          </p:cNvPr>
          <p:cNvSpPr>
            <a:spLocks xmlns:a="http://schemas.openxmlformats.org/drawingml/2006/main" noGrp="1"/>
          </p:cNvSpPr>
          <p:nvPr/>
        </p:nvSpPr>
        <p:spPr>
          <a:xfrm xmlns:a="http://schemas.openxmlformats.org/drawingml/2006/main">
            <a:off x="4673600" y="33121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operador; el uso de los servicios móviles de telecomunicaciones por la población; el </a:t>
            </a:r>
          </a:p>
        </p:txBody>
      </p:sp>
      <p:sp>
        <p:nvSpPr>
          <p:cNvPr id="81" name="INTRO_TEXTO_46">
            <a:extLst xmlns:a="http://schemas.openxmlformats.org/drawingml/2006/main">
              <a:ext uri="{FF2B5EF4-FFF2-40B4-BE49-F238E27FC236}">
                <a16:creationId xmlns:a16="http://schemas.microsoft.com/office/drawing/2014/main" id="{66078D7F-686B-4C96-9DDA-F22F0C149268}"/>
              </a:ext>
            </a:extLst>
          </p:cNvPr>
          <p:cNvSpPr>
            <a:spLocks xmlns:a="http://schemas.openxmlformats.org/drawingml/2006/main" noGrp="1"/>
          </p:cNvSpPr>
          <p:nvPr/>
        </p:nvSpPr>
        <p:spPr>
          <a:xfrm xmlns:a="http://schemas.openxmlformats.org/drawingml/2006/main">
            <a:off x="4673600" y="34239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número de líneas totales; la participación y concentración de mercado; el número de </a:t>
            </a:r>
          </a:p>
        </p:txBody>
      </p:sp>
      <p:sp>
        <p:nvSpPr>
          <p:cNvPr id="82" name="INTRO_TEXTO_47">
            <a:extLst xmlns:a="http://schemas.openxmlformats.org/drawingml/2006/main">
              <a:ext uri="{FF2B5EF4-FFF2-40B4-BE49-F238E27FC236}">
                <a16:creationId xmlns:a16="http://schemas.microsoft.com/office/drawing/2014/main" id="{57DAE001-AFE5-4D03-B5D0-C3F94AD69631}"/>
              </a:ext>
            </a:extLst>
          </p:cNvPr>
          <p:cNvSpPr>
            <a:spLocks xmlns:a="http://schemas.openxmlformats.org/drawingml/2006/main" noGrp="1"/>
          </p:cNvSpPr>
          <p:nvPr/>
        </p:nvSpPr>
        <p:spPr>
          <a:xfrm xmlns:a="http://schemas.openxmlformats.org/drawingml/2006/main">
            <a:off x="4673600" y="35356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líneas por cada 100 habitantes a nivel nacional y por entidad federativa; y el tráfico de </a:t>
            </a:r>
          </a:p>
        </p:txBody>
      </p:sp>
      <p:sp>
        <p:nvSpPr>
          <p:cNvPr id="83" name="INTRO_TEXTO_48">
            <a:extLst xmlns:a="http://schemas.openxmlformats.org/drawingml/2006/main">
              <a:ext uri="{FF2B5EF4-FFF2-40B4-BE49-F238E27FC236}">
                <a16:creationId xmlns:a16="http://schemas.microsoft.com/office/drawing/2014/main" id="{DD0A7A0A-BDC1-484E-9159-43D09EDC6170}"/>
              </a:ext>
            </a:extLst>
          </p:cNvPr>
          <p:cNvSpPr>
            <a:spLocks xmlns:a="http://schemas.openxmlformats.org/drawingml/2006/main" noGrp="1"/>
          </p:cNvSpPr>
          <p:nvPr/>
        </p:nvSpPr>
        <p:spPr>
          <a:xfrm xmlns:a="http://schemas.openxmlformats.org/drawingml/2006/main">
            <a:off x="4673600" y="36474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los servicios móviles de telefonía y de acceso a Internet.</a:t>
            </a:r>
          </a:p>
        </p:txBody>
      </p:sp>
      <p:sp>
        <p:nvSpPr>
          <p:cNvPr id="84" name="INTRO_NUMERO_4">
            <a:extLst xmlns:a="http://schemas.openxmlformats.org/drawingml/2006/main">
              <a:ext uri="{FF2B5EF4-FFF2-40B4-BE49-F238E27FC236}">
                <a16:creationId xmlns:a16="http://schemas.microsoft.com/office/drawing/2014/main" id="{AF896CD7-66ED-4125-8776-E7031F378327}"/>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4</a:t>
            </a:r>
          </a:p>
        </p:txBody>
      </p:sp>
      <p:sp>
        <p:nvSpPr>
          <p:cNvPr id="85" name="INTRO_SECCION_4_1">
            <a:extLst xmlns:a="http://schemas.openxmlformats.org/drawingml/2006/main">
              <a:ext uri="{FF2B5EF4-FFF2-40B4-BE49-F238E27FC236}">
                <a16:creationId xmlns:a16="http://schemas.microsoft.com/office/drawing/2014/main" id="{4A56839D-729E-46E3-8F78-6EC30AA53485}"/>
              </a:ext>
            </a:extLst>
          </p:cNvPr>
          <p:cNvSpPr>
            <a:spLocks xmlns:a="http://schemas.openxmlformats.org/drawingml/2006/main" noGrp="1"/>
          </p:cNvSpPr>
          <p:nvPr/>
        </p:nvSpPr>
        <p:spPr>
          <a:xfrm xmlns:a="http://schemas.openxmlformats.org/drawingml/2006/main">
            <a:off x="2971800" y="420497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Tecnologías de la </a:t>
            </a:r>
          </a:p>
        </p:txBody>
      </p:sp>
      <p:sp>
        <p:nvSpPr>
          <p:cNvPr id="86" name="INTRO_SECCION_4_2">
            <a:extLst xmlns:a="http://schemas.openxmlformats.org/drawingml/2006/main">
              <a:ext uri="{FF2B5EF4-FFF2-40B4-BE49-F238E27FC236}">
                <a16:creationId xmlns:a16="http://schemas.microsoft.com/office/drawing/2014/main" id="{9A252672-72B8-455D-94F2-BD33B18CD7A9}"/>
              </a:ext>
            </a:extLst>
          </p:cNvPr>
          <p:cNvSpPr>
            <a:spLocks xmlns:a="http://schemas.openxmlformats.org/drawingml/2006/main" noGrp="1"/>
          </p:cNvSpPr>
          <p:nvPr/>
        </p:nvSpPr>
        <p:spPr>
          <a:xfrm xmlns:a="http://schemas.openxmlformats.org/drawingml/2006/main">
            <a:off x="2971800" y="433959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Información y </a:t>
            </a:r>
          </a:p>
        </p:txBody>
      </p:sp>
      <p:sp>
        <p:nvSpPr>
          <p:cNvPr id="87" name="INTRO_SECCION_4_3">
            <a:extLst xmlns:a="http://schemas.openxmlformats.org/drawingml/2006/main">
              <a:ext uri="{FF2B5EF4-FFF2-40B4-BE49-F238E27FC236}">
                <a16:creationId xmlns:a16="http://schemas.microsoft.com/office/drawing/2014/main" id="{7DDB1388-4B0D-4F03-8955-1BF2D45E6D9D}"/>
              </a:ext>
            </a:extLst>
          </p:cNvPr>
          <p:cNvSpPr>
            <a:spLocks xmlns:a="http://schemas.openxmlformats.org/drawingml/2006/main" noGrp="1"/>
          </p:cNvSpPr>
          <p:nvPr/>
        </p:nvSpPr>
        <p:spPr>
          <a:xfrm xmlns:a="http://schemas.openxmlformats.org/drawingml/2006/main">
            <a:off x="2971800" y="447421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Comunicación (TIC):</a:t>
            </a:r>
          </a:p>
        </p:txBody>
      </p:sp>
      <p:sp>
        <p:nvSpPr>
          <p:cNvPr id="88" name="INTRO_TEXTO_49">
            <a:extLst xmlns:a="http://schemas.openxmlformats.org/drawingml/2006/main">
              <a:ext uri="{FF2B5EF4-FFF2-40B4-BE49-F238E27FC236}">
                <a16:creationId xmlns:a16="http://schemas.microsoft.com/office/drawing/2014/main" id="{27AA3831-3A73-4B14-A6B7-2D8E210E5547}"/>
              </a:ext>
            </a:extLst>
          </p:cNvPr>
          <p:cNvSpPr>
            <a:spLocks xmlns:a="http://schemas.openxmlformats.org/drawingml/2006/main" noGrp="1"/>
          </p:cNvSpPr>
          <p:nvPr/>
        </p:nvSpPr>
        <p:spPr>
          <a:xfrm xmlns:a="http://schemas.openxmlformats.org/drawingml/2006/main">
            <a:off x="4673600" y="4013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Contiene información de la disponibilidad de aparatos de radio, equipo de cómputo, </a:t>
            </a:r>
          </a:p>
        </p:txBody>
      </p:sp>
      <p:sp>
        <p:nvSpPr>
          <p:cNvPr id="89" name="INTRO_TEXTO_50">
            <a:extLst xmlns:a="http://schemas.openxmlformats.org/drawingml/2006/main">
              <a:ext uri="{FF2B5EF4-FFF2-40B4-BE49-F238E27FC236}">
                <a16:creationId xmlns:a16="http://schemas.microsoft.com/office/drawing/2014/main" id="{669FAFE1-94F0-4D1D-B3C4-DF395C98F748}"/>
              </a:ext>
            </a:extLst>
          </p:cNvPr>
          <p:cNvSpPr>
            <a:spLocks xmlns:a="http://schemas.openxmlformats.org/drawingml/2006/main" noGrp="1"/>
          </p:cNvSpPr>
          <p:nvPr/>
        </p:nvSpPr>
        <p:spPr>
          <a:xfrm xmlns:a="http://schemas.openxmlformats.org/drawingml/2006/main">
            <a:off x="4673600" y="4124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teléfono móvil, televisores digitales y analógicos en los hogares, porcentaje de </a:t>
            </a:r>
          </a:p>
        </p:txBody>
      </p:sp>
      <p:sp>
        <p:nvSpPr>
          <p:cNvPr id="90" name="INTRO_TEXTO_51">
            <a:extLst xmlns:a="http://schemas.openxmlformats.org/drawingml/2006/main">
              <a:ext uri="{FF2B5EF4-FFF2-40B4-BE49-F238E27FC236}">
                <a16:creationId xmlns:a16="http://schemas.microsoft.com/office/drawing/2014/main" id="{CC930FD8-74EE-482E-8EB2-37C902CC2214}"/>
              </a:ext>
            </a:extLst>
          </p:cNvPr>
          <p:cNvSpPr>
            <a:spLocks xmlns:a="http://schemas.openxmlformats.org/drawingml/2006/main" noGrp="1"/>
          </p:cNvSpPr>
          <p:nvPr/>
        </p:nvSpPr>
        <p:spPr>
          <a:xfrm xmlns:a="http://schemas.openxmlformats.org/drawingml/2006/main">
            <a:off x="4673600" y="4236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usuarios de Internet y </a:t>
            </a:r>
            <a:r>
              <a:rPr sz="720" b="0" i="1">
                <a:solidFill>
                  <a:srgbClr val="26312F"/>
                </a:solidFill>
                <a:latin typeface="Noto Sans"/>
                <a:ea typeface="Noto Sans"/>
                <a:cs typeface="Noto Sans"/>
              </a:rPr>
              <a:t>Smartphone</a:t>
            </a:r>
            <a:r>
              <a:rPr sz="720" b="0" i="0">
                <a:solidFill>
                  <a:srgbClr val="26312F"/>
                </a:solidFill>
                <a:latin typeface="Noto Sans"/>
                <a:ea typeface="Noto Sans"/>
                <a:cs typeface="Noto Sans"/>
              </a:rPr>
              <a:t>; y horas promedio de uso de Internet por grupos de </a:t>
            </a:r>
          </a:p>
        </p:txBody>
      </p:sp>
      <p:sp>
        <p:nvSpPr>
          <p:cNvPr id="91" name="INTRO_TEXTO_52">
            <a:extLst xmlns:a="http://schemas.openxmlformats.org/drawingml/2006/main">
              <a:ext uri="{FF2B5EF4-FFF2-40B4-BE49-F238E27FC236}">
                <a16:creationId xmlns:a16="http://schemas.microsoft.com/office/drawing/2014/main" id="{64152F2E-E0E2-4244-9601-3110C008B44B}"/>
              </a:ext>
            </a:extLst>
          </p:cNvPr>
          <p:cNvSpPr>
            <a:spLocks xmlns:a="http://schemas.openxmlformats.org/drawingml/2006/main" noGrp="1"/>
          </p:cNvSpPr>
          <p:nvPr/>
        </p:nvSpPr>
        <p:spPr>
          <a:xfrm xmlns:a="http://schemas.openxmlformats.org/drawingml/2006/main">
            <a:off x="4673600" y="4348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edad, uso de dispositivos inteligentes (bocina o asistente del hogar, sistema de video </a:t>
            </a:r>
          </a:p>
        </p:txBody>
      </p:sp>
      <p:sp>
        <p:nvSpPr>
          <p:cNvPr id="92" name="INTRO_TEXTO_53">
            <a:extLst xmlns:a="http://schemas.openxmlformats.org/drawingml/2006/main">
              <a:ext uri="{FF2B5EF4-FFF2-40B4-BE49-F238E27FC236}">
                <a16:creationId xmlns:a16="http://schemas.microsoft.com/office/drawing/2014/main" id="{F8556B8C-7CC4-4E14-93DA-C3CFA46636F0}"/>
              </a:ext>
            </a:extLst>
          </p:cNvPr>
          <p:cNvSpPr>
            <a:spLocks xmlns:a="http://schemas.openxmlformats.org/drawingml/2006/main" noGrp="1"/>
          </p:cNvSpPr>
          <p:nvPr/>
        </p:nvSpPr>
        <p:spPr>
          <a:xfrm xmlns:a="http://schemas.openxmlformats.org/drawingml/2006/main">
            <a:off x="4673600" y="4460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vigilancia, puertas o ventanas de cerrado digital, termostato, dispositivos de ahorro de </a:t>
            </a:r>
          </a:p>
        </p:txBody>
      </p:sp>
      <p:sp>
        <p:nvSpPr>
          <p:cNvPr id="93" name="INTRO_TEXTO_54">
            <a:extLst xmlns:a="http://schemas.openxmlformats.org/drawingml/2006/main">
              <a:ext uri="{FF2B5EF4-FFF2-40B4-BE49-F238E27FC236}">
                <a16:creationId xmlns:a16="http://schemas.microsoft.com/office/drawing/2014/main" id="{68665F53-C432-4926-BC53-EEF332706F88}"/>
              </a:ext>
            </a:extLst>
          </p:cNvPr>
          <p:cNvSpPr>
            <a:spLocks xmlns:a="http://schemas.openxmlformats.org/drawingml/2006/main" noGrp="1"/>
          </p:cNvSpPr>
          <p:nvPr/>
        </p:nvSpPr>
        <p:spPr>
          <a:xfrm xmlns:a="http://schemas.openxmlformats.org/drawingml/2006/main">
            <a:off x="4673600" y="4572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energía, conexión eléctrica, electrodomésticos) por grupo de edad, y los efectos de la </a:t>
            </a:r>
          </a:p>
        </p:txBody>
      </p:sp>
      <p:sp>
        <p:nvSpPr>
          <p:cNvPr id="94" name="INTRO_TEXTO_55">
            <a:extLst xmlns:a="http://schemas.openxmlformats.org/drawingml/2006/main">
              <a:ext uri="{FF2B5EF4-FFF2-40B4-BE49-F238E27FC236}">
                <a16:creationId xmlns:a16="http://schemas.microsoft.com/office/drawing/2014/main" id="{F7DF738E-9E69-43CD-938B-DB8E966F3472}"/>
              </a:ext>
            </a:extLst>
          </p:cNvPr>
          <p:cNvSpPr>
            <a:spLocks xmlns:a="http://schemas.openxmlformats.org/drawingml/2006/main" noGrp="1"/>
          </p:cNvSpPr>
          <p:nvPr/>
        </p:nvSpPr>
        <p:spPr>
          <a:xfrm xmlns:a="http://schemas.openxmlformats.org/drawingml/2006/main">
            <a:off x="4673600" y="4683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desconfianza en Internet sobre las actividades en línea que realizan los usuarios.</a:t>
            </a:r>
          </a:p>
        </p:txBody>
      </p:sp>
      <p:sp>
        <p:nvSpPr>
          <p:cNvPr id="95" name="ANUARIO_PAGE_NUMBER">
            <a:extLst xmlns:a="http://schemas.openxmlformats.org/drawingml/2006/main">
              <a:ext uri="{FF2B5EF4-FFF2-40B4-BE49-F238E27FC236}">
                <a16:creationId xmlns:a16="http://schemas.microsoft.com/office/drawing/2014/main" id="{D3448042-EACC-4FBB-B0E1-633233EA86E8}"/>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7</a:t>
            </a:r>
          </a:p>
        </p:txBody>
      </p:sp>
      <p:sp>
        <p:nvSpPr>
          <p:cNvPr id="96" name="INTRO_EDICION_PIE">
            <a:extLst xmlns:a="http://schemas.openxmlformats.org/drawingml/2006/main">
              <a:ext uri="{FF2B5EF4-FFF2-40B4-BE49-F238E27FC236}">
                <a16:creationId xmlns:a16="http://schemas.microsoft.com/office/drawing/2014/main" id="{284C3B4B-9391-4E08-924A-C3A44D04AB3B}"/>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350393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8.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ab0adeb70d7b4625"/>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ea391cf12914453e"/>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8_QR_FONDO">
            <a:extLst xmlns:a="http://schemas.openxmlformats.org/drawingml/2006/main">
              <a:ext uri="{FF2B5EF4-FFF2-40B4-BE49-F238E27FC236}">
                <a16:creationId xmlns:a16="http://schemas.microsoft.com/office/drawing/2014/main" id="{6C171A84-A6B9-4E34-849A-B13DB2FC9A31}"/>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4f2cbbb30dda405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4d12f4a07a004500"/>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INTRO8_ENCABEZADO_0">
            <a:extLst xmlns:a="http://schemas.openxmlformats.org/drawingml/2006/main">
              <a:ext uri="{FF2B5EF4-FFF2-40B4-BE49-F238E27FC236}">
                <a16:creationId xmlns:a16="http://schemas.microsoft.com/office/drawing/2014/main" id="{2086B35C-CC9A-4539-9BE8-B6BF92A7A8A8}"/>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7" name="INTRO8_ENCABEZADO_1">
            <a:extLst xmlns:a="http://schemas.openxmlformats.org/drawingml/2006/main">
              <a:ext uri="{FF2B5EF4-FFF2-40B4-BE49-F238E27FC236}">
                <a16:creationId xmlns:a16="http://schemas.microsoft.com/office/drawing/2014/main" id="{35EB97AC-FD4D-4190-A884-228E8ADF1338}"/>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 name="INTRO8_ENCABEZADO_2">
            <a:extLst xmlns:a="http://schemas.openxmlformats.org/drawingml/2006/main">
              <a:ext uri="{FF2B5EF4-FFF2-40B4-BE49-F238E27FC236}">
                <a16:creationId xmlns:a16="http://schemas.microsoft.com/office/drawing/2014/main" id="{D3387CBA-FF9E-4760-86D9-A567A5A929A8}"/>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e3103bf1d6a40b8"/>
              </a:rPr>
              <a:t>BIT CRT · bit.crt.gob.mx/BitWebApp</a:t>
            </a:r>
          </a:p>
        </p:txBody>
      </p:sp>
      <p:sp>
        <p:nvSpPr>
          <p:cNvPr id="9" name="ANUARIO_INTRO_CONT_DESIGN_2026">
            <a:extLst xmlns:a="http://schemas.openxmlformats.org/drawingml/2006/main">
              <a:ext uri="{FF2B5EF4-FFF2-40B4-BE49-F238E27FC236}">
                <a16:creationId xmlns:a16="http://schemas.microsoft.com/office/drawing/2014/main" id="{A11C40A5-9D0A-4D73-87AF-FAC4A236F82F}"/>
              </a:ext>
            </a:extLst>
          </p:cNvPr>
          <p:cNvSpPr>
            <a:spLocks xmlns:a="http://schemas.openxmlformats.org/drawingml/2006/main" noGrp="1"/>
          </p:cNvSpPr>
          <p:nvPr/>
        </p:nvSpPr>
        <p:spPr>
          <a:xfrm xmlns:a="http://schemas.openxmlformats.org/drawingml/2006/main">
            <a:off x="304800" y="609600"/>
            <a:ext cx="8534400" cy="736600"/>
          </a:xfrm>
          <a:prstGeom xmlns:a="http://schemas.openxmlformats.org/drawingml/2006/main" prst="roundRect">
            <a:avLst>
              <a:gd name="adj" fmla="val 5172"/>
            </a:avLst>
          </a:prstGeom>
          <a:solidFill xmlns:a="http://schemas.openxmlformats.org/drawingml/2006/main">
            <a:srgbClr val="F6FAF9"/>
          </a:solidFill>
          <a:ln xmlns:a="http://schemas.openxmlformats.org/drawingml/2006/main" w="8890">
            <a:solidFill>
              <a:srgbClr val="DCE9E6"/>
            </a:solidFill>
          </a:ln>
        </p:spPr>
      </p:sp>
      <p:sp>
        <p:nvSpPr>
          <p:cNvPr id="10" name="INTRO8_ACENTO_5">
            <a:extLst xmlns:a="http://schemas.openxmlformats.org/drawingml/2006/main">
              <a:ext uri="{FF2B5EF4-FFF2-40B4-BE49-F238E27FC236}">
                <a16:creationId xmlns:a16="http://schemas.microsoft.com/office/drawing/2014/main" id="{67D82827-C7B5-4679-9C01-9B762941C046}"/>
              </a:ext>
            </a:extLst>
          </p:cNvPr>
          <p:cNvSpPr>
            <a:spLocks xmlns:a="http://schemas.openxmlformats.org/drawingml/2006/main" noGrp="1"/>
          </p:cNvSpPr>
          <p:nvPr/>
        </p:nvSpPr>
        <p:spPr>
          <a:xfrm xmlns:a="http://schemas.openxmlformats.org/drawingml/2006/main">
            <a:off x="304800" y="6858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1" name="INTRO8_SEPARADOR_5">
            <a:extLst xmlns:a="http://schemas.openxmlformats.org/drawingml/2006/main">
              <a:ext uri="{FF2B5EF4-FFF2-40B4-BE49-F238E27FC236}">
                <a16:creationId xmlns:a16="http://schemas.microsoft.com/office/drawing/2014/main" id="{C1EF825E-D6B0-4C4F-8878-9048EF40CC6A}"/>
              </a:ext>
            </a:extLst>
          </p:cNvPr>
          <p:cNvSpPr>
            <a:spLocks xmlns:a="http://schemas.openxmlformats.org/drawingml/2006/main" noGrp="1"/>
          </p:cNvSpPr>
          <p:nvPr/>
        </p:nvSpPr>
        <p:spPr>
          <a:xfrm xmlns:a="http://schemas.openxmlformats.org/drawingml/2006/main">
            <a:off x="2654300" y="6985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2" name="INTRO8_NUMERO_FONDO_5">
            <a:extLst xmlns:a="http://schemas.openxmlformats.org/drawingml/2006/main">
              <a:ext uri="{FF2B5EF4-FFF2-40B4-BE49-F238E27FC236}">
                <a16:creationId xmlns:a16="http://schemas.microsoft.com/office/drawing/2014/main" id="{663D2CCC-F102-4850-B065-A4491F80D7EE}"/>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3" name="INTRO8_NUMERO_5">
            <a:extLst xmlns:a="http://schemas.openxmlformats.org/drawingml/2006/main">
              <a:ext uri="{FF2B5EF4-FFF2-40B4-BE49-F238E27FC236}">
                <a16:creationId xmlns:a16="http://schemas.microsoft.com/office/drawing/2014/main" id="{376FF3D5-4306-4632-8635-FB865E407D16}"/>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5</a:t>
            </a:r>
          </a:p>
        </p:txBody>
      </p:sp>
      <p:sp>
        <p:nvSpPr>
          <p:cNvPr id="14" name="INTRO8_SECCION_5_1">
            <a:extLst xmlns:a="http://schemas.openxmlformats.org/drawingml/2006/main">
              <a:ext uri="{FF2B5EF4-FFF2-40B4-BE49-F238E27FC236}">
                <a16:creationId xmlns:a16="http://schemas.microsoft.com/office/drawing/2014/main" id="{E5AC784F-7E2F-4BEE-B0B3-1C2DB4C47D7B}"/>
              </a:ext>
            </a:extLst>
          </p:cNvPr>
          <p:cNvSpPr>
            <a:spLocks xmlns:a="http://schemas.openxmlformats.org/drawingml/2006/main" noGrp="1"/>
          </p:cNvSpPr>
          <p:nvPr/>
        </p:nvSpPr>
        <p:spPr>
          <a:xfrm xmlns:a="http://schemas.openxmlformats.org/drawingml/2006/main">
            <a:off x="787400" y="8432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Usuarios de Servicios de</a:t>
            </a:r>
          </a:p>
        </p:txBody>
      </p:sp>
      <p:sp>
        <p:nvSpPr>
          <p:cNvPr id="15" name="INTRO8_SECCION_5_2">
            <a:extLst xmlns:a="http://schemas.openxmlformats.org/drawingml/2006/main">
              <a:ext uri="{FF2B5EF4-FFF2-40B4-BE49-F238E27FC236}">
                <a16:creationId xmlns:a16="http://schemas.microsoft.com/office/drawing/2014/main" id="{85369A02-3C6D-43EB-BA0B-E1A3E93A7F56}"/>
              </a:ext>
            </a:extLst>
          </p:cNvPr>
          <p:cNvSpPr>
            <a:spLocks xmlns:a="http://schemas.openxmlformats.org/drawingml/2006/main" noGrp="1"/>
          </p:cNvSpPr>
          <p:nvPr/>
        </p:nvSpPr>
        <p:spPr>
          <a:xfrm xmlns:a="http://schemas.openxmlformats.org/drawingml/2006/main">
            <a:off x="787400" y="9779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Telecomunicaciones:</a:t>
            </a:r>
          </a:p>
        </p:txBody>
      </p:sp>
      <p:sp>
        <p:nvSpPr>
          <p:cNvPr id="16" name="INTRO8_CUERPO_5_1">
            <a:extLst xmlns:a="http://schemas.openxmlformats.org/drawingml/2006/main">
              <a:ext uri="{FF2B5EF4-FFF2-40B4-BE49-F238E27FC236}">
                <a16:creationId xmlns:a16="http://schemas.microsoft.com/office/drawing/2014/main" id="{3BC6DD94-A716-4EE6-9D55-646911FC33B6}"/>
              </a:ext>
            </a:extLst>
          </p:cNvPr>
          <p:cNvSpPr>
            <a:spLocks xmlns:a="http://schemas.openxmlformats.org/drawingml/2006/main" noGrp="1"/>
          </p:cNvSpPr>
          <p:nvPr/>
        </p:nvSpPr>
        <p:spPr>
          <a:xfrm xmlns:a="http://schemas.openxmlformats.org/drawingml/2006/main">
            <a:off x="2819400" y="6883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17" name="INTRO8_CUERPO_5_2">
            <a:extLst xmlns:a="http://schemas.openxmlformats.org/drawingml/2006/main">
              <a:ext uri="{FF2B5EF4-FFF2-40B4-BE49-F238E27FC236}">
                <a16:creationId xmlns:a16="http://schemas.microsoft.com/office/drawing/2014/main" id="{D6AC3CA9-40DD-418A-B860-240B32398B3B}"/>
              </a:ext>
            </a:extLst>
          </p:cNvPr>
          <p:cNvSpPr>
            <a:spLocks xmlns:a="http://schemas.openxmlformats.org/drawingml/2006/main" noGrp="1"/>
          </p:cNvSpPr>
          <p:nvPr/>
        </p:nvSpPr>
        <p:spPr>
          <a:xfrm xmlns:a="http://schemas.openxmlformats.org/drawingml/2006/main">
            <a:off x="2819400" y="8001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paga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18" name="INTRO8_CUERPO_5_3">
            <a:extLst xmlns:a="http://schemas.openxmlformats.org/drawingml/2006/main">
              <a:ext uri="{FF2B5EF4-FFF2-40B4-BE49-F238E27FC236}">
                <a16:creationId xmlns:a16="http://schemas.microsoft.com/office/drawing/2014/main" id="{092D800A-4C32-484A-8FE9-90C86B8756CD}"/>
              </a:ext>
            </a:extLst>
          </p:cNvPr>
          <p:cNvSpPr>
            <a:spLocks xmlns:a="http://schemas.openxmlformats.org/drawingml/2006/main" noGrp="1"/>
          </p:cNvSpPr>
          <p:nvPr/>
        </p:nvSpPr>
        <p:spPr>
          <a:xfrm xmlns:a="http://schemas.openxmlformats.org/drawingml/2006/main">
            <a:off x="2819400" y="9118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vender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dispositivos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utilizan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ventajas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p>
        </p:txBody>
      </p:sp>
      <p:sp>
        <p:nvSpPr>
          <p:cNvPr id="19" name="INTRO8_CUERPO_5_4">
            <a:extLst xmlns:a="http://schemas.openxmlformats.org/drawingml/2006/main">
              <a:ext uri="{FF2B5EF4-FFF2-40B4-BE49-F238E27FC236}">
                <a16:creationId xmlns:a16="http://schemas.microsoft.com/office/drawing/2014/main" id="{0C582FBB-11BF-4F86-A0F8-EAADF44763E2}"/>
              </a:ext>
            </a:extLst>
          </p:cNvPr>
          <p:cNvSpPr>
            <a:spLocks xmlns:a="http://schemas.openxmlformats.org/drawingml/2006/main" noGrp="1"/>
          </p:cNvSpPr>
          <p:nvPr/>
        </p:nvSpPr>
        <p:spPr>
          <a:xfrm xmlns:a="http://schemas.openxmlformats.org/drawingml/2006/main">
            <a:off x="2819400" y="10236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aplicación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así</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como</a:t>
            </a:r>
          </a:p>
        </p:txBody>
      </p:sp>
      <p:sp>
        <p:nvSpPr>
          <p:cNvPr id="20" name="INTRO8_CUERPO_5_5">
            <a:extLst xmlns:a="http://schemas.openxmlformats.org/drawingml/2006/main">
              <a:ext uri="{FF2B5EF4-FFF2-40B4-BE49-F238E27FC236}">
                <a16:creationId xmlns:a16="http://schemas.microsoft.com/office/drawing/2014/main" id="{EEC164AF-13FC-45C9-AD42-89075D851B0C}"/>
              </a:ext>
            </a:extLst>
          </p:cNvPr>
          <p:cNvSpPr>
            <a:spLocks xmlns:a="http://schemas.openxmlformats.org/drawingml/2006/main" noGrp="1"/>
          </p:cNvSpPr>
          <p:nvPr/>
        </p:nvSpPr>
        <p:spPr>
          <a:xfrm xmlns:a="http://schemas.openxmlformats.org/drawingml/2006/main">
            <a:off x="2819400" y="11353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también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conocimiento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ChatGPT.</a:t>
            </a:r>
          </a:p>
        </p:txBody>
      </p:sp>
      <p:sp>
        <p:nvSpPr>
          <p:cNvPr id="21" name="INTRO8_RECUADRO_6">
            <a:extLst xmlns:a="http://schemas.openxmlformats.org/drawingml/2006/main">
              <a:ext uri="{FF2B5EF4-FFF2-40B4-BE49-F238E27FC236}">
                <a16:creationId xmlns:a16="http://schemas.microsoft.com/office/drawing/2014/main" id="{96F8B077-FE5D-4ACA-B1E8-CE4DB6312980}"/>
              </a:ext>
            </a:extLst>
          </p:cNvPr>
          <p:cNvSpPr>
            <a:spLocks xmlns:a="http://schemas.openxmlformats.org/drawingml/2006/main" noGrp="1"/>
          </p:cNvSpPr>
          <p:nvPr/>
        </p:nvSpPr>
        <p:spPr>
          <a:xfrm xmlns:a="http://schemas.openxmlformats.org/drawingml/2006/main">
            <a:off x="304800" y="1447800"/>
            <a:ext cx="8534400" cy="736600"/>
          </a:xfrm>
          <a:prstGeom xmlns:a="http://schemas.openxmlformats.org/drawingml/2006/main" prst="roundRect">
            <a:avLst>
              <a:gd name="adj" fmla="val 5172"/>
            </a:avLst>
          </a:prstGeom>
          <a:solidFill xmlns:a="http://schemas.openxmlformats.org/drawingml/2006/main">
            <a:srgbClr val="FFFFFF"/>
          </a:solidFill>
          <a:ln xmlns:a="http://schemas.openxmlformats.org/drawingml/2006/main" w="8890">
            <a:solidFill>
              <a:srgbClr val="DCE9E6"/>
            </a:solidFill>
          </a:ln>
        </p:spPr>
      </p:sp>
      <p:sp>
        <p:nvSpPr>
          <p:cNvPr id="22" name="INTRO8_ACENTO_6">
            <a:extLst xmlns:a="http://schemas.openxmlformats.org/drawingml/2006/main">
              <a:ext uri="{FF2B5EF4-FFF2-40B4-BE49-F238E27FC236}">
                <a16:creationId xmlns:a16="http://schemas.microsoft.com/office/drawing/2014/main" id="{AE1BAD2E-B6CE-449A-B9B8-CBE3E5BD54AD}"/>
              </a:ext>
            </a:extLst>
          </p:cNvPr>
          <p:cNvSpPr>
            <a:spLocks xmlns:a="http://schemas.openxmlformats.org/drawingml/2006/main" noGrp="1"/>
          </p:cNvSpPr>
          <p:nvPr/>
        </p:nvSpPr>
        <p:spPr>
          <a:xfrm xmlns:a="http://schemas.openxmlformats.org/drawingml/2006/main">
            <a:off x="304800" y="15240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3" name="INTRO8_SEPARADOR_6">
            <a:extLst xmlns:a="http://schemas.openxmlformats.org/drawingml/2006/main">
              <a:ext uri="{FF2B5EF4-FFF2-40B4-BE49-F238E27FC236}">
                <a16:creationId xmlns:a16="http://schemas.microsoft.com/office/drawing/2014/main" id="{CB4A3015-EB46-4483-BA67-AE0388B92FC7}"/>
              </a:ext>
            </a:extLst>
          </p:cNvPr>
          <p:cNvSpPr>
            <a:spLocks xmlns:a="http://schemas.openxmlformats.org/drawingml/2006/main" noGrp="1"/>
          </p:cNvSpPr>
          <p:nvPr/>
        </p:nvSpPr>
        <p:spPr>
          <a:xfrm xmlns:a="http://schemas.openxmlformats.org/drawingml/2006/main">
            <a:off x="2654300" y="15367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4" name="INTRO8_NUMERO_FONDO_6">
            <a:extLst xmlns:a="http://schemas.openxmlformats.org/drawingml/2006/main">
              <a:ext uri="{FF2B5EF4-FFF2-40B4-BE49-F238E27FC236}">
                <a16:creationId xmlns:a16="http://schemas.microsoft.com/office/drawing/2014/main" id="{193E46C0-ED9C-4558-B792-1AED3405DE8D}"/>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5" name="INTRO8_NUMERO_6">
            <a:extLst xmlns:a="http://schemas.openxmlformats.org/drawingml/2006/main">
              <a:ext uri="{FF2B5EF4-FFF2-40B4-BE49-F238E27FC236}">
                <a16:creationId xmlns:a16="http://schemas.microsoft.com/office/drawing/2014/main" id="{9ECE3B86-B511-47F8-848F-73F0E3E85848}"/>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6</a:t>
            </a:r>
          </a:p>
        </p:txBody>
      </p:sp>
      <p:sp>
        <p:nvSpPr>
          <p:cNvPr id="26" name="INTRO8_SECCION_6_1">
            <a:extLst xmlns:a="http://schemas.openxmlformats.org/drawingml/2006/main">
              <a:ext uri="{FF2B5EF4-FFF2-40B4-BE49-F238E27FC236}">
                <a16:creationId xmlns:a16="http://schemas.microsoft.com/office/drawing/2014/main" id="{04303C32-004A-4646-98B1-86B508BAF8B7}"/>
              </a:ext>
            </a:extLst>
          </p:cNvPr>
          <p:cNvSpPr>
            <a:spLocks xmlns:a="http://schemas.openxmlformats.org/drawingml/2006/main" noGrp="1"/>
          </p:cNvSpPr>
          <p:nvPr/>
        </p:nvSpPr>
        <p:spPr>
          <a:xfrm xmlns:a="http://schemas.openxmlformats.org/drawingml/2006/main">
            <a:off x="787400" y="16814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con Perspectiva</a:t>
            </a:r>
          </a:p>
        </p:txBody>
      </p:sp>
      <p:sp>
        <p:nvSpPr>
          <p:cNvPr id="27" name="INTRO8_SECCION_6_2">
            <a:extLst xmlns:a="http://schemas.openxmlformats.org/drawingml/2006/main">
              <a:ext uri="{FF2B5EF4-FFF2-40B4-BE49-F238E27FC236}">
                <a16:creationId xmlns:a16="http://schemas.microsoft.com/office/drawing/2014/main" id="{4F896681-9B41-4207-BDEC-34D94449DE5C}"/>
              </a:ext>
            </a:extLst>
          </p:cNvPr>
          <p:cNvSpPr>
            <a:spLocks xmlns:a="http://schemas.openxmlformats.org/drawingml/2006/main" noGrp="1"/>
          </p:cNvSpPr>
          <p:nvPr/>
        </p:nvSpPr>
        <p:spPr>
          <a:xfrm xmlns:a="http://schemas.openxmlformats.org/drawingml/2006/main">
            <a:off x="787400" y="18161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de Género:</a:t>
            </a:r>
          </a:p>
        </p:txBody>
      </p:sp>
      <p:sp>
        <p:nvSpPr>
          <p:cNvPr id="28" name="INTRO8_CUERPO_6_1">
            <a:extLst xmlns:a="http://schemas.openxmlformats.org/drawingml/2006/main">
              <a:ext uri="{FF2B5EF4-FFF2-40B4-BE49-F238E27FC236}">
                <a16:creationId xmlns:a16="http://schemas.microsoft.com/office/drawing/2014/main" id="{973153BB-98AE-4BBB-93F5-7C194309ED37}"/>
              </a:ext>
            </a:extLst>
          </p:cNvPr>
          <p:cNvSpPr>
            <a:spLocks xmlns:a="http://schemas.openxmlformats.org/drawingml/2006/main" noGrp="1"/>
          </p:cNvSpPr>
          <p:nvPr/>
        </p:nvSpPr>
        <p:spPr>
          <a:xfrm xmlns:a="http://schemas.openxmlformats.org/drawingml/2006/main">
            <a:off x="2819400" y="15265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Incluye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referente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celular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Smartphone</a:t>
            </a:r>
            <a:r>
              <a:rPr sz="720" b="0" i="0">
                <a:solidFill>
                  <a:srgbClr val="263632"/>
                </a:solidFill>
                <a:latin typeface="Noto Sans"/>
                <a:ea typeface="Noto Sans"/>
                <a:cs typeface="Noto Sans"/>
              </a:rPr>
              <a:t>),</a:t>
            </a:r>
          </a:p>
        </p:txBody>
      </p:sp>
      <p:sp>
        <p:nvSpPr>
          <p:cNvPr id="29" name="INTRO8_CUERPO_6_2">
            <a:extLst xmlns:a="http://schemas.openxmlformats.org/drawingml/2006/main">
              <a:ext uri="{FF2B5EF4-FFF2-40B4-BE49-F238E27FC236}">
                <a16:creationId xmlns:a16="http://schemas.microsoft.com/office/drawing/2014/main" id="{3A351773-BD57-4EDA-8469-F6DEC14A4604}"/>
              </a:ext>
            </a:extLst>
          </p:cNvPr>
          <p:cNvSpPr>
            <a:spLocks xmlns:a="http://schemas.openxmlformats.org/drawingml/2006/main" noGrp="1"/>
          </p:cNvSpPr>
          <p:nvPr/>
        </p:nvSpPr>
        <p:spPr>
          <a:xfrm xmlns:a="http://schemas.openxmlformats.org/drawingml/2006/main">
            <a:off x="2819400" y="16383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computadora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sectores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p>
        </p:txBody>
      </p:sp>
      <p:sp>
        <p:nvSpPr>
          <p:cNvPr id="30" name="INTRO8_CUERPO_6_3">
            <a:extLst xmlns:a="http://schemas.openxmlformats.org/drawingml/2006/main">
              <a:ext uri="{FF2B5EF4-FFF2-40B4-BE49-F238E27FC236}">
                <a16:creationId xmlns:a16="http://schemas.microsoft.com/office/drawing/2014/main" id="{5D7AFBDA-5329-4DA1-A648-D8AD9B7416D9}"/>
              </a:ext>
            </a:extLst>
          </p:cNvPr>
          <p:cNvSpPr>
            <a:spLocks xmlns:a="http://schemas.openxmlformats.org/drawingml/2006/main" noGrp="1"/>
          </p:cNvSpPr>
          <p:nvPr/>
        </p:nvSpPr>
        <p:spPr>
          <a:xfrm xmlns:a="http://schemas.openxmlformats.org/drawingml/2006/main">
            <a:off x="2819400" y="17500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mayor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riesgo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víctimas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1" name="INTRO8_CUERPO_6_4">
            <a:extLst xmlns:a="http://schemas.openxmlformats.org/drawingml/2006/main">
              <a:ext uri="{FF2B5EF4-FFF2-40B4-BE49-F238E27FC236}">
                <a16:creationId xmlns:a16="http://schemas.microsoft.com/office/drawing/2014/main" id="{2421FBFA-6E88-4AD9-9468-92EE46E6E053}"/>
              </a:ext>
            </a:extLst>
          </p:cNvPr>
          <p:cNvSpPr>
            <a:spLocks xmlns:a="http://schemas.openxmlformats.org/drawingml/2006/main" noGrp="1"/>
          </p:cNvSpPr>
          <p:nvPr/>
        </p:nvSpPr>
        <p:spPr>
          <a:xfrm xmlns:a="http://schemas.openxmlformats.org/drawingml/2006/main">
            <a:off x="2819400" y="18618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manera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toman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p>
        </p:txBody>
      </p:sp>
      <p:sp>
        <p:nvSpPr>
          <p:cNvPr id="32" name="INTRO8_CUERPO_6_5">
            <a:extLst xmlns:a="http://schemas.openxmlformats.org/drawingml/2006/main">
              <a:ext uri="{FF2B5EF4-FFF2-40B4-BE49-F238E27FC236}">
                <a16:creationId xmlns:a16="http://schemas.microsoft.com/office/drawing/2014/main" id="{7443B538-5A5C-4FA7-90A8-E4075A8791F4}"/>
              </a:ext>
            </a:extLst>
          </p:cNvPr>
          <p:cNvSpPr>
            <a:spLocks xmlns:a="http://schemas.openxmlformats.org/drawingml/2006/main" noGrp="1"/>
          </p:cNvSpPr>
          <p:nvPr/>
        </p:nvSpPr>
        <p:spPr>
          <a:xfrm xmlns:a="http://schemas.openxmlformats.org/drawingml/2006/main">
            <a:off x="2819400" y="19735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protegerse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prevenir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3" name="INTRO8_RECUADRO_7">
            <a:extLst xmlns:a="http://schemas.openxmlformats.org/drawingml/2006/main">
              <a:ext uri="{FF2B5EF4-FFF2-40B4-BE49-F238E27FC236}">
                <a16:creationId xmlns:a16="http://schemas.microsoft.com/office/drawing/2014/main" id="{382676B6-5B0C-4405-B1CD-B34DFF69D1EC}"/>
              </a:ext>
            </a:extLst>
          </p:cNvPr>
          <p:cNvSpPr>
            <a:spLocks xmlns:a="http://schemas.openxmlformats.org/drawingml/2006/main" noGrp="1"/>
          </p:cNvSpPr>
          <p:nvPr/>
        </p:nvSpPr>
        <p:spPr>
          <a:xfrm xmlns:a="http://schemas.openxmlformats.org/drawingml/2006/main">
            <a:off x="304800" y="2286000"/>
            <a:ext cx="8534400" cy="381000"/>
          </a:xfrm>
          <a:prstGeom xmlns:a="http://schemas.openxmlformats.org/drawingml/2006/main" prst="roundRect">
            <a:avLst>
              <a:gd name="adj" fmla="val 10000"/>
            </a:avLst>
          </a:prstGeom>
          <a:solidFill xmlns:a="http://schemas.openxmlformats.org/drawingml/2006/main">
            <a:srgbClr val="F6FAF9"/>
          </a:solidFill>
          <a:ln xmlns:a="http://schemas.openxmlformats.org/drawingml/2006/main" w="8890">
            <a:solidFill>
              <a:srgbClr val="DCE9E6"/>
            </a:solidFill>
          </a:ln>
        </p:spPr>
      </p:sp>
      <p:sp>
        <p:nvSpPr>
          <p:cNvPr id="34" name="INTRO8_ACENTO_7">
            <a:extLst xmlns:a="http://schemas.openxmlformats.org/drawingml/2006/main">
              <a:ext uri="{FF2B5EF4-FFF2-40B4-BE49-F238E27FC236}">
                <a16:creationId xmlns:a16="http://schemas.microsoft.com/office/drawing/2014/main" id="{92523961-9110-43EC-9CA8-C5ED3ACF5420}"/>
              </a:ext>
            </a:extLst>
          </p:cNvPr>
          <p:cNvSpPr>
            <a:spLocks xmlns:a="http://schemas.openxmlformats.org/drawingml/2006/main" noGrp="1"/>
          </p:cNvSpPr>
          <p:nvPr/>
        </p:nvSpPr>
        <p:spPr>
          <a:xfrm xmlns:a="http://schemas.openxmlformats.org/drawingml/2006/main">
            <a:off x="304800" y="2362200"/>
            <a:ext cx="38100" cy="2286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35" name="INTRO8_SEPARADOR_7">
            <a:extLst xmlns:a="http://schemas.openxmlformats.org/drawingml/2006/main">
              <a:ext uri="{FF2B5EF4-FFF2-40B4-BE49-F238E27FC236}">
                <a16:creationId xmlns:a16="http://schemas.microsoft.com/office/drawing/2014/main" id="{71B4E807-9BBB-4943-B1E5-CC4453D7476F}"/>
              </a:ext>
            </a:extLst>
          </p:cNvPr>
          <p:cNvSpPr>
            <a:spLocks xmlns:a="http://schemas.openxmlformats.org/drawingml/2006/main" noGrp="1"/>
          </p:cNvSpPr>
          <p:nvPr/>
        </p:nvSpPr>
        <p:spPr>
          <a:xfrm xmlns:a="http://schemas.openxmlformats.org/drawingml/2006/main">
            <a:off x="2654300" y="2374900"/>
            <a:ext cx="6985" cy="2032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36" name="INTRO8_NUMERO_FONDO_7">
            <a:extLst xmlns:a="http://schemas.openxmlformats.org/drawingml/2006/main">
              <a:ext uri="{FF2B5EF4-FFF2-40B4-BE49-F238E27FC236}">
                <a16:creationId xmlns:a16="http://schemas.microsoft.com/office/drawing/2014/main" id="{6D37B86E-7C67-4FFE-8288-37C681EEBBEC}"/>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37" name="INTRO8_NUMERO_7">
            <a:extLst xmlns:a="http://schemas.openxmlformats.org/drawingml/2006/main">
              <a:ext uri="{FF2B5EF4-FFF2-40B4-BE49-F238E27FC236}">
                <a16:creationId xmlns:a16="http://schemas.microsoft.com/office/drawing/2014/main" id="{C2257BA2-CA07-4D79-948A-F214E295B28E}"/>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7</a:t>
            </a:r>
          </a:p>
        </p:txBody>
      </p:sp>
      <p:sp>
        <p:nvSpPr>
          <p:cNvPr id="38" name="INTRO8_SECCION_7_1">
            <a:extLst xmlns:a="http://schemas.openxmlformats.org/drawingml/2006/main">
              <a:ext uri="{FF2B5EF4-FFF2-40B4-BE49-F238E27FC236}">
                <a16:creationId xmlns:a16="http://schemas.microsoft.com/office/drawing/2014/main" id="{265222B4-EF76-4B5E-946C-2B73874FE5FF}"/>
              </a:ext>
            </a:extLst>
          </p:cNvPr>
          <p:cNvSpPr>
            <a:spLocks xmlns:a="http://schemas.openxmlformats.org/drawingml/2006/main" noGrp="1"/>
          </p:cNvSpPr>
          <p:nvPr/>
        </p:nvSpPr>
        <p:spPr>
          <a:xfrm xmlns:a="http://schemas.openxmlformats.org/drawingml/2006/main">
            <a:off x="787400" y="23418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de</a:t>
            </a:r>
          </a:p>
        </p:txBody>
      </p:sp>
      <p:sp>
        <p:nvSpPr>
          <p:cNvPr id="39" name="INTRO8_SECCION_7_2">
            <a:extLst xmlns:a="http://schemas.openxmlformats.org/drawingml/2006/main">
              <a:ext uri="{FF2B5EF4-FFF2-40B4-BE49-F238E27FC236}">
                <a16:creationId xmlns:a16="http://schemas.microsoft.com/office/drawing/2014/main" id="{972F580E-6A4D-435D-8E1F-F1AAB52D0C25}"/>
              </a:ext>
            </a:extLst>
          </p:cNvPr>
          <p:cNvSpPr>
            <a:spLocks xmlns:a="http://schemas.openxmlformats.org/drawingml/2006/main" noGrp="1"/>
          </p:cNvSpPr>
          <p:nvPr/>
        </p:nvSpPr>
        <p:spPr>
          <a:xfrm xmlns:a="http://schemas.openxmlformats.org/drawingml/2006/main">
            <a:off x="787400" y="24765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Radiodifusión:</a:t>
            </a:r>
          </a:p>
        </p:txBody>
      </p:sp>
      <p:sp>
        <p:nvSpPr>
          <p:cNvPr id="40" name="INTRO8_CUERPO_7_1">
            <a:extLst xmlns:a="http://schemas.openxmlformats.org/drawingml/2006/main">
              <a:ext uri="{FF2B5EF4-FFF2-40B4-BE49-F238E27FC236}">
                <a16:creationId xmlns:a16="http://schemas.microsoft.com/office/drawing/2014/main" id="{23FCE93B-440D-474E-8E51-48B3542CDC61}"/>
              </a:ext>
            </a:extLst>
          </p:cNvPr>
          <p:cNvSpPr>
            <a:spLocks xmlns:a="http://schemas.openxmlformats.org/drawingml/2006/main" noGrp="1"/>
          </p:cNvSpPr>
          <p:nvPr/>
        </p:nvSpPr>
        <p:spPr>
          <a:xfrm xmlns:a="http://schemas.openxmlformats.org/drawingml/2006/main">
            <a:off x="2819400" y="24104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Expone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relativa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otorgadas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TDT.</a:t>
            </a:r>
          </a:p>
        </p:txBody>
      </p:sp>
      <p:sp>
        <p:nvSpPr>
          <p:cNvPr id="41" name="INTRO8_RECUADRO_8">
            <a:extLst xmlns:a="http://schemas.openxmlformats.org/drawingml/2006/main">
              <a:ext uri="{FF2B5EF4-FFF2-40B4-BE49-F238E27FC236}">
                <a16:creationId xmlns:a16="http://schemas.microsoft.com/office/drawing/2014/main" id="{ED0B5167-A919-4269-8110-5423CD08BA24}"/>
              </a:ext>
            </a:extLst>
          </p:cNvPr>
          <p:cNvSpPr>
            <a:spLocks xmlns:a="http://schemas.openxmlformats.org/drawingml/2006/main" noGrp="1"/>
          </p:cNvSpPr>
          <p:nvPr/>
        </p:nvSpPr>
        <p:spPr>
          <a:xfrm xmlns:a="http://schemas.openxmlformats.org/drawingml/2006/main">
            <a:off x="304800" y="2768600"/>
            <a:ext cx="8534400" cy="4064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8890">
            <a:solidFill>
              <a:srgbClr val="DCE9E6"/>
            </a:solidFill>
          </a:ln>
        </p:spPr>
      </p:sp>
      <p:sp>
        <p:nvSpPr>
          <p:cNvPr id="42" name="INTRO8_ACENTO_8">
            <a:extLst xmlns:a="http://schemas.openxmlformats.org/drawingml/2006/main">
              <a:ext uri="{FF2B5EF4-FFF2-40B4-BE49-F238E27FC236}">
                <a16:creationId xmlns:a16="http://schemas.microsoft.com/office/drawing/2014/main" id="{D98DFFE3-F62E-49B8-B865-19541EC17AA4}"/>
              </a:ext>
            </a:extLst>
          </p:cNvPr>
          <p:cNvSpPr>
            <a:spLocks xmlns:a="http://schemas.openxmlformats.org/drawingml/2006/main" noGrp="1"/>
          </p:cNvSpPr>
          <p:nvPr/>
        </p:nvSpPr>
        <p:spPr>
          <a:xfrm xmlns:a="http://schemas.openxmlformats.org/drawingml/2006/main">
            <a:off x="304800" y="2844800"/>
            <a:ext cx="38100" cy="254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43" name="INTRO8_SEPARADOR_8">
            <a:extLst xmlns:a="http://schemas.openxmlformats.org/drawingml/2006/main">
              <a:ext uri="{FF2B5EF4-FFF2-40B4-BE49-F238E27FC236}">
                <a16:creationId xmlns:a16="http://schemas.microsoft.com/office/drawing/2014/main" id="{C2D50FC0-B282-498C-AFAF-3CBE468E38D7}"/>
              </a:ext>
            </a:extLst>
          </p:cNvPr>
          <p:cNvSpPr>
            <a:spLocks xmlns:a="http://schemas.openxmlformats.org/drawingml/2006/main" noGrp="1"/>
          </p:cNvSpPr>
          <p:nvPr/>
        </p:nvSpPr>
        <p:spPr>
          <a:xfrm xmlns:a="http://schemas.openxmlformats.org/drawingml/2006/main">
            <a:off x="2654300" y="2857500"/>
            <a:ext cx="6985" cy="228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44" name="INTRO8_NUMERO_FONDO_8">
            <a:extLst xmlns:a="http://schemas.openxmlformats.org/drawingml/2006/main">
              <a:ext uri="{FF2B5EF4-FFF2-40B4-BE49-F238E27FC236}">
                <a16:creationId xmlns:a16="http://schemas.microsoft.com/office/drawing/2014/main" id="{EEC64BD8-B959-4CDA-849D-0D983215C8E1}"/>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45" name="INTRO8_NUMERO_8">
            <a:extLst xmlns:a="http://schemas.openxmlformats.org/drawingml/2006/main">
              <a:ext uri="{FF2B5EF4-FFF2-40B4-BE49-F238E27FC236}">
                <a16:creationId xmlns:a16="http://schemas.microsoft.com/office/drawing/2014/main" id="{93790D28-07AD-437C-8364-E038DF1ABF75}"/>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8</a:t>
            </a:r>
          </a:p>
        </p:txBody>
      </p:sp>
      <p:sp>
        <p:nvSpPr>
          <p:cNvPr id="46" name="INTRO8_SECCION_8_1">
            <a:extLst xmlns:a="http://schemas.openxmlformats.org/drawingml/2006/main">
              <a:ext uri="{FF2B5EF4-FFF2-40B4-BE49-F238E27FC236}">
                <a16:creationId xmlns:a16="http://schemas.microsoft.com/office/drawing/2014/main" id="{B8FB4775-C4D2-4E0A-A2F1-281F19384612}"/>
              </a:ext>
            </a:extLst>
          </p:cNvPr>
          <p:cNvSpPr>
            <a:spLocks xmlns:a="http://schemas.openxmlformats.org/drawingml/2006/main" noGrp="1"/>
          </p:cNvSpPr>
          <p:nvPr/>
        </p:nvSpPr>
        <p:spPr>
          <a:xfrm xmlns:a="http://schemas.openxmlformats.org/drawingml/2006/main">
            <a:off x="787400" y="28371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Consumo de Radio y</a:t>
            </a:r>
          </a:p>
        </p:txBody>
      </p:sp>
      <p:sp>
        <p:nvSpPr>
          <p:cNvPr id="47" name="INTRO8_SECCION_8_2">
            <a:extLst xmlns:a="http://schemas.openxmlformats.org/drawingml/2006/main">
              <a:ext uri="{FF2B5EF4-FFF2-40B4-BE49-F238E27FC236}">
                <a16:creationId xmlns:a16="http://schemas.microsoft.com/office/drawing/2014/main" id="{2F980B17-F481-4DFA-8450-7B3E1FC1A34E}"/>
              </a:ext>
            </a:extLst>
          </p:cNvPr>
          <p:cNvSpPr>
            <a:spLocks xmlns:a="http://schemas.openxmlformats.org/drawingml/2006/main" noGrp="1"/>
          </p:cNvSpPr>
          <p:nvPr/>
        </p:nvSpPr>
        <p:spPr>
          <a:xfrm xmlns:a="http://schemas.openxmlformats.org/drawingml/2006/main">
            <a:off x="787400" y="29718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Televisión:</a:t>
            </a:r>
          </a:p>
        </p:txBody>
      </p:sp>
      <p:sp>
        <p:nvSpPr>
          <p:cNvPr id="48" name="INTRO8_CUERPO_8_1">
            <a:extLst xmlns:a="http://schemas.openxmlformats.org/drawingml/2006/main">
              <a:ext uri="{FF2B5EF4-FFF2-40B4-BE49-F238E27FC236}">
                <a16:creationId xmlns:a16="http://schemas.microsoft.com/office/drawing/2014/main" id="{CCFFA60D-D93D-48BC-A9B1-DAAF45AE3522}"/>
              </a:ext>
            </a:extLst>
          </p:cNvPr>
          <p:cNvSpPr>
            <a:spLocks xmlns:a="http://schemas.openxmlformats.org/drawingml/2006/main" noGrp="1"/>
          </p:cNvSpPr>
          <p:nvPr/>
        </p:nvSpPr>
        <p:spPr>
          <a:xfrm xmlns:a="http://schemas.openxmlformats.org/drawingml/2006/main">
            <a:off x="2819400" y="28498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ciudad</a:t>
            </a:r>
          </a:p>
        </p:txBody>
      </p:sp>
      <p:sp>
        <p:nvSpPr>
          <p:cNvPr id="49" name="INTRO8_CUERPO_8_2">
            <a:extLst xmlns:a="http://schemas.openxmlformats.org/drawingml/2006/main">
              <a:ext uri="{FF2B5EF4-FFF2-40B4-BE49-F238E27FC236}">
                <a16:creationId xmlns:a16="http://schemas.microsoft.com/office/drawing/2014/main" id="{7D528F66-0E70-45A0-9224-702BC7C52FFE}"/>
              </a:ext>
            </a:extLst>
          </p:cNvPr>
          <p:cNvSpPr>
            <a:spLocks xmlns:a="http://schemas.openxmlformats.org/drawingml/2006/main" noGrp="1"/>
          </p:cNvSpPr>
          <p:nvPr/>
        </p:nvSpPr>
        <p:spPr>
          <a:xfrm xmlns:a="http://schemas.openxmlformats.org/drawingml/2006/main">
            <a:off x="2819400" y="29616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seleccionada.</a:t>
            </a:r>
          </a:p>
        </p:txBody>
      </p:sp>
      <p:sp>
        <p:nvSpPr>
          <p:cNvPr id="50" name="INTRO8_INFORMACION_COMPLEMENTARIA">
            <a:extLst xmlns:a="http://schemas.openxmlformats.org/drawingml/2006/main">
              <a:ext uri="{FF2B5EF4-FFF2-40B4-BE49-F238E27FC236}">
                <a16:creationId xmlns:a16="http://schemas.microsoft.com/office/drawing/2014/main" id="{712BA54F-1217-4094-AF0F-3CD1AD5B680C}"/>
              </a:ext>
            </a:extLst>
          </p:cNvPr>
          <p:cNvSpPr>
            <a:spLocks xmlns:a="http://schemas.openxmlformats.org/drawingml/2006/main" noGrp="1"/>
          </p:cNvSpPr>
          <p:nvPr/>
        </p:nvSpPr>
        <p:spPr>
          <a:xfrm xmlns:a="http://schemas.openxmlformats.org/drawingml/2006/main">
            <a:off x="304800" y="3302000"/>
            <a:ext cx="8534400" cy="1574800"/>
          </a:xfrm>
          <a:prstGeom xmlns:a="http://schemas.openxmlformats.org/drawingml/2006/main" prst="roundRect">
            <a:avLst>
              <a:gd name="adj" fmla="val 2419"/>
            </a:avLst>
          </a:prstGeom>
          <a:solidFill xmlns:a="http://schemas.openxmlformats.org/drawingml/2006/main">
            <a:srgbClr val="EAF3F1"/>
          </a:solidFill>
          <a:ln xmlns:a="http://schemas.openxmlformats.org/drawingml/2006/main" w="8890">
            <a:solidFill>
              <a:srgbClr val="EAF3F1"/>
            </a:solidFill>
          </a:ln>
        </p:spPr>
      </p:sp>
      <p:sp>
        <p:nvSpPr>
          <p:cNvPr id="51" name="INTRO8_INFORMACION_DIVISOR">
            <a:extLst xmlns:a="http://schemas.openxmlformats.org/drawingml/2006/main">
              <a:ext uri="{FF2B5EF4-FFF2-40B4-BE49-F238E27FC236}">
                <a16:creationId xmlns:a16="http://schemas.microsoft.com/office/drawing/2014/main" id="{B6A84195-E264-4775-966E-59325B41007C}"/>
              </a:ext>
            </a:extLst>
          </p:cNvPr>
          <p:cNvSpPr>
            <a:spLocks xmlns:a="http://schemas.openxmlformats.org/drawingml/2006/main" noGrp="1"/>
          </p:cNvSpPr>
          <p:nvPr/>
        </p:nvSpPr>
        <p:spPr>
          <a:xfrm xmlns:a="http://schemas.openxmlformats.org/drawingml/2006/main">
            <a:off x="1828800" y="3403600"/>
            <a:ext cx="6985" cy="1358900"/>
          </a:xfrm>
          <a:prstGeom xmlns:a="http://schemas.openxmlformats.org/drawingml/2006/main" prst="rect">
            <a:avLst/>
          </a:prstGeom>
          <a:solidFill xmlns:a="http://schemas.openxmlformats.org/drawingml/2006/main">
            <a:srgbClr val="CFDFDA"/>
          </a:solidFill>
          <a:ln xmlns:a="http://schemas.openxmlformats.org/drawingml/2006/main" w="0">
            <a:noFill/>
          </a:ln>
        </p:spPr>
      </p:sp>
      <p:sp>
        <p:nvSpPr>
          <p:cNvPr id="52" name="INTRO8_ROTULO_2_0">
            <a:extLst xmlns:a="http://schemas.openxmlformats.org/drawingml/2006/main">
              <a:ext uri="{FF2B5EF4-FFF2-40B4-BE49-F238E27FC236}">
                <a16:creationId xmlns:a16="http://schemas.microsoft.com/office/drawing/2014/main" id="{15C22A9C-A947-4480-8AF3-3636BC33E767}"/>
              </a:ext>
            </a:extLst>
          </p:cNvPr>
          <p:cNvSpPr>
            <a:spLocks xmlns:a="http://schemas.openxmlformats.org/drawingml/2006/main" noGrp="1"/>
          </p:cNvSpPr>
          <p:nvPr/>
        </p:nvSpPr>
        <p:spPr>
          <a:xfrm xmlns:a="http://schemas.openxmlformats.org/drawingml/2006/main">
            <a:off x="482600" y="33782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Anexos</a:t>
            </a:r>
          </a:p>
        </p:txBody>
      </p:sp>
      <p:sp>
        <p:nvSpPr>
          <p:cNvPr id="53" name="INTRO8_NOTA_2_1">
            <a:extLst xmlns:a="http://schemas.openxmlformats.org/drawingml/2006/main">
              <a:ext uri="{FF2B5EF4-FFF2-40B4-BE49-F238E27FC236}">
                <a16:creationId xmlns:a16="http://schemas.microsoft.com/office/drawing/2014/main" id="{26BEF6F5-9E72-42F8-B0C1-A40675E8312D}"/>
              </a:ext>
            </a:extLst>
          </p:cNvPr>
          <p:cNvSpPr>
            <a:spLocks xmlns:a="http://schemas.openxmlformats.org/drawingml/2006/main" noGrp="1"/>
          </p:cNvSpPr>
          <p:nvPr/>
        </p:nvSpPr>
        <p:spPr>
          <a:xfrm xmlns:a="http://schemas.openxmlformats.org/drawingml/2006/main">
            <a:off x="1981200" y="33782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tablas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resumen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definiciones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conceptos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utilizados</a:t>
            </a:r>
          </a:p>
        </p:txBody>
      </p:sp>
      <p:sp>
        <p:nvSpPr>
          <p:cNvPr id="54" name="INTRO8_NOTA_2_2">
            <a:extLst xmlns:a="http://schemas.openxmlformats.org/drawingml/2006/main">
              <a:ext uri="{FF2B5EF4-FFF2-40B4-BE49-F238E27FC236}">
                <a16:creationId xmlns:a16="http://schemas.microsoft.com/office/drawing/2014/main" id="{77399D4A-9038-441E-A26A-C35017235B7E}"/>
              </a:ext>
            </a:extLst>
          </p:cNvPr>
          <p:cNvSpPr>
            <a:spLocks xmlns:a="http://schemas.openxmlformats.org/drawingml/2006/main" noGrp="1"/>
          </p:cNvSpPr>
          <p:nvPr/>
        </p:nvSpPr>
        <p:spPr>
          <a:xfrm xmlns:a="http://schemas.openxmlformats.org/drawingml/2006/main">
            <a:off x="1981200" y="34874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metodologías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métodos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cálculo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IV).</a:t>
            </a:r>
          </a:p>
        </p:txBody>
      </p:sp>
      <p:sp>
        <p:nvSpPr>
          <p:cNvPr id="55" name="INTRO8_ROTULO_3_0">
            <a:extLst xmlns:a="http://schemas.openxmlformats.org/drawingml/2006/main">
              <a:ext uri="{FF2B5EF4-FFF2-40B4-BE49-F238E27FC236}">
                <a16:creationId xmlns:a16="http://schemas.microsoft.com/office/drawing/2014/main" id="{24B3C505-2EDA-43B1-B8F3-91CA818ED76F}"/>
              </a:ext>
            </a:extLst>
          </p:cNvPr>
          <p:cNvSpPr>
            <a:spLocks xmlns:a="http://schemas.openxmlformats.org/drawingml/2006/main" noGrp="1"/>
          </p:cNvSpPr>
          <p:nvPr/>
        </p:nvSpPr>
        <p:spPr>
          <a:xfrm xmlns:a="http://schemas.openxmlformats.org/drawingml/2006/main">
            <a:off x="482600" y="365252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Fuentes</a:t>
            </a:r>
          </a:p>
        </p:txBody>
      </p:sp>
      <p:sp>
        <p:nvSpPr>
          <p:cNvPr id="56" name="INTRO8_NOTA_3_1">
            <a:extLst xmlns:a="http://schemas.openxmlformats.org/drawingml/2006/main">
              <a:ext uri="{FF2B5EF4-FFF2-40B4-BE49-F238E27FC236}">
                <a16:creationId xmlns:a16="http://schemas.microsoft.com/office/drawing/2014/main" id="{5BBC5CD8-4425-4438-B05A-A885A868DC63}"/>
              </a:ext>
            </a:extLst>
          </p:cNvPr>
          <p:cNvSpPr>
            <a:spLocks xmlns:a="http://schemas.openxmlformats.org/drawingml/2006/main" noGrp="1"/>
          </p:cNvSpPr>
          <p:nvPr/>
        </p:nvSpPr>
        <p:spPr>
          <a:xfrm xmlns:a="http://schemas.openxmlformats.org/drawingml/2006/main">
            <a:off x="1981200" y="36525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proviene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distintas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fuentes,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reportados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operadores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p>
        </p:txBody>
      </p:sp>
      <p:sp>
        <p:nvSpPr>
          <p:cNvPr id="57" name="INTRO8_NOTA_3_2">
            <a:extLst xmlns:a="http://schemas.openxmlformats.org/drawingml/2006/main">
              <a:ext uri="{FF2B5EF4-FFF2-40B4-BE49-F238E27FC236}">
                <a16:creationId xmlns:a16="http://schemas.microsoft.com/office/drawing/2014/main" id="{BB98F7CC-2ED8-4C43-A0A0-8070A9F8072F}"/>
              </a:ext>
            </a:extLst>
          </p:cNvPr>
          <p:cNvSpPr>
            <a:spLocks xmlns:a="http://schemas.openxmlformats.org/drawingml/2006/main" noGrp="1"/>
          </p:cNvSpPr>
          <p:nvPr/>
        </p:nvSpPr>
        <p:spPr>
          <a:xfrm xmlns:a="http://schemas.openxmlformats.org/drawingml/2006/main">
            <a:off x="1981200" y="37617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fecha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publicación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sujetos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revisión;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Instituto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Nacional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Geografía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(INEGI)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Secretaría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Economía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p>
        </p:txBody>
      </p:sp>
      <p:sp>
        <p:nvSpPr>
          <p:cNvPr id="58" name="INTRO8_ROTULO_4_0">
            <a:extLst xmlns:a="http://schemas.openxmlformats.org/drawingml/2006/main">
              <a:ext uri="{FF2B5EF4-FFF2-40B4-BE49-F238E27FC236}">
                <a16:creationId xmlns:a16="http://schemas.microsoft.com/office/drawing/2014/main" id="{FFD48A0B-FEA0-49E0-8B72-F64C7CEBDF23}"/>
              </a:ext>
            </a:extLst>
          </p:cNvPr>
          <p:cNvSpPr>
            <a:spLocks xmlns:a="http://schemas.openxmlformats.org/drawingml/2006/main" noGrp="1"/>
          </p:cNvSpPr>
          <p:nvPr/>
        </p:nvSpPr>
        <p:spPr>
          <a:xfrm xmlns:a="http://schemas.openxmlformats.org/drawingml/2006/main">
            <a:off x="482600" y="392684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Elaboración</a:t>
            </a:r>
          </a:p>
        </p:txBody>
      </p:sp>
      <p:sp>
        <p:nvSpPr>
          <p:cNvPr id="59" name="INTRO8_NOTA_4_1">
            <a:extLst xmlns:a="http://schemas.openxmlformats.org/drawingml/2006/main">
              <a:ext uri="{FF2B5EF4-FFF2-40B4-BE49-F238E27FC236}">
                <a16:creationId xmlns:a16="http://schemas.microsoft.com/office/drawing/2014/main" id="{4FF06F85-A2FB-4215-AAF1-F16990EBF240}"/>
              </a:ext>
            </a:extLst>
          </p:cNvPr>
          <p:cNvSpPr>
            <a:spLocks xmlns:a="http://schemas.openxmlformats.org/drawingml/2006/main" noGrp="1"/>
          </p:cNvSpPr>
          <p:nvPr/>
        </p:nvSpPr>
        <p:spPr>
          <a:xfrm xmlns:a="http://schemas.openxmlformats.org/drawingml/2006/main">
            <a:off x="1981200" y="39268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edición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noveno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volumen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elaborado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Planeación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Estratégica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p>
        </p:txBody>
      </p:sp>
      <p:sp>
        <p:nvSpPr>
          <p:cNvPr id="60" name="INTRO8_NOTA_4_2">
            <a:extLst xmlns:a="http://schemas.openxmlformats.org/drawingml/2006/main">
              <a:ext uri="{FF2B5EF4-FFF2-40B4-BE49-F238E27FC236}">
                <a16:creationId xmlns:a16="http://schemas.microsoft.com/office/drawing/2014/main" id="{9407BDF3-4428-4F39-B4CE-37B3D60897C4}"/>
              </a:ext>
            </a:extLst>
          </p:cNvPr>
          <p:cNvSpPr>
            <a:spLocks xmlns:a="http://schemas.openxmlformats.org/drawingml/2006/main" noGrp="1"/>
          </p:cNvSpPr>
          <p:nvPr/>
        </p:nvSpPr>
        <p:spPr>
          <a:xfrm xmlns:a="http://schemas.openxmlformats.org/drawingml/2006/main">
            <a:off x="1981200" y="403606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elaboración,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contó</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apoyo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Política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Usuario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Espectro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Radioeléctrico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(UER),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1" name="INTRO8_NOTA_4_3">
            <a:extLst xmlns:a="http://schemas.openxmlformats.org/drawingml/2006/main">
              <a:ext uri="{FF2B5EF4-FFF2-40B4-BE49-F238E27FC236}">
                <a16:creationId xmlns:a16="http://schemas.microsoft.com/office/drawing/2014/main" id="{C109183A-EA05-45C6-ABBD-370D8AC2F465}"/>
              </a:ext>
            </a:extLst>
          </p:cNvPr>
          <p:cNvSpPr>
            <a:spLocks xmlns:a="http://schemas.openxmlformats.org/drawingml/2006/main" noGrp="1"/>
          </p:cNvSpPr>
          <p:nvPr/>
        </p:nvSpPr>
        <p:spPr>
          <a:xfrm xmlns:a="http://schemas.openxmlformats.org/drawingml/2006/main">
            <a:off x="1981200" y="41452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Concesiones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Servicios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(UCS)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Medios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Contenidos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Audiovisuales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(UMCA)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p>
        </p:txBody>
      </p:sp>
      <p:sp>
        <p:nvSpPr>
          <p:cNvPr id="62" name="INTRO8_ROTULO_5_0">
            <a:extLst xmlns:a="http://schemas.openxmlformats.org/drawingml/2006/main">
              <a:ext uri="{FF2B5EF4-FFF2-40B4-BE49-F238E27FC236}">
                <a16:creationId xmlns:a16="http://schemas.microsoft.com/office/drawing/2014/main" id="{87C74B79-9AD6-4EB4-A9EE-954CEB6F9AD1}"/>
              </a:ext>
            </a:extLst>
          </p:cNvPr>
          <p:cNvSpPr>
            <a:spLocks xmlns:a="http://schemas.openxmlformats.org/drawingml/2006/main" noGrp="1"/>
          </p:cNvSpPr>
          <p:nvPr/>
        </p:nvSpPr>
        <p:spPr>
          <a:xfrm xmlns:a="http://schemas.openxmlformats.org/drawingml/2006/main">
            <a:off x="482600" y="431038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Consulta</a:t>
            </a:r>
          </a:p>
        </p:txBody>
      </p:sp>
      <p:sp>
        <p:nvSpPr>
          <p:cNvPr id="63" name="INTRO8_ROTULO_5_1">
            <a:extLst xmlns:a="http://schemas.openxmlformats.org/drawingml/2006/main">
              <a:ext uri="{FF2B5EF4-FFF2-40B4-BE49-F238E27FC236}">
                <a16:creationId xmlns:a16="http://schemas.microsoft.com/office/drawing/2014/main" id="{DEA18FFF-84A3-4C1E-9B66-36731779C312}"/>
              </a:ext>
            </a:extLst>
          </p:cNvPr>
          <p:cNvSpPr>
            <a:spLocks xmlns:a="http://schemas.openxmlformats.org/drawingml/2006/main" noGrp="1"/>
          </p:cNvSpPr>
          <p:nvPr/>
        </p:nvSpPr>
        <p:spPr>
          <a:xfrm xmlns:a="http://schemas.openxmlformats.org/drawingml/2006/main">
            <a:off x="482600" y="44196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interactiva</a:t>
            </a:r>
          </a:p>
        </p:txBody>
      </p:sp>
      <p:sp>
        <p:nvSpPr>
          <p:cNvPr id="64" name="INTRO8_NOTA_5_1">
            <a:extLst xmlns:a="http://schemas.openxmlformats.org/drawingml/2006/main">
              <a:ext uri="{FF2B5EF4-FFF2-40B4-BE49-F238E27FC236}">
                <a16:creationId xmlns:a16="http://schemas.microsoft.com/office/drawing/2014/main" id="{9693281B-0EF9-40F8-AF16-6C73C9C25268}"/>
              </a:ext>
            </a:extLst>
          </p:cNvPr>
          <p:cNvSpPr>
            <a:spLocks xmlns:a="http://schemas.openxmlformats.org/drawingml/2006/main" noGrp="1"/>
          </p:cNvSpPr>
          <p:nvPr/>
        </p:nvSpPr>
        <p:spPr>
          <a:xfrm xmlns:a="http://schemas.openxmlformats.org/drawingml/2006/main">
            <a:off x="1981200" y="43103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Cabe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mencionar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complementar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análisis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documento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versión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interactiva,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disponible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5" name="INTRO8_NOTA_5_2">
            <a:extLst xmlns:a="http://schemas.openxmlformats.org/drawingml/2006/main">
              <a:ext uri="{FF2B5EF4-FFF2-40B4-BE49-F238E27FC236}">
                <a16:creationId xmlns:a16="http://schemas.microsoft.com/office/drawing/2014/main" id="{AC989ACD-9234-4105-B46F-224DE8D05071}"/>
              </a:ext>
            </a:extLst>
          </p:cNvPr>
          <p:cNvSpPr>
            <a:spLocks xmlns:a="http://schemas.openxmlformats.org/drawingml/2006/main" noGrp="1"/>
          </p:cNvSpPr>
          <p:nvPr/>
        </p:nvSpPr>
        <p:spPr>
          <a:xfrm xmlns:a="http://schemas.openxmlformats.org/drawingml/2006/main">
            <a:off x="1981200" y="44196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siguiente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enlace:</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https://bit.ift.org.mx/BitWebApp/</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https://www.ift.org.mx/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6" name="INTRO8_NOTA_5_3">
            <a:extLst xmlns:a="http://schemas.openxmlformats.org/drawingml/2006/main">
              <a:ext uri="{FF2B5EF4-FFF2-40B4-BE49-F238E27FC236}">
                <a16:creationId xmlns:a16="http://schemas.microsoft.com/office/drawing/2014/main" id="{0CC4CD07-9451-4D17-B7B3-0CEB506665EB}"/>
              </a:ext>
            </a:extLst>
          </p:cNvPr>
          <p:cNvSpPr>
            <a:spLocks xmlns:a="http://schemas.openxmlformats.org/drawingml/2006/main" noGrp="1"/>
          </p:cNvSpPr>
          <p:nvPr/>
        </p:nvSpPr>
        <p:spPr>
          <a:xfrm xmlns:a="http://schemas.openxmlformats.org/drawingml/2006/main">
            <a:off x="1981200" y="45288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Además,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descargar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regulados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actualización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trimestral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partir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7" name="INTRO8_NOTA_5_4">
            <a:extLst xmlns:a="http://schemas.openxmlformats.org/drawingml/2006/main">
              <a:ext uri="{FF2B5EF4-FFF2-40B4-BE49-F238E27FC236}">
                <a16:creationId xmlns:a16="http://schemas.microsoft.com/office/drawing/2014/main" id="{36E650E6-B6E2-4827-951F-FF32D1AD9905}"/>
              </a:ext>
            </a:extLst>
          </p:cNvPr>
          <p:cNvSpPr>
            <a:spLocks xmlns:a="http://schemas.openxmlformats.org/drawingml/2006/main" noGrp="1"/>
          </p:cNvSpPr>
          <p:nvPr/>
        </p:nvSpPr>
        <p:spPr>
          <a:xfrm xmlns:a="http://schemas.openxmlformats.org/drawingml/2006/main">
            <a:off x="1981200" y="46380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2013.</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https://bitestatal.ift.org.mx/#/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p>
        </p:txBody>
      </p:sp>
      <p:sp>
        <p:nvSpPr>
          <p:cNvPr id="68" name="ANUARIO_PAGE_NUMBER">
            <a:extLst xmlns:a="http://schemas.openxmlformats.org/drawingml/2006/main">
              <a:ext uri="{FF2B5EF4-FFF2-40B4-BE49-F238E27FC236}">
                <a16:creationId xmlns:a16="http://schemas.microsoft.com/office/drawing/2014/main" id="{DCC81482-7B03-46C7-A79C-14C19B9D172A}"/>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8</a:t>
            </a:r>
          </a:p>
        </p:txBody>
      </p:sp>
      <p:sp>
        <p:nvSpPr>
          <p:cNvPr id="69" name="INTRO8_EDICION_PIE">
            <a:extLst xmlns:a="http://schemas.openxmlformats.org/drawingml/2006/main">
              <a:ext uri="{FF2B5EF4-FFF2-40B4-BE49-F238E27FC236}">
                <a16:creationId xmlns:a16="http://schemas.microsoft.com/office/drawing/2014/main" id="{0B2371BB-C2A1-44D0-8D72-8E28361A9A93}"/>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0970916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pic>
        <p:nvPicPr>
          <p:cNvPr id="2" name="ANUARIO_PUNTOS_CLAVE_DESIGN_2026" descr="header.png"/>
          <p:cNvPicPr>
            <a:picLocks noChangeAspect="1"/>
          </p:cNvPicPr>
          <p:nvPr/>
        </p:nvPicPr>
        <p:blipFill>
          <a:blip r:embed="rId2"/>
          <a:stretch>
            <a:fillRect/>
          </a:stretch>
        </p:blipFill>
        <p:spPr>
          <a:xfrm>
            <a:off x="0" y="0"/>
            <a:ext cx="9144000" cy="457200"/>
          </a:xfrm>
          <a:prstGeom prst="rect">
            <a:avLst/>
          </a:prstGeom>
        </p:spPr>
      </p:pic>
      <p:pic>
        <p:nvPicPr>
          <p:cNvPr id="3" name="Picture 2" descr="footer.png"/>
          <p:cNvPicPr>
            <a:picLocks noChangeAspect="1"/>
          </p:cNvPicPr>
          <p:nvPr/>
        </p:nvPicPr>
        <p:blipFill>
          <a:blip r:embed="rId3"/>
          <a:stretch>
            <a:fillRect/>
          </a:stretch>
        </p:blipFill>
        <p:spPr>
          <a:xfrm>
            <a:off x="0" y="4991069"/>
            <a:ext cx="9144000" cy="152430"/>
          </a:xfrm>
          <a:prstGeom prst="rect">
            <a:avLst/>
          </a:prstGeom>
        </p:spPr>
      </p:pic>
      <p:sp>
        <p:nvSpPr>
          <p:cNvPr id="4" name="TextBox 3"/>
          <p:cNvSpPr txBox="1"/>
          <p:nvPr/>
        </p:nvSpPr>
        <p:spPr>
          <a:xfrm>
            <a:off x="310896" y="45720"/>
            <a:ext cx="3657600" cy="365760"/>
          </a:xfrm>
          <a:prstGeom prst="rect">
            <a:avLst/>
          </a:prstGeom>
          <a:noFill/>
        </p:spPr>
        <p:txBody>
          <a:bodyPr wrap="square" anchor="ctr" lIns="0" rIns="0" tIns="0" bIns="0">
            <a:spAutoFit/>
          </a:bodyPr>
          <a:lstStyle/>
          <a:p>
            <a:r>
              <a:rPr sz="1600" b="1">
                <a:solidFill>
                  <a:srgbClr val="FFFFFF"/>
                </a:solidFill>
                <a:latin typeface="DejaVu Sans"/>
              </a:rPr>
              <a:t>PUNTOS CLAVE</a:t>
            </a:r>
          </a:p>
        </p:txBody>
      </p:sp>
      <p:sp>
        <p:nvSpPr>
          <p:cNvPr id="5" name="TextBox 4"/>
          <p:cNvSpPr txBox="1"/>
          <p:nvPr/>
        </p:nvSpPr>
        <p:spPr>
          <a:xfrm>
            <a:off x="4572000" y="91440"/>
            <a:ext cx="3108960" cy="274320"/>
          </a:xfrm>
          <a:prstGeom prst="rect">
            <a:avLst/>
          </a:prstGeom>
          <a:noFill/>
        </p:spPr>
        <p:txBody>
          <a:bodyPr wrap="square" anchor="ctr" lIns="0" rIns="0" tIns="0" bIns="0">
            <a:spAutoFit/>
          </a:bodyPr>
          <a:lstStyle/>
          <a:p>
            <a:pPr algn="r"/>
            <a:r>
              <a:rPr sz="550" b="0">
                <a:solidFill>
                  <a:srgbClr val="D9E8E5"/>
                </a:solidFill>
                <a:latin typeface="DejaVu Sans"/>
              </a:rPr>
              <a:t>Para consultar información con mayor desagregación, visita</a:t>
            </a:r>
          </a:p>
          <a:p>
            <a:pPr algn="r"/>
            <a:r>
              <a:rPr sz="700" b="1">
                <a:solidFill>
                  <a:srgbClr val="FFFFFF"/>
                </a:solidFill>
                <a:latin typeface="DejaVu Sans"/>
              </a:rPr>
              <a:t>BIT CRT · bit.crt.gob.mx/BitWebApp</a:t>
            </a:r>
          </a:p>
        </p:txBody>
      </p:sp>
      <p:sp>
        <p:nvSpPr>
          <p:cNvPr id="6" name="Rounded Rectangle 5"/>
          <p:cNvSpPr/>
          <p:nvPr/>
        </p:nvSpPr>
        <p:spPr>
          <a:xfrm>
            <a:off x="7790688" y="45720"/>
            <a:ext cx="365760" cy="365760"/>
          </a:xfrm>
          <a:prstGeom prst="roundRect">
            <a:avLst>
              <a:gd name="adj" fmla="val 10000"/>
            </a:avLst>
          </a:prstGeom>
          <a:solidFill>
            <a:srgbClr val="FFFFFF"/>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png"/>
          <p:cNvPicPr>
            <a:picLocks noChangeAspect="1"/>
          </p:cNvPicPr>
          <p:nvPr/>
        </p:nvPicPr>
        <p:blipFill>
          <a:blip r:embed="rId4"/>
          <a:stretch>
            <a:fillRect/>
          </a:stretch>
        </p:blipFill>
        <p:spPr>
          <a:xfrm>
            <a:off x="7813548" y="68580"/>
            <a:ext cx="320040" cy="320040"/>
          </a:xfrm>
          <a:prstGeom prst="rect">
            <a:avLst/>
          </a:prstGeom>
        </p:spPr>
      </p:pic>
      <p:pic>
        <p:nvPicPr>
          <p:cNvPr id="8" name="Picture 7" descr="logo.png"/>
          <p:cNvPicPr>
            <a:picLocks noChangeAspect="1"/>
          </p:cNvPicPr>
          <p:nvPr/>
        </p:nvPicPr>
        <p:blipFill>
          <a:blip r:embed="rId5"/>
          <a:stretch>
            <a:fillRect/>
          </a:stretch>
        </p:blipFill>
        <p:spPr>
          <a:xfrm>
            <a:off x="8293608" y="64008"/>
            <a:ext cx="566928" cy="318211"/>
          </a:xfrm>
          <a:prstGeom prst="rect">
            <a:avLst/>
          </a:prstGeom>
        </p:spPr>
      </p:pic>
      <p:sp>
        <p:nvSpPr>
          <p:cNvPr id="9" name="TextBox 8"/>
          <p:cNvSpPr txBox="1"/>
          <p:nvPr/>
        </p:nvSpPr>
        <p:spPr>
          <a:xfrm>
            <a:off x="274320" y="4997196"/>
            <a:ext cx="457200" cy="137160"/>
          </a:xfrm>
          <a:prstGeom prst="rect">
            <a:avLst/>
          </a:prstGeom>
          <a:noFill/>
        </p:spPr>
        <p:txBody>
          <a:bodyPr wrap="square" anchor="ctr" lIns="0" rIns="0" tIns="0" bIns="0">
            <a:spAutoFit/>
          </a:bodyPr>
          <a:lstStyle/>
          <a:p>
            <a:r>
              <a:rPr sz="700" b="1">
                <a:solidFill>
                  <a:srgbClr val="FFFFFF"/>
                </a:solidFill>
                <a:latin typeface="DejaVu Sans"/>
              </a:rPr>
              <a:t>9</a:t>
            </a:r>
          </a:p>
        </p:txBody>
      </p:sp>
      <p:sp>
        <p:nvSpPr>
          <p:cNvPr id="10" name="TextBox 9"/>
          <p:cNvSpPr txBox="1"/>
          <p:nvPr/>
        </p:nvSpPr>
        <p:spPr>
          <a:xfrm>
            <a:off x="5486400" y="4997196"/>
            <a:ext cx="3383280" cy="137160"/>
          </a:xfrm>
          <a:prstGeom prst="rect">
            <a:avLst/>
          </a:prstGeom>
          <a:noFill/>
        </p:spPr>
        <p:txBody>
          <a:bodyPr wrap="square" anchor="ctr" lIns="0" rIns="0" tIns="0" bIns="0">
            <a:spAutoFit/>
          </a:bodyPr>
          <a:lstStyle/>
          <a:p>
            <a:pPr algn="r"/>
            <a:r>
              <a:rPr sz="550" b="0">
                <a:solidFill>
                  <a:srgbClr val="E6F0EE"/>
                </a:solidFill>
                <a:latin typeface="DejaVu Sans"/>
              </a:rPr>
              <a:t>A N U A R I O   E S T A D Í S T I C O   2 0 2 6</a:t>
            </a:r>
          </a:p>
        </p:txBody>
      </p:sp>
      <p:sp>
        <p:nvSpPr>
          <p:cNvPr id="11" name="TextBox 10"/>
          <p:cNvSpPr txBox="1"/>
          <p:nvPr/>
        </p:nvSpPr>
        <p:spPr>
          <a:xfrm>
            <a:off x="274320" y="548640"/>
            <a:ext cx="4160520" cy="182880"/>
          </a:xfrm>
          <a:prstGeom prst="rect">
            <a:avLst/>
          </a:prstGeom>
          <a:noFill/>
        </p:spPr>
        <p:txBody>
          <a:bodyPr wrap="square" anchor="ctr" lIns="0" rIns="0" tIns="0" bIns="0">
            <a:spAutoFit/>
          </a:bodyPr>
          <a:lstStyle/>
          <a:p>
            <a:r>
              <a:rPr sz="850" b="1">
                <a:solidFill>
                  <a:srgbClr val="1A4043"/>
                </a:solidFill>
                <a:latin typeface="DejaVu Sans"/>
              </a:rPr>
              <a:t>INDICADORES ECONÓMICOS</a:t>
            </a:r>
          </a:p>
        </p:txBody>
      </p:sp>
      <p:sp>
        <p:nvSpPr>
          <p:cNvPr id="12" name="Rectangle 11"/>
          <p:cNvSpPr/>
          <p:nvPr/>
        </p:nvSpPr>
        <p:spPr>
          <a:xfrm>
            <a:off x="27432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2023, los ingresos de las empresas del sector de telecomunicaciones sumaron </a:t>
            </a:r>
            <a:r>
              <a:rPr sz="680" b="1">
                <a:solidFill>
                  <a:srgbClr val="1A4043"/>
                </a:solidFill>
                <a:latin typeface="DejaVu Sans"/>
              </a:rPr>
              <a:t>$603 mil millones de pesos</a:t>
            </a:r>
            <a:r>
              <a:rPr sz="680" b="0">
                <a:solidFill>
                  <a:srgbClr val="23373A"/>
                </a:solidFill>
                <a:latin typeface="DejaVu Sans"/>
              </a:rPr>
              <a:t>. Lo que representó un crecimiento anual del </a:t>
            </a:r>
            <a:r>
              <a:rPr sz="680" b="1">
                <a:solidFill>
                  <a:srgbClr val="1A4043"/>
                </a:solidFill>
                <a:latin typeface="DejaVu Sans"/>
              </a:rPr>
              <a:t>6.8%</a:t>
            </a:r>
            <a:r>
              <a:rPr sz="680" b="0">
                <a:solidFill>
                  <a:srgbClr val="23373A"/>
                </a:solidFill>
                <a:latin typeface="DejaVu Sans"/>
              </a:rPr>
              <a:t>.</a:t>
            </a:r>
          </a:p>
          <a:p>
            <a:pPr>
              <a:spcBef>
                <a:spcPts val="150"/>
              </a:spcBef>
            </a:pPr>
            <a:r>
              <a:rPr sz="480" b="0">
                <a:solidFill>
                  <a:srgbClr val="5F7476"/>
                </a:solidFill>
                <a:latin typeface="DejaVu Sans"/>
              </a:rPr>
              <a:t>Fuente: IFT con datos de los operadores de telecomunicaciones, 2023.</a:t>
            </a:r>
          </a:p>
        </p:txBody>
      </p:sp>
      <p:sp>
        <p:nvSpPr>
          <p:cNvPr id="16" name="Rounded Rectangle 15"/>
          <p:cNvSpPr/>
          <p:nvPr/>
        </p:nvSpPr>
        <p:spPr>
          <a:xfrm>
            <a:off x="2391156"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91156"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172"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junio de 2024, el PIB de telecomunicaciones y radiodifusión (TyR) fue de </a:t>
            </a:r>
            <a:r>
              <a:rPr sz="680" b="1">
                <a:solidFill>
                  <a:srgbClr val="1A4043"/>
                </a:solidFill>
                <a:latin typeface="DejaVu Sans"/>
              </a:rPr>
              <a:t>$404 mil millones de pesos</a:t>
            </a:r>
            <a:r>
              <a:rPr sz="680" b="0">
                <a:solidFill>
                  <a:srgbClr val="23373A"/>
                </a:solidFill>
                <a:latin typeface="DejaVu Sans"/>
              </a:rPr>
              <a:t>, lo que representó un crecimiento anual de </a:t>
            </a:r>
            <a:r>
              <a:rPr sz="680" b="1">
                <a:solidFill>
                  <a:srgbClr val="1A4043"/>
                </a:solidFill>
                <a:latin typeface="DejaVu Sans"/>
              </a:rPr>
              <a:t>0.4%</a:t>
            </a:r>
            <a:r>
              <a:rPr sz="680" b="0">
                <a:solidFill>
                  <a:srgbClr val="23373A"/>
                </a:solidFill>
                <a:latin typeface="DejaVu Sans"/>
              </a:rPr>
              <a:t>.</a:t>
            </a:r>
          </a:p>
          <a:p>
            <a:pPr>
              <a:spcBef>
                <a:spcPts val="150"/>
              </a:spcBef>
            </a:pPr>
            <a:r>
              <a:rPr sz="480" b="0">
                <a:solidFill>
                  <a:srgbClr val="5F7476"/>
                </a:solidFill>
                <a:latin typeface="DejaVu Sans"/>
              </a:rPr>
              <a:t>Fuente: IFT con datos a junio de 2024, del INEGI.</a:t>
            </a:r>
          </a:p>
        </p:txBody>
      </p:sp>
      <p:sp>
        <p:nvSpPr>
          <p:cNvPr id="19" name="Rounded Rectangle 18"/>
          <p:cNvSpPr/>
          <p:nvPr/>
        </p:nvSpPr>
        <p:spPr>
          <a:xfrm>
            <a:off x="274320"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A junio de 2024, el </a:t>
            </a:r>
            <a:r>
              <a:rPr sz="680" b="1">
                <a:solidFill>
                  <a:srgbClr val="1A4043"/>
                </a:solidFill>
                <a:latin typeface="DejaVu Sans"/>
              </a:rPr>
              <a:t>82%</a:t>
            </a:r>
            <a:r>
              <a:rPr sz="680" b="0">
                <a:solidFill>
                  <a:srgbClr val="23373A"/>
                </a:solidFill>
                <a:latin typeface="DejaVu Sans"/>
              </a:rPr>
              <a:t> de los empleos pertenecieron al sector de telecomunicaciones y el </a:t>
            </a:r>
            <a:r>
              <a:rPr sz="680" b="1">
                <a:solidFill>
                  <a:srgbClr val="1A4043"/>
                </a:solidFill>
                <a:latin typeface="DejaVu Sans"/>
              </a:rPr>
              <a:t>18%</a:t>
            </a:r>
            <a:r>
              <a:rPr sz="680" b="0">
                <a:solidFill>
                  <a:srgbClr val="23373A"/>
                </a:solidFill>
                <a:latin typeface="DejaVu Sans"/>
              </a:rPr>
              <a:t> al de radiodifusión.</a:t>
            </a:r>
          </a:p>
          <a:p>
            <a:pPr>
              <a:spcBef>
                <a:spcPts val="150"/>
              </a:spcBef>
            </a:pPr>
            <a:r>
              <a:rPr sz="480" b="0">
                <a:solidFill>
                  <a:srgbClr val="5F7476"/>
                </a:solidFill>
                <a:latin typeface="DejaVu Sans"/>
              </a:rPr>
              <a:t>Fuente: IFT con datos a junio de 2024 de la ENOE-INEGI.</a:t>
            </a:r>
          </a:p>
        </p:txBody>
      </p:sp>
      <p:sp>
        <p:nvSpPr>
          <p:cNvPr id="22" name="Rounded Rectangle 21"/>
          <p:cNvSpPr/>
          <p:nvPr/>
        </p:nvSpPr>
        <p:spPr>
          <a:xfrm>
            <a:off x="2391156"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91156"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172"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De junio de 2013 a julio de 2024, los precios de comunicaciones en su conjunto disminuyeron </a:t>
            </a:r>
            <a:r>
              <a:rPr sz="680" b="1">
                <a:solidFill>
                  <a:srgbClr val="1A4043"/>
                </a:solidFill>
                <a:latin typeface="DejaVu Sans"/>
              </a:rPr>
              <a:t>49.3%</a:t>
            </a:r>
            <a:r>
              <a:rPr sz="680" b="0">
                <a:solidFill>
                  <a:srgbClr val="23373A"/>
                </a:solidFill>
                <a:latin typeface="DejaVu Sans"/>
              </a:rPr>
              <a:t>, mientras que la inflación general fue de </a:t>
            </a:r>
            <a:r>
              <a:rPr sz="680" b="1">
                <a:solidFill>
                  <a:srgbClr val="1A4043"/>
                </a:solidFill>
                <a:latin typeface="DejaVu Sans"/>
              </a:rPr>
              <a:t>66.6%</a:t>
            </a:r>
            <a:r>
              <a:rPr sz="680" b="0">
                <a:solidFill>
                  <a:srgbClr val="23373A"/>
                </a:solidFill>
                <a:latin typeface="DejaVu Sans"/>
              </a:rPr>
              <a:t>.</a:t>
            </a:r>
          </a:p>
          <a:p>
            <a:pPr>
              <a:spcBef>
                <a:spcPts val="150"/>
              </a:spcBef>
            </a:pPr>
            <a:r>
              <a:rPr sz="480" b="0">
                <a:solidFill>
                  <a:srgbClr val="5F7476"/>
                </a:solidFill>
                <a:latin typeface="DejaVu Sans"/>
              </a:rPr>
              <a:t>Fuente: IFT con datos a julio de 2024, del INEGI.</a:t>
            </a:r>
          </a:p>
        </p:txBody>
      </p:sp>
      <p:sp>
        <p:nvSpPr>
          <p:cNvPr id="25" name="TextBox 24"/>
          <p:cNvSpPr txBox="1"/>
          <p:nvPr/>
        </p:nvSpPr>
        <p:spPr>
          <a:xfrm>
            <a:off x="274320" y="2606040"/>
            <a:ext cx="4160520" cy="182880"/>
          </a:xfrm>
          <a:prstGeom prst="rect">
            <a:avLst/>
          </a:prstGeom>
          <a:noFill/>
        </p:spPr>
        <p:txBody>
          <a:bodyPr wrap="square" anchor="ctr" lIns="0" rIns="0" tIns="0" bIns="0">
            <a:spAutoFit/>
          </a:bodyPr>
          <a:lstStyle/>
          <a:p>
            <a:r>
              <a:rPr sz="850" b="1">
                <a:solidFill>
                  <a:srgbClr val="1A4043"/>
                </a:solidFill>
                <a:latin typeface="DejaVu Sans"/>
              </a:rPr>
              <a:t>ESPECTRO RADIOELÉCTRICO</a:t>
            </a:r>
          </a:p>
        </p:txBody>
      </p:sp>
      <p:sp>
        <p:nvSpPr>
          <p:cNvPr id="26" name="Rectangle 25"/>
          <p:cNvSpPr/>
          <p:nvPr/>
        </p:nvSpPr>
        <p:spPr>
          <a:xfrm>
            <a:off x="274320" y="27934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74320" y="2889504"/>
            <a:ext cx="4160520" cy="914400"/>
          </a:xfrm>
          <a:prstGeom prst="roundRect">
            <a:avLst>
              <a:gd name="adj" fmla="val 6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 y="2944368"/>
            <a:ext cx="41148" cy="804672"/>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0Hz</a:t>
            </a:r>
          </a:p>
        </p:txBody>
      </p:sp>
      <p:sp>
        <p:nvSpPr>
          <p:cNvPr id="30" name="TextBox 29"/>
          <p:cNvSpPr txBox="1"/>
          <p:nvPr/>
        </p:nvSpPr>
        <p:spPr>
          <a:xfrm>
            <a:off x="57150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50Hz</a:t>
            </a:r>
          </a:p>
        </p:txBody>
      </p:sp>
      <p:sp>
        <p:nvSpPr>
          <p:cNvPr id="31" name="TextBox 30"/>
          <p:cNvSpPr txBox="1"/>
          <p:nvPr/>
        </p:nvSpPr>
        <p:spPr>
          <a:xfrm>
            <a:off x="978408"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3KHz</a:t>
            </a:r>
          </a:p>
        </p:txBody>
      </p:sp>
      <p:sp>
        <p:nvSpPr>
          <p:cNvPr id="32" name="TextBox 31"/>
          <p:cNvSpPr txBox="1"/>
          <p:nvPr/>
        </p:nvSpPr>
        <p:spPr>
          <a:xfrm>
            <a:off x="1385316"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Radiofrecuencia</a:t>
            </a:r>
          </a:p>
        </p:txBody>
      </p:sp>
      <p:sp>
        <p:nvSpPr>
          <p:cNvPr id="33" name="TextBox 32"/>
          <p:cNvSpPr txBox="1"/>
          <p:nvPr/>
        </p:nvSpPr>
        <p:spPr>
          <a:xfrm>
            <a:off x="1792223"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300GHz</a:t>
            </a:r>
          </a:p>
        </p:txBody>
      </p:sp>
      <p:sp>
        <p:nvSpPr>
          <p:cNvPr id="34" name="TextBox 33"/>
          <p:cNvSpPr txBox="1"/>
          <p:nvPr/>
        </p:nvSpPr>
        <p:spPr>
          <a:xfrm>
            <a:off x="219913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3,000THz</a:t>
            </a:r>
          </a:p>
        </p:txBody>
      </p:sp>
      <p:sp>
        <p:nvSpPr>
          <p:cNvPr id="35" name="TextBox 34"/>
          <p:cNvSpPr txBox="1"/>
          <p:nvPr/>
        </p:nvSpPr>
        <p:spPr>
          <a:xfrm>
            <a:off x="260604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30EHz</a:t>
            </a:r>
          </a:p>
        </p:txBody>
      </p:sp>
      <p:sp>
        <p:nvSpPr>
          <p:cNvPr id="36" name="Freeform 35"/>
          <p:cNvSpPr/>
          <p:nvPr/>
        </p:nvSpPr>
        <p:spPr>
          <a:xfrm>
            <a:off x="438912" y="3157111"/>
            <a:ext cx="2441448" cy="302030"/>
          </a:xfrm>
          <a:custGeom>
            <a:avLst/>
            <a:gdLst/>
            <a:ahLst/>
            <a:cxnLst/>
            <a:rect l="l" t="t" r="r" b="b"/>
            <a:pathLst>
              <a:path w="2441448" h="302030">
                <a:moveTo>
                  <a:pt x="0" y="155330"/>
                </a:moveTo>
                <a:lnTo>
                  <a:pt x="9390" y="157657"/>
                </a:lnTo>
                <a:lnTo>
                  <a:pt x="18780" y="159996"/>
                </a:lnTo>
                <a:lnTo>
                  <a:pt x="28170" y="162347"/>
                </a:lnTo>
                <a:lnTo>
                  <a:pt x="37560" y="164708"/>
                </a:lnTo>
                <a:lnTo>
                  <a:pt x="46950" y="167080"/>
                </a:lnTo>
                <a:lnTo>
                  <a:pt x="56341" y="169460"/>
                </a:lnTo>
                <a:lnTo>
                  <a:pt x="65731" y="171849"/>
                </a:lnTo>
                <a:lnTo>
                  <a:pt x="75121" y="174246"/>
                </a:lnTo>
                <a:lnTo>
                  <a:pt x="84511" y="176650"/>
                </a:lnTo>
                <a:lnTo>
                  <a:pt x="93901" y="179060"/>
                </a:lnTo>
                <a:lnTo>
                  <a:pt x="103292" y="181475"/>
                </a:lnTo>
                <a:lnTo>
                  <a:pt x="112682" y="183895"/>
                </a:lnTo>
                <a:lnTo>
                  <a:pt x="122072" y="186319"/>
                </a:lnTo>
                <a:lnTo>
                  <a:pt x="131462" y="188744"/>
                </a:lnTo>
                <a:lnTo>
                  <a:pt x="140852" y="191171"/>
                </a:lnTo>
                <a:lnTo>
                  <a:pt x="150242" y="193598"/>
                </a:lnTo>
                <a:lnTo>
                  <a:pt x="159633" y="196024"/>
                </a:lnTo>
                <a:lnTo>
                  <a:pt x="169023" y="198446"/>
                </a:lnTo>
                <a:lnTo>
                  <a:pt x="178413" y="200863"/>
                </a:lnTo>
                <a:lnTo>
                  <a:pt x="187803" y="203273"/>
                </a:lnTo>
                <a:lnTo>
                  <a:pt x="197193" y="205674"/>
                </a:lnTo>
                <a:lnTo>
                  <a:pt x="206584" y="208064"/>
                </a:lnTo>
                <a:lnTo>
                  <a:pt x="215974" y="210440"/>
                </a:lnTo>
                <a:lnTo>
                  <a:pt x="225364" y="212800"/>
                </a:lnTo>
                <a:lnTo>
                  <a:pt x="234754" y="215139"/>
                </a:lnTo>
                <a:lnTo>
                  <a:pt x="244144" y="217456"/>
                </a:lnTo>
                <a:lnTo>
                  <a:pt x="253534" y="219746"/>
                </a:lnTo>
                <a:lnTo>
                  <a:pt x="262925" y="222005"/>
                </a:lnTo>
                <a:lnTo>
                  <a:pt x="272315" y="224230"/>
                </a:lnTo>
                <a:lnTo>
                  <a:pt x="281705" y="226415"/>
                </a:lnTo>
                <a:lnTo>
                  <a:pt x="291095" y="228556"/>
                </a:lnTo>
                <a:lnTo>
                  <a:pt x="300485" y="230647"/>
                </a:lnTo>
                <a:lnTo>
                  <a:pt x="309876" y="232683"/>
                </a:lnTo>
                <a:lnTo>
                  <a:pt x="319266" y="234657"/>
                </a:lnTo>
                <a:lnTo>
                  <a:pt x="328656" y="236563"/>
                </a:lnTo>
                <a:lnTo>
                  <a:pt x="338046" y="238395"/>
                </a:lnTo>
                <a:lnTo>
                  <a:pt x="347436" y="240144"/>
                </a:lnTo>
                <a:lnTo>
                  <a:pt x="356827" y="241802"/>
                </a:lnTo>
                <a:lnTo>
                  <a:pt x="366217" y="243362"/>
                </a:lnTo>
                <a:lnTo>
                  <a:pt x="375607" y="244815"/>
                </a:lnTo>
                <a:lnTo>
                  <a:pt x="384997" y="246152"/>
                </a:lnTo>
                <a:lnTo>
                  <a:pt x="394387" y="247362"/>
                </a:lnTo>
                <a:lnTo>
                  <a:pt x="403777" y="248436"/>
                </a:lnTo>
                <a:lnTo>
                  <a:pt x="413168" y="249363"/>
                </a:lnTo>
                <a:lnTo>
                  <a:pt x="422558" y="250132"/>
                </a:lnTo>
                <a:lnTo>
                  <a:pt x="431948" y="250732"/>
                </a:lnTo>
                <a:lnTo>
                  <a:pt x="441338" y="251150"/>
                </a:lnTo>
                <a:lnTo>
                  <a:pt x="450728" y="251376"/>
                </a:lnTo>
                <a:lnTo>
                  <a:pt x="460119" y="251395"/>
                </a:lnTo>
                <a:lnTo>
                  <a:pt x="469509" y="251197"/>
                </a:lnTo>
                <a:lnTo>
                  <a:pt x="478899" y="250767"/>
                </a:lnTo>
                <a:lnTo>
                  <a:pt x="488289" y="250094"/>
                </a:lnTo>
                <a:lnTo>
                  <a:pt x="497679" y="249163"/>
                </a:lnTo>
                <a:lnTo>
                  <a:pt x="507069" y="247963"/>
                </a:lnTo>
                <a:lnTo>
                  <a:pt x="516460" y="246481"/>
                </a:lnTo>
                <a:lnTo>
                  <a:pt x="525850" y="244703"/>
                </a:lnTo>
                <a:lnTo>
                  <a:pt x="535240" y="242619"/>
                </a:lnTo>
                <a:lnTo>
                  <a:pt x="544630" y="240217"/>
                </a:lnTo>
                <a:lnTo>
                  <a:pt x="554020" y="237487"/>
                </a:lnTo>
                <a:lnTo>
                  <a:pt x="563411" y="234418"/>
                </a:lnTo>
                <a:lnTo>
                  <a:pt x="572801" y="231003"/>
                </a:lnTo>
                <a:lnTo>
                  <a:pt x="582191" y="227235"/>
                </a:lnTo>
                <a:lnTo>
                  <a:pt x="591581" y="223108"/>
                </a:lnTo>
                <a:lnTo>
                  <a:pt x="600971" y="218618"/>
                </a:lnTo>
                <a:lnTo>
                  <a:pt x="610362" y="213765"/>
                </a:lnTo>
                <a:lnTo>
                  <a:pt x="619752" y="208549"/>
                </a:lnTo>
                <a:lnTo>
                  <a:pt x="629142" y="202974"/>
                </a:lnTo>
                <a:lnTo>
                  <a:pt x="638532" y="197047"/>
                </a:lnTo>
                <a:lnTo>
                  <a:pt x="647922" y="190778"/>
                </a:lnTo>
                <a:lnTo>
                  <a:pt x="657312" y="184180"/>
                </a:lnTo>
                <a:lnTo>
                  <a:pt x="666703" y="177270"/>
                </a:lnTo>
                <a:lnTo>
                  <a:pt x="676093" y="170072"/>
                </a:lnTo>
                <a:lnTo>
                  <a:pt x="685483" y="162610"/>
                </a:lnTo>
                <a:lnTo>
                  <a:pt x="694873" y="154916"/>
                </a:lnTo>
                <a:lnTo>
                  <a:pt x="704263" y="147026"/>
                </a:lnTo>
                <a:lnTo>
                  <a:pt x="713654" y="138982"/>
                </a:lnTo>
                <a:lnTo>
                  <a:pt x="723044" y="130829"/>
                </a:lnTo>
                <a:lnTo>
                  <a:pt x="732434" y="122621"/>
                </a:lnTo>
                <a:lnTo>
                  <a:pt x="741824" y="114414"/>
                </a:lnTo>
                <a:lnTo>
                  <a:pt x="751214" y="106273"/>
                </a:lnTo>
                <a:lnTo>
                  <a:pt x="760604" y="98266"/>
                </a:lnTo>
                <a:lnTo>
                  <a:pt x="769995" y="90467"/>
                </a:lnTo>
                <a:lnTo>
                  <a:pt x="779385" y="82955"/>
                </a:lnTo>
                <a:lnTo>
                  <a:pt x="788775" y="75812"/>
                </a:lnTo>
                <a:lnTo>
                  <a:pt x="798165" y="69127"/>
                </a:lnTo>
                <a:lnTo>
                  <a:pt x="807555" y="62987"/>
                </a:lnTo>
                <a:lnTo>
                  <a:pt x="816946" y="57487"/>
                </a:lnTo>
                <a:lnTo>
                  <a:pt x="826336" y="52718"/>
                </a:lnTo>
                <a:lnTo>
                  <a:pt x="835726" y="48773"/>
                </a:lnTo>
                <a:lnTo>
                  <a:pt x="845116" y="45743"/>
                </a:lnTo>
                <a:lnTo>
                  <a:pt x="854506" y="43716"/>
                </a:lnTo>
                <a:lnTo>
                  <a:pt x="863896" y="42773"/>
                </a:lnTo>
                <a:lnTo>
                  <a:pt x="873287" y="42989"/>
                </a:lnTo>
                <a:lnTo>
                  <a:pt x="882677" y="44430"/>
                </a:lnTo>
                <a:lnTo>
                  <a:pt x="892067" y="47150"/>
                </a:lnTo>
                <a:lnTo>
                  <a:pt x="901457" y="51188"/>
                </a:lnTo>
                <a:lnTo>
                  <a:pt x="910847" y="56566"/>
                </a:lnTo>
                <a:lnTo>
                  <a:pt x="920238" y="63290"/>
                </a:lnTo>
                <a:lnTo>
                  <a:pt x="929628" y="71343"/>
                </a:lnTo>
                <a:lnTo>
                  <a:pt x="939018" y="80683"/>
                </a:lnTo>
                <a:lnTo>
                  <a:pt x="948408" y="91244"/>
                </a:lnTo>
                <a:lnTo>
                  <a:pt x="957798" y="102934"/>
                </a:lnTo>
                <a:lnTo>
                  <a:pt x="967189" y="115629"/>
                </a:lnTo>
                <a:lnTo>
                  <a:pt x="976579" y="129178"/>
                </a:lnTo>
                <a:lnTo>
                  <a:pt x="985969" y="143401"/>
                </a:lnTo>
                <a:lnTo>
                  <a:pt x="995359" y="158086"/>
                </a:lnTo>
                <a:lnTo>
                  <a:pt x="1004749" y="172996"/>
                </a:lnTo>
                <a:lnTo>
                  <a:pt x="1014139" y="187866"/>
                </a:lnTo>
                <a:lnTo>
                  <a:pt x="1023530" y="202412"/>
                </a:lnTo>
                <a:lnTo>
                  <a:pt x="1032920" y="216328"/>
                </a:lnTo>
                <a:lnTo>
                  <a:pt x="1042310" y="229299"/>
                </a:lnTo>
                <a:lnTo>
                  <a:pt x="1051700" y="241002"/>
                </a:lnTo>
                <a:lnTo>
                  <a:pt x="1061090" y="251118"/>
                </a:lnTo>
                <a:lnTo>
                  <a:pt x="1070481" y="259338"/>
                </a:lnTo>
                <a:lnTo>
                  <a:pt x="1079871" y="265372"/>
                </a:lnTo>
                <a:lnTo>
                  <a:pt x="1089261" y="268964"/>
                </a:lnTo>
                <a:lnTo>
                  <a:pt x="1098651" y="269898"/>
                </a:lnTo>
                <a:lnTo>
                  <a:pt x="1108041" y="268013"/>
                </a:lnTo>
                <a:lnTo>
                  <a:pt x="1117431" y="263210"/>
                </a:lnTo>
                <a:lnTo>
                  <a:pt x="1126822" y="255466"/>
                </a:lnTo>
                <a:lnTo>
                  <a:pt x="1136212" y="244843"/>
                </a:lnTo>
                <a:lnTo>
                  <a:pt x="1145602" y="231491"/>
                </a:lnTo>
                <a:lnTo>
                  <a:pt x="1154992" y="215659"/>
                </a:lnTo>
                <a:lnTo>
                  <a:pt x="1164382" y="197694"/>
                </a:lnTo>
                <a:lnTo>
                  <a:pt x="1173773" y="178038"/>
                </a:lnTo>
                <a:lnTo>
                  <a:pt x="1183163" y="157229"/>
                </a:lnTo>
                <a:lnTo>
                  <a:pt x="1192553" y="135885"/>
                </a:lnTo>
                <a:lnTo>
                  <a:pt x="1201943" y="114692"/>
                </a:lnTo>
                <a:lnTo>
                  <a:pt x="1211333" y="94387"/>
                </a:lnTo>
                <a:lnTo>
                  <a:pt x="1220724" y="75732"/>
                </a:lnTo>
                <a:lnTo>
                  <a:pt x="1230114" y="59486"/>
                </a:lnTo>
                <a:lnTo>
                  <a:pt x="1239504" y="46373"/>
                </a:lnTo>
                <a:lnTo>
                  <a:pt x="1248894" y="37049"/>
                </a:lnTo>
                <a:lnTo>
                  <a:pt x="1258284" y="32064"/>
                </a:lnTo>
                <a:lnTo>
                  <a:pt x="1267674" y="31829"/>
                </a:lnTo>
                <a:lnTo>
                  <a:pt x="1277065" y="36578"/>
                </a:lnTo>
                <a:lnTo>
                  <a:pt x="1286455" y="46343"/>
                </a:lnTo>
                <a:lnTo>
                  <a:pt x="1295845" y="60929"/>
                </a:lnTo>
                <a:lnTo>
                  <a:pt x="1305235" y="79900"/>
                </a:lnTo>
                <a:lnTo>
                  <a:pt x="1314625" y="102577"/>
                </a:lnTo>
                <a:lnTo>
                  <a:pt x="1324016" y="128046"/>
                </a:lnTo>
                <a:lnTo>
                  <a:pt x="1333406" y="155184"/>
                </a:lnTo>
                <a:lnTo>
                  <a:pt x="1342796" y="182698"/>
                </a:lnTo>
                <a:lnTo>
                  <a:pt x="1352186" y="209180"/>
                </a:lnTo>
                <a:lnTo>
                  <a:pt x="1361576" y="233174"/>
                </a:lnTo>
                <a:lnTo>
                  <a:pt x="1370966" y="253257"/>
                </a:lnTo>
                <a:lnTo>
                  <a:pt x="1380357" y="268128"/>
                </a:lnTo>
                <a:lnTo>
                  <a:pt x="1389747" y="276700"/>
                </a:lnTo>
                <a:lnTo>
                  <a:pt x="1399137" y="278185"/>
                </a:lnTo>
                <a:lnTo>
                  <a:pt x="1408527" y="272181"/>
                </a:lnTo>
                <a:lnTo>
                  <a:pt x="1417917" y="258733"/>
                </a:lnTo>
                <a:lnTo>
                  <a:pt x="1427308" y="238370"/>
                </a:lnTo>
                <a:lnTo>
                  <a:pt x="1436698" y="212125"/>
                </a:lnTo>
                <a:lnTo>
                  <a:pt x="1446088" y="181502"/>
                </a:lnTo>
                <a:lnTo>
                  <a:pt x="1455478" y="148419"/>
                </a:lnTo>
                <a:lnTo>
                  <a:pt x="1464868" y="115104"/>
                </a:lnTo>
                <a:lnTo>
                  <a:pt x="1474258" y="83953"/>
                </a:lnTo>
                <a:lnTo>
                  <a:pt x="1483649" y="57367"/>
                </a:lnTo>
                <a:lnTo>
                  <a:pt x="1493039" y="37559"/>
                </a:lnTo>
                <a:lnTo>
                  <a:pt x="1502429" y="26355"/>
                </a:lnTo>
                <a:lnTo>
                  <a:pt x="1511819" y="25007"/>
                </a:lnTo>
                <a:lnTo>
                  <a:pt x="1521209" y="34036"/>
                </a:lnTo>
                <a:lnTo>
                  <a:pt x="1530600" y="53115"/>
                </a:lnTo>
                <a:lnTo>
                  <a:pt x="1539990" y="81022"/>
                </a:lnTo>
                <a:lnTo>
                  <a:pt x="1549380" y="115668"/>
                </a:lnTo>
                <a:lnTo>
                  <a:pt x="1558770" y="154210"/>
                </a:lnTo>
                <a:lnTo>
                  <a:pt x="1568160" y="193256"/>
                </a:lnTo>
                <a:lnTo>
                  <a:pt x="1577551" y="229145"/>
                </a:lnTo>
                <a:lnTo>
                  <a:pt x="1586941" y="258283"/>
                </a:lnTo>
                <a:lnTo>
                  <a:pt x="1596331" y="277521"/>
                </a:lnTo>
                <a:lnTo>
                  <a:pt x="1605721" y="284519"/>
                </a:lnTo>
                <a:lnTo>
                  <a:pt x="1615111" y="278068"/>
                </a:lnTo>
                <a:lnTo>
                  <a:pt x="1624501" y="258323"/>
                </a:lnTo>
                <a:lnTo>
                  <a:pt x="1633892" y="226902"/>
                </a:lnTo>
                <a:lnTo>
                  <a:pt x="1643282" y="186835"/>
                </a:lnTo>
                <a:lnTo>
                  <a:pt x="1652672" y="142335"/>
                </a:lnTo>
                <a:lnTo>
                  <a:pt x="1662062" y="98393"/>
                </a:lnTo>
                <a:lnTo>
                  <a:pt x="1671452" y="60248"/>
                </a:lnTo>
                <a:lnTo>
                  <a:pt x="1680843" y="32753"/>
                </a:lnTo>
                <a:lnTo>
                  <a:pt x="1690233" y="19725"/>
                </a:lnTo>
                <a:lnTo>
                  <a:pt x="1699623" y="23366"/>
                </a:lnTo>
                <a:lnTo>
                  <a:pt x="1709013" y="43832"/>
                </a:lnTo>
                <a:lnTo>
                  <a:pt x="1718403" y="79039"/>
                </a:lnTo>
                <a:lnTo>
                  <a:pt x="1727793" y="124763"/>
                </a:lnTo>
                <a:lnTo>
                  <a:pt x="1737184" y="175060"/>
                </a:lnTo>
                <a:lnTo>
                  <a:pt x="1746574" y="222978"/>
                </a:lnTo>
                <a:lnTo>
                  <a:pt x="1755964" y="261494"/>
                </a:lnTo>
                <a:lnTo>
                  <a:pt x="1765354" y="284571"/>
                </a:lnTo>
                <a:lnTo>
                  <a:pt x="1774744" y="288163"/>
                </a:lnTo>
                <a:lnTo>
                  <a:pt x="1784135" y="271007"/>
                </a:lnTo>
                <a:lnTo>
                  <a:pt x="1793525" y="235058"/>
                </a:lnTo>
                <a:lnTo>
                  <a:pt x="1802915" y="185428"/>
                </a:lnTo>
                <a:lnTo>
                  <a:pt x="1812305" y="129784"/>
                </a:lnTo>
                <a:lnTo>
                  <a:pt x="1821695" y="77249"/>
                </a:lnTo>
                <a:lnTo>
                  <a:pt x="1831086" y="36935"/>
                </a:lnTo>
                <a:lnTo>
                  <a:pt x="1840476" y="16325"/>
                </a:lnTo>
                <a:lnTo>
                  <a:pt x="1849866" y="19789"/>
                </a:lnTo>
                <a:lnTo>
                  <a:pt x="1859256" y="47537"/>
                </a:lnTo>
                <a:lnTo>
                  <a:pt x="1868646" y="95249"/>
                </a:lnTo>
                <a:lnTo>
                  <a:pt x="1878036" y="154559"/>
                </a:lnTo>
                <a:lnTo>
                  <a:pt x="1887427" y="214376"/>
                </a:lnTo>
                <a:lnTo>
                  <a:pt x="1896817" y="262893"/>
                </a:lnTo>
                <a:lnTo>
                  <a:pt x="1906207" y="289943"/>
                </a:lnTo>
                <a:lnTo>
                  <a:pt x="1915597" y="289231"/>
                </a:lnTo>
                <a:lnTo>
                  <a:pt x="1924987" y="259971"/>
                </a:lnTo>
                <a:lnTo>
                  <a:pt x="1934378" y="207466"/>
                </a:lnTo>
                <a:lnTo>
                  <a:pt x="1943768" y="142399"/>
                </a:lnTo>
                <a:lnTo>
                  <a:pt x="1953158" y="78839"/>
                </a:lnTo>
                <a:lnTo>
                  <a:pt x="1962548" y="31261"/>
                </a:lnTo>
                <a:lnTo>
                  <a:pt x="1971938" y="11206"/>
                </a:lnTo>
                <a:lnTo>
                  <a:pt x="1981328" y="24307"/>
                </a:lnTo>
                <a:lnTo>
                  <a:pt x="1990719" y="68497"/>
                </a:lnTo>
                <a:lnTo>
                  <a:pt x="2000109" y="133951"/>
                </a:lnTo>
                <a:lnTo>
                  <a:pt x="2009499" y="204999"/>
                </a:lnTo>
                <a:lnTo>
                  <a:pt x="2018889" y="263725"/>
                </a:lnTo>
                <a:lnTo>
                  <a:pt x="2028279" y="294492"/>
                </a:lnTo>
                <a:lnTo>
                  <a:pt x="2037670" y="288270"/>
                </a:lnTo>
                <a:lnTo>
                  <a:pt x="2047060" y="245562"/>
                </a:lnTo>
                <a:lnTo>
                  <a:pt x="2056450" y="176941"/>
                </a:lnTo>
                <a:lnTo>
                  <a:pt x="2065840" y="100784"/>
                </a:lnTo>
                <a:lnTo>
                  <a:pt x="2075230" y="38554"/>
                </a:lnTo>
                <a:lnTo>
                  <a:pt x="2084620" y="8744"/>
                </a:lnTo>
                <a:lnTo>
                  <a:pt x="2094011" y="21171"/>
                </a:lnTo>
                <a:lnTo>
                  <a:pt x="2103401" y="73396"/>
                </a:lnTo>
                <a:lnTo>
                  <a:pt x="2112791" y="150635"/>
                </a:lnTo>
                <a:lnTo>
                  <a:pt x="2122181" y="229547"/>
                </a:lnTo>
                <a:lnTo>
                  <a:pt x="2131571" y="285107"/>
                </a:lnTo>
                <a:lnTo>
                  <a:pt x="2140962" y="298633"/>
                </a:lnTo>
                <a:lnTo>
                  <a:pt x="2150352" y="264404"/>
                </a:lnTo>
                <a:lnTo>
                  <a:pt x="2159742" y="192462"/>
                </a:lnTo>
                <a:lnTo>
                  <a:pt x="2169132" y="106227"/>
                </a:lnTo>
                <a:lnTo>
                  <a:pt x="2178522" y="35220"/>
                </a:lnTo>
                <a:lnTo>
                  <a:pt x="2187913" y="4984"/>
                </a:lnTo>
                <a:lnTo>
                  <a:pt x="2197303" y="27593"/>
                </a:lnTo>
                <a:lnTo>
                  <a:pt x="2206693" y="96322"/>
                </a:lnTo>
                <a:lnTo>
                  <a:pt x="2216083" y="186929"/>
                </a:lnTo>
                <a:lnTo>
                  <a:pt x="2225473" y="265733"/>
                </a:lnTo>
                <a:lnTo>
                  <a:pt x="2234863" y="302030"/>
                </a:lnTo>
                <a:lnTo>
                  <a:pt x="2244254" y="280374"/>
                </a:lnTo>
                <a:lnTo>
                  <a:pt x="2253644" y="207738"/>
                </a:lnTo>
                <a:lnTo>
                  <a:pt x="2263034" y="112120"/>
                </a:lnTo>
                <a:lnTo>
                  <a:pt x="2272424" y="32293"/>
                </a:lnTo>
                <a:lnTo>
                  <a:pt x="2281814" y="2170"/>
                </a:lnTo>
                <a:lnTo>
                  <a:pt x="2291205" y="35991"/>
                </a:lnTo>
                <a:lnTo>
                  <a:pt x="2300595" y="120880"/>
                </a:lnTo>
                <a:lnTo>
                  <a:pt x="2309985" y="220846"/>
                </a:lnTo>
                <a:lnTo>
                  <a:pt x="2319375" y="291521"/>
                </a:lnTo>
                <a:lnTo>
                  <a:pt x="2328765" y="299910"/>
                </a:lnTo>
                <a:lnTo>
                  <a:pt x="2338155" y="240423"/>
                </a:lnTo>
                <a:lnTo>
                  <a:pt x="2347546" y="139200"/>
                </a:lnTo>
                <a:lnTo>
                  <a:pt x="2356936" y="43509"/>
                </a:lnTo>
                <a:lnTo>
                  <a:pt x="2366326" y="0"/>
                </a:lnTo>
                <a:lnTo>
                  <a:pt x="2375716" y="31561"/>
                </a:lnTo>
                <a:lnTo>
                  <a:pt x="2385106" y="124364"/>
                </a:lnTo>
                <a:lnTo>
                  <a:pt x="2394497" y="232727"/>
                </a:lnTo>
                <a:lnTo>
                  <a:pt x="2403887" y="300939"/>
                </a:lnTo>
                <a:lnTo>
                  <a:pt x="2413277" y="292052"/>
                </a:lnTo>
                <a:lnTo>
                  <a:pt x="2422667" y="208794"/>
                </a:lnTo>
                <a:lnTo>
                  <a:pt x="2432057" y="94425"/>
                </a:lnTo>
                <a:lnTo>
                  <a:pt x="2441448" y="11200"/>
                </a:lnTo>
              </a:path>
            </a:pathLst>
          </a:custGeom>
          <a:noFill/>
          <a:ln w="17780">
            <a:solidFill>
              <a:srgbClr val="4A7D76"/>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3621024"/>
            <a:ext cx="2560320" cy="128016"/>
          </a:xfrm>
          <a:prstGeom prst="rect">
            <a:avLst/>
          </a:prstGeom>
          <a:noFill/>
        </p:spPr>
        <p:txBody>
          <a:bodyPr wrap="square" anchor="ctr" lIns="0" rIns="0" tIns="0" bIns="0">
            <a:spAutoFit/>
          </a:bodyPr>
          <a:lstStyle/>
          <a:p>
            <a:pPr>
              <a:spcBef>
                <a:spcPts val="150"/>
              </a:spcBef>
            </a:pPr>
            <a:r>
              <a:rPr sz="480" b="0">
                <a:solidFill>
                  <a:srgbClr val="5F7476"/>
                </a:solidFill>
                <a:latin typeface="DejaVu Sans"/>
              </a:rPr>
              <a:t>Fuente: IFT con datos a diciembre de 2023.</a:t>
            </a:r>
          </a:p>
        </p:txBody>
      </p:sp>
      <p:sp>
        <p:nvSpPr>
          <p:cNvPr id="38" name="Rounded Rectangle 37"/>
          <p:cNvSpPr/>
          <p:nvPr/>
        </p:nvSpPr>
        <p:spPr>
          <a:xfrm>
            <a:off x="3063239" y="3017520"/>
            <a:ext cx="1243584" cy="658368"/>
          </a:xfrm>
          <a:prstGeom prst="roundRect">
            <a:avLst>
              <a:gd name="adj" fmla="val 11111"/>
            </a:avLst>
          </a:prstGeom>
          <a:solidFill>
            <a:srgbClr val="E3F0ED"/>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54679" y="3017520"/>
            <a:ext cx="1060704" cy="658368"/>
          </a:xfrm>
          <a:prstGeom prst="rect">
            <a:avLst/>
          </a:prstGeom>
          <a:noFill/>
        </p:spPr>
        <p:txBody>
          <a:bodyPr wrap="square" anchor="ctr" lIns="0" rIns="0" tIns="0" bIns="0">
            <a:spAutoFit/>
          </a:bodyPr>
          <a:lstStyle/>
          <a:p>
            <a:pPr>
              <a:lnSpc>
                <a:spcPct val="110000"/>
              </a:lnSpc>
            </a:pPr>
            <a:r>
              <a:rPr sz="700" b="0">
                <a:solidFill>
                  <a:srgbClr val="23373A"/>
                </a:solidFill>
                <a:latin typeface="DejaVu Sans"/>
              </a:rPr>
              <a:t>El </a:t>
            </a:r>
            <a:r>
              <a:rPr sz="700" b="1">
                <a:solidFill>
                  <a:srgbClr val="1A4043"/>
                </a:solidFill>
                <a:latin typeface="DejaVu Sans"/>
              </a:rPr>
              <a:t>21.7%</a:t>
            </a:r>
            <a:r>
              <a:rPr sz="700" b="0">
                <a:solidFill>
                  <a:srgbClr val="23373A"/>
                </a:solidFill>
                <a:latin typeface="DejaVu Sans"/>
              </a:rPr>
              <a:t> del espectro radioeléctrico es asignado a la banda de </a:t>
            </a:r>
            <a:r>
              <a:rPr sz="700" b="1">
                <a:solidFill>
                  <a:srgbClr val="1A4043"/>
                </a:solidFill>
                <a:latin typeface="DejaVu Sans"/>
              </a:rPr>
              <a:t>2,500 MHz</a:t>
            </a:r>
            <a:r>
              <a:rPr sz="700" b="0">
                <a:solidFill>
                  <a:srgbClr val="23373A"/>
                </a:solidFill>
                <a:latin typeface="DejaVu Sans"/>
              </a:rPr>
              <a:t>.</a:t>
            </a:r>
          </a:p>
        </p:txBody>
      </p:sp>
      <p:sp>
        <p:nvSpPr>
          <p:cNvPr id="40" name="TextBox 39"/>
          <p:cNvSpPr txBox="1"/>
          <p:nvPr/>
        </p:nvSpPr>
        <p:spPr>
          <a:xfrm>
            <a:off x="4572000" y="548640"/>
            <a:ext cx="4297680" cy="182880"/>
          </a:xfrm>
          <a:prstGeom prst="rect">
            <a:avLst/>
          </a:prstGeom>
          <a:noFill/>
        </p:spPr>
        <p:txBody>
          <a:bodyPr wrap="square" anchor="ctr" lIns="0" rIns="0" tIns="0" bIns="0">
            <a:spAutoFit/>
          </a:bodyPr>
          <a:lstStyle/>
          <a:p>
            <a:r>
              <a:rPr sz="850" b="1">
                <a:solidFill>
                  <a:srgbClr val="1A4043"/>
                </a:solidFill>
                <a:latin typeface="DejaVu Sans"/>
              </a:rPr>
              <a:t>SERVICIOS MÓVILES DE TELECOMUNICACIONES</a:t>
            </a:r>
          </a:p>
        </p:txBody>
      </p:sp>
      <p:sp>
        <p:nvSpPr>
          <p:cNvPr id="41" name="Rectangle 40"/>
          <p:cNvSpPr/>
          <p:nvPr/>
        </p:nvSpPr>
        <p:spPr>
          <a:xfrm>
            <a:off x="457200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572000" y="83210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654296" y="89154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c_phone_w.png"/>
          <p:cNvPicPr>
            <a:picLocks noChangeAspect="1"/>
          </p:cNvPicPr>
          <p:nvPr/>
        </p:nvPicPr>
        <p:blipFill>
          <a:blip r:embed="rId6"/>
          <a:stretch>
            <a:fillRect/>
          </a:stretch>
        </p:blipFill>
        <p:spPr>
          <a:xfrm>
            <a:off x="4709159" y="946403"/>
            <a:ext cx="164592" cy="164592"/>
          </a:xfrm>
          <a:prstGeom prst="rect">
            <a:avLst/>
          </a:prstGeom>
        </p:spPr>
      </p:pic>
      <p:sp>
        <p:nvSpPr>
          <p:cNvPr id="45" name="TextBox 44"/>
          <p:cNvSpPr txBox="1"/>
          <p:nvPr/>
        </p:nvSpPr>
        <p:spPr>
          <a:xfrm>
            <a:off x="5029200" y="85953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diciembre de 2023, se tuvieron </a:t>
            </a:r>
            <a:r>
              <a:rPr sz="660" b="1">
                <a:solidFill>
                  <a:srgbClr val="1A4043"/>
                </a:solidFill>
                <a:latin typeface="DejaVu Sans"/>
              </a:rPr>
              <a:t>110 líneas</a:t>
            </a:r>
            <a:r>
              <a:rPr sz="660" b="0">
                <a:solidFill>
                  <a:srgbClr val="23373A"/>
                </a:solidFill>
                <a:latin typeface="DejaVu Sans"/>
              </a:rPr>
              <a:t> del servicio móvil de telefonía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46" name="Rounded Rectangle 45"/>
          <p:cNvSpPr/>
          <p:nvPr/>
        </p:nvSpPr>
        <p:spPr>
          <a:xfrm>
            <a:off x="4572000" y="1266443"/>
            <a:ext cx="4297680" cy="530352"/>
          </a:xfrm>
          <a:prstGeom prst="roundRect">
            <a:avLst>
              <a:gd name="adj" fmla="val 10344"/>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654296" y="13944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c_call_w.png"/>
          <p:cNvPicPr>
            <a:picLocks noChangeAspect="1"/>
          </p:cNvPicPr>
          <p:nvPr/>
        </p:nvPicPr>
        <p:blipFill>
          <a:blip r:embed="rId7"/>
          <a:stretch>
            <a:fillRect/>
          </a:stretch>
        </p:blipFill>
        <p:spPr>
          <a:xfrm>
            <a:off x="4709159" y="1449323"/>
            <a:ext cx="164592" cy="164592"/>
          </a:xfrm>
          <a:prstGeom prst="rect">
            <a:avLst/>
          </a:prstGeom>
        </p:spPr>
      </p:pic>
      <p:sp>
        <p:nvSpPr>
          <p:cNvPr id="49" name="TextBox 48"/>
          <p:cNvSpPr txBox="1"/>
          <p:nvPr/>
        </p:nvSpPr>
        <p:spPr>
          <a:xfrm>
            <a:off x="5029200" y="1293875"/>
            <a:ext cx="3749040" cy="47548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2023, el </a:t>
            </a:r>
            <a:r>
              <a:rPr sz="660" b="1">
                <a:solidFill>
                  <a:srgbClr val="1A4043"/>
                </a:solidFill>
                <a:latin typeface="DejaVu Sans"/>
              </a:rPr>
              <a:t>29.6%</a:t>
            </a:r>
            <a:r>
              <a:rPr sz="660" b="0">
                <a:solidFill>
                  <a:srgbClr val="23373A"/>
                </a:solidFill>
                <a:latin typeface="DejaVu Sans"/>
              </a:rPr>
              <a:t> de las MiPymes contrató el servicio de telefonía móvil y el </a:t>
            </a:r>
            <a:r>
              <a:rPr sz="660" b="1">
                <a:solidFill>
                  <a:srgbClr val="1A4043"/>
                </a:solidFill>
                <a:latin typeface="DejaVu Sans"/>
              </a:rPr>
              <a:t>19.6%</a:t>
            </a:r>
            <a:r>
              <a:rPr sz="660" b="0">
                <a:solidFill>
                  <a:srgbClr val="23373A"/>
                </a:solidFill>
                <a:latin typeface="DejaVu Sans"/>
              </a:rPr>
              <a:t> contrató conexión a Internet por datos móviles (telefonía móvil). Ambos servicios les permiten tener diferentes beneficios para sus negocios.</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p:txBody>
      </p:sp>
      <p:sp>
        <p:nvSpPr>
          <p:cNvPr id="50" name="Rounded Rectangle 49"/>
          <p:cNvSpPr/>
          <p:nvPr/>
        </p:nvSpPr>
        <p:spPr>
          <a:xfrm>
            <a:off x="4572000" y="183794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654296" y="1897379"/>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c_pin_w.png"/>
          <p:cNvPicPr>
            <a:picLocks noChangeAspect="1"/>
          </p:cNvPicPr>
          <p:nvPr/>
        </p:nvPicPr>
        <p:blipFill>
          <a:blip r:embed="rId8"/>
          <a:stretch>
            <a:fillRect/>
          </a:stretch>
        </p:blipFill>
        <p:spPr>
          <a:xfrm>
            <a:off x="4709159" y="1952243"/>
            <a:ext cx="164592" cy="164592"/>
          </a:xfrm>
          <a:prstGeom prst="rect">
            <a:avLst/>
          </a:prstGeom>
        </p:spPr>
      </p:pic>
      <p:sp>
        <p:nvSpPr>
          <p:cNvPr id="53" name="TextBox 52"/>
          <p:cNvSpPr txBox="1"/>
          <p:nvPr/>
        </p:nvSpPr>
        <p:spPr>
          <a:xfrm>
            <a:off x="5029200" y="186537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La Ciudad de México fue la entidad federativa con el </a:t>
            </a:r>
            <a:r>
              <a:rPr sz="660" b="1">
                <a:solidFill>
                  <a:srgbClr val="1A4043"/>
                </a:solidFill>
                <a:latin typeface="DejaVu Sans"/>
              </a:rPr>
              <a:t>mayor número de líneas del servicio móvil</a:t>
            </a:r>
            <a:r>
              <a:rPr sz="660" b="0">
                <a:solidFill>
                  <a:srgbClr val="23373A"/>
                </a:solidFill>
                <a:latin typeface="DejaVu Sans"/>
              </a:rPr>
              <a:t> de telefonía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54" name="Rounded Rectangle 53"/>
          <p:cNvSpPr/>
          <p:nvPr/>
        </p:nvSpPr>
        <p:spPr>
          <a:xfrm>
            <a:off x="4572000" y="227228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654296" y="233172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c_wifi_w.png"/>
          <p:cNvPicPr>
            <a:picLocks noChangeAspect="1"/>
          </p:cNvPicPr>
          <p:nvPr/>
        </p:nvPicPr>
        <p:blipFill>
          <a:blip r:embed="rId9"/>
          <a:stretch>
            <a:fillRect/>
          </a:stretch>
        </p:blipFill>
        <p:spPr>
          <a:xfrm>
            <a:off x="4709159" y="2386584"/>
            <a:ext cx="164592" cy="164592"/>
          </a:xfrm>
          <a:prstGeom prst="rect">
            <a:avLst/>
          </a:prstGeom>
        </p:spPr>
      </p:pic>
      <p:sp>
        <p:nvSpPr>
          <p:cNvPr id="57" name="TextBox 56"/>
          <p:cNvSpPr txBox="1"/>
          <p:nvPr/>
        </p:nvSpPr>
        <p:spPr>
          <a:xfrm>
            <a:off x="5029200" y="229971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el servicio móvil de acceso a Internet se tuvieron </a:t>
            </a:r>
            <a:r>
              <a:rPr sz="660" b="1">
                <a:solidFill>
                  <a:srgbClr val="1A4043"/>
                </a:solidFill>
                <a:latin typeface="DejaVu Sans"/>
              </a:rPr>
              <a:t>96 líneas</a:t>
            </a:r>
            <a:r>
              <a:rPr sz="660" b="0">
                <a:solidFill>
                  <a:srgbClr val="23373A"/>
                </a:solidFill>
                <a:latin typeface="DejaVu Sans"/>
              </a:rPr>
              <a:t>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58" name="Rounded Rectangle 57"/>
          <p:cNvSpPr/>
          <p:nvPr/>
        </p:nvSpPr>
        <p:spPr>
          <a:xfrm>
            <a:off x="4572000" y="270662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654296" y="27660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ic_pin_w.png"/>
          <p:cNvPicPr>
            <a:picLocks noChangeAspect="1"/>
          </p:cNvPicPr>
          <p:nvPr/>
        </p:nvPicPr>
        <p:blipFill>
          <a:blip r:embed="rId8"/>
          <a:stretch>
            <a:fillRect/>
          </a:stretch>
        </p:blipFill>
        <p:spPr>
          <a:xfrm>
            <a:off x="4709159" y="2820924"/>
            <a:ext cx="164592" cy="164592"/>
          </a:xfrm>
          <a:prstGeom prst="rect">
            <a:avLst/>
          </a:prstGeom>
        </p:spPr>
      </p:pic>
      <p:sp>
        <p:nvSpPr>
          <p:cNvPr id="61" name="TextBox 60"/>
          <p:cNvSpPr txBox="1"/>
          <p:nvPr/>
        </p:nvSpPr>
        <p:spPr>
          <a:xfrm>
            <a:off x="5029200" y="273405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Chiapas fue la entidad federativa con el </a:t>
            </a:r>
            <a:r>
              <a:rPr sz="660" b="1">
                <a:solidFill>
                  <a:srgbClr val="1A4043"/>
                </a:solidFill>
                <a:latin typeface="DejaVu Sans"/>
              </a:rPr>
              <a:t>menor número de líneas del servicio móvil</a:t>
            </a:r>
            <a:r>
              <a:rPr sz="660" b="0">
                <a:solidFill>
                  <a:srgbClr val="23373A"/>
                </a:solidFill>
                <a:latin typeface="DejaVu Sans"/>
              </a:rPr>
              <a:t> de acceso a Internet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62" name="Rounded Rectangle 61"/>
          <p:cNvSpPr/>
          <p:nvPr/>
        </p:nvSpPr>
        <p:spPr>
          <a:xfrm>
            <a:off x="4572000" y="3140964"/>
            <a:ext cx="4297680" cy="548640"/>
          </a:xfrm>
          <a:prstGeom prst="roundRect">
            <a:avLst>
              <a:gd name="adj" fmla="val 10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654296" y="3278124"/>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ic_app_w.png"/>
          <p:cNvPicPr>
            <a:picLocks noChangeAspect="1"/>
          </p:cNvPicPr>
          <p:nvPr/>
        </p:nvPicPr>
        <p:blipFill>
          <a:blip r:embed="rId10"/>
          <a:stretch>
            <a:fillRect/>
          </a:stretch>
        </p:blipFill>
        <p:spPr>
          <a:xfrm>
            <a:off x="4709159" y="3332988"/>
            <a:ext cx="164592" cy="164592"/>
          </a:xfrm>
          <a:prstGeom prst="rect">
            <a:avLst/>
          </a:prstGeom>
        </p:spPr>
      </p:pic>
      <p:sp>
        <p:nvSpPr>
          <p:cNvPr id="65" name="TextBox 64"/>
          <p:cNvSpPr txBox="1"/>
          <p:nvPr/>
        </p:nvSpPr>
        <p:spPr>
          <a:xfrm>
            <a:off x="5029200" y="3168396"/>
            <a:ext cx="3749040" cy="493776"/>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El </a:t>
            </a:r>
            <a:r>
              <a:rPr sz="660" b="1">
                <a:solidFill>
                  <a:srgbClr val="1A4043"/>
                </a:solidFill>
                <a:latin typeface="DejaVu Sans"/>
              </a:rPr>
              <a:t>62.7%</a:t>
            </a:r>
            <a:r>
              <a:rPr sz="660" b="0">
                <a:solidFill>
                  <a:srgbClr val="23373A"/>
                </a:solidFill>
                <a:latin typeface="DejaVu Sans"/>
              </a:rPr>
              <a:t> de las MiPymes señaló que contar con una aplicación móvil para su empresa o negocio tiene como beneficio que el contacto con los clientes es más rápido.</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a:p>
            <a:pPr>
              <a:spcBef>
                <a:spcPts val="0"/>
              </a:spcBef>
            </a:pPr>
            <a:r>
              <a:rPr sz="450" b="0">
                <a:solidFill>
                  <a:srgbClr val="5F7476"/>
                </a:solidFill>
                <a:latin typeface="DejaVu Sans"/>
              </a:rPr>
              <a:t>Nota: Indicadores medidos en una escala de 0 a 100.</a:t>
            </a:r>
          </a:p>
        </p:txBody>
      </p:sp>
      <p:sp>
        <p:nvSpPr>
          <p:cNvPr id="66" name="TextBox 65"/>
          <p:cNvSpPr txBox="1"/>
          <p:nvPr/>
        </p:nvSpPr>
        <p:spPr>
          <a:xfrm>
            <a:off x="274320" y="3886200"/>
            <a:ext cx="5486400" cy="182880"/>
          </a:xfrm>
          <a:prstGeom prst="rect">
            <a:avLst/>
          </a:prstGeom>
          <a:noFill/>
        </p:spPr>
        <p:txBody>
          <a:bodyPr wrap="square" anchor="ctr" lIns="0" rIns="0" tIns="0" bIns="0">
            <a:spAutoFit/>
          </a:bodyPr>
          <a:lstStyle/>
          <a:p>
            <a:r>
              <a:rPr sz="850" b="1">
                <a:solidFill>
                  <a:srgbClr val="1A4043"/>
                </a:solidFill>
                <a:latin typeface="DejaVu Sans"/>
              </a:rPr>
              <a:t>CONSUMO DE RADIO Y TELEVISIÓN</a:t>
            </a:r>
          </a:p>
        </p:txBody>
      </p:sp>
      <p:sp>
        <p:nvSpPr>
          <p:cNvPr id="67" name="Rectangle 66"/>
          <p:cNvSpPr/>
          <p:nvPr/>
        </p:nvSpPr>
        <p:spPr>
          <a:xfrm>
            <a:off x="274320" y="407365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274320" y="4169663"/>
            <a:ext cx="416052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7432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02336" y="4224527"/>
            <a:ext cx="2468879"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Escucharon la radio</a:t>
            </a:r>
          </a:p>
          <a:p>
            <a:pPr>
              <a:lnSpc>
                <a:spcPct val="103000"/>
              </a:lnSpc>
            </a:pPr>
            <a:r>
              <a:rPr sz="660" b="0">
                <a:solidFill>
                  <a:srgbClr val="23373A"/>
                </a:solidFill>
                <a:latin typeface="DejaVu Sans"/>
              </a:rPr>
              <a:t>La proporción de personas que escucharon la radio alcanzó su máximo entre las </a:t>
            </a:r>
            <a:r>
              <a:rPr sz="660" b="1">
                <a:solidFill>
                  <a:srgbClr val="1A4043"/>
                </a:solidFill>
                <a:latin typeface="DejaVu Sans"/>
              </a:rPr>
              <a:t>9 y 10 de la mañana</a:t>
            </a:r>
            <a:r>
              <a:rPr sz="660" b="0">
                <a:solidFill>
                  <a:srgbClr val="23373A"/>
                </a:solidFill>
                <a:latin typeface="DejaVu Sans"/>
              </a:rPr>
              <a:t>.</a:t>
            </a:r>
          </a:p>
        </p:txBody>
      </p:sp>
      <p:sp>
        <p:nvSpPr>
          <p:cNvPr id="71" name="Oval 70"/>
          <p:cNvSpPr/>
          <p:nvPr/>
        </p:nvSpPr>
        <p:spPr>
          <a:xfrm>
            <a:off x="300837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ic_user_w.png"/>
          <p:cNvPicPr>
            <a:picLocks noChangeAspect="1"/>
          </p:cNvPicPr>
          <p:nvPr/>
        </p:nvPicPr>
        <p:blipFill>
          <a:blip r:embed="rId11"/>
          <a:stretch>
            <a:fillRect/>
          </a:stretch>
        </p:blipFill>
        <p:spPr>
          <a:xfrm>
            <a:off x="3040379" y="4256531"/>
            <a:ext cx="118872" cy="118872"/>
          </a:xfrm>
          <a:prstGeom prst="rect">
            <a:avLst/>
          </a:prstGeom>
        </p:spPr>
      </p:pic>
      <p:sp>
        <p:nvSpPr>
          <p:cNvPr id="73" name="TextBox 72"/>
          <p:cNvSpPr txBox="1"/>
          <p:nvPr/>
        </p:nvSpPr>
        <p:spPr>
          <a:xfrm>
            <a:off x="321868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74" name="TextBox 73"/>
          <p:cNvSpPr txBox="1"/>
          <p:nvPr/>
        </p:nvSpPr>
        <p:spPr>
          <a:xfrm>
            <a:off x="295351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8.5%</a:t>
            </a:r>
          </a:p>
        </p:txBody>
      </p:sp>
      <p:sp>
        <p:nvSpPr>
          <p:cNvPr id="75" name="Oval 74"/>
          <p:cNvSpPr/>
          <p:nvPr/>
        </p:nvSpPr>
        <p:spPr>
          <a:xfrm>
            <a:off x="3739895"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c_user_w.png"/>
          <p:cNvPicPr>
            <a:picLocks noChangeAspect="1"/>
          </p:cNvPicPr>
          <p:nvPr/>
        </p:nvPicPr>
        <p:blipFill>
          <a:blip r:embed="rId11"/>
          <a:stretch>
            <a:fillRect/>
          </a:stretch>
        </p:blipFill>
        <p:spPr>
          <a:xfrm>
            <a:off x="3771899" y="4256531"/>
            <a:ext cx="118872" cy="118872"/>
          </a:xfrm>
          <a:prstGeom prst="rect">
            <a:avLst/>
          </a:prstGeom>
        </p:spPr>
      </p:pic>
      <p:sp>
        <p:nvSpPr>
          <p:cNvPr id="77" name="TextBox 76"/>
          <p:cNvSpPr txBox="1"/>
          <p:nvPr/>
        </p:nvSpPr>
        <p:spPr>
          <a:xfrm>
            <a:off x="395020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78" name="TextBox 77"/>
          <p:cNvSpPr txBox="1"/>
          <p:nvPr/>
        </p:nvSpPr>
        <p:spPr>
          <a:xfrm>
            <a:off x="368503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11.09%</a:t>
            </a:r>
          </a:p>
        </p:txBody>
      </p:sp>
      <p:sp>
        <p:nvSpPr>
          <p:cNvPr id="79" name="Rounded Rectangle 78"/>
          <p:cNvSpPr/>
          <p:nvPr/>
        </p:nvSpPr>
        <p:spPr>
          <a:xfrm>
            <a:off x="4572000" y="4169663"/>
            <a:ext cx="429768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57200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700016" y="4224527"/>
            <a:ext cx="2606040"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Vieron la televisión</a:t>
            </a:r>
          </a:p>
          <a:p>
            <a:pPr>
              <a:lnSpc>
                <a:spcPct val="103000"/>
              </a:lnSpc>
            </a:pPr>
            <a:r>
              <a:rPr sz="660" b="0">
                <a:solidFill>
                  <a:srgbClr val="23373A"/>
                </a:solidFill>
                <a:latin typeface="DejaVu Sans"/>
              </a:rPr>
              <a:t>Por su parte, el mayor porcentaje de personas viendo la televisión se alcanzó entre las </a:t>
            </a:r>
            <a:r>
              <a:rPr sz="660" b="1">
                <a:solidFill>
                  <a:srgbClr val="1A4043"/>
                </a:solidFill>
                <a:latin typeface="DejaVu Sans"/>
              </a:rPr>
              <a:t>9 y 10 de la noche</a:t>
            </a:r>
            <a:r>
              <a:rPr sz="660" b="0">
                <a:solidFill>
                  <a:srgbClr val="23373A"/>
                </a:solidFill>
                <a:latin typeface="DejaVu Sans"/>
              </a:rPr>
              <a:t>.</a:t>
            </a:r>
          </a:p>
        </p:txBody>
      </p:sp>
      <p:sp>
        <p:nvSpPr>
          <p:cNvPr id="82" name="Oval 81"/>
          <p:cNvSpPr/>
          <p:nvPr/>
        </p:nvSpPr>
        <p:spPr>
          <a:xfrm>
            <a:off x="744321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ic_user_w.png"/>
          <p:cNvPicPr>
            <a:picLocks noChangeAspect="1"/>
          </p:cNvPicPr>
          <p:nvPr/>
        </p:nvPicPr>
        <p:blipFill>
          <a:blip r:embed="rId11"/>
          <a:stretch>
            <a:fillRect/>
          </a:stretch>
        </p:blipFill>
        <p:spPr>
          <a:xfrm>
            <a:off x="7475219" y="4256531"/>
            <a:ext cx="118872" cy="118872"/>
          </a:xfrm>
          <a:prstGeom prst="rect">
            <a:avLst/>
          </a:prstGeom>
        </p:spPr>
      </p:pic>
      <p:sp>
        <p:nvSpPr>
          <p:cNvPr id="84" name="TextBox 83"/>
          <p:cNvSpPr txBox="1"/>
          <p:nvPr/>
        </p:nvSpPr>
        <p:spPr>
          <a:xfrm>
            <a:off x="765352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85" name="TextBox 84"/>
          <p:cNvSpPr txBox="1"/>
          <p:nvPr/>
        </p:nvSpPr>
        <p:spPr>
          <a:xfrm>
            <a:off x="738835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16.46%</a:t>
            </a:r>
          </a:p>
        </p:txBody>
      </p:sp>
      <p:sp>
        <p:nvSpPr>
          <p:cNvPr id="86" name="Oval 85"/>
          <p:cNvSpPr/>
          <p:nvPr/>
        </p:nvSpPr>
        <p:spPr>
          <a:xfrm>
            <a:off x="8174736"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ic_user_w.png"/>
          <p:cNvPicPr>
            <a:picLocks noChangeAspect="1"/>
          </p:cNvPicPr>
          <p:nvPr/>
        </p:nvPicPr>
        <p:blipFill>
          <a:blip r:embed="rId11"/>
          <a:stretch>
            <a:fillRect/>
          </a:stretch>
        </p:blipFill>
        <p:spPr>
          <a:xfrm>
            <a:off x="8206740" y="4256531"/>
            <a:ext cx="118872" cy="118872"/>
          </a:xfrm>
          <a:prstGeom prst="rect">
            <a:avLst/>
          </a:prstGeom>
        </p:spPr>
      </p:pic>
      <p:sp>
        <p:nvSpPr>
          <p:cNvPr id="88" name="TextBox 87"/>
          <p:cNvSpPr txBox="1"/>
          <p:nvPr/>
        </p:nvSpPr>
        <p:spPr>
          <a:xfrm>
            <a:off x="838504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89" name="TextBox 88"/>
          <p:cNvSpPr txBox="1"/>
          <p:nvPr/>
        </p:nvSpPr>
        <p:spPr>
          <a:xfrm>
            <a:off x="811987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14.95%</a:t>
            </a:r>
          </a:p>
        </p:txBody>
      </p:sp>
      <p:sp>
        <p:nvSpPr>
          <p:cNvPr id="90" name="TextBox 89"/>
          <p:cNvSpPr txBox="1"/>
          <p:nvPr/>
        </p:nvSpPr>
        <p:spPr>
          <a:xfrm>
            <a:off x="274320" y="4773168"/>
            <a:ext cx="8595360" cy="128016"/>
          </a:xfrm>
          <a:prstGeom prst="rect">
            <a:avLst/>
          </a:prstGeom>
          <a:noFill/>
        </p:spPr>
        <p:txBody>
          <a:bodyPr wrap="square" anchor="t" lIns="0" rIns="0" tIns="0" bIns="0">
            <a:spAutoFit/>
          </a:bodyPr>
          <a:lstStyle/>
          <a:p>
            <a:pPr>
              <a:spcBef>
                <a:spcPts val="150"/>
              </a:spcBef>
            </a:pPr>
            <a:r>
              <a:rPr sz="459" b="0">
                <a:solidFill>
                  <a:srgbClr val="5F7476"/>
                </a:solidFill>
                <a:latin typeface="DejaVu Sans"/>
              </a:rPr>
              <a:t>Fuente: El consumo de radio se obtuvo de la base de datos de INRA a través de software INRAM. El consumo de televisión se obtuvo de la base de datos de Audiencias-Ratings TV de Nielsen IBOPE, software de explotación MSS TV. Datos de julio 2023 a junio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a:t>
            </a:r>
          </a:p>
        </p:txBody>
      </p:sp>
      <p:sp>
        <p:nvSpPr>
          <p:cNvPr id="227" name="ANUARIO_REFERENCIA_2024_P10_L001"/>
          <p:cNvSpPr txBox="1"/>
          <p:nvPr/>
        </p:nvSpPr>
        <p:spPr>
          <a:xfrm>
            <a:off x="1000353" y="617172"/>
            <a:ext cx="252797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FIJOS DE TELECOMUNICACIONES</a:t>
            </a:r>
          </a:p>
        </p:txBody>
      </p:sp>
      <p:sp>
        <p:nvSpPr>
          <p:cNvPr id="228" name="ANUARIO_REFERENCIA_2024_P10_L002"/>
          <p:cNvSpPr txBox="1"/>
          <p:nvPr/>
        </p:nvSpPr>
        <p:spPr>
          <a:xfrm>
            <a:off x="1347900" y="4061473"/>
            <a:ext cx="1988175"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DE RADIODIFUSIÓN</a:t>
            </a:r>
          </a:p>
        </p:txBody>
      </p:sp>
      <p:sp>
        <p:nvSpPr>
          <p:cNvPr id="229" name="ANUARIO_REFERENCIA_2024_P10_L003"/>
          <p:cNvSpPr txBox="1"/>
          <p:nvPr/>
        </p:nvSpPr>
        <p:spPr>
          <a:xfrm>
            <a:off x="5184893" y="617172"/>
            <a:ext cx="260450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CON PERSPECTIVA DE GÉNERO</a:t>
            </a:r>
          </a:p>
        </p:txBody>
      </p:sp>
      <p:sp>
        <p:nvSpPr>
          <p:cNvPr id="230" name="ANUARIO_REFERENCIA_2024_P10_L004"/>
          <p:cNvSpPr txBox="1"/>
          <p:nvPr/>
        </p:nvSpPr>
        <p:spPr>
          <a:xfrm>
            <a:off x="4735245" y="2367524"/>
            <a:ext cx="254013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USO, CONOCIMIENTO Y PERCEPCIÓN DE LA</a:t>
            </a:r>
          </a:p>
        </p:txBody>
      </p:sp>
      <p:sp>
        <p:nvSpPr>
          <p:cNvPr id="231" name="ANUARIO_REFERENCIA_2024_P10_L005"/>
          <p:cNvSpPr txBox="1"/>
          <p:nvPr/>
        </p:nvSpPr>
        <p:spPr>
          <a:xfrm>
            <a:off x="4735245" y="2490586"/>
            <a:ext cx="240899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INTELIGENCIA ARTIFICIAL (IA) Y CHATGPT</a:t>
            </a:r>
          </a:p>
        </p:txBody>
      </p:sp>
      <p:sp>
        <p:nvSpPr>
          <p:cNvPr id="232" name="ANUARIO_REFERENCIA_2024_P10_L006"/>
          <p:cNvSpPr txBox="1"/>
          <p:nvPr/>
        </p:nvSpPr>
        <p:spPr>
          <a:xfrm>
            <a:off x="5262901" y="825016"/>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las mujeres superaron por primera vez a los hombres en el porcentaje uso de Internet. </a:t>
            </a:r>
          </a:p>
        </p:txBody>
      </p:sp>
      <p:sp>
        <p:nvSpPr>
          <p:cNvPr id="233" name="ANUARIO_REFERENCIA_2024_P10_L007"/>
          <p:cNvSpPr txBox="1"/>
          <p:nvPr/>
        </p:nvSpPr>
        <p:spPr>
          <a:xfrm>
            <a:off x="5195296" y="917333"/>
            <a:ext cx="353722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diferencia fue de 0.4 puntos porcentuales, con 81.4% de mujeres conectadas, mientras que los </a:t>
            </a:r>
          </a:p>
        </p:txBody>
      </p:sp>
      <p:sp>
        <p:nvSpPr>
          <p:cNvPr id="234" name="ANUARIO_REFERENCIA_2024_P10_L008"/>
          <p:cNvSpPr txBox="1"/>
          <p:nvPr/>
        </p:nvSpPr>
        <p:spPr>
          <a:xfrm>
            <a:off x="5195296" y="1009651"/>
            <a:ext cx="118361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hombres alcanzaron un 81.0%.</a:t>
            </a:r>
          </a:p>
        </p:txBody>
      </p:sp>
      <p:sp>
        <p:nvSpPr>
          <p:cNvPr id="235" name="ANUARIO_REFERENCIA_2024_P10_L009"/>
          <p:cNvSpPr txBox="1"/>
          <p:nvPr/>
        </p:nvSpPr>
        <p:spPr>
          <a:xfrm>
            <a:off x="5195285" y="1118607"/>
            <a:ext cx="16795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Fuente: IFT con datos de la ENDUTIH 2023, del INEGI. </a:t>
            </a:r>
          </a:p>
        </p:txBody>
      </p:sp>
      <p:sp>
        <p:nvSpPr>
          <p:cNvPr id="236" name="ANUARIO_REFERENCIA_2024_P10_L010"/>
          <p:cNvSpPr txBox="1"/>
          <p:nvPr/>
        </p:nvSpPr>
        <p:spPr>
          <a:xfrm>
            <a:off x="1152649" y="1359512"/>
            <a:ext cx="332303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Querétaro fue la entidad federativa con el mayor número de accesos residenciales de </a:t>
            </a:r>
          </a:p>
        </p:txBody>
      </p:sp>
      <p:sp>
        <p:nvSpPr>
          <p:cNvPr id="237" name="ANUARIO_REFERENCIA_2024_P10_L011"/>
          <p:cNvSpPr txBox="1"/>
          <p:nvPr/>
        </p:nvSpPr>
        <p:spPr>
          <a:xfrm>
            <a:off x="1085044" y="1441225"/>
            <a:ext cx="1911049"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televisión restringida por cada 100 hogares con </a:t>
            </a:r>
            <a:r>
              <a:rPr sz="688" b="1" i="0">
                <a:solidFill>
                  <a:srgbClr val="1C2829"/>
                </a:solidFill>
                <a:latin typeface="Noto Sans"/>
              </a:rPr>
              <a:t>94</a:t>
            </a:r>
            <a:r>
              <a:rPr sz="602" b="0" i="0">
                <a:solidFill>
                  <a:srgbClr val="1C2829"/>
                </a:solidFill>
                <a:latin typeface="Noto Sans"/>
              </a:rPr>
              <a:t>.</a:t>
            </a:r>
          </a:p>
        </p:txBody>
      </p:sp>
      <p:sp>
        <p:nvSpPr>
          <p:cNvPr id="238" name="ANUARIO_REFERENCIA_2024_P10_L012"/>
          <p:cNvSpPr txBox="1"/>
          <p:nvPr/>
        </p:nvSpPr>
        <p:spPr>
          <a:xfrm>
            <a:off x="1085033" y="1560752"/>
            <a:ext cx="3385309"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población por entidad federativa del INEGI </a:t>
            </a:r>
          </a:p>
        </p:txBody>
      </p:sp>
      <p:sp>
        <p:nvSpPr>
          <p:cNvPr id="239" name="ANUARIO_REFERENCIA_2024_P10_L013"/>
          <p:cNvSpPr txBox="1"/>
          <p:nvPr/>
        </p:nvSpPr>
        <p:spPr>
          <a:xfrm>
            <a:off x="1085033" y="1622283"/>
            <a:ext cx="591968"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y la ENDUTIH 2023.</a:t>
            </a:r>
          </a:p>
        </p:txBody>
      </p:sp>
      <p:sp>
        <p:nvSpPr>
          <p:cNvPr id="240" name="ANUARIO_REFERENCIA_2024_P10_L014"/>
          <p:cNvSpPr txBox="1"/>
          <p:nvPr/>
        </p:nvSpPr>
        <p:spPr>
          <a:xfrm>
            <a:off x="1152649" y="1021507"/>
            <a:ext cx="332240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año 2000, se tenían 14 accesos del servicio por cada 100 hogares. Para diciembre de </a:t>
            </a:r>
          </a:p>
        </p:txBody>
      </p:sp>
      <p:sp>
        <p:nvSpPr>
          <p:cNvPr id="241" name="ANUARIO_REFERENCIA_2024_P10_L015"/>
          <p:cNvSpPr txBox="1"/>
          <p:nvPr/>
        </p:nvSpPr>
        <p:spPr>
          <a:xfrm>
            <a:off x="1085044" y="1103220"/>
            <a:ext cx="169231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son </a:t>
            </a:r>
            <a:r>
              <a:rPr sz="688" b="1" i="0">
                <a:solidFill>
                  <a:srgbClr val="1C2829"/>
                </a:solidFill>
                <a:latin typeface="Noto Sans"/>
              </a:rPr>
              <a:t>61 los accesos</a:t>
            </a:r>
            <a:r>
              <a:rPr sz="602" b="0" i="0">
                <a:solidFill>
                  <a:srgbClr val="1C2829"/>
                </a:solidFill>
                <a:latin typeface="Noto Sans"/>
              </a:rPr>
              <a:t> para este servicio. </a:t>
            </a:r>
          </a:p>
        </p:txBody>
      </p:sp>
      <p:sp>
        <p:nvSpPr>
          <p:cNvPr id="242" name="ANUARIO_REFERENCIA_2024_P10_L016"/>
          <p:cNvSpPr txBox="1"/>
          <p:nvPr/>
        </p:nvSpPr>
        <p:spPr>
          <a:xfrm>
            <a:off x="1085033" y="1238134"/>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43" name="ANUARIO_REFERENCIA_2024_P10_L017"/>
          <p:cNvSpPr txBox="1"/>
          <p:nvPr/>
        </p:nvSpPr>
        <p:spPr>
          <a:xfrm>
            <a:off x="1085033" y="879953"/>
            <a:ext cx="98469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Televisión restringida</a:t>
            </a:r>
          </a:p>
        </p:txBody>
      </p:sp>
      <p:sp>
        <p:nvSpPr>
          <p:cNvPr id="244" name="ANUARIO_REFERENCIA_2024_P10_L018"/>
          <p:cNvSpPr txBox="1"/>
          <p:nvPr/>
        </p:nvSpPr>
        <p:spPr>
          <a:xfrm>
            <a:off x="1152649" y="2249708"/>
            <a:ext cx="226914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89.4%</a:t>
            </a:r>
            <a:r>
              <a:rPr sz="602" b="0" i="0">
                <a:solidFill>
                  <a:srgbClr val="1C2829"/>
                </a:solidFill>
                <a:latin typeface="Noto Sans"/>
              </a:rPr>
              <a:t> de las MiPymes contrata el servicio de Internet fijo.</a:t>
            </a:r>
          </a:p>
        </p:txBody>
      </p:sp>
      <p:sp>
        <p:nvSpPr>
          <p:cNvPr id="245" name="ANUARIO_REFERENCIA_2024_P10_L019"/>
          <p:cNvSpPr txBox="1"/>
          <p:nvPr/>
        </p:nvSpPr>
        <p:spPr>
          <a:xfrm>
            <a:off x="1085044" y="2373068"/>
            <a:ext cx="33900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Consideran que el contar con el servicio trae como beneficios tener más cercanía con sus </a:t>
            </a:r>
          </a:p>
        </p:txBody>
      </p:sp>
      <p:sp>
        <p:nvSpPr>
          <p:cNvPr id="246" name="ANUARIO_REFERENCIA_2024_P10_L020"/>
          <p:cNvSpPr txBox="1"/>
          <p:nvPr/>
        </p:nvSpPr>
        <p:spPr>
          <a:xfrm>
            <a:off x="1085044" y="2460216"/>
            <a:ext cx="87792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clientes y más ventas. </a:t>
            </a:r>
          </a:p>
        </p:txBody>
      </p:sp>
      <p:sp>
        <p:nvSpPr>
          <p:cNvPr id="247" name="ANUARIO_REFERENCIA_2024_P10_L021"/>
          <p:cNvSpPr txBox="1"/>
          <p:nvPr/>
        </p:nvSpPr>
        <p:spPr>
          <a:xfrm>
            <a:off x="1085033" y="2567200"/>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48" name="ANUARIO_REFERENCIA_2024_P10_L022"/>
          <p:cNvSpPr txBox="1"/>
          <p:nvPr/>
        </p:nvSpPr>
        <p:spPr>
          <a:xfrm>
            <a:off x="1085033" y="2628731"/>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49" name="ANUARIO_REFERENCIA_2024_P10_L023"/>
          <p:cNvSpPr txBox="1"/>
          <p:nvPr/>
        </p:nvSpPr>
        <p:spPr>
          <a:xfrm>
            <a:off x="1085033" y="2690262"/>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0" name="ANUARIO_REFERENCIA_2024_P10_L024"/>
          <p:cNvSpPr txBox="1"/>
          <p:nvPr/>
        </p:nvSpPr>
        <p:spPr>
          <a:xfrm>
            <a:off x="1152649" y="2014644"/>
            <a:ext cx="251884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65.0%</a:t>
            </a:r>
            <a:r>
              <a:rPr sz="602" b="0" i="0">
                <a:solidFill>
                  <a:srgbClr val="1C2829"/>
                </a:solidFill>
                <a:latin typeface="Noto Sans"/>
              </a:rPr>
              <a:t> de los accesos del servicio se dieron a través de fibra óptica. </a:t>
            </a:r>
          </a:p>
        </p:txBody>
      </p:sp>
      <p:sp>
        <p:nvSpPr>
          <p:cNvPr id="251" name="ANUARIO_REFERENCIA_2024_P10_L025"/>
          <p:cNvSpPr txBox="1"/>
          <p:nvPr/>
        </p:nvSpPr>
        <p:spPr>
          <a:xfrm>
            <a:off x="1085033" y="2126243"/>
            <a:ext cx="1643455"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a diciembre de 2023.</a:t>
            </a:r>
          </a:p>
        </p:txBody>
      </p:sp>
      <p:sp>
        <p:nvSpPr>
          <p:cNvPr id="252" name="ANUARIO_REFERENCIA_2024_P10_L026"/>
          <p:cNvSpPr txBox="1"/>
          <p:nvPr/>
        </p:nvSpPr>
        <p:spPr>
          <a:xfrm>
            <a:off x="1085033" y="1881269"/>
            <a:ext cx="59468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Internet fijo</a:t>
            </a:r>
          </a:p>
        </p:txBody>
      </p:sp>
      <p:sp>
        <p:nvSpPr>
          <p:cNvPr id="253" name="ANUARIO_REFERENCIA_2024_P10_L027"/>
          <p:cNvSpPr txBox="1"/>
          <p:nvPr/>
        </p:nvSpPr>
        <p:spPr>
          <a:xfrm>
            <a:off x="1152649" y="3413741"/>
            <a:ext cx="33223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Índice General de Satisfacción del servicio de Internet fijo para empresas medianas se </a:t>
            </a:r>
          </a:p>
        </p:txBody>
      </p:sp>
      <p:sp>
        <p:nvSpPr>
          <p:cNvPr id="254" name="ANUARIO_REFERENCIA_2024_P10_L028"/>
          <p:cNvSpPr txBox="1"/>
          <p:nvPr/>
        </p:nvSpPr>
        <p:spPr>
          <a:xfrm>
            <a:off x="1085044" y="3490326"/>
            <a:ext cx="339040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ubicó en 2023 con 79.2 puntos; lo que representa un crecimiento del </a:t>
            </a:r>
            <a:r>
              <a:rPr sz="688" b="1" i="0">
                <a:solidFill>
                  <a:srgbClr val="1C2829"/>
                </a:solidFill>
                <a:latin typeface="Noto Sans"/>
              </a:rPr>
              <a:t>7.2%</a:t>
            </a:r>
            <a:r>
              <a:rPr sz="602" b="0" i="0">
                <a:solidFill>
                  <a:srgbClr val="1C2829"/>
                </a:solidFill>
                <a:latin typeface="Noto Sans"/>
              </a:rPr>
              <a:t> respecto a 2022. </a:t>
            </a:r>
          </a:p>
        </p:txBody>
      </p:sp>
      <p:sp>
        <p:nvSpPr>
          <p:cNvPr id="255" name="ANUARIO_REFERENCIA_2024_P10_L029"/>
          <p:cNvSpPr txBox="1"/>
          <p:nvPr/>
        </p:nvSpPr>
        <p:spPr>
          <a:xfrm>
            <a:off x="1085016" y="3588058"/>
            <a:ext cx="27286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Esto indica que quienes lo contratan están más satisfechos con el servicio.</a:t>
            </a:r>
          </a:p>
        </p:txBody>
      </p:sp>
      <p:sp>
        <p:nvSpPr>
          <p:cNvPr id="256" name="ANUARIO_REFERENCIA_2024_P10_L030"/>
          <p:cNvSpPr txBox="1"/>
          <p:nvPr/>
        </p:nvSpPr>
        <p:spPr>
          <a:xfrm>
            <a:off x="1085033" y="3697307"/>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57" name="ANUARIO_REFERENCIA_2024_P10_L031"/>
          <p:cNvSpPr txBox="1"/>
          <p:nvPr/>
        </p:nvSpPr>
        <p:spPr>
          <a:xfrm>
            <a:off x="1085033" y="3758838"/>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58" name="ANUARIO_REFERENCIA_2024_P10_L032"/>
          <p:cNvSpPr txBox="1"/>
          <p:nvPr/>
        </p:nvSpPr>
        <p:spPr>
          <a:xfrm>
            <a:off x="1085033" y="3820369"/>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9" name="ANUARIO_REFERENCIA_2024_P10_L033"/>
          <p:cNvSpPr txBox="1"/>
          <p:nvPr/>
        </p:nvSpPr>
        <p:spPr>
          <a:xfrm>
            <a:off x="1152649" y="3094278"/>
            <a:ext cx="332273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nivel nacional se tenía en 1971, un total de 11 líneas del servicio por cada 100 hogares. Para </a:t>
            </a:r>
          </a:p>
        </p:txBody>
      </p:sp>
      <p:sp>
        <p:nvSpPr>
          <p:cNvPr id="260" name="ANUARIO_REFERENCIA_2024_P10_L034"/>
          <p:cNvSpPr txBox="1"/>
          <p:nvPr/>
        </p:nvSpPr>
        <p:spPr>
          <a:xfrm>
            <a:off x="1085044" y="3175991"/>
            <a:ext cx="180650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se tienen</a:t>
            </a:r>
            <a:r>
              <a:rPr sz="688" b="1" i="0">
                <a:solidFill>
                  <a:srgbClr val="1C2829"/>
                </a:solidFill>
                <a:latin typeface="Noto Sans"/>
              </a:rPr>
              <a:t> 75 líneas</a:t>
            </a:r>
            <a:r>
              <a:rPr sz="602" b="0" i="0">
                <a:solidFill>
                  <a:srgbClr val="1C2829"/>
                </a:solidFill>
                <a:latin typeface="Noto Sans"/>
              </a:rPr>
              <a:t> por cada 100 hogares.</a:t>
            </a:r>
          </a:p>
        </p:txBody>
      </p:sp>
      <p:sp>
        <p:nvSpPr>
          <p:cNvPr id="261" name="ANUARIO_REFERENCIA_2024_P10_L035"/>
          <p:cNvSpPr txBox="1"/>
          <p:nvPr/>
        </p:nvSpPr>
        <p:spPr>
          <a:xfrm>
            <a:off x="1085033" y="3292363"/>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62" name="ANUARIO_REFERENCIA_2024_P10_L036"/>
          <p:cNvSpPr txBox="1"/>
          <p:nvPr/>
        </p:nvSpPr>
        <p:spPr>
          <a:xfrm>
            <a:off x="1085033" y="2952733"/>
            <a:ext cx="651121"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Telefonía fija </a:t>
            </a:r>
          </a:p>
        </p:txBody>
      </p:sp>
      <p:sp>
        <p:nvSpPr>
          <p:cNvPr id="263" name="ANUARIO_REFERENCIA_2024_P10_L037"/>
          <p:cNvSpPr txBox="1"/>
          <p:nvPr/>
        </p:nvSpPr>
        <p:spPr>
          <a:xfrm>
            <a:off x="432136" y="4566513"/>
            <a:ext cx="36303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BIT Estatal Concesiones otorgadas de radio AM, FM, y TDT a diciembre de 2023: </a:t>
            </a:r>
            <a:r>
              <a:rPr sz="430" b="0" i="0">
                <a:solidFill>
                  <a:srgbClr val="484979"/>
                </a:solidFill>
                <a:latin typeface="Noto Sans"/>
              </a:rPr>
              <a:t>https://bitestatal.ift.org.mx/#/estado/Nacional </a:t>
            </a:r>
          </a:p>
        </p:txBody>
      </p:sp>
      <p:sp>
        <p:nvSpPr>
          <p:cNvPr id="264" name="ANUARIO_REFERENCIA_2024_P10_L038"/>
          <p:cNvSpPr txBox="1"/>
          <p:nvPr/>
        </p:nvSpPr>
        <p:spPr>
          <a:xfrm>
            <a:off x="4735244" y="2673766"/>
            <a:ext cx="282623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De acuerdo con un Estudio cualitativo de conocimiento y percepción de IA y </a:t>
            </a:r>
          </a:p>
        </p:txBody>
      </p:sp>
      <p:sp>
        <p:nvSpPr>
          <p:cNvPr id="265" name="ANUARIO_REFERENCIA_2024_P10_L039"/>
          <p:cNvSpPr txBox="1"/>
          <p:nvPr/>
        </p:nvSpPr>
        <p:spPr>
          <a:xfrm>
            <a:off x="4735244" y="2766083"/>
            <a:ext cx="2826475"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ChatGPT, las personas participantes consideraron que estas herramientas son </a:t>
            </a:r>
          </a:p>
        </p:txBody>
      </p:sp>
      <p:sp>
        <p:nvSpPr>
          <p:cNvPr id="266" name="ANUARIO_REFERENCIA_2024_P10_L040"/>
          <p:cNvSpPr txBox="1"/>
          <p:nvPr/>
        </p:nvSpPr>
        <p:spPr>
          <a:xfrm>
            <a:off x="4735244" y="2858400"/>
            <a:ext cx="2826780"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accesibles y aportan beneficios significativos en diferentes áreas de la vida como </a:t>
            </a:r>
          </a:p>
        </p:txBody>
      </p:sp>
      <p:sp>
        <p:nvSpPr>
          <p:cNvPr id="267" name="ANUARIO_REFERENCIA_2024_P10_L041"/>
          <p:cNvSpPr txBox="1"/>
          <p:nvPr/>
        </p:nvSpPr>
        <p:spPr>
          <a:xfrm>
            <a:off x="4735244" y="2950717"/>
            <a:ext cx="282628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son; laboral, escolar, salud y hogar. Algunas desventajas que se mencionaron, es </a:t>
            </a:r>
          </a:p>
        </p:txBody>
      </p:sp>
      <p:sp>
        <p:nvSpPr>
          <p:cNvPr id="268" name="ANUARIO_REFERENCIA_2024_P10_L042"/>
          <p:cNvSpPr txBox="1"/>
          <p:nvPr/>
        </p:nvSpPr>
        <p:spPr>
          <a:xfrm>
            <a:off x="4735244" y="3043034"/>
            <a:ext cx="237430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que no se da la protección de privacidad de datos y los ciberdelitos.</a:t>
            </a:r>
          </a:p>
        </p:txBody>
      </p:sp>
      <p:sp>
        <p:nvSpPr>
          <p:cNvPr id="269" name="ANUARIO_REFERENCIA_2024_P10_L043"/>
          <p:cNvSpPr txBox="1"/>
          <p:nvPr/>
        </p:nvSpPr>
        <p:spPr>
          <a:xfrm>
            <a:off x="4735244" y="3185445"/>
            <a:ext cx="2821724" cy="109728"/>
          </a:xfrm>
          <a:prstGeom prst="rect">
            <a:avLst/>
          </a:prstGeom>
          <a:noFill/>
        </p:spPr>
        <p:txBody>
          <a:bodyPr wrap="none" anchor="t" lIns="0" rIns="0" tIns="0" bIns="0">
            <a:noAutofit/>
          </a:bodyPr>
          <a:lstStyle/>
          <a:p>
            <a:pPr>
              <a:spcBef>
                <a:spcPts val="0"/>
              </a:spcBef>
              <a:spcAft>
                <a:spcPts val="0"/>
              </a:spcAft>
            </a:pPr>
            <a:r>
              <a:rPr sz="421" b="0" i="0">
                <a:solidFill>
                  <a:srgbClr val="1C2829"/>
                </a:solidFill>
                <a:latin typeface="Noto Sans"/>
              </a:rPr>
              <a:t>Fuente: IFT, con información del Estudio Cualitativo. Conocimiento y Percepción Sobre La Inteligencia Artificial </a:t>
            </a:r>
          </a:p>
        </p:txBody>
      </p:sp>
      <p:sp>
        <p:nvSpPr>
          <p:cNvPr id="270" name="ANUARIO_REFERENCIA_2024_P10_L044"/>
          <p:cNvSpPr txBox="1"/>
          <p:nvPr/>
        </p:nvSpPr>
        <p:spPr>
          <a:xfrm>
            <a:off x="4735244" y="3246976"/>
            <a:ext cx="2809419" cy="109728"/>
          </a:xfrm>
          <a:prstGeom prst="rect">
            <a:avLst/>
          </a:prstGeom>
          <a:noFill/>
        </p:spPr>
        <p:txBody>
          <a:bodyPr wrap="none" anchor="t" lIns="0" rIns="0" tIns="0" bIns="0">
            <a:noAutofit/>
          </a:bodyPr>
          <a:lstStyle/>
          <a:p>
            <a:pPr>
              <a:spcBef>
                <a:spcPts val="0"/>
              </a:spcBef>
              <a:spcAft>
                <a:spcPts val="0"/>
              </a:spcAft>
            </a:pPr>
            <a:r>
              <a:rPr sz="428" b="0" i="0">
                <a:solidFill>
                  <a:srgbClr val="1C2829"/>
                </a:solidFill>
                <a:latin typeface="Noto Sans"/>
              </a:rPr>
              <a:t>(IA) y ChatGPT 2023. Para más información consultar: </a:t>
            </a:r>
            <a:r>
              <a:rPr sz="428" b="0" i="0">
                <a:solidFill>
                  <a:srgbClr val="484979"/>
                </a:solidFill>
                <a:latin typeface="Noto Sans"/>
              </a:rPr>
              <a:t>https://www.ift.org.mx/usuarios-y-audiencias/estudio-</a:t>
            </a:r>
          </a:p>
        </p:txBody>
      </p:sp>
      <p:sp>
        <p:nvSpPr>
          <p:cNvPr id="271" name="ANUARIO_REFERENCIA_2024_P10_L045"/>
          <p:cNvSpPr txBox="1"/>
          <p:nvPr/>
        </p:nvSpPr>
        <p:spPr>
          <a:xfrm>
            <a:off x="4735244" y="3308507"/>
            <a:ext cx="2355336" cy="109728"/>
          </a:xfrm>
          <a:prstGeom prst="rect">
            <a:avLst/>
          </a:prstGeom>
          <a:noFill/>
        </p:spPr>
        <p:txBody>
          <a:bodyPr wrap="none" anchor="t" lIns="0" rIns="0" tIns="0" bIns="0">
            <a:noAutofit/>
          </a:bodyPr>
          <a:lstStyle/>
          <a:p>
            <a:pPr>
              <a:spcBef>
                <a:spcPts val="0"/>
              </a:spcBef>
              <a:spcAft>
                <a:spcPts val="0"/>
              </a:spcAft>
            </a:pPr>
            <a:r>
              <a:rPr sz="430" b="0" i="0">
                <a:solidFill>
                  <a:srgbClr val="484979"/>
                </a:solidFill>
                <a:latin typeface="Noto Sans"/>
              </a:rPr>
              <a:t>cualitativo-conocimiento-y-percepcion-sobre-la-inteligencia-artificial-ia-y-chatgpt-2023</a:t>
            </a:r>
          </a:p>
        </p:txBody>
      </p:sp>
      <p:sp>
        <p:nvSpPr>
          <p:cNvPr id="272" name="ANUARIO_REFERENCIA_2024_P10_L046"/>
          <p:cNvSpPr txBox="1"/>
          <p:nvPr/>
        </p:nvSpPr>
        <p:spPr>
          <a:xfrm>
            <a:off x="5262901" y="1223220"/>
            <a:ext cx="346961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Las mujeres (38%) leen más periódicos, revistas o libros a través de Internet que los hombres (36%).</a:t>
            </a:r>
          </a:p>
        </p:txBody>
      </p:sp>
      <p:sp>
        <p:nvSpPr>
          <p:cNvPr id="273" name="ANUARIO_REFERENCIA_2024_P10_L047"/>
          <p:cNvSpPr txBox="1"/>
          <p:nvPr/>
        </p:nvSpPr>
        <p:spPr>
          <a:xfrm>
            <a:off x="5195274" y="1337241"/>
            <a:ext cx="146174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2023, del INEGI.</a:t>
            </a:r>
          </a:p>
        </p:txBody>
      </p:sp>
      <p:sp>
        <p:nvSpPr>
          <p:cNvPr id="274" name="ANUARIO_REFERENCIA_2024_P10_L048"/>
          <p:cNvSpPr txBox="1"/>
          <p:nvPr/>
        </p:nvSpPr>
        <p:spPr>
          <a:xfrm>
            <a:off x="5262901" y="1508547"/>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Los hombres utilizan en mayor proporción (88%) la computadora para descargar contenido de </a:t>
            </a:r>
          </a:p>
        </p:txBody>
      </p:sp>
      <p:sp>
        <p:nvSpPr>
          <p:cNvPr id="275" name="ANUARIO_REFERENCIA_2024_P10_L049"/>
          <p:cNvSpPr txBox="1"/>
          <p:nvPr/>
        </p:nvSpPr>
        <p:spPr>
          <a:xfrm>
            <a:off x="5195296" y="1600865"/>
            <a:ext cx="120175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Internet que las mujeres (87%).</a:t>
            </a:r>
          </a:p>
        </p:txBody>
      </p:sp>
      <p:sp>
        <p:nvSpPr>
          <p:cNvPr id="276" name="ANUARIO_REFERENCIA_2024_P10_L050"/>
          <p:cNvSpPr txBox="1"/>
          <p:nvPr/>
        </p:nvSpPr>
        <p:spPr>
          <a:xfrm>
            <a:off x="5195285" y="1710278"/>
            <a:ext cx="14900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2022, del INEGI.  </a:t>
            </a:r>
          </a:p>
        </p:txBody>
      </p:sp>
      <p:sp>
        <p:nvSpPr>
          <p:cNvPr id="277" name="ANUARIO_REFERENCIA_2024_P10_L051"/>
          <p:cNvSpPr txBox="1"/>
          <p:nvPr/>
        </p:nvSpPr>
        <p:spPr>
          <a:xfrm>
            <a:off x="5262901" y="1916125"/>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población de 12 años y más que vivió ciberacoso en mayor medida, se presentó en el Estado de </a:t>
            </a:r>
          </a:p>
        </p:txBody>
      </p:sp>
      <p:sp>
        <p:nvSpPr>
          <p:cNvPr id="278" name="ANUARIO_REFERENCIA_2024_P10_L052"/>
          <p:cNvSpPr txBox="1"/>
          <p:nvPr/>
        </p:nvSpPr>
        <p:spPr>
          <a:xfrm>
            <a:off x="5195296" y="2008442"/>
            <a:ext cx="205907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México (13.1%), Jalisco (7.8%) y Ciudad de México (7.1%).</a:t>
            </a:r>
          </a:p>
        </p:txBody>
      </p:sp>
      <p:sp>
        <p:nvSpPr>
          <p:cNvPr id="279" name="ANUARIO_REFERENCIA_2024_P10_L053"/>
          <p:cNvSpPr txBox="1"/>
          <p:nvPr/>
        </p:nvSpPr>
        <p:spPr>
          <a:xfrm>
            <a:off x="5195291" y="2114931"/>
            <a:ext cx="1420667"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del MOCIBA 2023, del INEGI.  </a:t>
            </a:r>
          </a:p>
        </p:txBody>
      </p:sp>
      <p:sp>
        <p:nvSpPr>
          <p:cNvPr id="280" name="ANUARIO_REFERENCIA_2024_P10_L054"/>
          <p:cNvSpPr txBox="1"/>
          <p:nvPr/>
        </p:nvSpPr>
        <p:spPr>
          <a:xfrm>
            <a:off x="1447177" y="4306721"/>
            <a:ext cx="294537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Existen </a:t>
            </a:r>
            <a:r>
              <a:rPr sz="688" b="1" i="0">
                <a:solidFill>
                  <a:srgbClr val="1C2829"/>
                </a:solidFill>
                <a:latin typeface="Noto Sans"/>
              </a:rPr>
              <a:t>368 concesiones</a:t>
            </a:r>
            <a:r>
              <a:rPr sz="602" b="0" i="0">
                <a:solidFill>
                  <a:srgbClr val="1C2829"/>
                </a:solidFill>
                <a:latin typeface="Noto Sans"/>
              </a:rPr>
              <a:t> AM 1,912 concesiones FM y 934 concesiones TDT </a:t>
            </a:r>
          </a:p>
        </p:txBody>
      </p:sp>
      <p:sp>
        <p:nvSpPr>
          <p:cNvPr id="281" name="ANUARIO_REFERENCIA_2024_P10_L055"/>
          <p:cNvSpPr txBox="1"/>
          <p:nvPr/>
        </p:nvSpPr>
        <p:spPr>
          <a:xfrm>
            <a:off x="1447153" y="4409622"/>
            <a:ext cx="104989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otorgadas de radiodifusión</a:t>
            </a:r>
          </a:p>
        </p:txBody>
      </p:sp>
      <p:sp>
        <p:nvSpPr>
          <p:cNvPr id="282" name="ANUARIO_REFERENCIA_2024_P10_L056"/>
          <p:cNvSpPr txBox="1"/>
          <p:nvPr/>
        </p:nvSpPr>
        <p:spPr>
          <a:xfrm>
            <a:off x="5280466" y="3609665"/>
            <a:ext cx="3452053"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Los usuarios de dispositivos IoT prefieren las tecnologías que tienen la finalidad de entretenimiento </a:t>
            </a:r>
          </a:p>
        </p:txBody>
      </p:sp>
      <p:sp>
        <p:nvSpPr>
          <p:cNvPr id="283" name="ANUARIO_REFERENCIA_2024_P10_L057"/>
          <p:cNvSpPr txBox="1"/>
          <p:nvPr/>
        </p:nvSpPr>
        <p:spPr>
          <a:xfrm>
            <a:off x="5280466" y="3701265"/>
            <a:ext cx="1859470"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a:t>
            </a:r>
            <a:r>
              <a:rPr sz="596" b="1" i="0">
                <a:solidFill>
                  <a:srgbClr val="1A403D"/>
                </a:solidFill>
                <a:latin typeface="Noto Sans"/>
              </a:rPr>
              <a:t>59.6%</a:t>
            </a:r>
            <a:r>
              <a:rPr sz="596" b="0" i="0">
                <a:solidFill>
                  <a:srgbClr val="1A403D"/>
                </a:solidFill>
                <a:latin typeface="Noto Sans"/>
              </a:rPr>
              <a:t>) y las bocinas o asistentes del hogar (</a:t>
            </a:r>
            <a:r>
              <a:rPr sz="596" b="1" i="0">
                <a:solidFill>
                  <a:srgbClr val="1A403D"/>
                </a:solidFill>
                <a:latin typeface="Noto Sans"/>
              </a:rPr>
              <a:t>55.0%</a:t>
            </a:r>
            <a:r>
              <a:rPr sz="596" b="0" i="0">
                <a:solidFill>
                  <a:srgbClr val="1A403D"/>
                </a:solidFill>
                <a:latin typeface="Noto Sans"/>
              </a:rPr>
              <a:t>)</a:t>
            </a:r>
          </a:p>
        </p:txBody>
      </p:sp>
      <p:sp>
        <p:nvSpPr>
          <p:cNvPr id="284" name="ANUARIO_REFERENCIA_2024_P10_L058"/>
          <p:cNvSpPr txBox="1"/>
          <p:nvPr/>
        </p:nvSpPr>
        <p:spPr>
          <a:xfrm>
            <a:off x="5279409" y="3824996"/>
            <a:ext cx="3333939"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datos de la ENDUTIH 2023, del INEGI. Datos disponibles en https://www.inegi.org.mx/programas/endutih/2023/ </a:t>
            </a:r>
          </a:p>
        </p:txBody>
      </p:sp>
      <p:sp>
        <p:nvSpPr>
          <p:cNvPr id="285" name="ANUARIO_REFERENCIA_2024_P10_L059"/>
          <p:cNvSpPr txBox="1"/>
          <p:nvPr/>
        </p:nvSpPr>
        <p:spPr>
          <a:xfrm>
            <a:off x="5280212" y="4179253"/>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acuerdo con la </a:t>
            </a:r>
            <a:r>
              <a:rPr sz="596" b="0" i="1">
                <a:solidFill>
                  <a:srgbClr val="1A403D"/>
                </a:solidFill>
                <a:latin typeface="Noto Sans"/>
              </a:rPr>
              <a:t>Encuesta de Confianza en el Servicio de Internet (ECSI) 2024</a:t>
            </a:r>
            <a:r>
              <a:rPr sz="596" b="0" i="0">
                <a:solidFill>
                  <a:srgbClr val="1A403D"/>
                </a:solidFill>
                <a:latin typeface="Noto Sans"/>
              </a:rPr>
              <a:t>; el grado de </a:t>
            </a:r>
          </a:p>
        </p:txBody>
      </p:sp>
      <p:sp>
        <p:nvSpPr>
          <p:cNvPr id="286" name="ANUARIO_REFERENCIA_2024_P10_L060"/>
          <p:cNvSpPr txBox="1"/>
          <p:nvPr/>
        </p:nvSpPr>
        <p:spPr>
          <a:xfrm>
            <a:off x="5280212" y="4271570"/>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confianza que las personas tienen al hacer uso de Internet registró que aproximadamente la mitad </a:t>
            </a:r>
          </a:p>
        </p:txBody>
      </p:sp>
      <p:sp>
        <p:nvSpPr>
          <p:cNvPr id="287" name="ANUARIO_REFERENCIA_2024_P10_L061"/>
          <p:cNvSpPr txBox="1"/>
          <p:nvPr/>
        </p:nvSpPr>
        <p:spPr>
          <a:xfrm>
            <a:off x="5280212" y="4363169"/>
            <a:ext cx="3452307"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la población considera tener poco (</a:t>
            </a:r>
            <a:r>
              <a:rPr sz="596" b="1" i="0">
                <a:solidFill>
                  <a:srgbClr val="1A403D"/>
                </a:solidFill>
                <a:latin typeface="Noto Sans"/>
              </a:rPr>
              <a:t>38.5%</a:t>
            </a:r>
            <a:r>
              <a:rPr sz="596" b="0" i="0">
                <a:solidFill>
                  <a:srgbClr val="1A403D"/>
                </a:solidFill>
                <a:latin typeface="Noto Sans"/>
              </a:rPr>
              <a:t>) o nada (</a:t>
            </a:r>
            <a:r>
              <a:rPr sz="596" b="1" i="0">
                <a:solidFill>
                  <a:srgbClr val="1A403D"/>
                </a:solidFill>
                <a:latin typeface="Noto Sans"/>
              </a:rPr>
              <a:t>13.6%</a:t>
            </a:r>
            <a:r>
              <a:rPr sz="596" b="0" i="0">
                <a:solidFill>
                  <a:srgbClr val="1A403D"/>
                </a:solidFill>
                <a:latin typeface="Noto Sans"/>
              </a:rPr>
              <a:t>) de confianza al hacer uso del Internet.</a:t>
            </a:r>
          </a:p>
        </p:txBody>
      </p:sp>
      <p:sp>
        <p:nvSpPr>
          <p:cNvPr id="288" name="ANUARIO_REFERENCIA_2024_P10_L062"/>
          <p:cNvSpPr txBox="1"/>
          <p:nvPr/>
        </p:nvSpPr>
        <p:spPr>
          <a:xfrm>
            <a:off x="5281104" y="4486259"/>
            <a:ext cx="2536263"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información de la Encuesta de Confianza en el Servicio de Internet (ECSI), 2024.</a:t>
            </a:r>
          </a:p>
        </p:txBody>
      </p:sp>
      <p:sp>
        <p:nvSpPr>
          <p:cNvPr id="289" name="ANUARIO_REFERENCIA_2024_P10_L063"/>
          <p:cNvSpPr txBox="1"/>
          <p:nvPr/>
        </p:nvSpPr>
        <p:spPr>
          <a:xfrm>
            <a:off x="5281021" y="4031517"/>
            <a:ext cx="3451498"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Percepción o grado de confianza que tienen las personas al hacer uso de internet</a:t>
            </a:r>
          </a:p>
        </p:txBody>
      </p:sp>
      <p:sp>
        <p:nvSpPr>
          <p:cNvPr id="290" name="ANUARIO_REFERENCIA_2024_P10_L064"/>
          <p:cNvSpPr txBox="1"/>
          <p:nvPr/>
        </p:nvSpPr>
        <p:spPr>
          <a:xfrm>
            <a:off x="5280841" y="3469123"/>
            <a:ext cx="2059335"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Dispositivos inteligentes conectados a Internet</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 descr="Capa accesible con el texto del SVG de la figura A.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15,000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25,000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PIB Nacional en miles de millones de pesos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Porcentaje de participación de los subsectores de las TyR</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Figura A.1.</a:t>
            </a:r>
          </a:p>
          <a:p>
            <a:pPr>
              <a:spcBef>
                <a:spcPts val="0"/>
              </a:spcBef>
              <a:spcAft>
                <a:spcPts val="0"/>
              </a:spcAft>
            </a:pPr>
            <a:r>
              <a:rPr sz="100">
                <a:solidFill>
                  <a:srgbClr val="FFFFFF"/>
                </a:solidFill>
                <a:latin typeface="Noto Sans"/>
              </a:rPr>
              <a:t>Producto Interno Bruto (PIB) y contribución del PIB de los subsectores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junio de 2026. Datos disponibles en: https://www.inegi.org.mx/programas/pib/.</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PIB a precios constantes de 2018. La participación de los subsectores de TyR corresponde a la contribución del sector 51 (Información en medios masivos) de acuerdo con el Sistema de Clasificación Industrial de</a:t>
            </a:r>
          </a:p>
          <a:p>
            <a:pPr>
              <a:spcBef>
                <a:spcPts val="0"/>
              </a:spcBef>
              <a:spcAft>
                <a:spcPts val="0"/>
              </a:spcAft>
            </a:pPr>
            <a:r>
              <a:rPr sz="100">
                <a:solidFill>
                  <a:srgbClr val="FFFFFF"/>
                </a:solidFill>
                <a:latin typeface="Noto Sans"/>
              </a:rPr>
              <a:t>América del Norte, México SCIAN 2023, el cual puede consultarse en Clasificadores - Catálogo SCIAN.</a:t>
            </a:r>
          </a:p>
          <a:p>
            <a:pPr>
              <a:spcBef>
                <a:spcPts val="0"/>
              </a:spcBef>
              <a:spcAft>
                <a:spcPts val="0"/>
              </a:spcAft>
            </a:pPr>
            <a:r>
              <a:rPr sz="100">
                <a:solidFill>
                  <a:srgbClr val="FFFFFF"/>
                </a:solidFill>
                <a:latin typeface="Noto Sans"/>
              </a:rPr>
              <a:t>PIB nacional</a:t>
            </a:r>
          </a:p>
          <a:p>
            <a:pPr>
              <a:spcBef>
                <a:spcPts val="0"/>
              </a:spcBef>
              <a:spcAft>
                <a:spcPts val="0"/>
              </a:spcAft>
            </a:pPr>
            <a:r>
              <a:rPr sz="100">
                <a:solidFill>
                  <a:srgbClr val="FFFFFF"/>
                </a:solidFill>
                <a:latin typeface="Noto Sans"/>
              </a:rPr>
              <a:t>Participación TyR</a:t>
            </a:r>
          </a:p>
        </p:txBody>
      </p:sp>
      <p:pic>
        <p:nvPicPr>
          <p:cNvPr id="223"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a:t>
            </a:r>
          </a:p>
        </p:txBody>
      </p:sp>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2" descr="Capa accesible con el texto del SVG de la figura A.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A.2</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Distribución porcentual del empleo</a:t>
            </a:r>
          </a:p>
          <a:p>
            <a:pPr>
              <a:spcBef>
                <a:spcPts val="0"/>
              </a:spcBef>
              <a:spcAft>
                <a:spcPts val="0"/>
              </a:spcAft>
            </a:pPr>
            <a:r>
              <a:rPr sz="100">
                <a:solidFill>
                  <a:srgbClr val="FFFFFF"/>
                </a:solidFill>
                <a:latin typeface="Noto Sans"/>
              </a:rPr>
              <a:t>268,376</a:t>
            </a:r>
          </a:p>
          <a:p>
            <a:pPr>
              <a:spcBef>
                <a:spcPts val="0"/>
              </a:spcBef>
              <a:spcAft>
                <a:spcPts val="0"/>
              </a:spcAft>
            </a:pPr>
            <a:r>
              <a:rPr sz="100">
                <a:solidFill>
                  <a:srgbClr val="FFFFFF"/>
                </a:solidFill>
                <a:latin typeface="Noto Sans"/>
              </a:rPr>
              <a:t>246,877</a:t>
            </a:r>
          </a:p>
          <a:p>
            <a:pPr>
              <a:spcBef>
                <a:spcPts val="0"/>
              </a:spcBef>
              <a:spcAft>
                <a:spcPts val="0"/>
              </a:spcAft>
            </a:pPr>
            <a:r>
              <a:rPr sz="100">
                <a:solidFill>
                  <a:srgbClr val="FFFFFF"/>
                </a:solidFill>
                <a:latin typeface="Noto Sans"/>
              </a:rPr>
              <a:t>224,106</a:t>
            </a:r>
          </a:p>
          <a:p>
            <a:pPr>
              <a:spcBef>
                <a:spcPts val="0"/>
              </a:spcBef>
              <a:spcAft>
                <a:spcPts val="0"/>
              </a:spcAft>
            </a:pPr>
            <a:r>
              <a:rPr sz="100">
                <a:solidFill>
                  <a:srgbClr val="FFFFFF"/>
                </a:solidFill>
                <a:latin typeface="Noto Sans"/>
              </a:rPr>
              <a:t>216,150</a:t>
            </a:r>
          </a:p>
          <a:p>
            <a:pPr>
              <a:spcBef>
                <a:spcPts val="0"/>
              </a:spcBef>
              <a:spcAft>
                <a:spcPts val="0"/>
              </a:spcAft>
            </a:pPr>
            <a:r>
              <a:rPr sz="100">
                <a:solidFill>
                  <a:srgbClr val="FFFFFF"/>
                </a:solidFill>
                <a:latin typeface="Noto Sans"/>
              </a:rPr>
              <a:t>221,344</a:t>
            </a:r>
          </a:p>
          <a:p>
            <a:pPr>
              <a:spcBef>
                <a:spcPts val="0"/>
              </a:spcBef>
              <a:spcAft>
                <a:spcPts val="0"/>
              </a:spcAft>
            </a:pPr>
            <a:r>
              <a:rPr sz="100">
                <a:solidFill>
                  <a:srgbClr val="FFFFFF"/>
                </a:solidFill>
                <a:latin typeface="Noto Sans"/>
              </a:rPr>
              <a:t>254,322</a:t>
            </a:r>
          </a:p>
          <a:p>
            <a:pPr>
              <a:spcBef>
                <a:spcPts val="0"/>
              </a:spcBef>
              <a:spcAft>
                <a:spcPts val="0"/>
              </a:spcAft>
            </a:pPr>
            <a:r>
              <a:rPr sz="100">
                <a:solidFill>
                  <a:srgbClr val="FFFFFF"/>
                </a:solidFill>
                <a:latin typeface="Noto Sans"/>
              </a:rPr>
              <a:t>260,185</a:t>
            </a:r>
          </a:p>
          <a:p>
            <a:pPr>
              <a:spcBef>
                <a:spcPts val="0"/>
              </a:spcBef>
              <a:spcAft>
                <a:spcPts val="0"/>
              </a:spcAft>
            </a:pPr>
            <a:r>
              <a:rPr sz="100">
                <a:solidFill>
                  <a:srgbClr val="FFFFFF"/>
                </a:solidFill>
                <a:latin typeface="Noto Sans"/>
              </a:rPr>
              <a:t>268,581</a:t>
            </a:r>
          </a:p>
          <a:p>
            <a:pPr>
              <a:spcBef>
                <a:spcPts val="0"/>
              </a:spcBef>
              <a:spcAft>
                <a:spcPts val="0"/>
              </a:spcAft>
            </a:pPr>
            <a:r>
              <a:rPr sz="100">
                <a:solidFill>
                  <a:srgbClr val="FFFFFF"/>
                </a:solidFill>
                <a:latin typeface="Noto Sans"/>
              </a:rPr>
              <a:t>251,790</a:t>
            </a:r>
          </a:p>
          <a:p>
            <a:pPr>
              <a:spcBef>
                <a:spcPts val="0"/>
              </a:spcBef>
              <a:spcAft>
                <a:spcPts val="0"/>
              </a:spcAft>
            </a:pPr>
            <a:r>
              <a:rPr sz="100">
                <a:solidFill>
                  <a:srgbClr val="FFFFFF"/>
                </a:solidFill>
                <a:latin typeface="Noto Sans"/>
              </a:rPr>
              <a:t>242,235</a:t>
            </a:r>
          </a:p>
          <a:p>
            <a:pPr>
              <a:spcBef>
                <a:spcPts val="0"/>
              </a:spcBef>
              <a:spcAft>
                <a:spcPts val="0"/>
              </a:spcAft>
            </a:pPr>
            <a:r>
              <a:rPr sz="100">
                <a:solidFill>
                  <a:srgbClr val="FFFFFF"/>
                </a:solidFill>
                <a:latin typeface="Noto Sans"/>
              </a:rPr>
              <a:t>267,214</a:t>
            </a:r>
          </a:p>
          <a:p>
            <a:pPr>
              <a:spcBef>
                <a:spcPts val="0"/>
              </a:spcBef>
              <a:spcAft>
                <a:spcPts val="0"/>
              </a:spcAft>
            </a:pPr>
            <a:r>
              <a:rPr sz="100">
                <a:solidFill>
                  <a:srgbClr val="FFFFFF"/>
                </a:solidFill>
                <a:latin typeface="Noto Sans"/>
              </a:rPr>
              <a:t>251,093</a:t>
            </a:r>
          </a:p>
          <a:p>
            <a:pPr>
              <a:spcBef>
                <a:spcPts val="0"/>
              </a:spcBef>
              <a:spcAft>
                <a:spcPts val="0"/>
              </a:spcAft>
            </a:pPr>
            <a:r>
              <a:rPr sz="100">
                <a:solidFill>
                  <a:srgbClr val="FFFFFF"/>
                </a:solidFill>
                <a:latin typeface="Noto Sans"/>
              </a:rPr>
              <a:t>244,121</a:t>
            </a:r>
          </a:p>
          <a:p>
            <a:pPr>
              <a:spcBef>
                <a:spcPts val="0"/>
              </a:spcBef>
              <a:spcAft>
                <a:spcPts val="0"/>
              </a:spcAft>
            </a:pPr>
            <a:r>
              <a:rPr sz="100">
                <a:solidFill>
                  <a:srgbClr val="FFFFFF"/>
                </a:solidFill>
                <a:latin typeface="Noto Sans"/>
              </a:rPr>
              <a:t>263,482</a:t>
            </a:r>
          </a:p>
          <a:p>
            <a:pPr>
              <a:spcBef>
                <a:spcPts val="0"/>
              </a:spcBef>
              <a:spcAft>
                <a:spcPts val="0"/>
              </a:spcAft>
            </a:pPr>
            <a:r>
              <a:rPr sz="100">
                <a:solidFill>
                  <a:srgbClr val="FFFFFF"/>
                </a:solidFill>
                <a:latin typeface="Noto Sans"/>
              </a:rPr>
              <a:t>252,969</a:t>
            </a:r>
          </a:p>
          <a:p>
            <a:pPr>
              <a:spcBef>
                <a:spcPts val="0"/>
              </a:spcBef>
              <a:spcAft>
                <a:spcPts val="0"/>
              </a:spcAft>
            </a:pPr>
            <a:r>
              <a:rPr sz="100">
                <a:solidFill>
                  <a:srgbClr val="FFFFFF"/>
                </a:solidFill>
                <a:latin typeface="Noto Sans"/>
              </a:rPr>
              <a:t>300,301</a:t>
            </a:r>
          </a:p>
          <a:p>
            <a:pPr>
              <a:spcBef>
                <a:spcPts val="0"/>
              </a:spcBef>
              <a:spcAft>
                <a:spcPts val="0"/>
              </a:spcAft>
            </a:pPr>
            <a:r>
              <a:rPr sz="100">
                <a:solidFill>
                  <a:srgbClr val="FFFFFF"/>
                </a:solidFill>
                <a:latin typeface="Noto Sans"/>
              </a:rPr>
              <a:t>285,439</a:t>
            </a:r>
          </a:p>
          <a:p>
            <a:pPr>
              <a:spcBef>
                <a:spcPts val="0"/>
              </a:spcBef>
              <a:spcAft>
                <a:spcPts val="0"/>
              </a:spcAft>
            </a:pPr>
            <a:r>
              <a:rPr sz="100">
                <a:solidFill>
                  <a:srgbClr val="FFFFFF"/>
                </a:solidFill>
                <a:latin typeface="Noto Sans"/>
              </a:rPr>
              <a:t>323,048</a:t>
            </a:r>
          </a:p>
          <a:p>
            <a:pPr>
              <a:spcBef>
                <a:spcPts val="0"/>
              </a:spcBef>
              <a:spcAft>
                <a:spcPts val="0"/>
              </a:spcAft>
            </a:pPr>
            <a:r>
              <a:rPr sz="100">
                <a:solidFill>
                  <a:srgbClr val="FFFFFF"/>
                </a:solidFill>
                <a:latin typeface="Noto Sans"/>
              </a:rPr>
              <a:t>301,030</a:t>
            </a:r>
          </a:p>
          <a:p>
            <a:pPr>
              <a:spcBef>
                <a:spcPts val="0"/>
              </a:spcBef>
              <a:spcAft>
                <a:spcPts val="0"/>
              </a:spcAft>
            </a:pPr>
            <a:r>
              <a:rPr sz="100">
                <a:solidFill>
                  <a:srgbClr val="FFFFFF"/>
                </a:solidFill>
                <a:latin typeface="Noto Sans"/>
              </a:rPr>
              <a:t>290,958</a:t>
            </a:r>
          </a:p>
          <a:p>
            <a:pPr>
              <a:spcBef>
                <a:spcPts val="0"/>
              </a:spcBef>
              <a:spcAft>
                <a:spcPts val="0"/>
              </a:spcAft>
            </a:pPr>
            <a:r>
              <a:rPr sz="100">
                <a:solidFill>
                  <a:srgbClr val="FFFFFF"/>
                </a:solidFill>
                <a:latin typeface="Noto Sans"/>
              </a:rPr>
              <a:t>293,930</a:t>
            </a:r>
          </a:p>
          <a:p>
            <a:pPr>
              <a:spcBef>
                <a:spcPts val="0"/>
              </a:spcBef>
              <a:spcAft>
                <a:spcPts val="0"/>
              </a:spcAft>
            </a:pPr>
            <a:r>
              <a:rPr sz="100">
                <a:solidFill>
                  <a:srgbClr val="FFFFFF"/>
                </a:solidFill>
                <a:latin typeface="Noto Sans"/>
              </a:rPr>
              <a:t>316,612</a:t>
            </a:r>
          </a:p>
          <a:p>
            <a:pPr>
              <a:spcBef>
                <a:spcPts val="0"/>
              </a:spcBef>
              <a:spcAft>
                <a:spcPts val="0"/>
              </a:spcAft>
            </a:pPr>
            <a:r>
              <a:rPr sz="100">
                <a:solidFill>
                  <a:srgbClr val="FFFFFF"/>
                </a:solidFill>
                <a:latin typeface="Noto Sans"/>
              </a:rPr>
              <a:t>301,866</a:t>
            </a:r>
          </a:p>
          <a:p>
            <a:pPr>
              <a:spcBef>
                <a:spcPts val="0"/>
              </a:spcBef>
              <a:spcAft>
                <a:spcPts val="0"/>
              </a:spcAft>
            </a:pPr>
            <a:r>
              <a:rPr sz="100">
                <a:solidFill>
                  <a:srgbClr val="FFFFFF"/>
                </a:solidFill>
                <a:latin typeface="Noto Sans"/>
              </a:rPr>
              <a:t>314,794</a:t>
            </a:r>
          </a:p>
          <a:p>
            <a:pPr>
              <a:spcBef>
                <a:spcPts val="0"/>
              </a:spcBef>
              <a:spcAft>
                <a:spcPts val="0"/>
              </a:spcAft>
            </a:pPr>
            <a:r>
              <a:rPr sz="100">
                <a:solidFill>
                  <a:srgbClr val="FFFFFF"/>
                </a:solidFill>
                <a:latin typeface="Noto Sans"/>
              </a:rPr>
              <a:t>291,646</a:t>
            </a:r>
          </a:p>
          <a:p>
            <a:pPr>
              <a:spcBef>
                <a:spcPts val="0"/>
              </a:spcBef>
              <a:spcAft>
                <a:spcPts val="0"/>
              </a:spcAft>
            </a:pPr>
            <a:r>
              <a:rPr sz="100">
                <a:solidFill>
                  <a:srgbClr val="FFFFFF"/>
                </a:solidFill>
                <a:latin typeface="Noto Sans"/>
              </a:rPr>
              <a:t>258,149</a:t>
            </a:r>
          </a:p>
          <a:p>
            <a:pPr>
              <a:spcBef>
                <a:spcPts val="0"/>
              </a:spcBef>
              <a:spcAft>
                <a:spcPts val="0"/>
              </a:spcAft>
            </a:pPr>
            <a:r>
              <a:rPr sz="100">
                <a:solidFill>
                  <a:srgbClr val="FFFFFF"/>
                </a:solidFill>
                <a:latin typeface="Noto Sans"/>
              </a:rPr>
              <a:t>279,069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A.2.</a:t>
            </a:r>
          </a:p>
          <a:p>
            <a:pPr>
              <a:spcBef>
                <a:spcPts val="0"/>
              </a:spcBef>
              <a:spcAft>
                <a:spcPts val="0"/>
              </a:spcAft>
            </a:pPr>
            <a:r>
              <a:rPr sz="100">
                <a:solidFill>
                  <a:srgbClr val="FFFFFF"/>
                </a:solidFill>
                <a:latin typeface="Noto Sans"/>
              </a:rPr>
              <a:t>Empleo en los 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del INEGI, con cifras a junio 2026. Datos disponibles en: https://www.inegi.org.mx/programas/enoe/15ymas/#microdatos</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Para el año 2020 se considera la información al primer y cuarto trimestre.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Radiodifusión</a:t>
            </a:r>
          </a:p>
        </p:txBody>
      </p:sp>
      <p:pic>
        <p:nvPicPr>
          <p:cNvPr id="223"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a:t>
            </a:r>
          </a:p>
        </p:txBody>
      </p:sp>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aumentó 3.3% respecto del mismo mes de 2025. El Índice de Precios de Comunicaciones (IPCOM) disminuyó 1.5% entre diciembre de 2023 y julio de 2024. Los dos indicadores tienen cortes diferentes y se presentan con sus periodos originales.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3" descr="Capa accesible con el texto del SVG de la figura A.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A.3</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109</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Figura A.3.</a:t>
            </a:r>
          </a:p>
          <a:p>
            <a:pPr>
              <a:spcBef>
                <a:spcPts val="0"/>
              </a:spcBef>
              <a:spcAft>
                <a:spcPts val="0"/>
              </a:spcAft>
            </a:pPr>
            <a:r>
              <a:rPr sz="100">
                <a:solidFill>
                  <a:srgbClr val="FFFFFF"/>
                </a:solidFill>
                <a:latin typeface="Noto Sans"/>
              </a:rPr>
              <a:t>Índices de precios (INPC e IPCOM)</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agosto de 2026. Datos disponibles en: https://www.inegi.org.mx/programas/inpc/2018a/</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Base segunda quincena de julio 2018 = 100. Los índices de 2010 a 2023 corresponden a diciembre y en 2024 a julio. Para 2025 se usa diciembre y para 2026, agosto. La serie IPCOM está disponible hasta julio de 2024.</a:t>
            </a:r>
          </a:p>
          <a:p>
            <a:pPr>
              <a:spcBef>
                <a:spcPts val="0"/>
              </a:spcBef>
              <a:spcAft>
                <a:spcPts val="0"/>
              </a:spcAft>
            </a:pPr>
            <a:r>
              <a:rPr sz="100">
                <a:solidFill>
                  <a:srgbClr val="FFFFFF"/>
                </a:solidFill>
                <a:latin typeface="Noto Sans"/>
              </a:rPr>
              <a:t>Índice Nacional de Precios al Consumidor (INPC)</a:t>
            </a:r>
          </a:p>
          <a:p>
            <a:pPr>
              <a:spcBef>
                <a:spcPts val="0"/>
              </a:spcBef>
              <a:spcAft>
                <a:spcPts val="0"/>
              </a:spcAft>
            </a:pPr>
            <a:r>
              <a:rPr sz="100">
                <a:solidFill>
                  <a:srgbClr val="FFFFFF"/>
                </a:solidFill>
                <a:latin typeface="Noto Sans"/>
              </a:rPr>
              <a:t>Índice de Precios de Comunicaciones (IPCOM)</a:t>
            </a:r>
          </a:p>
        </p:txBody>
      </p:sp>
      <p:pic>
        <p:nvPicPr>
          <p:cNvPr id="223"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a:t>
            </a:r>
          </a:p>
        </p:txBody>
      </p:sp>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4" descr="Capa accesible con el texto del SVG de la figura A.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98.4%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19.0%</a:t>
            </a:r>
          </a:p>
          <a:p>
            <a:pPr>
              <a:spcBef>
                <a:spcPts val="0"/>
              </a:spcBef>
              <a:spcAft>
                <a:spcPts val="0"/>
              </a:spcAft>
            </a:pPr>
            <a:r>
              <a:rPr sz="100">
                <a:solidFill>
                  <a:srgbClr val="FFFFFF"/>
                </a:solidFill>
                <a:latin typeface="Noto Sans"/>
              </a:rPr>
              <a:t>46.9%</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44.3%</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74.6%</a:t>
            </a:r>
          </a:p>
          <a:p>
            <a:pPr>
              <a:spcBef>
                <a:spcPts val="0"/>
              </a:spcBef>
              <a:spcAft>
                <a:spcPts val="0"/>
              </a:spcAft>
            </a:pPr>
            <a:r>
              <a:rPr sz="100">
                <a:solidFill>
                  <a:srgbClr val="FFFFFF"/>
                </a:solidFill>
                <a:latin typeface="Noto Sans"/>
              </a:rPr>
              <a:t>13.7%</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69.4%</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73.2%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77.8%</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$64.1</a:t>
            </a:r>
          </a:p>
          <a:p>
            <a:pPr>
              <a:spcBef>
                <a:spcPts val="0"/>
              </a:spcBef>
              <a:spcAft>
                <a:spcPts val="0"/>
              </a:spcAft>
            </a:pPr>
            <a:r>
              <a:rPr sz="100">
                <a:solidFill>
                  <a:srgbClr val="FFFFFF"/>
                </a:solidFill>
                <a:latin typeface="Noto Sans"/>
              </a:rPr>
              <a:t>$51.9</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$101.0</a:t>
            </a:r>
          </a:p>
          <a:p>
            <a:pPr>
              <a:spcBef>
                <a:spcPts val="0"/>
              </a:spcBef>
              <a:spcAft>
                <a:spcPts val="0"/>
              </a:spcAft>
            </a:pPr>
            <a:r>
              <a:rPr sz="100">
                <a:solidFill>
                  <a:srgbClr val="FFFFFF"/>
                </a:solidFill>
                <a:latin typeface="Noto Sans"/>
              </a:rPr>
              <a:t>$85.0</a:t>
            </a:r>
          </a:p>
          <a:p>
            <a:pPr>
              <a:spcBef>
                <a:spcPts val="0"/>
              </a:spcBef>
              <a:spcAft>
                <a:spcPts val="0"/>
              </a:spcAft>
            </a:pPr>
            <a:r>
              <a:rPr sz="100">
                <a:solidFill>
                  <a:srgbClr val="FFFFFF"/>
                </a:solidFill>
                <a:latin typeface="Noto Sans"/>
              </a:rPr>
              <a:t>$81.2</a:t>
            </a:r>
          </a:p>
          <a:p>
            <a:pPr>
              <a:spcBef>
                <a:spcPts val="0"/>
              </a:spcBef>
              <a:spcAft>
                <a:spcPts val="0"/>
              </a:spcAft>
            </a:pPr>
            <a:r>
              <a:rPr sz="100">
                <a:solidFill>
                  <a:srgbClr val="FFFFFF"/>
                </a:solidFill>
                <a:latin typeface="Noto Sans"/>
              </a:rPr>
              <a:t>$81.4</a:t>
            </a:r>
          </a:p>
          <a:p>
            <a:pPr>
              <a:spcBef>
                <a:spcPts val="0"/>
              </a:spcBef>
              <a:spcAft>
                <a:spcPts val="0"/>
              </a:spcAft>
            </a:pPr>
            <a:r>
              <a:rPr sz="100">
                <a:solidFill>
                  <a:srgbClr val="FFFFFF"/>
                </a:solidFill>
                <a:latin typeface="Noto Sans"/>
              </a:rPr>
              <a:t>$84.8</a:t>
            </a:r>
          </a:p>
          <a:p>
            <a:pPr>
              <a:spcBef>
                <a:spcPts val="0"/>
              </a:spcBef>
              <a:spcAft>
                <a:spcPts val="0"/>
              </a:spcAft>
            </a:pPr>
            <a:r>
              <a:rPr sz="100">
                <a:solidFill>
                  <a:srgbClr val="FFFFFF"/>
                </a:solidFill>
                <a:latin typeface="Noto Sans"/>
              </a:rPr>
              <a:t>$76.6</a:t>
            </a:r>
          </a:p>
          <a:p>
            <a:pPr>
              <a:spcBef>
                <a:spcPts val="0"/>
              </a:spcBef>
              <a:spcAft>
                <a:spcPts val="0"/>
              </a:spcAft>
            </a:pPr>
            <a:r>
              <a:rPr sz="100">
                <a:solidFill>
                  <a:srgbClr val="FFFFFF"/>
                </a:solidFill>
                <a:latin typeface="Noto Sans"/>
              </a:rPr>
              <a:t>$69.6</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Figura A.4.</a:t>
            </a:r>
          </a:p>
          <a:p>
            <a:pPr>
              <a:spcBef>
                <a:spcPts val="0"/>
              </a:spcBef>
              <a:spcAft>
                <a:spcPts val="0"/>
              </a:spcAft>
            </a:pPr>
            <a:r>
              <a:rPr sz="100">
                <a:solidFill>
                  <a:srgbClr val="FFFFFF"/>
                </a:solidFill>
                <a:latin typeface="Noto Sans"/>
              </a:rPr>
              <a:t>Inversión privada en Telecomunicaciones por tipo de inversión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Para cada año la inversión se presenta acumulada al mes de diciembre.</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 Solo se considera la inversión realizada por operadores de servicios de telecomunicaciones.</a:t>
            </a:r>
          </a:p>
          <a:p>
            <a:pPr>
              <a:spcBef>
                <a:spcPts val="0"/>
              </a:spcBef>
              <a:spcAft>
                <a:spcPts val="0"/>
              </a:spcAft>
            </a:pPr>
            <a:r>
              <a:rPr sz="100">
                <a:solidFill>
                  <a:srgbClr val="FFFFFF"/>
                </a:solidFill>
                <a:latin typeface="Noto Sans"/>
              </a:rPr>
              <a:t>Infraestructura</a:t>
            </a:r>
          </a:p>
          <a:p>
            <a:pPr>
              <a:spcBef>
                <a:spcPts val="0"/>
              </a:spcBef>
              <a:spcAft>
                <a:spcPts val="0"/>
              </a:spcAft>
            </a:pPr>
            <a:r>
              <a:rPr sz="100">
                <a:solidFill>
                  <a:srgbClr val="FFFFFF"/>
                </a:solidFill>
                <a:latin typeface="Noto Sans"/>
              </a:rPr>
              <a:t>Otros Activos</a:t>
            </a:r>
          </a:p>
          <a:p>
            <a:pPr>
              <a:spcBef>
                <a:spcPts val="0"/>
              </a:spcBef>
              <a:spcAft>
                <a:spcPts val="0"/>
              </a:spcAft>
            </a:pPr>
            <a:r>
              <a:rPr sz="100">
                <a:solidFill>
                  <a:srgbClr val="FFFFFF"/>
                </a:solidFill>
                <a:latin typeface="Noto Sans"/>
              </a:rPr>
              <a:t>Activos No Tangibles</a:t>
            </a:r>
          </a:p>
          <a:p>
            <a:pPr>
              <a:spcBef>
                <a:spcPts val="0"/>
              </a:spcBef>
              <a:spcAft>
                <a:spcPts val="0"/>
              </a:spcAft>
            </a:pPr>
            <a:r>
              <a:rPr sz="100">
                <a:solidFill>
                  <a:srgbClr val="FFFFFF"/>
                </a:solidFill>
                <a:latin typeface="Noto Sans"/>
              </a:rPr>
              <a:t>No Especificada</a:t>
            </a:r>
          </a:p>
        </p:txBody>
      </p:sp>
      <p:pic>
        <p:nvPicPr>
          <p:cNvPr id="223"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14</a:t>
            </a:r>
          </a:p>
        </p:txBody>
      </p:sp>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5" descr="Capa accesible con el texto del SVG de la figura A.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A.5</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40,000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60,000</a:t>
            </a:r>
          </a:p>
          <a:p>
            <a:pPr>
              <a:spcBef>
                <a:spcPts val="0"/>
              </a:spcBef>
              <a:spcAft>
                <a:spcPts val="0"/>
              </a:spcAft>
            </a:pPr>
            <a:r>
              <a:rPr sz="100">
                <a:solidFill>
                  <a:srgbClr val="FFFFFF"/>
                </a:solidFill>
                <a:latin typeface="Noto Sans"/>
              </a:rPr>
              <a:t>Millones de dólares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Año</a:t>
            </a:r>
          </a:p>
          <a:p>
            <a:pPr>
              <a:spcBef>
                <a:spcPts val="0"/>
              </a:spcBef>
              <a:spcAft>
                <a:spcPts val="0"/>
              </a:spcAft>
            </a:pPr>
            <a:r>
              <a:rPr sz="100">
                <a:solidFill>
                  <a:srgbClr val="FFFFFF"/>
                </a:solidFill>
                <a:latin typeface="Noto Sans"/>
              </a:rPr>
              <a:t>48,357</a:t>
            </a:r>
          </a:p>
          <a:p>
            <a:pPr>
              <a:spcBef>
                <a:spcPts val="0"/>
              </a:spcBef>
              <a:spcAft>
                <a:spcPts val="0"/>
              </a:spcAft>
            </a:pPr>
            <a:r>
              <a:rPr sz="100">
                <a:solidFill>
                  <a:srgbClr val="FFFFFF"/>
                </a:solidFill>
                <a:latin typeface="Noto Sans"/>
              </a:rPr>
              <a:t>2,682.65</a:t>
            </a:r>
          </a:p>
          <a:p>
            <a:pPr>
              <a:spcBef>
                <a:spcPts val="0"/>
              </a:spcBef>
              <a:spcAft>
                <a:spcPts val="0"/>
              </a:spcAft>
            </a:pPr>
            <a:r>
              <a:rPr sz="100">
                <a:solidFill>
                  <a:srgbClr val="FFFFFF"/>
                </a:solidFill>
                <a:latin typeface="Noto Sans"/>
              </a:rPr>
              <a:t>30,352</a:t>
            </a:r>
          </a:p>
          <a:p>
            <a:pPr>
              <a:spcBef>
                <a:spcPts val="0"/>
              </a:spcBef>
              <a:spcAft>
                <a:spcPts val="0"/>
              </a:spcAft>
            </a:pPr>
            <a:r>
              <a:rPr sz="100">
                <a:solidFill>
                  <a:srgbClr val="FFFFFF"/>
                </a:solidFill>
                <a:latin typeface="Noto Sans"/>
              </a:rPr>
              <a:t>-4,272.79</a:t>
            </a:r>
          </a:p>
          <a:p>
            <a:pPr>
              <a:spcBef>
                <a:spcPts val="0"/>
              </a:spcBef>
              <a:spcAft>
                <a:spcPts val="0"/>
              </a:spcAft>
            </a:pPr>
            <a:r>
              <a:rPr sz="100">
                <a:solidFill>
                  <a:srgbClr val="FFFFFF"/>
                </a:solidFill>
                <a:latin typeface="Noto Sans"/>
              </a:rPr>
              <a:t>35,946</a:t>
            </a:r>
          </a:p>
          <a:p>
            <a:pPr>
              <a:spcBef>
                <a:spcPts val="0"/>
              </a:spcBef>
              <a:spcAft>
                <a:spcPts val="0"/>
              </a:spcAft>
            </a:pPr>
            <a:r>
              <a:rPr sz="100">
                <a:solidFill>
                  <a:srgbClr val="FFFFFF"/>
                </a:solidFill>
                <a:latin typeface="Noto Sans"/>
              </a:rPr>
              <a:t>2,749.70</a:t>
            </a:r>
          </a:p>
          <a:p>
            <a:pPr>
              <a:spcBef>
                <a:spcPts val="0"/>
              </a:spcBef>
              <a:spcAft>
                <a:spcPts val="0"/>
              </a:spcAft>
            </a:pPr>
            <a:r>
              <a:rPr sz="100">
                <a:solidFill>
                  <a:srgbClr val="FFFFFF"/>
                </a:solidFill>
                <a:latin typeface="Noto Sans"/>
              </a:rPr>
              <a:t>31,192</a:t>
            </a:r>
          </a:p>
          <a:p>
            <a:pPr>
              <a:spcBef>
                <a:spcPts val="0"/>
              </a:spcBef>
              <a:spcAft>
                <a:spcPts val="0"/>
              </a:spcAft>
            </a:pPr>
            <a:r>
              <a:rPr sz="100">
                <a:solidFill>
                  <a:srgbClr val="FFFFFF"/>
                </a:solidFill>
                <a:latin typeface="Noto Sans"/>
              </a:rPr>
              <a:t>684.60</a:t>
            </a:r>
          </a:p>
          <a:p>
            <a:pPr>
              <a:spcBef>
                <a:spcPts val="0"/>
              </a:spcBef>
              <a:spcAft>
                <a:spcPts val="0"/>
              </a:spcAft>
            </a:pPr>
            <a:r>
              <a:rPr sz="100">
                <a:solidFill>
                  <a:srgbClr val="FFFFFF"/>
                </a:solidFill>
                <a:latin typeface="Noto Sans"/>
              </a:rPr>
              <a:t>34,065</a:t>
            </a:r>
          </a:p>
          <a:p>
            <a:pPr>
              <a:spcBef>
                <a:spcPts val="0"/>
              </a:spcBef>
              <a:spcAft>
                <a:spcPts val="0"/>
              </a:spcAft>
            </a:pPr>
            <a:r>
              <a:rPr sz="100">
                <a:solidFill>
                  <a:srgbClr val="FFFFFF"/>
                </a:solidFill>
                <a:latin typeface="Noto Sans"/>
              </a:rPr>
              <a:t>321.48</a:t>
            </a:r>
          </a:p>
          <a:p>
            <a:pPr>
              <a:spcBef>
                <a:spcPts val="0"/>
              </a:spcBef>
              <a:spcAft>
                <a:spcPts val="0"/>
              </a:spcAft>
            </a:pPr>
            <a:r>
              <a:rPr sz="100">
                <a:solidFill>
                  <a:srgbClr val="FFFFFF"/>
                </a:solidFill>
                <a:latin typeface="Noto Sans"/>
              </a:rPr>
              <a:t>34,114</a:t>
            </a:r>
          </a:p>
          <a:p>
            <a:pPr>
              <a:spcBef>
                <a:spcPts val="0"/>
              </a:spcBef>
              <a:spcAft>
                <a:spcPts val="0"/>
              </a:spcAft>
            </a:pPr>
            <a:r>
              <a:rPr sz="100">
                <a:solidFill>
                  <a:srgbClr val="FFFFFF"/>
                </a:solidFill>
                <a:latin typeface="Noto Sans"/>
              </a:rPr>
              <a:t>1,062.24</a:t>
            </a:r>
          </a:p>
          <a:p>
            <a:pPr>
              <a:spcBef>
                <a:spcPts val="0"/>
              </a:spcBef>
              <a:spcAft>
                <a:spcPts val="0"/>
              </a:spcAft>
            </a:pPr>
            <a:r>
              <a:rPr sz="100">
                <a:solidFill>
                  <a:srgbClr val="FFFFFF"/>
                </a:solidFill>
                <a:latin typeface="Noto Sans"/>
              </a:rPr>
              <a:t>34,799</a:t>
            </a:r>
          </a:p>
          <a:p>
            <a:pPr>
              <a:spcBef>
                <a:spcPts val="0"/>
              </a:spcBef>
              <a:spcAft>
                <a:spcPts val="0"/>
              </a:spcAft>
            </a:pPr>
            <a:r>
              <a:rPr sz="100">
                <a:solidFill>
                  <a:srgbClr val="FFFFFF"/>
                </a:solidFill>
                <a:latin typeface="Noto Sans"/>
              </a:rPr>
              <a:t>1,661.18</a:t>
            </a:r>
          </a:p>
          <a:p>
            <a:pPr>
              <a:spcBef>
                <a:spcPts val="0"/>
              </a:spcBef>
              <a:spcAft>
                <a:spcPts val="0"/>
              </a:spcAft>
            </a:pPr>
            <a:r>
              <a:rPr sz="100">
                <a:solidFill>
                  <a:srgbClr val="FFFFFF"/>
                </a:solidFill>
                <a:latin typeface="Noto Sans"/>
              </a:rPr>
              <a:t>28,284</a:t>
            </a:r>
          </a:p>
          <a:p>
            <a:pPr>
              <a:spcBef>
                <a:spcPts val="0"/>
              </a:spcBef>
              <a:spcAft>
                <a:spcPts val="0"/>
              </a:spcAft>
            </a:pPr>
            <a:r>
              <a:rPr sz="100">
                <a:solidFill>
                  <a:srgbClr val="FFFFFF"/>
                </a:solidFill>
                <a:latin typeface="Noto Sans"/>
              </a:rPr>
              <a:t>1,107.76</a:t>
            </a:r>
          </a:p>
          <a:p>
            <a:pPr>
              <a:spcBef>
                <a:spcPts val="0"/>
              </a:spcBef>
              <a:spcAft>
                <a:spcPts val="0"/>
              </a:spcAft>
            </a:pPr>
            <a:r>
              <a:rPr sz="100">
                <a:solidFill>
                  <a:srgbClr val="FFFFFF"/>
                </a:solidFill>
                <a:latin typeface="Noto Sans"/>
              </a:rPr>
              <a:t>33,855</a:t>
            </a:r>
          </a:p>
          <a:p>
            <a:pPr>
              <a:spcBef>
                <a:spcPts val="0"/>
              </a:spcBef>
              <a:spcAft>
                <a:spcPts val="0"/>
              </a:spcAft>
            </a:pPr>
            <a:r>
              <a:rPr sz="100">
                <a:solidFill>
                  <a:srgbClr val="FFFFFF"/>
                </a:solidFill>
                <a:latin typeface="Noto Sans"/>
              </a:rPr>
              <a:t>392.33</a:t>
            </a:r>
          </a:p>
          <a:p>
            <a:pPr>
              <a:spcBef>
                <a:spcPts val="0"/>
              </a:spcBef>
              <a:spcAft>
                <a:spcPts val="0"/>
              </a:spcAft>
            </a:pPr>
            <a:r>
              <a:rPr sz="100">
                <a:solidFill>
                  <a:srgbClr val="FFFFFF"/>
                </a:solidFill>
                <a:latin typeface="Noto Sans"/>
              </a:rPr>
              <a:t>36,421</a:t>
            </a:r>
          </a:p>
          <a:p>
            <a:pPr>
              <a:spcBef>
                <a:spcPts val="0"/>
              </a:spcBef>
              <a:spcAft>
                <a:spcPts val="0"/>
              </a:spcAft>
            </a:pPr>
            <a:r>
              <a:rPr sz="100">
                <a:solidFill>
                  <a:srgbClr val="FFFFFF"/>
                </a:solidFill>
                <a:latin typeface="Noto Sans"/>
              </a:rPr>
              <a:t>74.34</a:t>
            </a:r>
          </a:p>
          <a:p>
            <a:pPr>
              <a:spcBef>
                <a:spcPts val="0"/>
              </a:spcBef>
              <a:spcAft>
                <a:spcPts val="0"/>
              </a:spcAft>
            </a:pPr>
            <a:r>
              <a:rPr sz="100">
                <a:solidFill>
                  <a:srgbClr val="FFFFFF"/>
                </a:solidFill>
                <a:latin typeface="Noto Sans"/>
              </a:rPr>
              <a:t>36,507</a:t>
            </a:r>
          </a:p>
          <a:p>
            <a:pPr>
              <a:spcBef>
                <a:spcPts val="0"/>
              </a:spcBef>
              <a:spcAft>
                <a:spcPts val="0"/>
              </a:spcAft>
            </a:pPr>
            <a:r>
              <a:rPr sz="100">
                <a:solidFill>
                  <a:srgbClr val="FFFFFF"/>
                </a:solidFill>
                <a:latin typeface="Noto Sans"/>
              </a:rPr>
              <a:t>-959.05</a:t>
            </a:r>
          </a:p>
          <a:p>
            <a:pPr>
              <a:spcBef>
                <a:spcPts val="0"/>
              </a:spcBef>
              <a:spcAft>
                <a:spcPts val="0"/>
              </a:spcAft>
            </a:pPr>
            <a:r>
              <a:rPr sz="100">
                <a:solidFill>
                  <a:srgbClr val="FFFFFF"/>
                </a:solidFill>
                <a:latin typeface="Noto Sans"/>
              </a:rPr>
              <a:t>37,969</a:t>
            </a:r>
          </a:p>
          <a:p>
            <a:pPr>
              <a:spcBef>
                <a:spcPts val="0"/>
              </a:spcBef>
              <a:spcAft>
                <a:spcPts val="0"/>
              </a:spcAft>
            </a:pPr>
            <a:r>
              <a:rPr sz="100">
                <a:solidFill>
                  <a:srgbClr val="FFFFFF"/>
                </a:solidFill>
                <a:latin typeface="Noto Sans"/>
              </a:rPr>
              <a:t>148.56</a:t>
            </a:r>
          </a:p>
          <a:p>
            <a:pPr>
              <a:spcBef>
                <a:spcPts val="0"/>
              </a:spcBef>
              <a:spcAft>
                <a:spcPts val="0"/>
              </a:spcAft>
            </a:pPr>
            <a:r>
              <a:rPr sz="100">
                <a:solidFill>
                  <a:srgbClr val="FFFFFF"/>
                </a:solidFill>
                <a:latin typeface="Noto Sans"/>
              </a:rPr>
              <a:t>41,917</a:t>
            </a:r>
          </a:p>
          <a:p>
            <a:pPr>
              <a:spcBef>
                <a:spcPts val="0"/>
              </a:spcBef>
              <a:spcAft>
                <a:spcPts val="0"/>
              </a:spcAft>
            </a:pPr>
            <a:r>
              <a:rPr sz="100">
                <a:solidFill>
                  <a:srgbClr val="FFFFFF"/>
                </a:solidFill>
                <a:latin typeface="Noto Sans"/>
              </a:rPr>
              <a:t>-73.84</a:t>
            </a:r>
          </a:p>
          <a:p>
            <a:pPr>
              <a:spcBef>
                <a:spcPts val="0"/>
              </a:spcBef>
              <a:spcAft>
                <a:spcPts val="0"/>
              </a:spcAft>
            </a:pPr>
            <a:r>
              <a:rPr sz="100">
                <a:solidFill>
                  <a:srgbClr val="FFFFFF"/>
                </a:solidFill>
                <a:latin typeface="Noto Sans"/>
              </a:rPr>
              <a:t>24,503</a:t>
            </a:r>
          </a:p>
          <a:p>
            <a:pPr>
              <a:spcBef>
                <a:spcPts val="0"/>
              </a:spcBef>
              <a:spcAft>
                <a:spcPts val="0"/>
              </a:spcAft>
            </a:pPr>
            <a:r>
              <a:rPr sz="100">
                <a:solidFill>
                  <a:srgbClr val="FFFFFF"/>
                </a:solidFill>
                <a:latin typeface="Noto Sans"/>
              </a:rPr>
              <a:t>-22.36</a:t>
            </a:r>
          </a:p>
          <a:p>
            <a:pPr>
              <a:spcBef>
                <a:spcPts val="0"/>
              </a:spcBef>
              <a:spcAft>
                <a:spcPts val="0"/>
              </a:spcAft>
            </a:pPr>
            <a:r>
              <a:rPr sz="100">
                <a:solidFill>
                  <a:srgbClr val="FFFFFF"/>
                </a:solidFill>
                <a:latin typeface="Noto Sans"/>
              </a:rPr>
              <a:t>Figura A.5.</a:t>
            </a:r>
          </a:p>
          <a:p>
            <a:pPr>
              <a:spcBef>
                <a:spcPts val="0"/>
              </a:spcBef>
              <a:spcAft>
                <a:spcPts val="0"/>
              </a:spcAft>
            </a:pPr>
            <a:r>
              <a:rPr sz="100">
                <a:solidFill>
                  <a:srgbClr val="FFFFFF"/>
                </a:solidFill>
                <a:latin typeface="Noto Sans"/>
              </a:rPr>
              <a:t>Inversión Extranjera Directa (IED) en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Secretaría de Economía, actualizados al segundo trimestre de 2026. Datos disponibles en: https://www.gob.mx/se/acciones-y-programas/competitividad-y-normatividad-inversion-extranjera-</a:t>
            </a:r>
          </a:p>
          <a:p>
            <a:pPr>
              <a:spcBef>
                <a:spcPts val="0"/>
              </a:spcBef>
              <a:spcAft>
                <a:spcPts val="0"/>
              </a:spcAft>
            </a:pPr>
            <a:r>
              <a:rPr sz="100">
                <a:solidFill>
                  <a:srgbClr val="FFFFFF"/>
                </a:solidFill>
                <a:latin typeface="Noto Sans"/>
              </a:rPr>
              <a:t>directa?state=published.</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millones de dólares (dólares corrientes). Rama 5151 Transmisión de programas de radio y televisión, y Subsector 517 Telecomunicaciones. Para 2026 las cifras son acumuladas de enero-marzo; para</a:t>
            </a:r>
          </a:p>
          <a:p>
            <a:pPr>
              <a:spcBef>
                <a:spcPts val="0"/>
              </a:spcBef>
              <a:spcAft>
                <a:spcPts val="0"/>
              </a:spcAft>
            </a:pPr>
            <a:r>
              <a:rPr sz="100">
                <a:solidFill>
                  <a:srgbClr val="FFFFFF"/>
                </a:solidFill>
                <a:latin typeface="Noto Sans"/>
              </a:rPr>
              <a:t>los años anteriores se utiliza el último trimestre común disponible.</a:t>
            </a:r>
          </a:p>
          <a:p>
            <a:pPr>
              <a:spcBef>
                <a:spcPts val="0"/>
              </a:spcBef>
              <a:spcAft>
                <a:spcPts val="0"/>
              </a:spcAft>
            </a:pPr>
            <a:r>
              <a:rPr sz="100">
                <a:solidFill>
                  <a:srgbClr val="FFFFFF"/>
                </a:solidFill>
                <a:latin typeface="Noto Sans"/>
              </a:rPr>
              <a:t>Inversión Extranjera Directa de México</a:t>
            </a:r>
          </a:p>
          <a:p>
            <a:pPr>
              <a:spcBef>
                <a:spcPts val="0"/>
              </a:spcBef>
              <a:spcAft>
                <a:spcPts val="0"/>
              </a:spcAft>
            </a:pPr>
            <a:r>
              <a:rPr sz="100">
                <a:solidFill>
                  <a:srgbClr val="FFFFFF"/>
                </a:solidFill>
                <a:latin typeface="Noto Sans"/>
              </a:rPr>
              <a:t>Inversión Extranjera Directa en Telecomunicaciones</a:t>
            </a:r>
          </a:p>
        </p:txBody>
      </p:sp>
      <p:pic>
        <p:nvPicPr>
          <p:cNvPr id="223"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15</a:t>
            </a:r>
          </a:p>
        </p:txBody>
      </p:sp>
    </p:spTree>
  </p:cSld>
  <p:clrMapOvr>
    <a:masterClrMapping/>
  </p:clrMapOvr>
</p:sld>
</file>

<file path=ppt/slides/slide1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6" descr="Capa accesible con el texto del SVG de la figura A.6"/>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A.6</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Miles de millones de pesos</a:t>
            </a:r>
          </a:p>
          <a:p>
            <a:pPr>
              <a:spcBef>
                <a:spcPts val="0"/>
              </a:spcBef>
              <a:spcAft>
                <a:spcPts val="0"/>
              </a:spcAft>
            </a:pPr>
            <a:r>
              <a:rPr sz="100">
                <a:solidFill>
                  <a:srgbClr val="FFFFFF"/>
                </a:solidFill>
                <a:latin typeface="Noto Sans"/>
              </a:rPr>
              <a:t>113,046</a:t>
            </a:r>
          </a:p>
          <a:p>
            <a:pPr>
              <a:spcBef>
                <a:spcPts val="0"/>
              </a:spcBef>
              <a:spcAft>
                <a:spcPts val="0"/>
              </a:spcAft>
            </a:pPr>
            <a:r>
              <a:rPr sz="100">
                <a:solidFill>
                  <a:srgbClr val="FFFFFF"/>
                </a:solidFill>
                <a:latin typeface="Noto Sans"/>
              </a:rPr>
              <a:t>114,038</a:t>
            </a:r>
          </a:p>
          <a:p>
            <a:pPr>
              <a:spcBef>
                <a:spcPts val="0"/>
              </a:spcBef>
              <a:spcAft>
                <a:spcPts val="0"/>
              </a:spcAft>
            </a:pPr>
            <a:r>
              <a:rPr sz="100">
                <a:solidFill>
                  <a:srgbClr val="FFFFFF"/>
                </a:solidFill>
                <a:latin typeface="Noto Sans"/>
              </a:rPr>
              <a:t>114,089</a:t>
            </a:r>
          </a:p>
          <a:p>
            <a:pPr>
              <a:spcBef>
                <a:spcPts val="0"/>
              </a:spcBef>
              <a:spcAft>
                <a:spcPts val="0"/>
              </a:spcAft>
            </a:pPr>
            <a:r>
              <a:rPr sz="100">
                <a:solidFill>
                  <a:srgbClr val="FFFFFF"/>
                </a:solidFill>
                <a:latin typeface="Noto Sans"/>
              </a:rPr>
              <a:t>124,743</a:t>
            </a:r>
          </a:p>
          <a:p>
            <a:pPr>
              <a:spcBef>
                <a:spcPts val="0"/>
              </a:spcBef>
              <a:spcAft>
                <a:spcPts val="0"/>
              </a:spcAft>
            </a:pPr>
            <a:r>
              <a:rPr sz="100">
                <a:solidFill>
                  <a:srgbClr val="FFFFFF"/>
                </a:solidFill>
                <a:latin typeface="Noto Sans"/>
              </a:rPr>
              <a:t>114,166</a:t>
            </a:r>
          </a:p>
          <a:p>
            <a:pPr>
              <a:spcBef>
                <a:spcPts val="0"/>
              </a:spcBef>
              <a:spcAft>
                <a:spcPts val="0"/>
              </a:spcAft>
            </a:pPr>
            <a:r>
              <a:rPr sz="100">
                <a:solidFill>
                  <a:srgbClr val="FFFFFF"/>
                </a:solidFill>
                <a:latin typeface="Noto Sans"/>
              </a:rPr>
              <a:t>123,769</a:t>
            </a:r>
          </a:p>
          <a:p>
            <a:pPr>
              <a:spcBef>
                <a:spcPts val="0"/>
              </a:spcBef>
              <a:spcAft>
                <a:spcPts val="0"/>
              </a:spcAft>
            </a:pPr>
            <a:r>
              <a:rPr sz="100">
                <a:solidFill>
                  <a:srgbClr val="FFFFFF"/>
                </a:solidFill>
                <a:latin typeface="Noto Sans"/>
              </a:rPr>
              <a:t>125,106</a:t>
            </a:r>
          </a:p>
          <a:p>
            <a:pPr>
              <a:spcBef>
                <a:spcPts val="0"/>
              </a:spcBef>
              <a:spcAft>
                <a:spcPts val="0"/>
              </a:spcAft>
            </a:pPr>
            <a:r>
              <a:rPr sz="100">
                <a:solidFill>
                  <a:srgbClr val="FFFFFF"/>
                </a:solidFill>
                <a:latin typeface="Noto Sans"/>
              </a:rPr>
              <a:t>130,446</a:t>
            </a:r>
          </a:p>
          <a:p>
            <a:pPr>
              <a:spcBef>
                <a:spcPts val="0"/>
              </a:spcBef>
              <a:spcAft>
                <a:spcPts val="0"/>
              </a:spcAft>
            </a:pPr>
            <a:r>
              <a:rPr sz="100">
                <a:solidFill>
                  <a:srgbClr val="FFFFFF"/>
                </a:solidFill>
                <a:latin typeface="Noto Sans"/>
              </a:rPr>
              <a:t>119,323</a:t>
            </a:r>
          </a:p>
          <a:p>
            <a:pPr>
              <a:spcBef>
                <a:spcPts val="0"/>
              </a:spcBef>
              <a:spcAft>
                <a:spcPts val="0"/>
              </a:spcAft>
            </a:pPr>
            <a:r>
              <a:rPr sz="100">
                <a:solidFill>
                  <a:srgbClr val="FFFFFF"/>
                </a:solidFill>
                <a:latin typeface="Noto Sans"/>
              </a:rPr>
              <a:t>127,379</a:t>
            </a:r>
          </a:p>
          <a:p>
            <a:pPr>
              <a:spcBef>
                <a:spcPts val="0"/>
              </a:spcBef>
              <a:spcAft>
                <a:spcPts val="0"/>
              </a:spcAft>
            </a:pPr>
            <a:r>
              <a:rPr sz="100">
                <a:solidFill>
                  <a:srgbClr val="FFFFFF"/>
                </a:solidFill>
                <a:latin typeface="Noto Sans"/>
              </a:rPr>
              <a:t>131,935</a:t>
            </a:r>
          </a:p>
          <a:p>
            <a:pPr>
              <a:spcBef>
                <a:spcPts val="0"/>
              </a:spcBef>
              <a:spcAft>
                <a:spcPts val="0"/>
              </a:spcAft>
            </a:pPr>
            <a:r>
              <a:rPr sz="100">
                <a:solidFill>
                  <a:srgbClr val="FFFFFF"/>
                </a:solidFill>
                <a:latin typeface="Noto Sans"/>
              </a:rPr>
              <a:t>138,337</a:t>
            </a:r>
          </a:p>
          <a:p>
            <a:pPr>
              <a:spcBef>
                <a:spcPts val="0"/>
              </a:spcBef>
              <a:spcAft>
                <a:spcPts val="0"/>
              </a:spcAft>
            </a:pPr>
            <a:r>
              <a:rPr sz="100">
                <a:solidFill>
                  <a:srgbClr val="FFFFFF"/>
                </a:solidFill>
                <a:latin typeface="Noto Sans"/>
              </a:rPr>
              <a:t>132,154</a:t>
            </a:r>
          </a:p>
          <a:p>
            <a:pPr>
              <a:spcBef>
                <a:spcPts val="0"/>
              </a:spcBef>
              <a:spcAft>
                <a:spcPts val="0"/>
              </a:spcAft>
            </a:pPr>
            <a:r>
              <a:rPr sz="100">
                <a:solidFill>
                  <a:srgbClr val="FFFFFF"/>
                </a:solidFill>
                <a:latin typeface="Noto Sans"/>
              </a:rPr>
              <a:t>118,927</a:t>
            </a:r>
          </a:p>
          <a:p>
            <a:pPr>
              <a:spcBef>
                <a:spcPts val="0"/>
              </a:spcBef>
              <a:spcAft>
                <a:spcPts val="0"/>
              </a:spcAft>
            </a:pPr>
            <a:r>
              <a:rPr sz="100">
                <a:solidFill>
                  <a:srgbClr val="FFFFFF"/>
                </a:solidFill>
                <a:latin typeface="Noto Sans"/>
              </a:rPr>
              <a:t>132,484</a:t>
            </a:r>
          </a:p>
          <a:p>
            <a:pPr>
              <a:spcBef>
                <a:spcPts val="0"/>
              </a:spcBef>
              <a:spcAft>
                <a:spcPts val="0"/>
              </a:spcAft>
            </a:pPr>
            <a:r>
              <a:rPr sz="100">
                <a:solidFill>
                  <a:srgbClr val="FFFFFF"/>
                </a:solidFill>
                <a:latin typeface="Noto Sans"/>
              </a:rPr>
              <a:t>137,441</a:t>
            </a:r>
          </a:p>
          <a:p>
            <a:pPr>
              <a:spcBef>
                <a:spcPts val="0"/>
              </a:spcBef>
              <a:spcAft>
                <a:spcPts val="0"/>
              </a:spcAft>
            </a:pPr>
            <a:r>
              <a:rPr sz="100">
                <a:solidFill>
                  <a:srgbClr val="FFFFFF"/>
                </a:solidFill>
                <a:latin typeface="Noto Sans"/>
              </a:rPr>
              <a:t>131,243</a:t>
            </a:r>
          </a:p>
          <a:p>
            <a:pPr>
              <a:spcBef>
                <a:spcPts val="0"/>
              </a:spcBef>
              <a:spcAft>
                <a:spcPts val="0"/>
              </a:spcAft>
            </a:pPr>
            <a:r>
              <a:rPr sz="100">
                <a:solidFill>
                  <a:srgbClr val="FFFFFF"/>
                </a:solidFill>
                <a:latin typeface="Noto Sans"/>
              </a:rPr>
              <a:t>125,606</a:t>
            </a:r>
          </a:p>
          <a:p>
            <a:pPr>
              <a:spcBef>
                <a:spcPts val="0"/>
              </a:spcBef>
              <a:spcAft>
                <a:spcPts val="0"/>
              </a:spcAft>
            </a:pPr>
            <a:r>
              <a:rPr sz="100">
                <a:solidFill>
                  <a:srgbClr val="FFFFFF"/>
                </a:solidFill>
                <a:latin typeface="Noto Sans"/>
              </a:rPr>
              <a:t>134,757</a:t>
            </a:r>
          </a:p>
          <a:p>
            <a:pPr>
              <a:spcBef>
                <a:spcPts val="0"/>
              </a:spcBef>
              <a:spcAft>
                <a:spcPts val="0"/>
              </a:spcAft>
            </a:pPr>
            <a:r>
              <a:rPr sz="100">
                <a:solidFill>
                  <a:srgbClr val="FFFFFF"/>
                </a:solidFill>
                <a:latin typeface="Noto Sans"/>
              </a:rPr>
              <a:t>146,900</a:t>
            </a:r>
          </a:p>
          <a:p>
            <a:pPr>
              <a:spcBef>
                <a:spcPts val="0"/>
              </a:spcBef>
              <a:spcAft>
                <a:spcPts val="0"/>
              </a:spcAft>
            </a:pPr>
            <a:r>
              <a:rPr sz="100">
                <a:solidFill>
                  <a:srgbClr val="FFFFFF"/>
                </a:solidFill>
                <a:latin typeface="Noto Sans"/>
              </a:rPr>
              <a:t>134,419</a:t>
            </a:r>
          </a:p>
          <a:p>
            <a:pPr>
              <a:spcBef>
                <a:spcPts val="0"/>
              </a:spcBef>
              <a:spcAft>
                <a:spcPts val="0"/>
              </a:spcAft>
            </a:pPr>
            <a:r>
              <a:rPr sz="100">
                <a:solidFill>
                  <a:srgbClr val="FFFFFF"/>
                </a:solidFill>
                <a:latin typeface="Noto Sans"/>
              </a:rPr>
              <a:t>141,731</a:t>
            </a:r>
          </a:p>
          <a:p>
            <a:pPr>
              <a:spcBef>
                <a:spcPts val="0"/>
              </a:spcBef>
              <a:spcAft>
                <a:spcPts val="0"/>
              </a:spcAft>
            </a:pPr>
            <a:r>
              <a:rPr sz="100">
                <a:solidFill>
                  <a:srgbClr val="FFFFFF"/>
                </a:solidFill>
                <a:latin typeface="Noto Sans"/>
              </a:rPr>
              <a:t>134,660</a:t>
            </a:r>
          </a:p>
          <a:p>
            <a:pPr>
              <a:spcBef>
                <a:spcPts val="0"/>
              </a:spcBef>
              <a:spcAft>
                <a:spcPts val="0"/>
              </a:spcAft>
            </a:pPr>
            <a:r>
              <a:rPr sz="100">
                <a:solidFill>
                  <a:srgbClr val="FFFFFF"/>
                </a:solidFill>
                <a:latin typeface="Noto Sans"/>
              </a:rPr>
              <a:t>154,251</a:t>
            </a:r>
          </a:p>
          <a:p>
            <a:pPr>
              <a:spcBef>
                <a:spcPts val="0"/>
              </a:spcBef>
              <a:spcAft>
                <a:spcPts val="0"/>
              </a:spcAft>
            </a:pPr>
            <a:r>
              <a:rPr sz="100">
                <a:solidFill>
                  <a:srgbClr val="FFFFFF"/>
                </a:solidFill>
                <a:latin typeface="Noto Sans"/>
              </a:rPr>
              <a:t>145,835</a:t>
            </a:r>
          </a:p>
          <a:p>
            <a:pPr>
              <a:spcBef>
                <a:spcPts val="0"/>
              </a:spcBef>
              <a:spcAft>
                <a:spcPts val="0"/>
              </a:spcAft>
            </a:pPr>
            <a:r>
              <a:rPr sz="100">
                <a:solidFill>
                  <a:srgbClr val="FFFFFF"/>
                </a:solidFill>
                <a:latin typeface="Noto Sans"/>
              </a:rPr>
              <a:t>148,403</a:t>
            </a:r>
          </a:p>
          <a:p>
            <a:pPr>
              <a:spcBef>
                <a:spcPts val="0"/>
              </a:spcBef>
              <a:spcAft>
                <a:spcPts val="0"/>
              </a:spcAft>
            </a:pPr>
            <a:r>
              <a:rPr sz="100">
                <a:solidFill>
                  <a:srgbClr val="FFFFFF"/>
                </a:solidFill>
                <a:latin typeface="Noto Sans"/>
              </a:rPr>
              <a:t>150,042</a:t>
            </a:r>
          </a:p>
          <a:p>
            <a:pPr>
              <a:spcBef>
                <a:spcPts val="0"/>
              </a:spcBef>
              <a:spcAft>
                <a:spcPts val="0"/>
              </a:spcAft>
            </a:pPr>
            <a:r>
              <a:rPr sz="100">
                <a:solidFill>
                  <a:srgbClr val="FFFFFF"/>
                </a:solidFill>
                <a:latin typeface="Noto Sans"/>
              </a:rPr>
              <a:t>159,144</a:t>
            </a:r>
          </a:p>
          <a:p>
            <a:pPr>
              <a:spcBef>
                <a:spcPts val="0"/>
              </a:spcBef>
              <a:spcAft>
                <a:spcPts val="0"/>
              </a:spcAft>
            </a:pPr>
            <a:r>
              <a:rPr sz="100">
                <a:solidFill>
                  <a:srgbClr val="FFFFFF"/>
                </a:solidFill>
                <a:latin typeface="Noto Sans"/>
              </a:rPr>
              <a:t>154,525</a:t>
            </a:r>
          </a:p>
          <a:p>
            <a:pPr>
              <a:spcBef>
                <a:spcPts val="0"/>
              </a:spcBef>
              <a:spcAft>
                <a:spcPts val="0"/>
              </a:spcAft>
            </a:pPr>
            <a:r>
              <a:rPr sz="100">
                <a:solidFill>
                  <a:srgbClr val="FFFFFF"/>
                </a:solidFill>
                <a:latin typeface="Noto Sans"/>
              </a:rPr>
              <a:t>150,579</a:t>
            </a:r>
          </a:p>
          <a:p>
            <a:pPr>
              <a:spcBef>
                <a:spcPts val="0"/>
              </a:spcBef>
              <a:spcAft>
                <a:spcPts val="0"/>
              </a:spcAft>
            </a:pPr>
            <a:r>
              <a:rPr sz="100">
                <a:solidFill>
                  <a:srgbClr val="FFFFFF"/>
                </a:solidFill>
                <a:latin typeface="Noto Sans"/>
              </a:rPr>
              <a:t>157,729</a:t>
            </a:r>
          </a:p>
          <a:p>
            <a:pPr>
              <a:spcBef>
                <a:spcPts val="0"/>
              </a:spcBef>
              <a:spcAft>
                <a:spcPts val="0"/>
              </a:spcAft>
            </a:pPr>
            <a:r>
              <a:rPr sz="100">
                <a:solidFill>
                  <a:srgbClr val="FFFFFF"/>
                </a:solidFill>
                <a:latin typeface="Noto Sans"/>
              </a:rPr>
              <a:t>163,138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Figura A.6.</a:t>
            </a:r>
          </a:p>
          <a:p>
            <a:pPr>
              <a:spcBef>
                <a:spcPts val="0"/>
              </a:spcBef>
              <a:spcAft>
                <a:spcPts val="0"/>
              </a:spcAft>
            </a:pPr>
            <a:r>
              <a:rPr sz="100">
                <a:solidFill>
                  <a:srgbClr val="FFFFFF"/>
                </a:solidFill>
                <a:latin typeface="Noto Sans"/>
              </a:rPr>
              <a:t>Ingresos, egresos y margen en el sector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BIT actualizado a diciembre de 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a:t>
            </a:r>
          </a:p>
          <a:p>
            <a:pPr>
              <a:spcBef>
                <a:spcPts val="0"/>
              </a:spcBef>
              <a:spcAft>
                <a:spcPts val="0"/>
              </a:spcAft>
            </a:pPr>
            <a:r>
              <a:rPr sz="100">
                <a:solidFill>
                  <a:srgbClr val="FFFFFF"/>
                </a:solidFill>
                <a:latin typeface="Noto Sans"/>
              </a:rPr>
              <a:t>Egresos</a:t>
            </a:r>
          </a:p>
          <a:p>
            <a:pPr>
              <a:spcBef>
                <a:spcPts val="0"/>
              </a:spcBef>
              <a:spcAft>
                <a:spcPts val="0"/>
              </a:spcAft>
            </a:pPr>
            <a:r>
              <a:rPr sz="100">
                <a:solidFill>
                  <a:srgbClr val="FFFFFF"/>
                </a:solidFill>
                <a:latin typeface="Noto Sans"/>
              </a:rPr>
              <a:t>Margen</a:t>
            </a:r>
          </a:p>
          <a:p>
            <a:pPr>
              <a:spcBef>
                <a:spcPts val="0"/>
              </a:spcBef>
              <a:spcAft>
                <a:spcPts val="0"/>
              </a:spcAft>
            </a:pPr>
            <a:r>
              <a:rPr sz="100">
                <a:solidFill>
                  <a:srgbClr val="FFFFFF"/>
                </a:solidFill>
                <a:latin typeface="Noto Sans"/>
              </a:rPr>
              <a:t>Ingresos totales (sin desglose)</a:t>
            </a:r>
          </a:p>
        </p:txBody>
      </p:sp>
      <p:pic>
        <p:nvPicPr>
          <p:cNvPr id="223"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16</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7" descr="Capa accesible con el texto del SVG de la figura A.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A.7</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42.2%</a:t>
            </a:r>
          </a:p>
          <a:p>
            <a:pPr>
              <a:spcBef>
                <a:spcPts val="0"/>
              </a:spcBef>
              <a:spcAft>
                <a:spcPts val="0"/>
              </a:spcAft>
            </a:pPr>
            <a:r>
              <a:rPr sz="100">
                <a:solidFill>
                  <a:srgbClr val="FFFFFF"/>
                </a:solidFill>
                <a:latin typeface="Noto Sans"/>
              </a:rPr>
              <a:t>31.3%</a:t>
            </a:r>
          </a:p>
          <a:p>
            <a:pPr>
              <a:spcBef>
                <a:spcPts val="0"/>
              </a:spcBef>
              <a:spcAft>
                <a:spcPts val="0"/>
              </a:spcAft>
            </a:pPr>
            <a:r>
              <a:rPr sz="100">
                <a:solidFill>
                  <a:srgbClr val="FFFFFF"/>
                </a:solidFill>
                <a:latin typeface="Noto Sans"/>
              </a:rPr>
              <a:t>57.5%</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67.2%</a:t>
            </a:r>
          </a:p>
          <a:p>
            <a:pPr>
              <a:spcBef>
                <a:spcPts val="0"/>
              </a:spcBef>
              <a:spcAft>
                <a:spcPts val="0"/>
              </a:spcAft>
            </a:pPr>
            <a:r>
              <a:rPr sz="100">
                <a:solidFill>
                  <a:srgbClr val="FFFFFF"/>
                </a:solidFill>
                <a:latin typeface="Noto Sans"/>
              </a:rPr>
              <a:t>57.3%</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65.6%</a:t>
            </a:r>
          </a:p>
          <a:p>
            <a:pPr>
              <a:spcBef>
                <a:spcPts val="0"/>
              </a:spcBef>
              <a:spcAft>
                <a:spcPts val="0"/>
              </a:spcAft>
            </a:pPr>
            <a:r>
              <a:rPr sz="100">
                <a:solidFill>
                  <a:srgbClr val="FFFFFF"/>
                </a:solidFill>
                <a:latin typeface="Noto Sans"/>
              </a:rPr>
              <a:t>80.8%</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77.7%</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83.0%</a:t>
            </a:r>
          </a:p>
          <a:p>
            <a:pPr>
              <a:spcBef>
                <a:spcPts val="0"/>
              </a:spcBef>
              <a:spcAft>
                <a:spcPts val="0"/>
              </a:spcAft>
            </a:pPr>
            <a:r>
              <a:rPr sz="100">
                <a:solidFill>
                  <a:srgbClr val="FFFFFF"/>
                </a:solidFill>
                <a:latin typeface="Noto Sans"/>
              </a:rPr>
              <a:t>92.6%</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91.7%</a:t>
            </a:r>
          </a:p>
          <a:p>
            <a:pPr>
              <a:spcBef>
                <a:spcPts val="0"/>
              </a:spcBef>
              <a:spcAft>
                <a:spcPts val="0"/>
              </a:spcAft>
            </a:pPr>
            <a:r>
              <a:rPr sz="100">
                <a:solidFill>
                  <a:srgbClr val="FFFFFF"/>
                </a:solidFill>
                <a:latin typeface="Noto Sans"/>
              </a:rPr>
              <a:t>98.6%</a:t>
            </a:r>
          </a:p>
          <a:p>
            <a:pPr>
              <a:spcBef>
                <a:spcPts val="0"/>
              </a:spcBef>
              <a:spcAft>
                <a:spcPts val="0"/>
              </a:spcAft>
            </a:pPr>
            <a:r>
              <a:rPr sz="100">
                <a:solidFill>
                  <a:srgbClr val="FFFFFF"/>
                </a:solidFill>
                <a:latin typeface="Noto Sans"/>
              </a:rPr>
              <a:t>94.5%</a:t>
            </a:r>
          </a:p>
          <a:p>
            <a:pPr>
              <a:spcBef>
                <a:spcPts val="0"/>
              </a:spcBef>
              <a:spcAft>
                <a:spcPts val="0"/>
              </a:spcAft>
            </a:pPr>
            <a:r>
              <a:rPr sz="100">
                <a:solidFill>
                  <a:srgbClr val="FFFFFF"/>
                </a:solidFill>
                <a:latin typeface="Noto Sans"/>
              </a:rPr>
              <a:t>Figura A.7.</a:t>
            </a:r>
          </a:p>
          <a:p>
            <a:pPr>
              <a:spcBef>
                <a:spcPts val="0"/>
              </a:spcBef>
              <a:spcAft>
                <a:spcPts val="0"/>
              </a:spcAft>
            </a:pPr>
            <a:r>
              <a:rPr sz="100">
                <a:solidFill>
                  <a:srgbClr val="FFFFFF"/>
                </a:solidFill>
                <a:latin typeface="Noto Sans"/>
              </a:rPr>
              <a:t>Porcentaje de hogares con servicios de telecomunicaciones fijas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valor de los deciles de ingreso se determina con el factor de expansión de la encuesta.</a:t>
            </a:r>
          </a:p>
          <a:p>
            <a:pPr>
              <a:spcBef>
                <a:spcPts val="0"/>
              </a:spcBef>
              <a:spcAft>
                <a:spcPts val="0"/>
              </a:spcAft>
            </a:pPr>
            <a:r>
              <a:rPr sz="100">
                <a:solidFill>
                  <a:srgbClr val="FFFFFF"/>
                </a:solidFill>
                <a:latin typeface="Noto Sans"/>
              </a:rPr>
              <a:t>% Hogares con telecomunicaciones fijas</a:t>
            </a:r>
          </a:p>
          <a:p>
            <a:pPr>
              <a:spcBef>
                <a:spcPts val="0"/>
              </a:spcBef>
              <a:spcAft>
                <a:spcPts val="0"/>
              </a:spcAft>
            </a:pPr>
            <a:r>
              <a:rPr sz="100">
                <a:solidFill>
                  <a:srgbClr val="FFFFFF"/>
                </a:solidFill>
                <a:latin typeface="Noto Sans"/>
              </a:rPr>
              <a:t>% Hogares que disponen y gastan en telecomunicaciones fijas</a:t>
            </a:r>
          </a:p>
        </p:txBody>
      </p:sp>
      <p:pic>
        <p:nvPicPr>
          <p:cNvPr id="223"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17</a:t>
            </a:r>
          </a:p>
        </p:txBody>
      </p:sp>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8" descr="Capa accesible con el texto del SVG de la figura A.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A.8</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$340</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$416</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$459</a:t>
            </a:r>
          </a:p>
          <a:p>
            <a:pPr>
              <a:spcBef>
                <a:spcPts val="0"/>
              </a:spcBef>
              <a:spcAft>
                <a:spcPts val="0"/>
              </a:spcAft>
            </a:pPr>
            <a:r>
              <a:rPr sz="100">
                <a:solidFill>
                  <a:srgbClr val="FFFFFF"/>
                </a:solidFill>
                <a:latin typeface="Noto Sans"/>
              </a:rPr>
              <a:t>$481</a:t>
            </a:r>
          </a:p>
          <a:p>
            <a:pPr>
              <a:spcBef>
                <a:spcPts val="0"/>
              </a:spcBef>
              <a:spcAft>
                <a:spcPts val="0"/>
              </a:spcAft>
            </a:pPr>
            <a:r>
              <a:rPr sz="100">
                <a:solidFill>
                  <a:srgbClr val="FFFFFF"/>
                </a:solidFill>
                <a:latin typeface="Noto Sans"/>
              </a:rPr>
              <a:t>$506</a:t>
            </a:r>
          </a:p>
          <a:p>
            <a:pPr>
              <a:spcBef>
                <a:spcPts val="0"/>
              </a:spcBef>
              <a:spcAft>
                <a:spcPts val="0"/>
              </a:spcAft>
            </a:pPr>
            <a:r>
              <a:rPr sz="100">
                <a:solidFill>
                  <a:srgbClr val="FFFFFF"/>
                </a:solidFill>
                <a:latin typeface="Noto Sans"/>
              </a:rPr>
              <a:t>$548</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$691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A.8.</a:t>
            </a:r>
          </a:p>
          <a:p>
            <a:pPr>
              <a:spcBef>
                <a:spcPts val="0"/>
              </a:spcBef>
              <a:spcAft>
                <a:spcPts val="0"/>
              </a:spcAft>
            </a:pPr>
            <a:r>
              <a:rPr sz="100">
                <a:solidFill>
                  <a:srgbClr val="FFFFFF"/>
                </a:solidFill>
                <a:latin typeface="Noto Sans"/>
              </a:rPr>
              <a:t>Gasto promedio y porcentaje de gasto en Servicios de Telecomunicaciones Fijas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18</a:t>
            </a:r>
          </a:p>
        </p:txBody>
      </p:sp>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9" descr="Capa accesible con el texto del SVG de la figura A.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A.9</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59.2%</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73.5%</a:t>
            </a:r>
          </a:p>
          <a:p>
            <a:pPr>
              <a:spcBef>
                <a:spcPts val="0"/>
              </a:spcBef>
              <a:spcAft>
                <a:spcPts val="0"/>
              </a:spcAft>
            </a:pPr>
            <a:r>
              <a:rPr sz="100">
                <a:solidFill>
                  <a:srgbClr val="FFFFFF"/>
                </a:solidFill>
                <a:latin typeface="Noto Sans"/>
              </a:rPr>
              <a:t>93.9%</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82.7%</a:t>
            </a:r>
          </a:p>
          <a:p>
            <a:pPr>
              <a:spcBef>
                <a:spcPts val="0"/>
              </a:spcBef>
              <a:spcAft>
                <a:spcPts val="0"/>
              </a:spcAft>
            </a:pPr>
            <a:r>
              <a:rPr sz="100">
                <a:solidFill>
                  <a:srgbClr val="FFFFFF"/>
                </a:solidFill>
                <a:latin typeface="Noto Sans"/>
              </a:rPr>
              <a:t>96.4%</a:t>
            </a:r>
          </a:p>
          <a:p>
            <a:pPr>
              <a:spcBef>
                <a:spcPts val="0"/>
              </a:spcBef>
              <a:spcAft>
                <a:spcPts val="0"/>
              </a:spcAft>
            </a:pPr>
            <a:r>
              <a:rPr sz="100">
                <a:solidFill>
                  <a:srgbClr val="FFFFFF"/>
                </a:solidFill>
                <a:latin typeface="Noto Sans"/>
              </a:rPr>
              <a:t>84.5%</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88.0%</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89.6%</a:t>
            </a:r>
          </a:p>
          <a:p>
            <a:pPr>
              <a:spcBef>
                <a:spcPts val="0"/>
              </a:spcBef>
              <a:spcAft>
                <a:spcPts val="0"/>
              </a:spcAft>
            </a:pPr>
            <a:r>
              <a:rPr sz="100">
                <a:solidFill>
                  <a:srgbClr val="FFFFFF"/>
                </a:solidFill>
                <a:latin typeface="Noto Sans"/>
              </a:rPr>
              <a:t>99.0%</a:t>
            </a:r>
          </a:p>
          <a:p>
            <a:pPr>
              <a:spcBef>
                <a:spcPts val="0"/>
              </a:spcBef>
              <a:spcAft>
                <a:spcPts val="0"/>
              </a:spcAft>
            </a:pPr>
            <a:r>
              <a:rPr sz="100">
                <a:solidFill>
                  <a:srgbClr val="FFFFFF"/>
                </a:solidFill>
                <a:latin typeface="Noto Sans"/>
              </a:rPr>
              <a:t>90.9%</a:t>
            </a:r>
          </a:p>
          <a:p>
            <a:pPr>
              <a:spcBef>
                <a:spcPts val="0"/>
              </a:spcBef>
              <a:spcAft>
                <a:spcPts val="0"/>
              </a:spcAft>
            </a:pPr>
            <a:r>
              <a:rPr sz="100">
                <a:solidFill>
                  <a:srgbClr val="FFFFFF"/>
                </a:solidFill>
                <a:latin typeface="Noto Sans"/>
              </a:rPr>
              <a:t>99.3%</a:t>
            </a:r>
          </a:p>
          <a:p>
            <a:pPr>
              <a:spcBef>
                <a:spcPts val="0"/>
              </a:spcBef>
              <a:spcAft>
                <a:spcPts val="0"/>
              </a:spcAft>
            </a:pPr>
            <a:r>
              <a:rPr sz="100">
                <a:solidFill>
                  <a:srgbClr val="FFFFFF"/>
                </a:solidFill>
                <a:latin typeface="Noto Sans"/>
              </a:rPr>
              <a:t>91.1%</a:t>
            </a:r>
          </a:p>
          <a:p>
            <a:pPr>
              <a:spcBef>
                <a:spcPts val="0"/>
              </a:spcBef>
              <a:spcAft>
                <a:spcPts val="0"/>
              </a:spcAft>
            </a:pPr>
            <a:r>
              <a:rPr sz="100">
                <a:solidFill>
                  <a:srgbClr val="FFFFFF"/>
                </a:solidFill>
                <a:latin typeface="Noto Sans"/>
              </a:rPr>
              <a:t>Figura A.9.</a:t>
            </a:r>
          </a:p>
          <a:p>
            <a:pPr>
              <a:spcBef>
                <a:spcPts val="0"/>
              </a:spcBef>
              <a:spcAft>
                <a:spcPts val="0"/>
              </a:spcAft>
            </a:pPr>
            <a:r>
              <a:rPr sz="100">
                <a:solidFill>
                  <a:srgbClr val="FFFFFF"/>
                </a:solidFill>
                <a:latin typeface="Noto Sans"/>
              </a:rPr>
              <a:t>Porcentaje de hogares con Servicios de Telecomunicaciones Móviles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 Hogares con telecomunicaciones móviles</a:t>
            </a:r>
          </a:p>
          <a:p>
            <a:pPr>
              <a:spcBef>
                <a:spcPts val="0"/>
              </a:spcBef>
              <a:spcAft>
                <a:spcPts val="0"/>
              </a:spcAft>
            </a:pPr>
            <a:r>
              <a:rPr sz="100">
                <a:solidFill>
                  <a:srgbClr val="FFFFFF"/>
                </a:solidFill>
                <a:latin typeface="Noto Sans"/>
              </a:rPr>
              <a:t>% Hogares que disponen y gastan en telecomunicaciones móviles</a:t>
            </a:r>
          </a:p>
        </p:txBody>
      </p:sp>
      <p:pic>
        <p:nvPicPr>
          <p:cNvPr id="223"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19</a:t>
            </a:r>
          </a:p>
        </p:txBody>
      </p:sp>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0" descr="Capa accesible con el texto del SVG de la figura A.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A.10</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$347</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$442</a:t>
            </a:r>
          </a:p>
          <a:p>
            <a:pPr>
              <a:spcBef>
                <a:spcPts val="0"/>
              </a:spcBef>
              <a:spcAft>
                <a:spcPts val="0"/>
              </a:spcAft>
            </a:pPr>
            <a:r>
              <a:rPr sz="100">
                <a:solidFill>
                  <a:srgbClr val="FFFFFF"/>
                </a:solidFill>
                <a:latin typeface="Noto Sans"/>
              </a:rPr>
              <a:t>$523</a:t>
            </a:r>
          </a:p>
          <a:p>
            <a:pPr>
              <a:spcBef>
                <a:spcPts val="0"/>
              </a:spcBef>
              <a:spcAft>
                <a:spcPts val="0"/>
              </a:spcAft>
            </a:pPr>
            <a:r>
              <a:rPr sz="100">
                <a:solidFill>
                  <a:srgbClr val="FFFFFF"/>
                </a:solidFill>
                <a:latin typeface="Noto Sans"/>
              </a:rPr>
              <a:t>$630</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Figura A.10.</a:t>
            </a:r>
          </a:p>
          <a:p>
            <a:pPr>
              <a:spcBef>
                <a:spcPts val="0"/>
              </a:spcBef>
              <a:spcAft>
                <a:spcPts val="0"/>
              </a:spcAft>
            </a:pPr>
            <a:r>
              <a:rPr sz="100">
                <a:solidFill>
                  <a:srgbClr val="FFFFFF"/>
                </a:solidFill>
                <a:latin typeface="Noto Sans"/>
              </a:rPr>
              <a:t>Gasto promedio y porcentaje de gasto en Servicios de Telecomunicaciones Móviles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20</a:t>
            </a:r>
          </a:p>
        </p:txBody>
      </p:sp>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 descr="Capa accesible con el texto del SVG de la figura B.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a:t>
            </a:r>
          </a:p>
          <a:p>
            <a:pPr>
              <a:spcBef>
                <a:spcPts val="0"/>
              </a:spcBef>
              <a:spcAft>
                <a:spcPts val="0"/>
              </a:spcAft>
            </a:pPr>
            <a:r>
              <a:rPr sz="100">
                <a:solidFill>
                  <a:srgbClr val="FFFFFF"/>
                </a:solidFill>
                <a:latin typeface="Noto Sans"/>
              </a:rPr>
              <a:t>Total de hogares en México:</a:t>
            </a:r>
          </a:p>
          <a:p>
            <a:pPr>
              <a:spcBef>
                <a:spcPts val="0"/>
              </a:spcBef>
              <a:spcAft>
                <a:spcPts val="0"/>
              </a:spcAft>
            </a:pPr>
            <a:r>
              <a:rPr sz="100">
                <a:solidFill>
                  <a:srgbClr val="FFFFFF"/>
                </a:solidFill>
                <a:latin typeface="Noto Sans"/>
              </a:rPr>
              <a:t>39,677,498</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B.1.</a:t>
            </a:r>
          </a:p>
          <a:p>
            <a:pPr>
              <a:spcBef>
                <a:spcPts val="0"/>
              </a:spcBef>
              <a:spcAft>
                <a:spcPts val="0"/>
              </a:spcAft>
            </a:pPr>
            <a:r>
              <a:rPr sz="100">
                <a:solidFill>
                  <a:srgbClr val="FFFFFF"/>
                </a:solidFill>
                <a:latin typeface="Noto Sans"/>
              </a:rPr>
              <a:t>Distribución de los Servicios Fijos con respecto del total de hogares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21</a:t>
            </a:r>
          </a:p>
        </p:txBody>
      </p:sp>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 descr="Capa accesible con el texto del SVG de la figura B.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8,054,749</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rurales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22</a:t>
            </a:r>
          </a:p>
        </p:txBody>
      </p:sp>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3" descr="Capa accesible con el texto del SVG de la figura B.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B.3</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31,622,749</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urbanas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23</a:t>
            </a:r>
          </a:p>
        </p:txBody>
      </p:sp>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4" descr="Capa accesible con el texto del SVG de la figura B.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B.4</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12,000,000</a:t>
            </a:r>
          </a:p>
          <a:p>
            <a:pPr>
              <a:spcBef>
                <a:spcPts val="0"/>
              </a:spcBef>
              <a:spcAft>
                <a:spcPts val="0"/>
              </a:spcAft>
            </a:pPr>
            <a:r>
              <a:rPr sz="100">
                <a:solidFill>
                  <a:srgbClr val="FFFFFF"/>
                </a:solidFill>
                <a:latin typeface="Noto Sans"/>
              </a:rPr>
              <a:t>14,000,000</a:t>
            </a:r>
          </a:p>
          <a:p>
            <a:pPr>
              <a:spcBef>
                <a:spcPts val="0"/>
              </a:spcBef>
              <a:spcAft>
                <a:spcPts val="0"/>
              </a:spcAft>
            </a:pPr>
            <a:r>
              <a:rPr sz="100">
                <a:solidFill>
                  <a:srgbClr val="FFFFFF"/>
                </a:solidFill>
                <a:latin typeface="Noto Sans"/>
              </a:rPr>
              <a:t>16,000,000</a:t>
            </a:r>
          </a:p>
          <a:p>
            <a:pPr>
              <a:spcBef>
                <a:spcPts val="0"/>
              </a:spcBef>
              <a:spcAft>
                <a:spcPts val="0"/>
              </a:spcAft>
            </a:pPr>
            <a:r>
              <a:rPr sz="100">
                <a:solidFill>
                  <a:srgbClr val="FFFFFF"/>
                </a:solidFill>
                <a:latin typeface="Noto Sans"/>
              </a:rPr>
              <a:t>18,000,000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22,000,000</a:t>
            </a:r>
          </a:p>
          <a:p>
            <a:pPr>
              <a:spcBef>
                <a:spcPts val="0"/>
              </a:spcBef>
              <a:spcAft>
                <a:spcPts val="0"/>
              </a:spcAft>
            </a:pPr>
            <a:r>
              <a:rPr sz="100">
                <a:solidFill>
                  <a:srgbClr val="FFFFFF"/>
                </a:solidFill>
                <a:latin typeface="Noto Sans"/>
              </a:rPr>
              <a:t>24,000,000</a:t>
            </a:r>
          </a:p>
          <a:p>
            <a:pPr>
              <a:spcBef>
                <a:spcPts val="0"/>
              </a:spcBef>
              <a:spcAft>
                <a:spcPts val="0"/>
              </a:spcAft>
            </a:pPr>
            <a:r>
              <a:rPr sz="100">
                <a:solidFill>
                  <a:srgbClr val="FFFFFF"/>
                </a:solidFill>
                <a:latin typeface="Noto Sans"/>
              </a:rPr>
              <a:t>26,000,000</a:t>
            </a:r>
          </a:p>
          <a:p>
            <a:pPr>
              <a:spcBef>
                <a:spcPts val="0"/>
              </a:spcBef>
              <a:spcAft>
                <a:spcPts val="0"/>
              </a:spcAft>
            </a:pPr>
            <a:r>
              <a:rPr sz="100">
                <a:solidFill>
                  <a:srgbClr val="FFFFFF"/>
                </a:solidFill>
                <a:latin typeface="Noto Sans"/>
              </a:rPr>
              <a:t>28,000,000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32,000,000</a:t>
            </a:r>
          </a:p>
          <a:p>
            <a:pPr>
              <a:spcBef>
                <a:spcPts val="0"/>
              </a:spcBef>
              <a:spcAft>
                <a:spcPts val="0"/>
              </a:spcAft>
            </a:pPr>
            <a:r>
              <a:rPr sz="100">
                <a:solidFill>
                  <a:srgbClr val="FFFFFF"/>
                </a:solidFill>
                <a:latin typeface="Noto Sans"/>
              </a:rPr>
              <a:t>34,000,000</a:t>
            </a:r>
          </a:p>
          <a:p>
            <a:pPr>
              <a:spcBef>
                <a:spcPts val="0"/>
              </a:spcBef>
              <a:spcAft>
                <a:spcPts val="0"/>
              </a:spcAft>
            </a:pPr>
            <a:r>
              <a:rPr sz="100">
                <a:solidFill>
                  <a:srgbClr val="FFFFFF"/>
                </a:solidFill>
                <a:latin typeface="Noto Sans"/>
              </a:rPr>
              <a:t>31,361,393</a:t>
            </a:r>
          </a:p>
          <a:p>
            <a:pPr>
              <a:spcBef>
                <a:spcPts val="0"/>
              </a:spcBef>
              <a:spcAft>
                <a:spcPts val="0"/>
              </a:spcAft>
            </a:pPr>
            <a:r>
              <a:rPr sz="100">
                <a:solidFill>
                  <a:srgbClr val="FFFFFF"/>
                </a:solidFill>
                <a:latin typeface="Noto Sans"/>
              </a:rPr>
              <a:t>12,330,180</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Figura B.4.</a:t>
            </a:r>
          </a:p>
          <a:p>
            <a:pPr>
              <a:spcBef>
                <a:spcPts val="0"/>
              </a:spcBef>
              <a:spcAft>
                <a:spcPts val="0"/>
              </a:spcAft>
            </a:pPr>
            <a:r>
              <a:rPr sz="100">
                <a:solidFill>
                  <a:srgbClr val="FFFFFF"/>
                </a:solidFill>
                <a:latin typeface="Noto Sans"/>
              </a:rPr>
              <a:t>Líneas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24</a:t>
            </a:r>
          </a:p>
        </p:txBody>
      </p:sp>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5" descr="Capa accesible con el texto del SVG de la figura B.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B.5</a:t>
            </a:r>
          </a:p>
          <a:p>
            <a:pPr>
              <a:spcBef>
                <a:spcPts val="0"/>
              </a:spcBef>
              <a:spcAft>
                <a:spcPts val="0"/>
              </a:spcAft>
            </a:pPr>
            <a:r>
              <a:rPr sz="100">
                <a:solidFill>
                  <a:srgbClr val="FFFFFF"/>
                </a:solidFill>
                <a:latin typeface="Noto Sans"/>
              </a:rPr>
              <a:t>1971</a:t>
            </a:r>
          </a:p>
          <a:p>
            <a:pPr>
              <a:spcBef>
                <a:spcPts val="0"/>
              </a:spcBef>
              <a:spcAft>
                <a:spcPts val="0"/>
              </a:spcAft>
            </a:pPr>
            <a:r>
              <a:rPr sz="100">
                <a:solidFill>
                  <a:srgbClr val="FFFFFF"/>
                </a:solidFill>
                <a:latin typeface="Noto Sans"/>
              </a:rPr>
              <a:t>1973</a:t>
            </a:r>
          </a:p>
          <a:p>
            <a:pPr>
              <a:spcBef>
                <a:spcPts val="0"/>
              </a:spcBef>
              <a:spcAft>
                <a:spcPts val="0"/>
              </a:spcAft>
            </a:pPr>
            <a:r>
              <a:rPr sz="100">
                <a:solidFill>
                  <a:srgbClr val="FFFFFF"/>
                </a:solidFill>
                <a:latin typeface="Noto Sans"/>
              </a:rPr>
              <a:t>1975</a:t>
            </a:r>
          </a:p>
          <a:p>
            <a:pPr>
              <a:spcBef>
                <a:spcPts val="0"/>
              </a:spcBef>
              <a:spcAft>
                <a:spcPts val="0"/>
              </a:spcAft>
            </a:pPr>
            <a:r>
              <a:rPr sz="100">
                <a:solidFill>
                  <a:srgbClr val="FFFFFF"/>
                </a:solidFill>
                <a:latin typeface="Noto Sans"/>
              </a:rPr>
              <a:t>1977</a:t>
            </a:r>
          </a:p>
          <a:p>
            <a:pPr>
              <a:spcBef>
                <a:spcPts val="0"/>
              </a:spcBef>
              <a:spcAft>
                <a:spcPts val="0"/>
              </a:spcAft>
            </a:pPr>
            <a:r>
              <a:rPr sz="100">
                <a:solidFill>
                  <a:srgbClr val="FFFFFF"/>
                </a:solidFill>
                <a:latin typeface="Noto Sans"/>
              </a:rPr>
              <a:t>1979</a:t>
            </a:r>
          </a:p>
          <a:p>
            <a:pPr>
              <a:spcBef>
                <a:spcPts val="0"/>
              </a:spcBef>
              <a:spcAft>
                <a:spcPts val="0"/>
              </a:spcAft>
            </a:pPr>
            <a:r>
              <a:rPr sz="100">
                <a:solidFill>
                  <a:srgbClr val="FFFFFF"/>
                </a:solidFill>
                <a:latin typeface="Noto Sans"/>
              </a:rPr>
              <a:t>1981</a:t>
            </a:r>
          </a:p>
          <a:p>
            <a:pPr>
              <a:spcBef>
                <a:spcPts val="0"/>
              </a:spcBef>
              <a:spcAft>
                <a:spcPts val="0"/>
              </a:spcAft>
            </a:pPr>
            <a:r>
              <a:rPr sz="100">
                <a:solidFill>
                  <a:srgbClr val="FFFFFF"/>
                </a:solidFill>
                <a:latin typeface="Noto Sans"/>
              </a:rPr>
              <a:t>1983</a:t>
            </a:r>
          </a:p>
          <a:p>
            <a:pPr>
              <a:spcBef>
                <a:spcPts val="0"/>
              </a:spcBef>
              <a:spcAft>
                <a:spcPts val="0"/>
              </a:spcAft>
            </a:pPr>
            <a:r>
              <a:rPr sz="100">
                <a:solidFill>
                  <a:srgbClr val="FFFFFF"/>
                </a:solidFill>
                <a:latin typeface="Noto Sans"/>
              </a:rPr>
              <a:t>1985</a:t>
            </a:r>
          </a:p>
          <a:p>
            <a:pPr>
              <a:spcBef>
                <a:spcPts val="0"/>
              </a:spcBef>
              <a:spcAft>
                <a:spcPts val="0"/>
              </a:spcAft>
            </a:pPr>
            <a:r>
              <a:rPr sz="100">
                <a:solidFill>
                  <a:srgbClr val="FFFFFF"/>
                </a:solidFill>
                <a:latin typeface="Noto Sans"/>
              </a:rPr>
              <a:t>1987</a:t>
            </a:r>
          </a:p>
          <a:p>
            <a:pPr>
              <a:spcBef>
                <a:spcPts val="0"/>
              </a:spcBef>
              <a:spcAft>
                <a:spcPts val="0"/>
              </a:spcAft>
            </a:pPr>
            <a:r>
              <a:rPr sz="100">
                <a:solidFill>
                  <a:srgbClr val="FFFFFF"/>
                </a:solidFill>
                <a:latin typeface="Noto Sans"/>
              </a:rPr>
              <a:t>1989</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Figura B.5.</a:t>
            </a:r>
          </a:p>
          <a:p>
            <a:pPr>
              <a:spcBef>
                <a:spcPts val="0"/>
              </a:spcBef>
              <a:spcAft>
                <a:spcPts val="0"/>
              </a:spcAft>
            </a:pPr>
            <a:r>
              <a:rPr sz="100">
                <a:solidFill>
                  <a:srgbClr val="FFFFFF"/>
                </a:solidFill>
                <a:latin typeface="Noto Sans"/>
              </a:rPr>
              <a:t>Líneas del Servicio Fijo de Telefonía por cada 100 hogares (1971-2024)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25</a:t>
            </a:r>
          </a:p>
        </p:txBody>
      </p:sp>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6" descr="Capa accesible con el texto del SVG de la figura B.6"/>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B.6</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Menos de 29</a:t>
            </a:r>
          </a:p>
          <a:p>
            <a:pPr>
              <a:spcBef>
                <a:spcPts val="0"/>
              </a:spcBef>
              <a:spcAft>
                <a:spcPts val="0"/>
              </a:spcAft>
            </a:pPr>
            <a:r>
              <a:rPr sz="100">
                <a:solidFill>
                  <a:srgbClr val="FFFFFF"/>
                </a:solidFill>
                <a:latin typeface="Noto Sans"/>
              </a:rPr>
              <a:t>29 a 42</a:t>
            </a:r>
          </a:p>
          <a:p>
            <a:pPr>
              <a:spcBef>
                <a:spcPts val="0"/>
              </a:spcBef>
              <a:spcAft>
                <a:spcPts val="0"/>
              </a:spcAft>
            </a:pPr>
            <a:r>
              <a:rPr sz="100">
                <a:solidFill>
                  <a:srgbClr val="FFFFFF"/>
                </a:solidFill>
                <a:latin typeface="Noto Sans"/>
              </a:rPr>
              <a:t>43 a 55</a:t>
            </a:r>
          </a:p>
          <a:p>
            <a:pPr>
              <a:spcBef>
                <a:spcPts val="0"/>
              </a:spcBef>
              <a:spcAft>
                <a:spcPts val="0"/>
              </a:spcAft>
            </a:pPr>
            <a:r>
              <a:rPr sz="100">
                <a:solidFill>
                  <a:srgbClr val="FFFFFF"/>
                </a:solidFill>
                <a:latin typeface="Noto Sans"/>
              </a:rPr>
              <a:t>56 a 68</a:t>
            </a:r>
          </a:p>
          <a:p>
            <a:pPr>
              <a:spcBef>
                <a:spcPts val="0"/>
              </a:spcBef>
              <a:spcAft>
                <a:spcPts val="0"/>
              </a:spcAft>
            </a:pPr>
            <a:r>
              <a:rPr sz="100">
                <a:solidFill>
                  <a:srgbClr val="FFFFFF"/>
                </a:solidFill>
                <a:latin typeface="Noto Sans"/>
              </a:rPr>
              <a:t>Más de 68</a:t>
            </a:r>
          </a:p>
          <a:p>
            <a:pPr>
              <a:spcBef>
                <a:spcPts val="0"/>
              </a:spcBef>
              <a:spcAft>
                <a:spcPts val="0"/>
              </a:spcAft>
            </a:pPr>
            <a:r>
              <a:rPr sz="100">
                <a:solidFill>
                  <a:srgbClr val="FFFFFF"/>
                </a:solidFill>
                <a:latin typeface="Noto Sans"/>
              </a:rPr>
              <a:t>Figura B.6.</a:t>
            </a:r>
          </a:p>
          <a:p>
            <a:pPr>
              <a:spcBef>
                <a:spcPts val="0"/>
              </a:spcBef>
              <a:spcAft>
                <a:spcPts val="0"/>
              </a:spcAft>
            </a:pPr>
            <a:r>
              <a:rPr sz="100">
                <a:solidFill>
                  <a:srgbClr val="FFFFFF"/>
                </a:solidFill>
                <a:latin typeface="Noto Sans"/>
              </a:rPr>
              <a:t>Líneas del Servicio Fijo de Telefonía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5.7%</a:t>
            </a:r>
          </a:p>
        </p:txBody>
      </p:sp>
      <p:pic>
        <p:nvPicPr>
          <p:cNvPr id="223"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26</a:t>
            </a:r>
          </a:p>
        </p:txBody>
      </p:sp>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7" descr="Capa accesible con el texto del SVG de la figura B.7"/>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B.7</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 100 unidades económicas:</a:t>
            </a:r>
          </a:p>
          <a:p>
            <a:pPr>
              <a:spcBef>
                <a:spcPts val="0"/>
              </a:spcBef>
              <a:spcAft>
                <a:spcPts val="0"/>
              </a:spcAft>
            </a:pPr>
            <a:r>
              <a:rPr sz="100">
                <a:solidFill>
                  <a:srgbClr val="FFFFFF"/>
                </a:solidFill>
                <a:latin typeface="Noto Sans"/>
              </a:rPr>
              <a:t>Menos de 39</a:t>
            </a:r>
          </a:p>
          <a:p>
            <a:pPr>
              <a:spcBef>
                <a:spcPts val="0"/>
              </a:spcBef>
              <a:spcAft>
                <a:spcPts val="0"/>
              </a:spcAft>
            </a:pPr>
            <a:r>
              <a:rPr sz="100">
                <a:solidFill>
                  <a:srgbClr val="FFFFFF"/>
                </a:solidFill>
                <a:latin typeface="Noto Sans"/>
              </a:rPr>
              <a:t>39 a 60</a:t>
            </a:r>
          </a:p>
          <a:p>
            <a:pPr>
              <a:spcBef>
                <a:spcPts val="0"/>
              </a:spcBef>
              <a:spcAft>
                <a:spcPts val="0"/>
              </a:spcAft>
            </a:pPr>
            <a:r>
              <a:rPr sz="100">
                <a:solidFill>
                  <a:srgbClr val="FFFFFF"/>
                </a:solidFill>
                <a:latin typeface="Noto Sans"/>
              </a:rPr>
              <a:t>61 a 97</a:t>
            </a:r>
          </a:p>
          <a:p>
            <a:pPr>
              <a:spcBef>
                <a:spcPts val="0"/>
              </a:spcBef>
              <a:spcAft>
                <a:spcPts val="0"/>
              </a:spcAft>
            </a:pPr>
            <a:r>
              <a:rPr sz="100">
                <a:solidFill>
                  <a:srgbClr val="FFFFFF"/>
                </a:solidFill>
                <a:latin typeface="Noto Sans"/>
              </a:rPr>
              <a:t>98 a 114</a:t>
            </a:r>
          </a:p>
          <a:p>
            <a:pPr>
              <a:spcBef>
                <a:spcPts val="0"/>
              </a:spcBef>
              <a:spcAft>
                <a:spcPts val="0"/>
              </a:spcAft>
            </a:pPr>
            <a:r>
              <a:rPr sz="100">
                <a:solidFill>
                  <a:srgbClr val="FFFFFF"/>
                </a:solidFill>
                <a:latin typeface="Noto Sans"/>
              </a:rPr>
              <a:t>Más de 114</a:t>
            </a:r>
          </a:p>
          <a:p>
            <a:pPr>
              <a:spcBef>
                <a:spcPts val="0"/>
              </a:spcBef>
              <a:spcAft>
                <a:spcPts val="0"/>
              </a:spcAft>
            </a:pPr>
            <a:r>
              <a:rPr sz="100">
                <a:solidFill>
                  <a:srgbClr val="FFFFFF"/>
                </a:solidFill>
                <a:latin typeface="Noto Sans"/>
              </a:rPr>
              <a:t>Figura B.7.</a:t>
            </a:r>
          </a:p>
          <a:p>
            <a:pPr>
              <a:spcBef>
                <a:spcPts val="0"/>
              </a:spcBef>
              <a:spcAft>
                <a:spcPts val="0"/>
              </a:spcAft>
            </a:pPr>
            <a:r>
              <a:rPr sz="100">
                <a:solidFill>
                  <a:srgbClr val="FFFFFF"/>
                </a:solidFill>
                <a:latin typeface="Noto Sans"/>
              </a:rPr>
              <a:t>Líneas del Servicio Fijo de Telefonía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25.0%</a:t>
            </a:r>
          </a:p>
        </p:txBody>
      </p:sp>
      <p:pic>
        <p:nvPicPr>
          <p:cNvPr id="223"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27</a:t>
            </a:r>
          </a:p>
        </p:txBody>
      </p:sp>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8" descr="Capa accesible con el texto del SVG de la figura B.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B.8</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4,000</a:t>
            </a:r>
          </a:p>
          <a:p>
            <a:pPr>
              <a:spcBef>
                <a:spcPts val="0"/>
              </a:spcBef>
              <a:spcAft>
                <a:spcPts val="0"/>
              </a:spcAft>
            </a:pPr>
            <a:r>
              <a:rPr sz="100">
                <a:solidFill>
                  <a:srgbClr val="FFFFFF"/>
                </a:solidFill>
                <a:latin typeface="Noto Sans"/>
              </a:rPr>
              <a:t>6,000</a:t>
            </a:r>
          </a:p>
          <a:p>
            <a:pPr>
              <a:spcBef>
                <a:spcPts val="0"/>
              </a:spcBef>
              <a:spcAft>
                <a:spcPts val="0"/>
              </a:spcAft>
            </a:pPr>
            <a:r>
              <a:rPr sz="100">
                <a:solidFill>
                  <a:srgbClr val="FFFFFF"/>
                </a:solidFill>
                <a:latin typeface="Noto Sans"/>
              </a:rPr>
              <a:t>8,000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12,000</a:t>
            </a:r>
          </a:p>
          <a:p>
            <a:pPr>
              <a:spcBef>
                <a:spcPts val="0"/>
              </a:spcBef>
              <a:spcAft>
                <a:spcPts val="0"/>
              </a:spcAft>
            </a:pPr>
            <a:r>
              <a:rPr sz="100">
                <a:solidFill>
                  <a:srgbClr val="FFFFFF"/>
                </a:solidFill>
                <a:latin typeface="Noto Sans"/>
              </a:rPr>
              <a:t>938.1</a:t>
            </a:r>
          </a:p>
          <a:p>
            <a:pPr>
              <a:spcBef>
                <a:spcPts val="0"/>
              </a:spcBef>
              <a:spcAft>
                <a:spcPts val="0"/>
              </a:spcAft>
            </a:pPr>
            <a:r>
              <a:rPr sz="100">
                <a:solidFill>
                  <a:srgbClr val="FFFFFF"/>
                </a:solidFill>
                <a:latin typeface="Noto Sans"/>
              </a:rPr>
              <a:t>Tráfico local del servicio fijo de telefonía</a:t>
            </a:r>
          </a:p>
          <a:p>
            <a:pPr>
              <a:spcBef>
                <a:spcPts val="0"/>
              </a:spcBef>
              <a:spcAft>
                <a:spcPts val="0"/>
              </a:spcAft>
            </a:pPr>
            <a:r>
              <a:rPr sz="100">
                <a:solidFill>
                  <a:srgbClr val="FFFFFF"/>
                </a:solidFill>
                <a:latin typeface="Noto Sans"/>
              </a:rPr>
              <a:t>Figura B.8.</a:t>
            </a:r>
          </a:p>
          <a:p>
            <a:pPr>
              <a:spcBef>
                <a:spcPts val="0"/>
              </a:spcBef>
              <a:spcAft>
                <a:spcPts val="0"/>
              </a:spcAft>
            </a:pPr>
            <a:r>
              <a:rPr sz="100">
                <a:solidFill>
                  <a:srgbClr val="FFFFFF"/>
                </a:solidFill>
                <a:latin typeface="Noto Sans"/>
              </a:rPr>
              <a:t>Tráfico de minutos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minutos. Para cada año los datos se presentan acumulados al mes de diciembre.</a:t>
            </a:r>
          </a:p>
        </p:txBody>
      </p:sp>
      <p:pic>
        <p:nvPicPr>
          <p:cNvPr id="223"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28</a:t>
            </a:r>
          </a:p>
        </p:txBody>
      </p:sp>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9" descr="Capa accesible con el texto del SVG de la figura B.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70.1%</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14.8%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57.8%</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19.2%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53.2%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47.5%</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24.2%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15.3%</a:t>
            </a:r>
          </a:p>
          <a:p>
            <a:pPr>
              <a:spcBef>
                <a:spcPts val="0"/>
              </a:spcBef>
              <a:spcAft>
                <a:spcPts val="0"/>
              </a:spcAft>
            </a:pPr>
            <a:r>
              <a:rPr sz="100">
                <a:solidFill>
                  <a:srgbClr val="FFFFFF"/>
                </a:solidFill>
                <a:latin typeface="Noto Sans"/>
              </a:rPr>
              <a:t>0.05%</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35.1%</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27.6%</a:t>
            </a:r>
          </a:p>
          <a:p>
            <a:pPr>
              <a:spcBef>
                <a:spcPts val="0"/>
              </a:spcBef>
              <a:spcAft>
                <a:spcPts val="0"/>
              </a:spcAft>
            </a:pPr>
            <a:r>
              <a:rPr sz="100">
                <a:solidFill>
                  <a:srgbClr val="FFFFFF"/>
                </a:solidFill>
                <a:latin typeface="Noto Sans"/>
              </a:rPr>
              <a:t>17.4%</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32.4%</a:t>
            </a:r>
          </a:p>
          <a:p>
            <a:pPr>
              <a:spcBef>
                <a:spcPts val="0"/>
              </a:spcBef>
              <a:spcAft>
                <a:spcPts val="0"/>
              </a:spcAft>
            </a:pPr>
            <a:r>
              <a:rPr sz="100">
                <a:solidFill>
                  <a:srgbClr val="FFFFFF"/>
                </a:solidFill>
                <a:latin typeface="Noto Sans"/>
              </a:rPr>
              <a:t>19.5%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26.6%</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Figura B.9.</a:t>
            </a:r>
          </a:p>
          <a:p>
            <a:pPr>
              <a:spcBef>
                <a:spcPts val="0"/>
              </a:spcBef>
              <a:spcAft>
                <a:spcPts val="0"/>
              </a:spcAft>
            </a:pPr>
            <a:r>
              <a:rPr sz="100">
                <a:solidFill>
                  <a:srgbClr val="FFFFFF"/>
                </a:solidFill>
                <a:latin typeface="Noto Sans"/>
              </a:rPr>
              <a:t>Participación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líneas del servicio.</a:t>
            </a:r>
          </a:p>
        </p:txBody>
      </p:sp>
      <p:pic>
        <p:nvPicPr>
          <p:cNvPr id="223"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29</a:t>
            </a:r>
          </a:p>
        </p:txBody>
      </p:sp>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0" descr="Capa accesible con el texto del SVG de la figura B.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2,519</a:t>
            </a:r>
          </a:p>
          <a:p>
            <a:pPr>
              <a:spcBef>
                <a:spcPts val="0"/>
              </a:spcBef>
              <a:spcAft>
                <a:spcPts val="0"/>
              </a:spcAft>
            </a:pPr>
            <a:r>
              <a:rPr sz="100">
                <a:solidFill>
                  <a:srgbClr val="FFFFFF"/>
                </a:solidFill>
                <a:latin typeface="Noto Sans"/>
              </a:rPr>
              <a:t>2,613</a:t>
            </a:r>
          </a:p>
          <a:p>
            <a:pPr>
              <a:spcBef>
                <a:spcPts val="0"/>
              </a:spcBef>
              <a:spcAft>
                <a:spcPts val="0"/>
              </a:spcAft>
            </a:pPr>
            <a:r>
              <a:rPr sz="100">
                <a:solidFill>
                  <a:srgbClr val="FFFFFF"/>
                </a:solidFill>
                <a:latin typeface="Noto Sans"/>
              </a:rPr>
              <a:t>2,724</a:t>
            </a:r>
          </a:p>
          <a:p>
            <a:pPr>
              <a:spcBef>
                <a:spcPts val="0"/>
              </a:spcBef>
              <a:spcAft>
                <a:spcPts val="0"/>
              </a:spcAft>
            </a:pPr>
            <a:r>
              <a:rPr sz="100">
                <a:solidFill>
                  <a:srgbClr val="FFFFFF"/>
                </a:solidFill>
                <a:latin typeface="Noto Sans"/>
              </a:rPr>
              <a:t>2,919</a:t>
            </a:r>
          </a:p>
          <a:p>
            <a:pPr>
              <a:spcBef>
                <a:spcPts val="0"/>
              </a:spcBef>
              <a:spcAft>
                <a:spcPts val="0"/>
              </a:spcAft>
            </a:pPr>
            <a:r>
              <a:rPr sz="100">
                <a:solidFill>
                  <a:srgbClr val="FFFFFF"/>
                </a:solidFill>
                <a:latin typeface="Noto Sans"/>
              </a:rPr>
              <a:t>3,140</a:t>
            </a:r>
          </a:p>
          <a:p>
            <a:pPr>
              <a:spcBef>
                <a:spcPts val="0"/>
              </a:spcBef>
              <a:spcAft>
                <a:spcPts val="0"/>
              </a:spcAft>
            </a:pPr>
            <a:r>
              <a:rPr sz="100">
                <a:solidFill>
                  <a:srgbClr val="FFFFFF"/>
                </a:solidFill>
                <a:latin typeface="Noto Sans"/>
              </a:rPr>
              <a:t>3,559</a:t>
            </a:r>
          </a:p>
          <a:p>
            <a:pPr>
              <a:spcBef>
                <a:spcPts val="0"/>
              </a:spcBef>
              <a:spcAft>
                <a:spcPts val="0"/>
              </a:spcAft>
            </a:pPr>
            <a:r>
              <a:rPr sz="100">
                <a:solidFill>
                  <a:srgbClr val="FFFFFF"/>
                </a:solidFill>
                <a:latin typeface="Noto Sans"/>
              </a:rPr>
              <a:t>3,867</a:t>
            </a:r>
          </a:p>
          <a:p>
            <a:pPr>
              <a:spcBef>
                <a:spcPts val="0"/>
              </a:spcBef>
              <a:spcAft>
                <a:spcPts val="0"/>
              </a:spcAft>
            </a:pPr>
            <a:r>
              <a:rPr sz="100">
                <a:solidFill>
                  <a:srgbClr val="FFFFFF"/>
                </a:solidFill>
                <a:latin typeface="Noto Sans"/>
              </a:rPr>
              <a:t>4,055</a:t>
            </a:r>
          </a:p>
          <a:p>
            <a:pPr>
              <a:spcBef>
                <a:spcPts val="0"/>
              </a:spcBef>
              <a:spcAft>
                <a:spcPts val="0"/>
              </a:spcAft>
            </a:pPr>
            <a:r>
              <a:rPr sz="100">
                <a:solidFill>
                  <a:srgbClr val="FFFFFF"/>
                </a:solidFill>
                <a:latin typeface="Noto Sans"/>
              </a:rPr>
              <a:t>4,215</a:t>
            </a:r>
          </a:p>
          <a:p>
            <a:pPr>
              <a:spcBef>
                <a:spcPts val="0"/>
              </a:spcBef>
              <a:spcAft>
                <a:spcPts val="0"/>
              </a:spcAft>
            </a:pPr>
            <a:r>
              <a:rPr sz="100">
                <a:solidFill>
                  <a:srgbClr val="FFFFFF"/>
                </a:solidFill>
                <a:latin typeface="Noto Sans"/>
              </a:rPr>
              <a:t>4,307</a:t>
            </a:r>
          </a:p>
          <a:p>
            <a:pPr>
              <a:spcBef>
                <a:spcPts val="0"/>
              </a:spcBef>
              <a:spcAft>
                <a:spcPts val="0"/>
              </a:spcAft>
            </a:pPr>
            <a:r>
              <a:rPr sz="100">
                <a:solidFill>
                  <a:srgbClr val="FFFFFF"/>
                </a:solidFill>
                <a:latin typeface="Noto Sans"/>
              </a:rPr>
              <a:t>4,762</a:t>
            </a:r>
          </a:p>
          <a:p>
            <a:pPr>
              <a:spcBef>
                <a:spcPts val="0"/>
              </a:spcBef>
              <a:spcAft>
                <a:spcPts val="0"/>
              </a:spcAft>
            </a:pPr>
            <a:r>
              <a:rPr sz="100">
                <a:solidFill>
                  <a:srgbClr val="FFFFFF"/>
                </a:solidFill>
                <a:latin typeface="Noto Sans"/>
              </a:rPr>
              <a:t>5,089</a:t>
            </a:r>
          </a:p>
          <a:p>
            <a:pPr>
              <a:spcBef>
                <a:spcPts val="0"/>
              </a:spcBef>
              <a:spcAft>
                <a:spcPts val="0"/>
              </a:spcAft>
            </a:pPr>
            <a:r>
              <a:rPr sz="100">
                <a:solidFill>
                  <a:srgbClr val="FFFFFF"/>
                </a:solidFill>
                <a:latin typeface="Noto Sans"/>
              </a:rPr>
              <a:t>Figura B.10.</a:t>
            </a:r>
          </a:p>
          <a:p>
            <a:pPr>
              <a:spcBef>
                <a:spcPts val="0"/>
              </a:spcBef>
              <a:spcAft>
                <a:spcPts val="0"/>
              </a:spcAft>
            </a:pPr>
            <a:r>
              <a:rPr sz="100">
                <a:solidFill>
                  <a:srgbClr val="FFFFFF"/>
                </a:solidFill>
                <a:latin typeface="Noto Sans"/>
              </a:rPr>
              <a:t>Herfindahl-Hirschman (IHH). Concentración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30</a:t>
            </a:r>
          </a:p>
        </p:txBody>
      </p:sp>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1" descr="Capa accesible con el texto del SVG de la figura B.1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B.11</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29,003,240</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B.11.</a:t>
            </a:r>
          </a:p>
          <a:p>
            <a:pPr>
              <a:spcBef>
                <a:spcPts val="0"/>
              </a:spcBef>
              <a:spcAft>
                <a:spcPts val="0"/>
              </a:spcAft>
            </a:pPr>
            <a:r>
              <a:rPr sz="100">
                <a:solidFill>
                  <a:srgbClr val="FFFFFF"/>
                </a:solidFill>
                <a:latin typeface="Noto Sans"/>
              </a:rPr>
              <a:t>Accesos del Servicio Fijo de Internet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31</a:t>
            </a:r>
          </a:p>
        </p:txBody>
      </p:sp>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2" descr="Capa accesible con el texto del SVG de la figura B.1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B.12</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Accesos por cada 100 hogares</a:t>
            </a:r>
          </a:p>
          <a:p>
            <a:pPr>
              <a:spcBef>
                <a:spcPts val="0"/>
              </a:spcBef>
              <a:spcAft>
                <a:spcPts val="0"/>
              </a:spcAft>
            </a:pPr>
            <a:r>
              <a:rPr sz="100">
                <a:solidFill>
                  <a:srgbClr val="FFFFFF"/>
                </a:solidFill>
                <a:latin typeface="Noto Sans"/>
              </a:rPr>
              <a:t>Figura B.12.</a:t>
            </a:r>
          </a:p>
          <a:p>
            <a:pPr>
              <a:spcBef>
                <a:spcPts val="0"/>
              </a:spcBef>
              <a:spcAft>
                <a:spcPts val="0"/>
              </a:spcAft>
            </a:pPr>
            <a:r>
              <a:rPr sz="100">
                <a:solidFill>
                  <a:srgbClr val="FFFFFF"/>
                </a:solidFill>
                <a:latin typeface="Noto Sans"/>
              </a:rPr>
              <a:t>Accesos del Servicio Fijo de Internet por cada 100 hogares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32</a:t>
            </a:r>
          </a:p>
        </p:txBody>
      </p:sp>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3" descr="Capa accesible con el texto del SVG de la figura B.13"/>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B.13</a:t>
            </a:r>
          </a:p>
          <a:p>
            <a:pPr>
              <a:spcBef>
                <a:spcPts val="0"/>
              </a:spcBef>
              <a:spcAft>
                <a:spcPts val="0"/>
              </a:spcAft>
            </a:pPr>
            <a:r>
              <a:rPr sz="100">
                <a:solidFill>
                  <a:srgbClr val="FFFFFF"/>
                </a:solidFill>
                <a:latin typeface="Noto Sans"/>
              </a:rPr>
              <a:t>Accesos residenciales por cada 100 hogares:</a:t>
            </a:r>
          </a:p>
          <a:p>
            <a:pPr>
              <a:spcBef>
                <a:spcPts val="0"/>
              </a:spcBef>
              <a:spcAft>
                <a:spcPts val="0"/>
              </a:spcAft>
            </a:pPr>
            <a:r>
              <a:rPr sz="100">
                <a:solidFill>
                  <a:srgbClr val="FFFFFF"/>
                </a:solidFill>
                <a:latin typeface="Noto Sans"/>
              </a:rPr>
              <a:t>Menos de 36</a:t>
            </a:r>
          </a:p>
          <a:p>
            <a:pPr>
              <a:spcBef>
                <a:spcPts val="0"/>
              </a:spcBef>
              <a:spcAft>
                <a:spcPts val="0"/>
              </a:spcAft>
            </a:pPr>
            <a:r>
              <a:rPr sz="100">
                <a:solidFill>
                  <a:srgbClr val="FFFFFF"/>
                </a:solidFill>
                <a:latin typeface="Noto Sans"/>
              </a:rPr>
              <a:t>36 a 47</a:t>
            </a:r>
          </a:p>
          <a:p>
            <a:pPr>
              <a:spcBef>
                <a:spcPts val="0"/>
              </a:spcBef>
              <a:spcAft>
                <a:spcPts val="0"/>
              </a:spcAft>
            </a:pPr>
            <a:r>
              <a:rPr sz="100">
                <a:solidFill>
                  <a:srgbClr val="FFFFFF"/>
                </a:solidFill>
                <a:latin typeface="Noto Sans"/>
              </a:rPr>
              <a:t>48 a 59</a:t>
            </a:r>
          </a:p>
          <a:p>
            <a:pPr>
              <a:spcBef>
                <a:spcPts val="0"/>
              </a:spcBef>
              <a:spcAft>
                <a:spcPts val="0"/>
              </a:spcAft>
            </a:pPr>
            <a:r>
              <a:rPr sz="100">
                <a:solidFill>
                  <a:srgbClr val="FFFFFF"/>
                </a:solidFill>
                <a:latin typeface="Noto Sans"/>
              </a:rPr>
              <a:t>60 a 70</a:t>
            </a:r>
          </a:p>
          <a:p>
            <a:pPr>
              <a:spcBef>
                <a:spcPts val="0"/>
              </a:spcBef>
              <a:spcAft>
                <a:spcPts val="0"/>
              </a:spcAft>
            </a:pPr>
            <a:r>
              <a:rPr sz="100">
                <a:solidFill>
                  <a:srgbClr val="FFFFFF"/>
                </a:solidFill>
                <a:latin typeface="Noto Sans"/>
              </a:rPr>
              <a:t>Más de 70</a:t>
            </a:r>
          </a:p>
          <a:p>
            <a:pPr>
              <a:spcBef>
                <a:spcPts val="0"/>
              </a:spcBef>
              <a:spcAft>
                <a:spcPts val="0"/>
              </a:spcAft>
            </a:pPr>
            <a:r>
              <a:rPr sz="100">
                <a:solidFill>
                  <a:srgbClr val="FFFFFF"/>
                </a:solidFill>
                <a:latin typeface="Noto Sans"/>
              </a:rPr>
              <a:t>Figura B.13.</a:t>
            </a:r>
          </a:p>
          <a:p>
            <a:pPr>
              <a:spcBef>
                <a:spcPts val="0"/>
              </a:spcBef>
              <a:spcAft>
                <a:spcPts val="0"/>
              </a:spcAft>
            </a:pPr>
            <a:r>
              <a:rPr sz="100">
                <a:solidFill>
                  <a:srgbClr val="FFFFFF"/>
                </a:solidFill>
                <a:latin typeface="Noto Sans"/>
              </a:rPr>
              <a:t>Accesos del Servicio Fijo de Acceso a Internet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ENDUTIH 2025 del INEGI.</a:t>
            </a:r>
          </a:p>
          <a:p>
            <a:pPr>
              <a:spcBef>
                <a:spcPts val="0"/>
              </a:spcBef>
              <a:spcAft>
                <a:spcPts val="0"/>
              </a:spcAft>
            </a:pPr>
            <a:r>
              <a:rPr sz="100">
                <a:solidFill>
                  <a:srgbClr val="FFFFFF"/>
                </a:solidFill>
                <a:latin typeface="Noto Sans"/>
              </a:rPr>
              <a:t>Accesos residenciales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8.7%</a:t>
            </a:r>
          </a:p>
        </p:txBody>
      </p:sp>
      <p:pic>
        <p:nvPicPr>
          <p:cNvPr id="223"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33</a:t>
            </a:r>
          </a:p>
        </p:txBody>
      </p:sp>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4" descr="Capa accesible con el texto del SVG de la figura B.14"/>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B.14</a:t>
            </a:r>
          </a:p>
          <a:p>
            <a:pPr>
              <a:spcBef>
                <a:spcPts val="0"/>
              </a:spcBef>
              <a:spcAft>
                <a:spcPts val="0"/>
              </a:spcAft>
            </a:pPr>
            <a:r>
              <a:rPr sz="100">
                <a:solidFill>
                  <a:srgbClr val="FFFFFF"/>
                </a:solidFill>
                <a:latin typeface="Noto Sans"/>
              </a:rPr>
              <a:t>Accesos no residenciales por cada 100 unidades económicas:</a:t>
            </a:r>
          </a:p>
          <a:p>
            <a:pPr>
              <a:spcBef>
                <a:spcPts val="0"/>
              </a:spcBef>
              <a:spcAft>
                <a:spcPts val="0"/>
              </a:spcAft>
            </a:pPr>
            <a:r>
              <a:rPr sz="100">
                <a:solidFill>
                  <a:srgbClr val="FFFFFF"/>
                </a:solidFill>
                <a:latin typeface="Noto Sans"/>
              </a:rPr>
              <a:t>Menos de 28</a:t>
            </a:r>
          </a:p>
          <a:p>
            <a:pPr>
              <a:spcBef>
                <a:spcPts val="0"/>
              </a:spcBef>
              <a:spcAft>
                <a:spcPts val="0"/>
              </a:spcAft>
            </a:pPr>
            <a:r>
              <a:rPr sz="100">
                <a:solidFill>
                  <a:srgbClr val="FFFFFF"/>
                </a:solidFill>
                <a:latin typeface="Noto Sans"/>
              </a:rPr>
              <a:t>28 a 43</a:t>
            </a:r>
          </a:p>
          <a:p>
            <a:pPr>
              <a:spcBef>
                <a:spcPts val="0"/>
              </a:spcBef>
              <a:spcAft>
                <a:spcPts val="0"/>
              </a:spcAft>
            </a:pPr>
            <a:r>
              <a:rPr sz="100">
                <a:solidFill>
                  <a:srgbClr val="FFFFFF"/>
                </a:solidFill>
                <a:latin typeface="Noto Sans"/>
              </a:rPr>
              <a:t>44 a 59</a:t>
            </a:r>
          </a:p>
          <a:p>
            <a:pPr>
              <a:spcBef>
                <a:spcPts val="0"/>
              </a:spcBef>
              <a:spcAft>
                <a:spcPts val="0"/>
              </a:spcAft>
            </a:pPr>
            <a:r>
              <a:rPr sz="100">
                <a:solidFill>
                  <a:srgbClr val="FFFFFF"/>
                </a:solidFill>
                <a:latin typeface="Noto Sans"/>
              </a:rPr>
              <a:t>60 a 75</a:t>
            </a:r>
          </a:p>
          <a:p>
            <a:pPr>
              <a:spcBef>
                <a:spcPts val="0"/>
              </a:spcBef>
              <a:spcAft>
                <a:spcPts val="0"/>
              </a:spcAft>
            </a:pPr>
            <a:r>
              <a:rPr sz="100">
                <a:solidFill>
                  <a:srgbClr val="FFFFFF"/>
                </a:solidFill>
                <a:latin typeface="Noto Sans"/>
              </a:rPr>
              <a:t>Más de 75</a:t>
            </a:r>
          </a:p>
          <a:p>
            <a:pPr>
              <a:spcBef>
                <a:spcPts val="0"/>
              </a:spcBef>
              <a:spcAft>
                <a:spcPts val="0"/>
              </a:spcAft>
            </a:pPr>
            <a:r>
              <a:rPr sz="100">
                <a:solidFill>
                  <a:srgbClr val="FFFFFF"/>
                </a:solidFill>
                <a:latin typeface="Noto Sans"/>
              </a:rPr>
              <a:t>Figura B.14.</a:t>
            </a:r>
          </a:p>
          <a:p>
            <a:pPr>
              <a:spcBef>
                <a:spcPts val="0"/>
              </a:spcBef>
              <a:spcAft>
                <a:spcPts val="0"/>
              </a:spcAft>
            </a:pPr>
            <a:r>
              <a:rPr sz="100">
                <a:solidFill>
                  <a:srgbClr val="FFFFFF"/>
                </a:solidFill>
                <a:latin typeface="Noto Sans"/>
              </a:rPr>
              <a:t>Accesos del Servicio Fijo de Internet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DENUE del INEGI a noviembre de 2023.</a:t>
            </a:r>
          </a:p>
          <a:p>
            <a:pPr>
              <a:spcBef>
                <a:spcPts val="0"/>
              </a:spcBef>
              <a:spcAft>
                <a:spcPts val="0"/>
              </a:spcAft>
            </a:pPr>
            <a:r>
              <a:rPr sz="100">
                <a:solidFill>
                  <a:srgbClr val="FFFFFF"/>
                </a:solidFill>
                <a:latin typeface="Noto Sans"/>
              </a:rPr>
              <a:t>Accesos no residenciales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-9.6%</a:t>
            </a:r>
          </a:p>
        </p:txBody>
      </p:sp>
      <p:pic>
        <p:nvPicPr>
          <p:cNvPr id="223"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34</a:t>
            </a:r>
          </a:p>
        </p:txBody>
      </p:sp>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5" descr="Capa accesible con el texto del SVG de la figura B.1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256 Kbps a 1.99 Mbps</a:t>
            </a:r>
          </a:p>
          <a:p>
            <a:pPr>
              <a:spcBef>
                <a:spcPts val="0"/>
              </a:spcBef>
              <a:spcAft>
                <a:spcPts val="0"/>
              </a:spcAft>
            </a:pPr>
            <a:r>
              <a:rPr sz="100">
                <a:solidFill>
                  <a:srgbClr val="FFFFFF"/>
                </a:solidFill>
                <a:latin typeface="Noto Sans"/>
              </a:rPr>
              <a:t>2 a 9.99 Mbps</a:t>
            </a:r>
          </a:p>
          <a:p>
            <a:pPr>
              <a:spcBef>
                <a:spcPts val="0"/>
              </a:spcBef>
              <a:spcAft>
                <a:spcPts val="0"/>
              </a:spcAft>
            </a:pPr>
            <a:r>
              <a:rPr sz="100">
                <a:solidFill>
                  <a:srgbClr val="FFFFFF"/>
                </a:solidFill>
                <a:latin typeface="Noto Sans"/>
              </a:rPr>
              <a:t>10 a 100 Mbps</a:t>
            </a:r>
          </a:p>
          <a:p>
            <a:pPr>
              <a:spcBef>
                <a:spcPts val="0"/>
              </a:spcBef>
              <a:spcAft>
                <a:spcPts val="0"/>
              </a:spcAft>
            </a:pPr>
            <a:r>
              <a:rPr sz="100">
                <a:solidFill>
                  <a:srgbClr val="FFFFFF"/>
                </a:solidFill>
                <a:latin typeface="Noto Sans"/>
              </a:rPr>
              <a:t>Mayores a 100 Mbps</a:t>
            </a:r>
          </a:p>
          <a:p>
            <a:pPr>
              <a:spcBef>
                <a:spcPts val="0"/>
              </a:spcBef>
              <a:spcAft>
                <a:spcPts val="0"/>
              </a:spcAft>
            </a:pPr>
            <a:r>
              <a:rPr sz="100">
                <a:solidFill>
                  <a:srgbClr val="FFFFFF"/>
                </a:solidFill>
                <a:latin typeface="Noto Sans"/>
              </a:rPr>
              <a:t>Sin información de velocidad</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85.7%</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83.3%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72.9%</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81.6%</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88.5%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69.3%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52.9%</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40.6%</a:t>
            </a:r>
          </a:p>
          <a:p>
            <a:pPr>
              <a:spcBef>
                <a:spcPts val="0"/>
              </a:spcBef>
              <a:spcAft>
                <a:spcPts val="0"/>
              </a:spcAft>
            </a:pPr>
            <a:r>
              <a:rPr sz="100">
                <a:solidFill>
                  <a:srgbClr val="FFFFFF"/>
                </a:solidFill>
                <a:latin typeface="Noto Sans"/>
              </a:rPr>
              <a:t>Figura B.15.</a:t>
            </a:r>
          </a:p>
          <a:p>
            <a:pPr>
              <a:spcBef>
                <a:spcPts val="0"/>
              </a:spcBef>
              <a:spcAft>
                <a:spcPts val="0"/>
              </a:spcAft>
            </a:pPr>
            <a:r>
              <a:rPr sz="100">
                <a:solidFill>
                  <a:srgbClr val="FFFFFF"/>
                </a:solidFill>
                <a:latin typeface="Noto Sans"/>
              </a:rPr>
              <a:t>Distribución de los accesos del Servicio Fijo de Internet por rangos de velocidad (2013-2024)</a:t>
            </a:r>
          </a:p>
          <a:p>
            <a:pPr>
              <a:spcBef>
                <a:spcPts val="0"/>
              </a:spcBef>
              <a:spcAft>
                <a:spcPts val="0"/>
              </a:spcAft>
            </a:pPr>
            <a:r>
              <a:rPr sz="100">
                <a:solidFill>
                  <a:srgbClr val="FFFFFF"/>
                </a:solidFill>
                <a:latin typeface="Noto Sans"/>
              </a:rPr>
              <a:t>Total de accesos del Servicio Fijo de Internet a nivel nacional:</a:t>
            </a:r>
          </a:p>
          <a:p>
            <a:pPr>
              <a:spcBef>
                <a:spcPts val="0"/>
              </a:spcBef>
              <a:spcAft>
                <a:spcPts val="0"/>
              </a:spcAft>
            </a:pPr>
            <a:r>
              <a:rPr sz="100">
                <a:solidFill>
                  <a:srgbClr val="FFFFFF"/>
                </a:solidFill>
                <a:latin typeface="Noto Sans"/>
              </a:rPr>
              <a:t>28,764,249</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26.0%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35</a:t>
            </a:r>
          </a:p>
        </p:txBody>
      </p:sp>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6" descr="Capa accesible con el texto del SVG de la figura B.16"/>
          <p:cNvSpPr txBox="1"/>
          <p:nvPr/>
        </p:nvSpPr>
        <p:spPr>
          <a:xfrm>
            <a:off x="3357372" y="1272298"/>
            <a:ext cx="5279136" cy="2932853"/>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B.16</a:t>
            </a:r>
          </a:p>
          <a:p>
            <a:pPr>
              <a:spcBef>
                <a:spcPts val="0"/>
              </a:spcBef>
              <a:spcAft>
                <a:spcPts val="0"/>
              </a:spcAft>
            </a:pPr>
            <a:r>
              <a:rPr sz="100">
                <a:solidFill>
                  <a:srgbClr val="FFFFFF"/>
                </a:solidFill>
                <a:latin typeface="Noto Sans"/>
              </a:rPr>
              <a:t>Figura B.16.</a:t>
            </a:r>
          </a:p>
          <a:p>
            <a:pPr>
              <a:spcBef>
                <a:spcPts val="0"/>
              </a:spcBef>
              <a:spcAft>
                <a:spcPts val="0"/>
              </a:spcAft>
            </a:pPr>
            <a:r>
              <a:rPr sz="100">
                <a:solidFill>
                  <a:srgbClr val="FFFFFF"/>
                </a:solidFill>
                <a:latin typeface="Noto Sans"/>
              </a:rPr>
              <a:t>Distribución de los accesos al servicio fijo de Internet por tecnología de conexión y por segmento</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25,296,582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8.2%</a:t>
            </a:r>
          </a:p>
          <a:p>
            <a:pPr>
              <a:spcBef>
                <a:spcPts val="0"/>
              </a:spcBef>
              <a:spcAft>
                <a:spcPts val="0"/>
              </a:spcAft>
            </a:pPr>
            <a:r>
              <a:rPr sz="100">
                <a:solidFill>
                  <a:srgbClr val="FFFFFF"/>
                </a:solidFill>
                <a:latin typeface="Noto Sans"/>
              </a:rPr>
              <a:t>No Residencial</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2,331,065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-9.8%</a:t>
            </a:r>
          </a:p>
          <a:p>
            <a:pPr>
              <a:spcBef>
                <a:spcPts val="0"/>
              </a:spcBef>
              <a:spcAft>
                <a:spcPts val="0"/>
              </a:spcAft>
            </a:pPr>
            <a:r>
              <a:rPr sz="100">
                <a:solidFill>
                  <a:srgbClr val="FFFFFF"/>
                </a:solidFill>
                <a:latin typeface="Noto Sans"/>
              </a:rPr>
              <a:t>72.2%</a:t>
            </a:r>
          </a:p>
          <a:p>
            <a:pPr>
              <a:spcBef>
                <a:spcPts val="0"/>
              </a:spcBef>
              <a:spcAft>
                <a:spcPts val="0"/>
              </a:spcAft>
            </a:pPr>
            <a:r>
              <a:rPr sz="100">
                <a:solidFill>
                  <a:srgbClr val="FFFFFF"/>
                </a:solidFill>
                <a:latin typeface="Noto Sans"/>
              </a:rPr>
              <a:t>21.4%</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a:t>
            </a:r>
          </a:p>
          <a:p>
            <a:pPr>
              <a:spcBef>
                <a:spcPts val="0"/>
              </a:spcBef>
              <a:spcAft>
                <a:spcPts val="0"/>
              </a:spcAft>
            </a:pPr>
            <a:r>
              <a:rPr sz="100">
                <a:solidFill>
                  <a:srgbClr val="FFFFFF"/>
                </a:solidFill>
                <a:latin typeface="Noto Sans"/>
              </a:rPr>
              <a:t>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-24.6%</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-99.2%</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80.1%</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-32.9%</a:t>
            </a:r>
          </a:p>
          <a:p>
            <a:pPr>
              <a:spcBef>
                <a:spcPts val="0"/>
              </a:spcBef>
              <a:spcAft>
                <a:spcPts val="0"/>
              </a:spcAft>
            </a:pPr>
            <a:r>
              <a:rPr sz="100">
                <a:solidFill>
                  <a:srgbClr val="FFFFFF"/>
                </a:solidFill>
                <a:latin typeface="Noto Sans"/>
              </a:rPr>
              <a:t>-53.6%</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36</a:t>
            </a:r>
          </a:p>
        </p:txBody>
      </p:sp>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7" descr="Capa accesible con el texto del SVG de la figura B.1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B.17</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Maxcom</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65.4%</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58.0%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22.2%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52.4%</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23.0%</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0.04%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24.3%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44.5%</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0.07%</a:t>
            </a:r>
          </a:p>
          <a:p>
            <a:pPr>
              <a:spcBef>
                <a:spcPts val="0"/>
              </a:spcBef>
              <a:spcAft>
                <a:spcPts val="0"/>
              </a:spcAft>
            </a:pPr>
            <a:r>
              <a:rPr sz="100">
                <a:solidFill>
                  <a:srgbClr val="FFFFFF"/>
                </a:solidFill>
                <a:latin typeface="Noto Sans"/>
              </a:rPr>
              <a:t>26.5%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40.4%</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0.06%</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39.0%</a:t>
            </a:r>
          </a:p>
          <a:p>
            <a:pPr>
              <a:spcBef>
                <a:spcPts val="0"/>
              </a:spcBef>
              <a:spcAft>
                <a:spcPts val="0"/>
              </a:spcAft>
            </a:pPr>
            <a:r>
              <a:rPr sz="100">
                <a:solidFill>
                  <a:srgbClr val="FFFFFF"/>
                </a:solidFill>
                <a:latin typeface="Noto Sans"/>
              </a:rPr>
              <a:t>17.3%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22.9%</a:t>
            </a:r>
          </a:p>
          <a:p>
            <a:pPr>
              <a:spcBef>
                <a:spcPts val="0"/>
              </a:spcBef>
              <a:spcAft>
                <a:spcPts val="0"/>
              </a:spcAft>
            </a:pPr>
            <a:r>
              <a:rPr sz="100">
                <a:solidFill>
                  <a:srgbClr val="FFFFFF"/>
                </a:solidFill>
                <a:latin typeface="Noto Sans"/>
              </a:rPr>
              <a:t>17.7%</a:t>
            </a:r>
          </a:p>
          <a:p>
            <a:pPr>
              <a:spcBef>
                <a:spcPts val="0"/>
              </a:spcBef>
              <a:spcAft>
                <a:spcPts val="0"/>
              </a:spcAft>
            </a:pPr>
            <a:r>
              <a:rPr sz="100">
                <a:solidFill>
                  <a:srgbClr val="FFFFFF"/>
                </a:solidFill>
                <a:latin typeface="Noto Sans"/>
              </a:rPr>
              <a:t>0.02%</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Figura B.17.</a:t>
            </a:r>
          </a:p>
          <a:p>
            <a:pPr>
              <a:spcBef>
                <a:spcPts val="0"/>
              </a:spcBef>
              <a:spcAft>
                <a:spcPts val="0"/>
              </a:spcAft>
            </a:pPr>
            <a:r>
              <a:rPr sz="100">
                <a:solidFill>
                  <a:srgbClr val="FFFFFF"/>
                </a:solidFill>
                <a:latin typeface="Noto Sans"/>
              </a:rPr>
              <a:t>Participación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accesos del servicio fijo de Internet.</a:t>
            </a:r>
          </a:p>
        </p:txBody>
      </p:sp>
      <p:pic>
        <p:nvPicPr>
          <p:cNvPr id="223"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37</a:t>
            </a:r>
          </a:p>
        </p:txBody>
      </p:sp>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8" descr="Capa accesible con el texto del SVG de la figura B.1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B.18</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2,591</a:t>
            </a:r>
          </a:p>
          <a:p>
            <a:pPr>
              <a:spcBef>
                <a:spcPts val="0"/>
              </a:spcBef>
              <a:spcAft>
                <a:spcPts val="0"/>
              </a:spcAft>
            </a:pPr>
            <a:r>
              <a:rPr sz="100">
                <a:solidFill>
                  <a:srgbClr val="FFFFFF"/>
                </a:solidFill>
                <a:latin typeface="Noto Sans"/>
              </a:rPr>
              <a:t>2,656</a:t>
            </a:r>
          </a:p>
          <a:p>
            <a:pPr>
              <a:spcBef>
                <a:spcPts val="0"/>
              </a:spcBef>
              <a:spcAft>
                <a:spcPts val="0"/>
              </a:spcAft>
            </a:pPr>
            <a:r>
              <a:rPr sz="100">
                <a:solidFill>
                  <a:srgbClr val="FFFFFF"/>
                </a:solidFill>
                <a:latin typeface="Noto Sans"/>
              </a:rPr>
              <a:t>2,579</a:t>
            </a:r>
          </a:p>
          <a:p>
            <a:pPr>
              <a:spcBef>
                <a:spcPts val="0"/>
              </a:spcBef>
              <a:spcAft>
                <a:spcPts val="0"/>
              </a:spcAft>
            </a:pPr>
            <a:r>
              <a:rPr sz="100">
                <a:solidFill>
                  <a:srgbClr val="FFFFFF"/>
                </a:solidFill>
                <a:latin typeface="Noto Sans"/>
              </a:rPr>
              <a:t>2,708</a:t>
            </a:r>
          </a:p>
          <a:p>
            <a:pPr>
              <a:spcBef>
                <a:spcPts val="0"/>
              </a:spcBef>
              <a:spcAft>
                <a:spcPts val="0"/>
              </a:spcAft>
            </a:pPr>
            <a:r>
              <a:rPr sz="100">
                <a:solidFill>
                  <a:srgbClr val="FFFFFF"/>
                </a:solidFill>
                <a:latin typeface="Noto Sans"/>
              </a:rPr>
              <a:t>3,055</a:t>
            </a:r>
          </a:p>
          <a:p>
            <a:pPr>
              <a:spcBef>
                <a:spcPts val="0"/>
              </a:spcBef>
              <a:spcAft>
                <a:spcPts val="0"/>
              </a:spcAft>
            </a:pPr>
            <a:r>
              <a:rPr sz="100">
                <a:solidFill>
                  <a:srgbClr val="FFFFFF"/>
                </a:solidFill>
                <a:latin typeface="Noto Sans"/>
              </a:rPr>
              <a:t>3,419</a:t>
            </a:r>
          </a:p>
          <a:p>
            <a:pPr>
              <a:spcBef>
                <a:spcPts val="0"/>
              </a:spcBef>
              <a:spcAft>
                <a:spcPts val="0"/>
              </a:spcAft>
            </a:pPr>
            <a:r>
              <a:rPr sz="100">
                <a:solidFill>
                  <a:srgbClr val="FFFFFF"/>
                </a:solidFill>
                <a:latin typeface="Noto Sans"/>
              </a:rPr>
              <a:t>3,577</a:t>
            </a:r>
          </a:p>
          <a:p>
            <a:pPr>
              <a:spcBef>
                <a:spcPts val="0"/>
              </a:spcBef>
              <a:spcAft>
                <a:spcPts val="0"/>
              </a:spcAft>
            </a:pPr>
            <a:r>
              <a:rPr sz="100">
                <a:solidFill>
                  <a:srgbClr val="FFFFFF"/>
                </a:solidFill>
                <a:latin typeface="Noto Sans"/>
              </a:rPr>
              <a:t>3,733</a:t>
            </a:r>
          </a:p>
          <a:p>
            <a:pPr>
              <a:spcBef>
                <a:spcPts val="0"/>
              </a:spcBef>
              <a:spcAft>
                <a:spcPts val="0"/>
              </a:spcAft>
            </a:pPr>
            <a:r>
              <a:rPr sz="100">
                <a:solidFill>
                  <a:srgbClr val="FFFFFF"/>
                </a:solidFill>
                <a:latin typeface="Noto Sans"/>
              </a:rPr>
              <a:t>4,009</a:t>
            </a:r>
          </a:p>
          <a:p>
            <a:pPr>
              <a:spcBef>
                <a:spcPts val="0"/>
              </a:spcBef>
              <a:spcAft>
                <a:spcPts val="0"/>
              </a:spcAft>
            </a:pPr>
            <a:r>
              <a:rPr sz="100">
                <a:solidFill>
                  <a:srgbClr val="FFFFFF"/>
                </a:solidFill>
                <a:latin typeface="Noto Sans"/>
              </a:rPr>
              <a:t>4,243</a:t>
            </a:r>
          </a:p>
          <a:p>
            <a:pPr>
              <a:spcBef>
                <a:spcPts val="0"/>
              </a:spcBef>
              <a:spcAft>
                <a:spcPts val="0"/>
              </a:spcAft>
            </a:pPr>
            <a:r>
              <a:rPr sz="100">
                <a:solidFill>
                  <a:srgbClr val="FFFFFF"/>
                </a:solidFill>
                <a:latin typeface="Noto Sans"/>
              </a:rPr>
              <a:t>4,693</a:t>
            </a:r>
          </a:p>
          <a:p>
            <a:pPr>
              <a:spcBef>
                <a:spcPts val="0"/>
              </a:spcBef>
              <a:spcAft>
                <a:spcPts val="0"/>
              </a:spcAft>
            </a:pPr>
            <a:r>
              <a:rPr sz="100">
                <a:solidFill>
                  <a:srgbClr val="FFFFFF"/>
                </a:solidFill>
                <a:latin typeface="Noto Sans"/>
              </a:rPr>
              <a:t>5,343</a:t>
            </a:r>
          </a:p>
          <a:p>
            <a:pPr>
              <a:spcBef>
                <a:spcPts val="0"/>
              </a:spcBef>
              <a:spcAft>
                <a:spcPts val="0"/>
              </a:spcAft>
            </a:pPr>
            <a:r>
              <a:rPr sz="100">
                <a:solidFill>
                  <a:srgbClr val="FFFFFF"/>
                </a:solidFill>
                <a:latin typeface="Noto Sans"/>
              </a:rPr>
              <a:t>Figura B.18.</a:t>
            </a:r>
          </a:p>
          <a:p>
            <a:pPr>
              <a:spcBef>
                <a:spcPts val="0"/>
              </a:spcBef>
              <a:spcAft>
                <a:spcPts val="0"/>
              </a:spcAft>
            </a:pPr>
            <a:r>
              <a:rPr sz="100">
                <a:solidFill>
                  <a:srgbClr val="FFFFFF"/>
                </a:solidFill>
                <a:latin typeface="Noto Sans"/>
              </a:rPr>
              <a:t>Herfindahl-Hirschman (IHH). Concentración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38</a:t>
            </a:r>
          </a:p>
        </p:txBody>
      </p:sp>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9" descr="Capa accesible con el texto del SVG de la figura B.1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B.19</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21,787,954</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B.19.</a:t>
            </a:r>
          </a:p>
          <a:p>
            <a:pPr>
              <a:spcBef>
                <a:spcPts val="0"/>
              </a:spcBef>
              <a:spcAft>
                <a:spcPts val="0"/>
              </a:spcAft>
            </a:pPr>
            <a:r>
              <a:rPr sz="100">
                <a:solidFill>
                  <a:srgbClr val="FFFFFF"/>
                </a:solidFill>
                <a:latin typeface="Noto Sans"/>
              </a:rPr>
              <a:t>Accesos del Servicio de Televisión Restringida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39</a:t>
            </a:r>
          </a:p>
        </p:txBody>
      </p:sp>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0" descr="Capa accesible con el texto del SVG de la figura B.2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B.20</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Figura B.20.</a:t>
            </a:r>
          </a:p>
          <a:p>
            <a:pPr>
              <a:spcBef>
                <a:spcPts val="0"/>
              </a:spcBef>
              <a:spcAft>
                <a:spcPts val="0"/>
              </a:spcAft>
            </a:pPr>
            <a:r>
              <a:rPr sz="100">
                <a:solidFill>
                  <a:srgbClr val="FFFFFF"/>
                </a:solidFill>
                <a:latin typeface="Noto Sans"/>
              </a:rPr>
              <a:t>Accesos del Servicio de Televisión Restringida por cada 100 hogares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40</a:t>
            </a:r>
          </a:p>
        </p:txBody>
      </p:sp>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1" descr="Capa accesible con el texto del SVG de la figura B.21"/>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B.21</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a:t>
            </a:r>
          </a:p>
          <a:p>
            <a:pPr>
              <a:spcBef>
                <a:spcPts val="0"/>
              </a:spcBef>
              <a:spcAft>
                <a:spcPts val="0"/>
              </a:spcAft>
            </a:pPr>
            <a:r>
              <a:rPr sz="100">
                <a:solidFill>
                  <a:srgbClr val="FFFFFF"/>
                </a:solidFill>
                <a:latin typeface="Noto Sans"/>
              </a:rPr>
              <a:t>por cada 100 hogares:</a:t>
            </a:r>
          </a:p>
          <a:p>
            <a:pPr>
              <a:spcBef>
                <a:spcPts val="0"/>
              </a:spcBef>
              <a:spcAft>
                <a:spcPts val="0"/>
              </a:spcAft>
            </a:pPr>
            <a:r>
              <a:rPr sz="100">
                <a:solidFill>
                  <a:srgbClr val="FFFFFF"/>
                </a:solidFill>
                <a:latin typeface="Noto Sans"/>
              </a:rPr>
              <a:t>Menos de 55</a:t>
            </a:r>
          </a:p>
          <a:p>
            <a:pPr>
              <a:spcBef>
                <a:spcPts val="0"/>
              </a:spcBef>
              <a:spcAft>
                <a:spcPts val="0"/>
              </a:spcAft>
            </a:pPr>
            <a:r>
              <a:rPr sz="100">
                <a:solidFill>
                  <a:srgbClr val="FFFFFF"/>
                </a:solidFill>
                <a:latin typeface="Noto Sans"/>
              </a:rPr>
              <a:t>56-65</a:t>
            </a:r>
          </a:p>
          <a:p>
            <a:pPr>
              <a:spcBef>
                <a:spcPts val="0"/>
              </a:spcBef>
              <a:spcAft>
                <a:spcPts val="0"/>
              </a:spcAft>
            </a:pPr>
            <a:r>
              <a:rPr sz="100">
                <a:solidFill>
                  <a:srgbClr val="FFFFFF"/>
                </a:solidFill>
                <a:latin typeface="Noto Sans"/>
              </a:rPr>
              <a:t>66-75</a:t>
            </a:r>
          </a:p>
          <a:p>
            <a:pPr>
              <a:spcBef>
                <a:spcPts val="0"/>
              </a:spcBef>
              <a:spcAft>
                <a:spcPts val="0"/>
              </a:spcAft>
            </a:pPr>
            <a:r>
              <a:rPr sz="100">
                <a:solidFill>
                  <a:srgbClr val="FFFFFF"/>
                </a:solidFill>
                <a:latin typeface="Noto Sans"/>
              </a:rPr>
              <a:t>76-85</a:t>
            </a:r>
          </a:p>
          <a:p>
            <a:pPr>
              <a:spcBef>
                <a:spcPts val="0"/>
              </a:spcBef>
              <a:spcAft>
                <a:spcPts val="0"/>
              </a:spcAft>
            </a:pPr>
            <a:r>
              <a:rPr sz="100">
                <a:solidFill>
                  <a:srgbClr val="FFFFFF"/>
                </a:solidFill>
                <a:latin typeface="Noto Sans"/>
              </a:rPr>
              <a:t>Más de 85</a:t>
            </a:r>
          </a:p>
          <a:p>
            <a:pPr>
              <a:spcBef>
                <a:spcPts val="0"/>
              </a:spcBef>
              <a:spcAft>
                <a:spcPts val="0"/>
              </a:spcAft>
            </a:pPr>
            <a:r>
              <a:rPr sz="100">
                <a:solidFill>
                  <a:srgbClr val="FFFFFF"/>
                </a:solidFill>
                <a:latin typeface="Noto Sans"/>
              </a:rPr>
              <a:t>Figura B.21.</a:t>
            </a:r>
          </a:p>
          <a:p>
            <a:pPr>
              <a:spcBef>
                <a:spcPts val="0"/>
              </a:spcBef>
              <a:spcAft>
                <a:spcPts val="0"/>
              </a:spcAft>
            </a:pPr>
            <a:r>
              <a:rPr sz="100">
                <a:solidFill>
                  <a:srgbClr val="FFFFFF"/>
                </a:solidFill>
                <a:latin typeface="Noto Sans"/>
              </a:rPr>
              <a:t>Accesos del Servicio de Televisión Restringida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 la ENDUTIH 2025 del INEGI.</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N/D</a:t>
            </a:r>
          </a:p>
        </p:txBody>
      </p:sp>
      <p:pic>
        <p:nvPicPr>
          <p:cNvPr id="223"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41</a:t>
            </a:r>
          </a:p>
        </p:txBody>
      </p:sp>
    </p:spTree>
  </p:cSld>
  <p:clrMapOvr>
    <a:masterClrMapping/>
  </p:clrMapOvr>
</p:sld>
</file>

<file path=ppt/slides/slide4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2" descr="Capa accesible con el texto del SVG de la figura B.22"/>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B.22</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Menos de 4</a:t>
            </a:r>
          </a:p>
          <a:p>
            <a:pPr>
              <a:spcBef>
                <a:spcPts val="0"/>
              </a:spcBef>
              <a:spcAft>
                <a:spcPts val="0"/>
              </a:spcAft>
            </a:pPr>
            <a:r>
              <a:rPr sz="100">
                <a:solidFill>
                  <a:srgbClr val="FFFFFF"/>
                </a:solidFill>
                <a:latin typeface="Noto Sans"/>
              </a:rPr>
              <a:t>4 a 6</a:t>
            </a:r>
          </a:p>
          <a:p>
            <a:pPr>
              <a:spcBef>
                <a:spcPts val="0"/>
              </a:spcBef>
              <a:spcAft>
                <a:spcPts val="0"/>
              </a:spcAft>
            </a:pPr>
            <a:r>
              <a:rPr sz="100">
                <a:solidFill>
                  <a:srgbClr val="FFFFFF"/>
                </a:solidFill>
                <a:latin typeface="Noto Sans"/>
              </a:rPr>
              <a:t>7 a 9</a:t>
            </a:r>
          </a:p>
          <a:p>
            <a:pPr>
              <a:spcBef>
                <a:spcPts val="0"/>
              </a:spcBef>
              <a:spcAft>
                <a:spcPts val="0"/>
              </a:spcAft>
            </a:pPr>
            <a:r>
              <a:rPr sz="100">
                <a:solidFill>
                  <a:srgbClr val="FFFFFF"/>
                </a:solidFill>
                <a:latin typeface="Noto Sans"/>
              </a:rPr>
              <a:t>10 a 12</a:t>
            </a:r>
          </a:p>
          <a:p>
            <a:pPr>
              <a:spcBef>
                <a:spcPts val="0"/>
              </a:spcBef>
              <a:spcAft>
                <a:spcPts val="0"/>
              </a:spcAft>
            </a:pPr>
            <a:r>
              <a:rPr sz="100">
                <a:solidFill>
                  <a:srgbClr val="FFFFFF"/>
                </a:solidFill>
                <a:latin typeface="Noto Sans"/>
              </a:rPr>
              <a:t>Más de 13</a:t>
            </a:r>
          </a:p>
          <a:p>
            <a:pPr>
              <a:spcBef>
                <a:spcPts val="0"/>
              </a:spcBef>
              <a:spcAft>
                <a:spcPts val="0"/>
              </a:spcAft>
            </a:pPr>
            <a:r>
              <a:rPr sz="100">
                <a:solidFill>
                  <a:srgbClr val="FFFFFF"/>
                </a:solidFill>
                <a:latin typeface="Noto Sans"/>
              </a:rPr>
              <a:t>Figura B.22.</a:t>
            </a:r>
          </a:p>
          <a:p>
            <a:pPr>
              <a:spcBef>
                <a:spcPts val="0"/>
              </a:spcBef>
              <a:spcAft>
                <a:spcPts val="0"/>
              </a:spcAft>
            </a:pPr>
            <a:r>
              <a:rPr sz="100">
                <a:solidFill>
                  <a:srgbClr val="FFFFFF"/>
                </a:solidFill>
                <a:latin typeface="Noto Sans"/>
              </a:rPr>
              <a:t>Accesos del Servicio de Televisión Restringida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del DENUE del INEGI, a mayo de 2026.</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353.2%</a:t>
            </a:r>
          </a:p>
        </p:txBody>
      </p:sp>
      <p:pic>
        <p:nvPicPr>
          <p:cNvPr id="223"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42</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3" descr="Capa accesible con el texto del SVG de la figura B.23"/>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B.23</a:t>
            </a:r>
          </a:p>
          <a:p>
            <a:pPr>
              <a:spcBef>
                <a:spcPts val="0"/>
              </a:spcBef>
              <a:spcAft>
                <a:spcPts val="0"/>
              </a:spcAft>
            </a:pPr>
            <a:r>
              <a:rPr sz="100">
                <a:solidFill>
                  <a:srgbClr val="FFFFFF"/>
                </a:solidFill>
                <a:latin typeface="Noto Sans"/>
              </a:rPr>
              <a:t>52.0%</a:t>
            </a:r>
          </a:p>
          <a:p>
            <a:pPr>
              <a:spcBef>
                <a:spcPts val="0"/>
              </a:spcBef>
              <a:spcAft>
                <a:spcPts val="0"/>
              </a:spcAft>
            </a:pPr>
            <a:r>
              <a:rPr sz="100">
                <a:solidFill>
                  <a:srgbClr val="FFFFFF"/>
                </a:solidFill>
                <a:latin typeface="Noto Sans"/>
              </a:rPr>
              <a:t>35.5%</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96.0%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Figura B.23.</a:t>
            </a:r>
          </a:p>
          <a:p>
            <a:pPr>
              <a:spcBef>
                <a:spcPts val="0"/>
              </a:spcBef>
              <a:spcAft>
                <a:spcPts val="0"/>
              </a:spcAft>
            </a:pPr>
            <a:r>
              <a:rPr sz="100">
                <a:solidFill>
                  <a:srgbClr val="FFFFFF"/>
                </a:solidFill>
                <a:latin typeface="Noto Sans"/>
              </a:rPr>
              <a:t>Tecnologías de conexión del Servicio de Televisión Restringida por segmento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19,137,914</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2,066,047</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No Residencial</a:t>
            </a:r>
          </a:p>
        </p:txBody>
      </p:sp>
      <p:pic>
        <p:nvPicPr>
          <p:cNvPr id="223"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43</a:t>
            </a:r>
          </a:p>
        </p:txBody>
      </p:sp>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4" descr="Capa accesible con el texto del SVG de la figura B.24"/>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B.24</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Dish-MVS</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Stargroup</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65.5%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63.3%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62.3%</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67.6%</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68.2%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70.2%</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68.6%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62.2%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23.6%</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53.0%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26.8%</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B.24.</a:t>
            </a:r>
          </a:p>
          <a:p>
            <a:pPr>
              <a:spcBef>
                <a:spcPts val="0"/>
              </a:spcBef>
              <a:spcAft>
                <a:spcPts val="0"/>
              </a:spcAft>
            </a:pPr>
            <a:r>
              <a:rPr sz="100">
                <a:solidFill>
                  <a:srgbClr val="FFFFFF"/>
                </a:solidFill>
                <a:latin typeface="Noto Sans"/>
              </a:rPr>
              <a:t>Participación de mercado del Servicio de Televisión Restringida (2014-2024)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p:txBody>
      </p:sp>
      <p:pic>
        <p:nvPicPr>
          <p:cNvPr id="223"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44</a:t>
            </a:r>
          </a:p>
        </p:txBody>
      </p:sp>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5" descr="Capa accesible con el texto del SVG de la figura B.25"/>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B.25</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4,593</a:t>
            </a:r>
          </a:p>
          <a:p>
            <a:pPr>
              <a:spcBef>
                <a:spcPts val="0"/>
              </a:spcBef>
              <a:spcAft>
                <a:spcPts val="0"/>
              </a:spcAft>
            </a:pPr>
            <a:r>
              <a:rPr sz="100">
                <a:solidFill>
                  <a:srgbClr val="FFFFFF"/>
                </a:solidFill>
                <a:latin typeface="Noto Sans"/>
              </a:rPr>
              <a:t>4,507</a:t>
            </a:r>
          </a:p>
          <a:p>
            <a:pPr>
              <a:spcBef>
                <a:spcPts val="0"/>
              </a:spcBef>
              <a:spcAft>
                <a:spcPts val="0"/>
              </a:spcAft>
            </a:pPr>
            <a:r>
              <a:rPr sz="100">
                <a:solidFill>
                  <a:srgbClr val="FFFFFF"/>
                </a:solidFill>
                <a:latin typeface="Noto Sans"/>
              </a:rPr>
              <a:t>5,001</a:t>
            </a:r>
          </a:p>
          <a:p>
            <a:pPr>
              <a:spcBef>
                <a:spcPts val="0"/>
              </a:spcBef>
              <a:spcAft>
                <a:spcPts val="0"/>
              </a:spcAft>
            </a:pPr>
            <a:r>
              <a:rPr sz="100">
                <a:solidFill>
                  <a:srgbClr val="FFFFFF"/>
                </a:solidFill>
                <a:latin typeface="Noto Sans"/>
              </a:rPr>
              <a:t>5,032</a:t>
            </a:r>
          </a:p>
          <a:p>
            <a:pPr>
              <a:spcBef>
                <a:spcPts val="0"/>
              </a:spcBef>
              <a:spcAft>
                <a:spcPts val="0"/>
              </a:spcAft>
            </a:pPr>
            <a:r>
              <a:rPr sz="100">
                <a:solidFill>
                  <a:srgbClr val="FFFFFF"/>
                </a:solidFill>
                <a:latin typeface="Noto Sans"/>
              </a:rPr>
              <a:t>5,240</a:t>
            </a:r>
          </a:p>
          <a:p>
            <a:pPr>
              <a:spcBef>
                <a:spcPts val="0"/>
              </a:spcBef>
              <a:spcAft>
                <a:spcPts val="0"/>
              </a:spcAft>
            </a:pPr>
            <a:r>
              <a:rPr sz="100">
                <a:solidFill>
                  <a:srgbClr val="FFFFFF"/>
                </a:solidFill>
                <a:latin typeface="Noto Sans"/>
              </a:rPr>
              <a:t>5,036</a:t>
            </a:r>
          </a:p>
          <a:p>
            <a:pPr>
              <a:spcBef>
                <a:spcPts val="0"/>
              </a:spcBef>
              <a:spcAft>
                <a:spcPts val="0"/>
              </a:spcAft>
            </a:pPr>
            <a:r>
              <a:rPr sz="100">
                <a:solidFill>
                  <a:srgbClr val="FFFFFF"/>
                </a:solidFill>
                <a:latin typeface="Noto Sans"/>
              </a:rPr>
              <a:t>4,424</a:t>
            </a:r>
          </a:p>
          <a:p>
            <a:pPr>
              <a:spcBef>
                <a:spcPts val="0"/>
              </a:spcBef>
              <a:spcAft>
                <a:spcPts val="0"/>
              </a:spcAft>
            </a:pPr>
            <a:r>
              <a:rPr sz="100">
                <a:solidFill>
                  <a:srgbClr val="FFFFFF"/>
                </a:solidFill>
                <a:latin typeface="Noto Sans"/>
              </a:rPr>
              <a:t>4,078</a:t>
            </a:r>
          </a:p>
          <a:p>
            <a:pPr>
              <a:spcBef>
                <a:spcPts val="0"/>
              </a:spcBef>
              <a:spcAft>
                <a:spcPts val="0"/>
              </a:spcAft>
            </a:pPr>
            <a:r>
              <a:rPr sz="100">
                <a:solidFill>
                  <a:srgbClr val="FFFFFF"/>
                </a:solidFill>
                <a:latin typeface="Noto Sans"/>
              </a:rPr>
              <a:t>3,823</a:t>
            </a:r>
          </a:p>
          <a:p>
            <a:pPr>
              <a:spcBef>
                <a:spcPts val="0"/>
              </a:spcBef>
              <a:spcAft>
                <a:spcPts val="0"/>
              </a:spcAft>
            </a:pPr>
            <a:r>
              <a:rPr sz="100">
                <a:solidFill>
                  <a:srgbClr val="FFFFFF"/>
                </a:solidFill>
                <a:latin typeface="Noto Sans"/>
              </a:rPr>
              <a:t>3,691</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índice se calcula con las participaciones de mercado del servicio.</a:t>
            </a:r>
          </a:p>
          <a:p>
            <a:pPr>
              <a:spcBef>
                <a:spcPts val="0"/>
              </a:spcBef>
              <a:spcAft>
                <a:spcPts val="0"/>
              </a:spcAft>
            </a:pPr>
            <a:r>
              <a:rPr sz="100">
                <a:solidFill>
                  <a:srgbClr val="FFFFFF"/>
                </a:solidFill>
                <a:latin typeface="Noto Sans"/>
              </a:rPr>
              <a:t>Figura B.25.</a:t>
            </a:r>
          </a:p>
          <a:p>
            <a:pPr>
              <a:spcBef>
                <a:spcPts val="0"/>
              </a:spcBef>
              <a:spcAft>
                <a:spcPts val="0"/>
              </a:spcAft>
            </a:pPr>
            <a:r>
              <a:rPr sz="100">
                <a:solidFill>
                  <a:srgbClr val="FFFFFF"/>
                </a:solidFill>
                <a:latin typeface="Noto Sans"/>
              </a:rPr>
              <a:t>Índice de concentración del Servicio de Televisión Restringida (2015-2024)</a:t>
            </a:r>
          </a:p>
        </p:txBody>
      </p:sp>
      <p:pic>
        <p:nvPicPr>
          <p:cNvPr id="223"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45</a:t>
            </a:r>
          </a:p>
        </p:txBody>
      </p:sp>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 descr="Capa accesible con el texto del SVG de la figura C.1"/>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a:t>
            </a:r>
          </a:p>
          <a:p>
            <a:pPr>
              <a:spcBef>
                <a:spcPts val="0"/>
              </a:spcBef>
              <a:spcAft>
                <a:spcPts val="0"/>
              </a:spcAft>
            </a:pPr>
            <a:r>
              <a:rPr sz="100">
                <a:solidFill>
                  <a:srgbClr val="FFFFFF"/>
                </a:solidFill>
                <a:latin typeface="Noto Sans"/>
              </a:rPr>
              <a:t>Banda de 2500 MHz</a:t>
            </a:r>
          </a:p>
          <a:p>
            <a:pPr>
              <a:spcBef>
                <a:spcPts val="0"/>
              </a:spcBef>
              <a:spcAft>
                <a:spcPts val="0"/>
              </a:spcAft>
            </a:pPr>
            <a:r>
              <a:rPr sz="100">
                <a:solidFill>
                  <a:srgbClr val="FFFFFF"/>
                </a:solidFill>
                <a:latin typeface="Noto Sans"/>
              </a:rPr>
              <a:t>140 MHz</a:t>
            </a:r>
          </a:p>
          <a:p>
            <a:pPr>
              <a:spcBef>
                <a:spcPts val="0"/>
              </a:spcBef>
              <a:spcAft>
                <a:spcPts val="0"/>
              </a:spcAft>
            </a:pPr>
            <a:r>
              <a:rPr sz="100">
                <a:solidFill>
                  <a:srgbClr val="FFFFFF"/>
                </a:solidFill>
                <a:latin typeface="Noto Sans"/>
              </a:rPr>
              <a:t>Banda AWS</a:t>
            </a:r>
          </a:p>
          <a:p>
            <a:pPr>
              <a:spcBef>
                <a:spcPts val="0"/>
              </a:spcBef>
              <a:spcAft>
                <a:spcPts val="0"/>
              </a:spcAft>
            </a:pPr>
            <a:r>
              <a:rPr sz="100">
                <a:solidFill>
                  <a:srgbClr val="FFFFFF"/>
                </a:solidFill>
                <a:latin typeface="Noto Sans"/>
              </a:rPr>
              <a:t>130 MHz</a:t>
            </a:r>
          </a:p>
          <a:p>
            <a:pPr>
              <a:spcBef>
                <a:spcPts val="0"/>
              </a:spcBef>
              <a:spcAft>
                <a:spcPts val="0"/>
              </a:spcAft>
            </a:pPr>
            <a:r>
              <a:rPr sz="100">
                <a:solidFill>
                  <a:srgbClr val="FFFFFF"/>
                </a:solidFill>
                <a:latin typeface="Noto Sans"/>
              </a:rPr>
              <a:t>Banda de 3500 MHz</a:t>
            </a:r>
          </a:p>
          <a:p>
            <a:pPr>
              <a:spcBef>
                <a:spcPts val="0"/>
              </a:spcBef>
              <a:spcAft>
                <a:spcPts val="0"/>
              </a:spcAft>
            </a:pPr>
            <a:r>
              <a:rPr sz="100">
                <a:solidFill>
                  <a:srgbClr val="FFFFFF"/>
                </a:solidFill>
                <a:latin typeface="Noto Sans"/>
              </a:rPr>
              <a:t>100 MHz</a:t>
            </a:r>
          </a:p>
          <a:p>
            <a:pPr>
              <a:spcBef>
                <a:spcPts val="0"/>
              </a:spcBef>
              <a:spcAft>
                <a:spcPts val="0"/>
              </a:spcAft>
            </a:pPr>
            <a:r>
              <a:rPr sz="100">
                <a:solidFill>
                  <a:srgbClr val="FFFFFF"/>
                </a:solidFill>
                <a:latin typeface="Noto Sans"/>
              </a:rPr>
              <a:t>Banda de 700 MHz</a:t>
            </a:r>
          </a:p>
          <a:p>
            <a:pPr>
              <a:spcBef>
                <a:spcPts val="0"/>
              </a:spcBef>
              <a:spcAft>
                <a:spcPts val="0"/>
              </a:spcAft>
            </a:pPr>
            <a:r>
              <a:rPr sz="100">
                <a:solidFill>
                  <a:srgbClr val="FFFFFF"/>
                </a:solidFill>
                <a:latin typeface="Noto Sans"/>
              </a:rPr>
              <a:t>90 MHz</a:t>
            </a:r>
          </a:p>
          <a:p>
            <a:pPr>
              <a:spcBef>
                <a:spcPts val="0"/>
              </a:spcBef>
              <a:spcAft>
                <a:spcPts val="0"/>
              </a:spcAft>
            </a:pPr>
            <a:r>
              <a:rPr sz="100">
                <a:solidFill>
                  <a:srgbClr val="FFFFFF"/>
                </a:solidFill>
                <a:latin typeface="Noto Sans"/>
              </a:rPr>
              <a:t>Banda PCS</a:t>
            </a:r>
          </a:p>
          <a:p>
            <a:pPr>
              <a:spcBef>
                <a:spcPts val="0"/>
              </a:spcBef>
              <a:spcAft>
                <a:spcPts val="0"/>
              </a:spcAft>
            </a:pPr>
            <a:r>
              <a:rPr sz="100">
                <a:solidFill>
                  <a:srgbClr val="FFFFFF"/>
                </a:solidFill>
                <a:latin typeface="Noto Sans"/>
              </a:rPr>
              <a:t>68 MHz</a:t>
            </a:r>
          </a:p>
          <a:p>
            <a:pPr>
              <a:spcBef>
                <a:spcPts val="0"/>
              </a:spcBef>
              <a:spcAft>
                <a:spcPts val="0"/>
              </a:spcAft>
            </a:pPr>
            <a:r>
              <a:rPr sz="100">
                <a:solidFill>
                  <a:srgbClr val="FFFFFF"/>
                </a:solidFill>
                <a:latin typeface="Noto Sans"/>
              </a:rPr>
              <a:t>Banda de 3300 MHz</a:t>
            </a:r>
          </a:p>
          <a:p>
            <a:pPr>
              <a:spcBef>
                <a:spcPts val="0"/>
              </a:spcBef>
              <a:spcAft>
                <a:spcPts val="0"/>
              </a:spcAft>
            </a:pPr>
            <a:r>
              <a:rPr sz="100">
                <a:solidFill>
                  <a:srgbClr val="FFFFFF"/>
                </a:solidFill>
                <a:latin typeface="Noto Sans"/>
              </a:rPr>
              <a:t>50 MHz</a:t>
            </a:r>
          </a:p>
          <a:p>
            <a:pPr>
              <a:spcBef>
                <a:spcPts val="0"/>
              </a:spcBef>
              <a:spcAft>
                <a:spcPts val="0"/>
              </a:spcAft>
            </a:pPr>
            <a:r>
              <a:rPr sz="100">
                <a:solidFill>
                  <a:srgbClr val="FFFFFF"/>
                </a:solidFill>
                <a:latin typeface="Noto Sans"/>
              </a:rPr>
              <a:t>Banda de 850 MHz</a:t>
            </a:r>
          </a:p>
          <a:p>
            <a:pPr>
              <a:spcBef>
                <a:spcPts val="0"/>
              </a:spcBef>
              <a:spcAft>
                <a:spcPts val="0"/>
              </a:spcAft>
            </a:pPr>
            <a:r>
              <a:rPr sz="100">
                <a:solidFill>
                  <a:srgbClr val="FFFFFF"/>
                </a:solidFill>
                <a:latin typeface="Noto Sans"/>
              </a:rPr>
              <a:t>47 MHz</a:t>
            </a:r>
          </a:p>
          <a:p>
            <a:pPr>
              <a:spcBef>
                <a:spcPts val="0"/>
              </a:spcBef>
              <a:spcAft>
                <a:spcPts val="0"/>
              </a:spcAft>
            </a:pPr>
            <a:r>
              <a:rPr sz="100">
                <a:solidFill>
                  <a:srgbClr val="FFFFFF"/>
                </a:solidFill>
                <a:latin typeface="Noto Sans"/>
              </a:rPr>
              <a:t>Banda de</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20 MHz</a:t>
            </a:r>
          </a:p>
          <a:p>
            <a:pPr>
              <a:spcBef>
                <a:spcPts val="0"/>
              </a:spcBef>
              <a:spcAft>
                <a:spcPts val="0"/>
              </a:spcAft>
            </a:pPr>
            <a:r>
              <a:rPr sz="100">
                <a:solidFill>
                  <a:srgbClr val="FFFFFF"/>
                </a:solidFill>
                <a:latin typeface="Noto Sans"/>
              </a:rPr>
              <a:t>Total: 645 MHz</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Las superficies son proporcionales a los MHz asignados.</a:t>
            </a:r>
          </a:p>
          <a:p>
            <a:pPr>
              <a:spcBef>
                <a:spcPts val="0"/>
              </a:spcBef>
              <a:spcAft>
                <a:spcPts val="0"/>
              </a:spcAft>
            </a:pPr>
            <a:r>
              <a:rPr sz="100">
                <a:solidFill>
                  <a:srgbClr val="FFFFFF"/>
                </a:solidFill>
                <a:latin typeface="Noto Sans"/>
              </a:rPr>
              <a:t>Figura C.1.</a:t>
            </a:r>
          </a:p>
          <a:p>
            <a:pPr>
              <a:spcBef>
                <a:spcPts val="0"/>
              </a:spcBef>
              <a:spcAft>
                <a:spcPts val="0"/>
              </a:spcAft>
            </a:pPr>
            <a:r>
              <a:rPr sz="100">
                <a:solidFill>
                  <a:srgbClr val="FFFFFF"/>
                </a:solidFill>
                <a:latin typeface="Noto Sans"/>
              </a:rPr>
              <a:t>Espectro radioeléctrico asignado por banda de frecuencia</a:t>
            </a:r>
          </a:p>
        </p:txBody>
      </p:sp>
      <p:pic>
        <p:nvPicPr>
          <p:cNvPr id="223"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46</a:t>
            </a:r>
          </a:p>
        </p:txBody>
      </p:sp>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2" descr="Capa accesible con el texto del SVG de la figura C.2"/>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C.2</a:t>
            </a:r>
          </a:p>
          <a:p>
            <a:pPr>
              <a:spcBef>
                <a:spcPts val="0"/>
              </a:spcBef>
              <a:spcAft>
                <a:spcPts val="0"/>
              </a:spcAft>
            </a:pPr>
            <a:r>
              <a:rPr sz="100">
                <a:solidFill>
                  <a:srgbClr val="FFFFFF"/>
                </a:solidFill>
                <a:latin typeface="Noto Sans"/>
              </a:rPr>
              <a:t>700 MHz</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850 MHz</a:t>
            </a:r>
          </a:p>
          <a:p>
            <a:pPr>
              <a:spcBef>
                <a:spcPts val="0"/>
              </a:spcBef>
              <a:spcAft>
                <a:spcPts val="0"/>
              </a:spcAft>
            </a:pPr>
            <a:r>
              <a:rPr sz="100">
                <a:solidFill>
                  <a:srgbClr val="FFFFFF"/>
                </a:solidFill>
                <a:latin typeface="Noto Sans"/>
              </a:rPr>
              <a:t>1900 MHz</a:t>
            </a:r>
          </a:p>
          <a:p>
            <a:pPr>
              <a:spcBef>
                <a:spcPts val="0"/>
              </a:spcBef>
              <a:spcAft>
                <a:spcPts val="0"/>
              </a:spcAft>
            </a:pPr>
            <a:r>
              <a:rPr sz="100">
                <a:solidFill>
                  <a:srgbClr val="FFFFFF"/>
                </a:solidFill>
                <a:latin typeface="Noto Sans"/>
              </a:rPr>
              <a:t>AWS</a:t>
            </a:r>
          </a:p>
          <a:p>
            <a:pPr>
              <a:spcBef>
                <a:spcPts val="0"/>
              </a:spcBef>
              <a:spcAft>
                <a:spcPts val="0"/>
              </a:spcAft>
            </a:pPr>
            <a:r>
              <a:rPr sz="100">
                <a:solidFill>
                  <a:srgbClr val="FFFFFF"/>
                </a:solidFill>
                <a:latin typeface="Noto Sans"/>
              </a:rPr>
              <a:t>2500 MHz</a:t>
            </a:r>
          </a:p>
          <a:p>
            <a:pPr>
              <a:spcBef>
                <a:spcPts val="0"/>
              </a:spcBef>
              <a:spcAft>
                <a:spcPts val="0"/>
              </a:spcAft>
            </a:pPr>
            <a:r>
              <a:rPr sz="100">
                <a:solidFill>
                  <a:srgbClr val="FFFFFF"/>
                </a:solidFill>
                <a:latin typeface="Noto Sans"/>
              </a:rPr>
              <a:t>3300 MHz</a:t>
            </a:r>
          </a:p>
          <a:p>
            <a:pPr>
              <a:spcBef>
                <a:spcPts val="0"/>
              </a:spcBef>
              <a:spcAft>
                <a:spcPts val="0"/>
              </a:spcAft>
            </a:pPr>
            <a:r>
              <a:rPr sz="100">
                <a:solidFill>
                  <a:srgbClr val="FFFFFF"/>
                </a:solidFill>
                <a:latin typeface="Noto Sans"/>
              </a:rPr>
              <a:t>3500 MHz</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TELCEL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ALTÁN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del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respecto del total asignado en cada banda.</a:t>
            </a:r>
          </a:p>
          <a:p>
            <a:pPr>
              <a:spcBef>
                <a:spcPts val="0"/>
              </a:spcBef>
              <a:spcAft>
                <a:spcPts val="0"/>
              </a:spcAft>
            </a:pPr>
            <a:r>
              <a:rPr sz="100">
                <a:solidFill>
                  <a:srgbClr val="FFFFFF"/>
                </a:solidFill>
                <a:latin typeface="Noto Sans"/>
              </a:rPr>
              <a:t>Figura C.2.</a:t>
            </a:r>
          </a:p>
          <a:p>
            <a:pPr>
              <a:spcBef>
                <a:spcPts val="0"/>
              </a:spcBef>
              <a:spcAft>
                <a:spcPts val="0"/>
              </a:spcAft>
            </a:pPr>
            <a:r>
              <a:rPr sz="100">
                <a:solidFill>
                  <a:srgbClr val="FFFFFF"/>
                </a:solidFill>
                <a:latin typeface="Noto Sans"/>
              </a:rPr>
              <a:t>Distribución del espectro radioeléctrico por operador y banda</a:t>
            </a:r>
          </a:p>
        </p:txBody>
      </p:sp>
      <p:pic>
        <p:nvPicPr>
          <p:cNvPr id="223"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47</a:t>
            </a:r>
          </a:p>
        </p:txBody>
      </p:sp>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C.3 · USO DE LOS SERVICIOS MÓVILES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2" name="ANUARIO_TEXT_LAYER_C_3" descr="Capa accesible con el texto del SVG de la figura C.3"/>
          <p:cNvSpPr txBox="1"/>
          <p:nvPr/>
        </p:nvSpPr>
        <p:spPr>
          <a:xfrm>
            <a:off x="5712802" y="1016677"/>
            <a:ext cx="568275"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C.3</a:t>
            </a:r>
          </a:p>
          <a:p>
            <a:pPr>
              <a:spcBef>
                <a:spcPts val="0"/>
              </a:spcBef>
              <a:spcAft>
                <a:spcPts val="0"/>
              </a:spcAft>
            </a:pPr>
            <a:r>
              <a:rPr sz="100">
                <a:solidFill>
                  <a:srgbClr val="FFFFFF"/>
                </a:solidFill>
                <a:latin typeface="Noto Sans"/>
              </a:rPr>
              <a:t>Figura C.3.</a:t>
            </a:r>
          </a:p>
          <a:p>
            <a:pPr>
              <a:spcBef>
                <a:spcPts val="0"/>
              </a:spcBef>
              <a:spcAft>
                <a:spcPts val="0"/>
              </a:spcAft>
            </a:pPr>
            <a:r>
              <a:rPr sz="100">
                <a:solidFill>
                  <a:srgbClr val="FFFFFF"/>
                </a:solidFill>
                <a:latin typeface="Noto Sans"/>
              </a:rPr>
              <a:t>Porcentaje del uso de los servicios</a:t>
            </a:r>
          </a:p>
          <a:p>
            <a:pPr>
              <a:spcBef>
                <a:spcPts val="0"/>
              </a:spcBef>
              <a:spcAft>
                <a:spcPts val="0"/>
              </a:spcAft>
            </a:pPr>
            <a:r>
              <a:rPr sz="100">
                <a:solidFill>
                  <a:srgbClr val="FFFFFF"/>
                </a:solidFill>
                <a:latin typeface="Noto Sans"/>
              </a:rPr>
              <a:t>móviles de telecomunicaciones</a:t>
            </a:r>
          </a:p>
          <a:p>
            <a:pPr>
              <a:spcBef>
                <a:spcPts val="0"/>
              </a:spcBef>
              <a:spcAft>
                <a:spcPts val="0"/>
              </a:spcAft>
            </a:pPr>
            <a:r>
              <a:rPr sz="100">
                <a:solidFill>
                  <a:srgbClr val="FFFFFF"/>
                </a:solidFill>
                <a:latin typeface="Noto Sans"/>
              </a:rPr>
              <a:t>Población de 6 años o más: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a:t>
            </a:r>
          </a:p>
          <a:p>
            <a:pPr>
              <a:spcBef>
                <a:spcPts val="0"/>
              </a:spcBef>
              <a:spcAft>
                <a:spcPts val="0"/>
              </a:spcAft>
            </a:pPr>
            <a:r>
              <a:rPr sz="100">
                <a:solidFill>
                  <a:srgbClr val="FFFFFF"/>
                </a:solidFill>
                <a:latin typeface="Noto Sans"/>
              </a:rPr>
              <a:t>https://www.inegi.org.mx/programas/endutih/2025/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3" name="ANUARIO_IMAGE_C_3" descr="Figura C.3. SVG vectorial sin respaldo raster"/>
          <p:cNvPicPr>
            <a:picLocks noChangeAspect="1"/>
          </p:cNvPicPr>
          <p:nvPr/>
        </p:nvPicPr>
        <p:blipFill>
          <a:blip r:embed="rId3"/>
          <a:stretch>
            <a:fillRect/>
          </a:stretch>
        </p:blipFill>
        <p:spPr>
          <a:xfrm>
            <a:off x="5712802" y="1016677"/>
            <a:ext cx="568275" cy="1603176"/>
          </a:xfrm>
          <a:prstGeom prst="rect">
            <a:avLst/>
          </a:prstGeom>
        </p:spPr>
      </p:pic>
      <p:sp>
        <p:nvSpPr>
          <p:cNvPr id="162" name="ANUARIO_TEXT_C_4" descr="ANUARIO_FIGURE_ID=C.3;ROLE=NARRATIVE_PLACEHOLDER"/>
          <p:cNvSpPr/>
          <p:nvPr/>
        </p:nvSpPr>
        <p:spPr>
          <a:xfrm>
            <a:off x="450900" y="278444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C.4 · USO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3" name="ANUARIO_FIGURE_C_4" descr="ANUARIO_FIGURE_ID=C.3;ROLE=FIGURE_PLACEHOLDER;FIT=CONTAIN" title="Marcador automático para Figura A.1">
            <a:extLst>
              <a:ext uri="{FF2B5EF4-FFF2-40B4-BE49-F238E27FC236}">
                <ns2:creationId id="{1C9B3570-B527-2EAE-B3A8-68A4B17C97AF}"/>
              </a:ext>
            </a:extLst>
          </p:cNvPr>
          <p:cNvSpPr/>
          <p:nvPr/>
        </p:nvSpPr>
        <p:spPr>
          <a:xfrm>
            <a:off x="3284220" y="278444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4" name="ANUARIO_TEXT_LAYER_C_4" descr="Capa accesible con el texto del SVG de la figura C.4"/>
          <p:cNvSpPr txBox="1"/>
          <p:nvPr/>
        </p:nvSpPr>
        <p:spPr>
          <a:xfrm>
            <a:off x="4504328" y="2857597"/>
            <a:ext cx="2985224"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C.4</a:t>
            </a:r>
          </a:p>
          <a:p>
            <a:pPr>
              <a:spcBef>
                <a:spcPts val="0"/>
              </a:spcBef>
              <a:spcAft>
                <a:spcPts val="0"/>
              </a:spcAft>
            </a:pPr>
            <a:r>
              <a:rPr sz="100">
                <a:solidFill>
                  <a:srgbClr val="FFFFFF"/>
                </a:solidFill>
                <a:latin typeface="Noto Sans"/>
              </a:rPr>
              <a:t>Figura C.4.</a:t>
            </a:r>
          </a:p>
          <a:p>
            <a:pPr>
              <a:spcBef>
                <a:spcPts val="0"/>
              </a:spcBef>
              <a:spcAft>
                <a:spcPts val="0"/>
              </a:spcAft>
            </a:pPr>
            <a:r>
              <a:rPr sz="100">
                <a:solidFill>
                  <a:srgbClr val="FFFFFF"/>
                </a:solidFill>
                <a:latin typeface="Noto Sans"/>
              </a:rPr>
              <a:t>Porcentaje del uso de los servicios móviles de telecomunicaciones por zona geográfica</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urbanas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rurales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5" name="ANUARIO_IMAGE_C_4" descr="Figura C.4. SVG vectorial sin respaldo raster"/>
          <p:cNvPicPr>
            <a:picLocks noChangeAspect="1"/>
          </p:cNvPicPr>
          <p:nvPr/>
        </p:nvPicPr>
        <p:blipFill>
          <a:blip r:embed="rId2"/>
          <a:stretch>
            <a:fillRect/>
          </a:stretch>
        </p:blipFill>
        <p:spPr>
          <a:xfrm>
            <a:off x="4504328" y="2857597"/>
            <a:ext cx="2985224" cy="1603176"/>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48</a:t>
            </a:r>
          </a:p>
        </p:txBody>
      </p:sp>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5" descr="Capa accesible con el texto del SVG de la figura C.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C.5</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21.8</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66.6</a:t>
            </a:r>
          </a:p>
          <a:p>
            <a:pPr>
              <a:spcBef>
                <a:spcPts val="0"/>
              </a:spcBef>
              <a:spcAft>
                <a:spcPts val="0"/>
              </a:spcAft>
            </a:pPr>
            <a:r>
              <a:rPr sz="100">
                <a:solidFill>
                  <a:srgbClr val="FFFFFF"/>
                </a:solidFill>
                <a:latin typeface="Noto Sans"/>
              </a:rPr>
              <a:t>75.4</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90.5</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106.7</a:t>
            </a:r>
          </a:p>
          <a:p>
            <a:pPr>
              <a:spcBef>
                <a:spcPts val="0"/>
              </a:spcBef>
              <a:spcAft>
                <a:spcPts val="0"/>
              </a:spcAft>
            </a:pPr>
            <a:r>
              <a:rPr sz="100">
                <a:solidFill>
                  <a:srgbClr val="FFFFFF"/>
                </a:solidFill>
                <a:latin typeface="Noto Sans"/>
              </a:rPr>
              <a:t>104.9</a:t>
            </a:r>
          </a:p>
          <a:p>
            <a:pPr>
              <a:spcBef>
                <a:spcPts val="0"/>
              </a:spcBef>
              <a:spcAft>
                <a:spcPts val="0"/>
              </a:spcAft>
            </a:pPr>
            <a:r>
              <a:rPr sz="100">
                <a:solidFill>
                  <a:srgbClr val="FFFFFF"/>
                </a:solidFill>
                <a:latin typeface="Noto Sans"/>
              </a:rPr>
              <a:t>107.7</a:t>
            </a:r>
          </a:p>
          <a:p>
            <a:pPr>
              <a:spcBef>
                <a:spcPts val="0"/>
              </a:spcBef>
              <a:spcAft>
                <a:spcPts val="0"/>
              </a:spcAft>
            </a:pPr>
            <a:r>
              <a:rPr sz="100">
                <a:solidFill>
                  <a:srgbClr val="FFFFFF"/>
                </a:solidFill>
                <a:latin typeface="Noto Sans"/>
              </a:rPr>
              <a:t>111.7</a:t>
            </a:r>
          </a:p>
          <a:p>
            <a:pPr>
              <a:spcBef>
                <a:spcPts val="0"/>
              </a:spcBef>
              <a:spcAft>
                <a:spcPts val="0"/>
              </a:spcAft>
            </a:pPr>
            <a:r>
              <a:rPr sz="100">
                <a:solidFill>
                  <a:srgbClr val="FFFFFF"/>
                </a:solidFill>
                <a:latin typeface="Noto Sans"/>
              </a:rPr>
              <a:t>114.3</a:t>
            </a:r>
          </a:p>
          <a:p>
            <a:pPr>
              <a:spcBef>
                <a:spcPts val="0"/>
              </a:spcBef>
              <a:spcAft>
                <a:spcPts val="0"/>
              </a:spcAft>
            </a:pPr>
            <a:r>
              <a:rPr sz="100">
                <a:solidFill>
                  <a:srgbClr val="FFFFFF"/>
                </a:solidFill>
                <a:latin typeface="Noto Sans"/>
              </a:rPr>
              <a:t>120.2</a:t>
            </a:r>
          </a:p>
          <a:p>
            <a:pPr>
              <a:spcBef>
                <a:spcPts val="0"/>
              </a:spcBef>
              <a:spcAft>
                <a:spcPts val="0"/>
              </a:spcAft>
            </a:pPr>
            <a:r>
              <a:rPr sz="100">
                <a:solidFill>
                  <a:srgbClr val="FFFFFF"/>
                </a:solidFill>
                <a:latin typeface="Noto Sans"/>
              </a:rPr>
              <a:t>122.0</a:t>
            </a:r>
          </a:p>
          <a:p>
            <a:pPr>
              <a:spcBef>
                <a:spcPts val="0"/>
              </a:spcBef>
              <a:spcAft>
                <a:spcPts val="0"/>
              </a:spcAft>
            </a:pPr>
            <a:r>
              <a:rPr sz="100">
                <a:solidFill>
                  <a:srgbClr val="FFFFFF"/>
                </a:solidFill>
                <a:latin typeface="Noto Sans"/>
              </a:rPr>
              <a:t>122.9</a:t>
            </a:r>
          </a:p>
          <a:p>
            <a:pPr>
              <a:spcBef>
                <a:spcPts val="0"/>
              </a:spcBef>
              <a:spcAft>
                <a:spcPts val="0"/>
              </a:spcAft>
            </a:pPr>
            <a:r>
              <a:rPr sz="100">
                <a:solidFill>
                  <a:srgbClr val="FFFFFF"/>
                </a:solidFill>
                <a:latin typeface="Noto Sans"/>
              </a:rPr>
              <a:t>126.5</a:t>
            </a:r>
          </a:p>
          <a:p>
            <a:pPr>
              <a:spcBef>
                <a:spcPts val="0"/>
              </a:spcBef>
              <a:spcAft>
                <a:spcPts val="0"/>
              </a:spcAft>
            </a:pPr>
            <a:r>
              <a:rPr sz="100">
                <a:solidFill>
                  <a:srgbClr val="FFFFFF"/>
                </a:solidFill>
                <a:latin typeface="Noto Sans"/>
              </a:rPr>
              <a:t>136.0</a:t>
            </a:r>
          </a:p>
          <a:p>
            <a:pPr>
              <a:spcBef>
                <a:spcPts val="0"/>
              </a:spcBef>
              <a:spcAft>
                <a:spcPts val="0"/>
              </a:spcAft>
            </a:pPr>
            <a:r>
              <a:rPr sz="100">
                <a:solidFill>
                  <a:srgbClr val="FFFFFF"/>
                </a:solidFill>
                <a:latin typeface="Noto Sans"/>
              </a:rPr>
              <a:t>145.0</a:t>
            </a:r>
          </a:p>
          <a:p>
            <a:pPr>
              <a:spcBef>
                <a:spcPts val="0"/>
              </a:spcBef>
              <a:spcAft>
                <a:spcPts val="0"/>
              </a:spcAft>
            </a:pPr>
            <a:r>
              <a:rPr sz="100">
                <a:solidFill>
                  <a:srgbClr val="FFFFFF"/>
                </a:solidFill>
                <a:latin typeface="Noto Sans"/>
              </a:rPr>
              <a:t>152.5</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segmento especificado</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expresadas en millones de líneas.</a:t>
            </a:r>
          </a:p>
          <a:p>
            <a:pPr>
              <a:spcBef>
                <a:spcPts val="0"/>
              </a:spcBef>
              <a:spcAft>
                <a:spcPts val="0"/>
              </a:spcAft>
            </a:pPr>
            <a:r>
              <a:rPr sz="100">
                <a:solidFill>
                  <a:srgbClr val="FFFFFF"/>
                </a:solidFill>
                <a:latin typeface="Noto Sans"/>
              </a:rPr>
              <a:t>Figura C.5.</a:t>
            </a:r>
          </a:p>
          <a:p>
            <a:pPr>
              <a:spcBef>
                <a:spcPts val="0"/>
              </a:spcBef>
              <a:spcAft>
                <a:spcPts val="0"/>
              </a:spcAft>
            </a:pPr>
            <a:r>
              <a:rPr sz="100">
                <a:solidFill>
                  <a:srgbClr val="FFFFFF"/>
                </a:solidFill>
                <a:latin typeface="Noto Sans"/>
              </a:rPr>
              <a:t>Líneas del servicio móvil de telefonía (1990-2024) [millones]</a:t>
            </a:r>
          </a:p>
        </p:txBody>
      </p:sp>
      <p:pic>
        <p:nvPicPr>
          <p:cNvPr id="223"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49</a:t>
            </a:r>
          </a:p>
        </p:txBody>
      </p:sp>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6" descr="Capa accesible con el texto del SVG de la figura C.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C.6</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C.6.</a:t>
            </a:r>
          </a:p>
          <a:p>
            <a:pPr>
              <a:spcBef>
                <a:spcPts val="0"/>
              </a:spcBef>
              <a:spcAft>
                <a:spcPts val="0"/>
              </a:spcAft>
            </a:pPr>
            <a:r>
              <a:rPr sz="100">
                <a:solidFill>
                  <a:srgbClr val="FFFFFF"/>
                </a:solidFill>
                <a:latin typeface="Noto Sans"/>
              </a:rPr>
              <a:t>Teledensidad del servicio móvil de telefonía</a:t>
            </a:r>
          </a:p>
        </p:txBody>
      </p:sp>
      <p:pic>
        <p:nvPicPr>
          <p:cNvPr id="223"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50</a:t>
            </a:r>
          </a:p>
        </p:txBody>
      </p:sp>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7" descr="Capa accesible con el texto del SVG de la figura C.7"/>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C.7</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83 a 111</a:t>
            </a:r>
          </a:p>
          <a:p>
            <a:pPr>
              <a:spcBef>
                <a:spcPts val="0"/>
              </a:spcBef>
              <a:spcAft>
                <a:spcPts val="0"/>
              </a:spcAft>
            </a:pPr>
            <a:r>
              <a:rPr sz="100">
                <a:solidFill>
                  <a:srgbClr val="FFFFFF"/>
                </a:solidFill>
                <a:latin typeface="Noto Sans"/>
              </a:rPr>
              <a:t>111 a 115</a:t>
            </a:r>
          </a:p>
          <a:p>
            <a:pPr>
              <a:spcBef>
                <a:spcPts val="0"/>
              </a:spcBef>
              <a:spcAft>
                <a:spcPts val="0"/>
              </a:spcAft>
            </a:pPr>
            <a:r>
              <a:rPr sz="100">
                <a:solidFill>
                  <a:srgbClr val="FFFFFF"/>
                </a:solidFill>
                <a:latin typeface="Noto Sans"/>
              </a:rPr>
              <a:t>115 a 117</a:t>
            </a:r>
          </a:p>
          <a:p>
            <a:pPr>
              <a:spcBef>
                <a:spcPts val="0"/>
              </a:spcBef>
              <a:spcAft>
                <a:spcPts val="0"/>
              </a:spcAft>
            </a:pPr>
            <a:r>
              <a:rPr sz="100">
                <a:solidFill>
                  <a:srgbClr val="FFFFFF"/>
                </a:solidFill>
                <a:latin typeface="Noto Sans"/>
              </a:rPr>
              <a:t>117 a 120</a:t>
            </a:r>
          </a:p>
          <a:p>
            <a:pPr>
              <a:spcBef>
                <a:spcPts val="0"/>
              </a:spcBef>
              <a:spcAft>
                <a:spcPts val="0"/>
              </a:spcAft>
            </a:pPr>
            <a:r>
              <a:rPr sz="100">
                <a:solidFill>
                  <a:srgbClr val="FFFFFF"/>
                </a:solidFill>
                <a:latin typeface="Noto Sans"/>
              </a:rPr>
              <a:t>120 a 130</a:t>
            </a:r>
          </a:p>
          <a:p>
            <a:pPr>
              <a:spcBef>
                <a:spcPts val="0"/>
              </a:spcBef>
              <a:spcAft>
                <a:spcPts val="0"/>
              </a:spcAft>
            </a:pPr>
            <a:r>
              <a:rPr sz="100">
                <a:solidFill>
                  <a:srgbClr val="FFFFFF"/>
                </a:solidFill>
                <a:latin typeface="Noto Sans"/>
              </a:rPr>
              <a:t>Figura C.7.</a:t>
            </a:r>
          </a:p>
          <a:p>
            <a:pPr>
              <a:spcBef>
                <a:spcPts val="0"/>
              </a:spcBef>
              <a:spcAft>
                <a:spcPts val="0"/>
              </a:spcAft>
            </a:pPr>
            <a:r>
              <a:rPr sz="100">
                <a:solidFill>
                  <a:srgbClr val="FFFFFF"/>
                </a:solidFill>
                <a:latin typeface="Noto Sans"/>
              </a:rPr>
              <a:t>Líneas del servicio móvil de telefonía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indicador nacional proviene de la serie nacional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4.5%</a:t>
            </a:r>
          </a:p>
        </p:txBody>
      </p:sp>
      <p:pic>
        <p:nvPicPr>
          <p:cNvPr id="223"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51</a:t>
            </a:r>
          </a:p>
        </p:txBody>
      </p:sp>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8" descr="Capa accesible con el texto del SVG de la figura C.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C.8</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100000</a:t>
            </a:r>
          </a:p>
          <a:p>
            <a:pPr>
              <a:spcBef>
                <a:spcPts val="0"/>
              </a:spcBef>
              <a:spcAft>
                <a:spcPts val="0"/>
              </a:spcAft>
            </a:pPr>
            <a:r>
              <a:rPr sz="100">
                <a:solidFill>
                  <a:srgbClr val="FFFFFF"/>
                </a:solidFill>
                <a:latin typeface="Noto Sans"/>
              </a:rPr>
              <a:t>150000</a:t>
            </a:r>
          </a:p>
          <a:p>
            <a:pPr>
              <a:spcBef>
                <a:spcPts val="0"/>
              </a:spcBef>
              <a:spcAft>
                <a:spcPts val="0"/>
              </a:spcAft>
            </a:pPr>
            <a:r>
              <a:rPr sz="100">
                <a:solidFill>
                  <a:srgbClr val="FFFFFF"/>
                </a:solidFill>
                <a:latin typeface="Noto Sans"/>
              </a:rPr>
              <a:t>200000</a:t>
            </a:r>
          </a:p>
          <a:p>
            <a:pPr>
              <a:spcBef>
                <a:spcPts val="0"/>
              </a:spcBef>
              <a:spcAft>
                <a:spcPts val="0"/>
              </a:spcAft>
            </a:pPr>
            <a:r>
              <a:rPr sz="100">
                <a:solidFill>
                  <a:srgbClr val="FFFFFF"/>
                </a:solidFill>
                <a:latin typeface="Noto Sans"/>
              </a:rPr>
              <a:t>250000</a:t>
            </a:r>
          </a:p>
          <a:p>
            <a:pPr>
              <a:spcBef>
                <a:spcPts val="0"/>
              </a:spcBef>
              <a:spcAft>
                <a:spcPts val="0"/>
              </a:spcAft>
            </a:pPr>
            <a:r>
              <a:rPr sz="100">
                <a:solidFill>
                  <a:srgbClr val="FFFFFF"/>
                </a:solidFill>
                <a:latin typeface="Noto Sans"/>
              </a:rPr>
              <a:t>300000</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299,342</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Suma anual del tráfico de salida, en millones de minutos.</a:t>
            </a:r>
          </a:p>
          <a:p>
            <a:pPr>
              <a:spcBef>
                <a:spcPts val="0"/>
              </a:spcBef>
              <a:spcAft>
                <a:spcPts val="0"/>
              </a:spcAft>
            </a:pPr>
            <a:r>
              <a:rPr sz="100">
                <a:solidFill>
                  <a:srgbClr val="FFFFFF"/>
                </a:solidFill>
                <a:latin typeface="Noto Sans"/>
              </a:rPr>
              <a:t>Figura C.8.</a:t>
            </a:r>
          </a:p>
          <a:p>
            <a:pPr>
              <a:spcBef>
                <a:spcPts val="0"/>
              </a:spcBef>
              <a:spcAft>
                <a:spcPts val="0"/>
              </a:spcAft>
            </a:pPr>
            <a:r>
              <a:rPr sz="100">
                <a:solidFill>
                  <a:srgbClr val="FFFFFF"/>
                </a:solidFill>
                <a:latin typeface="Noto Sans"/>
              </a:rPr>
              <a:t>Tráfico de salida del servicio móvil de telefonía (1997-2024)</a:t>
            </a:r>
          </a:p>
        </p:txBody>
      </p:sp>
      <p:pic>
        <p:nvPicPr>
          <p:cNvPr id="223"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52</a:t>
            </a:r>
          </a:p>
        </p:txBody>
      </p:sp>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9" descr="Capa accesible con el texto del SVG de la figura C.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68.86%</a:t>
            </a:r>
          </a:p>
          <a:p>
            <a:pPr>
              <a:spcBef>
                <a:spcPts val="0"/>
              </a:spcBef>
              <a:spcAft>
                <a:spcPts val="0"/>
              </a:spcAft>
            </a:pPr>
            <a:r>
              <a:rPr sz="100">
                <a:solidFill>
                  <a:srgbClr val="FFFFFF"/>
                </a:solidFill>
                <a:latin typeface="Noto Sans"/>
              </a:rPr>
              <a:t>20.51%</a:t>
            </a:r>
          </a:p>
          <a:p>
            <a:pPr>
              <a:spcBef>
                <a:spcPts val="0"/>
              </a:spcBef>
              <a:spcAft>
                <a:spcPts val="0"/>
              </a:spcAft>
            </a:pPr>
            <a:r>
              <a:rPr sz="100">
                <a:solidFill>
                  <a:srgbClr val="FFFFFF"/>
                </a:solidFill>
                <a:latin typeface="Noto Sans"/>
              </a:rPr>
              <a:t>10.63%</a:t>
            </a:r>
          </a:p>
          <a:p>
            <a:pPr>
              <a:spcBef>
                <a:spcPts val="0"/>
              </a:spcBef>
              <a:spcAft>
                <a:spcPts val="0"/>
              </a:spcAft>
            </a:pPr>
            <a:r>
              <a:rPr sz="100">
                <a:solidFill>
                  <a:srgbClr val="FFFFFF"/>
                </a:solidFill>
                <a:latin typeface="Noto Sans"/>
              </a:rPr>
              <a:t>67.62%</a:t>
            </a:r>
          </a:p>
          <a:p>
            <a:pPr>
              <a:spcBef>
                <a:spcPts val="0"/>
              </a:spcBef>
              <a:spcAft>
                <a:spcPts val="0"/>
              </a:spcAft>
            </a:pPr>
            <a:r>
              <a:rPr sz="100">
                <a:solidFill>
                  <a:srgbClr val="FFFFFF"/>
                </a:solidFill>
                <a:latin typeface="Noto Sans"/>
              </a:rPr>
              <a:t>20.65%</a:t>
            </a:r>
          </a:p>
          <a:p>
            <a:pPr>
              <a:spcBef>
                <a:spcPts val="0"/>
              </a:spcBef>
              <a:spcAft>
                <a:spcPts val="0"/>
              </a:spcAft>
            </a:pPr>
            <a:r>
              <a:rPr sz="100">
                <a:solidFill>
                  <a:srgbClr val="FFFFFF"/>
                </a:solidFill>
                <a:latin typeface="Noto Sans"/>
              </a:rPr>
              <a:t>11.59%</a:t>
            </a:r>
          </a:p>
          <a:p>
            <a:pPr>
              <a:spcBef>
                <a:spcPts val="0"/>
              </a:spcBef>
              <a:spcAft>
                <a:spcPts val="0"/>
              </a:spcAft>
            </a:pPr>
            <a:r>
              <a:rPr sz="100">
                <a:solidFill>
                  <a:srgbClr val="FFFFFF"/>
                </a:solidFill>
                <a:latin typeface="Noto Sans"/>
              </a:rPr>
              <a:t>0.14%</a:t>
            </a:r>
          </a:p>
          <a:p>
            <a:pPr>
              <a:spcBef>
                <a:spcPts val="0"/>
              </a:spcBef>
              <a:spcAft>
                <a:spcPts val="0"/>
              </a:spcAft>
            </a:pPr>
            <a:r>
              <a:rPr sz="100">
                <a:solidFill>
                  <a:srgbClr val="FFFFFF"/>
                </a:solidFill>
                <a:latin typeface="Noto Sans"/>
              </a:rPr>
              <a:t>68.02%</a:t>
            </a:r>
          </a:p>
          <a:p>
            <a:pPr>
              <a:spcBef>
                <a:spcPts val="0"/>
              </a:spcBef>
              <a:spcAft>
                <a:spcPts val="0"/>
              </a:spcAft>
            </a:pPr>
            <a:r>
              <a:rPr sz="100">
                <a:solidFill>
                  <a:srgbClr val="FFFFFF"/>
                </a:solidFill>
                <a:latin typeface="Noto Sans"/>
              </a:rPr>
              <a:t>23.12%</a:t>
            </a:r>
          </a:p>
          <a:p>
            <a:pPr>
              <a:spcBef>
                <a:spcPts val="0"/>
              </a:spcBef>
              <a:spcAft>
                <a:spcPts val="0"/>
              </a:spcAft>
            </a:pPr>
            <a:r>
              <a:rPr sz="100">
                <a:solidFill>
                  <a:srgbClr val="FFFFFF"/>
                </a:solidFill>
                <a:latin typeface="Noto Sans"/>
              </a:rPr>
              <a:t>8.06%</a:t>
            </a:r>
          </a:p>
          <a:p>
            <a:pPr>
              <a:spcBef>
                <a:spcPts val="0"/>
              </a:spcBef>
              <a:spcAft>
                <a:spcPts val="0"/>
              </a:spcAft>
            </a:pPr>
            <a:r>
              <a:rPr sz="100">
                <a:solidFill>
                  <a:srgbClr val="FFFFFF"/>
                </a:solidFill>
                <a:latin typeface="Noto Sans"/>
              </a:rPr>
              <a:t>0.80%</a:t>
            </a:r>
          </a:p>
          <a:p>
            <a:pPr>
              <a:spcBef>
                <a:spcPts val="0"/>
              </a:spcBef>
              <a:spcAft>
                <a:spcPts val="0"/>
              </a:spcAft>
            </a:pPr>
            <a:r>
              <a:rPr sz="100">
                <a:solidFill>
                  <a:srgbClr val="FFFFFF"/>
                </a:solidFill>
                <a:latin typeface="Noto Sans"/>
              </a:rPr>
              <a:t>64.92%</a:t>
            </a:r>
          </a:p>
          <a:p>
            <a:pPr>
              <a:spcBef>
                <a:spcPts val="0"/>
              </a:spcBef>
              <a:spcAft>
                <a:spcPts val="0"/>
              </a:spcAft>
            </a:pPr>
            <a:r>
              <a:rPr sz="100">
                <a:solidFill>
                  <a:srgbClr val="FFFFFF"/>
                </a:solidFill>
                <a:latin typeface="Noto Sans"/>
              </a:rPr>
              <a:t>23.32%</a:t>
            </a:r>
          </a:p>
          <a:p>
            <a:pPr>
              <a:spcBef>
                <a:spcPts val="0"/>
              </a:spcBef>
              <a:spcAft>
                <a:spcPts val="0"/>
              </a:spcAft>
            </a:pPr>
            <a:r>
              <a:rPr sz="100">
                <a:solidFill>
                  <a:srgbClr val="FFFFFF"/>
                </a:solidFill>
                <a:latin typeface="Noto Sans"/>
              </a:rPr>
              <a:t>10.66%</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64.26%</a:t>
            </a:r>
          </a:p>
          <a:p>
            <a:pPr>
              <a:spcBef>
                <a:spcPts val="0"/>
              </a:spcBef>
              <a:spcAft>
                <a:spcPts val="0"/>
              </a:spcAft>
            </a:pPr>
            <a:r>
              <a:rPr sz="100">
                <a:solidFill>
                  <a:srgbClr val="FFFFFF"/>
                </a:solidFill>
                <a:latin typeface="Noto Sans"/>
              </a:rPr>
              <a:t>21.43%</a:t>
            </a:r>
          </a:p>
          <a:p>
            <a:pPr>
              <a:spcBef>
                <a:spcPts val="0"/>
              </a:spcBef>
              <a:spcAft>
                <a:spcPts val="0"/>
              </a:spcAft>
            </a:pPr>
            <a:r>
              <a:rPr sz="100">
                <a:solidFill>
                  <a:srgbClr val="FFFFFF"/>
                </a:solidFill>
                <a:latin typeface="Noto Sans"/>
              </a:rPr>
              <a:t>13.02%</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62.49%</a:t>
            </a:r>
          </a:p>
          <a:p>
            <a:pPr>
              <a:spcBef>
                <a:spcPts val="0"/>
              </a:spcBef>
              <a:spcAft>
                <a:spcPts val="0"/>
              </a:spcAft>
            </a:pPr>
            <a:r>
              <a:rPr sz="100">
                <a:solidFill>
                  <a:srgbClr val="FFFFFF"/>
                </a:solidFill>
                <a:latin typeface="Noto Sans"/>
              </a:rPr>
              <a:t>21.22%</a:t>
            </a:r>
          </a:p>
          <a:p>
            <a:pPr>
              <a:spcBef>
                <a:spcPts val="0"/>
              </a:spcBef>
              <a:spcAft>
                <a:spcPts val="0"/>
              </a:spcAft>
            </a:pPr>
            <a:r>
              <a:rPr sz="100">
                <a:solidFill>
                  <a:srgbClr val="FFFFFF"/>
                </a:solidFill>
                <a:latin typeface="Noto Sans"/>
              </a:rPr>
              <a:t>14.82%</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62.44%</a:t>
            </a:r>
          </a:p>
          <a:p>
            <a:pPr>
              <a:spcBef>
                <a:spcPts val="0"/>
              </a:spcBef>
              <a:spcAft>
                <a:spcPts val="0"/>
              </a:spcAft>
            </a:pPr>
            <a:r>
              <a:rPr sz="100">
                <a:solidFill>
                  <a:srgbClr val="FFFFFF"/>
                </a:solidFill>
                <a:latin typeface="Noto Sans"/>
              </a:rPr>
              <a:t>20.63%</a:t>
            </a:r>
          </a:p>
          <a:p>
            <a:pPr>
              <a:spcBef>
                <a:spcPts val="0"/>
              </a:spcBef>
              <a:spcAft>
                <a:spcPts val="0"/>
              </a:spcAft>
            </a:pPr>
            <a:r>
              <a:rPr sz="100">
                <a:solidFill>
                  <a:srgbClr val="FFFFFF"/>
                </a:solidFill>
                <a:latin typeface="Noto Sans"/>
              </a:rPr>
              <a:t>15.27%</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62.50%</a:t>
            </a:r>
          </a:p>
          <a:p>
            <a:pPr>
              <a:spcBef>
                <a:spcPts val="0"/>
              </a:spcBef>
              <a:spcAft>
                <a:spcPts val="0"/>
              </a:spcAft>
            </a:pPr>
            <a:r>
              <a:rPr sz="100">
                <a:solidFill>
                  <a:srgbClr val="FFFFFF"/>
                </a:solidFill>
                <a:latin typeface="Noto Sans"/>
              </a:rPr>
              <a:t>20.31%</a:t>
            </a:r>
          </a:p>
          <a:p>
            <a:pPr>
              <a:spcBef>
                <a:spcPts val="0"/>
              </a:spcBef>
              <a:spcAft>
                <a:spcPts val="0"/>
              </a:spcAft>
            </a:pPr>
            <a:r>
              <a:rPr sz="100">
                <a:solidFill>
                  <a:srgbClr val="FFFFFF"/>
                </a:solidFill>
                <a:latin typeface="Noto Sans"/>
              </a:rPr>
              <a:t>15.11%</a:t>
            </a:r>
          </a:p>
          <a:p>
            <a:pPr>
              <a:spcBef>
                <a:spcPts val="0"/>
              </a:spcBef>
              <a:spcAft>
                <a:spcPts val="0"/>
              </a:spcAft>
            </a:pPr>
            <a:r>
              <a:rPr sz="100">
                <a:solidFill>
                  <a:srgbClr val="FFFFFF"/>
                </a:solidFill>
                <a:latin typeface="Noto Sans"/>
              </a:rPr>
              <a:t>2.07%</a:t>
            </a:r>
          </a:p>
          <a:p>
            <a:pPr>
              <a:spcBef>
                <a:spcPts val="0"/>
              </a:spcBef>
              <a:spcAft>
                <a:spcPts val="0"/>
              </a:spcAft>
            </a:pPr>
            <a:r>
              <a:rPr sz="100">
                <a:solidFill>
                  <a:srgbClr val="FFFFFF"/>
                </a:solidFill>
                <a:latin typeface="Noto Sans"/>
              </a:rPr>
              <a:t>63.04%</a:t>
            </a:r>
          </a:p>
          <a:p>
            <a:pPr>
              <a:spcBef>
                <a:spcPts val="0"/>
              </a:spcBef>
              <a:spcAft>
                <a:spcPts val="0"/>
              </a:spcAft>
            </a:pPr>
            <a:r>
              <a:rPr sz="100">
                <a:solidFill>
                  <a:srgbClr val="FFFFFF"/>
                </a:solidFill>
                <a:latin typeface="Noto Sans"/>
              </a:rPr>
              <a:t>18.14%</a:t>
            </a:r>
          </a:p>
          <a:p>
            <a:pPr>
              <a:spcBef>
                <a:spcPts val="0"/>
              </a:spcBef>
              <a:spcAft>
                <a:spcPts val="0"/>
              </a:spcAft>
            </a:pPr>
            <a:r>
              <a:rPr sz="100">
                <a:solidFill>
                  <a:srgbClr val="FFFFFF"/>
                </a:solidFill>
                <a:latin typeface="Noto Sans"/>
              </a:rPr>
              <a:t>15.81%</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60.25%</a:t>
            </a:r>
          </a:p>
          <a:p>
            <a:pPr>
              <a:spcBef>
                <a:spcPts val="0"/>
              </a:spcBef>
              <a:spcAft>
                <a:spcPts val="0"/>
              </a:spcAft>
            </a:pPr>
            <a:r>
              <a:rPr sz="100">
                <a:solidFill>
                  <a:srgbClr val="FFFFFF"/>
                </a:solidFill>
                <a:latin typeface="Noto Sans"/>
              </a:rPr>
              <a:t>16.40%</a:t>
            </a:r>
          </a:p>
          <a:p>
            <a:pPr>
              <a:spcBef>
                <a:spcPts val="0"/>
              </a:spcBef>
              <a:spcAft>
                <a:spcPts val="0"/>
              </a:spcAft>
            </a:pPr>
            <a:r>
              <a:rPr sz="100">
                <a:solidFill>
                  <a:srgbClr val="FFFFFF"/>
                </a:solidFill>
                <a:latin typeface="Noto Sans"/>
              </a:rPr>
              <a:t>15.57%</a:t>
            </a:r>
          </a:p>
          <a:p>
            <a:pPr>
              <a:spcBef>
                <a:spcPts val="0"/>
              </a:spcBef>
              <a:spcAft>
                <a:spcPts val="0"/>
              </a:spcAft>
            </a:pPr>
            <a:r>
              <a:rPr sz="100">
                <a:solidFill>
                  <a:srgbClr val="FFFFFF"/>
                </a:solidFill>
                <a:latin typeface="Noto Sans"/>
              </a:rPr>
              <a:t>7.74%</a:t>
            </a:r>
          </a:p>
          <a:p>
            <a:pPr>
              <a:spcBef>
                <a:spcPts val="0"/>
              </a:spcBef>
              <a:spcAft>
                <a:spcPts val="0"/>
              </a:spcAft>
            </a:pPr>
            <a:r>
              <a:rPr sz="100">
                <a:solidFill>
                  <a:srgbClr val="FFFFFF"/>
                </a:solidFill>
                <a:latin typeface="Noto Sans"/>
              </a:rPr>
              <a:t>57.22%</a:t>
            </a:r>
          </a:p>
          <a:p>
            <a:pPr>
              <a:spcBef>
                <a:spcPts val="0"/>
              </a:spcBef>
              <a:spcAft>
                <a:spcPts val="0"/>
              </a:spcAft>
            </a:pPr>
            <a:r>
              <a:rPr sz="100">
                <a:solidFill>
                  <a:srgbClr val="FFFFFF"/>
                </a:solidFill>
                <a:latin typeface="Noto Sans"/>
              </a:rPr>
              <a:t>15.54%</a:t>
            </a:r>
          </a:p>
          <a:p>
            <a:pPr>
              <a:spcBef>
                <a:spcPts val="0"/>
              </a:spcBef>
              <a:spcAft>
                <a:spcPts val="0"/>
              </a:spcAft>
            </a:pPr>
            <a:r>
              <a:rPr sz="100">
                <a:solidFill>
                  <a:srgbClr val="FFFFFF"/>
                </a:solidFill>
                <a:latin typeface="Noto Sans"/>
              </a:rPr>
              <a:t>15.06%</a:t>
            </a:r>
          </a:p>
          <a:p>
            <a:pPr>
              <a:spcBef>
                <a:spcPts val="0"/>
              </a:spcBef>
              <a:spcAft>
                <a:spcPts val="0"/>
              </a:spcAft>
            </a:pPr>
            <a:r>
              <a:rPr sz="100">
                <a:solidFill>
                  <a:srgbClr val="FFFFFF"/>
                </a:solidFill>
                <a:latin typeface="Noto Sans"/>
              </a:rPr>
              <a:t>12.13%</a:t>
            </a:r>
          </a:p>
          <a:p>
            <a:pPr>
              <a:spcBef>
                <a:spcPts val="0"/>
              </a:spcBef>
              <a:spcAft>
                <a:spcPts val="0"/>
              </a:spcAft>
            </a:pPr>
            <a:r>
              <a:rPr sz="100">
                <a:solidFill>
                  <a:srgbClr val="FFFFFF"/>
                </a:solidFill>
                <a:latin typeface="Noto Sans"/>
              </a:rPr>
              <a:t>54.95%</a:t>
            </a:r>
          </a:p>
          <a:p>
            <a:pPr>
              <a:spcBef>
                <a:spcPts val="0"/>
              </a:spcBef>
              <a:spcAft>
                <a:spcPts val="0"/>
              </a:spcAft>
            </a:pPr>
            <a:r>
              <a:rPr sz="100">
                <a:solidFill>
                  <a:srgbClr val="FFFFFF"/>
                </a:solidFill>
                <a:latin typeface="Noto Sans"/>
              </a:rPr>
              <a:t>14.18%</a:t>
            </a:r>
          </a:p>
          <a:p>
            <a:pPr>
              <a:spcBef>
                <a:spcPts val="0"/>
              </a:spcBef>
              <a:spcAft>
                <a:spcPts val="0"/>
              </a:spcAft>
            </a:pPr>
            <a:r>
              <a:rPr sz="100">
                <a:solidFill>
                  <a:srgbClr val="FFFFFF"/>
                </a:solidFill>
                <a:latin typeface="Noto Sans"/>
              </a:rPr>
              <a:t>14.99%</a:t>
            </a:r>
          </a:p>
          <a:p>
            <a:pPr>
              <a:spcBef>
                <a:spcPts val="0"/>
              </a:spcBef>
              <a:spcAft>
                <a:spcPts val="0"/>
              </a:spcAft>
            </a:pPr>
            <a:r>
              <a:rPr sz="100">
                <a:solidFill>
                  <a:srgbClr val="FFFFFF"/>
                </a:solidFill>
                <a:latin typeface="Noto Sans"/>
              </a:rPr>
              <a:t>15.86%</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a:p>
            <a:pPr>
              <a:spcBef>
                <a:spcPts val="0"/>
              </a:spcBef>
              <a:spcAft>
                <a:spcPts val="0"/>
              </a:spcAft>
            </a:pPr>
            <a:r>
              <a:rPr sz="100">
                <a:solidFill>
                  <a:srgbClr val="FFFFFF"/>
                </a:solidFill>
                <a:latin typeface="Noto Sans"/>
              </a:rPr>
              <a:t>Figura C.9.</a:t>
            </a:r>
          </a:p>
          <a:p>
            <a:pPr>
              <a:spcBef>
                <a:spcPts val="0"/>
              </a:spcBef>
              <a:spcAft>
                <a:spcPts val="0"/>
              </a:spcAft>
            </a:pPr>
            <a:r>
              <a:rPr sz="100">
                <a:solidFill>
                  <a:srgbClr val="FFFFFF"/>
                </a:solidFill>
                <a:latin typeface="Noto Sans"/>
              </a:rPr>
              <a:t>Participación de mercado del servicio móvil de telefonía (2013-2024)</a:t>
            </a:r>
          </a:p>
        </p:txBody>
      </p:sp>
      <p:pic>
        <p:nvPicPr>
          <p:cNvPr id="223"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53</a:t>
            </a:r>
          </a:p>
        </p:txBody>
      </p:sp>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0" descr="Capa accesible con el texto del SVG de la figura C.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3,589</a:t>
            </a:r>
          </a:p>
          <a:p>
            <a:pPr>
              <a:spcBef>
                <a:spcPts val="0"/>
              </a:spcBef>
              <a:spcAft>
                <a:spcPts val="0"/>
              </a:spcAft>
            </a:pPr>
            <a:r>
              <a:rPr sz="100">
                <a:solidFill>
                  <a:srgbClr val="FFFFFF"/>
                </a:solidFill>
                <a:latin typeface="Noto Sans"/>
              </a:rPr>
              <a:t>3,812</a:t>
            </a:r>
          </a:p>
          <a:p>
            <a:pPr>
              <a:spcBef>
                <a:spcPts val="0"/>
              </a:spcBef>
              <a:spcAft>
                <a:spcPts val="0"/>
              </a:spcAft>
            </a:pPr>
            <a:r>
              <a:rPr sz="100">
                <a:solidFill>
                  <a:srgbClr val="FFFFFF"/>
                </a:solidFill>
                <a:latin typeface="Noto Sans"/>
              </a:rPr>
              <a:t>4,161</a:t>
            </a:r>
          </a:p>
          <a:p>
            <a:pPr>
              <a:spcBef>
                <a:spcPts val="0"/>
              </a:spcBef>
              <a:spcAft>
                <a:spcPts val="0"/>
              </a:spcAft>
            </a:pPr>
            <a:r>
              <a:rPr sz="100">
                <a:solidFill>
                  <a:srgbClr val="FFFFFF"/>
                </a:solidFill>
                <a:latin typeface="Noto Sans"/>
              </a:rPr>
              <a:t>4,555</a:t>
            </a:r>
          </a:p>
          <a:p>
            <a:pPr>
              <a:spcBef>
                <a:spcPts val="0"/>
              </a:spcBef>
              <a:spcAft>
                <a:spcPts val="0"/>
              </a:spcAft>
            </a:pPr>
            <a:r>
              <a:rPr sz="100">
                <a:solidFill>
                  <a:srgbClr val="FFFFFF"/>
                </a:solidFill>
                <a:latin typeface="Noto Sans"/>
              </a:rPr>
              <a:t>4,549</a:t>
            </a:r>
          </a:p>
          <a:p>
            <a:pPr>
              <a:spcBef>
                <a:spcPts val="0"/>
              </a:spcBef>
              <a:spcAft>
                <a:spcPts val="0"/>
              </a:spcAft>
            </a:pPr>
            <a:r>
              <a:rPr sz="100">
                <a:solidFill>
                  <a:srgbClr val="FFFFFF"/>
                </a:solidFill>
                <a:latin typeface="Noto Sans"/>
              </a:rPr>
              <a:t>4,558</a:t>
            </a:r>
          </a:p>
          <a:p>
            <a:pPr>
              <a:spcBef>
                <a:spcPts val="0"/>
              </a:spcBef>
              <a:spcAft>
                <a:spcPts val="0"/>
              </a:spcAft>
            </a:pPr>
            <a:r>
              <a:rPr sz="100">
                <a:solidFill>
                  <a:srgbClr val="FFFFFF"/>
                </a:solidFill>
                <a:latin typeface="Noto Sans"/>
              </a:rPr>
              <a:t>4,576</a:t>
            </a:r>
          </a:p>
          <a:p>
            <a:pPr>
              <a:spcBef>
                <a:spcPts val="0"/>
              </a:spcBef>
              <a:spcAft>
                <a:spcPts val="0"/>
              </a:spcAft>
            </a:pPr>
            <a:r>
              <a:rPr sz="100">
                <a:solidFill>
                  <a:srgbClr val="FFFFFF"/>
                </a:solidFill>
                <a:latin typeface="Noto Sans"/>
              </a:rPr>
              <a:t>4,759</a:t>
            </a:r>
          </a:p>
          <a:p>
            <a:pPr>
              <a:spcBef>
                <a:spcPts val="0"/>
              </a:spcBef>
              <a:spcAft>
                <a:spcPts val="0"/>
              </a:spcAft>
            </a:pPr>
            <a:r>
              <a:rPr sz="100">
                <a:solidFill>
                  <a:srgbClr val="FFFFFF"/>
                </a:solidFill>
                <a:latin typeface="Noto Sans"/>
              </a:rPr>
              <a:t>4,873</a:t>
            </a:r>
          </a:p>
          <a:p>
            <a:pPr>
              <a:spcBef>
                <a:spcPts val="0"/>
              </a:spcBef>
              <a:spcAft>
                <a:spcPts val="0"/>
              </a:spcAft>
            </a:pPr>
            <a:r>
              <a:rPr sz="100">
                <a:solidFill>
                  <a:srgbClr val="FFFFFF"/>
                </a:solidFill>
                <a:latin typeface="Noto Sans"/>
              </a:rPr>
              <a:t>5,227</a:t>
            </a:r>
          </a:p>
          <a:p>
            <a:pPr>
              <a:spcBef>
                <a:spcPts val="0"/>
              </a:spcBef>
              <a:spcAft>
                <a:spcPts val="0"/>
              </a:spcAft>
            </a:pPr>
            <a:r>
              <a:rPr sz="100">
                <a:solidFill>
                  <a:srgbClr val="FFFFFF"/>
                </a:solidFill>
                <a:latin typeface="Noto Sans"/>
              </a:rPr>
              <a:t>5,084</a:t>
            </a:r>
          </a:p>
          <a:p>
            <a:pPr>
              <a:spcBef>
                <a:spcPts val="0"/>
              </a:spcBef>
              <a:spcAft>
                <a:spcPts val="0"/>
              </a:spcAft>
            </a:pPr>
            <a:r>
              <a:rPr sz="100">
                <a:solidFill>
                  <a:srgbClr val="FFFFFF"/>
                </a:solidFill>
                <a:latin typeface="Noto Sans"/>
              </a:rPr>
              <a:t>5,229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respecto del número de líneas móviles.</a:t>
            </a:r>
          </a:p>
          <a:p>
            <a:pPr>
              <a:spcBef>
                <a:spcPts val="0"/>
              </a:spcBef>
              <a:spcAft>
                <a:spcPts val="0"/>
              </a:spcAft>
            </a:pPr>
            <a:r>
              <a:rPr sz="100">
                <a:solidFill>
                  <a:srgbClr val="FFFFFF"/>
                </a:solidFill>
                <a:latin typeface="Noto Sans"/>
              </a:rPr>
              <a:t>Figura C.10.</a:t>
            </a:r>
          </a:p>
          <a:p>
            <a:pPr>
              <a:spcBef>
                <a:spcPts val="0"/>
              </a:spcBef>
              <a:spcAft>
                <a:spcPts val="0"/>
              </a:spcAft>
            </a:pPr>
            <a:r>
              <a:rPr sz="100">
                <a:solidFill>
                  <a:srgbClr val="FFFFFF"/>
                </a:solidFill>
                <a:latin typeface="Noto Sans"/>
              </a:rPr>
              <a:t>Índice de concentración del servicio móvil de telefonía (2013-2024)</a:t>
            </a:r>
          </a:p>
        </p:txBody>
      </p:sp>
      <p:pic>
        <p:nvPicPr>
          <p:cNvPr id="223"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54</a:t>
            </a:r>
          </a:p>
        </p:txBody>
      </p:sp>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1" descr="Capa accesible con el texto del SVG de la figura C.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34.6</a:t>
            </a:r>
          </a:p>
          <a:p>
            <a:pPr>
              <a:spcBef>
                <a:spcPts val="0"/>
              </a:spcBef>
              <a:spcAft>
                <a:spcPts val="0"/>
              </a:spcAft>
            </a:pPr>
            <a:r>
              <a:rPr sz="100">
                <a:solidFill>
                  <a:srgbClr val="FFFFFF"/>
                </a:solidFill>
                <a:latin typeface="Noto Sans"/>
              </a:rPr>
              <a:t>51.5</a:t>
            </a:r>
          </a:p>
          <a:p>
            <a:pPr>
              <a:spcBef>
                <a:spcPts val="0"/>
              </a:spcBef>
              <a:spcAft>
                <a:spcPts val="0"/>
              </a:spcAft>
            </a:pPr>
            <a:r>
              <a:rPr sz="100">
                <a:solidFill>
                  <a:srgbClr val="FFFFFF"/>
                </a:solidFill>
                <a:latin typeface="Noto Sans"/>
              </a:rPr>
              <a:t>63.9</a:t>
            </a:r>
          </a:p>
          <a:p>
            <a:pPr>
              <a:spcBef>
                <a:spcPts val="0"/>
              </a:spcBef>
              <a:spcAft>
                <a:spcPts val="0"/>
              </a:spcAft>
            </a:pPr>
            <a:r>
              <a:rPr sz="100">
                <a:solidFill>
                  <a:srgbClr val="FFFFFF"/>
                </a:solidFill>
                <a:latin typeface="Noto Sans"/>
              </a:rPr>
              <a:t>75.1</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97.5</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109.5</a:t>
            </a:r>
          </a:p>
          <a:p>
            <a:pPr>
              <a:spcBef>
                <a:spcPts val="0"/>
              </a:spcBef>
              <a:spcAft>
                <a:spcPts val="0"/>
              </a:spcAft>
            </a:pPr>
            <a:r>
              <a:rPr sz="100">
                <a:solidFill>
                  <a:srgbClr val="FFFFFF"/>
                </a:solidFill>
                <a:latin typeface="Noto Sans"/>
              </a:rPr>
              <a:t>119.9</a:t>
            </a:r>
          </a:p>
          <a:p>
            <a:pPr>
              <a:spcBef>
                <a:spcPts val="0"/>
              </a:spcBef>
              <a:spcAft>
                <a:spcPts val="0"/>
              </a:spcAft>
            </a:pPr>
            <a:r>
              <a:rPr sz="100">
                <a:solidFill>
                  <a:srgbClr val="FFFFFF"/>
                </a:solidFill>
                <a:latin typeface="Noto Sans"/>
              </a:rPr>
              <a:t>126.2</a:t>
            </a:r>
          </a:p>
          <a:p>
            <a:pPr>
              <a:spcBef>
                <a:spcPts val="0"/>
              </a:spcBef>
              <a:spcAft>
                <a:spcPts val="0"/>
              </a:spcAft>
            </a:pPr>
            <a:r>
              <a:rPr sz="100">
                <a:solidFill>
                  <a:srgbClr val="FFFFFF"/>
                </a:solidFill>
                <a:latin typeface="Noto Sans"/>
              </a:rPr>
              <a:t>135.8</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especificar</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líneas.</a:t>
            </a:r>
          </a:p>
          <a:p>
            <a:pPr>
              <a:spcBef>
                <a:spcPts val="0"/>
              </a:spcBef>
              <a:spcAft>
                <a:spcPts val="0"/>
              </a:spcAft>
            </a:pPr>
            <a:r>
              <a:rPr sz="100">
                <a:solidFill>
                  <a:srgbClr val="FFFFFF"/>
                </a:solidFill>
                <a:latin typeface="Noto Sans"/>
              </a:rPr>
              <a:t>Figura C.11.</a:t>
            </a:r>
          </a:p>
          <a:p>
            <a:pPr>
              <a:spcBef>
                <a:spcPts val="0"/>
              </a:spcBef>
              <a:spcAft>
                <a:spcPts val="0"/>
              </a:spcAft>
            </a:pPr>
            <a:r>
              <a:rPr sz="100">
                <a:solidFill>
                  <a:srgbClr val="FFFFFF"/>
                </a:solidFill>
                <a:latin typeface="Noto Sans"/>
              </a:rPr>
              <a:t>Líneas del servicio móvil de acceso a Internet (2010-2024) [millones]</a:t>
            </a:r>
          </a:p>
        </p:txBody>
      </p:sp>
      <p:pic>
        <p:nvPicPr>
          <p:cNvPr id="223"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55</a:t>
            </a:r>
          </a:p>
        </p:txBody>
      </p:sp>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2" descr="Capa accesible con el texto del SVG de la figura C.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C.12</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Líneas móviles de acceso a Internet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C.12.</a:t>
            </a:r>
          </a:p>
          <a:p>
            <a:pPr>
              <a:spcBef>
                <a:spcPts val="0"/>
              </a:spcBef>
              <a:spcAft>
                <a:spcPts val="0"/>
              </a:spcAft>
            </a:pPr>
            <a:r>
              <a:rPr sz="100">
                <a:solidFill>
                  <a:srgbClr val="FFFFFF"/>
                </a:solidFill>
                <a:latin typeface="Noto Sans"/>
              </a:rPr>
              <a:t>Líneas del servicio móvil de acceso a Internet por cada 100 habitantes (2010-2024)</a:t>
            </a:r>
          </a:p>
        </p:txBody>
      </p:sp>
      <p:pic>
        <p:nvPicPr>
          <p:cNvPr id="223"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56</a:t>
            </a:r>
          </a:p>
        </p:txBody>
      </p:sp>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3" descr="Capa accesible con el texto del SVG de la figura C.13"/>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C.13</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70 a 95</a:t>
            </a:r>
          </a:p>
          <a:p>
            <a:pPr>
              <a:spcBef>
                <a:spcPts val="0"/>
              </a:spcBef>
              <a:spcAft>
                <a:spcPts val="0"/>
              </a:spcAft>
            </a:pPr>
            <a:r>
              <a:rPr sz="100">
                <a:solidFill>
                  <a:srgbClr val="FFFFFF"/>
                </a:solidFill>
                <a:latin typeface="Noto Sans"/>
              </a:rPr>
              <a:t>95 a 104</a:t>
            </a:r>
          </a:p>
          <a:p>
            <a:pPr>
              <a:spcBef>
                <a:spcPts val="0"/>
              </a:spcBef>
              <a:spcAft>
                <a:spcPts val="0"/>
              </a:spcAft>
            </a:pPr>
            <a:r>
              <a:rPr sz="100">
                <a:solidFill>
                  <a:srgbClr val="FFFFFF"/>
                </a:solidFill>
                <a:latin typeface="Noto Sans"/>
              </a:rPr>
              <a:t>104 a 108</a:t>
            </a:r>
          </a:p>
          <a:p>
            <a:pPr>
              <a:spcBef>
                <a:spcPts val="0"/>
              </a:spcBef>
              <a:spcAft>
                <a:spcPts val="0"/>
              </a:spcAft>
            </a:pPr>
            <a:r>
              <a:rPr sz="100">
                <a:solidFill>
                  <a:srgbClr val="FFFFFF"/>
                </a:solidFill>
                <a:latin typeface="Noto Sans"/>
              </a:rPr>
              <a:t>108 a 110</a:t>
            </a:r>
          </a:p>
          <a:p>
            <a:pPr>
              <a:spcBef>
                <a:spcPts val="0"/>
              </a:spcBef>
              <a:spcAft>
                <a:spcPts val="0"/>
              </a:spcAft>
            </a:pPr>
            <a:r>
              <a:rPr sz="100">
                <a:solidFill>
                  <a:srgbClr val="FFFFFF"/>
                </a:solidFill>
                <a:latin typeface="Noto Sans"/>
              </a:rPr>
              <a:t>110 a 128</a:t>
            </a:r>
          </a:p>
          <a:p>
            <a:pPr>
              <a:spcBef>
                <a:spcPts val="0"/>
              </a:spcBef>
              <a:spcAft>
                <a:spcPts val="0"/>
              </a:spcAft>
            </a:pPr>
            <a:r>
              <a:rPr sz="100">
                <a:solidFill>
                  <a:srgbClr val="FFFFFF"/>
                </a:solidFill>
                <a:latin typeface="Noto Sans"/>
              </a:rPr>
              <a:t>Figura C.13.</a:t>
            </a:r>
          </a:p>
          <a:p>
            <a:pPr>
              <a:spcBef>
                <a:spcPts val="0"/>
              </a:spcBef>
              <a:spcAft>
                <a:spcPts val="0"/>
              </a:spcAft>
            </a:pPr>
            <a:r>
              <a:rPr sz="100">
                <a:solidFill>
                  <a:srgbClr val="FFFFFF"/>
                </a:solidFill>
                <a:latin typeface="Noto Sans"/>
              </a:rPr>
              <a:t>Líneas del servicio móvil de acceso a Internet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valor nacional proviene de la serie nacional de líneas por cada 100 habitantes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6.2%</a:t>
            </a:r>
          </a:p>
        </p:txBody>
      </p:sp>
      <p:pic>
        <p:nvPicPr>
          <p:cNvPr id="223"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57</a:t>
            </a:r>
          </a:p>
        </p:txBody>
      </p:sp>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4" descr="Capa accesible con el texto del SVG de la figura C.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270,026</a:t>
            </a:r>
          </a:p>
          <a:p>
            <a:pPr>
              <a:spcBef>
                <a:spcPts val="0"/>
              </a:spcBef>
              <a:spcAft>
                <a:spcPts val="0"/>
              </a:spcAft>
            </a:pPr>
            <a:r>
              <a:rPr sz="100">
                <a:solidFill>
                  <a:srgbClr val="FFFFFF"/>
                </a:solidFill>
                <a:latin typeface="Noto Sans"/>
              </a:rPr>
              <a:t>632,944</a:t>
            </a:r>
          </a:p>
          <a:p>
            <a:pPr>
              <a:spcBef>
                <a:spcPts val="0"/>
              </a:spcBef>
              <a:spcAft>
                <a:spcPts val="0"/>
              </a:spcAft>
            </a:pPr>
            <a:r>
              <a:rPr sz="100">
                <a:solidFill>
                  <a:srgbClr val="FFFFFF"/>
                </a:solidFill>
                <a:latin typeface="Noto Sans"/>
              </a:rPr>
              <a:t>1,212,063</a:t>
            </a:r>
          </a:p>
          <a:p>
            <a:pPr>
              <a:spcBef>
                <a:spcPts val="0"/>
              </a:spcBef>
              <a:spcAft>
                <a:spcPts val="0"/>
              </a:spcAft>
            </a:pPr>
            <a:r>
              <a:rPr sz="100">
                <a:solidFill>
                  <a:srgbClr val="FFFFFF"/>
                </a:solidFill>
                <a:latin typeface="Noto Sans"/>
              </a:rPr>
              <a:t>2,092,039</a:t>
            </a:r>
          </a:p>
          <a:p>
            <a:pPr>
              <a:spcBef>
                <a:spcPts val="0"/>
              </a:spcBef>
              <a:spcAft>
                <a:spcPts val="0"/>
              </a:spcAft>
            </a:pPr>
            <a:r>
              <a:rPr sz="100">
                <a:solidFill>
                  <a:srgbClr val="FFFFFF"/>
                </a:solidFill>
                <a:latin typeface="Noto Sans"/>
              </a:rPr>
              <a:t>3,965,441</a:t>
            </a:r>
          </a:p>
          <a:p>
            <a:pPr>
              <a:spcBef>
                <a:spcPts val="0"/>
              </a:spcBef>
              <a:spcAft>
                <a:spcPts val="0"/>
              </a:spcAft>
            </a:pPr>
            <a:r>
              <a:rPr sz="100">
                <a:solidFill>
                  <a:srgbClr val="FFFFFF"/>
                </a:solidFill>
                <a:latin typeface="Noto Sans"/>
              </a:rPr>
              <a:t>5,282,622</a:t>
            </a:r>
          </a:p>
          <a:p>
            <a:pPr>
              <a:spcBef>
                <a:spcPts val="0"/>
              </a:spcBef>
              <a:spcAft>
                <a:spcPts val="0"/>
              </a:spcAft>
            </a:pPr>
            <a:r>
              <a:rPr sz="100">
                <a:solidFill>
                  <a:srgbClr val="FFFFFF"/>
                </a:solidFill>
                <a:latin typeface="Noto Sans"/>
              </a:rPr>
              <a:t>6,314,845</a:t>
            </a:r>
          </a:p>
          <a:p>
            <a:pPr>
              <a:spcBef>
                <a:spcPts val="0"/>
              </a:spcBef>
              <a:spcAft>
                <a:spcPts val="0"/>
              </a:spcAft>
            </a:pPr>
            <a:r>
              <a:rPr sz="100">
                <a:solidFill>
                  <a:srgbClr val="FFFFFF"/>
                </a:solidFill>
                <a:latin typeface="Noto Sans"/>
              </a:rPr>
              <a:t>7,712,771</a:t>
            </a:r>
          </a:p>
          <a:p>
            <a:pPr>
              <a:spcBef>
                <a:spcPts val="0"/>
              </a:spcBef>
              <a:spcAft>
                <a:spcPts val="0"/>
              </a:spcAft>
            </a:pPr>
            <a:r>
              <a:rPr sz="100">
                <a:solidFill>
                  <a:srgbClr val="FFFFFF"/>
                </a:solidFill>
                <a:latin typeface="Noto Sans"/>
              </a:rPr>
              <a:t>8,730,795</a:t>
            </a:r>
          </a:p>
          <a:p>
            <a:pPr>
              <a:spcBef>
                <a:spcPts val="0"/>
              </a:spcBef>
              <a:spcAft>
                <a:spcPts val="0"/>
              </a:spcAft>
            </a:pPr>
            <a:r>
              <a:rPr sz="100">
                <a:solidFill>
                  <a:srgbClr val="FFFFFF"/>
                </a:solidFill>
                <a:latin typeface="Noto Sans"/>
              </a:rPr>
              <a:t>9,273,922</a:t>
            </a:r>
          </a:p>
          <a:p>
            <a:pPr>
              <a:spcBef>
                <a:spcPts val="0"/>
              </a:spcBef>
              <a:spcAft>
                <a:spcPts val="0"/>
              </a:spcAft>
            </a:pPr>
            <a:r>
              <a:rPr sz="100">
                <a:solidFill>
                  <a:srgbClr val="FFFFFF"/>
                </a:solidFill>
                <a:latin typeface="Noto Sans"/>
              </a:rPr>
              <a:t>Tráfico 2G</a:t>
            </a:r>
          </a:p>
          <a:p>
            <a:pPr>
              <a:spcBef>
                <a:spcPts val="0"/>
              </a:spcBef>
              <a:spcAft>
                <a:spcPts val="0"/>
              </a:spcAft>
            </a:pPr>
            <a:r>
              <a:rPr sz="100">
                <a:solidFill>
                  <a:srgbClr val="FFFFFF"/>
                </a:solidFill>
                <a:latin typeface="Noto Sans"/>
              </a:rPr>
              <a:t>Tráfico 3G</a:t>
            </a:r>
          </a:p>
          <a:p>
            <a:pPr>
              <a:spcBef>
                <a:spcPts val="0"/>
              </a:spcBef>
              <a:spcAft>
                <a:spcPts val="0"/>
              </a:spcAft>
            </a:pPr>
            <a:r>
              <a:rPr sz="100">
                <a:solidFill>
                  <a:srgbClr val="FFFFFF"/>
                </a:solidFill>
                <a:latin typeface="Noto Sans"/>
              </a:rPr>
              <a:t>Tráfico 4G</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29.2%</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37.6%</a:t>
            </a:r>
          </a:p>
          <a:p>
            <a:pPr>
              <a:spcBef>
                <a:spcPts val="0"/>
              </a:spcBef>
              <a:spcAft>
                <a:spcPts val="0"/>
              </a:spcAft>
            </a:pPr>
            <a:r>
              <a:rPr sz="100">
                <a:solidFill>
                  <a:srgbClr val="FFFFFF"/>
                </a:solidFill>
                <a:latin typeface="Noto Sans"/>
              </a:rPr>
              <a:t>60.5%</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46.0%</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66.9%</a:t>
            </a:r>
          </a:p>
          <a:p>
            <a:pPr>
              <a:spcBef>
                <a:spcPts val="0"/>
              </a:spcBef>
              <a:spcAft>
                <a:spcPts val="0"/>
              </a:spcAft>
            </a:pPr>
            <a:r>
              <a:rPr sz="100">
                <a:solidFill>
                  <a:srgbClr val="FFFFFF"/>
                </a:solidFill>
                <a:latin typeface="Noto Sans"/>
              </a:rPr>
              <a:t>32.8%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23.3%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81.0%</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83.7%</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0.08%</a:t>
            </a:r>
          </a:p>
          <a:p>
            <a:pPr>
              <a:spcBef>
                <a:spcPts val="0"/>
              </a:spcBef>
              <a:spcAft>
                <a:spcPts val="0"/>
              </a:spcAft>
            </a:pPr>
            <a:r>
              <a:rPr sz="100">
                <a:solidFill>
                  <a:srgbClr val="FFFFFF"/>
                </a:solidFill>
                <a:latin typeface="Noto Sans"/>
              </a:rPr>
              <a:t>82.2%</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acumulado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se calculan respecto del tráfico total; el tráfico sin tecnología especificada no se representa.</a:t>
            </a:r>
          </a:p>
          <a:p>
            <a:pPr>
              <a:spcBef>
                <a:spcPts val="0"/>
              </a:spcBef>
              <a:spcAft>
                <a:spcPts val="0"/>
              </a:spcAft>
            </a:pPr>
            <a:r>
              <a:rPr sz="100">
                <a:solidFill>
                  <a:srgbClr val="FFFFFF"/>
                </a:solidFill>
                <a:latin typeface="Noto Sans"/>
              </a:rPr>
              <a:t>Figura C.14.</a:t>
            </a:r>
          </a:p>
          <a:p>
            <a:pPr>
              <a:spcBef>
                <a:spcPts val="0"/>
              </a:spcBef>
              <a:spcAft>
                <a:spcPts val="0"/>
              </a:spcAft>
            </a:pPr>
            <a:r>
              <a:rPr sz="100">
                <a:solidFill>
                  <a:srgbClr val="FFFFFF"/>
                </a:solidFill>
                <a:latin typeface="Noto Sans"/>
              </a:rPr>
              <a:t>Tráfico del servicio móvil de acceso a Internet (2015-2024)</a:t>
            </a:r>
          </a:p>
        </p:txBody>
      </p:sp>
      <p:pic>
        <p:nvPicPr>
          <p:cNvPr id="223"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58</a:t>
            </a:r>
          </a:p>
        </p:txBody>
      </p:sp>
    </p:spTree>
  </p:cSld>
  <p:clrMapOvr>
    <a:masterClrMapping/>
  </p:clrMapOvr>
</p:sld>
</file>

<file path=ppt/slides/slide5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5" descr="Capa accesible con el texto del SVG de la figura C.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81.59%</a:t>
            </a:r>
          </a:p>
          <a:p>
            <a:pPr>
              <a:spcBef>
                <a:spcPts val="0"/>
              </a:spcBef>
              <a:spcAft>
                <a:spcPts val="0"/>
              </a:spcAft>
            </a:pPr>
            <a:r>
              <a:rPr sz="100">
                <a:solidFill>
                  <a:srgbClr val="FFFFFF"/>
                </a:solidFill>
                <a:latin typeface="Noto Sans"/>
              </a:rPr>
              <a:t>9.13%</a:t>
            </a:r>
          </a:p>
          <a:p>
            <a:pPr>
              <a:spcBef>
                <a:spcPts val="0"/>
              </a:spcBef>
              <a:spcAft>
                <a:spcPts val="0"/>
              </a:spcAft>
            </a:pPr>
            <a:r>
              <a:rPr sz="100">
                <a:solidFill>
                  <a:srgbClr val="FFFFFF"/>
                </a:solidFill>
                <a:latin typeface="Noto Sans"/>
              </a:rPr>
              <a:t>9.28%</a:t>
            </a:r>
          </a:p>
          <a:p>
            <a:pPr>
              <a:spcBef>
                <a:spcPts val="0"/>
              </a:spcBef>
              <a:spcAft>
                <a:spcPts val="0"/>
              </a:spcAft>
            </a:pPr>
            <a:r>
              <a:rPr sz="100">
                <a:solidFill>
                  <a:srgbClr val="FFFFFF"/>
                </a:solidFill>
                <a:latin typeface="Noto Sans"/>
              </a:rPr>
              <a:t>74.58%</a:t>
            </a:r>
          </a:p>
          <a:p>
            <a:pPr>
              <a:spcBef>
                <a:spcPts val="0"/>
              </a:spcBef>
              <a:spcAft>
                <a:spcPts val="0"/>
              </a:spcAft>
            </a:pPr>
            <a:r>
              <a:rPr sz="100">
                <a:solidFill>
                  <a:srgbClr val="FFFFFF"/>
                </a:solidFill>
                <a:latin typeface="Noto Sans"/>
              </a:rPr>
              <a:t>15.30%</a:t>
            </a:r>
          </a:p>
          <a:p>
            <a:pPr>
              <a:spcBef>
                <a:spcPts val="0"/>
              </a:spcBef>
              <a:spcAft>
                <a:spcPts val="0"/>
              </a:spcAft>
            </a:pPr>
            <a:r>
              <a:rPr sz="100">
                <a:solidFill>
                  <a:srgbClr val="FFFFFF"/>
                </a:solidFill>
                <a:latin typeface="Noto Sans"/>
              </a:rPr>
              <a:t>10.12%</a:t>
            </a:r>
          </a:p>
          <a:p>
            <a:pPr>
              <a:spcBef>
                <a:spcPts val="0"/>
              </a:spcBef>
              <a:spcAft>
                <a:spcPts val="0"/>
              </a:spcAft>
            </a:pPr>
            <a:r>
              <a:rPr sz="100">
                <a:solidFill>
                  <a:srgbClr val="FFFFFF"/>
                </a:solidFill>
                <a:latin typeface="Noto Sans"/>
              </a:rPr>
              <a:t>70.35%</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18.45%</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71.25%</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14.12%</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70.66%</a:t>
            </a:r>
          </a:p>
          <a:p>
            <a:pPr>
              <a:spcBef>
                <a:spcPts val="0"/>
              </a:spcBef>
              <a:spcAft>
                <a:spcPts val="0"/>
              </a:spcAft>
            </a:pPr>
            <a:r>
              <a:rPr sz="100">
                <a:solidFill>
                  <a:srgbClr val="FFFFFF"/>
                </a:solidFill>
                <a:latin typeface="Noto Sans"/>
              </a:rPr>
              <a:t>15.05%</a:t>
            </a:r>
          </a:p>
          <a:p>
            <a:pPr>
              <a:spcBef>
                <a:spcPts val="0"/>
              </a:spcBef>
              <a:spcAft>
                <a:spcPts val="0"/>
              </a:spcAft>
            </a:pPr>
            <a:r>
              <a:rPr sz="100">
                <a:solidFill>
                  <a:srgbClr val="FFFFFF"/>
                </a:solidFill>
                <a:latin typeface="Noto Sans"/>
              </a:rPr>
              <a:t>12.46%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70.72%</a:t>
            </a:r>
          </a:p>
          <a:p>
            <a:pPr>
              <a:spcBef>
                <a:spcPts val="0"/>
              </a:spcBef>
              <a:spcAft>
                <a:spcPts val="0"/>
              </a:spcAft>
            </a:pPr>
            <a:r>
              <a:rPr sz="100">
                <a:solidFill>
                  <a:srgbClr val="FFFFFF"/>
                </a:solidFill>
                <a:latin typeface="Noto Sans"/>
              </a:rPr>
              <a:t>15.56%</a:t>
            </a:r>
          </a:p>
          <a:p>
            <a:pPr>
              <a:spcBef>
                <a:spcPts val="0"/>
              </a:spcBef>
              <a:spcAft>
                <a:spcPts val="0"/>
              </a:spcAft>
            </a:pPr>
            <a:r>
              <a:rPr sz="100">
                <a:solidFill>
                  <a:srgbClr val="FFFFFF"/>
                </a:solidFill>
                <a:latin typeface="Noto Sans"/>
              </a:rPr>
              <a:t>11.72%</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69.83%</a:t>
            </a:r>
          </a:p>
          <a:p>
            <a:pPr>
              <a:spcBef>
                <a:spcPts val="0"/>
              </a:spcBef>
              <a:spcAft>
                <a:spcPts val="0"/>
              </a:spcAft>
            </a:pPr>
            <a:r>
              <a:rPr sz="100">
                <a:solidFill>
                  <a:srgbClr val="FFFFFF"/>
                </a:solidFill>
                <a:latin typeface="Noto Sans"/>
              </a:rPr>
              <a:t>17.14%</a:t>
            </a:r>
          </a:p>
          <a:p>
            <a:pPr>
              <a:spcBef>
                <a:spcPts val="0"/>
              </a:spcBef>
              <a:spcAft>
                <a:spcPts val="0"/>
              </a:spcAft>
            </a:pPr>
            <a:r>
              <a:rPr sz="100">
                <a:solidFill>
                  <a:srgbClr val="FFFFFF"/>
                </a:solidFill>
                <a:latin typeface="Noto Sans"/>
              </a:rPr>
              <a:t>10.92%</a:t>
            </a:r>
          </a:p>
          <a:p>
            <a:pPr>
              <a:spcBef>
                <a:spcPts val="0"/>
              </a:spcBef>
              <a:spcAft>
                <a:spcPts val="0"/>
              </a:spcAft>
            </a:pPr>
            <a:r>
              <a:rPr sz="100">
                <a:solidFill>
                  <a:srgbClr val="FFFFFF"/>
                </a:solidFill>
                <a:latin typeface="Noto Sans"/>
              </a:rPr>
              <a:t>2.11%</a:t>
            </a:r>
          </a:p>
          <a:p>
            <a:pPr>
              <a:spcBef>
                <a:spcPts val="0"/>
              </a:spcBef>
              <a:spcAft>
                <a:spcPts val="0"/>
              </a:spcAft>
            </a:pPr>
            <a:r>
              <a:rPr sz="100">
                <a:solidFill>
                  <a:srgbClr val="FFFFFF"/>
                </a:solidFill>
                <a:latin typeface="Noto Sans"/>
              </a:rPr>
              <a:t>71.01%</a:t>
            </a:r>
          </a:p>
          <a:p>
            <a:pPr>
              <a:spcBef>
                <a:spcPts val="0"/>
              </a:spcBef>
              <a:spcAft>
                <a:spcPts val="0"/>
              </a:spcAft>
            </a:pPr>
            <a:r>
              <a:rPr sz="100">
                <a:solidFill>
                  <a:srgbClr val="FFFFFF"/>
                </a:solidFill>
                <a:latin typeface="Noto Sans"/>
              </a:rPr>
              <a:t>16.06%</a:t>
            </a:r>
          </a:p>
          <a:p>
            <a:pPr>
              <a:spcBef>
                <a:spcPts val="0"/>
              </a:spcBef>
              <a:spcAft>
                <a:spcPts val="0"/>
              </a:spcAft>
            </a:pPr>
            <a:r>
              <a:rPr sz="100">
                <a:solidFill>
                  <a:srgbClr val="FFFFFF"/>
                </a:solidFill>
                <a:latin typeface="Noto Sans"/>
              </a:rPr>
              <a:t>10.41%</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70.15%</a:t>
            </a:r>
          </a:p>
          <a:p>
            <a:pPr>
              <a:spcBef>
                <a:spcPts val="0"/>
              </a:spcBef>
              <a:spcAft>
                <a:spcPts val="0"/>
              </a:spcAft>
            </a:pPr>
            <a:r>
              <a:rPr sz="100">
                <a:solidFill>
                  <a:srgbClr val="FFFFFF"/>
                </a:solidFill>
                <a:latin typeface="Noto Sans"/>
              </a:rPr>
              <a:t>17.47%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2.78%</a:t>
            </a:r>
          </a:p>
          <a:p>
            <a:pPr>
              <a:spcBef>
                <a:spcPts val="0"/>
              </a:spcBef>
              <a:spcAft>
                <a:spcPts val="0"/>
              </a:spcAft>
            </a:pPr>
            <a:r>
              <a:rPr sz="100">
                <a:solidFill>
                  <a:srgbClr val="FFFFFF"/>
                </a:solidFill>
                <a:latin typeface="Noto Sans"/>
              </a:rPr>
              <a:t>65.93%</a:t>
            </a:r>
          </a:p>
          <a:p>
            <a:pPr>
              <a:spcBef>
                <a:spcPts val="0"/>
              </a:spcBef>
              <a:spcAft>
                <a:spcPts val="0"/>
              </a:spcAft>
            </a:pPr>
            <a:r>
              <a:rPr sz="100">
                <a:solidFill>
                  <a:srgbClr val="FFFFFF"/>
                </a:solidFill>
                <a:latin typeface="Noto Sans"/>
              </a:rPr>
              <a:t>17.13%</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8.28%</a:t>
            </a:r>
          </a:p>
          <a:p>
            <a:pPr>
              <a:spcBef>
                <a:spcPts val="0"/>
              </a:spcBef>
              <a:spcAft>
                <a:spcPts val="0"/>
              </a:spcAft>
            </a:pPr>
            <a:r>
              <a:rPr sz="100">
                <a:solidFill>
                  <a:srgbClr val="FFFFFF"/>
                </a:solidFill>
                <a:latin typeface="Noto Sans"/>
              </a:rPr>
              <a:t>3.95%</a:t>
            </a:r>
          </a:p>
          <a:p>
            <a:pPr>
              <a:spcBef>
                <a:spcPts val="0"/>
              </a:spcBef>
              <a:spcAft>
                <a:spcPts val="0"/>
              </a:spcAft>
            </a:pPr>
            <a:r>
              <a:rPr sz="100">
                <a:solidFill>
                  <a:srgbClr val="FFFFFF"/>
                </a:solidFill>
                <a:latin typeface="Noto Sans"/>
              </a:rPr>
              <a:t>63.66%</a:t>
            </a:r>
          </a:p>
          <a:p>
            <a:pPr>
              <a:spcBef>
                <a:spcPts val="0"/>
              </a:spcBef>
              <a:spcAft>
                <a:spcPts val="0"/>
              </a:spcAft>
            </a:pPr>
            <a:r>
              <a:rPr sz="100">
                <a:solidFill>
                  <a:srgbClr val="FFFFFF"/>
                </a:solidFill>
                <a:latin typeface="Noto Sans"/>
              </a:rPr>
              <a:t>14.59%</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7.64%</a:t>
            </a:r>
          </a:p>
          <a:p>
            <a:pPr>
              <a:spcBef>
                <a:spcPts val="0"/>
              </a:spcBef>
              <a:spcAft>
                <a:spcPts val="0"/>
              </a:spcAft>
            </a:pPr>
            <a:r>
              <a:rPr sz="100">
                <a:solidFill>
                  <a:srgbClr val="FFFFFF"/>
                </a:solidFill>
                <a:latin typeface="Noto Sans"/>
              </a:rPr>
              <a:t>4.66%</a:t>
            </a:r>
          </a:p>
          <a:p>
            <a:pPr>
              <a:spcBef>
                <a:spcPts val="0"/>
              </a:spcBef>
              <a:spcAft>
                <a:spcPts val="0"/>
              </a:spcAft>
            </a:pPr>
            <a:r>
              <a:rPr sz="100">
                <a:solidFill>
                  <a:srgbClr val="FFFFFF"/>
                </a:solidFill>
                <a:latin typeface="Noto Sans"/>
              </a:rPr>
              <a:t>59.71%</a:t>
            </a:r>
          </a:p>
          <a:p>
            <a:pPr>
              <a:spcBef>
                <a:spcPts val="0"/>
              </a:spcBef>
              <a:spcAft>
                <a:spcPts val="0"/>
              </a:spcAft>
            </a:pPr>
            <a:r>
              <a:rPr sz="100">
                <a:solidFill>
                  <a:srgbClr val="FFFFFF"/>
                </a:solidFill>
                <a:latin typeface="Noto Sans"/>
              </a:rPr>
              <a:t>15.40%</a:t>
            </a:r>
          </a:p>
          <a:p>
            <a:pPr>
              <a:spcBef>
                <a:spcPts val="0"/>
              </a:spcBef>
              <a:spcAft>
                <a:spcPts val="0"/>
              </a:spcAft>
            </a:pPr>
            <a:r>
              <a:rPr sz="100">
                <a:solidFill>
                  <a:srgbClr val="FFFFFF"/>
                </a:solidFill>
                <a:latin typeface="Noto Sans"/>
              </a:rPr>
              <a:t>13.43%</a:t>
            </a:r>
          </a:p>
          <a:p>
            <a:pPr>
              <a:spcBef>
                <a:spcPts val="0"/>
              </a:spcBef>
              <a:spcAft>
                <a:spcPts val="0"/>
              </a:spcAft>
            </a:pPr>
            <a:r>
              <a:rPr sz="100">
                <a:solidFill>
                  <a:srgbClr val="FFFFFF"/>
                </a:solidFill>
                <a:latin typeface="Noto Sans"/>
              </a:rPr>
              <a:t>6.98%</a:t>
            </a:r>
          </a:p>
          <a:p>
            <a:pPr>
              <a:spcBef>
                <a:spcPts val="0"/>
              </a:spcBef>
              <a:spcAft>
                <a:spcPts val="0"/>
              </a:spcAft>
            </a:pPr>
            <a:r>
              <a:rPr sz="100">
                <a:solidFill>
                  <a:srgbClr val="FFFFFF"/>
                </a:solidFill>
                <a:latin typeface="Noto Sans"/>
              </a:rPr>
              <a:t>4.49%</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Grupo Walmart</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Figura C.15.</a:t>
            </a:r>
          </a:p>
          <a:p>
            <a:pPr>
              <a:spcBef>
                <a:spcPts val="0"/>
              </a:spcBef>
              <a:spcAft>
                <a:spcPts val="0"/>
              </a:spcAft>
            </a:pPr>
            <a:r>
              <a:rPr sz="100">
                <a:solidFill>
                  <a:srgbClr val="FFFFFF"/>
                </a:solidFill>
                <a:latin typeface="Noto Sans"/>
              </a:rPr>
              <a:t>Participación de mercado del servicio móvil de acceso a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p:txBody>
      </p:sp>
      <p:pic>
        <p:nvPicPr>
          <p:cNvPr id="223"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59</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6" descr="Capa accesible con el texto del SVG de la figura C.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C.16</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4,033</a:t>
            </a:r>
          </a:p>
          <a:p>
            <a:pPr>
              <a:spcBef>
                <a:spcPts val="0"/>
              </a:spcBef>
              <a:spcAft>
                <a:spcPts val="0"/>
              </a:spcAft>
            </a:pPr>
            <a:r>
              <a:rPr sz="100">
                <a:solidFill>
                  <a:srgbClr val="FFFFFF"/>
                </a:solidFill>
                <a:latin typeface="Noto Sans"/>
              </a:rPr>
              <a:t>4,417</a:t>
            </a:r>
          </a:p>
          <a:p>
            <a:pPr>
              <a:spcBef>
                <a:spcPts val="0"/>
              </a:spcBef>
              <a:spcAft>
                <a:spcPts val="0"/>
              </a:spcAft>
            </a:pPr>
            <a:r>
              <a:rPr sz="100">
                <a:solidFill>
                  <a:srgbClr val="FFFFFF"/>
                </a:solidFill>
                <a:latin typeface="Noto Sans"/>
              </a:rPr>
              <a:t>4,733</a:t>
            </a:r>
          </a:p>
          <a:p>
            <a:pPr>
              <a:spcBef>
                <a:spcPts val="0"/>
              </a:spcBef>
              <a:spcAft>
                <a:spcPts val="0"/>
              </a:spcAft>
            </a:pPr>
            <a:r>
              <a:rPr sz="100">
                <a:solidFill>
                  <a:srgbClr val="FFFFFF"/>
                </a:solidFill>
                <a:latin typeface="Noto Sans"/>
              </a:rPr>
              <a:t>5,319</a:t>
            </a:r>
          </a:p>
          <a:p>
            <a:pPr>
              <a:spcBef>
                <a:spcPts val="0"/>
              </a:spcBef>
              <a:spcAft>
                <a:spcPts val="0"/>
              </a:spcAft>
            </a:pPr>
            <a:r>
              <a:rPr sz="100">
                <a:solidFill>
                  <a:srgbClr val="FFFFFF"/>
                </a:solidFill>
                <a:latin typeface="Noto Sans"/>
              </a:rPr>
              <a:t>5,409</a:t>
            </a:r>
          </a:p>
          <a:p>
            <a:pPr>
              <a:spcBef>
                <a:spcPts val="0"/>
              </a:spcBef>
              <a:spcAft>
                <a:spcPts val="0"/>
              </a:spcAft>
            </a:pPr>
            <a:r>
              <a:rPr sz="100">
                <a:solidFill>
                  <a:srgbClr val="FFFFFF"/>
                </a:solidFill>
                <a:latin typeface="Noto Sans"/>
              </a:rPr>
              <a:t>5,290</a:t>
            </a:r>
          </a:p>
          <a:p>
            <a:pPr>
              <a:spcBef>
                <a:spcPts val="0"/>
              </a:spcBef>
              <a:spcAft>
                <a:spcPts val="0"/>
              </a:spcAft>
            </a:pPr>
            <a:r>
              <a:rPr sz="100">
                <a:solidFill>
                  <a:srgbClr val="FFFFFF"/>
                </a:solidFill>
                <a:latin typeface="Noto Sans"/>
              </a:rPr>
              <a:t>5,380</a:t>
            </a:r>
          </a:p>
          <a:p>
            <a:pPr>
              <a:spcBef>
                <a:spcPts val="0"/>
              </a:spcBef>
              <a:spcAft>
                <a:spcPts val="0"/>
              </a:spcAft>
            </a:pPr>
            <a:r>
              <a:rPr sz="100">
                <a:solidFill>
                  <a:srgbClr val="FFFFFF"/>
                </a:solidFill>
                <a:latin typeface="Noto Sans"/>
              </a:rPr>
              <a:t>5,376</a:t>
            </a:r>
          </a:p>
          <a:p>
            <a:pPr>
              <a:spcBef>
                <a:spcPts val="0"/>
              </a:spcBef>
              <a:spcAft>
                <a:spcPts val="0"/>
              </a:spcAft>
            </a:pPr>
            <a:r>
              <a:rPr sz="100">
                <a:solidFill>
                  <a:srgbClr val="FFFFFF"/>
                </a:solidFill>
                <a:latin typeface="Noto Sans"/>
              </a:rPr>
              <a:t>5,446</a:t>
            </a:r>
          </a:p>
          <a:p>
            <a:pPr>
              <a:spcBef>
                <a:spcPts val="0"/>
              </a:spcBef>
              <a:spcAft>
                <a:spcPts val="0"/>
              </a:spcAft>
            </a:pPr>
            <a:r>
              <a:rPr sz="100">
                <a:solidFill>
                  <a:srgbClr val="FFFFFF"/>
                </a:solidFill>
                <a:latin typeface="Noto Sans"/>
              </a:rPr>
              <a:t>5,388</a:t>
            </a:r>
          </a:p>
          <a:p>
            <a:pPr>
              <a:spcBef>
                <a:spcPts val="0"/>
              </a:spcBef>
              <a:spcAft>
                <a:spcPts val="0"/>
              </a:spcAft>
            </a:pPr>
            <a:r>
              <a:rPr sz="100">
                <a:solidFill>
                  <a:srgbClr val="FFFFFF"/>
                </a:solidFill>
                <a:latin typeface="Noto Sans"/>
              </a:rPr>
              <a:t>5,848</a:t>
            </a:r>
          </a:p>
          <a:p>
            <a:pPr>
              <a:spcBef>
                <a:spcPts val="0"/>
              </a:spcBef>
              <a:spcAft>
                <a:spcPts val="0"/>
              </a:spcAft>
            </a:pPr>
            <a:r>
              <a:rPr sz="100">
                <a:solidFill>
                  <a:srgbClr val="FFFFFF"/>
                </a:solidFill>
                <a:latin typeface="Noto Sans"/>
              </a:rPr>
              <a:t>6,786</a:t>
            </a:r>
          </a:p>
          <a:p>
            <a:pPr>
              <a:spcBef>
                <a:spcPts val="0"/>
              </a:spcBef>
              <a:spcAft>
                <a:spcPts val="0"/>
              </a:spcAft>
            </a:pPr>
            <a:r>
              <a:rPr sz="100">
                <a:solidFill>
                  <a:srgbClr val="FFFFFF"/>
                </a:solidFill>
                <a:latin typeface="Noto Sans"/>
              </a:rPr>
              <a:t>Figura C.16.</a:t>
            </a:r>
          </a:p>
          <a:p>
            <a:pPr>
              <a:spcBef>
                <a:spcPts val="0"/>
              </a:spcBef>
              <a:spcAft>
                <a:spcPts val="0"/>
              </a:spcAft>
            </a:pPr>
            <a:r>
              <a:rPr sz="100">
                <a:solidFill>
                  <a:srgbClr val="FFFFFF"/>
                </a:solidFill>
                <a:latin typeface="Noto Sans"/>
              </a:rPr>
              <a:t>Herfindahl-Hirschman (IHH). Concentración del mercado de Internet móvil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con respecto al número de líneas del servicio móvil de acceso a Internet.</a:t>
            </a:r>
          </a:p>
        </p:txBody>
      </p:sp>
      <p:pic>
        <p:nvPicPr>
          <p:cNvPr id="223"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60</a:t>
            </a:r>
          </a:p>
        </p:txBody>
      </p:sp>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 descr="Capa accesible con el texto del SVG de la figura D.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Equipo de cómputo</a:t>
            </a:r>
          </a:p>
          <a:p>
            <a:pPr>
              <a:spcBef>
                <a:spcPts val="0"/>
              </a:spcBef>
              <a:spcAft>
                <a:spcPts val="0"/>
              </a:spcAft>
            </a:pPr>
            <a:r>
              <a:rPr sz="100">
                <a:solidFill>
                  <a:srgbClr val="FFFFFF"/>
                </a:solidFill>
                <a:latin typeface="Noto Sans"/>
              </a:rPr>
              <a:t>Aparatos de radio</a:t>
            </a:r>
          </a:p>
          <a:p>
            <a:pPr>
              <a:spcBef>
                <a:spcPts val="0"/>
              </a:spcBef>
              <a:spcAft>
                <a:spcPts val="0"/>
              </a:spcAft>
            </a:pPr>
            <a:r>
              <a:rPr sz="100">
                <a:solidFill>
                  <a:srgbClr val="FFFFFF"/>
                </a:solidFill>
                <a:latin typeface="Noto Sans"/>
              </a:rPr>
              <a:t>Televisor analógico</a:t>
            </a:r>
          </a:p>
          <a:p>
            <a:pPr>
              <a:spcBef>
                <a:spcPts val="0"/>
              </a:spcBef>
              <a:spcAft>
                <a:spcPts val="0"/>
              </a:spcAft>
            </a:pPr>
            <a:r>
              <a:rPr sz="100">
                <a:solidFill>
                  <a:srgbClr val="FFFFFF"/>
                </a:solidFill>
                <a:latin typeface="Noto Sans"/>
              </a:rPr>
              <a:t>Televisor digital</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Figura D.1.</a:t>
            </a:r>
          </a:p>
          <a:p>
            <a:pPr>
              <a:spcBef>
                <a:spcPts val="0"/>
              </a:spcBef>
              <a:spcAft>
                <a:spcPts val="0"/>
              </a:spcAft>
            </a:pPr>
            <a:r>
              <a:rPr sz="100">
                <a:solidFill>
                  <a:srgbClr val="FFFFFF"/>
                </a:solidFill>
                <a:latin typeface="Noto Sans"/>
              </a:rPr>
              <a:t>Disponibilidad de las TIC en los hogares (2010-2025)</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MODUTIH para 2010-2014 y de la ENDUTIH para 2015-2025, del INEGI.</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de hogares; las etiquetas se presentan redondeadas al entero más cercano.</a:t>
            </a:r>
          </a:p>
        </p:txBody>
      </p:sp>
      <p:pic>
        <p:nvPicPr>
          <p:cNvPr id="223"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61</a:t>
            </a:r>
          </a:p>
        </p:txBody>
      </p:sp>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2" descr="Capa accesible con el texto del SVG de la figura D.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D.2</a:t>
            </a:r>
          </a:p>
          <a:p>
            <a:pPr>
              <a:spcBef>
                <a:spcPts val="0"/>
              </a:spcBef>
              <a:spcAft>
                <a:spcPts val="0"/>
              </a:spcAft>
            </a:pPr>
            <a:r>
              <a:rPr sz="100">
                <a:solidFill>
                  <a:srgbClr val="FFFFFF"/>
                </a:solidFill>
                <a:latin typeface="Noto Sans"/>
              </a:rPr>
              <a:t>6 a 11</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55 o</a:t>
            </a:r>
          </a:p>
          <a:p>
            <a:pPr>
              <a:spcBef>
                <a:spcPts val="0"/>
              </a:spcBef>
              <a:spcAft>
                <a:spcPts val="0"/>
              </a:spcAft>
            </a:pPr>
            <a:r>
              <a:rPr sz="100">
                <a:solidFill>
                  <a:srgbClr val="FFFFFF"/>
                </a:solidFill>
                <a:latin typeface="Noto Sans"/>
              </a:rPr>
              <a:t>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84.2%</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96.2%</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90.4%</a:t>
            </a:r>
          </a:p>
          <a:p>
            <a:pPr>
              <a:spcBef>
                <a:spcPts val="0"/>
              </a:spcBef>
              <a:spcAft>
                <a:spcPts val="0"/>
              </a:spcAft>
            </a:pPr>
            <a:r>
              <a:rPr sz="100">
                <a:solidFill>
                  <a:srgbClr val="FFFFFF"/>
                </a:solidFill>
                <a:latin typeface="Noto Sans"/>
              </a:rPr>
              <a:t>69.2%</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94.9%</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96.5%</a:t>
            </a:r>
          </a:p>
          <a:p>
            <a:pPr>
              <a:spcBef>
                <a:spcPts val="0"/>
              </a:spcBef>
              <a:spcAft>
                <a:spcPts val="0"/>
              </a:spcAft>
            </a:pPr>
            <a:r>
              <a:rPr sz="100">
                <a:solidFill>
                  <a:srgbClr val="FFFFFF"/>
                </a:solidFill>
                <a:latin typeface="Noto Sans"/>
              </a:rPr>
              <a:t>94.3%</a:t>
            </a:r>
          </a:p>
          <a:p>
            <a:pPr>
              <a:spcBef>
                <a:spcPts val="0"/>
              </a:spcBef>
              <a:spcAft>
                <a:spcPts val="0"/>
              </a:spcAft>
            </a:pPr>
            <a:r>
              <a:rPr sz="100">
                <a:solidFill>
                  <a:srgbClr val="FFFFFF"/>
                </a:solidFill>
                <a:latin typeface="Noto Sans"/>
              </a:rPr>
              <a:t>88.9%</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Figura D.2.</a:t>
            </a:r>
          </a:p>
          <a:p>
            <a:pPr>
              <a:spcBef>
                <a:spcPts val="0"/>
              </a:spcBef>
              <a:spcAft>
                <a:spcPts val="0"/>
              </a:spcAft>
            </a:pPr>
            <a:r>
              <a:rPr sz="100">
                <a:solidFill>
                  <a:srgbClr val="FFFFFF"/>
                </a:solidFill>
                <a:latin typeface="Noto Sans"/>
              </a:rPr>
              <a:t>Uso de Smartphone 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 de usuarios de Smartphone</a:t>
            </a:r>
          </a:p>
          <a:p>
            <a:pPr>
              <a:spcBef>
                <a:spcPts val="0"/>
              </a:spcBef>
              <a:spcAft>
                <a:spcPts val="0"/>
              </a:spcAft>
            </a:pPr>
            <a:r>
              <a:rPr sz="100">
                <a:solidFill>
                  <a:srgbClr val="FFFFFF"/>
                </a:solidFill>
                <a:latin typeface="Noto Sans"/>
              </a:rPr>
              <a:t>% de usuarios de Internet</a:t>
            </a:r>
          </a:p>
        </p:txBody>
      </p:sp>
      <p:pic>
        <p:nvPicPr>
          <p:cNvPr id="223"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62</a:t>
            </a:r>
          </a:p>
        </p:txBody>
      </p:sp>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3" descr="Capa accesible con el texto del SVG de la figura D.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Horas promedio</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D.3.</a:t>
            </a:r>
          </a:p>
          <a:p>
            <a:pPr>
              <a:spcBef>
                <a:spcPts val="0"/>
              </a:spcBef>
              <a:spcAft>
                <a:spcPts val="0"/>
              </a:spcAft>
            </a:pPr>
            <a:r>
              <a:rPr sz="100">
                <a:solidFill>
                  <a:srgbClr val="FFFFFF"/>
                </a:solidFill>
                <a:latin typeface="Noto Sans"/>
              </a:rPr>
              <a:t>Horas promedio de uso de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55 a 64</a:t>
            </a:r>
          </a:p>
          <a:p>
            <a:pPr>
              <a:spcBef>
                <a:spcPts val="0"/>
              </a:spcBef>
              <a:spcAft>
                <a:spcPts val="0"/>
              </a:spcAft>
            </a:pPr>
            <a:r>
              <a:rPr sz="100">
                <a:solidFill>
                  <a:srgbClr val="FFFFFF"/>
                </a:solidFill>
                <a:latin typeface="Noto Sans"/>
              </a:rPr>
              <a:t>65 o más</a:t>
            </a:r>
          </a:p>
          <a:p>
            <a:pPr>
              <a:spcBef>
                <a:spcPts val="0"/>
              </a:spcBef>
              <a:spcAft>
                <a:spcPts val="0"/>
              </a:spcAft>
            </a:pPr>
            <a:r>
              <a:rPr sz="100">
                <a:solidFill>
                  <a:srgbClr val="FFFFFF"/>
                </a:solidFill>
                <a:latin typeface="Noto Sans"/>
              </a:rPr>
              <a:t>6 a 11</a:t>
            </a:r>
          </a:p>
        </p:txBody>
      </p:sp>
      <p:pic>
        <p:nvPicPr>
          <p:cNvPr id="223"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63</a:t>
            </a:r>
          </a:p>
        </p:txBody>
      </p:sp>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4" descr="Capa accesible con el texto del SVG de la figura D.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D.4</a:t>
            </a:r>
          </a:p>
          <a:p>
            <a:pPr>
              <a:spcBef>
                <a:spcPts val="0"/>
              </a:spcBef>
              <a:spcAft>
                <a:spcPts val="0"/>
              </a:spcAft>
            </a:pPr>
            <a:r>
              <a:rPr sz="100">
                <a:solidFill>
                  <a:srgbClr val="FFFFFF"/>
                </a:solidFill>
                <a:latin typeface="Noto Sans"/>
              </a:rPr>
              <a:t>Dispositivos de</a:t>
            </a:r>
          </a:p>
          <a:p>
            <a:pPr>
              <a:spcBef>
                <a:spcPts val="0"/>
              </a:spcBef>
              <a:spcAft>
                <a:spcPts val="0"/>
              </a:spcAft>
            </a:pPr>
            <a:r>
              <a:rPr sz="100">
                <a:solidFill>
                  <a:srgbClr val="FFFFFF"/>
                </a:solidFill>
                <a:latin typeface="Noto Sans"/>
              </a:rPr>
              <a:t>entretenimiento</a:t>
            </a:r>
          </a:p>
          <a:p>
            <a:pPr>
              <a:spcBef>
                <a:spcPts val="0"/>
              </a:spcBef>
              <a:spcAft>
                <a:spcPts val="0"/>
              </a:spcAft>
            </a:pPr>
            <a:r>
              <a:rPr sz="100">
                <a:solidFill>
                  <a:srgbClr val="FFFFFF"/>
                </a:solidFill>
                <a:latin typeface="Noto Sans"/>
              </a:rPr>
              <a:t>Bocina o</a:t>
            </a:r>
          </a:p>
          <a:p>
            <a:pPr>
              <a:spcBef>
                <a:spcPts val="0"/>
              </a:spcBef>
              <a:spcAft>
                <a:spcPts val="0"/>
              </a:spcAft>
            </a:pPr>
            <a:r>
              <a:rPr sz="100">
                <a:solidFill>
                  <a:srgbClr val="FFFFFF"/>
                </a:solidFill>
                <a:latin typeface="Noto Sans"/>
              </a:rPr>
              <a:t>asistente del</a:t>
            </a:r>
          </a:p>
          <a:p>
            <a:pPr>
              <a:spcBef>
                <a:spcPts val="0"/>
              </a:spcBef>
              <a:spcAft>
                <a:spcPts val="0"/>
              </a:spcAft>
            </a:pPr>
            <a:r>
              <a:rPr sz="100">
                <a:solidFill>
                  <a:srgbClr val="FFFFFF"/>
                </a:solidFill>
                <a:latin typeface="Noto Sans"/>
              </a:rPr>
              <a:t>hogar</a:t>
            </a:r>
          </a:p>
          <a:p>
            <a:pPr>
              <a:spcBef>
                <a:spcPts val="0"/>
              </a:spcBef>
              <a:spcAft>
                <a:spcPts val="0"/>
              </a:spcAft>
            </a:pPr>
            <a:r>
              <a:rPr sz="100">
                <a:solidFill>
                  <a:srgbClr val="FFFFFF"/>
                </a:solidFill>
                <a:latin typeface="Noto Sans"/>
              </a:rPr>
              <a:t>Sistemas de</a:t>
            </a:r>
          </a:p>
          <a:p>
            <a:pPr>
              <a:spcBef>
                <a:spcPts val="0"/>
              </a:spcBef>
              <a:spcAft>
                <a:spcPts val="0"/>
              </a:spcAft>
            </a:pPr>
            <a:r>
              <a:rPr sz="100">
                <a:solidFill>
                  <a:srgbClr val="FFFFFF"/>
                </a:solidFill>
                <a:latin typeface="Noto Sans"/>
              </a:rPr>
              <a:t>videovigilancia</a:t>
            </a:r>
          </a:p>
          <a:p>
            <a:pPr>
              <a:spcBef>
                <a:spcPts val="0"/>
              </a:spcBef>
              <a:spcAft>
                <a:spcPts val="0"/>
              </a:spcAft>
            </a:pPr>
            <a:r>
              <a:rPr sz="100">
                <a:solidFill>
                  <a:srgbClr val="FFFFFF"/>
                </a:solidFill>
                <a:latin typeface="Noto Sans"/>
              </a:rPr>
              <a:t>Luces o</a:t>
            </a:r>
          </a:p>
          <a:p>
            <a:pPr>
              <a:spcBef>
                <a:spcPts val="0"/>
              </a:spcBef>
              <a:spcAft>
                <a:spcPts val="0"/>
              </a:spcAft>
            </a:pPr>
            <a:r>
              <a:rPr sz="100">
                <a:solidFill>
                  <a:srgbClr val="FFFFFF"/>
                </a:solidFill>
                <a:latin typeface="Noto Sans"/>
              </a:rPr>
              <a:t>interruptores</a:t>
            </a:r>
          </a:p>
          <a:p>
            <a:pPr>
              <a:spcBef>
                <a:spcPts val="0"/>
              </a:spcBef>
              <a:spcAft>
                <a:spcPts val="0"/>
              </a:spcAft>
            </a:pPr>
            <a:r>
              <a:rPr sz="100">
                <a:solidFill>
                  <a:srgbClr val="FFFFFF"/>
                </a:solidFill>
                <a:latin typeface="Noto Sans"/>
              </a:rPr>
              <a:t>Electro-</a:t>
            </a:r>
          </a:p>
          <a:p>
            <a:pPr>
              <a:spcBef>
                <a:spcPts val="0"/>
              </a:spcBef>
              <a:spcAft>
                <a:spcPts val="0"/>
              </a:spcAft>
            </a:pPr>
            <a:r>
              <a:rPr sz="100">
                <a:solidFill>
                  <a:srgbClr val="FFFFFF"/>
                </a:solidFill>
                <a:latin typeface="Noto Sans"/>
              </a:rPr>
              <a:t>domésticos</a:t>
            </a:r>
          </a:p>
          <a:p>
            <a:pPr>
              <a:spcBef>
                <a:spcPts val="0"/>
              </a:spcBef>
              <a:spcAft>
                <a:spcPts val="0"/>
              </a:spcAft>
            </a:pPr>
            <a:r>
              <a:rPr sz="100">
                <a:solidFill>
                  <a:srgbClr val="FFFFFF"/>
                </a:solidFill>
                <a:latin typeface="Noto Sans"/>
              </a:rPr>
              <a:t>Conexión</a:t>
            </a:r>
          </a:p>
          <a:p>
            <a:pPr>
              <a:spcBef>
                <a:spcPts val="0"/>
              </a:spcBef>
              <a:spcAft>
                <a:spcPts val="0"/>
              </a:spcAft>
            </a:pPr>
            <a:r>
              <a:rPr sz="100">
                <a:solidFill>
                  <a:srgbClr val="FFFFFF"/>
                </a:solidFill>
                <a:latin typeface="Noto Sans"/>
              </a:rPr>
              <a:t>eléctrica</a:t>
            </a:r>
          </a:p>
          <a:p>
            <a:pPr>
              <a:spcBef>
                <a:spcPts val="0"/>
              </a:spcBef>
              <a:spcAft>
                <a:spcPts val="0"/>
              </a:spcAft>
            </a:pPr>
            <a:r>
              <a:rPr sz="100">
                <a:solidFill>
                  <a:srgbClr val="FFFFFF"/>
                </a:solidFill>
                <a:latin typeface="Noto Sans"/>
              </a:rPr>
              <a:t>Puertas o</a:t>
            </a:r>
          </a:p>
          <a:p>
            <a:pPr>
              <a:spcBef>
                <a:spcPts val="0"/>
              </a:spcBef>
              <a:spcAft>
                <a:spcPts val="0"/>
              </a:spcAft>
            </a:pPr>
            <a:r>
              <a:rPr sz="100">
                <a:solidFill>
                  <a:srgbClr val="FFFFFF"/>
                </a:solidFill>
                <a:latin typeface="Noto Sans"/>
              </a:rPr>
              <a:t>ventanas con</a:t>
            </a:r>
          </a:p>
          <a:p>
            <a:pPr>
              <a:spcBef>
                <a:spcPts val="0"/>
              </a:spcBef>
              <a:spcAft>
                <a:spcPts val="0"/>
              </a:spcAft>
            </a:pPr>
            <a:r>
              <a:rPr sz="100">
                <a:solidFill>
                  <a:srgbClr val="FFFFFF"/>
                </a:solidFill>
                <a:latin typeface="Noto Sans"/>
              </a:rPr>
              <a:t>cerrado digital</a:t>
            </a:r>
          </a:p>
          <a:p>
            <a:pPr>
              <a:spcBef>
                <a:spcPts val="0"/>
              </a:spcBef>
              <a:spcAft>
                <a:spcPts val="0"/>
              </a:spcAft>
            </a:pPr>
            <a:r>
              <a:rPr sz="100">
                <a:solidFill>
                  <a:srgbClr val="FFFFFF"/>
                </a:solidFill>
                <a:latin typeface="Noto Sans"/>
              </a:rPr>
              <a:t>Automóvil</a:t>
            </a:r>
          </a:p>
          <a:p>
            <a:pPr>
              <a:spcBef>
                <a:spcPts val="0"/>
              </a:spcBef>
              <a:spcAft>
                <a:spcPts val="0"/>
              </a:spcAft>
            </a:pPr>
            <a:r>
              <a:rPr sz="100">
                <a:solidFill>
                  <a:srgbClr val="FFFFFF"/>
                </a:solidFill>
                <a:latin typeface="Noto Sans"/>
              </a:rPr>
              <a:t>o camioneta</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de ahorro de</a:t>
            </a:r>
          </a:p>
          <a:p>
            <a:pPr>
              <a:spcBef>
                <a:spcPts val="0"/>
              </a:spcBef>
              <a:spcAft>
                <a:spcPts val="0"/>
              </a:spcAft>
            </a:pPr>
            <a:r>
              <a:rPr sz="100">
                <a:solidFill>
                  <a:srgbClr val="FFFFFF"/>
                </a:solidFill>
                <a:latin typeface="Noto Sans"/>
              </a:rPr>
              <a:t>energía eléctrica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30.6%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Figura D.4.</a:t>
            </a:r>
          </a:p>
          <a:p>
            <a:pPr>
              <a:spcBef>
                <a:spcPts val="0"/>
              </a:spcBef>
              <a:spcAft>
                <a:spcPts val="0"/>
              </a:spcAft>
            </a:pPr>
            <a:r>
              <a:rPr sz="100">
                <a:solidFill>
                  <a:srgbClr val="FFFFFF"/>
                </a:solidFill>
                <a:latin typeface="Noto Sans"/>
              </a:rPr>
              <a:t>Uso de dispositivos inteligentes conectados a Internet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p:txBody>
      </p:sp>
      <p:pic>
        <p:nvPicPr>
          <p:cNvPr id="223"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64</a:t>
            </a:r>
          </a:p>
        </p:txBody>
      </p:sp>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5" descr="Capa accesible con el texto del SVG de la figura D.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D.5</a:t>
            </a:r>
          </a:p>
          <a:p>
            <a:pPr>
              <a:spcBef>
                <a:spcPts val="0"/>
              </a:spcBef>
              <a:spcAft>
                <a:spcPts val="0"/>
              </a:spcAft>
            </a:pPr>
            <a:r>
              <a:rPr sz="100">
                <a:solidFill>
                  <a:srgbClr val="FFFFFF"/>
                </a:solidFill>
                <a:latin typeface="Noto Sans"/>
              </a:rPr>
              <a:t>Por su cuenta</a:t>
            </a:r>
          </a:p>
          <a:p>
            <a:pPr>
              <a:spcBef>
                <a:spcPts val="0"/>
              </a:spcBef>
              <a:spcAft>
                <a:spcPts val="0"/>
              </a:spcAft>
            </a:pPr>
            <a:r>
              <a:rPr sz="100">
                <a:solidFill>
                  <a:srgbClr val="FFFFFF"/>
                </a:solidFill>
                <a:latin typeface="Noto Sans"/>
              </a:rPr>
              <a:t>Capacitación en</a:t>
            </a:r>
          </a:p>
          <a:p>
            <a:pPr>
              <a:spcBef>
                <a:spcPts val="0"/>
              </a:spcBef>
              <a:spcAft>
                <a:spcPts val="0"/>
              </a:spcAft>
            </a:pPr>
            <a:r>
              <a:rPr sz="100">
                <a:solidFill>
                  <a:srgbClr val="FFFFFF"/>
                </a:solidFill>
                <a:latin typeface="Noto Sans"/>
              </a:rPr>
              <a:t>el trabajo</a:t>
            </a:r>
          </a:p>
          <a:p>
            <a:pPr>
              <a:spcBef>
                <a:spcPts val="0"/>
              </a:spcBef>
              <a:spcAft>
                <a:spcPts val="0"/>
              </a:spcAft>
            </a:pPr>
            <a:r>
              <a:rPr sz="100">
                <a:solidFill>
                  <a:srgbClr val="FFFFFF"/>
                </a:solidFill>
                <a:latin typeface="Noto Sans"/>
              </a:rPr>
              <a:t>Curso en la</a:t>
            </a:r>
          </a:p>
          <a:p>
            <a:pPr>
              <a:spcBef>
                <a:spcPts val="0"/>
              </a:spcBef>
              <a:spcAft>
                <a:spcPts val="0"/>
              </a:spcAft>
            </a:pPr>
            <a:r>
              <a:rPr sz="100">
                <a:solidFill>
                  <a:srgbClr val="FFFFFF"/>
                </a:solidFill>
                <a:latin typeface="Noto Sans"/>
              </a:rPr>
              <a:t>escuela</a:t>
            </a:r>
          </a:p>
          <a:p>
            <a:pPr>
              <a:spcBef>
                <a:spcPts val="0"/>
              </a:spcBef>
              <a:spcAft>
                <a:spcPts val="0"/>
              </a:spcAft>
            </a:pPr>
            <a:r>
              <a:rPr sz="100">
                <a:solidFill>
                  <a:srgbClr val="FFFFFF"/>
                </a:solidFill>
                <a:latin typeface="Noto Sans"/>
              </a:rPr>
              <a:t>Curso en centro</a:t>
            </a:r>
          </a:p>
          <a:p>
            <a:pPr>
              <a:spcBef>
                <a:spcPts val="0"/>
              </a:spcBef>
              <a:spcAft>
                <a:spcPts val="0"/>
              </a:spcAft>
            </a:pPr>
            <a:r>
              <a:rPr sz="100">
                <a:solidFill>
                  <a:srgbClr val="FFFFFF"/>
                </a:solidFill>
                <a:latin typeface="Noto Sans"/>
              </a:rPr>
              <a:t>comunitario</a:t>
            </a:r>
          </a:p>
          <a:p>
            <a:pPr>
              <a:spcBef>
                <a:spcPts val="0"/>
              </a:spcBef>
              <a:spcAft>
                <a:spcPts val="0"/>
              </a:spcAft>
            </a:pPr>
            <a:r>
              <a:rPr sz="100">
                <a:solidFill>
                  <a:srgbClr val="FFFFFF"/>
                </a:solidFill>
                <a:latin typeface="Noto Sans"/>
              </a:rPr>
              <a:t>Curso particular</a:t>
            </a:r>
          </a:p>
          <a:p>
            <a:pPr>
              <a:spcBef>
                <a:spcPts val="0"/>
              </a:spcBef>
              <a:spcAft>
                <a:spcPts val="0"/>
              </a:spcAft>
            </a:pPr>
            <a:r>
              <a:rPr sz="100">
                <a:solidFill>
                  <a:srgbClr val="FFFFFF"/>
                </a:solidFill>
                <a:latin typeface="Noto Sans"/>
              </a:rPr>
              <a:t>Amigos o</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50.7%</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D.5.</a:t>
            </a:r>
          </a:p>
          <a:p>
            <a:pPr>
              <a:spcBef>
                <a:spcPts val="0"/>
              </a:spcBef>
              <a:spcAft>
                <a:spcPts val="0"/>
              </a:spcAft>
            </a:pPr>
            <a:r>
              <a:rPr sz="100">
                <a:solidFill>
                  <a:srgbClr val="FFFFFF"/>
                </a:solidFill>
                <a:latin typeface="Noto Sans"/>
              </a:rPr>
              <a:t>¿Cómo aprendió a buscar información o usar Internet?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 respuesta admite más de una opción.</a:t>
            </a:r>
          </a:p>
        </p:txBody>
      </p:sp>
      <p:pic>
        <p:nvPicPr>
          <p:cNvPr id="223"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65</a:t>
            </a:r>
          </a:p>
        </p:txBody>
      </p:sp>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6" descr="Capa accesible con el texto del SVG de la figura D.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D.6</a:t>
            </a:r>
          </a:p>
          <a:p>
            <a:pPr>
              <a:spcBef>
                <a:spcPts val="0"/>
              </a:spcBef>
              <a:spcAft>
                <a:spcPts val="0"/>
              </a:spcAft>
            </a:pPr>
            <a:r>
              <a:rPr sz="100">
                <a:solidFill>
                  <a:srgbClr val="FFFFFF"/>
                </a:solidFill>
                <a:latin typeface="Noto Sans"/>
              </a:rPr>
              <a:t>Recibir mensajes no</a:t>
            </a:r>
          </a:p>
          <a:p>
            <a:pPr>
              <a:spcBef>
                <a:spcPts val="0"/>
              </a:spcBef>
              <a:spcAft>
                <a:spcPts val="0"/>
              </a:spcAft>
            </a:pPr>
            <a:r>
              <a:rPr sz="100">
                <a:solidFill>
                  <a:srgbClr val="FFFFFF"/>
                </a:solidFill>
                <a:latin typeface="Noto Sans"/>
              </a:rPr>
              <a:t>deseados</a:t>
            </a:r>
          </a:p>
          <a:p>
            <a:pPr>
              <a:spcBef>
                <a:spcPts val="0"/>
              </a:spcBef>
              <a:spcAft>
                <a:spcPts val="0"/>
              </a:spcAft>
            </a:pPr>
            <a:r>
              <a:rPr sz="100">
                <a:solidFill>
                  <a:srgbClr val="FFFFFF"/>
                </a:solidFill>
                <a:latin typeface="Noto Sans"/>
              </a:rPr>
              <a:t>Publicación de</a:t>
            </a:r>
          </a:p>
          <a:p>
            <a:pPr>
              <a:spcBef>
                <a:spcPts val="0"/>
              </a:spcBef>
              <a:spcAft>
                <a:spcPts val="0"/>
              </a:spcAft>
            </a:pPr>
            <a:r>
              <a:rPr sz="100">
                <a:solidFill>
                  <a:srgbClr val="FFFFFF"/>
                </a:solidFill>
                <a:latin typeface="Noto Sans"/>
              </a:rPr>
              <a:t>información personal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Uso de datos para</a:t>
            </a:r>
          </a:p>
          <a:p>
            <a:pPr>
              <a:spcBef>
                <a:spcPts val="0"/>
              </a:spcBef>
              <a:spcAft>
                <a:spcPts val="0"/>
              </a:spcAft>
            </a:pPr>
            <a:r>
              <a:rPr sz="100">
                <a:solidFill>
                  <a:srgbClr val="FFFFFF"/>
                </a:solidFill>
                <a:latin typeface="Noto Sans"/>
              </a:rPr>
              <a:t>préstamos o créditos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61.7%</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58.3%</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59.8%</a:t>
            </a:r>
          </a:p>
          <a:p>
            <a:pPr>
              <a:spcBef>
                <a:spcPts val="0"/>
              </a:spcBef>
              <a:spcAft>
                <a:spcPts val="0"/>
              </a:spcAft>
            </a:pPr>
            <a:r>
              <a:rPr sz="100">
                <a:solidFill>
                  <a:srgbClr val="FFFFFF"/>
                </a:solidFill>
                <a:latin typeface="Noto Sans"/>
              </a:rPr>
              <a:t>13.5%</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Figura D.6.</a:t>
            </a:r>
          </a:p>
          <a:p>
            <a:pPr>
              <a:spcBef>
                <a:spcPts val="0"/>
              </a:spcBef>
              <a:spcAft>
                <a:spcPts val="0"/>
              </a:spcAft>
            </a:pPr>
            <a:r>
              <a:rPr sz="100">
                <a:solidFill>
                  <a:srgbClr val="FFFFFF"/>
                </a:solidFill>
                <a:latin typeface="Noto Sans"/>
              </a:rPr>
              <a:t>Experiencias negativas en Internet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66</a:t>
            </a:r>
          </a:p>
        </p:txBody>
      </p:sp>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7" descr="Capa accesible con el texto del SVG de la figura D.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D.7</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64.8%</a:t>
            </a:r>
          </a:p>
          <a:p>
            <a:pPr>
              <a:spcBef>
                <a:spcPts val="0"/>
              </a:spcBef>
              <a:spcAft>
                <a:spcPts val="0"/>
              </a:spcAft>
            </a:pPr>
            <a:r>
              <a:rPr sz="100">
                <a:solidFill>
                  <a:srgbClr val="FFFFFF"/>
                </a:solidFill>
                <a:latin typeface="Noto Sans"/>
              </a:rPr>
              <a:t>62.6%</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57.6%</a:t>
            </a:r>
          </a:p>
          <a:p>
            <a:pPr>
              <a:spcBef>
                <a:spcPts val="0"/>
              </a:spcBef>
              <a:spcAft>
                <a:spcPts val="0"/>
              </a:spcAft>
            </a:pPr>
            <a:r>
              <a:rPr sz="100">
                <a:solidFill>
                  <a:srgbClr val="FFFFFF"/>
                </a:solidFill>
                <a:latin typeface="Noto Sans"/>
              </a:rPr>
              <a:t>53.4%</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Mensajes no deseados</a:t>
            </a:r>
          </a:p>
          <a:p>
            <a:pPr>
              <a:spcBef>
                <a:spcPts val="0"/>
              </a:spcBef>
              <a:spcAft>
                <a:spcPts val="0"/>
              </a:spcAft>
            </a:pPr>
            <a:r>
              <a:rPr sz="100">
                <a:solidFill>
                  <a:srgbClr val="FFFFFF"/>
                </a:solidFill>
                <a:latin typeface="Noto Sans"/>
              </a:rPr>
              <a:t>Información personal publicada sin permiso</a:t>
            </a:r>
          </a:p>
          <a:p>
            <a:pPr>
              <a:spcBef>
                <a:spcPts val="0"/>
              </a:spcBef>
              <a:spcAft>
                <a:spcPts val="0"/>
              </a:spcAft>
            </a:pPr>
            <a:r>
              <a:rPr sz="100">
                <a:solidFill>
                  <a:srgbClr val="FFFFFF"/>
                </a:solidFill>
                <a:latin typeface="Noto Sans"/>
              </a:rPr>
              <a:t>Datos usados para préstamos sin 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Figura D.7.</a:t>
            </a:r>
          </a:p>
          <a:p>
            <a:pPr>
              <a:spcBef>
                <a:spcPts val="0"/>
              </a:spcBef>
              <a:spcAft>
                <a:spcPts val="0"/>
              </a:spcAft>
            </a:pPr>
            <a:r>
              <a:rPr sz="100">
                <a:solidFill>
                  <a:srgbClr val="FFFFFF"/>
                </a:solidFill>
                <a:latin typeface="Noto Sans"/>
              </a:rPr>
              <a:t>Experiencias negativas en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67</a:t>
            </a:r>
          </a:p>
        </p:txBody>
      </p:sp>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8" descr="Capa accesible con el texto del SVG de la figura D.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D.8</a:t>
            </a:r>
          </a:p>
          <a:p>
            <a:pPr>
              <a:spcBef>
                <a:spcPts val="0"/>
              </a:spcBef>
              <a:spcAft>
                <a:spcPts val="0"/>
              </a:spcAft>
            </a:pPr>
            <a:r>
              <a:rPr sz="100">
                <a:solidFill>
                  <a:srgbClr val="FFFFFF"/>
                </a:solidFill>
                <a:latin typeface="Noto Sans"/>
              </a:rPr>
              <a:t>Nada</a:t>
            </a:r>
          </a:p>
          <a:p>
            <a:pPr>
              <a:spcBef>
                <a:spcPts val="0"/>
              </a:spcBef>
              <a:spcAft>
                <a:spcPts val="0"/>
              </a:spcAft>
            </a:pPr>
            <a:r>
              <a:rPr sz="100">
                <a:solidFill>
                  <a:srgbClr val="FFFFFF"/>
                </a:solidFill>
                <a:latin typeface="Noto Sans"/>
              </a:rPr>
              <a:t>Poco</a:t>
            </a:r>
          </a:p>
          <a:p>
            <a:pPr>
              <a:spcBef>
                <a:spcPts val="0"/>
              </a:spcBef>
              <a:spcAft>
                <a:spcPts val="0"/>
              </a:spcAft>
            </a:pPr>
            <a:r>
              <a:rPr sz="100">
                <a:solidFill>
                  <a:srgbClr val="FFFFFF"/>
                </a:solidFill>
                <a:latin typeface="Noto Sans"/>
              </a:rPr>
              <a:t>Le es indiferente</a:t>
            </a:r>
          </a:p>
          <a:p>
            <a:pPr>
              <a:spcBef>
                <a:spcPts val="0"/>
              </a:spcBef>
              <a:spcAft>
                <a:spcPts val="0"/>
              </a:spcAft>
            </a:pPr>
            <a:r>
              <a:rPr sz="100">
                <a:solidFill>
                  <a:srgbClr val="FFFFFF"/>
                </a:solidFill>
                <a:latin typeface="Noto Sans"/>
              </a:rPr>
              <a:t>Algo</a:t>
            </a:r>
          </a:p>
          <a:p>
            <a:pPr>
              <a:spcBef>
                <a:spcPts val="0"/>
              </a:spcBef>
              <a:spcAft>
                <a:spcPts val="0"/>
              </a:spcAft>
            </a:pPr>
            <a:r>
              <a:rPr sz="100">
                <a:solidFill>
                  <a:srgbClr val="FFFFFF"/>
                </a:solidFill>
                <a:latin typeface="Noto Sans"/>
              </a:rPr>
              <a:t>Mucho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Figura D.8.</a:t>
            </a:r>
          </a:p>
          <a:p>
            <a:pPr>
              <a:spcBef>
                <a:spcPts val="0"/>
              </a:spcBef>
              <a:spcAft>
                <a:spcPts val="0"/>
              </a:spcAft>
            </a:pPr>
            <a:r>
              <a:rPr sz="100">
                <a:solidFill>
                  <a:srgbClr val="FFFFFF"/>
                </a:solidFill>
                <a:latin typeface="Noto Sans"/>
              </a:rPr>
              <a:t>¿Qué tanto influye la confianza en Internet para decidir usarlo?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p:txBody>
      </p:sp>
      <p:pic>
        <p:nvPicPr>
          <p:cNvPr id="223"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68</a:t>
            </a:r>
          </a:p>
        </p:txBody>
      </p:sp>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9" descr="Capa accesible con el texto del SVG de la figura D.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D.9</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52.7%</a:t>
            </a:r>
          </a:p>
          <a:p>
            <a:pPr>
              <a:spcBef>
                <a:spcPts val="0"/>
              </a:spcBef>
              <a:spcAft>
                <a:spcPts val="0"/>
              </a:spcAft>
            </a:pPr>
            <a:r>
              <a:rPr sz="100">
                <a:solidFill>
                  <a:srgbClr val="FFFFFF"/>
                </a:solidFill>
                <a:latin typeface="Noto Sans"/>
              </a:rPr>
              <a:t>52.1%</a:t>
            </a:r>
          </a:p>
          <a:p>
            <a:pPr>
              <a:spcBef>
                <a:spcPts val="0"/>
              </a:spcBef>
              <a:spcAft>
                <a:spcPts val="0"/>
              </a:spcAft>
            </a:pPr>
            <a:r>
              <a:rPr sz="100">
                <a:solidFill>
                  <a:srgbClr val="FFFFFF"/>
                </a:solidFill>
                <a:latin typeface="Noto Sans"/>
              </a:rPr>
              <a:t>49.6%</a:t>
            </a:r>
          </a:p>
          <a:p>
            <a:pPr>
              <a:spcBef>
                <a:spcPts val="0"/>
              </a:spcBef>
              <a:spcAft>
                <a:spcPts val="0"/>
              </a:spcAft>
            </a:pPr>
            <a:r>
              <a:rPr sz="100">
                <a:solidFill>
                  <a:srgbClr val="FFFFFF"/>
                </a:solidFill>
                <a:latin typeface="Noto Sans"/>
              </a:rPr>
              <a:t>52.6%</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16.7%</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D.9.</a:t>
            </a:r>
          </a:p>
          <a:p>
            <a:pPr>
              <a:spcBef>
                <a:spcPts val="0"/>
              </a:spcBef>
              <a:spcAft>
                <a:spcPts val="0"/>
              </a:spcAft>
            </a:pPr>
            <a:r>
              <a:rPr sz="100">
                <a:solidFill>
                  <a:srgbClr val="FFFFFF"/>
                </a:solidFill>
                <a:latin typeface="Noto Sans"/>
              </a:rPr>
              <a:t>Seguridad percibida al realizar compras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69</a:t>
            </a:r>
          </a:p>
        </p:txBody>
      </p:sp>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0" descr="Capa accesible con el texto del SVG de la figura D.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D.10</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52.8%</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33.9%</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D.10.</a:t>
            </a:r>
          </a:p>
          <a:p>
            <a:pPr>
              <a:spcBef>
                <a:spcPts val="0"/>
              </a:spcBef>
              <a:spcAft>
                <a:spcPts val="0"/>
              </a:spcAft>
            </a:pPr>
            <a:r>
              <a:rPr sz="100">
                <a:solidFill>
                  <a:srgbClr val="FFFFFF"/>
                </a:solidFill>
                <a:latin typeface="Noto Sans"/>
              </a:rPr>
              <a:t>Seguridad percibida al usar banca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70</a:t>
            </a:r>
          </a:p>
        </p:txBody>
      </p:sp>
    </p:spTree>
  </p:cSld>
  <p:clrMapOvr>
    <a:masterClrMapping/>
  </p:clrMapOvr>
</p:sld>
</file>

<file path=ppt/slides/slide7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1" descr="Capa accesible con el texto del SVG de la figura D.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48.8%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14.7%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43.1%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D.11.</a:t>
            </a:r>
          </a:p>
          <a:p>
            <a:pPr>
              <a:spcBef>
                <a:spcPts val="0"/>
              </a:spcBef>
              <a:spcAft>
                <a:spcPts val="0"/>
              </a:spcAft>
            </a:pPr>
            <a:r>
              <a:rPr sz="100">
                <a:solidFill>
                  <a:srgbClr val="FFFFFF"/>
                </a:solidFill>
                <a:latin typeface="Noto Sans"/>
              </a:rPr>
              <a:t>Seguridad percibida al compartir información en redes sociales,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71</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1" descr="Capa accesible con el texto del SVG de la figura E.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E.1</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75.7</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Figura E.1.</a:t>
            </a:r>
          </a:p>
          <a:p>
            <a:pPr>
              <a:spcBef>
                <a:spcPts val="0"/>
              </a:spcBef>
              <a:spcAft>
                <a:spcPts val="0"/>
              </a:spcAft>
            </a:pPr>
            <a:r>
              <a:rPr sz="100">
                <a:solidFill>
                  <a:srgbClr val="FFFFFF"/>
                </a:solidFill>
                <a:latin typeface="Noto Sans"/>
              </a:rPr>
              <a:t>Índice General de Satisfacción (IGS) por servicio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Segunda Encuesta 2025,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de entrevistas aplicadas durante 2024. Indicadores medidos en una escala de 0 a 100 puntos.</a:t>
            </a:r>
          </a:p>
        </p:txBody>
      </p:sp>
      <p:pic>
        <p:nvPicPr>
          <p:cNvPr id="223"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72</a:t>
            </a:r>
          </a:p>
        </p:txBody>
      </p:sp>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2" descr="Capa accesible con el texto del SVG de la figura E.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E.2</a:t>
            </a:r>
          </a:p>
          <a:p>
            <a:pPr>
              <a:spcBef>
                <a:spcPts val="0"/>
              </a:spcBef>
              <a:spcAft>
                <a:spcPts val="0"/>
              </a:spcAft>
            </a:pPr>
            <a:r>
              <a:rPr sz="100">
                <a:solidFill>
                  <a:srgbClr val="FFFFFF"/>
                </a:solidFill>
                <a:latin typeface="Noto Sans"/>
              </a:rPr>
              <a:t>Figura E.2.</a:t>
            </a:r>
          </a:p>
          <a:p>
            <a:pPr>
              <a:spcBef>
                <a:spcPts val="0"/>
              </a:spcBef>
              <a:spcAft>
                <a:spcPts val="0"/>
              </a:spcAft>
            </a:pPr>
            <a:r>
              <a:rPr sz="100">
                <a:solidFill>
                  <a:srgbClr val="FFFFFF"/>
                </a:solidFill>
                <a:latin typeface="Noto Sans"/>
              </a:rPr>
              <a:t>Principales hallazgos de la Inteligencia Artificial (IA) y ChatGPT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Estudio Cualitativo Conocimiento y Percepción sobre la Inteligencia Artificial (IA) y ChatGPT 2023.</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cualitativos de grupos de enfoque; no representan estimaciones poblacionales.</a:t>
            </a:r>
          </a:p>
          <a:p>
            <a:pPr>
              <a:spcBef>
                <a:spcPts val="0"/>
              </a:spcBef>
              <a:spcAft>
                <a:spcPts val="0"/>
              </a:spcAft>
            </a:pPr>
            <a:r>
              <a:rPr sz="100">
                <a:solidFill>
                  <a:srgbClr val="FFFFFF"/>
                </a:solidFill>
                <a:latin typeface="Noto Sans"/>
              </a:rPr>
              <a:t>› Es accesible, amigable y aporta beneficios en</a:t>
            </a:r>
          </a:p>
          <a:p>
            <a:pPr>
              <a:spcBef>
                <a:spcPts val="0"/>
              </a:spcBef>
              <a:spcAft>
                <a:spcPts val="0"/>
              </a:spcAft>
            </a:pPr>
            <a:r>
              <a:rPr sz="100">
                <a:solidFill>
                  <a:srgbClr val="FFFFFF"/>
                </a:solidFill>
                <a:latin typeface="Noto Sans"/>
              </a:rPr>
              <a:t>áreas laborales, escolares, de salud y del hogar.</a:t>
            </a:r>
          </a:p>
          <a:p>
            <a:pPr>
              <a:spcBef>
                <a:spcPts val="0"/>
              </a:spcBef>
              <a:spcAft>
                <a:spcPts val="0"/>
              </a:spcAft>
            </a:pPr>
            <a:r>
              <a:rPr sz="100">
                <a:solidFill>
                  <a:srgbClr val="FFFFFF"/>
                </a:solidFill>
                <a:latin typeface="Noto Sans"/>
              </a:rPr>
              <a:t>› Los programas se reconocen en categorías de</a:t>
            </a:r>
          </a:p>
          <a:p>
            <a:pPr>
              <a:spcBef>
                <a:spcPts val="0"/>
              </a:spcBef>
              <a:spcAft>
                <a:spcPts val="0"/>
              </a:spcAft>
            </a:pPr>
            <a:r>
              <a:rPr sz="100">
                <a:solidFill>
                  <a:srgbClr val="FFFFFF"/>
                </a:solidFill>
                <a:latin typeface="Noto Sans"/>
              </a:rPr>
              <a:t>texto, creación de presentaciones o contenido, y</a:t>
            </a:r>
          </a:p>
          <a:p>
            <a:pPr>
              <a:spcBef>
                <a:spcPts val="0"/>
              </a:spcBef>
              <a:spcAft>
                <a:spcPts val="0"/>
              </a:spcAft>
            </a:pPr>
            <a:r>
              <a:rPr sz="100">
                <a:solidFill>
                  <a:srgbClr val="FFFFFF"/>
                </a:solidFill>
                <a:latin typeface="Noto Sans"/>
              </a:rPr>
              <a:t>aplicaciones especializadas.</a:t>
            </a:r>
          </a:p>
          <a:p>
            <a:pPr>
              <a:spcBef>
                <a:spcPts val="0"/>
              </a:spcBef>
              <a:spcAft>
                <a:spcPts val="0"/>
              </a:spcAft>
            </a:pPr>
            <a:r>
              <a:rPr sz="100">
                <a:solidFill>
                  <a:srgbClr val="FFFFFF"/>
                </a:solidFill>
                <a:latin typeface="Noto Sans"/>
              </a:rPr>
              <a:t>› Las principales preocupaciones son la</a:t>
            </a:r>
          </a:p>
          <a:p>
            <a:pPr>
              <a:spcBef>
                <a:spcPts val="0"/>
              </a:spcBef>
              <a:spcAft>
                <a:spcPts val="0"/>
              </a:spcAft>
            </a:pPr>
            <a:r>
              <a:rPr sz="100">
                <a:solidFill>
                  <a:srgbClr val="FFFFFF"/>
                </a:solidFill>
                <a:latin typeface="Noto Sans"/>
              </a:rPr>
              <a:t>privacidad, los ciberdelitos y la necesidad de</a:t>
            </a:r>
          </a:p>
          <a:p>
            <a:pPr>
              <a:spcBef>
                <a:spcPts val="0"/>
              </a:spcBef>
              <a:spcAft>
                <a:spcPts val="0"/>
              </a:spcAft>
            </a:pPr>
            <a:r>
              <a:rPr sz="100">
                <a:solidFill>
                  <a:srgbClr val="FFFFFF"/>
                </a:solidFill>
                <a:latin typeface="Noto Sans"/>
              </a:rPr>
              <a:t>regulación.</a:t>
            </a:r>
          </a:p>
          <a:p>
            <a:pPr>
              <a:spcBef>
                <a:spcPts val="0"/>
              </a:spcBef>
              <a:spcAft>
                <a:spcPts val="0"/>
              </a:spcAft>
            </a:pPr>
            <a:r>
              <a:rPr sz="100">
                <a:solidFill>
                  <a:srgbClr val="FFFFFF"/>
                </a:solidFill>
                <a:latin typeface="Noto Sans"/>
              </a:rPr>
              <a:t>› Es el programa de Inteligencia Artificial más</a:t>
            </a:r>
          </a:p>
          <a:p>
            <a:pPr>
              <a:spcBef>
                <a:spcPts val="0"/>
              </a:spcBef>
              <a:spcAft>
                <a:spcPts val="0"/>
              </a:spcAft>
            </a:pPr>
            <a:r>
              <a:rPr sz="100">
                <a:solidFill>
                  <a:srgbClr val="FFFFFF"/>
                </a:solidFill>
                <a:latin typeface="Noto Sans"/>
              </a:rPr>
              <a:t>conocido y utilizado por las personas participantes.</a:t>
            </a:r>
          </a:p>
          <a:p>
            <a:pPr>
              <a:spcBef>
                <a:spcPts val="0"/>
              </a:spcBef>
              <a:spcAft>
                <a:spcPts val="0"/>
              </a:spcAft>
            </a:pPr>
            <a:r>
              <a:rPr sz="100">
                <a:solidFill>
                  <a:srgbClr val="FFFFFF"/>
                </a:solidFill>
                <a:latin typeface="Noto Sans"/>
              </a:rPr>
              <a:t>› Destaca por resolver dudas y redactar información</a:t>
            </a:r>
          </a:p>
          <a:p>
            <a:pPr>
              <a:spcBef>
                <a:spcPts val="0"/>
              </a:spcBef>
              <a:spcAft>
                <a:spcPts val="0"/>
              </a:spcAft>
            </a:pPr>
            <a:r>
              <a:rPr sz="100">
                <a:solidFill>
                  <a:srgbClr val="FFFFFF"/>
                </a:solidFill>
                <a:latin typeface="Noto Sans"/>
              </a:rPr>
              <a:t>concreta, organizada y sintetizada con rapidez.</a:t>
            </a:r>
          </a:p>
          <a:p>
            <a:pPr>
              <a:spcBef>
                <a:spcPts val="0"/>
              </a:spcBef>
              <a:spcAft>
                <a:spcPts val="0"/>
              </a:spcAft>
            </a:pPr>
            <a:r>
              <a:rPr sz="100">
                <a:solidFill>
                  <a:srgbClr val="FFFFFF"/>
                </a:solidFill>
                <a:latin typeface="Noto Sans"/>
              </a:rPr>
              <a:t>› Resulta atractivo para consultas laborales,</a:t>
            </a:r>
          </a:p>
          <a:p>
            <a:pPr>
              <a:spcBef>
                <a:spcPts val="0"/>
              </a:spcBef>
              <a:spcAft>
                <a:spcPts val="0"/>
              </a:spcAft>
            </a:pPr>
            <a:r>
              <a:rPr sz="100">
                <a:solidFill>
                  <a:srgbClr val="FFFFFF"/>
                </a:solidFill>
                <a:latin typeface="Noto Sans"/>
              </a:rPr>
              <a:t>escolares, de investigación y de la vida cotidiana.</a:t>
            </a:r>
          </a:p>
          <a:p>
            <a:pPr>
              <a:spcBef>
                <a:spcPts val="0"/>
              </a:spcBef>
              <a:spcAft>
                <a:spcPts val="0"/>
              </a:spcAft>
            </a:pPr>
            <a:r>
              <a:rPr sz="100">
                <a:solidFill>
                  <a:srgbClr val="FFFFFF"/>
                </a:solidFill>
                <a:latin typeface="Noto Sans"/>
              </a:rPr>
              <a:t>› Entre las desventajas se mencionan respuestas</a:t>
            </a:r>
          </a:p>
          <a:p>
            <a:pPr>
              <a:spcBef>
                <a:spcPts val="0"/>
              </a:spcBef>
              <a:spcAft>
                <a:spcPts val="0"/>
              </a:spcAft>
            </a:pPr>
            <a:r>
              <a:rPr sz="100">
                <a:solidFill>
                  <a:srgbClr val="FFFFFF"/>
                </a:solidFill>
                <a:latin typeface="Noto Sans"/>
              </a:rPr>
              <a:t>incompletas o imprecisas, hackeo, privacidad, fraude</a:t>
            </a:r>
          </a:p>
          <a:p>
            <a:pPr>
              <a:spcBef>
                <a:spcPts val="0"/>
              </a:spcBef>
              <a:spcAft>
                <a:spcPts val="0"/>
              </a:spcAft>
            </a:pPr>
            <a:r>
              <a:rPr sz="100">
                <a:solidFill>
                  <a:srgbClr val="FFFFFF"/>
                </a:solidFill>
                <a:latin typeface="Noto Sans"/>
              </a:rPr>
              <a:t>y ciberdelitos.</a:t>
            </a:r>
          </a:p>
          <a:p>
            <a:pPr>
              <a:spcBef>
                <a:spcPts val="0"/>
              </a:spcBef>
              <a:spcAft>
                <a:spcPts val="0"/>
              </a:spcAft>
            </a:pPr>
            <a:r>
              <a:rPr sz="100">
                <a:solidFill>
                  <a:srgbClr val="FFFFFF"/>
                </a:solidFill>
                <a:latin typeface="Noto Sans"/>
              </a:rPr>
              <a:t>IA</a:t>
            </a:r>
          </a:p>
          <a:p>
            <a:pPr>
              <a:spcBef>
                <a:spcPts val="0"/>
              </a:spcBef>
              <a:spcAft>
                <a:spcPts val="0"/>
              </a:spcAft>
            </a:pPr>
            <a:r>
              <a:rPr sz="100">
                <a:solidFill>
                  <a:srgbClr val="FFFFFF"/>
                </a:solidFill>
                <a:latin typeface="Noto Sans"/>
              </a:rPr>
              <a:t>GPT</a:t>
            </a:r>
          </a:p>
          <a:p>
            <a:pPr>
              <a:spcBef>
                <a:spcPts val="0"/>
              </a:spcBef>
              <a:spcAft>
                <a:spcPts val="0"/>
              </a:spcAft>
            </a:pPr>
            <a:r>
              <a:rPr sz="100">
                <a:solidFill>
                  <a:srgbClr val="FFFFFF"/>
                </a:solidFill>
                <a:latin typeface="Noto Sans"/>
              </a:rPr>
              <a:t>Inteligencia</a:t>
            </a:r>
          </a:p>
          <a:p>
            <a:pPr>
              <a:spcBef>
                <a:spcPts val="0"/>
              </a:spcBef>
              <a:spcAft>
                <a:spcPts val="0"/>
              </a:spcAft>
            </a:pPr>
            <a:r>
              <a:rPr sz="100">
                <a:solidFill>
                  <a:srgbClr val="FFFFFF"/>
                </a:solidFill>
                <a:latin typeface="Noto Sans"/>
              </a:rPr>
              <a:t>Artificial (IA)</a:t>
            </a:r>
          </a:p>
          <a:p>
            <a:pPr>
              <a:spcBef>
                <a:spcPts val="0"/>
              </a:spcBef>
              <a:spcAft>
                <a:spcPts val="0"/>
              </a:spcAft>
            </a:pPr>
            <a:r>
              <a:rPr sz="100">
                <a:solidFill>
                  <a:srgbClr val="FFFFFF"/>
                </a:solidFill>
                <a:latin typeface="Noto Sans"/>
              </a:rPr>
              <a:t>ChatGPT</a:t>
            </a:r>
          </a:p>
        </p:txBody>
      </p:sp>
      <p:pic>
        <p:nvPicPr>
          <p:cNvPr id="223"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73</a:t>
            </a:r>
          </a:p>
        </p:txBody>
      </p:sp>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3" descr="Capa accesible con el texto del SVG de la figura E.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76.9</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75.6</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76.8</a:t>
            </a:r>
          </a:p>
          <a:p>
            <a:pPr>
              <a:spcBef>
                <a:spcPts val="0"/>
              </a:spcBef>
              <a:spcAft>
                <a:spcPts val="0"/>
              </a:spcAft>
            </a:pPr>
            <a:r>
              <a:rPr sz="100">
                <a:solidFill>
                  <a:srgbClr val="FFFFFF"/>
                </a:solidFill>
                <a:latin typeface="Noto Sans"/>
              </a:rPr>
              <a:t>77.5</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E.3.</a:t>
            </a:r>
          </a:p>
          <a:p>
            <a:pPr>
              <a:spcBef>
                <a:spcPts val="0"/>
              </a:spcBef>
              <a:spcAft>
                <a:spcPts val="0"/>
              </a:spcAft>
            </a:pPr>
            <a:r>
              <a:rPr sz="100">
                <a:solidFill>
                  <a:srgbClr val="FFFFFF"/>
                </a:solidFill>
                <a:latin typeface="Noto Sans"/>
              </a:rPr>
              <a:t>Índice General de Satisfacción por servicio y tamaño de la empresa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Indicadores medidos en una escala de 0 a 100 puntos.</a:t>
            </a:r>
          </a:p>
        </p:txBody>
      </p:sp>
      <p:pic>
        <p:nvPicPr>
          <p:cNvPr id="223"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74</a:t>
            </a:r>
          </a:p>
        </p:txBody>
      </p:sp>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4" descr="Capa accesible con el texto del SVG de la figura E.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E.4</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89.4%</a:t>
            </a:r>
          </a:p>
          <a:p>
            <a:pPr>
              <a:spcBef>
                <a:spcPts val="0"/>
              </a:spcBef>
              <a:spcAft>
                <a:spcPts val="0"/>
              </a:spcAft>
            </a:pPr>
            <a:r>
              <a:rPr sz="100">
                <a:solidFill>
                  <a:srgbClr val="FFFFFF"/>
                </a:solidFill>
                <a:latin typeface="Noto Sans"/>
              </a:rPr>
              <a:t>95.3%</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69.0%</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29.0%</a:t>
            </a:r>
          </a:p>
          <a:p>
            <a:pPr>
              <a:spcBef>
                <a:spcPts val="0"/>
              </a:spcBef>
              <a:spcAft>
                <a:spcPts val="0"/>
              </a:spcAft>
            </a:pPr>
            <a:r>
              <a:rPr sz="100">
                <a:solidFill>
                  <a:srgbClr val="FFFFFF"/>
                </a:solidFill>
                <a:latin typeface="Noto Sans"/>
              </a:rPr>
              <a:t>25.4%</a:t>
            </a:r>
          </a:p>
          <a:p>
            <a:pPr>
              <a:spcBef>
                <a:spcPts val="0"/>
              </a:spcBef>
              <a:spcAft>
                <a:spcPts val="0"/>
              </a:spcAft>
            </a:pPr>
            <a:r>
              <a:rPr sz="100">
                <a:solidFill>
                  <a:srgbClr val="FFFFFF"/>
                </a:solidFill>
                <a:latin typeface="Noto Sans"/>
              </a:rPr>
              <a:t>27.0%</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95.2%</a:t>
            </a:r>
          </a:p>
          <a:p>
            <a:pPr>
              <a:spcBef>
                <a:spcPts val="0"/>
              </a:spcBef>
              <a:spcAft>
                <a:spcPts val="0"/>
              </a:spcAft>
            </a:pPr>
            <a:r>
              <a:rPr sz="100">
                <a:solidFill>
                  <a:srgbClr val="FFFFFF"/>
                </a:solidFill>
                <a:latin typeface="Noto Sans"/>
              </a:rPr>
              <a:t>78.4%</a:t>
            </a:r>
          </a:p>
          <a:p>
            <a:pPr>
              <a:spcBef>
                <a:spcPts val="0"/>
              </a:spcBef>
              <a:spcAft>
                <a:spcPts val="0"/>
              </a:spcAft>
            </a:pPr>
            <a:r>
              <a:rPr sz="100">
                <a:solidFill>
                  <a:srgbClr val="FFFFFF"/>
                </a:solidFill>
                <a:latin typeface="Noto Sans"/>
              </a:rPr>
              <a:t>68.3%</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28.7%</a:t>
            </a:r>
          </a:p>
          <a:p>
            <a:pPr>
              <a:spcBef>
                <a:spcPts val="0"/>
              </a:spcBef>
              <a:spcAft>
                <a:spcPts val="0"/>
              </a:spcAft>
            </a:pPr>
            <a:r>
              <a:rPr sz="100">
                <a:solidFill>
                  <a:srgbClr val="FFFFFF"/>
                </a:solidFill>
                <a:latin typeface="Noto Sans"/>
              </a:rPr>
              <a:t>25.7%</a:t>
            </a:r>
          </a:p>
          <a:p>
            <a:pPr>
              <a:spcBef>
                <a:spcPts val="0"/>
              </a:spcBef>
              <a:spcAft>
                <a:spcPts val="0"/>
              </a:spcAft>
            </a:pPr>
            <a:r>
              <a:rPr sz="100">
                <a:solidFill>
                  <a:srgbClr val="FFFFFF"/>
                </a:solidFill>
                <a:latin typeface="Noto Sans"/>
              </a:rPr>
              <a:t>27.4%</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89.8%</a:t>
            </a:r>
          </a:p>
          <a:p>
            <a:pPr>
              <a:spcBef>
                <a:spcPts val="0"/>
              </a:spcBef>
              <a:spcAft>
                <a:spcPts val="0"/>
              </a:spcAft>
            </a:pPr>
            <a:r>
              <a:rPr sz="100">
                <a:solidFill>
                  <a:srgbClr val="FFFFFF"/>
                </a:solidFill>
                <a:latin typeface="Noto Sans"/>
              </a:rPr>
              <a:t>96.3%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78.6%</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34.9%</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99.5%</a:t>
            </a:r>
          </a:p>
          <a:p>
            <a:pPr>
              <a:spcBef>
                <a:spcPts val="0"/>
              </a:spcBef>
              <a:spcAft>
                <a:spcPts val="0"/>
              </a:spcAft>
            </a:pPr>
            <a:r>
              <a:rPr sz="100">
                <a:solidFill>
                  <a:srgbClr val="FFFFFF"/>
                </a:solidFill>
                <a:latin typeface="Noto Sans"/>
              </a:rPr>
              <a:t>98.1%</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31.9%</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Figura E.4.</a:t>
            </a:r>
          </a:p>
          <a:p>
            <a:pPr>
              <a:spcBef>
                <a:spcPts val="0"/>
              </a:spcBef>
              <a:spcAft>
                <a:spcPts val="0"/>
              </a:spcAft>
            </a:pPr>
            <a:r>
              <a:rPr sz="100">
                <a:solidFill>
                  <a:srgbClr val="FFFFFF"/>
                </a:solidFill>
                <a:latin typeface="Noto Sans"/>
              </a:rPr>
              <a:t>Servicios de telecomunicaciones que contratan las MiPymes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 En 2024 no se publicó Datos móviles como categoría separada.</a:t>
            </a:r>
          </a:p>
        </p:txBody>
      </p:sp>
      <p:pic>
        <p:nvPicPr>
          <p:cNvPr id="223"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75</a:t>
            </a:r>
          </a:p>
        </p:txBody>
      </p:sp>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5" descr="Capa accesible con el texto del SVG de la figura E.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E.5</a:t>
            </a:r>
          </a:p>
          <a:p>
            <a:pPr>
              <a:spcBef>
                <a:spcPts val="0"/>
              </a:spcBef>
              <a:spcAft>
                <a:spcPts val="0"/>
              </a:spcAft>
            </a:pPr>
            <a:r>
              <a:rPr sz="100">
                <a:solidFill>
                  <a:srgbClr val="FFFFFF"/>
                </a:solidFill>
                <a:latin typeface="Noto Sans"/>
              </a:rPr>
              <a:t>Más gente conoce la empresa</a:t>
            </a:r>
          </a:p>
          <a:p>
            <a:pPr>
              <a:spcBef>
                <a:spcPts val="0"/>
              </a:spcBef>
              <a:spcAft>
                <a:spcPts val="0"/>
              </a:spcAft>
            </a:pPr>
            <a:r>
              <a:rPr sz="100">
                <a:solidFill>
                  <a:srgbClr val="FFFFFF"/>
                </a:solidFill>
                <a:latin typeface="Noto Sans"/>
              </a:rPr>
              <a:t>Están más cerca de sus</a:t>
            </a:r>
          </a:p>
          <a:p>
            <a:pPr>
              <a:spcBef>
                <a:spcPts val="0"/>
              </a:spcBef>
              <a:spcAft>
                <a:spcPts val="0"/>
              </a:spcAft>
            </a:pPr>
            <a:r>
              <a:rPr sz="100">
                <a:solidFill>
                  <a:srgbClr val="FFFFFF"/>
                </a:solidFill>
                <a:latin typeface="Noto Sans"/>
              </a:rPr>
              <a:t>clientes/consumidores</a:t>
            </a:r>
          </a:p>
          <a:p>
            <a:pPr>
              <a:spcBef>
                <a:spcPts val="0"/>
              </a:spcBef>
              <a:spcAft>
                <a:spcPts val="0"/>
              </a:spcAft>
            </a:pPr>
            <a:r>
              <a:rPr sz="100">
                <a:solidFill>
                  <a:srgbClr val="FFFFFF"/>
                </a:solidFill>
                <a:latin typeface="Noto Sans"/>
              </a:rPr>
              <a:t>Hay más ventas/clientes</a:t>
            </a:r>
          </a:p>
          <a:p>
            <a:pPr>
              <a:spcBef>
                <a:spcPts val="0"/>
              </a:spcBef>
              <a:spcAft>
                <a:spcPts val="0"/>
              </a:spcAft>
            </a:pPr>
            <a:r>
              <a:rPr sz="100">
                <a:solidFill>
                  <a:srgbClr val="FFFFFF"/>
                </a:solidFill>
                <a:latin typeface="Noto Sans"/>
              </a:rPr>
              <a:t>Disminución de costos al</a:t>
            </a:r>
          </a:p>
          <a:p>
            <a:pPr>
              <a:spcBef>
                <a:spcPts val="0"/>
              </a:spcBef>
              <a:spcAft>
                <a:spcPts val="0"/>
              </a:spcAft>
            </a:pPr>
            <a:r>
              <a:rPr sz="100">
                <a:solidFill>
                  <a:srgbClr val="FFFFFF"/>
                </a:solidFill>
                <a:latin typeface="Noto Sans"/>
              </a:rPr>
              <a:t>encontrar mejores proveedores</a:t>
            </a:r>
          </a:p>
          <a:p>
            <a:pPr>
              <a:spcBef>
                <a:spcPts val="0"/>
              </a:spcBef>
              <a:spcAft>
                <a:spcPts val="0"/>
              </a:spcAft>
            </a:pPr>
            <a:r>
              <a:rPr sz="100">
                <a:solidFill>
                  <a:srgbClr val="FFFFFF"/>
                </a:solidFill>
                <a:latin typeface="Noto Sans"/>
              </a:rPr>
              <a:t>Desarrollar nuevos productos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Entrega más rápida o menos</a:t>
            </a:r>
          </a:p>
          <a:p>
            <a:pPr>
              <a:spcBef>
                <a:spcPts val="0"/>
              </a:spcBef>
              <a:spcAft>
                <a:spcPts val="0"/>
              </a:spcAft>
            </a:pPr>
            <a:r>
              <a:rPr sz="100">
                <a:solidFill>
                  <a:srgbClr val="FFFFFF"/>
                </a:solidFill>
                <a:latin typeface="Noto Sans"/>
              </a:rPr>
              <a:t>costosa</a:t>
            </a:r>
          </a:p>
          <a:p>
            <a:pPr>
              <a:spcBef>
                <a:spcPts val="0"/>
              </a:spcBef>
              <a:spcAft>
                <a:spcPts val="0"/>
              </a:spcAft>
            </a:pPr>
            <a:r>
              <a:rPr sz="100">
                <a:solidFill>
                  <a:srgbClr val="FFFFFF"/>
                </a:solidFill>
                <a:latin typeface="Noto Sans"/>
              </a:rPr>
              <a:t>Los empleados hacen más en el</a:t>
            </a:r>
          </a:p>
          <a:p>
            <a:pPr>
              <a:spcBef>
                <a:spcPts val="0"/>
              </a:spcBef>
              <a:spcAft>
                <a:spcPts val="0"/>
              </a:spcAft>
            </a:pPr>
            <a:r>
              <a:rPr sz="100">
                <a:solidFill>
                  <a:srgbClr val="FFFFFF"/>
                </a:solidFill>
                <a:latin typeface="Noto Sans"/>
              </a:rPr>
              <a:t>mismo tiempo</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E.5.</a:t>
            </a:r>
          </a:p>
          <a:p>
            <a:pPr>
              <a:spcBef>
                <a:spcPts val="0"/>
              </a:spcBef>
              <a:spcAft>
                <a:spcPts val="0"/>
              </a:spcAft>
            </a:pPr>
            <a:r>
              <a:rPr sz="100">
                <a:solidFill>
                  <a:srgbClr val="FFFFFF"/>
                </a:solidFill>
                <a:latin typeface="Noto Sans"/>
              </a:rPr>
              <a:t>Beneficios de contar con Internet fijo y/o telefonía fija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Promedios ponderados en escala de 0 a 10; se excluyen No sabe/No contestó.</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Telefonía fija</a:t>
            </a:r>
          </a:p>
        </p:txBody>
      </p:sp>
      <p:pic>
        <p:nvPicPr>
          <p:cNvPr id="223"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76</a:t>
            </a:r>
          </a:p>
        </p:txBody>
      </p:sp>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6" descr="Capa accesible con el texto del SVG de la figura E.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E.6</a:t>
            </a:r>
          </a:p>
          <a:p>
            <a:pPr>
              <a:spcBef>
                <a:spcPts val="0"/>
              </a:spcBef>
              <a:spcAft>
                <a:spcPts val="0"/>
              </a:spcAft>
            </a:pPr>
            <a:r>
              <a:rPr sz="100">
                <a:solidFill>
                  <a:srgbClr val="FFFFFF"/>
                </a:solidFill>
                <a:latin typeface="Noto Sans"/>
              </a:rPr>
              <a:t>Incremento de ventas</a:t>
            </a:r>
          </a:p>
          <a:p>
            <a:pPr>
              <a:spcBef>
                <a:spcPts val="0"/>
              </a:spcBef>
              <a:spcAft>
                <a:spcPts val="0"/>
              </a:spcAft>
            </a:pPr>
            <a:r>
              <a:rPr sz="100">
                <a:solidFill>
                  <a:srgbClr val="FFFFFF"/>
                </a:solidFill>
                <a:latin typeface="Noto Sans"/>
              </a:rPr>
              <a:t>Ampliar canales de</a:t>
            </a:r>
          </a:p>
          <a:p>
            <a:pPr>
              <a:spcBef>
                <a:spcPts val="0"/>
              </a:spcBef>
              <a:spcAft>
                <a:spcPts val="0"/>
              </a:spcAft>
            </a:pPr>
            <a:r>
              <a:rPr sz="100">
                <a:solidFill>
                  <a:srgbClr val="FFFFFF"/>
                </a:solidFill>
                <a:latin typeface="Noto Sans"/>
              </a:rPr>
              <a:t>venta</a:t>
            </a:r>
          </a:p>
          <a:p>
            <a:pPr>
              <a:spcBef>
                <a:spcPts val="0"/>
              </a:spcBef>
              <a:spcAft>
                <a:spcPts val="0"/>
              </a:spcAft>
            </a:pPr>
            <a:r>
              <a:rPr sz="100">
                <a:solidFill>
                  <a:srgbClr val="FFFFFF"/>
                </a:solidFill>
                <a:latin typeface="Noto Sans"/>
              </a:rPr>
              <a:t>Inclusión de marketing</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Rapidez de ventas o</a:t>
            </a:r>
          </a:p>
          <a:p>
            <a:pPr>
              <a:spcBef>
                <a:spcPts val="0"/>
              </a:spcBef>
              <a:spcAft>
                <a:spcPts val="0"/>
              </a:spcAft>
            </a:pPr>
            <a:r>
              <a:rPr sz="100">
                <a:solidFill>
                  <a:srgbClr val="FFFFFF"/>
                </a:solidFill>
                <a:latin typeface="Noto Sans"/>
              </a:rPr>
              <a:t>compras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65.7%</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66.2%</a:t>
            </a:r>
          </a:p>
          <a:p>
            <a:pPr>
              <a:spcBef>
                <a:spcPts val="0"/>
              </a:spcBef>
              <a:spcAft>
                <a:spcPts val="0"/>
              </a:spcAft>
            </a:pPr>
            <a:r>
              <a:rPr sz="100">
                <a:solidFill>
                  <a:srgbClr val="FFFFFF"/>
                </a:solidFill>
                <a:latin typeface="Noto Sans"/>
              </a:rPr>
              <a:t>16.9%</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57.2%</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20.1%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E.6.</a:t>
            </a:r>
          </a:p>
          <a:p>
            <a:pPr>
              <a:spcBef>
                <a:spcPts val="0"/>
              </a:spcBef>
              <a:spcAft>
                <a:spcPts val="0"/>
              </a:spcAft>
            </a:pPr>
            <a:r>
              <a:rPr sz="100">
                <a:solidFill>
                  <a:srgbClr val="FFFFFF"/>
                </a:solidFill>
                <a:latin typeface="Noto Sans"/>
              </a:rPr>
              <a:t>Beneficios de vender a través de Internet fijo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se excluye No sabe/No contestó, por lo que la suma no da 100%.</a:t>
            </a:r>
          </a:p>
        </p:txBody>
      </p:sp>
      <p:pic>
        <p:nvPicPr>
          <p:cNvPr id="223"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77</a:t>
            </a:r>
          </a:p>
        </p:txBody>
      </p:sp>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7" descr="Capa accesible con el texto del SVG de la figura E.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E.7</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98.5%</a:t>
            </a:r>
          </a:p>
          <a:p>
            <a:pPr>
              <a:spcBef>
                <a:spcPts val="0"/>
              </a:spcBef>
              <a:spcAft>
                <a:spcPts val="0"/>
              </a:spcAft>
            </a:pPr>
            <a:r>
              <a:rPr sz="100">
                <a:solidFill>
                  <a:srgbClr val="FFFFFF"/>
                </a:solidFill>
                <a:latin typeface="Noto Sans"/>
              </a:rPr>
              <a:t>98.7%</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95.7%</a:t>
            </a:r>
          </a:p>
          <a:p>
            <a:pPr>
              <a:spcBef>
                <a:spcPts val="0"/>
              </a:spcBef>
              <a:spcAft>
                <a:spcPts val="0"/>
              </a:spcAft>
            </a:pPr>
            <a:r>
              <a:rPr sz="100">
                <a:solidFill>
                  <a:srgbClr val="FFFFFF"/>
                </a:solidFill>
                <a:latin typeface="Noto Sans"/>
              </a:rPr>
              <a:t>95.6%</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93.7%</a:t>
            </a:r>
          </a:p>
          <a:p>
            <a:pPr>
              <a:spcBef>
                <a:spcPts val="0"/>
              </a:spcBef>
              <a:spcAft>
                <a:spcPts val="0"/>
              </a:spcAft>
            </a:pPr>
            <a:r>
              <a:rPr sz="100">
                <a:solidFill>
                  <a:srgbClr val="FFFFFF"/>
                </a:solidFill>
                <a:latin typeface="Noto Sans"/>
              </a:rPr>
              <a:t>Teléfonos móviles inteligentes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49.1%</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74.1%</a:t>
            </a:r>
          </a:p>
          <a:p>
            <a:pPr>
              <a:spcBef>
                <a:spcPts val="0"/>
              </a:spcBef>
              <a:spcAft>
                <a:spcPts val="0"/>
              </a:spcAft>
            </a:pPr>
            <a:r>
              <a:rPr sz="100">
                <a:solidFill>
                  <a:srgbClr val="FFFFFF"/>
                </a:solidFill>
                <a:latin typeface="Noto Sans"/>
              </a:rPr>
              <a:t>93.3%</a:t>
            </a:r>
          </a:p>
          <a:p>
            <a:pPr>
              <a:spcBef>
                <a:spcPts val="0"/>
              </a:spcBef>
              <a:spcAft>
                <a:spcPts val="0"/>
              </a:spcAft>
            </a:pPr>
            <a:r>
              <a:rPr sz="100">
                <a:solidFill>
                  <a:srgbClr val="FFFFFF"/>
                </a:solidFill>
                <a:latin typeface="Noto Sans"/>
              </a:rPr>
              <a:t>51.3%</a:t>
            </a:r>
          </a:p>
          <a:p>
            <a:pPr>
              <a:spcBef>
                <a:spcPts val="0"/>
              </a:spcBef>
              <a:spcAft>
                <a:spcPts val="0"/>
              </a:spcAft>
            </a:pPr>
            <a:r>
              <a:rPr sz="100">
                <a:solidFill>
                  <a:srgbClr val="FFFFFF"/>
                </a:solidFill>
                <a:latin typeface="Noto Sans"/>
              </a:rPr>
              <a:t>49.7%</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Computadoras de escritorio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54.2%</a:t>
            </a:r>
          </a:p>
          <a:p>
            <a:pPr>
              <a:spcBef>
                <a:spcPts val="0"/>
              </a:spcBef>
              <a:spcAft>
                <a:spcPts val="0"/>
              </a:spcAft>
            </a:pPr>
            <a:r>
              <a:rPr sz="100">
                <a:solidFill>
                  <a:srgbClr val="FFFFFF"/>
                </a:solidFill>
                <a:latin typeface="Noto Sans"/>
              </a:rPr>
              <a:t>60.7%</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61.8%</a:t>
            </a:r>
          </a:p>
          <a:p>
            <a:pPr>
              <a:spcBef>
                <a:spcPts val="0"/>
              </a:spcBef>
              <a:spcAft>
                <a:spcPts val="0"/>
              </a:spcAft>
            </a:pPr>
            <a:r>
              <a:rPr sz="100">
                <a:solidFill>
                  <a:srgbClr val="FFFFFF"/>
                </a:solidFill>
                <a:latin typeface="Noto Sans"/>
              </a:rPr>
              <a:t>Terminal punto de venta, clip o</a:t>
            </a:r>
          </a:p>
          <a:p>
            <a:pPr>
              <a:spcBef>
                <a:spcPts val="0"/>
              </a:spcBef>
              <a:spcAft>
                <a:spcPts val="0"/>
              </a:spcAft>
            </a:pPr>
            <a:r>
              <a:rPr sz="100">
                <a:solidFill>
                  <a:srgbClr val="FFFFFF"/>
                </a:solidFill>
                <a:latin typeface="Noto Sans"/>
              </a:rPr>
              <a:t>tableta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41.9%</a:t>
            </a:r>
          </a:p>
          <a:p>
            <a:pPr>
              <a:spcBef>
                <a:spcPts val="0"/>
              </a:spcBef>
              <a:spcAft>
                <a:spcPts val="0"/>
              </a:spcAft>
            </a:pPr>
            <a:r>
              <a:rPr sz="100">
                <a:solidFill>
                  <a:srgbClr val="FFFFFF"/>
                </a:solidFill>
                <a:latin typeface="Noto Sans"/>
              </a:rPr>
              <a:t>40.5%</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73.6%</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36.7%</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59.1%</a:t>
            </a:r>
          </a:p>
          <a:p>
            <a:pPr>
              <a:spcBef>
                <a:spcPts val="0"/>
              </a:spcBef>
              <a:spcAft>
                <a:spcPts val="0"/>
              </a:spcAft>
            </a:pPr>
            <a:r>
              <a:rPr sz="100">
                <a:solidFill>
                  <a:srgbClr val="FFFFFF"/>
                </a:solidFill>
                <a:latin typeface="Noto Sans"/>
              </a:rPr>
              <a:t>Laptop</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34.3%</a:t>
            </a:r>
          </a:p>
          <a:p>
            <a:pPr>
              <a:spcBef>
                <a:spcPts val="0"/>
              </a:spcBef>
              <a:spcAft>
                <a:spcPts val="0"/>
              </a:spcAft>
            </a:pPr>
            <a:r>
              <a:rPr sz="100">
                <a:solidFill>
                  <a:srgbClr val="FFFFFF"/>
                </a:solidFill>
                <a:latin typeface="Noto Sans"/>
              </a:rPr>
              <a:t>33.8%</a:t>
            </a:r>
          </a:p>
          <a:p>
            <a:pPr>
              <a:spcBef>
                <a:spcPts val="0"/>
              </a:spcBef>
              <a:spcAft>
                <a:spcPts val="0"/>
              </a:spcAft>
            </a:pPr>
            <a:r>
              <a:rPr sz="100">
                <a:solidFill>
                  <a:srgbClr val="FFFFFF"/>
                </a:solidFill>
                <a:latin typeface="Noto Sans"/>
              </a:rPr>
              <a:t>44.7%</a:t>
            </a:r>
          </a:p>
          <a:p>
            <a:pPr>
              <a:spcBef>
                <a:spcPts val="0"/>
              </a:spcBef>
              <a:spcAft>
                <a:spcPts val="0"/>
              </a:spcAft>
            </a:pPr>
            <a:r>
              <a:rPr sz="100">
                <a:solidFill>
                  <a:srgbClr val="FFFFFF"/>
                </a:solidFill>
                <a:latin typeface="Noto Sans"/>
              </a:rPr>
              <a:t>46.7%</a:t>
            </a:r>
          </a:p>
          <a:p>
            <a:pPr>
              <a:spcBef>
                <a:spcPts val="0"/>
              </a:spcBef>
              <a:spcAft>
                <a:spcPts val="0"/>
              </a:spcAft>
            </a:pPr>
            <a:r>
              <a:rPr sz="100">
                <a:solidFill>
                  <a:srgbClr val="FFFFFF"/>
                </a:solidFill>
                <a:latin typeface="Noto Sans"/>
              </a:rPr>
              <a:t>31.2%</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45.6%</a:t>
            </a:r>
          </a:p>
          <a:p>
            <a:pPr>
              <a:spcBef>
                <a:spcPts val="0"/>
              </a:spcBef>
              <a:spcAft>
                <a:spcPts val="0"/>
              </a:spcAft>
            </a:pPr>
            <a:r>
              <a:rPr sz="100">
                <a:solidFill>
                  <a:srgbClr val="FFFFFF"/>
                </a:solidFill>
                <a:latin typeface="Noto Sans"/>
              </a:rPr>
              <a:t>41.4%</a:t>
            </a:r>
          </a:p>
          <a:p>
            <a:pPr>
              <a:spcBef>
                <a:spcPts val="0"/>
              </a:spcBef>
              <a:spcAft>
                <a:spcPts val="0"/>
              </a:spcAft>
            </a:pPr>
            <a:r>
              <a:rPr sz="100">
                <a:solidFill>
                  <a:srgbClr val="FFFFFF"/>
                </a:solidFill>
                <a:latin typeface="Noto Sans"/>
              </a:rPr>
              <a:t>Teléfonos móviles análogos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33.6%</a:t>
            </a:r>
          </a:p>
          <a:p>
            <a:pPr>
              <a:spcBef>
                <a:spcPts val="0"/>
              </a:spcBef>
              <a:spcAft>
                <a:spcPts val="0"/>
              </a:spcAft>
            </a:pPr>
            <a:r>
              <a:rPr sz="100">
                <a:solidFill>
                  <a:srgbClr val="FFFFFF"/>
                </a:solidFill>
                <a:latin typeface="Noto Sans"/>
              </a:rPr>
              <a:t>56.4%</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36.0%</a:t>
            </a:r>
          </a:p>
          <a:p>
            <a:pPr>
              <a:spcBef>
                <a:spcPts val="0"/>
              </a:spcBef>
              <a:spcAft>
                <a:spcPts val="0"/>
              </a:spcAft>
            </a:pPr>
            <a:r>
              <a:rPr sz="100">
                <a:solidFill>
                  <a:srgbClr val="FFFFFF"/>
                </a:solidFill>
                <a:latin typeface="Noto Sans"/>
              </a:rPr>
              <a:t>44.1%</a:t>
            </a:r>
          </a:p>
          <a:p>
            <a:pPr>
              <a:spcBef>
                <a:spcPts val="0"/>
              </a:spcBef>
              <a:spcAft>
                <a:spcPts val="0"/>
              </a:spcAft>
            </a:pPr>
            <a:r>
              <a:rPr sz="100">
                <a:solidFill>
                  <a:srgbClr val="FFFFFF"/>
                </a:solidFill>
                <a:latin typeface="Noto Sans"/>
              </a:rPr>
              <a:t>Servidores de almacenamiento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E.7.</a:t>
            </a:r>
          </a:p>
          <a:p>
            <a:pPr>
              <a:spcBef>
                <a:spcPts val="0"/>
              </a:spcBef>
              <a:spcAft>
                <a:spcPts val="0"/>
              </a:spcAft>
            </a:pPr>
            <a:r>
              <a:rPr sz="100">
                <a:solidFill>
                  <a:srgbClr val="FFFFFF"/>
                </a:solidFill>
                <a:latin typeface="Noto Sans"/>
              </a:rPr>
              <a:t>Dispositivos que usan las MiPymes para realizar sus actividades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a:t>
            </a:r>
          </a:p>
        </p:txBody>
      </p:sp>
      <p:pic>
        <p:nvPicPr>
          <p:cNvPr id="223"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78</a:t>
            </a:r>
          </a:p>
        </p:txBody>
      </p:sp>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8" descr="Capa accesible con el texto del SVG de la figura E.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59.9%</a:t>
            </a:r>
          </a:p>
          <a:p>
            <a:pPr>
              <a:spcBef>
                <a:spcPts val="0"/>
              </a:spcBef>
              <a:spcAft>
                <a:spcPts val="0"/>
              </a:spcAft>
            </a:pPr>
            <a:r>
              <a:rPr sz="100">
                <a:solidFill>
                  <a:srgbClr val="FFFFFF"/>
                </a:solidFill>
                <a:latin typeface="Noto Sans"/>
              </a:rPr>
              <a:t>62.5%</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39.2%</a:t>
            </a:r>
          </a:p>
          <a:p>
            <a:pPr>
              <a:spcBef>
                <a:spcPts val="0"/>
              </a:spcBef>
              <a:spcAft>
                <a:spcPts val="0"/>
              </a:spcAft>
            </a:pPr>
            <a:r>
              <a:rPr sz="100">
                <a:solidFill>
                  <a:srgbClr val="FFFFFF"/>
                </a:solidFill>
                <a:latin typeface="Noto Sans"/>
              </a:rPr>
              <a:t>44.8%</a:t>
            </a:r>
          </a:p>
          <a:p>
            <a:pPr>
              <a:spcBef>
                <a:spcPts val="0"/>
              </a:spcBef>
              <a:spcAft>
                <a:spcPts val="0"/>
              </a:spcAft>
            </a:pPr>
            <a:r>
              <a:rPr sz="100">
                <a:solidFill>
                  <a:srgbClr val="FFFFFF"/>
                </a:solidFill>
                <a:latin typeface="Noto Sans"/>
              </a:rPr>
              <a:t>40.1%</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33.7%</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Figura E.8.</a:t>
            </a:r>
          </a:p>
          <a:p>
            <a:pPr>
              <a:spcBef>
                <a:spcPts val="0"/>
              </a:spcBef>
              <a:spcAft>
                <a:spcPts val="0"/>
              </a:spcAft>
            </a:pPr>
            <a:r>
              <a:rPr sz="100">
                <a:solidFill>
                  <a:srgbClr val="FFFFFF"/>
                </a:solidFill>
                <a:latin typeface="Noto Sans"/>
              </a:rPr>
              <a:t>Beneficios de contar con una aplicación móvil para la empresa o negocio (2024)</a:t>
            </a:r>
          </a:p>
          <a:p>
            <a:pPr>
              <a:spcBef>
                <a:spcPts val="0"/>
              </a:spcBef>
              <a:spcAft>
                <a:spcPts val="0"/>
              </a:spcAft>
            </a:pPr>
            <a:r>
              <a:rPr sz="100">
                <a:solidFill>
                  <a:srgbClr val="FFFFFF"/>
                </a:solidFill>
                <a:latin typeface="Noto Sans"/>
              </a:rPr>
              <a:t>60.1%</a:t>
            </a:r>
          </a:p>
          <a:p>
            <a:pPr>
              <a:spcBef>
                <a:spcPts val="0"/>
              </a:spcBef>
              <a:spcAft>
                <a:spcPts val="0"/>
              </a:spcAft>
            </a:pPr>
            <a:r>
              <a:rPr sz="100">
                <a:solidFill>
                  <a:srgbClr val="FFFFFF"/>
                </a:solidFill>
                <a:latin typeface="Noto Sans"/>
              </a:rPr>
              <a:t>Contacto más rápido con</a:t>
            </a:r>
          </a:p>
          <a:p>
            <a:pPr>
              <a:spcBef>
                <a:spcPts val="0"/>
              </a:spcBef>
              <a:spcAft>
                <a:spcPts val="0"/>
              </a:spcAft>
            </a:pPr>
            <a:r>
              <a:rPr sz="100">
                <a:solidFill>
                  <a:srgbClr val="FFFFFF"/>
                </a:solidFill>
                <a:latin typeface="Noto Sans"/>
              </a:rPr>
              <a:t>clientes</a:t>
            </a:r>
          </a:p>
          <a:p>
            <a:pPr>
              <a:spcBef>
                <a:spcPts val="0"/>
              </a:spcBef>
              <a:spcAft>
                <a:spcPts val="0"/>
              </a:spcAft>
            </a:pPr>
            <a:r>
              <a:rPr sz="100">
                <a:solidFill>
                  <a:srgbClr val="FFFFFF"/>
                </a:solidFill>
                <a:latin typeface="Noto Sans"/>
              </a:rPr>
              <a:t>39.7%</a:t>
            </a:r>
          </a:p>
          <a:p>
            <a:pPr>
              <a:spcBef>
                <a:spcPts val="0"/>
              </a:spcBef>
              <a:spcAft>
                <a:spcPts val="0"/>
              </a:spcAft>
            </a:pPr>
            <a:r>
              <a:rPr sz="100">
                <a:solidFill>
                  <a:srgbClr val="FFFFFF"/>
                </a:solidFill>
                <a:latin typeface="Noto Sans"/>
              </a:rPr>
              <a:t>Solicitud de pedidos</a:t>
            </a:r>
          </a:p>
          <a:p>
            <a:pPr>
              <a:spcBef>
                <a:spcPts val="0"/>
              </a:spcBef>
              <a:spcAft>
                <a:spcPts val="0"/>
              </a:spcAft>
            </a:pPr>
            <a:r>
              <a:rPr sz="100">
                <a:solidFill>
                  <a:srgbClr val="FFFFFF"/>
                </a:solidFill>
                <a:latin typeface="Noto Sans"/>
              </a:rPr>
              <a:t>más ágil</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Mayor competitividad en</a:t>
            </a:r>
          </a:p>
          <a:p>
            <a:pPr>
              <a:spcBef>
                <a:spcPts val="0"/>
              </a:spcBef>
              <a:spcAft>
                <a:spcPts val="0"/>
              </a:spcAft>
            </a:pPr>
            <a:r>
              <a:rPr sz="100">
                <a:solidFill>
                  <a:srgbClr val="FFFFFF"/>
                </a:solidFill>
                <a:latin typeface="Noto Sans"/>
              </a:rPr>
              <a:t>el mercado</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Facilita el control de</a:t>
            </a:r>
          </a:p>
          <a:p>
            <a:pPr>
              <a:spcBef>
                <a:spcPts val="0"/>
              </a:spcBef>
              <a:spcAft>
                <a:spcPts val="0"/>
              </a:spcAft>
            </a:pPr>
            <a:r>
              <a:rPr sz="100">
                <a:solidFill>
                  <a:srgbClr val="FFFFFF"/>
                </a:solidFill>
                <a:latin typeface="Noto Sans"/>
              </a:rPr>
              <a:t>ventas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y múltiple, por lo que la suma no da 100%.</a:t>
            </a:r>
          </a:p>
        </p:txBody>
      </p:sp>
      <p:pic>
        <p:nvPicPr>
          <p:cNvPr id="223"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79</a:t>
            </a:r>
          </a:p>
        </p:txBody>
      </p:sp>
    </p:spTree>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9" descr="Capa accesible con el texto del SVG de la figura E.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E.9</a:t>
            </a:r>
          </a:p>
          <a:p>
            <a:pPr>
              <a:spcBef>
                <a:spcPts val="0"/>
              </a:spcBef>
              <a:spcAft>
                <a:spcPts val="0"/>
              </a:spcAft>
            </a:pPr>
            <a:r>
              <a:rPr sz="100">
                <a:solidFill>
                  <a:srgbClr val="FFFFFF"/>
                </a:solidFill>
                <a:latin typeface="Noto Sans"/>
              </a:rPr>
              <a:t>Conexión a Internet fijo</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Conexión a Internet</a:t>
            </a:r>
          </a:p>
          <a:p>
            <a:pPr>
              <a:spcBef>
                <a:spcPts val="0"/>
              </a:spcBef>
              <a:spcAft>
                <a:spcPts val="0"/>
              </a:spcAft>
            </a:pPr>
            <a:r>
              <a:rPr sz="100">
                <a:solidFill>
                  <a:srgbClr val="FFFFFF"/>
                </a:solidFill>
                <a:latin typeface="Noto Sans"/>
              </a:rPr>
              <a:t>por datos móviles</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Figura E.9.</a:t>
            </a:r>
          </a:p>
          <a:p>
            <a:pPr>
              <a:spcBef>
                <a:spcPts val="0"/>
              </a:spcBef>
              <a:spcAft>
                <a:spcPts val="0"/>
              </a:spcAft>
            </a:pPr>
            <a:r>
              <a:rPr sz="100">
                <a:solidFill>
                  <a:srgbClr val="FFFFFF"/>
                </a:solidFill>
                <a:latin typeface="Noto Sans"/>
              </a:rPr>
              <a:t>Servicios de telecomunicaciones que consideran más importantes las MiPymes para realizar actividades de importación y/o exportación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Contratación, percepción y uso de telecomunicaciones por MiPymes importadoras y/o exportadoras.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Debido a que se excluyen las menciones "No sabe/No contestó", la suma no da 100%.</a:t>
            </a:r>
          </a:p>
        </p:txBody>
      </p:sp>
      <p:pic>
        <p:nvPicPr>
          <p:cNvPr id="223"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F_OVERVIEW"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81</a:t>
            </a:r>
          </a:p>
        </p:txBody>
      </p:sp>
      <p:sp>
        <p:nvSpPr>
          <p:cNvPr id="227" name="ANUARIO_F_SOURCE"/>
          <p:cNvSpPr txBox="1"/>
          <p:nvPr/>
        </p:nvSpPr>
        <p:spPr>
          <a:xfrm>
            <a:off x="438912" y="667512"/>
            <a:ext cx="4572000" cy="155448"/>
          </a:xfrm>
          <a:prstGeom prst="rect">
            <a:avLst/>
          </a:prstGeom>
          <a:noFill/>
        </p:spPr>
        <p:txBody>
          <a:bodyPr wrap="square" anchor="t" lIns="0" rIns="0" tIns="0" bIns="0">
            <a:noAutofit/>
          </a:bodyPr>
          <a:lstStyle/>
          <a:p>
            <a:pPr>
              <a:lnSpc>
                <a:spcPct val="100000"/>
              </a:lnSpc>
              <a:spcBef>
                <a:spcPts val="0"/>
              </a:spcBef>
              <a:spcAft>
                <a:spcPts val="0"/>
              </a:spcAft>
            </a:pPr>
            <a:r>
              <a:rPr sz="710" b="0">
                <a:solidFill>
                  <a:srgbClr val="4F5B5C"/>
                </a:solidFill>
                <a:latin typeface="Noto Sans"/>
                <a:hlinkClick r:id="rId2"/>
              </a:rPr>
              <a:t>Fuente: INEGI, ENDUTIH 2025</a:t>
            </a:r>
          </a:p>
        </p:txBody>
      </p:sp>
      <p:sp>
        <p:nvSpPr>
          <p:cNvPr id="228" name="ANUARIO_F_CARD_SMARTPHONE"/>
          <p:cNvSpPr/>
          <p:nvPr/>
        </p:nvSpPr>
        <p:spPr>
          <a:xfrm>
            <a:off x="438912" y="932688"/>
            <a:ext cx="2596896" cy="3730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F_TITLE_SMARTPHONE"/>
          <p:cNvSpPr txBox="1"/>
          <p:nvPr/>
        </p:nvSpPr>
        <p:spPr>
          <a:xfrm>
            <a:off x="576072" y="1042416"/>
            <a:ext cx="2322576"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EL TELÉFONO CELULAR INTELIGENTE</a:t>
            </a:r>
          </a:p>
        </p:txBody>
      </p:sp>
      <p:sp>
        <p:nvSpPr>
          <p:cNvPr id="230" name="ANUARIO_F_BODY_SMARTPHONE"/>
          <p:cNvSpPr txBox="1"/>
          <p:nvPr/>
        </p:nvSpPr>
        <p:spPr>
          <a:xfrm>
            <a:off x="576072" y="1380744"/>
            <a:ext cx="2322576" cy="3191256"/>
          </a:xfrm>
          <a:prstGeom prst="rect">
            <a:avLst/>
          </a:prstGeom>
          <a:noFill/>
        </p:spPr>
        <p:txBody>
          <a:bodyPr wrap="square" anchor="t" lIns="0" rIns="0" tIns="0" bIns="0">
            <a:noAutofit/>
          </a:bodyPr>
          <a:lstStyle/>
          <a:p>
            <a:pPr>
              <a:lnSpc>
                <a:spcPct val="100000"/>
              </a:lnSpc>
              <a:spcBef>
                <a:spcPts val="0"/>
              </a:spcBef>
              <a:spcAft>
                <a:spcPts val="0"/>
              </a:spcAft>
            </a:pPr>
            <a:r>
              <a:rPr sz="760" b="0">
                <a:solidFill>
                  <a:srgbClr val="1F3031"/>
                </a:solidFill>
                <a:latin typeface="Noto Sans"/>
              </a:rPr>
              <a:t>Con base en los resultados de la ENDUTIH 2025, en México 52.7 millones de mujeres y 47.5 millones de hombres, ambos grupos refiriéndose a personas de 6 años o más, utilizaron Internet mediante su teléfono celular inteligente (</a:t>
            </a:r>
            <a:r>
              <a:rPr i="1" sz="760">
                <a:solidFill>
                  <a:srgbClr val="1F3031"/>
                </a:solidFill>
                <a:latin typeface="Noto Sans"/>
              </a:rPr>
              <a:t>Smartphone</a:t>
            </a:r>
            <a:r>
              <a:rPr sz="760" b="0">
                <a:solidFill>
                  <a:srgbClr val="1F3031"/>
                </a:solidFill>
                <a:latin typeface="Noto Sans"/>
              </a:rPr>
              <a:t>),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31" name="ANUARIO_F_CARD_INTERNET"/>
          <p:cNvSpPr/>
          <p:nvPr/>
        </p:nvSpPr>
        <p:spPr>
          <a:xfrm>
            <a:off x="3182112" y="932688"/>
            <a:ext cx="5504688" cy="1225296"/>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ANUARIO_F_TITLE_INTERNET"/>
          <p:cNvSpPr txBox="1"/>
          <p:nvPr/>
        </p:nvSpPr>
        <p:spPr>
          <a:xfrm>
            <a:off x="3319272" y="104241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REALIZADAS EN INTERNET</a:t>
            </a:r>
          </a:p>
        </p:txBody>
      </p:sp>
      <p:sp>
        <p:nvSpPr>
          <p:cNvPr id="233" name="ANUARIO_F_BODY_INTERNET"/>
          <p:cNvSpPr txBox="1"/>
          <p:nvPr/>
        </p:nvSpPr>
        <p:spPr>
          <a:xfrm>
            <a:off x="3319272" y="1380744"/>
            <a:ext cx="5230368" cy="685800"/>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34" name="ANUARIO_F_CARD_COMPUTADORA"/>
          <p:cNvSpPr/>
          <p:nvPr/>
        </p:nvSpPr>
        <p:spPr>
          <a:xfrm>
            <a:off x="3182112" y="2267712"/>
            <a:ext cx="5504688" cy="1115568"/>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ANUARIO_F_TITLE_COMPUTADORA"/>
          <p:cNvSpPr txBox="1"/>
          <p:nvPr/>
        </p:nvSpPr>
        <p:spPr>
          <a:xfrm>
            <a:off x="3319272" y="2377440"/>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LA COMPUTADORA</a:t>
            </a:r>
          </a:p>
        </p:txBody>
      </p:sp>
      <p:sp>
        <p:nvSpPr>
          <p:cNvPr id="236" name="ANUARIO_F_BODY_COMPUTADORA"/>
          <p:cNvSpPr txBox="1"/>
          <p:nvPr/>
        </p:nvSpPr>
        <p:spPr>
          <a:xfrm>
            <a:off x="3319272" y="2715768"/>
            <a:ext cx="5230368" cy="576072"/>
          </a:xfrm>
          <a:prstGeom prst="rect">
            <a:avLst/>
          </a:prstGeom>
          <a:noFill/>
        </p:spPr>
        <p:txBody>
          <a:bodyPr wrap="square" anchor="t" lIns="0" rIns="0" tIns="0" bIns="0">
            <a:noAutofit/>
          </a:bodyPr>
          <a:lstStyle/>
          <a:p>
            <a:pPr>
              <a:lnSpc>
                <a:spcPct val="100000"/>
              </a:lnSpc>
              <a:spcBef>
                <a:spcPts val="0"/>
              </a:spcBef>
              <a:spcAft>
                <a:spcPts val="0"/>
              </a:spcAft>
            </a:pPr>
            <a:r>
              <a:rPr sz="755" b="0">
                <a:solidFill>
                  <a:srgbClr val="1F3031"/>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37" name="ANUARIO_F_CARD_REDES"/>
          <p:cNvSpPr/>
          <p:nvPr/>
        </p:nvSpPr>
        <p:spPr>
          <a:xfrm>
            <a:off x="3182112" y="3493008"/>
            <a:ext cx="5504688" cy="117043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ANUARIO_F_TITLE_REDES"/>
          <p:cNvSpPr txBox="1"/>
          <p:nvPr/>
        </p:nvSpPr>
        <p:spPr>
          <a:xfrm>
            <a:off x="3319272" y="360273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USO DE LAS REDES SOCIALES</a:t>
            </a:r>
          </a:p>
        </p:txBody>
      </p:sp>
      <p:sp>
        <p:nvSpPr>
          <p:cNvPr id="239" name="ANUARIO_F_BODY_REDES"/>
          <p:cNvSpPr txBox="1"/>
          <p:nvPr/>
        </p:nvSpPr>
        <p:spPr>
          <a:xfrm>
            <a:off x="3319272" y="3941063"/>
            <a:ext cx="5230368" cy="630936"/>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Aplicaciones instaladas</a:t>
            </a:r>
          </a:p>
          <a:p>
            <a:pPr>
              <a:spcBef>
                <a:spcPts val="0"/>
              </a:spcBef>
              <a:spcAft>
                <a:spcPts val="0"/>
              </a:spcAft>
            </a:pPr>
            <a:r>
              <a:rPr sz="100">
                <a:solidFill>
                  <a:srgbClr val="FFFFFF"/>
                </a:solidFill>
                <a:latin typeface="Noto Sans"/>
              </a:rPr>
              <a:t>mediante Smartphone</a:t>
            </a:r>
          </a:p>
          <a:p>
            <a:pPr>
              <a:spcBef>
                <a:spcPts val="0"/>
              </a:spcBef>
              <a:spcAft>
                <a:spcPts val="0"/>
              </a:spcAft>
            </a:pPr>
            <a:r>
              <a:rPr sz="100">
                <a:solidFill>
                  <a:srgbClr val="FFFFFF"/>
                </a:solidFill>
                <a:latin typeface="Noto Sans"/>
              </a:rPr>
              <a:t>Usuarios de Internet mediante Smartphone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52,728,126</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47,528,779</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Instalaron aplicaciones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Mensajería instantánea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Acceder a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Contenidos de audio y</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Jugar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Tránsito y navegación</a:t>
            </a:r>
          </a:p>
          <a:p>
            <a:pPr>
              <a:spcBef>
                <a:spcPts val="0"/>
              </a:spcBef>
              <a:spcAft>
                <a:spcPts val="0"/>
              </a:spcAft>
            </a:pPr>
            <a:r>
              <a:rPr sz="100">
                <a:solidFill>
                  <a:srgbClr val="FFFFFF"/>
                </a:solidFill>
                <a:latin typeface="Noto Sans"/>
              </a:rPr>
              <a:t>asistida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Adquirir bienes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Acceder a banca móvil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Editar fotos o videos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Cálculos ponderados con FAC_PER.</a:t>
            </a:r>
          </a:p>
        </p:txBody>
      </p:sp>
      <p:pic>
        <p:nvPicPr>
          <p:cNvPr id="223"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82</a:t>
            </a:r>
          </a:p>
        </p:txBody>
      </p:sp>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Actividades realizadas en</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Usuarios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54,968,122</a:t>
            </a:r>
          </a:p>
          <a:p>
            <a:pPr>
              <a:spcBef>
                <a:spcPts val="0"/>
              </a:spcBef>
              <a:spcAft>
                <a:spcPts val="0"/>
              </a:spcAft>
            </a:pPr>
            <a:r>
              <a:rPr sz="100">
                <a:solidFill>
                  <a:srgbClr val="FFFFFF"/>
                </a:solidFill>
                <a:latin typeface="Noto Sans"/>
              </a:rPr>
              <a:t>(86%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49,935,868</a:t>
            </a:r>
          </a:p>
          <a:p>
            <a:pPr>
              <a:spcBef>
                <a:spcPts val="0"/>
              </a:spcBef>
              <a:spcAft>
                <a:spcPts val="0"/>
              </a:spcAft>
            </a:pPr>
            <a:r>
              <a:rPr sz="100">
                <a:solidFill>
                  <a:srgbClr val="FFFFFF"/>
                </a:solidFill>
                <a:latin typeface="Noto Sans"/>
              </a:rPr>
              <a:t>(87% de la población de 6 años o más)</a:t>
            </a:r>
          </a:p>
          <a:p>
            <a:pPr>
              <a:spcBef>
                <a:spcPts val="0"/>
              </a:spcBef>
              <a:spcAft>
                <a:spcPts val="0"/>
              </a:spcAft>
            </a:pPr>
            <a:r>
              <a:rPr sz="100">
                <a:solidFill>
                  <a:srgbClr val="FFFFFF"/>
                </a:solidFill>
                <a:latin typeface="Noto Sans"/>
              </a:rPr>
              <a:t>Audiovisuales gratuitos (YouTube)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Escuchar música</a:t>
            </a:r>
          </a:p>
          <a:p>
            <a:pPr>
              <a:spcBef>
                <a:spcPts val="0"/>
              </a:spcBef>
              <a:spcAft>
                <a:spcPts val="0"/>
              </a:spcAft>
            </a:pPr>
            <a:r>
              <a:rPr sz="100">
                <a:solidFill>
                  <a:srgbClr val="FFFFFF"/>
                </a:solidFill>
                <a:latin typeface="Noto Sans"/>
              </a:rPr>
              <a:t>gratis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Audiovisuales de pago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Leer periódicos,</a:t>
            </a:r>
          </a:p>
          <a:p>
            <a:pPr>
              <a:spcBef>
                <a:spcPts val="0"/>
              </a:spcBef>
              <a:spcAft>
                <a:spcPts val="0"/>
              </a:spcAft>
            </a:pPr>
            <a:r>
              <a:rPr sz="100">
                <a:solidFill>
                  <a:srgbClr val="FFFFFF"/>
                </a:solidFill>
                <a:latin typeface="Noto Sans"/>
              </a:rPr>
              <a:t>revistas o libros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Compras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Interacción con el</a:t>
            </a:r>
          </a:p>
          <a:p>
            <a:pPr>
              <a:spcBef>
                <a:spcPts val="0"/>
              </a:spcBef>
              <a:spcAft>
                <a:spcPts val="0"/>
              </a:spcAft>
            </a:pPr>
            <a:r>
              <a:rPr sz="100">
                <a:solidFill>
                  <a:srgbClr val="FFFFFF"/>
                </a:solidFill>
                <a:latin typeface="Noto Sans"/>
              </a:rPr>
              <a:t>gobierno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Jugar en línea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Pagos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Uso de banca</a:t>
            </a:r>
          </a:p>
          <a:p>
            <a:pPr>
              <a:spcBef>
                <a:spcPts val="0"/>
              </a:spcBef>
              <a:spcAft>
                <a:spcPts val="0"/>
              </a:spcAft>
            </a:pPr>
            <a:r>
              <a:rPr sz="100">
                <a:solidFill>
                  <a:srgbClr val="FFFFFF"/>
                </a:solidFill>
                <a:latin typeface="Noto Sans"/>
              </a:rPr>
              <a:t>electrónica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TV en web</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Ventas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Radio AM y FM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Internet.</a:t>
            </a:r>
          </a:p>
        </p:txBody>
      </p:sp>
      <p:pic>
        <p:nvPicPr>
          <p:cNvPr id="223"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83</a:t>
            </a:r>
          </a:p>
        </p:txBody>
      </p:sp>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Habilidades en la</a:t>
            </a:r>
          </a:p>
          <a:p>
            <a:pPr>
              <a:spcBef>
                <a:spcPts val="0"/>
              </a:spcBef>
              <a:spcAft>
                <a:spcPts val="0"/>
              </a:spcAft>
            </a:pPr>
            <a:r>
              <a:rPr sz="100">
                <a:solidFill>
                  <a:srgbClr val="FFFFFF"/>
                </a:solidFill>
                <a:latin typeface="Noto Sans"/>
              </a:rPr>
              <a:t>computadora</a:t>
            </a:r>
          </a:p>
          <a:p>
            <a:pPr>
              <a:spcBef>
                <a:spcPts val="0"/>
              </a:spcBef>
              <a:spcAft>
                <a:spcPts val="0"/>
              </a:spcAft>
            </a:pPr>
            <a:r>
              <a:rPr sz="100">
                <a:solidFill>
                  <a:srgbClr val="FFFFFF"/>
                </a:solidFill>
                <a:latin typeface="Noto Sans"/>
              </a:rPr>
              <a:t>Usuarios de computadora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22,549,120</a:t>
            </a:r>
          </a:p>
          <a:p>
            <a:pPr>
              <a:spcBef>
                <a:spcPts val="0"/>
              </a:spcBef>
              <a:spcAft>
                <a:spcPts val="0"/>
              </a:spcAft>
            </a:pPr>
            <a:r>
              <a:rPr sz="100">
                <a:solidFill>
                  <a:srgbClr val="FFFFFF"/>
                </a:solidFill>
                <a:latin typeface="Noto Sans"/>
              </a:rPr>
              <a:t>(35%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21,586,229</a:t>
            </a:r>
          </a:p>
          <a:p>
            <a:pPr>
              <a:spcBef>
                <a:spcPts val="0"/>
              </a:spcBef>
              <a:spcAft>
                <a:spcPts val="0"/>
              </a:spcAft>
            </a:pPr>
            <a:r>
              <a:rPr sz="100">
                <a:solidFill>
                  <a:srgbClr val="FFFFFF"/>
                </a:solidFill>
                <a:latin typeface="Noto Sans"/>
              </a:rPr>
              <a:t>(38% de la población de 6 años o más)</a:t>
            </a:r>
          </a:p>
          <a:p>
            <a:pPr>
              <a:spcBef>
                <a:spcPts val="0"/>
              </a:spcBef>
              <a:spcAft>
                <a:spcPts val="0"/>
              </a:spcAft>
            </a:pPr>
            <a:r>
              <a:rPr sz="100">
                <a:solidFill>
                  <a:srgbClr val="FFFFFF"/>
                </a:solidFill>
                <a:latin typeface="Noto Sans"/>
              </a:rPr>
              <a:t>Descargar contenidos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Enviar y recibir 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Crear archivos de texto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Copiar archivos entre</a:t>
            </a:r>
          </a:p>
          <a:p>
            <a:pPr>
              <a:spcBef>
                <a:spcPts val="0"/>
              </a:spcBef>
              <a:spcAft>
                <a:spcPts val="0"/>
              </a:spcAft>
            </a:pPr>
            <a:r>
              <a:rPr sz="100">
                <a:solidFill>
                  <a:srgbClr val="FFFFFF"/>
                </a:solidFill>
                <a:latin typeface="Noto Sans"/>
              </a:rPr>
              <a:t>directorios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Crear presentaciones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Crear hojas de cálculo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Instalar dispositivos</a:t>
            </a:r>
          </a:p>
          <a:p>
            <a:pPr>
              <a:spcBef>
                <a:spcPts val="0"/>
              </a:spcBef>
              <a:spcAft>
                <a:spcPts val="0"/>
              </a:spcAft>
            </a:pPr>
            <a:r>
              <a:rPr sz="100">
                <a:solidFill>
                  <a:srgbClr val="FFFFFF"/>
                </a:solidFill>
                <a:latin typeface="Noto Sans"/>
              </a:rPr>
              <a:t>periféricos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Crear o usar bases de</a:t>
            </a:r>
          </a:p>
          <a:p>
            <a:pPr>
              <a:spcBef>
                <a:spcPts val="0"/>
              </a:spcBef>
              <a:spcAft>
                <a:spcPts val="0"/>
              </a:spcAft>
            </a:pPr>
            <a:r>
              <a:rPr sz="100">
                <a:solidFill>
                  <a:srgbClr val="FFFFFF"/>
                </a:solidFill>
                <a:latin typeface="Noto Sans"/>
              </a:rPr>
              <a:t>datos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Programar en lenguaje</a:t>
            </a:r>
          </a:p>
          <a:p>
            <a:pPr>
              <a:spcBef>
                <a:spcPts val="0"/>
              </a:spcBef>
              <a:spcAft>
                <a:spcPts val="0"/>
              </a:spcAft>
            </a:pPr>
            <a:r>
              <a:rPr sz="100">
                <a:solidFill>
                  <a:srgbClr val="FFFFFF"/>
                </a:solidFill>
                <a:latin typeface="Noto Sans"/>
              </a:rPr>
              <a:t>especializado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2024, del INEGI. Datos disponibles en https://www.inegi.org.mx/programas/endutih/2024/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ENDUTIH 2024 es el último corte con todas las habilidades comparables.</a:t>
            </a:r>
          </a:p>
        </p:txBody>
      </p:sp>
      <p:pic>
        <p:nvPicPr>
          <p:cNvPr id="223"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84</a:t>
            </a:r>
          </a:p>
        </p:txBody>
      </p:sp>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4" descr="Capa accesible con el texto del SVG de la figura F.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Usuarios de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49,285,346</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44,246,844</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X (antes Twitter)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Snapchat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Pinterest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LinkedIn</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redes sociales.</a:t>
            </a:r>
          </a:p>
        </p:txBody>
      </p:sp>
      <p:pic>
        <p:nvPicPr>
          <p:cNvPr id="223"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85</a:t>
            </a:r>
          </a:p>
        </p:txBody>
      </p:sp>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2" descr="Capa accesible con el texto del SVG de la figura F.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F.2</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Figura F.2.</a:t>
            </a:r>
          </a:p>
          <a:p>
            <a:pPr>
              <a:spcBef>
                <a:spcPts val="0"/>
              </a:spcBef>
              <a:spcAft>
                <a:spcPts val="0"/>
              </a:spcAft>
            </a:pPr>
            <a:r>
              <a:rPr sz="100">
                <a:solidFill>
                  <a:srgbClr val="FFFFFF"/>
                </a:solidFill>
                <a:latin typeface="Noto Sans"/>
              </a:rPr>
              <a:t>Porcentaje de personas empleadas en telecomunicaciones y radiodifusión</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radiodifusión:</a:t>
            </a:r>
          </a:p>
          <a:p>
            <a:pPr>
              <a:spcBef>
                <a:spcPts val="0"/>
              </a:spcBef>
              <a:spcAft>
                <a:spcPts val="0"/>
              </a:spcAft>
            </a:pPr>
            <a:r>
              <a:rPr sz="100">
                <a:solidFill>
                  <a:srgbClr val="FFFFFF"/>
                </a:solidFill>
                <a:latin typeface="Noto Sans"/>
              </a:rPr>
              <a:t>36,721</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telecomunicaciones:</a:t>
            </a:r>
          </a:p>
          <a:p>
            <a:pPr>
              <a:spcBef>
                <a:spcPts val="0"/>
              </a:spcBef>
              <a:spcAft>
                <a:spcPts val="0"/>
              </a:spcAft>
            </a:pPr>
            <a:r>
              <a:rPr sz="100">
                <a:solidFill>
                  <a:srgbClr val="FFFFFF"/>
                </a:solidFill>
                <a:latin typeface="Noto Sans"/>
              </a:rPr>
              <a:t>242,348</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a junio de 2026, del INEGI. Datos disponibles en https://www.inegi.org.mx/programas/enoe/15ymas/#microdatos</a:t>
            </a:r>
          </a:p>
          <a:p>
            <a:pPr>
              <a:spcBef>
                <a:spcPts val="0"/>
              </a:spcBef>
              <a:spcAft>
                <a:spcPts val="0"/>
              </a:spcAft>
            </a:pPr>
            <a:r>
              <a:rPr sz="100">
                <a:solidFill>
                  <a:srgbClr val="FFFFFF"/>
                </a:solidFill>
                <a:latin typeface="Noto Sans"/>
              </a:rPr>
              <a:t>Radiodifusión</a:t>
            </a:r>
          </a:p>
          <a:p>
            <a:pPr>
              <a:spcBef>
                <a:spcPts val="0"/>
              </a:spcBef>
              <a:spcAft>
                <a:spcPts val="0"/>
              </a:spcAft>
            </a:pPr>
            <a:r>
              <a:rPr sz="100">
                <a:solidFill>
                  <a:srgbClr val="FFFFFF"/>
                </a:solidFill>
                <a:latin typeface="Noto Sans"/>
              </a:rPr>
              <a:t>Telecomunicaciones</a:t>
            </a:r>
          </a:p>
        </p:txBody>
      </p:sp>
      <p:pic>
        <p:nvPicPr>
          <p:cNvPr id="223"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86</a:t>
            </a:r>
          </a:p>
        </p:txBody>
      </p:sp>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3" descr="Capa accesible con el texto del SVG de la figura F.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F.3</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CIUDAD DE</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VERACRUZ DE</a:t>
            </a:r>
          </a:p>
          <a:p>
            <a:pPr>
              <a:spcBef>
                <a:spcPts val="0"/>
              </a:spcBef>
              <a:spcAft>
                <a:spcPts val="0"/>
              </a:spcAft>
            </a:pPr>
            <a:r>
              <a:rPr sz="100">
                <a:solidFill>
                  <a:srgbClr val="FFFFFF"/>
                </a:solidFill>
                <a:latin typeface="Noto Sans"/>
              </a:rPr>
              <a:t>IGNACIO DE</a:t>
            </a:r>
          </a:p>
          <a:p>
            <a:pPr>
              <a:spcBef>
                <a:spcPts val="0"/>
              </a:spcBef>
              <a:spcAft>
                <a:spcPts val="0"/>
              </a:spcAft>
            </a:pPr>
            <a:r>
              <a:rPr sz="100">
                <a:solidFill>
                  <a:srgbClr val="FFFFFF"/>
                </a:solidFill>
                <a:latin typeface="Noto Sans"/>
              </a:rPr>
              <a:t>LA LLAVE</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MICHOACAN DE</a:t>
            </a:r>
          </a:p>
          <a:p>
            <a:pPr>
              <a:spcBef>
                <a:spcPts val="0"/>
              </a:spcBef>
              <a:spcAft>
                <a:spcPts val="0"/>
              </a:spcAft>
            </a:pPr>
            <a:r>
              <a:rPr sz="100">
                <a:solidFill>
                  <a:srgbClr val="FFFFFF"/>
                </a:solidFill>
                <a:latin typeface="Noto Sans"/>
              </a:rPr>
              <a:t>OCAMPO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SAN LUIS</a:t>
            </a:r>
          </a:p>
          <a:p>
            <a:pPr>
              <a:spcBef>
                <a:spcPts val="0"/>
              </a:spcBef>
              <a:spcAft>
                <a:spcPts val="0"/>
              </a:spcAft>
            </a:pPr>
            <a:r>
              <a:rPr sz="100">
                <a:solidFill>
                  <a:srgbClr val="FFFFFF"/>
                </a:solidFill>
                <a:latin typeface="Noto Sans"/>
              </a:rPr>
              <a:t>POTOSI</a:t>
            </a:r>
          </a:p>
          <a:p>
            <a:pPr>
              <a:spcBef>
                <a:spcPts val="0"/>
              </a:spcBef>
              <a:spcAft>
                <a:spcPts val="0"/>
              </a:spcAft>
            </a:pPr>
            <a:r>
              <a:rPr sz="100">
                <a:solidFill>
                  <a:srgbClr val="FFFFFF"/>
                </a:solidFill>
                <a:latin typeface="Noto Sans"/>
              </a:rPr>
              <a:t>COAHUILA DE</a:t>
            </a:r>
          </a:p>
          <a:p>
            <a:pPr>
              <a:spcBef>
                <a:spcPts val="0"/>
              </a:spcBef>
              <a:spcAft>
                <a:spcPts val="0"/>
              </a:spcAft>
            </a:pPr>
            <a:r>
              <a:rPr sz="100">
                <a:solidFill>
                  <a:srgbClr val="FFFFFF"/>
                </a:solidFill>
                <a:latin typeface="Noto Sans"/>
              </a:rPr>
              <a:t>ZARAGOZA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AGUASCALIENT</a:t>
            </a:r>
          </a:p>
          <a:p>
            <a:pPr>
              <a:spcBef>
                <a:spcPts val="0"/>
              </a:spcBef>
              <a:spcAft>
                <a:spcPts val="0"/>
              </a:spcAft>
            </a:pPr>
            <a:r>
              <a:rPr sz="100">
                <a:solidFill>
                  <a:srgbClr val="FFFFFF"/>
                </a:solidFill>
                <a:latin typeface="Noto Sans"/>
              </a:rPr>
              <a:t>ES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Figura F.3.</a:t>
            </a:r>
          </a:p>
          <a:p>
            <a:pPr>
              <a:spcBef>
                <a:spcPts val="0"/>
              </a:spcBef>
              <a:spcAft>
                <a:spcPts val="0"/>
              </a:spcAft>
            </a:pPr>
            <a:r>
              <a:rPr sz="100">
                <a:solidFill>
                  <a:srgbClr val="FFFFFF"/>
                </a:solidFill>
                <a:latin typeface="Noto Sans"/>
              </a:rPr>
              <a:t>Porcentaje de la población de 12 años y más que vivió ciberacoso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87</a:t>
            </a:r>
          </a:p>
        </p:txBody>
      </p:sp>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4" descr="Capa accesible con el texto del SVG de la figura F.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F.4</a:t>
            </a:r>
          </a:p>
          <a:p>
            <a:pPr>
              <a:spcBef>
                <a:spcPts val="0"/>
              </a:spcBef>
              <a:spcAft>
                <a:spcPts val="0"/>
              </a:spcAft>
            </a:pPr>
            <a:r>
              <a:rPr sz="100">
                <a:solidFill>
                  <a:srgbClr val="FFFFFF"/>
                </a:solidFill>
                <a:latin typeface="Noto Sans"/>
              </a:rPr>
              <a:t>Aguascalientes</a:t>
            </a:r>
          </a:p>
          <a:p>
            <a:pPr>
              <a:spcBef>
                <a:spcPts val="0"/>
              </a:spcBef>
              <a:spcAft>
                <a:spcPts val="0"/>
              </a:spcAft>
            </a:pPr>
            <a:r>
              <a:rPr sz="100">
                <a:solidFill>
                  <a:srgbClr val="FFFFFF"/>
                </a:solidFill>
                <a:latin typeface="Noto Sans"/>
              </a:rPr>
              <a:t>Baja California</a:t>
            </a:r>
          </a:p>
          <a:p>
            <a:pPr>
              <a:spcBef>
                <a:spcPts val="0"/>
              </a:spcBef>
              <a:spcAft>
                <a:spcPts val="0"/>
              </a:spcAft>
            </a:pPr>
            <a:r>
              <a:rPr sz="100">
                <a:solidFill>
                  <a:srgbClr val="FFFFFF"/>
                </a:solidFill>
                <a:latin typeface="Noto Sans"/>
              </a:rPr>
              <a:t>Baja California 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Ciudad de Mexico</a:t>
            </a:r>
          </a:p>
          <a:p>
            <a:pPr>
              <a:spcBef>
                <a:spcPts val="0"/>
              </a:spcBef>
              <a:spcAft>
                <a:spcPts val="0"/>
              </a:spcAft>
            </a:pPr>
            <a:r>
              <a:rPr sz="100">
                <a:solidFill>
                  <a:srgbClr val="FFFFFF"/>
                </a:solidFill>
                <a:latin typeface="Noto Sans"/>
              </a:rPr>
              <a:t>Coahuila de Zaragoza</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Michoacan de Ocampo</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San Luis Potosi</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Veracruz de Ignacio de La Llave</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13.8%</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F.4.</a:t>
            </a:r>
          </a:p>
          <a:p>
            <a:pPr>
              <a:spcBef>
                <a:spcPts val="0"/>
              </a:spcBef>
              <a:spcAft>
                <a:spcPts val="0"/>
              </a:spcAft>
            </a:pPr>
            <a:r>
              <a:rPr sz="100">
                <a:solidFill>
                  <a:srgbClr val="FFFFFF"/>
                </a:solidFill>
                <a:latin typeface="Noto Sans"/>
              </a:rPr>
              <a:t>Porcentaje de la población de 12 años y más que vivió ciberacoso por entidad federativa y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p:txBody>
      </p:sp>
      <p:pic>
        <p:nvPicPr>
          <p:cNvPr id="223"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88</a:t>
            </a:r>
          </a:p>
        </p:txBody>
      </p:sp>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5" descr="Capa accesible con el texto del SVG de la figura F.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F.5</a:t>
            </a:r>
          </a:p>
          <a:p>
            <a:pPr>
              <a:spcBef>
                <a:spcPts val="0"/>
              </a:spcBef>
              <a:spcAft>
                <a:spcPts val="0"/>
              </a:spcAft>
            </a:pPr>
            <a:r>
              <a:rPr sz="100">
                <a:solidFill>
                  <a:srgbClr val="FFFFFF"/>
                </a:solidFill>
                <a:latin typeface="Noto Sans"/>
              </a:rPr>
              <a:t>De 12 a</a:t>
            </a:r>
          </a:p>
          <a:p>
            <a:pPr>
              <a:spcBef>
                <a:spcPts val="0"/>
              </a:spcBef>
              <a:spcAft>
                <a:spcPts val="0"/>
              </a:spcAft>
            </a:pPr>
            <a:r>
              <a:rPr sz="100">
                <a:solidFill>
                  <a:srgbClr val="FFFFFF"/>
                </a:solidFill>
                <a:latin typeface="Noto Sans"/>
              </a:rPr>
              <a:t>19 años</a:t>
            </a:r>
          </a:p>
          <a:p>
            <a:pPr>
              <a:spcBef>
                <a:spcPts val="0"/>
              </a:spcBef>
              <a:spcAft>
                <a:spcPts val="0"/>
              </a:spcAft>
            </a:pPr>
            <a:r>
              <a:rPr sz="100">
                <a:solidFill>
                  <a:srgbClr val="FFFFFF"/>
                </a:solidFill>
                <a:latin typeface="Noto Sans"/>
              </a:rPr>
              <a:t>De 20 a</a:t>
            </a:r>
          </a:p>
          <a:p>
            <a:pPr>
              <a:spcBef>
                <a:spcPts val="0"/>
              </a:spcBef>
              <a:spcAft>
                <a:spcPts val="0"/>
              </a:spcAft>
            </a:pPr>
            <a:r>
              <a:rPr sz="100">
                <a:solidFill>
                  <a:srgbClr val="FFFFFF"/>
                </a:solidFill>
                <a:latin typeface="Noto Sans"/>
              </a:rPr>
              <a:t>29 años</a:t>
            </a:r>
          </a:p>
          <a:p>
            <a:pPr>
              <a:spcBef>
                <a:spcPts val="0"/>
              </a:spcBef>
              <a:spcAft>
                <a:spcPts val="0"/>
              </a:spcAft>
            </a:pPr>
            <a:r>
              <a:rPr sz="100">
                <a:solidFill>
                  <a:srgbClr val="FFFFFF"/>
                </a:solidFill>
                <a:latin typeface="Noto Sans"/>
              </a:rPr>
              <a:t>De 30 a</a:t>
            </a:r>
          </a:p>
          <a:p>
            <a:pPr>
              <a:spcBef>
                <a:spcPts val="0"/>
              </a:spcBef>
              <a:spcAft>
                <a:spcPts val="0"/>
              </a:spcAft>
            </a:pPr>
            <a:r>
              <a:rPr sz="100">
                <a:solidFill>
                  <a:srgbClr val="FFFFFF"/>
                </a:solidFill>
                <a:latin typeface="Noto Sans"/>
              </a:rPr>
              <a:t>39 años</a:t>
            </a:r>
          </a:p>
          <a:p>
            <a:pPr>
              <a:spcBef>
                <a:spcPts val="0"/>
              </a:spcBef>
              <a:spcAft>
                <a:spcPts val="0"/>
              </a:spcAft>
            </a:pPr>
            <a:r>
              <a:rPr sz="100">
                <a:solidFill>
                  <a:srgbClr val="FFFFFF"/>
                </a:solidFill>
                <a:latin typeface="Noto Sans"/>
              </a:rPr>
              <a:t>De 40 a</a:t>
            </a:r>
          </a:p>
          <a:p>
            <a:pPr>
              <a:spcBef>
                <a:spcPts val="0"/>
              </a:spcBef>
              <a:spcAft>
                <a:spcPts val="0"/>
              </a:spcAft>
            </a:pPr>
            <a:r>
              <a:rPr sz="100">
                <a:solidFill>
                  <a:srgbClr val="FFFFFF"/>
                </a:solidFill>
                <a:latin typeface="Noto Sans"/>
              </a:rPr>
              <a:t>49 años</a:t>
            </a:r>
          </a:p>
          <a:p>
            <a:pPr>
              <a:spcBef>
                <a:spcPts val="0"/>
              </a:spcBef>
              <a:spcAft>
                <a:spcPts val="0"/>
              </a:spcAft>
            </a:pPr>
            <a:r>
              <a:rPr sz="100">
                <a:solidFill>
                  <a:srgbClr val="FFFFFF"/>
                </a:solidFill>
                <a:latin typeface="Noto Sans"/>
              </a:rPr>
              <a:t>De 50 a</a:t>
            </a:r>
          </a:p>
          <a:p>
            <a:pPr>
              <a:spcBef>
                <a:spcPts val="0"/>
              </a:spcBef>
              <a:spcAft>
                <a:spcPts val="0"/>
              </a:spcAft>
            </a:pPr>
            <a:r>
              <a:rPr sz="100">
                <a:solidFill>
                  <a:srgbClr val="FFFFFF"/>
                </a:solidFill>
                <a:latin typeface="Noto Sans"/>
              </a:rPr>
              <a:t>59 años</a:t>
            </a:r>
          </a:p>
          <a:p>
            <a:pPr>
              <a:spcBef>
                <a:spcPts val="0"/>
              </a:spcBef>
              <a:spcAft>
                <a:spcPts val="0"/>
              </a:spcAft>
            </a:pPr>
            <a:r>
              <a:rPr sz="100">
                <a:solidFill>
                  <a:srgbClr val="FFFFFF"/>
                </a:solidFill>
                <a:latin typeface="Noto Sans"/>
              </a:rPr>
              <a:t>De 60 años</a:t>
            </a:r>
          </a:p>
          <a:p>
            <a:pPr>
              <a:spcBef>
                <a:spcPts val="0"/>
              </a:spcBef>
              <a:spcAft>
                <a:spcPts val="0"/>
              </a:spcAft>
            </a:pPr>
            <a:r>
              <a:rPr sz="100">
                <a:solidFill>
                  <a:srgbClr val="FFFFFF"/>
                </a:solidFill>
                <a:latin typeface="Noto Sans"/>
              </a:rPr>
              <a:t>y más</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22.3%</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F.5.</a:t>
            </a:r>
          </a:p>
          <a:p>
            <a:pPr>
              <a:spcBef>
                <a:spcPts val="0"/>
              </a:spcBef>
              <a:spcAft>
                <a:spcPts val="0"/>
              </a:spcAft>
            </a:pPr>
            <a:r>
              <a:rPr sz="100">
                <a:solidFill>
                  <a:srgbClr val="FFFFFF"/>
                </a:solidFill>
                <a:latin typeface="Noto Sans"/>
              </a:rPr>
              <a:t>Porcentaje de la población que vivió ciberacoso por sexo y rango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89</a:t>
            </a:r>
          </a:p>
        </p:txBody>
      </p:sp>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6" descr="Capa accesible con el texto del SVG de la figura F.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25.0%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Otra situación</a:t>
            </a:r>
          </a:p>
          <a:p>
            <a:pPr>
              <a:spcBef>
                <a:spcPts val="0"/>
              </a:spcBef>
              <a:spcAft>
                <a:spcPts val="0"/>
              </a:spcAft>
            </a:pPr>
            <a:r>
              <a:rPr sz="100">
                <a:solidFill>
                  <a:srgbClr val="FFFFFF"/>
                </a:solidFill>
                <a:latin typeface="Noto Sans"/>
              </a:rPr>
              <a:t>Publicar o vender imágenes o videos de</a:t>
            </a:r>
          </a:p>
          <a:p>
            <a:pPr>
              <a:spcBef>
                <a:spcPts val="0"/>
              </a:spcBef>
              <a:spcAft>
                <a:spcPts val="0"/>
              </a:spcAft>
            </a:pPr>
            <a:r>
              <a:rPr sz="100">
                <a:solidFill>
                  <a:srgbClr val="FFFFFF"/>
                </a:solidFill>
                <a:latin typeface="Noto Sans"/>
              </a:rPr>
              <a:t>contenido sexual</a:t>
            </a:r>
          </a:p>
          <a:p>
            <a:pPr>
              <a:spcBef>
                <a:spcPts val="0"/>
              </a:spcBef>
              <a:spcAft>
                <a:spcPts val="0"/>
              </a:spcAft>
            </a:pPr>
            <a:r>
              <a:rPr sz="100">
                <a:solidFill>
                  <a:srgbClr val="FFFFFF"/>
                </a:solidFill>
                <a:latin typeface="Noto Sans"/>
              </a:rPr>
              <a:t>Publicar y/o enviar información</a:t>
            </a:r>
          </a:p>
          <a:p>
            <a:pPr>
              <a:spcBef>
                <a:spcPts val="0"/>
              </a:spcBef>
              <a:spcAft>
                <a:spcPts val="0"/>
              </a:spcAft>
            </a:pPr>
            <a:r>
              <a:rPr sz="100">
                <a:solidFill>
                  <a:srgbClr val="FFFFFF"/>
                </a:solidFill>
                <a:latin typeface="Noto Sans"/>
              </a:rPr>
              <a:t>personal, fotos o videos</a:t>
            </a:r>
          </a:p>
          <a:p>
            <a:pPr>
              <a:spcBef>
                <a:spcPts val="0"/>
              </a:spcBef>
              <a:spcAft>
                <a:spcPts val="0"/>
              </a:spcAft>
            </a:pPr>
            <a:r>
              <a:rPr sz="100">
                <a:solidFill>
                  <a:srgbClr val="FFFFFF"/>
                </a:solidFill>
                <a:latin typeface="Noto Sans"/>
              </a:rPr>
              <a:t>Amenazar con publicar información</a:t>
            </a:r>
          </a:p>
          <a:p>
            <a:pPr>
              <a:spcBef>
                <a:spcPts val="0"/>
              </a:spcBef>
              <a:spcAft>
                <a:spcPts val="0"/>
              </a:spcAft>
            </a:pPr>
            <a:r>
              <a:rPr sz="100">
                <a:solidFill>
                  <a:srgbClr val="FFFFFF"/>
                </a:solidFill>
                <a:latin typeface="Noto Sans"/>
              </a:rPr>
              <a:t>personal, audios o videos</a:t>
            </a:r>
          </a:p>
          <a:p>
            <a:pPr>
              <a:spcBef>
                <a:spcPts val="0"/>
              </a:spcBef>
              <a:spcAft>
                <a:spcPts val="0"/>
              </a:spcAft>
            </a:pPr>
            <a:r>
              <a:rPr sz="100">
                <a:solidFill>
                  <a:srgbClr val="FFFFFF"/>
                </a:solidFill>
                <a:latin typeface="Noto Sans"/>
              </a:rPr>
              <a:t>Críticas por apariencia o clase social</a:t>
            </a:r>
          </a:p>
          <a:p>
            <a:pPr>
              <a:spcBef>
                <a:spcPts val="0"/>
              </a:spcBef>
              <a:spcAft>
                <a:spcPts val="0"/>
              </a:spcAft>
            </a:pPr>
            <a:r>
              <a:rPr sz="100">
                <a:solidFill>
                  <a:srgbClr val="FFFFFF"/>
                </a:solidFill>
                <a:latin typeface="Noto Sans"/>
              </a:rPr>
              <a:t>Provocaciones para reaccionar de forma</a:t>
            </a:r>
          </a:p>
          <a:p>
            <a:pPr>
              <a:spcBef>
                <a:spcPts val="0"/>
              </a:spcBef>
              <a:spcAft>
                <a:spcPts val="0"/>
              </a:spcAft>
            </a:pPr>
            <a:r>
              <a:rPr sz="100">
                <a:solidFill>
                  <a:srgbClr val="FFFFFF"/>
                </a:solidFill>
                <a:latin typeface="Noto Sans"/>
              </a:rPr>
              <a:t>negativa</a:t>
            </a:r>
          </a:p>
          <a:p>
            <a:pPr>
              <a:spcBef>
                <a:spcPts val="0"/>
              </a:spcBef>
              <a:spcAft>
                <a:spcPts val="0"/>
              </a:spcAft>
            </a:pPr>
            <a:r>
              <a:rPr sz="100">
                <a:solidFill>
                  <a:srgbClr val="FFFFFF"/>
                </a:solidFill>
                <a:latin typeface="Noto Sans"/>
              </a:rPr>
              <a:t>Rastreo de cuentas o sitios web</a:t>
            </a:r>
          </a:p>
          <a:p>
            <a:pPr>
              <a:spcBef>
                <a:spcPts val="0"/>
              </a:spcBef>
              <a:spcAft>
                <a:spcPts val="0"/>
              </a:spcAft>
            </a:pPr>
            <a:r>
              <a:rPr sz="100">
                <a:solidFill>
                  <a:srgbClr val="FFFFFF"/>
                </a:solidFill>
                <a:latin typeface="Noto Sans"/>
              </a:rPr>
              <a:t>Suplantación de identidad</a:t>
            </a:r>
          </a:p>
          <a:p>
            <a:pPr>
              <a:spcBef>
                <a:spcPts val="0"/>
              </a:spcBef>
              <a:spcAft>
                <a:spcPts val="0"/>
              </a:spcAft>
            </a:pPr>
            <a:r>
              <a:rPr sz="100">
                <a:solidFill>
                  <a:srgbClr val="FFFFFF"/>
                </a:solidFill>
                <a:latin typeface="Noto Sans"/>
              </a:rPr>
              <a:t>Llamadas ofensivas</a:t>
            </a:r>
          </a:p>
          <a:p>
            <a:pPr>
              <a:spcBef>
                <a:spcPts val="0"/>
              </a:spcBef>
              <a:spcAft>
                <a:spcPts val="0"/>
              </a:spcAft>
            </a:pPr>
            <a:r>
              <a:rPr sz="100">
                <a:solidFill>
                  <a:srgbClr val="FFFFFF"/>
                </a:solidFill>
                <a:latin typeface="Noto Sans"/>
              </a:rPr>
              <a:t>Recibir contenido sexual</a:t>
            </a:r>
          </a:p>
          <a:p>
            <a:pPr>
              <a:spcBef>
                <a:spcPts val="0"/>
              </a:spcBef>
              <a:spcAft>
                <a:spcPts val="0"/>
              </a:spcAft>
            </a:pPr>
            <a:r>
              <a:rPr sz="100">
                <a:solidFill>
                  <a:srgbClr val="FFFFFF"/>
                </a:solidFill>
                <a:latin typeface="Noto Sans"/>
              </a:rPr>
              <a:t>Insinuaciones o propuestas sexuales</a:t>
            </a:r>
          </a:p>
          <a:p>
            <a:pPr>
              <a:spcBef>
                <a:spcPts val="0"/>
              </a:spcBef>
              <a:spcAft>
                <a:spcPts val="0"/>
              </a:spcAft>
            </a:pPr>
            <a:r>
              <a:rPr sz="100">
                <a:solidFill>
                  <a:srgbClr val="FFFFFF"/>
                </a:solidFill>
                <a:latin typeface="Noto Sans"/>
              </a:rPr>
              <a:t>Mensajes ofensivos</a:t>
            </a:r>
          </a:p>
          <a:p>
            <a:pPr>
              <a:spcBef>
                <a:spcPts val="0"/>
              </a:spcBef>
              <a:spcAft>
                <a:spcPts val="0"/>
              </a:spcAft>
            </a:pPr>
            <a:r>
              <a:rPr sz="100">
                <a:solidFill>
                  <a:srgbClr val="FFFFFF"/>
                </a:solidFill>
                <a:latin typeface="Noto Sans"/>
              </a:rPr>
              <a:t>Contacto mediante identidades falsas</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19.3%</a:t>
            </a:r>
          </a:p>
          <a:p>
            <a:pPr>
              <a:spcBef>
                <a:spcPts val="0"/>
              </a:spcBef>
              <a:spcAft>
                <a:spcPts val="0"/>
              </a:spcAft>
            </a:pPr>
            <a:r>
              <a:rPr sz="100">
                <a:solidFill>
                  <a:srgbClr val="FFFFFF"/>
                </a:solidFill>
                <a:latin typeface="Noto Sans"/>
              </a:rPr>
              <a:t>18.0%</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18.7%</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23.5%</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30.8%</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36.8%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Figura F.6.</a:t>
            </a:r>
          </a:p>
          <a:p>
            <a:pPr>
              <a:spcBef>
                <a:spcPts val="0"/>
              </a:spcBef>
              <a:spcAft>
                <a:spcPts val="0"/>
              </a:spcAft>
            </a:pPr>
            <a:r>
              <a:rPr sz="100">
                <a:solidFill>
                  <a:srgbClr val="FFFFFF"/>
                </a:solidFill>
                <a:latin typeface="Noto Sans"/>
              </a:rPr>
              <a:t>Distribución porcentual de las situaciones de ciberacoso experimentadas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90</a:t>
            </a:r>
          </a:p>
        </p:txBody>
      </p:sp>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7" descr="Capa accesible con el texto del SVG de la figura F.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F.7</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Figura F.7.</a:t>
            </a:r>
          </a:p>
          <a:p>
            <a:pPr>
              <a:spcBef>
                <a:spcPts val="0"/>
              </a:spcBef>
              <a:spcAft>
                <a:spcPts val="0"/>
              </a:spcAft>
            </a:pPr>
            <a:r>
              <a:rPr sz="100">
                <a:solidFill>
                  <a:srgbClr val="FFFFFF"/>
                </a:solidFill>
                <a:latin typeface="Noto Sans"/>
              </a:rPr>
              <a:t>Medidas de seguridad para proteger equipos o cuentas de Internet,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91</a:t>
            </a:r>
          </a:p>
        </p:txBody>
      </p:sp>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8" descr="Capa accesible con el texto del SVG de la figura F.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F.8</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SMS</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fijo</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personal</a:t>
            </a:r>
          </a:p>
          <a:p>
            <a:pPr>
              <a:spcBef>
                <a:spcPts val="0"/>
              </a:spcBef>
              <a:spcAft>
                <a:spcPts val="0"/>
              </a:spcAft>
            </a:pPr>
            <a:r>
              <a:rPr sz="100">
                <a:solidFill>
                  <a:srgbClr val="FFFFFF"/>
                </a:solidFill>
                <a:latin typeface="Noto Sans"/>
              </a:rPr>
              <a:t>Otro medio</a:t>
            </a:r>
          </a:p>
          <a:p>
            <a:pPr>
              <a:spcBef>
                <a:spcPts val="0"/>
              </a:spcBef>
              <a:spcAft>
                <a:spcPts val="0"/>
              </a:spcAft>
            </a:pPr>
            <a:r>
              <a:rPr sz="100">
                <a:solidFill>
                  <a:srgbClr val="FFFFFF"/>
                </a:solidFill>
                <a:latin typeface="Noto Sans"/>
              </a:rPr>
              <a:t>X (antes</a:t>
            </a:r>
          </a:p>
          <a:p>
            <a:pPr>
              <a:spcBef>
                <a:spcPts val="0"/>
              </a:spcBef>
              <a:spcAft>
                <a:spcPts val="0"/>
              </a:spcAft>
            </a:pPr>
            <a:r>
              <a:rPr sz="100">
                <a:solidFill>
                  <a:srgbClr val="FFFFFF"/>
                </a:solidFill>
                <a:latin typeface="Noto Sans"/>
              </a:rPr>
              <a:t>Twitter)</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institucional</a:t>
            </a:r>
          </a:p>
          <a:p>
            <a:pPr>
              <a:spcBef>
                <a:spcPts val="0"/>
              </a:spcBef>
              <a:spcAft>
                <a:spcPts val="0"/>
              </a:spcAft>
            </a:pPr>
            <a:r>
              <a:rPr sz="100">
                <a:solidFill>
                  <a:srgbClr val="FFFFFF"/>
                </a:solidFill>
                <a:latin typeface="Noto Sans"/>
              </a:rPr>
              <a:t>Telegram</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41.5%</a:t>
            </a:r>
          </a:p>
          <a:p>
            <a:pPr>
              <a:spcBef>
                <a:spcPts val="0"/>
              </a:spcBef>
              <a:spcAft>
                <a:spcPts val="0"/>
              </a:spcAft>
            </a:pPr>
            <a:r>
              <a:rPr sz="100">
                <a:solidFill>
                  <a:srgbClr val="FFFFFF"/>
                </a:solidFill>
                <a:latin typeface="Noto Sans"/>
              </a:rPr>
              <a:t>36.5%</a:t>
            </a:r>
          </a:p>
          <a:p>
            <a:pPr>
              <a:spcBef>
                <a:spcPts val="0"/>
              </a:spcBef>
              <a:spcAft>
                <a:spcPts val="0"/>
              </a:spcAft>
            </a:pPr>
            <a:r>
              <a:rPr sz="100">
                <a:solidFill>
                  <a:srgbClr val="FFFFFF"/>
                </a:solidFill>
                <a:latin typeface="Noto Sans"/>
              </a:rPr>
              <a:t>29.7%</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Figura F.8.</a:t>
            </a:r>
          </a:p>
          <a:p>
            <a:pPr>
              <a:spcBef>
                <a:spcPts val="0"/>
              </a:spcBef>
              <a:spcAft>
                <a:spcPts val="0"/>
              </a:spcAft>
            </a:pPr>
            <a:r>
              <a:rPr sz="100">
                <a:solidFill>
                  <a:srgbClr val="FFFFFF"/>
                </a:solidFill>
                <a:latin typeface="Noto Sans"/>
              </a:rPr>
              <a:t>Porcentaje de población de 12 años y más que vivió ciberacoso por medios digitales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92</a:t>
            </a:r>
          </a:p>
        </p:txBody>
      </p:sp>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9" descr="Capa accesible con el texto del SVG de la figura F.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F.9</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Publicar la situación en redes sociales</a:t>
            </a:r>
          </a:p>
          <a:p>
            <a:pPr>
              <a:spcBef>
                <a:spcPts val="0"/>
              </a:spcBef>
              <a:spcAft>
                <a:spcPts val="0"/>
              </a:spcAft>
            </a:pPr>
            <a:r>
              <a:rPr sz="100">
                <a:solidFill>
                  <a:srgbClr val="FFFFFF"/>
                </a:solidFill>
                <a:latin typeface="Noto Sans"/>
              </a:rPr>
              <a:t>Denunciar ante las autoridades escolares o</a:t>
            </a:r>
          </a:p>
          <a:p>
            <a:pPr>
              <a:spcBef>
                <a:spcPts val="0"/>
              </a:spcBef>
              <a:spcAft>
                <a:spcPts val="0"/>
              </a:spcAft>
            </a:pPr>
            <a:r>
              <a:rPr sz="100">
                <a:solidFill>
                  <a:srgbClr val="FFFFFF"/>
                </a:solidFill>
                <a:latin typeface="Noto Sans"/>
              </a:rPr>
              <a:t>laborales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Reportar ante la policía</a:t>
            </a:r>
          </a:p>
          <a:p>
            <a:pPr>
              <a:spcBef>
                <a:spcPts val="0"/>
              </a:spcBef>
              <a:spcAft>
                <a:spcPts val="0"/>
              </a:spcAft>
            </a:pPr>
            <a:r>
              <a:rPr sz="100">
                <a:solidFill>
                  <a:srgbClr val="FFFFFF"/>
                </a:solidFill>
                <a:latin typeface="Noto Sans"/>
              </a:rPr>
              <a:t>Informar a una persona (madre, padre,</a:t>
            </a:r>
          </a:p>
          <a:p>
            <a:pPr>
              <a:spcBef>
                <a:spcPts val="0"/>
              </a:spcBef>
              <a:spcAft>
                <a:spcPts val="0"/>
              </a:spcAft>
            </a:pPr>
            <a:r>
              <a:rPr sz="100">
                <a:solidFill>
                  <a:srgbClr val="FFFFFF"/>
                </a:solidFill>
                <a:latin typeface="Noto Sans"/>
              </a:rPr>
              <a:t>amiga(o), compañera(o) de trabajo,</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Reclamar o confrontar a la persona</a:t>
            </a:r>
          </a:p>
          <a:p>
            <a:pPr>
              <a:spcBef>
                <a:spcPts val="0"/>
              </a:spcBef>
              <a:spcAft>
                <a:spcPts val="0"/>
              </a:spcAft>
            </a:pPr>
            <a:r>
              <a:rPr sz="100">
                <a:solidFill>
                  <a:srgbClr val="FFFFFF"/>
                </a:solidFill>
                <a:latin typeface="Noto Sans"/>
              </a:rPr>
              <a:t>Eliminar la publicación, el mensaje o</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Ninguna</a:t>
            </a:r>
          </a:p>
          <a:p>
            <a:pPr>
              <a:spcBef>
                <a:spcPts val="0"/>
              </a:spcBef>
              <a:spcAft>
                <a:spcPts val="0"/>
              </a:spcAft>
            </a:pPr>
            <a:r>
              <a:rPr sz="100">
                <a:solidFill>
                  <a:srgbClr val="FFFFFF"/>
                </a:solidFill>
                <a:latin typeface="Noto Sans"/>
              </a:rPr>
              <a:t>Cambiar o cancelar número telefónico,</a:t>
            </a:r>
          </a:p>
          <a:p>
            <a:pPr>
              <a:spcBef>
                <a:spcPts val="0"/>
              </a:spcBef>
              <a:spcAft>
                <a:spcPts val="0"/>
              </a:spcAft>
            </a:pPr>
            <a:r>
              <a:rPr sz="100">
                <a:solidFill>
                  <a:srgbClr val="FFFFFF"/>
                </a:solidFill>
                <a:latin typeface="Noto Sans"/>
              </a:rPr>
              <a:t>cuenta o contraseña</a:t>
            </a:r>
          </a:p>
          <a:p>
            <a:pPr>
              <a:spcBef>
                <a:spcPts val="0"/>
              </a:spcBef>
              <a:spcAft>
                <a:spcPts val="0"/>
              </a:spcAft>
            </a:pPr>
            <a:r>
              <a:rPr sz="100">
                <a:solidFill>
                  <a:srgbClr val="FFFFFF"/>
                </a:solidFill>
                <a:latin typeface="Noto Sans"/>
              </a:rPr>
              <a:t>Denunciar ante el Ministerio Público,</a:t>
            </a:r>
          </a:p>
          <a:p>
            <a:pPr>
              <a:spcBef>
                <a:spcPts val="0"/>
              </a:spcBef>
              <a:spcAft>
                <a:spcPts val="0"/>
              </a:spcAft>
            </a:pPr>
            <a:r>
              <a:rPr sz="100">
                <a:solidFill>
                  <a:srgbClr val="FFFFFF"/>
                </a:solidFill>
                <a:latin typeface="Noto Sans"/>
              </a:rPr>
              <a:t>Fiscalía Estatal o el proveedor del</a:t>
            </a:r>
          </a:p>
          <a:p>
            <a:pPr>
              <a:spcBef>
                <a:spcPts val="0"/>
              </a:spcBef>
              <a:spcAft>
                <a:spcPts val="0"/>
              </a:spcAft>
            </a:pPr>
            <a:r>
              <a:rPr sz="100">
                <a:solidFill>
                  <a:srgbClr val="FFFFFF"/>
                </a:solidFill>
                <a:latin typeface="Noto Sans"/>
              </a:rPr>
              <a:t>servicio</a:t>
            </a:r>
          </a:p>
          <a:p>
            <a:pPr>
              <a:spcBef>
                <a:spcPts val="0"/>
              </a:spcBef>
              <a:spcAft>
                <a:spcPts val="0"/>
              </a:spcAft>
            </a:pPr>
            <a:r>
              <a:rPr sz="100">
                <a:solidFill>
                  <a:srgbClr val="FFFFFF"/>
                </a:solidFill>
                <a:latin typeface="Noto Sans"/>
              </a:rPr>
              <a:t>Ignorar o no contestar</a:t>
            </a:r>
          </a:p>
          <a:p>
            <a:pPr>
              <a:spcBef>
                <a:spcPts val="0"/>
              </a:spcBef>
              <a:spcAft>
                <a:spcPts val="0"/>
              </a:spcAft>
            </a:pPr>
            <a:r>
              <a:rPr sz="100">
                <a:solidFill>
                  <a:srgbClr val="FFFFFF"/>
                </a:solidFill>
                <a:latin typeface="Noto Sans"/>
              </a:rPr>
              <a:t>Bloquear (a la persona, cuenta o página)</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18.9%</a:t>
            </a:r>
          </a:p>
          <a:p>
            <a:pPr>
              <a:spcBef>
                <a:spcPts val="0"/>
              </a:spcBef>
              <a:spcAft>
                <a:spcPts val="0"/>
              </a:spcAft>
            </a:pPr>
            <a:r>
              <a:rPr sz="100">
                <a:solidFill>
                  <a:srgbClr val="FFFFFF"/>
                </a:solidFill>
                <a:latin typeface="Noto Sans"/>
              </a:rPr>
              <a:t>66.5%</a:t>
            </a:r>
          </a:p>
          <a:p>
            <a:pPr>
              <a:spcBef>
                <a:spcPts val="0"/>
              </a:spcBef>
              <a:spcAft>
                <a:spcPts val="0"/>
              </a:spcAft>
            </a:pPr>
            <a:r>
              <a:rPr sz="100">
                <a:solidFill>
                  <a:srgbClr val="FFFFFF"/>
                </a:solidFill>
                <a:latin typeface="Noto Sans"/>
              </a:rPr>
              <a:t>Figura F.9.</a:t>
            </a:r>
          </a:p>
          <a:p>
            <a:pPr>
              <a:spcBef>
                <a:spcPts val="0"/>
              </a:spcBef>
              <a:spcAft>
                <a:spcPts val="0"/>
              </a:spcAft>
            </a:pPr>
            <a:r>
              <a:rPr sz="100">
                <a:solidFill>
                  <a:srgbClr val="FFFFFF"/>
                </a:solidFill>
                <a:latin typeface="Noto Sans"/>
              </a:rPr>
              <a:t>Medidas tomadas contra el ciberacoso experimentado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93</a:t>
            </a:r>
          </a:p>
        </p:txBody>
      </p:sp>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0" descr="Capa accesible con el texto del SVG de la figura F.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F.10</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56.3%</a:t>
            </a:r>
          </a:p>
          <a:p>
            <a:pPr>
              <a:spcBef>
                <a:spcPts val="0"/>
              </a:spcBef>
              <a:spcAft>
                <a:spcPts val="0"/>
              </a:spcAft>
            </a:pPr>
            <a:r>
              <a:rPr sz="100">
                <a:solidFill>
                  <a:srgbClr val="FFFFFF"/>
                </a:solidFill>
                <a:latin typeface="Noto Sans"/>
              </a:rPr>
              <a:t>Figura F.10.</a:t>
            </a:r>
          </a:p>
          <a:p>
            <a:pPr>
              <a:spcBef>
                <a:spcPts val="0"/>
              </a:spcBef>
              <a:spcAft>
                <a:spcPts val="0"/>
              </a:spcAft>
            </a:pPr>
            <a:r>
              <a:rPr sz="100">
                <a:solidFill>
                  <a:srgbClr val="FFFFFF"/>
                </a:solidFill>
                <a:latin typeface="Noto Sans"/>
              </a:rPr>
              <a:t>Personas con mayor riesgo de ser víctimas de violencia en Internet (2023)</a:t>
            </a:r>
          </a:p>
          <a:p>
            <a:pPr>
              <a:spcBef>
                <a:spcPts val="0"/>
              </a:spcBef>
              <a:spcAft>
                <a:spcPts val="0"/>
              </a:spcAft>
            </a:pPr>
            <a:r>
              <a:rPr sz="100">
                <a:solidFill>
                  <a:srgbClr val="FFFFFF"/>
                </a:solidFill>
                <a:latin typeface="Noto Sans"/>
              </a:rPr>
              <a:t>VIOLENCIA DIGITAL</a:t>
            </a:r>
          </a:p>
          <a:p>
            <a:pPr>
              <a:spcBef>
                <a:spcPts val="0"/>
              </a:spcBef>
              <a:spcAft>
                <a:spcPts val="0"/>
              </a:spcAft>
            </a:pPr>
            <a:r>
              <a:rPr sz="100">
                <a:solidFill>
                  <a:srgbClr val="FFFFFF"/>
                </a:solidFill>
                <a:latin typeface="Noto Sans"/>
              </a:rPr>
              <a:t>La percepción de mayor riesgo</a:t>
            </a:r>
          </a:p>
          <a:p>
            <a:pPr>
              <a:spcBef>
                <a:spcPts val="0"/>
              </a:spcBef>
              <a:spcAft>
                <a:spcPts val="0"/>
              </a:spcAft>
            </a:pPr>
            <a:r>
              <a:rPr sz="100">
                <a:solidFill>
                  <a:srgbClr val="FFFFFF"/>
                </a:solidFill>
                <a:latin typeface="Noto Sans"/>
              </a:rPr>
              <a:t>se concentra en niños, niñas y</a:t>
            </a:r>
          </a:p>
          <a:p>
            <a:pPr>
              <a:spcBef>
                <a:spcPts val="0"/>
              </a:spcBef>
              <a:spcAft>
                <a:spcPts val="0"/>
              </a:spcAft>
            </a:pPr>
            <a:r>
              <a:rPr sz="100">
                <a:solidFill>
                  <a:srgbClr val="FFFFFF"/>
                </a:solidFill>
                <a:latin typeface="Noto Sans"/>
              </a:rPr>
              <a:t>adolescentes (56.3%). Los</a:t>
            </a:r>
          </a:p>
          <a:p>
            <a:pPr>
              <a:spcBef>
                <a:spcPts val="0"/>
              </a:spcBef>
              <a:spcAft>
                <a:spcPts val="0"/>
              </a:spcAft>
            </a:pPr>
            <a:r>
              <a:rPr sz="100">
                <a:solidFill>
                  <a:srgbClr val="FFFFFF"/>
                </a:solidFill>
                <a:latin typeface="Noto Sans"/>
              </a:rPr>
              <a:t>porcentajes se calcularon con</a:t>
            </a:r>
          </a:p>
          <a:p>
            <a:pPr>
              <a:spcBef>
                <a:spcPts val="0"/>
              </a:spcBef>
              <a:spcAft>
                <a:spcPts val="0"/>
              </a:spcAft>
            </a:pPr>
            <a:r>
              <a:rPr sz="100">
                <a:solidFill>
                  <a:srgbClr val="FFFFFF"/>
                </a:solidFill>
                <a:latin typeface="Noto Sans"/>
              </a:rPr>
              <a:t>el factor de expansión</a:t>
            </a:r>
          </a:p>
          <a:p>
            <a:pPr>
              <a:spcBef>
                <a:spcPts val="0"/>
              </a:spcBef>
              <a:spcAft>
                <a:spcPts val="0"/>
              </a:spcAft>
            </a:pPr>
            <a:r>
              <a:rPr sz="100">
                <a:solidFill>
                  <a:srgbClr val="FFFFFF"/>
                </a:solidFill>
                <a:latin typeface="Noto Sans"/>
              </a:rPr>
              <a:t>normalizado entre personas</a:t>
            </a:r>
          </a:p>
          <a:p>
            <a:pPr>
              <a:spcBef>
                <a:spcPts val="0"/>
              </a:spcBef>
              <a:spcAft>
                <a:spcPts val="0"/>
              </a:spcAft>
            </a:pPr>
            <a:r>
              <a:rPr sz="100">
                <a:solidFill>
                  <a:srgbClr val="FFFFFF"/>
                </a:solidFill>
                <a:latin typeface="Noto Sans"/>
              </a:rPr>
              <a:t>usuarias de Internet fijo.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94</a:t>
            </a:r>
          </a:p>
        </p:txBody>
      </p:sp>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29.8%</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43.5%</a:t>
            </a:r>
          </a:p>
          <a:p>
            <a:pPr>
              <a:spcBef>
                <a:spcPts val="0"/>
              </a:spcBef>
              <a:spcAft>
                <a:spcPts val="0"/>
              </a:spcAft>
            </a:pPr>
            <a:r>
              <a:rPr sz="100">
                <a:solidFill>
                  <a:srgbClr val="FFFFFF"/>
                </a:solidFill>
                <a:latin typeface="Noto Sans"/>
              </a:rPr>
              <a:t>54.1%</a:t>
            </a:r>
          </a:p>
          <a:p>
            <a:pPr>
              <a:spcBef>
                <a:spcPts val="0"/>
              </a:spcBef>
              <a:spcAft>
                <a:spcPts val="0"/>
              </a:spcAft>
            </a:pPr>
            <a:r>
              <a:rPr sz="100">
                <a:solidFill>
                  <a:srgbClr val="FFFFFF"/>
                </a:solidFill>
                <a:latin typeface="Noto Sans"/>
              </a:rPr>
              <a:t>28.4%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43.0%</a:t>
            </a:r>
          </a:p>
          <a:p>
            <a:pPr>
              <a:spcBef>
                <a:spcPts val="0"/>
              </a:spcBef>
              <a:spcAft>
                <a:spcPts val="0"/>
              </a:spcAft>
            </a:pPr>
            <a:r>
              <a:rPr sz="100">
                <a:solidFill>
                  <a:srgbClr val="FFFFFF"/>
                </a:solidFill>
                <a:latin typeface="Noto Sans"/>
              </a:rPr>
              <a:t>58.4%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Personas con mayor riesgo de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95</a:t>
            </a:r>
          </a:p>
        </p:txBody>
      </p:sp>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Niños,</a:t>
            </a:r>
          </a:p>
          <a:p>
            <a:pPr>
              <a:spcBef>
                <a:spcPts val="0"/>
              </a:spcBef>
              <a:spcAft>
                <a:spcPts val="0"/>
              </a:spcAft>
            </a:pPr>
            <a:r>
              <a:rPr sz="100">
                <a:solidFill>
                  <a:srgbClr val="FFFFFF"/>
                </a:solidFill>
                <a:latin typeface="Noto Sans"/>
              </a:rPr>
              <a:t>niñas y adolescentes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Parientes</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con discapacidad</a:t>
            </a:r>
          </a:p>
          <a:p>
            <a:pPr>
              <a:spcBef>
                <a:spcPts val="0"/>
              </a:spcBef>
              <a:spcAft>
                <a:spcPts val="0"/>
              </a:spcAft>
            </a:pPr>
            <a:r>
              <a:rPr sz="100">
                <a:solidFill>
                  <a:srgbClr val="FFFFFF"/>
                </a:solidFill>
                <a:latin typeface="Noto Sans"/>
              </a:rPr>
              <a:t>Todas</a:t>
            </a:r>
          </a:p>
          <a:p>
            <a:pPr>
              <a:spcBef>
                <a:spcPts val="0"/>
              </a:spcBef>
              <a:spcAft>
                <a:spcPts val="0"/>
              </a:spcAft>
            </a:pPr>
            <a:r>
              <a:rPr sz="100">
                <a:solidFill>
                  <a:srgbClr val="FFFFFF"/>
                </a:solidFill>
                <a:latin typeface="Noto Sans"/>
              </a:rPr>
              <a:t>las personas son vulnerables</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Personas con mayor riesgo de violencia a través del teléfono móvil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96</a:t>
            </a:r>
          </a:p>
        </p:txBody>
      </p:sp>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Parientes (familiares)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43.7%</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49.0%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Personas con mayor riesgo de violencia mediante telefonía móvil,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97</a:t>
            </a:r>
          </a:p>
        </p:txBody>
      </p:sp>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4" descr="Capa accesible con el texto del SVG de la figura F.14"/>
          <p:cNvSpPr txBox="1"/>
          <p:nvPr/>
        </p:nvSpPr>
        <p:spPr>
          <a:xfrm>
            <a:off x="3357372" y="1210286"/>
            <a:ext cx="5279136" cy="3056877"/>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Medidas preventivas y de protección ante la violencia digital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Información correspondiente al estudio cualitativo; no es representativa a nivel nacional.</a:t>
            </a:r>
          </a:p>
          <a:p>
            <a:pPr>
              <a:spcBef>
                <a:spcPts val="0"/>
              </a:spcBef>
              <a:spcAft>
                <a:spcPts val="0"/>
              </a:spcAft>
            </a:pPr>
            <a:r>
              <a:rPr sz="100">
                <a:solidFill>
                  <a:srgbClr val="FFFFFF"/>
                </a:solidFill>
                <a:latin typeface="Noto Sans"/>
              </a:rPr>
              <a:t>Cuidar el tipo de información que</a:t>
            </a:r>
          </a:p>
          <a:p>
            <a:pPr>
              <a:spcBef>
                <a:spcPts val="0"/>
              </a:spcBef>
              <a:spcAft>
                <a:spcPts val="0"/>
              </a:spcAft>
            </a:pPr>
            <a:r>
              <a:rPr sz="100">
                <a:solidFill>
                  <a:srgbClr val="FFFFFF"/>
                </a:solidFill>
                <a:latin typeface="Noto Sans"/>
              </a:rPr>
              <a:t>comparten y evitar divulgar información</a:t>
            </a:r>
          </a:p>
          <a:p>
            <a:pPr>
              <a:spcBef>
                <a:spcPts val="0"/>
              </a:spcBef>
              <a:spcAft>
                <a:spcPts val="0"/>
              </a:spcAft>
            </a:pPr>
            <a:r>
              <a:rPr sz="100">
                <a:solidFill>
                  <a:srgbClr val="FFFFFF"/>
                </a:solidFill>
                <a:latin typeface="Noto Sans"/>
              </a:rPr>
              <a:t>personal privada, propia o de familiares.</a:t>
            </a:r>
          </a:p>
          <a:p>
            <a:pPr>
              <a:spcBef>
                <a:spcPts val="0"/>
              </a:spcBef>
              <a:spcAft>
                <a:spcPts val="0"/>
              </a:spcAft>
            </a:pPr>
            <a:r>
              <a:rPr sz="100">
                <a:solidFill>
                  <a:srgbClr val="FFFFFF"/>
                </a:solidFill>
                <a:latin typeface="Noto Sans"/>
              </a:rPr>
              <a:t>Tener contacto solamente con personas</a:t>
            </a:r>
          </a:p>
          <a:p>
            <a:pPr>
              <a:spcBef>
                <a:spcPts val="0"/>
              </a:spcBef>
              <a:spcAft>
                <a:spcPts val="0"/>
              </a:spcAft>
            </a:pPr>
            <a:r>
              <a:rPr sz="100">
                <a:solidFill>
                  <a:srgbClr val="FFFFFF"/>
                </a:solidFill>
                <a:latin typeface="Noto Sans"/>
              </a:rPr>
              <a:t>conocidas y no aceptar a desconocidos.</a:t>
            </a:r>
          </a:p>
          <a:p>
            <a:pPr>
              <a:spcBef>
                <a:spcPts val="0"/>
              </a:spcBef>
              <a:spcAft>
                <a:spcPts val="0"/>
              </a:spcAft>
            </a:pPr>
            <a:r>
              <a:rPr sz="100">
                <a:solidFill>
                  <a:srgbClr val="FFFFFF"/>
                </a:solidFill>
                <a:latin typeface="Noto Sans"/>
              </a:rPr>
              <a:t>No entrar a sitios ni vínculos desconocidos,</a:t>
            </a:r>
          </a:p>
          <a:p>
            <a:pPr>
              <a:spcBef>
                <a:spcPts val="0"/>
              </a:spcBef>
              <a:spcAft>
                <a:spcPts val="0"/>
              </a:spcAft>
            </a:pPr>
            <a:r>
              <a:rPr sz="100">
                <a:solidFill>
                  <a:srgbClr val="FFFFFF"/>
                </a:solidFill>
                <a:latin typeface="Noto Sans"/>
              </a:rPr>
              <a:t>aunque parezcan atractivos.</a:t>
            </a:r>
          </a:p>
          <a:p>
            <a:pPr>
              <a:spcBef>
                <a:spcPts val="0"/>
              </a:spcBef>
              <a:spcAft>
                <a:spcPts val="0"/>
              </a:spcAft>
            </a:pPr>
            <a:r>
              <a:rPr sz="100">
                <a:solidFill>
                  <a:srgbClr val="FFFFFF"/>
                </a:solidFill>
                <a:latin typeface="Noto Sans"/>
              </a:rPr>
              <a:t>Utilizar los filtros de seguridad de las</a:t>
            </a:r>
          </a:p>
          <a:p>
            <a:pPr>
              <a:spcBef>
                <a:spcPts val="0"/>
              </a:spcBef>
              <a:spcAft>
                <a:spcPts val="0"/>
              </a:spcAft>
            </a:pPr>
            <a:r>
              <a:rPr sz="100">
                <a:solidFill>
                  <a:srgbClr val="FFFFFF"/>
                </a:solidFill>
                <a:latin typeface="Noto Sans"/>
              </a:rPr>
              <a:t>plataformas para restringir con quién se</a:t>
            </a:r>
          </a:p>
          <a:p>
            <a:pPr>
              <a:spcBef>
                <a:spcPts val="0"/>
              </a:spcBef>
              <a:spcAft>
                <a:spcPts val="0"/>
              </a:spcAft>
            </a:pPr>
            <a:r>
              <a:rPr sz="100">
                <a:solidFill>
                  <a:srgbClr val="FFFFFF"/>
                </a:solidFill>
                <a:latin typeface="Noto Sans"/>
              </a:rPr>
              <a:t>comparte información.</a:t>
            </a:r>
          </a:p>
          <a:p>
            <a:pPr>
              <a:spcBef>
                <a:spcPts val="0"/>
              </a:spcBef>
              <a:spcAft>
                <a:spcPts val="0"/>
              </a:spcAft>
            </a:pPr>
            <a:r>
              <a:rPr sz="100">
                <a:solidFill>
                  <a:srgbClr val="FFFFFF"/>
                </a:solidFill>
                <a:latin typeface="Noto Sans"/>
              </a:rPr>
              <a:t>En casos menos delicados, hacer caso</a:t>
            </a:r>
          </a:p>
          <a:p>
            <a:pPr>
              <a:spcBef>
                <a:spcPts val="0"/>
              </a:spcBef>
              <a:spcAft>
                <a:spcPts val="0"/>
              </a:spcAft>
            </a:pPr>
            <a:r>
              <a:rPr sz="100">
                <a:solidFill>
                  <a:srgbClr val="FFFFFF"/>
                </a:solidFill>
                <a:latin typeface="Noto Sans"/>
              </a:rPr>
              <a:t>omiso a comentarios negativos,</a:t>
            </a:r>
          </a:p>
          <a:p>
            <a:pPr>
              <a:spcBef>
                <a:spcPts val="0"/>
              </a:spcBef>
              <a:spcAft>
                <a:spcPts val="0"/>
              </a:spcAft>
            </a:pPr>
            <a:r>
              <a:rPr sz="100">
                <a:solidFill>
                  <a:srgbClr val="FFFFFF"/>
                </a:solidFill>
                <a:latin typeface="Noto Sans"/>
              </a:rPr>
              <a:t>provocaciones o ataques.</a:t>
            </a:r>
          </a:p>
          <a:p>
            <a:pPr>
              <a:spcBef>
                <a:spcPts val="0"/>
              </a:spcBef>
              <a:spcAft>
                <a:spcPts val="0"/>
              </a:spcAft>
            </a:pPr>
            <a:r>
              <a:rPr sz="100">
                <a:solidFill>
                  <a:srgbClr val="FFFFFF"/>
                </a:solidFill>
                <a:latin typeface="Noto Sans"/>
              </a:rPr>
              <a:t>Platicar el caso con familiares y amistades</a:t>
            </a:r>
          </a:p>
          <a:p>
            <a:pPr>
              <a:spcBef>
                <a:spcPts val="0"/>
              </a:spcBef>
              <a:spcAft>
                <a:spcPts val="0"/>
              </a:spcAft>
            </a:pPr>
            <a:r>
              <a:rPr sz="100">
                <a:solidFill>
                  <a:srgbClr val="FFFFFF"/>
                </a:solidFill>
                <a:latin typeface="Noto Sans"/>
              </a:rPr>
              <a:t>de mucha confianza para recibir apoyo y</a:t>
            </a:r>
          </a:p>
          <a:p>
            <a:pPr>
              <a:spcBef>
                <a:spcPts val="0"/>
              </a:spcBef>
              <a:spcAft>
                <a:spcPts val="0"/>
              </a:spcAft>
            </a:pPr>
            <a:r>
              <a:rPr sz="100">
                <a:solidFill>
                  <a:srgbClr val="FFFFFF"/>
                </a:solidFill>
                <a:latin typeface="Noto Sans"/>
              </a:rPr>
              <a:t>consejo.</a:t>
            </a:r>
          </a:p>
          <a:p>
            <a:pPr>
              <a:spcBef>
                <a:spcPts val="0"/>
              </a:spcBef>
              <a:spcAft>
                <a:spcPts val="0"/>
              </a:spcAft>
            </a:pPr>
            <a:r>
              <a:rPr sz="100">
                <a:solidFill>
                  <a:srgbClr val="FFFFFF"/>
                </a:solidFill>
                <a:latin typeface="Noto Sans"/>
              </a:rPr>
              <a:t>En casos graves, acudir a la Policía</a:t>
            </a:r>
          </a:p>
          <a:p>
            <a:pPr>
              <a:spcBef>
                <a:spcPts val="0"/>
              </a:spcBef>
              <a:spcAft>
                <a:spcPts val="0"/>
              </a:spcAft>
            </a:pPr>
            <a:r>
              <a:rPr sz="100">
                <a:solidFill>
                  <a:srgbClr val="FFFFFF"/>
                </a:solidFill>
                <a:latin typeface="Noto Sans"/>
              </a:rPr>
              <a:t>Cibernética.</a:t>
            </a:r>
          </a:p>
          <a:p>
            <a:pPr>
              <a:spcBef>
                <a:spcPts val="0"/>
              </a:spcBef>
              <a:spcAft>
                <a:spcPts val="0"/>
              </a:spcAft>
            </a:pPr>
            <a:r>
              <a:rPr sz="100">
                <a:solidFill>
                  <a:srgbClr val="FFFFFF"/>
                </a:solidFill>
                <a:latin typeface="Noto Sans"/>
              </a:rPr>
              <a:t>Buscar ayuda psicológica.</a:t>
            </a:r>
          </a:p>
          <a:p>
            <a:pPr>
              <a:spcBef>
                <a:spcPts val="0"/>
              </a:spcBef>
              <a:spcAft>
                <a:spcPts val="0"/>
              </a:spcAft>
            </a:pPr>
            <a:r>
              <a:rPr sz="100">
                <a:solidFill>
                  <a:srgbClr val="FFFFFF"/>
                </a:solidFill>
                <a:latin typeface="Noto Sans"/>
              </a:rPr>
              <a:t>Medidas</a:t>
            </a:r>
          </a:p>
          <a:p>
            <a:pPr>
              <a:spcBef>
                <a:spcPts val="0"/>
              </a:spcBef>
              <a:spcAft>
                <a:spcPts val="0"/>
              </a:spcAft>
            </a:pPr>
            <a:r>
              <a:rPr sz="100">
                <a:solidFill>
                  <a:srgbClr val="FFFFFF"/>
                </a:solidFill>
                <a:latin typeface="Noto Sans"/>
              </a:rPr>
              <a:t>preventivas para</a:t>
            </a:r>
          </a:p>
          <a:p>
            <a:pPr>
              <a:spcBef>
                <a:spcPts val="0"/>
              </a:spcBef>
              <a:spcAft>
                <a:spcPts val="0"/>
              </a:spcAft>
            </a:pPr>
            <a:r>
              <a:rPr sz="100">
                <a:solidFill>
                  <a:srgbClr val="FFFFFF"/>
                </a:solidFill>
                <a:latin typeface="Noto Sans"/>
              </a:rPr>
              <a:t>evitar ser víctima</a:t>
            </a:r>
          </a:p>
          <a:p>
            <a:pPr>
              <a:spcBef>
                <a:spcPts val="0"/>
              </a:spcBef>
              <a:spcAft>
                <a:spcPts val="0"/>
              </a:spcAft>
            </a:pPr>
            <a:r>
              <a:rPr sz="100">
                <a:solidFill>
                  <a:srgbClr val="FFFFFF"/>
                </a:solidFill>
                <a:latin typeface="Noto Sans"/>
              </a:rPr>
              <a:t>de violencia digital</a:t>
            </a:r>
          </a:p>
          <a:p>
            <a:pPr>
              <a:spcBef>
                <a:spcPts val="0"/>
              </a:spcBef>
              <a:spcAft>
                <a:spcPts val="0"/>
              </a:spcAft>
            </a:pPr>
            <a:r>
              <a:rPr sz="100">
                <a:solidFill>
                  <a:srgbClr val="FFFFFF"/>
                </a:solidFill>
                <a:latin typeface="Noto Sans"/>
              </a:rPr>
              <a:t>Medidas de</a:t>
            </a:r>
          </a:p>
          <a:p>
            <a:pPr>
              <a:spcBef>
                <a:spcPts val="0"/>
              </a:spcBef>
              <a:spcAft>
                <a:spcPts val="0"/>
              </a:spcAft>
            </a:pPr>
            <a:r>
              <a:rPr sz="100">
                <a:solidFill>
                  <a:srgbClr val="FFFFFF"/>
                </a:solidFill>
                <a:latin typeface="Noto Sans"/>
              </a:rPr>
              <a:t>protección una</a:t>
            </a:r>
          </a:p>
          <a:p>
            <a:pPr>
              <a:spcBef>
                <a:spcPts val="0"/>
              </a:spcBef>
              <a:spcAft>
                <a:spcPts val="0"/>
              </a:spcAft>
            </a:pPr>
            <a:r>
              <a:rPr sz="100">
                <a:solidFill>
                  <a:srgbClr val="FFFFFF"/>
                </a:solidFill>
                <a:latin typeface="Noto Sans"/>
              </a:rPr>
              <a:t>vez que han sido</a:t>
            </a:r>
          </a:p>
          <a:p>
            <a:pPr>
              <a:spcBef>
                <a:spcPts val="0"/>
              </a:spcBef>
              <a:spcAft>
                <a:spcPts val="0"/>
              </a:spcAft>
            </a:pPr>
            <a:r>
              <a:rPr sz="100">
                <a:solidFill>
                  <a:srgbClr val="FFFFFF"/>
                </a:solidFill>
                <a:latin typeface="Noto Sans"/>
              </a:rPr>
              <a:t>víctimas de</a:t>
            </a:r>
          </a:p>
          <a:p>
            <a:pPr>
              <a:spcBef>
                <a:spcPts val="0"/>
              </a:spcBef>
              <a:spcAft>
                <a:spcPts val="0"/>
              </a:spcAft>
            </a:pPr>
            <a:r>
              <a:rPr sz="100">
                <a:solidFill>
                  <a:srgbClr val="FFFFFF"/>
                </a:solidFill>
                <a:latin typeface="Noto Sans"/>
              </a:rPr>
              <a:t>violencia digital</a:t>
            </a:r>
          </a:p>
        </p:txBody>
      </p:sp>
      <p:pic>
        <p:nvPicPr>
          <p:cNvPr id="223"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98</a:t>
            </a:r>
          </a:p>
        </p:txBody>
      </p:sp>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5" descr="Capa accesible con el texto del SVG de la figura F.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Comentar con otras personas lo que sucede</a:t>
            </a:r>
          </a:p>
          <a:p>
            <a:pPr>
              <a:spcBef>
                <a:spcPts val="0"/>
              </a:spcBef>
              <a:spcAft>
                <a:spcPts val="0"/>
              </a:spcAft>
            </a:pPr>
            <a:r>
              <a:rPr sz="100">
                <a:solidFill>
                  <a:srgbClr val="FFFFFF"/>
                </a:solidFill>
                <a:latin typeface="Noto Sans"/>
              </a:rPr>
              <a:t>Limitar la actividad en redes sociales</a:t>
            </a:r>
          </a:p>
          <a:p>
            <a:pPr>
              <a:spcBef>
                <a:spcPts val="0"/>
              </a:spcBef>
              <a:spcAft>
                <a:spcPts val="0"/>
              </a:spcAft>
            </a:pPr>
            <a:r>
              <a:rPr sz="100">
                <a:solidFill>
                  <a:srgbClr val="FFFFFF"/>
                </a:solidFill>
                <a:latin typeface="Noto Sans"/>
              </a:rPr>
              <a:t>Cuestionar el contenido antes de publicarlo</a:t>
            </a:r>
          </a:p>
          <a:p>
            <a:pPr>
              <a:spcBef>
                <a:spcPts val="0"/>
              </a:spcBef>
              <a:spcAft>
                <a:spcPts val="0"/>
              </a:spcAft>
            </a:pPr>
            <a:r>
              <a:rPr sz="100">
                <a:solidFill>
                  <a:srgbClr val="FFFFFF"/>
                </a:solidFill>
                <a:latin typeface="Noto Sans"/>
              </a:rPr>
              <a:t>Restringir fotos o videos</a:t>
            </a:r>
          </a:p>
          <a:p>
            <a:pPr>
              <a:spcBef>
                <a:spcPts val="0"/>
              </a:spcBef>
              <a:spcAft>
                <a:spcPts val="0"/>
              </a:spcAft>
            </a:pPr>
            <a:r>
              <a:rPr sz="100">
                <a:solidFill>
                  <a:srgbClr val="FFFFFF"/>
                </a:solidFill>
                <a:latin typeface="Noto Sans"/>
              </a:rPr>
              <a:t>Mantener redes sociales privadas</a:t>
            </a:r>
          </a:p>
          <a:p>
            <a:pPr>
              <a:spcBef>
                <a:spcPts val="0"/>
              </a:spcBef>
              <a:spcAft>
                <a:spcPts val="0"/>
              </a:spcAft>
            </a:pPr>
            <a:r>
              <a:rPr sz="100">
                <a:solidFill>
                  <a:srgbClr val="FFFFFF"/>
                </a:solidFill>
                <a:latin typeface="Noto Sans"/>
              </a:rPr>
              <a:t>Evitar publicar información de ubicación</a:t>
            </a:r>
          </a:p>
          <a:p>
            <a:pPr>
              <a:spcBef>
                <a:spcPts val="0"/>
              </a:spcBef>
              <a:spcAft>
                <a:spcPts val="0"/>
              </a:spcAft>
            </a:pPr>
            <a:r>
              <a:rPr sz="100">
                <a:solidFill>
                  <a:srgbClr val="FFFFFF"/>
                </a:solidFill>
                <a:latin typeface="Noto Sans"/>
              </a:rPr>
              <a:t>Ser más precavido al abrir vínculos o archivos</a:t>
            </a:r>
          </a:p>
          <a:p>
            <a:pPr>
              <a:spcBef>
                <a:spcPts val="0"/>
              </a:spcBef>
              <a:spcAft>
                <a:spcPts val="0"/>
              </a:spcAft>
            </a:pPr>
            <a:r>
              <a:rPr sz="100">
                <a:solidFill>
                  <a:srgbClr val="FFFFFF"/>
                </a:solidFill>
                <a:latin typeface="Noto Sans"/>
              </a:rPr>
              <a:t>Revisar un perfil antes de aceptarlo</a:t>
            </a:r>
          </a:p>
          <a:p>
            <a:pPr>
              <a:spcBef>
                <a:spcPts val="0"/>
              </a:spcBef>
              <a:spcAft>
                <a:spcPts val="0"/>
              </a:spcAft>
            </a:pPr>
            <a:r>
              <a:rPr sz="100">
                <a:solidFill>
                  <a:srgbClr val="FFFFFF"/>
                </a:solidFill>
                <a:latin typeface="Noto Sans"/>
              </a:rPr>
              <a:t>Evitar compartir contraseñas</a:t>
            </a:r>
          </a:p>
          <a:p>
            <a:pPr>
              <a:spcBef>
                <a:spcPts val="0"/>
              </a:spcBef>
              <a:spcAft>
                <a:spcPts val="0"/>
              </a:spcAft>
            </a:pPr>
            <a:r>
              <a:rPr sz="100">
                <a:solidFill>
                  <a:srgbClr val="FFFFFF"/>
                </a:solidFill>
                <a:latin typeface="Noto Sans"/>
              </a:rPr>
              <a:t>Evitar compartir información personal</a:t>
            </a:r>
          </a:p>
          <a:p>
            <a:pPr>
              <a:spcBef>
                <a:spcPts val="0"/>
              </a:spcBef>
              <a:spcAft>
                <a:spcPts val="0"/>
              </a:spcAft>
            </a:pPr>
            <a:r>
              <a:rPr sz="100">
                <a:solidFill>
                  <a:srgbClr val="FFFFFF"/>
                </a:solidFill>
                <a:latin typeface="Noto Sans"/>
              </a:rPr>
              <a:t>71.2%</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80.9%</a:t>
            </a:r>
          </a:p>
          <a:p>
            <a:pPr>
              <a:spcBef>
                <a:spcPts val="0"/>
              </a:spcBef>
              <a:spcAft>
                <a:spcPts val="0"/>
              </a:spcAft>
            </a:pPr>
            <a:r>
              <a:rPr sz="100">
                <a:solidFill>
                  <a:srgbClr val="FFFFFF"/>
                </a:solidFill>
                <a:latin typeface="Noto Sans"/>
              </a:rPr>
              <a:t>82.0%</a:t>
            </a:r>
          </a:p>
          <a:p>
            <a:pPr>
              <a:spcBef>
                <a:spcPts val="0"/>
              </a:spcBef>
              <a:spcAft>
                <a:spcPts val="0"/>
              </a:spcAft>
            </a:pPr>
            <a:r>
              <a:rPr sz="100">
                <a:solidFill>
                  <a:srgbClr val="FFFFFF"/>
                </a:solidFill>
                <a:latin typeface="Noto Sans"/>
              </a:rPr>
              <a:t>86.0%</a:t>
            </a:r>
          </a:p>
          <a:p>
            <a:pPr>
              <a:spcBef>
                <a:spcPts val="0"/>
              </a:spcBef>
              <a:spcAft>
                <a:spcPts val="0"/>
              </a:spcAft>
            </a:pPr>
            <a:r>
              <a:rPr sz="100">
                <a:solidFill>
                  <a:srgbClr val="FFFFFF"/>
                </a:solidFill>
                <a:latin typeface="Noto Sans"/>
              </a:rPr>
              <a:t>86.7%</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90.3%</a:t>
            </a:r>
          </a:p>
          <a:p>
            <a:pPr>
              <a:spcBef>
                <a:spcPts val="0"/>
              </a:spcBef>
              <a:spcAft>
                <a:spcPts val="0"/>
              </a:spcAft>
            </a:pPr>
            <a:r>
              <a:rPr sz="100">
                <a:solidFill>
                  <a:srgbClr val="FFFFFF"/>
                </a:solidFill>
                <a:latin typeface="Noto Sans"/>
              </a:rPr>
              <a:t>71.5%</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82.6%</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91.5%</a:t>
            </a:r>
          </a:p>
          <a:p>
            <a:pPr>
              <a:spcBef>
                <a:spcPts val="0"/>
              </a:spcBef>
              <a:spcAft>
                <a:spcPts val="0"/>
              </a:spcAft>
            </a:pPr>
            <a:r>
              <a:rPr sz="100">
                <a:solidFill>
                  <a:srgbClr val="FFFFFF"/>
                </a:solidFill>
                <a:latin typeface="Noto Sans"/>
              </a:rPr>
              <a:t>91.2%</a:t>
            </a:r>
          </a:p>
          <a:p>
            <a:pPr>
              <a:spcBef>
                <a:spcPts val="0"/>
              </a:spcBef>
              <a:spcAft>
                <a:spcPts val="0"/>
              </a:spcAft>
            </a:pPr>
            <a:r>
              <a:rPr sz="100">
                <a:solidFill>
                  <a:srgbClr val="FFFFFF"/>
                </a:solidFill>
                <a:latin typeface="Noto Sans"/>
              </a:rPr>
              <a:t>71.0%</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72.6%</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84.3%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85.1%</a:t>
            </a:r>
          </a:p>
          <a:p>
            <a:pPr>
              <a:spcBef>
                <a:spcPts val="0"/>
              </a:spcBef>
              <a:spcAft>
                <a:spcPts val="0"/>
              </a:spcAft>
            </a:pPr>
            <a:r>
              <a:rPr sz="100">
                <a:solidFill>
                  <a:srgbClr val="FFFFFF"/>
                </a:solidFill>
                <a:latin typeface="Noto Sans"/>
              </a:rPr>
              <a:t>87.3%</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F.15.</a:t>
            </a:r>
          </a:p>
          <a:p>
            <a:pPr>
              <a:spcBef>
                <a:spcPts val="0"/>
              </a:spcBef>
              <a:spcAft>
                <a:spcPts val="0"/>
              </a:spcAft>
            </a:pPr>
            <a:r>
              <a:rPr sz="100">
                <a:solidFill>
                  <a:srgbClr val="FFFFFF"/>
                </a:solidFill>
                <a:latin typeface="Noto Sans"/>
              </a:rPr>
              <a:t>Acciones para protegerse o prevenir la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99</a:t>
            </a:r>
          </a:p>
        </p:txBody>
      </p:sp>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6" descr="Capa accesible con el texto del SVG de la figura F.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F.16</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No sabe / no contestó</a:t>
            </a:r>
          </a:p>
          <a:p>
            <a:pPr>
              <a:spcBef>
                <a:spcPts val="0"/>
              </a:spcBef>
              <a:spcAft>
                <a:spcPts val="0"/>
              </a:spcAft>
            </a:pPr>
            <a:r>
              <a:rPr sz="100">
                <a:solidFill>
                  <a:srgbClr val="FFFFFF"/>
                </a:solidFill>
                <a:latin typeface="Noto Sans"/>
              </a:rPr>
              <a:t>Acudir con familiares, amistades o pareja</a:t>
            </a:r>
          </a:p>
          <a:p>
            <a:pPr>
              <a:spcBef>
                <a:spcPts val="0"/>
              </a:spcBef>
              <a:spcAft>
                <a:spcPts val="0"/>
              </a:spcAft>
            </a:pPr>
            <a:r>
              <a:rPr sz="100">
                <a:solidFill>
                  <a:srgbClr val="FFFFFF"/>
                </a:solidFill>
                <a:latin typeface="Noto Sans"/>
              </a:rPr>
              <a:t>Cambiar número de teléfono</a:t>
            </a:r>
          </a:p>
          <a:p>
            <a:pPr>
              <a:spcBef>
                <a:spcPts val="0"/>
              </a:spcBef>
              <a:spcAft>
                <a:spcPts val="0"/>
              </a:spcAft>
            </a:pPr>
            <a:r>
              <a:rPr sz="100">
                <a:solidFill>
                  <a:srgbClr val="FFFFFF"/>
                </a:solidFill>
                <a:latin typeface="Noto Sans"/>
              </a:rPr>
              <a:t>Ignorar o no hacer algo</a:t>
            </a:r>
          </a:p>
          <a:p>
            <a:pPr>
              <a:spcBef>
                <a:spcPts val="0"/>
              </a:spcBef>
              <a:spcAft>
                <a:spcPts val="0"/>
              </a:spcAft>
            </a:pPr>
            <a:r>
              <a:rPr sz="100">
                <a:solidFill>
                  <a:srgbClr val="FFFFFF"/>
                </a:solidFill>
                <a:latin typeface="Noto Sans"/>
              </a:rPr>
              <a:t>Cerrar la cuenta</a:t>
            </a:r>
          </a:p>
          <a:p>
            <a:pPr>
              <a:spcBef>
                <a:spcPts val="0"/>
              </a:spcBef>
              <a:spcAft>
                <a:spcPts val="0"/>
              </a:spcAft>
            </a:pPr>
            <a:r>
              <a:rPr sz="100">
                <a:solidFill>
                  <a:srgbClr val="FFFFFF"/>
                </a:solidFill>
                <a:latin typeface="Noto Sans"/>
              </a:rPr>
              <a:t>Denunciar en la plataforma o red social</a:t>
            </a:r>
          </a:p>
          <a:p>
            <a:pPr>
              <a:spcBef>
                <a:spcPts val="0"/>
              </a:spcBef>
              <a:spcAft>
                <a:spcPts val="0"/>
              </a:spcAft>
            </a:pPr>
            <a:r>
              <a:rPr sz="100">
                <a:solidFill>
                  <a:srgbClr val="FFFFFF"/>
                </a:solidFill>
                <a:latin typeface="Noto Sans"/>
              </a:rPr>
              <a:t>Bloquear a la persona</a:t>
            </a:r>
          </a:p>
          <a:p>
            <a:pPr>
              <a:spcBef>
                <a:spcPts val="0"/>
              </a:spcBef>
              <a:spcAft>
                <a:spcPts val="0"/>
              </a:spcAft>
            </a:pPr>
            <a:r>
              <a:rPr sz="100">
                <a:solidFill>
                  <a:srgbClr val="FFFFFF"/>
                </a:solidFill>
                <a:latin typeface="Noto Sans"/>
              </a:rPr>
              <a:t>Denunciar a otras autoridades</a:t>
            </a:r>
          </a:p>
          <a:p>
            <a:pPr>
              <a:spcBef>
                <a:spcPts val="0"/>
              </a:spcBef>
              <a:spcAft>
                <a:spcPts val="0"/>
              </a:spcAft>
            </a:pPr>
            <a:r>
              <a:rPr sz="100">
                <a:solidFill>
                  <a:srgbClr val="FFFFFF"/>
                </a:solidFill>
                <a:latin typeface="Noto Sans"/>
              </a:rPr>
              <a:t>Denunciar ante la Policía Cibernética</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12.4%</a:t>
            </a:r>
          </a:p>
          <a:p>
            <a:pPr>
              <a:spcBef>
                <a:spcPts val="0"/>
              </a:spcBef>
              <a:spcAft>
                <a:spcPts val="0"/>
              </a:spcAft>
            </a:pPr>
            <a:r>
              <a:rPr sz="100">
                <a:solidFill>
                  <a:srgbClr val="FFFFFF"/>
                </a:solidFill>
                <a:latin typeface="Noto Sans"/>
              </a:rPr>
              <a:t>15.2%</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32.7%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29.4%</a:t>
            </a:r>
          </a:p>
          <a:p>
            <a:pPr>
              <a:spcBef>
                <a:spcPts val="0"/>
              </a:spcBef>
              <a:spcAft>
                <a:spcPts val="0"/>
              </a:spcAft>
            </a:pPr>
            <a:r>
              <a:rPr sz="100">
                <a:solidFill>
                  <a:srgbClr val="FFFFFF"/>
                </a:solidFill>
                <a:latin typeface="Noto Sans"/>
              </a:rPr>
              <a:t>28.6%</a:t>
            </a:r>
          </a:p>
          <a:p>
            <a:pPr>
              <a:spcBef>
                <a:spcPts val="0"/>
              </a:spcBef>
              <a:spcAft>
                <a:spcPts val="0"/>
              </a:spcAft>
            </a:pPr>
            <a:r>
              <a:rPr sz="100">
                <a:solidFill>
                  <a:srgbClr val="FFFFFF"/>
                </a:solidFill>
                <a:latin typeface="Noto Sans"/>
              </a:rPr>
              <a:t>33.2%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31.0%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F.16.</a:t>
            </a:r>
          </a:p>
          <a:p>
            <a:pPr>
              <a:spcBef>
                <a:spcPts val="0"/>
              </a:spcBef>
              <a:spcAft>
                <a:spcPts val="0"/>
              </a:spcAft>
            </a:pPr>
            <a:r>
              <a:rPr sz="100">
                <a:solidFill>
                  <a:srgbClr val="FFFFFF"/>
                </a:solidFill>
                <a:latin typeface="Noto Sans"/>
              </a:rPr>
              <a:t>Medidas que se tomarían ante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100</a:t>
            </a:r>
          </a:p>
        </p:txBody>
      </p:sp>
    </p:spTree>
  </p:cSld>
  <p:clrMapOvr>
    <a:masterClrMapping/>
  </p:clrMapOvr>
</p:sld>
</file>

<file path=ppt/slides/slide10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02" name="ANUARIO_SECTION_HEADER_G" descr="ANUARIO_SECTION=G;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G_1" descr="Capa accesible con el texto del SVG de la figura G.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G.1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TDT</a:t>
            </a:r>
          </a:p>
          <a:p>
            <a:pPr>
              <a:spcBef>
                <a:spcPts val="0"/>
              </a:spcBef>
              <a:spcAft>
                <a:spcPts val="0"/>
              </a:spcAft>
            </a:pPr>
            <a:r>
              <a:rPr sz="100">
                <a:solidFill>
                  <a:srgbClr val="FFFFFF"/>
                </a:solidFill>
                <a:latin typeface="Noto Sans"/>
              </a:rPr>
              <a:t>FM</a:t>
            </a:r>
          </a:p>
          <a:p>
            <a:pPr>
              <a:spcBef>
                <a:spcPts val="0"/>
              </a:spcBef>
              <a:spcAft>
                <a:spcPts val="0"/>
              </a:spcAft>
            </a:pPr>
            <a:r>
              <a:rPr sz="100">
                <a:solidFill>
                  <a:srgbClr val="FFFFFF"/>
                </a:solidFill>
                <a:latin typeface="Noto Sans"/>
              </a:rPr>
              <a:t>AM</a:t>
            </a:r>
          </a:p>
          <a:p>
            <a:pPr>
              <a:spcBef>
                <a:spcPts val="0"/>
              </a:spcBef>
              <a:spcAft>
                <a:spcPts val="0"/>
              </a:spcAft>
            </a:pPr>
            <a:r>
              <a:rPr sz="100">
                <a:solidFill>
                  <a:srgbClr val="FFFFFF"/>
                </a:solidFill>
                <a:latin typeface="Noto Sans"/>
              </a:rPr>
              <a:t>Comerciales</a:t>
            </a:r>
          </a:p>
          <a:p>
            <a:pPr>
              <a:spcBef>
                <a:spcPts val="0"/>
              </a:spcBef>
              <a:spcAft>
                <a:spcPts val="0"/>
              </a:spcAft>
            </a:pPr>
            <a:r>
              <a:rPr sz="100">
                <a:solidFill>
                  <a:srgbClr val="FFFFFF"/>
                </a:solidFill>
                <a:latin typeface="Noto Sans"/>
              </a:rPr>
              <a:t>Públicas</a:t>
            </a:r>
          </a:p>
          <a:p>
            <a:pPr>
              <a:spcBef>
                <a:spcPts val="0"/>
              </a:spcBef>
              <a:spcAft>
                <a:spcPts val="0"/>
              </a:spcAft>
            </a:pPr>
            <a:r>
              <a:rPr sz="100">
                <a:solidFill>
                  <a:srgbClr val="FFFFFF"/>
                </a:solidFill>
                <a:latin typeface="Noto Sans"/>
              </a:rPr>
              <a:t>Sociales</a:t>
            </a:r>
          </a:p>
          <a:p>
            <a:pPr>
              <a:spcBef>
                <a:spcPts val="0"/>
              </a:spcBef>
              <a:spcAft>
                <a:spcPts val="0"/>
              </a:spcAft>
            </a:pPr>
            <a:r>
              <a:rPr sz="100">
                <a:solidFill>
                  <a:srgbClr val="FFFFFF"/>
                </a:solidFill>
                <a:latin typeface="Noto Sans"/>
              </a:rPr>
              <a:t>Sociales Comunitarias</a:t>
            </a:r>
          </a:p>
          <a:p>
            <a:pPr>
              <a:spcBef>
                <a:spcPts val="0"/>
              </a:spcBef>
              <a:spcAft>
                <a:spcPts val="0"/>
              </a:spcAft>
            </a:pPr>
            <a:r>
              <a:rPr sz="100">
                <a:solidFill>
                  <a:srgbClr val="FFFFFF"/>
                </a:solidFill>
                <a:latin typeface="Noto Sans"/>
              </a:rPr>
              <a:t>Sociales Indígenas</a:t>
            </a:r>
          </a:p>
          <a:p>
            <a:pPr>
              <a:spcBef>
                <a:spcPts val="0"/>
              </a:spcBef>
              <a:spcAft>
                <a:spcPts val="0"/>
              </a:spcAft>
            </a:pPr>
            <a:r>
              <a:rPr sz="100">
                <a:solidFill>
                  <a:srgbClr val="FFFFFF"/>
                </a:solidFill>
                <a:latin typeface="Noto Sans"/>
              </a:rPr>
              <a:t>569</a:t>
            </a:r>
          </a:p>
          <a:p>
            <a:pPr>
              <a:spcBef>
                <a:spcPts val="0"/>
              </a:spcBef>
              <a:spcAft>
                <a:spcPts val="0"/>
              </a:spcAft>
            </a:pPr>
            <a:r>
              <a:rPr sz="100">
                <a:solidFill>
                  <a:srgbClr val="FFFFFF"/>
                </a:solidFill>
                <a:latin typeface="Noto Sans"/>
              </a:rPr>
              <a:t>280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Total: 909</a:t>
            </a:r>
          </a:p>
          <a:p>
            <a:pPr>
              <a:spcBef>
                <a:spcPts val="0"/>
              </a:spcBef>
              <a:spcAft>
                <a:spcPts val="0"/>
              </a:spcAft>
            </a:pPr>
            <a:r>
              <a:rPr sz="100">
                <a:solidFill>
                  <a:srgbClr val="FFFFFF"/>
                </a:solidFill>
                <a:latin typeface="Noto Sans"/>
              </a:rPr>
              <a:t>1,165</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267</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Total: 1,898</a:t>
            </a:r>
          </a:p>
          <a:p>
            <a:pPr>
              <a:spcBef>
                <a:spcPts val="0"/>
              </a:spcBef>
              <a:spcAft>
                <a:spcPts val="0"/>
              </a:spcAft>
            </a:pPr>
            <a:r>
              <a:rPr sz="100">
                <a:solidFill>
                  <a:srgbClr val="FFFFFF"/>
                </a:solidFill>
                <a:latin typeface="Noto Sans"/>
              </a:rPr>
              <a:t>161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Total: 266</a:t>
            </a:r>
          </a:p>
          <a:p>
            <a:pPr>
              <a:spcBef>
                <a:spcPts val="0"/>
              </a:spcBef>
              <a:spcAft>
                <a:spcPts val="0"/>
              </a:spcAft>
            </a:pPr>
            <a:r>
              <a:rPr sz="100">
                <a:solidFill>
                  <a:srgbClr val="FFFFFF"/>
                </a:solidFill>
                <a:latin typeface="Noto Sans"/>
              </a:rPr>
              <a:t>Figura G.1.</a:t>
            </a:r>
          </a:p>
          <a:p>
            <a:pPr>
              <a:spcBef>
                <a:spcPts val="0"/>
              </a:spcBef>
              <a:spcAft>
                <a:spcPts val="0"/>
              </a:spcAft>
            </a:pPr>
            <a:r>
              <a:rPr sz="100">
                <a:solidFill>
                  <a:srgbClr val="FFFFFF"/>
                </a:solidFill>
                <a:latin typeface="Noto Sans"/>
              </a:rPr>
              <a:t>Concesiones otorgadas de radiodifusión para AM, FM y TDT,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Banco de Información de Telecomunicaciones (BIT), corte 2023.</a:t>
            </a:r>
          </a:p>
        </p:txBody>
      </p:sp>
      <p:pic>
        <p:nvPicPr>
          <p:cNvPr id="223"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a:t>
            </a:r>
          </a:p>
          <a:p>
            <a:pPr>
              <a:spcBef>
                <a:spcPts val="0"/>
              </a:spcBef>
              <a:spcAft>
                <a:spcPts val="600"/>
              </a:spcAft>
            </a:pPr>
            <a:r>
              <a:rPr sz="950" b="1">
                <a:solidFill>
                  <a:srgbClr val="203634"/>
                </a:solidFill>
                <a:latin typeface="Noto Sans"/>
              </a:rPr>
              <a:t>PORCENTAJE DE PERSONAS QUE VIERON LA TELEVISIÓN POR HORA A NIVEL NACIONAL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El nivel de exposición a la televisión se mide a través del promedio de personas que tienen su televisor encendido en un intervalo de tiempo determinado. De acuerdo con los datos reportados en la muestra analizada por el IFT, el promedio de personas con el televisor encendido de julio 2023 a junio 2024 fue de 15.72% durante las 24 horas del día. Sin embargo, esa proporción cambia significativamente a lo largo del día, alcanzando su punto máximo de 31.21% entre las 21:00 horas y 22:00 horas (Ver Figura H.1.).</a:t>
            </a:r>
          </a:p>
          <a:p>
            <a:pPr>
              <a:lnSpc>
                <a:spcPct val="100000"/>
              </a:lnSpc>
              <a:spcBef>
                <a:spcPts val="0"/>
              </a:spcBef>
              <a:spcAft>
                <a:spcPts val="400"/>
              </a:spcAft>
            </a:pPr>
            <a:r>
              <a:rPr sz="700" b="0">
                <a:solidFill>
                  <a:srgbClr val="434343"/>
                </a:solidFill>
                <a:latin typeface="Noto Sans"/>
              </a:rPr>
              <a:t>Además, el nivel de encendidos puede variar dependiendo del público que se analice. De esta manera, el porcentaje de encendidos para las mujeres fue de 16.46%, mientras que para los hombres fue de 14.95%. Asimismo, en ambos casos su hora de mayor exposición fue de 21:00 a 22:00 horas, con 32.61% y 29.73%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102</a:t>
            </a:r>
          </a:p>
        </p:txBody>
      </p:sp>
      <p:pic>
        <p:nvPicPr>
          <p:cNvPr id="222" name="ANUARIO_HISTORICAL_H_1" descr="h_0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H.2</a:t>
            </a:r>
          </a:p>
          <a:p>
            <a:pPr>
              <a:spcBef>
                <a:spcPts val="0"/>
              </a:spcBef>
              <a:spcAft>
                <a:spcPts val="600"/>
              </a:spcAft>
            </a:pPr>
            <a:r>
              <a:rPr sz="950" b="1">
                <a:solidFill>
                  <a:srgbClr val="203634"/>
                </a:solidFill>
                <a:latin typeface="Noto Sans"/>
              </a:rPr>
              <a:t>HORAS DEDICADAS Y RATING PROMEDIO POR GÉNERO EN CANALES NACIONALES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H.2.).</a:t>
            </a:r>
          </a:p>
          <a:p>
            <a:pPr>
              <a:lnSpc>
                <a:spcPct val="100000"/>
              </a:lnSpc>
              <a:spcBef>
                <a:spcPts val="0"/>
              </a:spcBef>
              <a:spcAft>
                <a:spcPts val="400"/>
              </a:spcAft>
            </a:pPr>
            <a:r>
              <a:rPr sz="700" b="0">
                <a:solidFill>
                  <a:srgbClr val="434343"/>
                </a:solidFill>
                <a:latin typeface="Noto Sans"/>
              </a:rPr>
              <a:t>Por otra parte, al analizar la audiencia de los géneros programáticos en hombres y mujeres, se puede apreciar que los tres géneros ya mencionados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103</a:t>
            </a:r>
          </a:p>
        </p:txBody>
      </p:sp>
      <p:pic>
        <p:nvPicPr>
          <p:cNvPr id="222" name="ANUARIO_HISTORICAL_H_2" descr="h_0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H.3</a:t>
            </a:r>
          </a:p>
          <a:p>
            <a:pPr>
              <a:spcBef>
                <a:spcPts val="0"/>
              </a:spcBef>
              <a:spcAft>
                <a:spcPts val="600"/>
              </a:spcAft>
            </a:pPr>
            <a:r>
              <a:rPr sz="950" b="1">
                <a:solidFill>
                  <a:srgbClr val="203634"/>
                </a:solidFill>
                <a:latin typeface="Noto Sans"/>
              </a:rPr>
              <a:t>PORCENTAJE DE PERSONAS QUE VIERON LA TELEVISIÓN POR HORA EN CIUDAD DE MÉXICO</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la Ciudad de México, el promedio de personas con el televisor encendido de julio 2023 a junio 2024 fue de 16.69% durante las 24 horas del día. Sin embargo, esa proporción cambió significativamente a lo largo del día, alcanzando su punto máximo de 34.82% entre las 21:00 horas y 22:00 horas (Ver Figura H.3.).</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17.43%, mientras que para los hombres fue de 15.89%. Asimismo, en ambos casos su hora de mayor exposición fue de 21:00 a 22:00 horas, con 36.48% y 33.03%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104</a:t>
            </a:r>
          </a:p>
        </p:txBody>
      </p:sp>
      <p:pic>
        <p:nvPicPr>
          <p:cNvPr id="222" name="ANUARIO_HISTORICAL_H_3" descr="h_0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H.4</a:t>
            </a:r>
          </a:p>
          <a:p>
            <a:pPr>
              <a:spcBef>
                <a:spcPts val="0"/>
              </a:spcBef>
              <a:spcAft>
                <a:spcPts val="600"/>
              </a:spcAft>
            </a:pPr>
            <a:r>
              <a:rPr sz="950" b="1">
                <a:solidFill>
                  <a:srgbClr val="203634"/>
                </a:solidFill>
                <a:latin typeface="Noto Sans"/>
              </a:rPr>
              <a:t>HORAS DEDICADAS Y RATING PROMEDIO POR GÉNERO EN CANALES NACIONALES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 Ciudad de México,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H.4.).</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105</a:t>
            </a:r>
          </a:p>
        </p:txBody>
      </p:sp>
      <p:pic>
        <p:nvPicPr>
          <p:cNvPr id="222" name="ANUARIO_HISTORICAL_H_4" descr="h_0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H.5</a:t>
            </a:r>
          </a:p>
          <a:p>
            <a:pPr>
              <a:spcBef>
                <a:spcPts val="0"/>
              </a:spcBef>
              <a:spcAft>
                <a:spcPts val="600"/>
              </a:spcAft>
            </a:pPr>
            <a:r>
              <a:rPr sz="950" b="1">
                <a:solidFill>
                  <a:srgbClr val="203634"/>
                </a:solidFill>
                <a:latin typeface="Noto Sans"/>
              </a:rPr>
              <a:t>PORCENTAJE DE PERSONAS QUE VIERON LA TELEVISIÓN POR HORA EN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Guadalajara, el promedio de personas con el televisor encendido de julio 2023 a junio 2024 fue de 15.27% a lo largo de las 24 horas. Sin embargo, esa proporción cambió significativamente a lo largo del día, alcanzando su punto máximo de 28.99% entre las 21:00 horas y 22:00 horas (ver Figura H.5.).</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16.22%, mientras que para los hombres fue de 14.28%. Asimismo, en ambos casos su hora de mayor exposición fue de 21:00 a 22:00 horas, con 29.92% y 28.03%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106</a:t>
            </a:r>
          </a:p>
        </p:txBody>
      </p:sp>
      <p:pic>
        <p:nvPicPr>
          <p:cNvPr id="222" name="ANUARIO_HISTORICAL_H_5" descr="h_05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H.6</a:t>
            </a:r>
          </a:p>
          <a:p>
            <a:pPr>
              <a:spcBef>
                <a:spcPts val="0"/>
              </a:spcBef>
              <a:spcAft>
                <a:spcPts val="600"/>
              </a:spcAft>
            </a:pPr>
            <a:r>
              <a:rPr sz="950" b="1">
                <a:solidFill>
                  <a:srgbClr val="203634"/>
                </a:solidFill>
                <a:latin typeface="Noto Sans"/>
              </a:rPr>
              <a:t>HORAS DEDICADAS Y RATING PROMEDIO POR GÉNERO EN CANALES NACIONALES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Guadalajara,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H.6.).</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“Deportes”, “Dramatizados unitarios”,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107</a:t>
            </a:r>
          </a:p>
        </p:txBody>
      </p:sp>
      <p:pic>
        <p:nvPicPr>
          <p:cNvPr id="222" name="ANUARIO_HISTORICAL_H_6" descr="h_06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H.7</a:t>
            </a:r>
          </a:p>
          <a:p>
            <a:pPr>
              <a:spcBef>
                <a:spcPts val="0"/>
              </a:spcBef>
              <a:spcAft>
                <a:spcPts val="600"/>
              </a:spcAft>
            </a:pPr>
            <a:r>
              <a:rPr sz="950" b="1">
                <a:solidFill>
                  <a:srgbClr val="203634"/>
                </a:solidFill>
                <a:latin typeface="Noto Sans"/>
              </a:rPr>
              <a:t>PORCENTAJE DE PERSONAS QUE VIERON LA TELEVISIÓN POR HORA EN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Monterrey, el promedio de personas con el televisor encendido de julio 2023 a junio 2024 fue de 17.92% a lo largo de las 24 horas. Sin embargo, esa proporción cambió significativamente a lo largo del día, alcanzando su punto máximo de 31.35% entre las 21:00 horas y 22:00 horas. (Ver Figura H.7.).</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19.33% y, su hora de mayor exposición fue de 21:00 a 22:00 horas, con 33.32%. En el caso de los hombres el porcentaje de encendidos fue de 16.50%, con un consumo máximo de 29.38% de 20:00 a 21:00 horas.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108</a:t>
            </a:r>
          </a:p>
        </p:txBody>
      </p:sp>
      <p:pic>
        <p:nvPicPr>
          <p:cNvPr id="222" name="ANUARIO_HISTORICAL_H_7" descr="h_07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H.8</a:t>
            </a:r>
          </a:p>
          <a:p>
            <a:pPr>
              <a:spcBef>
                <a:spcPts val="0"/>
              </a:spcBef>
              <a:spcAft>
                <a:spcPts val="600"/>
              </a:spcAft>
            </a:pPr>
            <a:r>
              <a:rPr sz="950" b="1">
                <a:solidFill>
                  <a:srgbClr val="203634"/>
                </a:solidFill>
                <a:latin typeface="Noto Sans"/>
              </a:rPr>
              <a:t>HORAS DEDICADAS Y RATING PROMEDIO POR GÉNERO EN CANALES NACIONALES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Monterrey, los géneros televisivos “Dramatizado Unitario”, “Telenovelas” y “Deportes” fueron los que mayor consumo registraron en los canales nacionales, sin importar que estos no hayan sido los que tuvieron más horas de transmisión, lo que indica que son géneros rentables en términos de la relación audiencia generada/ tiempo al aire (ver Figura H.8.).</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los hombres, mientras que las mujeres consumieron principalmente “Dramatizados unitarios”, “Telenovelas”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109</a:t>
            </a:r>
          </a:p>
        </p:txBody>
      </p:sp>
      <p:pic>
        <p:nvPicPr>
          <p:cNvPr id="222" name="ANUARIO_HISTORICAL_H_8" descr="h_08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H.9</a:t>
            </a:r>
          </a:p>
          <a:p>
            <a:pPr>
              <a:spcBef>
                <a:spcPts val="0"/>
              </a:spcBef>
              <a:spcAft>
                <a:spcPts val="600"/>
              </a:spcAft>
            </a:pPr>
            <a:r>
              <a:rPr sz="950" b="1">
                <a:solidFill>
                  <a:srgbClr val="203634"/>
                </a:solidFill>
                <a:latin typeface="Noto Sans"/>
              </a:rPr>
              <a:t>PORCENTAJE DE PERSONAS QUE VIERON LA TELEVISIÓN POR HORA EN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En las 25 ciudades restantes de la muestra analizada por el IFT, el promedio de personas con el televisor encendido de julio 2023 a junio 2024 fue de 14.73% a lo largo de las 24 horas. Sin embargo, esa proporción cambió significativamente a lo largo del día, alcanzando su punto máximo de 28.98% entre las 21:00 horas y 22:00 horas (Ver Figura H.9.).</a:t>
            </a:r>
          </a:p>
          <a:p>
            <a:pPr>
              <a:lnSpc>
                <a:spcPct val="100000"/>
              </a:lnSpc>
              <a:spcBef>
                <a:spcPts val="0"/>
              </a:spcBef>
              <a:spcAft>
                <a:spcPts val="400"/>
              </a:spcAft>
            </a:pPr>
            <a:r>
              <a:rPr sz="700" b="0">
                <a:solidFill>
                  <a:srgbClr val="434343"/>
                </a:solidFill>
                <a:latin typeface="Noto Sans"/>
              </a:rPr>
              <a:t>Además, al analizar el nivel de encendidos por el género de la audiencia se encontró que, el porcentaje de encendidos para las mujeres fue de 15.31%, mientras que para los hombres fue de 14.13%. Asimismo, en ambos casos su hora de mayor exposición fue de 21:00 a 22:00 horas, con 30.15% y 27.75%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110</a:t>
            </a:r>
          </a:p>
        </p:txBody>
      </p:sp>
      <p:pic>
        <p:nvPicPr>
          <p:cNvPr id="222" name="ANUARIO_HISTORICAL_H_9" descr="h_09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H.10</a:t>
            </a:r>
          </a:p>
          <a:p>
            <a:pPr>
              <a:spcBef>
                <a:spcPts val="0"/>
              </a:spcBef>
              <a:spcAft>
                <a:spcPts val="600"/>
              </a:spcAft>
            </a:pPr>
            <a:r>
              <a:rPr sz="950" b="1">
                <a:solidFill>
                  <a:srgbClr val="203634"/>
                </a:solidFill>
                <a:latin typeface="Noto Sans"/>
              </a:rPr>
              <a:t>HORAS DEDICADAS Y RATING PROMEDIO POR GÉNERO EN CANALES NACIONALES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las 25 ciudades restantes de la muestra analizada por el IFT,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H.10.).</a:t>
            </a:r>
          </a:p>
          <a:p>
            <a:pPr>
              <a:lnSpc>
                <a:spcPct val="100000"/>
              </a:lnSpc>
              <a:spcBef>
                <a:spcPts val="0"/>
              </a:spcBef>
              <a:spcAft>
                <a:spcPts val="400"/>
              </a:spcAft>
            </a:pPr>
            <a:r>
              <a:rPr sz="700" b="0">
                <a:solidFill>
                  <a:srgbClr val="434343"/>
                </a:solidFill>
                <a:latin typeface="Noto Sans"/>
              </a:rPr>
              <a:t>Por otra parte, al analizar la audiencia de los géneros programáticos entre hombres y mujeres, se puede apreciar que los tres géneros ya mencionados también fueron los de mayor audiencia para las mujeres, mientras que los hombres consumieron principalmente “Dramatizados unitarios”,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111</a:t>
            </a:r>
          </a:p>
        </p:txBody>
      </p:sp>
      <p:pic>
        <p:nvPicPr>
          <p:cNvPr id="222" name="ANUARIO_HISTORICAL_H_10" descr="h_10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H.11</a:t>
            </a:r>
          </a:p>
          <a:p>
            <a:pPr>
              <a:spcBef>
                <a:spcPts val="0"/>
              </a:spcBef>
              <a:spcAft>
                <a:spcPts val="600"/>
              </a:spcAft>
            </a:pPr>
            <a:r>
              <a:rPr sz="950" b="1">
                <a:solidFill>
                  <a:srgbClr val="203634"/>
                </a:solidFill>
                <a:latin typeface="Noto Sans"/>
              </a:rPr>
              <a:t>PROPORCIÓN DE PERSONAS QUE ESCUCHARON LA RADIO POR HORA (%) — NACIONAL</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650" b="0">
                <a:solidFill>
                  <a:srgbClr val="434343"/>
                </a:solidFill>
                <a:latin typeface="Noto Sans"/>
              </a:rPr>
              <a:t>En el caso de la radio, el nivel de personas con la radio encendida es un indicador que mide el grado de exposición a este servicio en un intervalo de tiempo determinado. De acuerdo con los datos reportados en la muestra analizada por el IFT10, de julio 2023 a junio 2024, el promedio de personas con la radio encendida en estas tres ciudades fue de 9.67% en el intervalo de tiempo de las 6:00 horas a las 24:00 horas de lunes a domingo. Sin embargo, al contrario que en televisión, la proporción de personas con la radio encendida alcanzó su máximo entre las 09:00 y 10:00 horas, cuando el nivel de encendidos fue de 16.91% (ver Figura H.11.).</a:t>
            </a:r>
          </a:p>
          <a:p>
            <a:pPr>
              <a:lnSpc>
                <a:spcPct val="100000"/>
              </a:lnSpc>
              <a:spcBef>
                <a:spcPts val="0"/>
              </a:spcBef>
              <a:spcAft>
                <a:spcPts val="400"/>
              </a:spcAft>
            </a:pPr>
            <a:r>
              <a:rPr sz="650" b="0">
                <a:solidFill>
                  <a:srgbClr val="434343"/>
                </a:solidFill>
                <a:latin typeface="Noto Sans"/>
              </a:rPr>
              <a:t>Además, al analizar el nivel de exposición a la radio entre géneros de la audiencia, se pudo encontrar que el promedio de exposición de los hombres fue de 11.09% y su horario más alto fue a las 08:00 horas con 19.00%, mientras que para las mujeres el promedio fue de 8.54% y su principal horario fue a las 10:00 horas con 16.10%.</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112</a:t>
            </a:r>
          </a:p>
        </p:txBody>
      </p:sp>
      <p:pic>
        <p:nvPicPr>
          <p:cNvPr id="222" name="ANUARIO_HISTORICAL_H_11" descr="h_1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H.12</a:t>
            </a:r>
          </a:p>
          <a:p>
            <a:pPr>
              <a:spcBef>
                <a:spcPts val="0"/>
              </a:spcBef>
              <a:spcAft>
                <a:spcPts val="600"/>
              </a:spcAft>
            </a:pPr>
            <a:r>
              <a:rPr sz="950" b="1">
                <a:solidFill>
                  <a:srgbClr val="203634"/>
                </a:solidFill>
                <a:latin typeface="Noto Sans"/>
              </a:rPr>
              <a:t>PROPORCIÓN DE PERSONAS QUE ESCUCHARON LA RADIO POR HORA (%) —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la Ciudad de México, el promedio de personas con la radio encendida fue de 10.76% y alcanzó su máximo a las 09:00 horas, cuando el nivel de encendidos fue de 18.73% (ver Figura H.12.).</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12.24% y su horario más alto ocurrió a las 08:00 horas con 20.62%. Asimismo, respecto a las mujeres se registró un promedio de exposición de 9.59% y su máximo lo alcanzaron a las 10:00 horas con 18.48%.</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113</a:t>
            </a:r>
          </a:p>
        </p:txBody>
      </p:sp>
      <p:pic>
        <p:nvPicPr>
          <p:cNvPr id="222" name="ANUARIO_HISTORICAL_H_12" descr="h_1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H.13</a:t>
            </a:r>
          </a:p>
          <a:p>
            <a:pPr>
              <a:spcBef>
                <a:spcPts val="0"/>
              </a:spcBef>
              <a:spcAft>
                <a:spcPts val="600"/>
              </a:spcAft>
            </a:pPr>
            <a:r>
              <a:rPr sz="950" b="1">
                <a:solidFill>
                  <a:srgbClr val="203634"/>
                </a:solidFill>
                <a:latin typeface="Noto Sans"/>
              </a:rPr>
              <a:t>PROPORCIÓN DE PERSONAS QUE ESCUCHARON LA RADIO POR HORA (%) —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Respecto a la ciudad de Guadalajara, el promedio de personas expuestas la radio fue de 7.83% y alcanzó su máximo a las 10:00 horas, cuando el nivel de encendidos fue de 13.06% (ver Figura H.13.).</a:t>
            </a:r>
          </a:p>
          <a:p>
            <a:pPr>
              <a:lnSpc>
                <a:spcPct val="100000"/>
              </a:lnSpc>
              <a:spcBef>
                <a:spcPts val="0"/>
              </a:spcBef>
              <a:spcAft>
                <a:spcPts val="400"/>
              </a:spcAft>
            </a:pPr>
            <a:r>
              <a:rPr sz="760" b="0">
                <a:solidFill>
                  <a:srgbClr val="434343"/>
                </a:solidFill>
                <a:latin typeface="Noto Sans"/>
              </a:rPr>
              <a:t>Además, al analizar el nivel de exposición a la radio entre los géneros de la audiencia, se pudo encontrar que el promedio de exposición de los hombres fue de 9.49% y su horario más alto fue a las 10:00 horas con 15.99%, mientras que para las mujeres el promedio fue de 6.51% y su principal horario fue a las 10:00 horas con 10.74%.</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114</a:t>
            </a:r>
          </a:p>
        </p:txBody>
      </p:sp>
      <p:pic>
        <p:nvPicPr>
          <p:cNvPr id="222" name="ANUARIO_HISTORICAL_H_13" descr="h_1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H.14</a:t>
            </a:r>
          </a:p>
          <a:p>
            <a:pPr>
              <a:spcBef>
                <a:spcPts val="0"/>
              </a:spcBef>
              <a:spcAft>
                <a:spcPts val="600"/>
              </a:spcAft>
            </a:pPr>
            <a:r>
              <a:rPr sz="950" b="1">
                <a:solidFill>
                  <a:srgbClr val="203634"/>
                </a:solidFill>
                <a:latin typeface="Noto Sans"/>
              </a:rPr>
              <a:t>PROPORCIÓN DE PERSONAS QUE ESCUCHARON LA RADIO POR HORA (%) —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Monterrey, el promedio de personas con la radio encendida fue de 7.15% y alcanzó su máximo a las 08:00 horas, cuando el nivel de encendidos fue de 14.43% (ver Figura H.14.).</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8.15% y su horario más alto ocurrió a las 08:00 horas con 16.06%. Asimismo, respecto a las mujeres se registró un promedio de exposición de 6.32% y su máximo lo alcanzaron a las 08:00 horas con 13.09%.</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115</a:t>
            </a:r>
          </a:p>
        </p:txBody>
      </p:sp>
      <p:pic>
        <p:nvPicPr>
          <p:cNvPr id="222" name="ANUARIO_HISTORICAL_H_14" descr="h_1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HERRAMIENTAS"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HERRAMIENTAS IFT</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116</a:t>
            </a:r>
          </a:p>
        </p:txBody>
      </p:sp>
      <p:sp>
        <p:nvSpPr>
          <p:cNvPr id="227" name="ANUARIO_TOOLS_TITLE"/>
          <p:cNvSpPr txBox="1"/>
          <p:nvPr/>
        </p:nvSpPr>
        <p:spPr>
          <a:xfrm>
            <a:off x="548640" y="713232"/>
            <a:ext cx="8101583" cy="310896"/>
          </a:xfrm>
          <a:prstGeom prst="rect">
            <a:avLst/>
          </a:prstGeom>
          <a:noFill/>
        </p:spPr>
        <p:txBody>
          <a:bodyPr wrap="square" anchor="t" lIns="0" rIns="0" tIns="0" bIns="0">
            <a:noAutofit/>
          </a:bodyPr>
          <a:lstStyle/>
          <a:p>
            <a:pPr>
              <a:lnSpc>
                <a:spcPct val="100000"/>
              </a:lnSpc>
              <a:spcBef>
                <a:spcPts val="0"/>
              </a:spcBef>
              <a:spcAft>
                <a:spcPts val="0"/>
              </a:spcAft>
            </a:pPr>
            <a:r>
              <a:rPr sz="1230" b="1">
                <a:solidFill>
                  <a:srgbClr val="484979"/>
                </a:solidFill>
                <a:latin typeface="Noto Sans"/>
              </a:rPr>
              <a:t>CONOCE LAS HERRAMIENTAS CON INFORMACIÓN POR ENTIDAD FEDERATIVA:</a:t>
            </a:r>
          </a:p>
        </p:txBody>
      </p:sp>
      <p:sp>
        <p:nvSpPr>
          <p:cNvPr id="228" name="ANUARIO_TOOL_CARD_BIT_ESTATAL"/>
          <p:cNvSpPr/>
          <p:nvPr/>
        </p:nvSpPr>
        <p:spPr>
          <a:xfrm>
            <a:off x="548640" y="1170432"/>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TOOL_TITLE_BIT_ESTATAL"/>
          <p:cNvSpPr txBox="1"/>
          <p:nvPr/>
        </p:nvSpPr>
        <p:spPr>
          <a:xfrm>
            <a:off x="768096" y="1307592"/>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BIT ESTATAL:</a:t>
            </a:r>
          </a:p>
        </p:txBody>
      </p:sp>
      <p:sp>
        <p:nvSpPr>
          <p:cNvPr id="230" name="ANUARIO_TOOL_URL_BIT_ESTATAL"/>
          <p:cNvSpPr txBox="1"/>
          <p:nvPr/>
        </p:nvSpPr>
        <p:spPr>
          <a:xfrm>
            <a:off x="768096" y="1572768"/>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2"/>
              </a:rPr>
              <a:t>https://bitestatal.ift.org.mx/</a:t>
            </a:r>
          </a:p>
        </p:txBody>
      </p:sp>
      <p:sp>
        <p:nvSpPr>
          <p:cNvPr id="231" name="ANUARIO_TOOL_BODY_BIT_ESTATAL"/>
          <p:cNvSpPr txBox="1"/>
          <p:nvPr/>
        </p:nvSpPr>
        <p:spPr>
          <a:xfrm>
            <a:off x="768096" y="1947672"/>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El portal permite conocer de forma detallada, accesible e ilustrativa la información sobre accesos, líneas, concesiones y uso de los servicios fijos y móviles de TyR, así como la disponibilidad y la adopción de las TIC, por entidad federativa.</a:t>
            </a:r>
          </a:p>
        </p:txBody>
      </p:sp>
      <p:sp>
        <p:nvSpPr>
          <p:cNvPr id="232" name="ANUARIO_TOOL_CARD_CALCULADORA"/>
          <p:cNvSpPr/>
          <p:nvPr/>
        </p:nvSpPr>
        <p:spPr>
          <a:xfrm>
            <a:off x="548640" y="2761488"/>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ANUARIO_TOOL_TITLE_CALCULADORA"/>
          <p:cNvSpPr txBox="1"/>
          <p:nvPr/>
        </p:nvSpPr>
        <p:spPr>
          <a:xfrm>
            <a:off x="768096" y="2898648"/>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CALCULADORA DE PROBABILIDADES:</a:t>
            </a:r>
          </a:p>
        </p:txBody>
      </p:sp>
      <p:sp>
        <p:nvSpPr>
          <p:cNvPr id="234" name="ANUARIO_TOOL_URL_CALCULADORA"/>
          <p:cNvSpPr txBox="1"/>
          <p:nvPr/>
        </p:nvSpPr>
        <p:spPr>
          <a:xfrm>
            <a:off x="768096" y="3163824"/>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3"/>
              </a:rPr>
              <a:t>https://calculadoraprob.ift.org.mx/</a:t>
            </a:r>
          </a:p>
        </p:txBody>
      </p:sp>
      <p:sp>
        <p:nvSpPr>
          <p:cNvPr id="235" name="ANUARIO_TOOL_BODY_CALCULADORA"/>
          <p:cNvSpPr txBox="1"/>
          <p:nvPr/>
        </p:nvSpPr>
        <p:spPr>
          <a:xfrm>
            <a:off x="768096" y="3538728"/>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Esta herramienta interactiva te mostrará probabilidades de uso de las TIC y realizar actividades por Internet de acuerdo con las características de la población.</a:t>
            </a:r>
          </a:p>
        </p:txBody>
      </p:sp>
      <p:sp>
        <p:nvSpPr>
          <p:cNvPr id="236" name="ANUARIO_TOOL_CURRENT"/>
          <p:cNvSpPr txBox="1"/>
          <p:nvPr/>
        </p:nvSpPr>
        <p:spPr>
          <a:xfrm>
            <a:off x="576072" y="4389120"/>
            <a:ext cx="8138160" cy="155448"/>
          </a:xfrm>
          <a:prstGeom prst="rect">
            <a:avLst/>
          </a:prstGeom>
          <a:noFill/>
        </p:spPr>
        <p:txBody>
          <a:bodyPr wrap="square" anchor="t" lIns="0" rIns="0" tIns="0" bIns="0">
            <a:noAutofit/>
          </a:bodyPr>
          <a:lstStyle/>
          <a:p>
            <a:pPr>
              <a:lnSpc>
                <a:spcPct val="100000"/>
              </a:lnSpc>
              <a:spcBef>
                <a:spcPts val="0"/>
              </a:spcBef>
              <a:spcAft>
                <a:spcPts val="0"/>
              </a:spcAft>
            </a:pPr>
            <a:r>
              <a:rPr sz="750" b="0">
                <a:solidFill>
                  <a:srgbClr val="4F5B5C"/>
                </a:solidFill>
                <a:latin typeface="Noto Sans"/>
                <a:hlinkClick r:id="rId4"/>
              </a:rPr>
              <a:t>Consulta actual del BIT de la CRT: https://bit.crt.gob.mx/BitWebApp/</a:t>
            </a:r>
          </a:p>
        </p:txBody>
      </p:sp>
      <p:sp>
        <p:nvSpPr>
          <p:cNvPr id="237" name="ANUARIO_TOOL_HISTORICAL"/>
          <p:cNvSpPr txBox="1"/>
          <p:nvPr/>
        </p:nvSpPr>
        <p:spPr>
          <a:xfrm>
            <a:off x="576072" y="4590288"/>
            <a:ext cx="8138160" cy="146304"/>
          </a:xfrm>
          <a:prstGeom prst="rect">
            <a:avLst/>
          </a:prstGeom>
          <a:noFill/>
        </p:spPr>
        <p:txBody>
          <a:bodyPr wrap="square" anchor="t" lIns="0" rIns="0" tIns="0" bIns="0">
            <a:noAutofit/>
          </a:bodyPr>
          <a:lstStyle/>
          <a:p>
            <a:pPr>
              <a:lnSpc>
                <a:spcPct val="100000"/>
              </a:lnSpc>
              <a:spcBef>
                <a:spcPts val="0"/>
              </a:spcBef>
              <a:spcAft>
                <a:spcPts val="0"/>
              </a:spcAft>
            </a:pPr>
            <a:r>
              <a:rPr sz="700" b="0">
                <a:solidFill>
                  <a:srgbClr val="4F5B5C"/>
                </a:solidFill>
                <a:latin typeface="Noto Sans"/>
              </a:rPr>
              <a:t>Los enlaces a BIT Estatal y a la Calculadora de Probabilidades se conservan como referencias históricas de la edición 2024.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117</a:t>
            </a:r>
          </a:p>
        </p:txBody>
      </p:sp>
      <p:graphicFrame>
        <p:nvGraphicFramePr>
          <p:cNvPr id="222" name="ANUARIO_ANEXO_I_COMPLETO_117"/>
          <p:cNvGraphicFramePr>
            <a:graphicFrameLocks noGrp="1"/>
          </p:cNvGraphicFramePr>
          <p:nvPr/>
        </p:nvGraphicFramePr>
        <p:xfrm>
          <a:off x="310896" y="795528"/>
          <a:ext cx="8522206" cy="3685005"/>
        </p:xfrm>
        <a:graphic>
          <a:graphicData uri="http://schemas.openxmlformats.org/drawingml/2006/table">
            <a:tbl>
              <a:tblPr>
                <a:tableStyleId>{5C22544A-7EE6-4342-B048-85BDC9FD1C3A}</a:tableStyleId>
              </a:tblPr>
              <a:tblGrid>
                <a:gridCol w="1005840"/>
                <a:gridCol w="578182"/>
                <a:gridCol w="578182"/>
                <a:gridCol w="578182"/>
                <a:gridCol w="578182"/>
                <a:gridCol w="578182"/>
                <a:gridCol w="578182"/>
                <a:gridCol w="578182"/>
                <a:gridCol w="578182"/>
                <a:gridCol w="578182"/>
                <a:gridCol w="578182"/>
                <a:gridCol w="578182"/>
                <a:gridCol w="578182"/>
                <a:gridCol w="578182"/>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6">
                  <a:txBody>
                    <a:bodyPr wrap="square"/>
                    <a:lstStyle/>
                    <a:p>
                      <a:pPr algn="ctr">
                        <a:spcBef>
                          <a:spcPts val="0"/>
                        </a:spcBef>
                        <a:spcAft>
                          <a:spcPts val="0"/>
                        </a:spcAft>
                      </a:pPr>
                      <a:r>
                        <a:rPr sz="535" b="1">
                          <a:solidFill>
                            <a:srgbClr val="FFFFFF"/>
                          </a:solidFill>
                          <a:latin typeface="Noto Sans"/>
                        </a:rPr>
                        <a:t>Indicadores sociodemográficos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Empleo en telecomunicaciones y radiodifusión</a:t>
                      </a:r>
                    </a:p>
                  </a:txBody>
                  <a:tcPr marL="7315" marR="7315" marT="0" marB="0" anchor="ctr">
                    <a:solidFill>
                      <a:srgbClr val="1F4544"/>
                    </a:solidFill>
                  </a:tcPr>
                </a:tc>
                <a:tc hMerge="1">
                  <a:txBody>
                    <a:bodyPr wrap="square"/>
                    <a:lstStyle/>
                    <a:p/>
                  </a:txBody>
                  <a:tcPr marL="7315" marR="7315" marT="0" marB="0" anchor="ctr">
                    <a:solidFill>
                      <a:srgbClr val="1F4544"/>
                    </a:solidFill>
                  </a:tcPr>
                </a:tc>
                <a:tc gridSpan="5">
                  <a:txBody>
                    <a:bodyPr wrap="square"/>
                    <a:lstStyle/>
                    <a:p>
                      <a:pPr algn="ctr">
                        <a:spcBef>
                          <a:spcPts val="0"/>
                        </a:spcBef>
                        <a:spcAft>
                          <a:spcPts val="0"/>
                        </a:spcAft>
                      </a:pPr>
                      <a:r>
                        <a:rPr sz="535" b="1">
                          <a:solidFill>
                            <a:srgbClr val="FFFFFF"/>
                          </a:solidFill>
                          <a:latin typeface="Noto Sans"/>
                        </a:rPr>
                        <a:t>Equipamiento de TIC en hogares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pPr algn="ctr">
                        <a:spcBef>
                          <a:spcPts val="0"/>
                        </a:spcBef>
                        <a:spcAft>
                          <a:spcPts val="0"/>
                        </a:spcAft>
                      </a:pPr>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Habitantes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Telecom.</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Radiodif.</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analóg.</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digital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Cómputo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Móvil</a:t>
                      </a:r>
                    </a:p>
                  </a:txBody>
                  <a:tcPr marL="7315" marR="7315" marT="0" marB="0" anchor="ctr">
                    <a:solidFill>
                      <a:srgbClr val="4E827B"/>
                    </a:solidFill>
                  </a:tcPr>
                </a:tc>
              </a:tr>
              <a:tr h="246888">
                <a:tc>
                  <a:txBody>
                    <a:bodyPr wrap="square"/>
                    <a:lstStyle/>
                    <a:p>
                      <a:pPr algn="ctr">
                        <a:spcBef>
                          <a:spcPts val="0"/>
                        </a:spcBef>
                        <a:spcAft>
                          <a:spcPts val="0"/>
                        </a:spcAft>
                      </a:pP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38,627,319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8,219,662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30,407,657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129,407,263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29,463,764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99,943,499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247,172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54,694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81.7%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95.1%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346,163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1,495,545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286,755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1,208,790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1,239,008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92,110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1,146,898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3,788,682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269,317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3,519,365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30,219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255,884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868,940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786,285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64,801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209,799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949,838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242,985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1,001,663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81,031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920,632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3,297,644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278,255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3,019,389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245,471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219,129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745,500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79,489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666,011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1,464,726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712,682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752,044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5,714,039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3,001,605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2,712,434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1,192,379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158,669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1,033,710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3,851,622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491,925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3,359,697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3,064,550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3,045,823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9,301,936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9,226,553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43,877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553,626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151,892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401,734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1,880,456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535,462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1,344,994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1,765,081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501,136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1,263,945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6,300,221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1,842,011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4,458,210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1,035,815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386,376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649,439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3,613,757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1,477,806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2,135,951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950,721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420,183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530,538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3,209,534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1,424,224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1,785,310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2,562,766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2,189,496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8,593,719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1,241,680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7,352,039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5,183,923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4,465,856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17,499,979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2,576,591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14,923,388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387,515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1,024,077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5,000,372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1,502,555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3,497,817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610,985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116,008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1,977,132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394,014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1,583,118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410,921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121,824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289,097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1,269,082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380,748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888,334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1,830,383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1,713,622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6,117,115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388,840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5,728,275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1,238,269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643,146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595,123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4,313,108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2,253,281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2,059,827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1,865,156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509,027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1,356,129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6,620,349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1,871,490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4,748,859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575,632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2,515,679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639,025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1,876,654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595,483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52,602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1,913,139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188,835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1,724,304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828,853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566,061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2,861,102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941,877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1,919,225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937,857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219,843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3,088,382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2,344,092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938,141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112,910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825,231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2,994,767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362,733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2,632,034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718,851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296,017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422,834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2,475,170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1,077,303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1,397,867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1,121,968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106,612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1,015,356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3,576,108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351,385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3,224,723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70,628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317,967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1,417,362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262,683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1,154,679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2,570,753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1,616,153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8,130,279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3,215,314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4,914,965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691,647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92,586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599,061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2,381,532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364,995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2,016,537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484,726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180,374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304,352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1,645,173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618,253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1,026,920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2,049</a:t>
                      </a:r>
                    </a:p>
                  </a:txBody>
                  <a:tcPr marL="7315" marR="7315" marT="0" marB="0" anchor="ctr">
                    <a:solidFill>
                      <a:srgbClr val="FFFFFF"/>
                    </a:solidFill>
                  </a:tcPr>
                </a:tc>
                <a:tc>
                  <a:txBody>
                    <a:bodyPr wrap="none"/>
                    <a:lstStyle/>
                    <a:p>
                      <a:pPr algn="ctr">
                        <a:spcBef>
                          <a:spcPts val="0"/>
                        </a:spcBef>
                        <a:spcAft>
                          <a:spcPts val="0"/>
                        </a:spcAft>
                      </a:pP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93.6%</a:t>
                      </a:r>
                    </a:p>
                  </a:txBody>
                  <a:tcPr marL="7315" marR="7315" marT="0" marB="0" anchor="ctr">
                    <a:solidFill>
                      <a:srgbClr val="FFFFFF"/>
                    </a:solidFill>
                  </a:tcPr>
                </a:tc>
              </a:tr>
            </a:tbl>
          </a:graphicData>
        </a:graphic>
      </p:graphicFrame>
      <p:sp>
        <p:nvSpPr>
          <p:cNvPr id="223" name="ANUARIO_ANEXO_I_FUENTE_117"/>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sus cortes se indican en los encabezados de origen.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118</a:t>
            </a:r>
          </a:p>
        </p:txBody>
      </p:sp>
      <p:graphicFrame>
        <p:nvGraphicFramePr>
          <p:cNvPr id="222" name="ANUARIO_ANEXO_I_COMPLETO_118"/>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3">
                  <a:txBody>
                    <a:bodyPr wrap="square"/>
                    <a:lstStyle/>
                    <a:p>
                      <a:pPr algn="ctr">
                        <a:spcBef>
                          <a:spcPts val="0"/>
                        </a:spcBef>
                        <a:spcAft>
                          <a:spcPts val="0"/>
                        </a:spcAft>
                      </a:pPr>
                      <a:r>
                        <a:rPr sz="535" b="1">
                          <a:solidFill>
                            <a:srgbClr val="FFFFFF"/>
                          </a:solidFill>
                          <a:latin typeface="Noto Sans"/>
                        </a:rPr>
                        <a:t>Personas usuarias de TIC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7">
                  <a:txBody>
                    <a:bodyPr wrap="square"/>
                    <a:lstStyle/>
                    <a:p>
                      <a:pPr algn="ctr">
                        <a:spcBef>
                          <a:spcPts val="0"/>
                        </a:spcBef>
                        <a:spcAft>
                          <a:spcPts val="0"/>
                        </a:spcAft>
                      </a:pPr>
                      <a:r>
                        <a:rPr sz="535" b="1">
                          <a:solidFill>
                            <a:srgbClr val="FFFFFF"/>
                          </a:solidFill>
                          <a:latin typeface="Noto Sans"/>
                        </a:rPr>
                        <a:t>Servicios fijos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4">
                  <a:txBody>
                    <a:bodyPr wrap="square"/>
                    <a:lstStyle/>
                    <a:p>
                      <a:pPr algn="ctr">
                        <a:spcBef>
                          <a:spcPts val="0"/>
                        </a:spcBef>
                        <a:spcAft>
                          <a:spcPts val="0"/>
                        </a:spcAft>
                      </a:pPr>
                      <a:r>
                        <a:rPr sz="535" b="1">
                          <a:solidFill>
                            <a:srgbClr val="FFFFFF"/>
                          </a:solidFill>
                          <a:latin typeface="Noto Sans"/>
                        </a:rPr>
                        <a:t>Internet residencial por tecnología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Computadora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Smartphone</a:t>
                      </a:r>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Telefonía fija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Internet fijo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TV restringida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pública · histórico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Cable</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DSL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Fibra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Otras</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Líneas/1,000 hab.</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97,012,089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44,517,175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93,078,887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23.3%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66.3%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1,157,961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548,700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1,098,116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3,231,512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1,681,391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3,076,436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725,869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357,511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694,310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728,809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310,650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670,349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2,541,922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1,227,608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2,468,843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591,261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573,543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3,050,081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1,063,441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2,984,937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3,017,196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1,537,820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2,925,943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7,897,062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4,932,018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7,683,977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1,465,379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659,546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1,359,467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4,537,208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1,771,593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4,468,371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2,375,775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750,243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2,296,347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2,383,401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1,121,924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2,281,080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7,118,480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3,058,287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6,873,401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13,313,595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6,649,874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12,778,594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3,593,108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1,397,722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3,372,485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1,452,792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660,311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1,450,435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984,051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393,689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913,505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4,940,052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2,504,158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4,750,428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2,768,713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1,059,494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2,631,930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4,463,188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1,897,290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4,212,047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1,940,531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1,005,381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1,895,974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1,625,497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730,663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1,516,352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2,100,427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871,639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1,973,240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2,438,881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1,073,046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2,306,023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2,412,875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1,209,791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2,299,709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1,768,418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673,165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1,672,795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2,864,326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1,288,792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2,760,457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1,062,190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959,019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5,425,337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2,041,370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5,297,337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1,847,162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793,599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1,739,216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1,189,030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445,006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1,094,221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bl>
          </a:graphicData>
        </a:graphic>
      </p:graphicFrame>
      <p:sp>
        <p:nvSpPr>
          <p:cNvPr id="223" name="ANUARIO_ANEXO_I_FUENTE_118"/>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con denominadores ENDUTIH 2025 y DENUE en columnas de servicios (figs. B.6, B.7, B.13, B.14, B.21 y B.22). Demás columnas: Anuario 2024. —: tasa nacional no recalculada.</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119</a:t>
            </a:r>
          </a:p>
        </p:txBody>
      </p:sp>
      <p:graphicFrame>
        <p:nvGraphicFramePr>
          <p:cNvPr id="222" name="ANUARIO_ANEXO_I_COMPLETO_119"/>
          <p:cNvGraphicFramePr>
            <a:graphicFrameLocks noGrp="1"/>
          </p:cNvGraphicFramePr>
          <p:nvPr/>
        </p:nvGraphicFramePr>
        <p:xfrm>
          <a:off x="310896" y="795528"/>
          <a:ext cx="8522196" cy="3685005"/>
        </p:xfrm>
        <a:graphic>
          <a:graphicData uri="http://schemas.openxmlformats.org/drawingml/2006/table">
            <a:tbl>
              <a:tblPr>
                <a:tableStyleId>{5C22544A-7EE6-4342-B048-85BDC9FD1C3A}</a:tableStyleId>
              </a:tblPr>
              <a:tblGrid>
                <a:gridCol w="950976"/>
                <a:gridCol w="504748"/>
                <a:gridCol w="504748"/>
                <a:gridCol w="504748"/>
                <a:gridCol w="504748"/>
                <a:gridCol w="504748"/>
                <a:gridCol w="504748"/>
                <a:gridCol w="504748"/>
                <a:gridCol w="504748"/>
                <a:gridCol w="504748"/>
                <a:gridCol w="504748"/>
                <a:gridCol w="504748"/>
                <a:gridCol w="504748"/>
                <a:gridCol w="504748"/>
                <a:gridCol w="504748"/>
                <a:gridCol w="504748"/>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3">
                  <a:txBody>
                    <a:bodyPr wrap="square"/>
                    <a:lstStyle/>
                    <a:p>
                      <a:pPr algn="ctr">
                        <a:spcBef>
                          <a:spcPts val="0"/>
                        </a:spcBef>
                        <a:spcAft>
                          <a:spcPts val="0"/>
                        </a:spcAft>
                      </a:pPr>
                      <a:r>
                        <a:rPr sz="535" b="1">
                          <a:solidFill>
                            <a:srgbClr val="FFFFFF"/>
                          </a:solidFill>
                          <a:latin typeface="Noto Sans"/>
                        </a:rPr>
                        <a:t>Telecomunicaciones fijas · datos históricos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Telecomunicaciones móviles · actualizado</a:t>
                      </a:r>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Internet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Servicios fijos en 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móvil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 móvil</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DSL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Fibra</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Dos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76.6%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35.1%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11.0%</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13.4%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25.4%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33.8%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FFFFF"/>
                    </a:solidFill>
                  </a:tcPr>
                </a:tc>
              </a:tr>
            </a:tbl>
          </a:graphicData>
        </a:graphic>
      </p:graphicFrame>
      <p:sp>
        <p:nvSpPr>
          <p:cNvPr id="223" name="ANUARIO_ANEXO_I_FUENTE_119"/>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y denominador de las figuras C.7 y C.13 en las dos columnas móviles. Demás columnas: Anuario 2024. —: tasa nacional no recalculada.</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120</a:t>
            </a:r>
          </a:p>
        </p:txBody>
      </p:sp>
      <p:graphicFrame>
        <p:nvGraphicFramePr>
          <p:cNvPr id="222" name="ANUARIO_ANEXO_I_COMPLETO_120"/>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4">
                  <a:txBody>
                    <a:bodyPr wrap="square"/>
                    <a:lstStyle/>
                    <a:p>
                      <a:pPr algn="ctr">
                        <a:spcBef>
                          <a:spcPts val="0"/>
                        </a:spcBef>
                        <a:spcAft>
                          <a:spcPts val="0"/>
                        </a:spcAft>
                      </a:pPr>
                      <a:r>
                        <a:rPr sz="535" b="1">
                          <a:solidFill>
                            <a:srgbClr val="FFFFFF"/>
                          </a:solidFill>
                          <a:latin typeface="Noto Sans"/>
                        </a:rPr>
                        <a:t>Concesiones de radiodifusión · cuadro histórico del Anuario 2024</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AM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FM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Televisión digital terrestre</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1171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597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bl>
          </a:graphicData>
        </a:graphic>
      </p:graphicFrame>
      <p:sp>
        <p:nvSpPr>
          <p:cNvPr id="223" name="ANUARIO_ANEXO_I_FUENTE_120"/>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de concesiones; no se presenta como dato de 2026.</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
    <p:bg>
      <p:bgPr>
        <a:solidFill>
          <a:srgbClr val="E8F0EE"/>
        </a:solidFill>
      </p:bgPr>
    </p:bg>
    <p:spTree>
      <p:nvGrpSpPr>
        <p:cNvPr id="1" name=""/>
        <p:cNvGrpSpPr/>
        <p:nvPr/>
      </p:nvGrpSpPr>
      <p:grpSpPr>
        <a:xfrm>
          <a:off x="0" y="0"/>
          <a:ext cx="0" cy="0"/>
          <a:chOff x="0" y="0"/>
          <a:chExt cx="0" cy="0"/>
        </a:xfrm>
      </p:grpSpPr>
      <p:sp>
        <p:nvSpPr>
          <p:cNvPr id="2" name="ANUARIO_ANEXO_II_DEFINICIONES_DESIGN_2026"/>
          <p:cNvSpPr/>
          <p:nvPr/>
        </p:nvSpPr>
        <p:spPr>
          <a:xfrm>
            <a:off x="0" y="0"/>
            <a:ext cx="9144000" cy="457200"/>
          </a:xfrm>
          <a:prstGeom prst="rect">
            <a:avLst/>
          </a:prstGeom>
          <a:solidFill>
            <a:srgbClr val="13393A"/>
          </a:solidFill>
          <a:ln w="12700">
            <a:solidFill>
              <a:srgbClr val="13393A"/>
            </a:solidFill>
            <a:prstDash val="solid"/>
          </a:ln>
        </p:spPr>
      </p:sp>
      <p:sp>
        <p:nvSpPr>
          <p:cNvPr id="3" name="Text 1"/>
          <p:cNvSpPr txBox="1"/>
          <p:nvPr/>
        </p:nvSpPr>
        <p:spPr>
          <a:xfrm>
            <a:off x="301752" y="64008"/>
            <a:ext cx="4572000" cy="329184"/>
          </a:xfrm>
          <a:prstGeom prst="rect">
            <a:avLst/>
          </a:prstGeom>
          <a:noFill/>
          <a:ln/>
        </p:spPr>
        <p:txBody>
          <a:bodyPr wrap="square" lIns="0" tIns="0" rIns="0" bIns="0" rtlCol="0" anchor="ctr"/>
          <a:lstStyle/>
          <a:p>
            <a:pPr indent="0" marL="0">
              <a:buNone/>
            </a:pPr>
            <a:r>
              <a:rPr lang="en-US" sz="1700" b="1" dirty="0">
                <a:solidFill>
                  <a:srgbClr val="FFFFFF"/>
                </a:solidFill>
                <a:latin typeface="DejaVu Sans" pitchFamily="34" charset="0"/>
                <a:ea typeface="DejaVu Sans" pitchFamily="34" charset="-122"/>
                <a:cs typeface="DejaVu Sans" pitchFamily="34" charset="-120"/>
              </a:rPr>
              <a:t>ANEXO II. DEFINICIONES</a:t>
            </a:r>
            <a:endParaRPr lang="en-US" sz="1700" dirty="0"/>
          </a:p>
        </p:txBody>
      </p:sp>
      <p:sp>
        <p:nvSpPr>
          <p:cNvPr id="4" name="Text 2"/>
          <p:cNvSpPr txBox="1"/>
          <p:nvPr/>
        </p:nvSpPr>
        <p:spPr>
          <a:xfrm>
            <a:off x="4846320" y="64008"/>
            <a:ext cx="2743200" cy="329184"/>
          </a:xfrm>
          <a:prstGeom prst="rect">
            <a:avLst/>
          </a:prstGeom>
          <a:noFill/>
          <a:ln/>
        </p:spPr>
        <p:txBody>
          <a:bodyPr wrap="square" lIns="0" tIns="0" rIns="0" bIns="0" rtlCol="0" anchor="ctr"/>
          <a:lstStyle/>
          <a:p>
            <a:pPr algn="r" indent="0" marL="0">
              <a:buNone/>
            </a:pPr>
            <a:r>
              <a:rPr lang="en-US" sz="650" dirty="0">
                <a:solidFill>
                  <a:srgbClr val="D5E4E1"/>
                </a:solidFill>
                <a:latin typeface="DejaVu Sans" pitchFamily="34" charset="0"/>
                <a:ea typeface="DejaVu Sans" pitchFamily="34" charset="-122"/>
                <a:cs typeface="DejaVu Sans" pitchFamily="34" charset="-120"/>
              </a:rPr>
              <a:t>Para consultar información con mayor desagregación, visita
</a:t>
            </a:r>
            <a:pPr algn="r" indent="0" marL="0">
              <a:buNone/>
            </a:pPr>
            <a:r>
              <a:rPr lang="en-US" sz="750" b="1" dirty="0">
                <a:solidFill>
                  <a:srgbClr val="FFFFFF"/>
                </a:solidFill>
                <a:latin typeface="DejaVu Sans" pitchFamily="34" charset="0"/>
                <a:ea typeface="DejaVu Sans" pitchFamily="34" charset="-122"/>
                <a:cs typeface="DejaVu Sans" pitchFamily="34" charset="-120"/>
              </a:rPr>
              <a:t>BIT CRT · bit.crt.gob.mx/BitWebApp</a:t>
            </a:r>
            <a:endParaRPr lang="en-US" sz="650" dirty="0"/>
          </a:p>
        </p:txBody>
      </p:sp>
      <p:sp>
        <p:nvSpPr>
          <p:cNvPr id="5" name="Shape 3"/>
          <p:cNvSpPr/>
          <p:nvPr/>
        </p:nvSpPr>
        <p:spPr>
          <a:xfrm>
            <a:off x="7680960" y="45720"/>
            <a:ext cx="365760" cy="365760"/>
          </a:xfrm>
          <a:prstGeom prst="roundRect">
            <a:avLst>
              <a:gd name="adj" fmla="val 10000"/>
            </a:avLst>
          </a:prstGeom>
          <a:solidFill>
            <a:srgbClr val="FFFFFF"/>
          </a:solidFill>
          <a:ln w="12700">
            <a:solidFill>
              <a:srgbClr val="FFFFFF"/>
            </a:solidFill>
            <a:prstDash val="solid"/>
          </a:ln>
        </p:spPr>
      </p:sp>
      <p:sp>
        <p:nvSpPr>
          <p:cNvPr id="6" name="Text 4"/>
          <p:cNvSpPr txBox="1"/>
          <p:nvPr/>
        </p:nvSpPr>
        <p:spPr>
          <a:xfrm>
            <a:off x="8138160" y="64008"/>
            <a:ext cx="731520" cy="329184"/>
          </a:xfrm>
          <a:prstGeom prst="rect">
            <a:avLst/>
          </a:prstGeom>
          <a:noFill/>
          <a:ln/>
        </p:spPr>
        <p:txBody>
          <a:bodyPr wrap="square" lIns="0" tIns="0" rIns="0" bIns="0" rtlCol="0" anchor="ctr"/>
          <a:lstStyle/>
          <a:p>
            <a:pPr algn="r" indent="0" marL="0">
              <a:buNone/>
            </a:pPr>
            <a:r>
              <a:rPr lang="en-US" sz="1500" b="1" dirty="0">
                <a:solidFill>
                  <a:srgbClr val="FFFFFF"/>
                </a:solidFill>
                <a:latin typeface="DejaVu Sans" pitchFamily="34" charset="0"/>
                <a:ea typeface="DejaVu Sans" pitchFamily="34" charset="-122"/>
                <a:cs typeface="DejaVu Sans" pitchFamily="34" charset="-120"/>
              </a:rPr>
              <a:t>CRT</a:t>
            </a:r>
            <a:endParaRPr lang="en-US" sz="1500" dirty="0"/>
          </a:p>
        </p:txBody>
      </p:sp>
      <p:sp>
        <p:nvSpPr>
          <p:cNvPr id="7" name="Shape 5"/>
          <p:cNvSpPr/>
          <p:nvPr/>
        </p:nvSpPr>
        <p:spPr>
          <a:xfrm>
            <a:off x="301752" y="621792"/>
            <a:ext cx="4178808" cy="1115568"/>
          </a:xfrm>
          <a:prstGeom prst="roundRect">
            <a:avLst>
              <a:gd name="adj" fmla="val 4918"/>
            </a:avLst>
          </a:prstGeom>
          <a:solidFill>
            <a:srgbClr val="F6FAF9"/>
          </a:solidFill>
          <a:ln w="9525">
            <a:solidFill>
              <a:srgbClr val="C9DAD6"/>
            </a:solidFill>
            <a:prstDash val="solid"/>
          </a:ln>
        </p:spPr>
      </p:sp>
      <p:sp>
        <p:nvSpPr>
          <p:cNvPr id="8" name="Shape 6"/>
          <p:cNvSpPr/>
          <p:nvPr/>
        </p:nvSpPr>
        <p:spPr>
          <a:xfrm>
            <a:off x="301752" y="694944"/>
            <a:ext cx="64008" cy="969264"/>
          </a:xfrm>
          <a:prstGeom prst="rect">
            <a:avLst/>
          </a:prstGeom>
          <a:solidFill>
            <a:srgbClr val="2F7F6F"/>
          </a:solidFill>
          <a:ln w="12700">
            <a:solidFill>
              <a:srgbClr val="2F7F6F"/>
            </a:solidFill>
            <a:prstDash val="solid"/>
          </a:ln>
        </p:spPr>
      </p:sp>
      <p:sp>
        <p:nvSpPr>
          <p:cNvPr id="9" name="Shape 7"/>
          <p:cNvSpPr/>
          <p:nvPr/>
        </p:nvSpPr>
        <p:spPr>
          <a:xfrm>
            <a:off x="484632" y="713232"/>
            <a:ext cx="237744" cy="237744"/>
          </a:xfrm>
          <a:prstGeom prst="roundRect">
            <a:avLst>
              <a:gd name="adj" fmla="val 19231"/>
            </a:avLst>
          </a:prstGeom>
          <a:solidFill>
            <a:srgbClr val="1A4043"/>
          </a:solidFill>
          <a:ln w="12700">
            <a:solidFill>
              <a:srgbClr val="1A4043"/>
            </a:solidFill>
            <a:prstDash val="solid"/>
          </a:ln>
        </p:spPr>
      </p:sp>
      <p:sp>
        <p:nvSpPr>
          <p:cNvPr id="10" name="Text 8"/>
          <p:cNvSpPr txBox="1"/>
          <p:nvPr/>
        </p:nvSpPr>
        <p:spPr>
          <a:xfrm>
            <a:off x="484632"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A</a:t>
            </a:r>
            <a:endParaRPr lang="en-US" sz="1000" dirty="0"/>
          </a:p>
        </p:txBody>
      </p:sp>
      <p:sp>
        <p:nvSpPr>
          <p:cNvPr id="11" name="Text 9"/>
          <p:cNvSpPr txBox="1"/>
          <p:nvPr/>
        </p:nvSpPr>
        <p:spPr>
          <a:xfrm>
            <a:off x="484632" y="1005840"/>
            <a:ext cx="3813048" cy="658368"/>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Acceso: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El conjunto de canales físicos de una Red Pública de Telecomunicaciones, que conecta el Equipo Terminal en la ubicación del usuario con la instalación del Operador desde la cual se presta el servicio al usuario. En el caso de Redes de Acceso Fijo alámbrico se le suele llamar históricamente bucle local, y en Servicios de Transporte de Voz se le conoce como línea.</a:t>
            </a:r>
            <a:endParaRPr lang="en-US" sz="730" dirty="0"/>
          </a:p>
        </p:txBody>
      </p:sp>
      <p:sp>
        <p:nvSpPr>
          <p:cNvPr id="12" name="Shape 10"/>
          <p:cNvSpPr/>
          <p:nvPr/>
        </p:nvSpPr>
        <p:spPr>
          <a:xfrm>
            <a:off x="301752" y="1828800"/>
            <a:ext cx="4178808" cy="2633472"/>
          </a:xfrm>
          <a:prstGeom prst="roundRect">
            <a:avLst>
              <a:gd name="adj" fmla="val 2083"/>
            </a:avLst>
          </a:prstGeom>
          <a:solidFill>
            <a:srgbClr val="F6FAF9"/>
          </a:solidFill>
          <a:ln w="9525">
            <a:solidFill>
              <a:srgbClr val="C9DAD6"/>
            </a:solidFill>
            <a:prstDash val="solid"/>
          </a:ln>
        </p:spPr>
      </p:sp>
      <p:sp>
        <p:nvSpPr>
          <p:cNvPr id="13" name="Shape 11"/>
          <p:cNvSpPr/>
          <p:nvPr/>
        </p:nvSpPr>
        <p:spPr>
          <a:xfrm>
            <a:off x="301752" y="1901952"/>
            <a:ext cx="64008" cy="2487168"/>
          </a:xfrm>
          <a:prstGeom prst="rect">
            <a:avLst/>
          </a:prstGeom>
          <a:solidFill>
            <a:srgbClr val="2F7F6F"/>
          </a:solidFill>
          <a:ln w="12700">
            <a:solidFill>
              <a:srgbClr val="2F7F6F"/>
            </a:solidFill>
            <a:prstDash val="solid"/>
          </a:ln>
        </p:spPr>
      </p:sp>
      <p:sp>
        <p:nvSpPr>
          <p:cNvPr id="14" name="Shape 12"/>
          <p:cNvSpPr/>
          <p:nvPr/>
        </p:nvSpPr>
        <p:spPr>
          <a:xfrm>
            <a:off x="484632" y="1920240"/>
            <a:ext cx="237744" cy="237744"/>
          </a:xfrm>
          <a:prstGeom prst="roundRect">
            <a:avLst>
              <a:gd name="adj" fmla="val 19231"/>
            </a:avLst>
          </a:prstGeom>
          <a:solidFill>
            <a:srgbClr val="1A4043"/>
          </a:solidFill>
          <a:ln w="12700">
            <a:solidFill>
              <a:srgbClr val="1A4043"/>
            </a:solidFill>
            <a:prstDash val="solid"/>
          </a:ln>
        </p:spPr>
      </p:sp>
      <p:sp>
        <p:nvSpPr>
          <p:cNvPr id="15" name="Text 13"/>
          <p:cNvSpPr txBox="1"/>
          <p:nvPr/>
        </p:nvSpPr>
        <p:spPr>
          <a:xfrm>
            <a:off x="484632" y="19202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C</a:t>
            </a:r>
            <a:endParaRPr lang="en-US" sz="1000" dirty="0"/>
          </a:p>
        </p:txBody>
      </p:sp>
      <p:sp>
        <p:nvSpPr>
          <p:cNvPr id="16" name="Text 14"/>
          <p:cNvSpPr txBox="1"/>
          <p:nvPr/>
        </p:nvSpPr>
        <p:spPr>
          <a:xfrm>
            <a:off x="484632" y="2212848"/>
            <a:ext cx="3813048" cy="2176272"/>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Caricaturas: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Son todos los programas que están hechos con alguna de las siguientes técnicas: dibujos animados, plastilina, arcilla (stop motion), animación vectorial y de tercera dimensión. No deben considerarse dentro de este género los cortometrajes animados.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Cómico: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 cuyo contenido está enfocado al esparcimiento de la audiencia, al manejar cuadros cómicos, chistes, cuentos y cualquier otro elemento que intente provocar la risa.</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Concurso: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Formato de programa en el que los participantes realizan una serie de actividades en busca de superar a sus rivales. Un concurso puede hacer competir tanto a individuos, como a grupos y/o instituciones privadas o públicas, y pueden o no obtenerse premios.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Cultural: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Programación que presenta las formas y expresiones de una sociedad. Su contenido es referente a los siguientes temas artísticos: arquitectura, danza, escultura, literatura, ópera, pintura, teatro, museos, exposiciones; sociales: académicos, científicos, históricos, gastronómicos, etnográficos, ciencias naturales; y simbólicos: biografías, entrevista de semblanza a personajes involucrados en la cultura, happenings.</a:t>
            </a:r>
            <a:endParaRPr lang="en-US" sz="730" dirty="0"/>
          </a:p>
        </p:txBody>
      </p:sp>
      <p:sp>
        <p:nvSpPr>
          <p:cNvPr id="17" name="Shape 15"/>
          <p:cNvSpPr/>
          <p:nvPr/>
        </p:nvSpPr>
        <p:spPr>
          <a:xfrm>
            <a:off x="4663440" y="621792"/>
            <a:ext cx="4178808" cy="3840480"/>
          </a:xfrm>
          <a:prstGeom prst="roundRect">
            <a:avLst>
              <a:gd name="adj" fmla="val 1429"/>
            </a:avLst>
          </a:prstGeom>
          <a:solidFill>
            <a:srgbClr val="F6FAF9"/>
          </a:solidFill>
          <a:ln w="9525">
            <a:solidFill>
              <a:srgbClr val="C9DAD6"/>
            </a:solidFill>
            <a:prstDash val="solid"/>
          </a:ln>
        </p:spPr>
      </p:sp>
      <p:sp>
        <p:nvSpPr>
          <p:cNvPr id="18" name="Shape 16"/>
          <p:cNvSpPr/>
          <p:nvPr/>
        </p:nvSpPr>
        <p:spPr>
          <a:xfrm>
            <a:off x="4663440" y="694944"/>
            <a:ext cx="64008" cy="3694176"/>
          </a:xfrm>
          <a:prstGeom prst="rect">
            <a:avLst/>
          </a:prstGeom>
          <a:solidFill>
            <a:srgbClr val="2F7F6F"/>
          </a:solidFill>
          <a:ln w="12700">
            <a:solidFill>
              <a:srgbClr val="2F7F6F"/>
            </a:solidFill>
            <a:prstDash val="solid"/>
          </a:ln>
        </p:spPr>
      </p:sp>
      <p:sp>
        <p:nvSpPr>
          <p:cNvPr id="19" name="Shape 17"/>
          <p:cNvSpPr/>
          <p:nvPr/>
        </p:nvSpPr>
        <p:spPr>
          <a:xfrm>
            <a:off x="4846320" y="713232"/>
            <a:ext cx="237744" cy="237744"/>
          </a:xfrm>
          <a:prstGeom prst="roundRect">
            <a:avLst>
              <a:gd name="adj" fmla="val 19231"/>
            </a:avLst>
          </a:prstGeom>
          <a:solidFill>
            <a:srgbClr val="1A4043"/>
          </a:solidFill>
          <a:ln w="12700">
            <a:solidFill>
              <a:srgbClr val="1A4043"/>
            </a:solidFill>
            <a:prstDash val="solid"/>
          </a:ln>
        </p:spPr>
      </p:sp>
      <p:sp>
        <p:nvSpPr>
          <p:cNvPr id="20" name="Text 18"/>
          <p:cNvSpPr txBox="1"/>
          <p:nvPr/>
        </p:nvSpPr>
        <p:spPr>
          <a:xfrm>
            <a:off x="4846320"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D</a:t>
            </a:r>
            <a:endParaRPr lang="en-US" sz="1000" dirty="0"/>
          </a:p>
        </p:txBody>
      </p:sp>
      <p:sp>
        <p:nvSpPr>
          <p:cNvPr id="21" name="Text 19"/>
          <p:cNvSpPr txBox="1"/>
          <p:nvPr/>
        </p:nvSpPr>
        <p:spPr>
          <a:xfrm>
            <a:off x="4846320" y="1005840"/>
            <a:ext cx="3813048" cy="3383280"/>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Debate: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Espacio argumentativo en el cual se emiten ideas antagónicas sobre un tema o temas específicos. Contempla un panel de especialistas y un moderador, quienes aportan puntos de vista desde su campo de conocimiento.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Decil de ingreso: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Los hogares pueden ser agrupados de acuerdo con los ingresos que perciben. Cuando se forman diez conjuntos del mismo tamaño, se les conoce como “deciles”, por lo que el primer decil está integrado por la décima parte de los hogares que tienen los menores ingresos, y así de manera sucesiva, hasta llegar al último decil, que está compuesto por la décima parte de los hogares con los ingresos más altos¹¹.</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Deportes: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Transmisión de eventos deportivos, cultura física o programas de resumen deportivo, así como resultados y/o comentarios relacionados con el deporte. En este género no se incluyen programas de reportaje que, en un capítulo en específico, aborden un tema deportivo.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Directorio Estadístico Nacional de Unidades Económicas (DENUE):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Herramienta interactiva del INEGI en la que se ofrecen los datos de identificación, ubicación, actividad económica y tamaño de los negocios activos en el territorio nacional, actualizados, fundamentalmente, en el segmento de los establecimientos grandes. Disponible en: https://www.inegi.org.mx/app/mapa/denue/default.aspx.</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Dramatizado Unitario: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Programas de ficción en los que cada capítulo constituye una unidad narrativa independiente. En su contenido se manifiestan situaciones conflictivas y/o trágicas, y cada episodio tiene inicio, desarrollo y final. En muy pocas ocasiones puede extenderse a más de una emisión.</a:t>
            </a:r>
            <a:endParaRPr lang="en-US" sz="730" dirty="0"/>
          </a:p>
        </p:txBody>
      </p:sp>
      <p:sp>
        <p:nvSpPr>
          <p:cNvPr id="22" name="Text 20"/>
          <p:cNvSpPr txBox="1"/>
          <p:nvPr/>
        </p:nvSpPr>
        <p:spPr>
          <a:xfrm>
            <a:off x="301752" y="4507992"/>
            <a:ext cx="8540496" cy="292608"/>
          </a:xfrm>
          <a:prstGeom prst="rect">
            <a:avLst/>
          </a:prstGeom>
          <a:noFill/>
          <a:ln/>
        </p:spPr>
        <p:txBody>
          <a:bodyPr wrap="square" lIns="0" tIns="0" rIns="0" bIns="0" rtlCol="0" anchor="t"/>
          <a:lstStyle/>
          <a:p>
            <a:pPr indent="0" marL="0">
              <a:buNone/>
            </a:pPr>
            <a:r>
              <a:rPr lang="en-US" sz="520" b="1" baseline="30000" dirty="0">
                <a:solidFill>
                  <a:srgbClr val="24383A"/>
                </a:solidFill>
                <a:latin typeface="DejaVu Sans" pitchFamily="34" charset="0"/>
                <a:ea typeface="DejaVu Sans" pitchFamily="34" charset="-122"/>
                <a:cs typeface="DejaVu Sans" pitchFamily="34" charset="-120"/>
              </a:rPr>
              <a:t>11 </a:t>
            </a:r>
            <a:pPr indent="0" marL="0">
              <a:buNone/>
            </a:pPr>
            <a:r>
              <a:rPr lang="en-US" sz="520" dirty="0">
                <a:solidFill>
                  <a:srgbClr val="24383A"/>
                </a:solidFill>
                <a:latin typeface="DejaVu Sans" pitchFamily="34" charset="0"/>
                <a:ea typeface="DejaVu Sans" pitchFamily="34" charset="-122"/>
                <a:cs typeface="DejaVu Sans" pitchFamily="34" charset="-120"/>
              </a:rPr>
              <a:t>Definición publicada el 26 de julio de 2023 por el Instituto Nacional de Estadística y Geografía (INEGI), pág. 11., en el cual se dan a conocer los resultados de la Encuesta Nacional de Ingresos y Gastos de los Hogares (ENIGH) 2020. Disponible en: Encuesta Nacional de Ingresos y Gastos de los Hogares 2022. Presentación de resultados.</a:t>
            </a:r>
            <a:endParaRPr lang="en-US" sz="520" dirty="0"/>
          </a:p>
        </p:txBody>
      </p:sp>
      <p:sp>
        <p:nvSpPr>
          <p:cNvPr id="23" name="Shape 21"/>
          <p:cNvSpPr/>
          <p:nvPr/>
        </p:nvSpPr>
        <p:spPr>
          <a:xfrm>
            <a:off x="0" y="4937760"/>
            <a:ext cx="9144000" cy="205740"/>
          </a:xfrm>
          <a:prstGeom prst="rect">
            <a:avLst/>
          </a:prstGeom>
          <a:solidFill>
            <a:srgbClr val="1A4043"/>
          </a:solidFill>
          <a:ln w="12700">
            <a:solidFill>
              <a:srgbClr val="1A4043"/>
            </a:solidFill>
            <a:prstDash val="solid"/>
          </a:ln>
        </p:spPr>
      </p:sp>
      <p:sp>
        <p:nvSpPr>
          <p:cNvPr id="24" name="Text 22"/>
          <p:cNvSpPr txBox="1"/>
          <p:nvPr/>
        </p:nvSpPr>
        <p:spPr>
          <a:xfrm>
            <a:off x="301752" y="4937760"/>
            <a:ext cx="731520" cy="205740"/>
          </a:xfrm>
          <a:prstGeom prst="rect">
            <a:avLst/>
          </a:prstGeom>
          <a:noFill/>
          <a:ln/>
        </p:spPr>
        <p:txBody>
          <a:bodyPr wrap="square" lIns="0" tIns="0" rIns="0" bIns="0" rtlCol="0" anchor="ctr"/>
          <a:lstStyle/>
          <a:p>
            <a:pPr indent="0" marL="0">
              <a:buNone/>
            </a:pPr>
            <a:r>
              <a:rPr lang="en-US" sz="700" b="1" dirty="0">
                <a:solidFill>
                  <a:srgbClr val="FFFFFF"/>
                </a:solidFill>
                <a:latin typeface="DejaVu Sans" pitchFamily="34" charset="0"/>
                <a:ea typeface="DejaVu Sans" pitchFamily="34" charset="-122"/>
                <a:cs typeface="DejaVu Sans" pitchFamily="34" charset="-120"/>
              </a:rPr>
              <a:t>121</a:t>
            </a:r>
            <a:endParaRPr lang="en-US" sz="700" dirty="0"/>
          </a:p>
        </p:txBody>
      </p:sp>
      <p:sp>
        <p:nvSpPr>
          <p:cNvPr id="25" name="Text 23"/>
          <p:cNvSpPr txBox="1"/>
          <p:nvPr/>
        </p:nvSpPr>
        <p:spPr>
          <a:xfrm>
            <a:off x="5029200" y="4937760"/>
            <a:ext cx="3813048" cy="205740"/>
          </a:xfrm>
          <a:prstGeom prst="rect">
            <a:avLst/>
          </a:prstGeom>
          <a:noFill/>
          <a:ln/>
        </p:spPr>
        <p:txBody>
          <a:bodyPr wrap="square" lIns="0" tIns="0" rIns="0" bIns="0" rtlCol="0" anchor="ctr"/>
          <a:lstStyle/>
          <a:p>
            <a:pPr algn="r" indent="0" marL="0">
              <a:buNone/>
            </a:pPr>
            <a:r>
              <a:rPr lang="en-US" sz="600" dirty="0">
                <a:solidFill>
                  <a:srgbClr val="D5E4E1"/>
                </a:solidFill>
                <a:latin typeface="DejaVu Sans" pitchFamily="34" charset="0"/>
                <a:ea typeface="DejaVu Sans" pitchFamily="34" charset="-122"/>
                <a:cs typeface="DejaVu Sans" pitchFamily="34" charset="-120"/>
              </a:rPr>
              <a:t>A N U A R I O   E S T A D Í S T I C O   2 0 2 6</a:t>
            </a:r>
            <a:endParaRPr lang="en-US" sz="600" dirty="0"/>
          </a:p>
        </p:txBody>
      </p:sp>
    </p:spTree>
  </p:cSld>
  <p:clrMapOvr>
    <a:masterClrMapping/>
  </p:clrMapOvr>
</p:sld>
</file>

<file path=ppt/slides/slide122.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82" name="ANUARIO_ENCABEZADO">
            <a:extLst xmlns:a="http://schemas.openxmlformats.org/drawingml/2006/main">
              <a:ext uri="{FF2B5EF4-FFF2-40B4-BE49-F238E27FC236}">
                <a16:creationId xmlns:a16="http://schemas.microsoft.com/office/drawing/2014/main" id="{C457562E-8449-46B1-A4FA-CAAAFF7B38BA}"/>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67478D00-C6D3-4921-B4BE-5F6A44862486}"/>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903887CC-ED29-4FCD-B769-68B012074A1D}"/>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 DEFINICIONES</a:t>
            </a:r>
          </a:p>
        </p:txBody>
      </p:sp>
      <p:sp>
        <p:nvSpPr>
          <p:cNvPr id="4" name="ANUARIO_BIT_TEXTO">
            <a:extLst xmlns:a="http://schemas.openxmlformats.org/drawingml/2006/main">
              <a:ext uri="{FF2B5EF4-FFF2-40B4-BE49-F238E27FC236}">
                <a16:creationId xmlns:a16="http://schemas.microsoft.com/office/drawing/2014/main" id="{5C699AC6-655A-427C-A133-E909FE115C3A}"/>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8F411BC1-1F8D-4D15-914D-1D1EFC4E93C0}"/>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E7271320-24C8-40B7-AC1B-F2A0283C77EC}"/>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48ADD520-087B-4B6C-B2EA-217DE459AB97}"/>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E4AD0882-B201-4115-9F53-DDF5A91B256C}"/>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122</a:t>
            </a:r>
          </a:p>
        </p:txBody>
      </p:sp>
      <p:sp>
        <p:nvSpPr>
          <p:cNvPr id="9" name="ANUARIO_EDICION">
            <a:extLst xmlns:a="http://schemas.openxmlformats.org/drawingml/2006/main">
              <a:ext uri="{FF2B5EF4-FFF2-40B4-BE49-F238E27FC236}">
                <a16:creationId xmlns:a16="http://schemas.microsoft.com/office/drawing/2014/main" id="{C44CD72B-8D17-4039-BDBA-89AB96AE4D37}"/>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2_DESIGN_2026">
            <a:extLst xmlns:a="http://schemas.openxmlformats.org/drawingml/2006/main">
              <a:ext uri="{FF2B5EF4-FFF2-40B4-BE49-F238E27FC236}">
                <a16:creationId xmlns:a16="http://schemas.microsoft.com/office/drawing/2014/main" id="{7C2682C7-7E65-45CA-A741-86178EE128CD}"/>
              </a:ext>
            </a:extLst>
          </p:cNvPr>
          <p:cNvSpPr>
            <a:spLocks xmlns:a="http://schemas.openxmlformats.org/drawingml/2006/main" noGrp="1"/>
          </p:cNvSpPr>
          <p:nvPr/>
        </p:nvSpPr>
        <p:spPr>
          <a:xfrm xmlns:a="http://schemas.openxmlformats.org/drawingml/2006/main">
            <a:off x="301752" y="566928"/>
            <a:ext cx="4178808" cy="2549316"/>
          </a:xfrm>
          <a:prstGeom xmlns:a="http://schemas.openxmlformats.org/drawingml/2006/main" prst="roundRect">
            <a:avLst>
              <a:gd name="adj" fmla="val 2152"/>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6432A3D0-66DA-4BD7-BCC7-6CF45147083C}"/>
              </a:ext>
            </a:extLst>
          </p:cNvPr>
          <p:cNvSpPr>
            <a:spLocks xmlns:a="http://schemas.openxmlformats.org/drawingml/2006/main" noGrp="1"/>
          </p:cNvSpPr>
          <p:nvPr/>
        </p:nvSpPr>
        <p:spPr>
          <a:xfrm xmlns:a="http://schemas.openxmlformats.org/drawingml/2006/main">
            <a:off x="301752" y="640080"/>
            <a:ext cx="64008" cy="240301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LETRA_FONDO">
            <a:extLst xmlns:a="http://schemas.openxmlformats.org/drawingml/2006/main">
              <a:ext uri="{FF2B5EF4-FFF2-40B4-BE49-F238E27FC236}">
                <a16:creationId xmlns:a16="http://schemas.microsoft.com/office/drawing/2014/main" id="{27D05E98-B7C6-41AD-82E4-F8D3603B021E}"/>
              </a:ext>
            </a:extLst>
          </p:cNvPr>
          <p:cNvSpPr>
            <a:spLocks xmlns:a="http://schemas.openxmlformats.org/drawingml/2006/main" noGrp="1"/>
          </p:cNvSpPr>
          <p:nvPr/>
        </p:nvSpPr>
        <p:spPr>
          <a:xfrm xmlns:a="http://schemas.openxmlformats.org/drawingml/2006/main">
            <a:off x="466344"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13" name="ANUARIO_LETRA">
            <a:extLst xmlns:a="http://schemas.openxmlformats.org/drawingml/2006/main">
              <a:ext uri="{FF2B5EF4-FFF2-40B4-BE49-F238E27FC236}">
                <a16:creationId xmlns:a16="http://schemas.microsoft.com/office/drawing/2014/main" id="{9B4BD0D6-00AD-441F-B6DB-619DA77AB6A3}"/>
              </a:ext>
            </a:extLst>
          </p:cNvPr>
          <p:cNvSpPr>
            <a:spLocks xmlns:a="http://schemas.openxmlformats.org/drawingml/2006/main" noGrp="1"/>
          </p:cNvSpPr>
          <p:nvPr/>
        </p:nvSpPr>
        <p:spPr>
          <a:xfrm xmlns:a="http://schemas.openxmlformats.org/drawingml/2006/main">
            <a:off x="466344"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a:t>
            </a:r>
          </a:p>
        </p:txBody>
      </p:sp>
      <p:sp>
        <p:nvSpPr>
          <p:cNvPr id="14" name="ANUARIO_CONTENIDO_0_0_0">
            <a:extLst xmlns:a="http://schemas.openxmlformats.org/drawingml/2006/main">
              <a:ext uri="{FF2B5EF4-FFF2-40B4-BE49-F238E27FC236}">
                <a16:creationId xmlns:a16="http://schemas.microsoft.com/office/drawing/2014/main" id="{AD5D5187-E3E4-44F8-B991-11C273EFD3EF}"/>
              </a:ext>
            </a:extLst>
          </p:cNvPr>
          <p:cNvSpPr>
            <a:spLocks xmlns:a="http://schemas.openxmlformats.org/drawingml/2006/main" noGrp="1"/>
          </p:cNvSpPr>
          <p:nvPr/>
        </p:nvSpPr>
        <p:spPr>
          <a:xfrm xmlns:a="http://schemas.openxmlformats.org/drawingml/2006/main">
            <a:off x="466344"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Encendidos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(tvr%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TRr%):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Porcentaje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encendida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p>
        </p:txBody>
      </p:sp>
      <p:sp>
        <p:nvSpPr>
          <p:cNvPr id="15" name="ANUARIO_CONTENIDO_0_0_1">
            <a:extLst xmlns:a="http://schemas.openxmlformats.org/drawingml/2006/main">
              <a:ext uri="{FF2B5EF4-FFF2-40B4-BE49-F238E27FC236}">
                <a16:creationId xmlns:a16="http://schemas.microsoft.com/office/drawing/2014/main" id="{791C9A0C-C33E-44CF-90CF-EB054240F96A}"/>
              </a:ext>
            </a:extLst>
          </p:cNvPr>
          <p:cNvSpPr>
            <a:spLocks xmlns:a="http://schemas.openxmlformats.org/drawingml/2006/main" noGrp="1"/>
          </p:cNvSpPr>
          <p:nvPr/>
        </p:nvSpPr>
        <p:spPr>
          <a:xfrm xmlns:a="http://schemas.openxmlformats.org/drawingml/2006/main">
            <a:off x="466344"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escucharon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momento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importar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canal.</a:t>
            </a:r>
          </a:p>
        </p:txBody>
      </p:sp>
      <p:sp>
        <p:nvSpPr>
          <p:cNvPr id="16" name="ANUARIO_CONTENIDO_0_0_2">
            <a:extLst xmlns:a="http://schemas.openxmlformats.org/drawingml/2006/main">
              <a:ext uri="{FF2B5EF4-FFF2-40B4-BE49-F238E27FC236}">
                <a16:creationId xmlns:a16="http://schemas.microsoft.com/office/drawing/2014/main" id="{9B0F2FBC-37ED-4D96-8FD4-6254DFA3FE46}"/>
              </a:ext>
            </a:extLst>
          </p:cNvPr>
          <p:cNvSpPr>
            <a:spLocks xmlns:a="http://schemas.openxmlformats.org/drawingml/2006/main" noGrp="1"/>
          </p:cNvSpPr>
          <p:nvPr/>
        </p:nvSpPr>
        <p:spPr>
          <a:xfrm xmlns:a="http://schemas.openxmlformats.org/drawingml/2006/main">
            <a:off x="466344" y="10881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Disponibilidad</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Uso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las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Tecnologías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Información</a:t>
            </a:r>
            <a:r>
              <a:rPr sz="650" b="1" i="0">
                <a:solidFill>
                  <a:srgbClr val="2F7F6F"/>
                </a:solidFill>
                <a:latin typeface="DejaVu Sans"/>
                <a:ea typeface="DejaVu Sans"/>
                <a:cs typeface="DejaVu Sans"/>
              </a:rPr>
              <a:t> </a:t>
            </a:r>
          </a:p>
        </p:txBody>
      </p:sp>
      <p:sp>
        <p:nvSpPr>
          <p:cNvPr id="17" name="ANUARIO_CONTENIDO_0_0_3">
            <a:extLst xmlns:a="http://schemas.openxmlformats.org/drawingml/2006/main">
              <a:ext uri="{FF2B5EF4-FFF2-40B4-BE49-F238E27FC236}">
                <a16:creationId xmlns:a16="http://schemas.microsoft.com/office/drawing/2014/main" id="{62371776-BE51-46F6-862D-E4E6D27E80FF}"/>
              </a:ext>
            </a:extLst>
          </p:cNvPr>
          <p:cNvSpPr>
            <a:spLocks xmlns:a="http://schemas.openxmlformats.org/drawingml/2006/main" noGrp="1"/>
          </p:cNvSpPr>
          <p:nvPr/>
        </p:nvSpPr>
        <p:spPr>
          <a:xfrm xmlns:a="http://schemas.openxmlformats.org/drawingml/2006/main">
            <a:off x="466344"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Hogares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(ENDUTIH):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p>
        </p:txBody>
      </p:sp>
      <p:sp>
        <p:nvSpPr>
          <p:cNvPr id="18" name="ANUARIO_CONTENIDO_0_0_4">
            <a:extLst xmlns:a="http://schemas.openxmlformats.org/drawingml/2006/main">
              <a:ext uri="{FF2B5EF4-FFF2-40B4-BE49-F238E27FC236}">
                <a16:creationId xmlns:a16="http://schemas.microsoft.com/office/drawing/2014/main" id="{E21F4527-B209-47C3-A3ED-CDC2D685666B}"/>
              </a:ext>
            </a:extLst>
          </p:cNvPr>
          <p:cNvSpPr>
            <a:spLocks xmlns:a="http://schemas.openxmlformats.org/drawingml/2006/main" noGrp="1"/>
          </p:cNvSpPr>
          <p:nvPr/>
        </p:nvSpPr>
        <p:spPr>
          <a:xfrm xmlns:a="http://schemas.openxmlformats.org/drawingml/2006/main">
            <a:off x="466344"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estadística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conocer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disponibilidad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Tecnologías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p>
        </p:txBody>
      </p:sp>
      <p:sp>
        <p:nvSpPr>
          <p:cNvPr id="19" name="ANUARIO_CONTENIDO_0_0_5">
            <a:extLst xmlns:a="http://schemas.openxmlformats.org/drawingml/2006/main">
              <a:ext uri="{FF2B5EF4-FFF2-40B4-BE49-F238E27FC236}">
                <a16:creationId xmlns:a16="http://schemas.microsoft.com/office/drawing/2014/main" id="{1941C591-2699-4674-8A47-4553610C54EB}"/>
              </a:ext>
            </a:extLst>
          </p:cNvPr>
          <p:cNvSpPr>
            <a:spLocks xmlns:a="http://schemas.openxmlformats.org/drawingml/2006/main" noGrp="1"/>
          </p:cNvSpPr>
          <p:nvPr/>
        </p:nvSpPr>
        <p:spPr>
          <a:xfrm xmlns:a="http://schemas.openxmlformats.org/drawingml/2006/main">
            <a:off x="466344"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individuos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seis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p>
        </p:txBody>
      </p:sp>
      <p:sp>
        <p:nvSpPr>
          <p:cNvPr id="20" name="ANUARIO_CONTENIDO_0_0_6">
            <a:extLst xmlns:a="http://schemas.openxmlformats.org/drawingml/2006/main">
              <a:ext uri="{FF2B5EF4-FFF2-40B4-BE49-F238E27FC236}">
                <a16:creationId xmlns:a16="http://schemas.microsoft.com/office/drawing/2014/main" id="{F46664C2-7D9E-4439-84A5-231865BE69FC}"/>
              </a:ext>
            </a:extLst>
          </p:cNvPr>
          <p:cNvSpPr>
            <a:spLocks xmlns:a="http://schemas.openxmlformats.org/drawingml/2006/main" noGrp="1"/>
          </p:cNvSpPr>
          <p:nvPr/>
        </p:nvSpPr>
        <p:spPr>
          <a:xfrm xmlns:a="http://schemas.openxmlformats.org/drawingml/2006/main">
            <a:off x="466344" y="14579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México.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https://www.inegi.org.mx/programas/</a:t>
            </a:r>
            <a:r>
              <a:rPr sz="650" b="0" i="0">
                <a:solidFill>
                  <a:srgbClr val="24383A"/>
                </a:solidFill>
                <a:latin typeface="DejaVu Sans"/>
                <a:ea typeface="DejaVu Sans"/>
                <a:cs typeface="DejaVu Sans"/>
              </a:rPr>
              <a:t>endutih/2025/</a:t>
            </a:r>
            <a:r>
              <a:rPr sz="650" b="0" i="0">
                <a:solidFill>
                  <a:srgbClr val="24383A"/>
                </a:solidFill>
                <a:latin typeface="DejaVu Sans"/>
                <a:ea typeface="DejaVu Sans"/>
                <a:cs typeface="DejaVu Sans"/>
              </a:rPr>
              <a:t>.</a:t>
            </a:r>
          </a:p>
        </p:txBody>
      </p:sp>
      <p:sp>
        <p:nvSpPr>
          <p:cNvPr id="21" name="ANUARIO_CONTENIDO_0_0_7">
            <a:extLst xmlns:a="http://schemas.openxmlformats.org/drawingml/2006/main">
              <a:ext uri="{FF2B5EF4-FFF2-40B4-BE49-F238E27FC236}">
                <a16:creationId xmlns:a16="http://schemas.microsoft.com/office/drawing/2014/main" id="{AEB53C02-3D6E-4D12-8588-660451F0D5B9}"/>
              </a:ext>
            </a:extLst>
          </p:cNvPr>
          <p:cNvSpPr>
            <a:spLocks xmlns:a="http://schemas.openxmlformats.org/drawingml/2006/main" noGrp="1"/>
          </p:cNvSpPr>
          <p:nvPr/>
        </p:nvSpPr>
        <p:spPr>
          <a:xfrm xmlns:a="http://schemas.openxmlformats.org/drawingml/2006/main">
            <a:off x="466344" y="15758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Ingresos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Gastos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Hogares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(ENIGH):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cuyo</a:t>
            </a:r>
            <a:r>
              <a:rPr sz="650" b="0" i="0">
                <a:solidFill>
                  <a:srgbClr val="24383A"/>
                </a:solidFill>
                <a:latin typeface="DejaVu Sans"/>
                <a:ea typeface="DejaVu Sans"/>
                <a:cs typeface="DejaVu Sans"/>
              </a:rPr>
              <a:t> </a:t>
            </a:r>
          </a:p>
        </p:txBody>
      </p:sp>
      <p:sp>
        <p:nvSpPr>
          <p:cNvPr id="22" name="ANUARIO_CONTENIDO_0_0_8">
            <a:extLst xmlns:a="http://schemas.openxmlformats.org/drawingml/2006/main">
              <a:ext uri="{FF2B5EF4-FFF2-40B4-BE49-F238E27FC236}">
                <a16:creationId xmlns:a16="http://schemas.microsoft.com/office/drawing/2014/main" id="{B795F4DD-4654-42EA-B5EB-A818683EA7DD}"/>
              </a:ext>
            </a:extLst>
          </p:cNvPr>
          <p:cNvSpPr>
            <a:spLocks xmlns:a="http://schemas.openxmlformats.org/drawingml/2006/main" noGrp="1"/>
          </p:cNvSpPr>
          <p:nvPr/>
        </p:nvSpPr>
        <p:spPr>
          <a:xfrm xmlns:a="http://schemas.openxmlformats.org/drawingml/2006/main">
            <a:off x="466344" y="16682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proporcionar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panorama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estadístico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comportamiento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23" name="ANUARIO_CONTENIDO_0_0_9">
            <a:extLst xmlns:a="http://schemas.openxmlformats.org/drawingml/2006/main">
              <a:ext uri="{FF2B5EF4-FFF2-40B4-BE49-F238E27FC236}">
                <a16:creationId xmlns:a16="http://schemas.microsoft.com/office/drawing/2014/main" id="{D54FBBFF-007C-4AEB-BFC5-5B50BAF45818}"/>
              </a:ext>
            </a:extLst>
          </p:cNvPr>
          <p:cNvSpPr>
            <a:spLocks xmlns:a="http://schemas.openxmlformats.org/drawingml/2006/main" noGrp="1"/>
          </p:cNvSpPr>
          <p:nvPr/>
        </p:nvSpPr>
        <p:spPr>
          <a:xfrm xmlns:a="http://schemas.openxmlformats.org/drawingml/2006/main">
            <a:off x="466344" y="17607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gastos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procedencia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distribución;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adicionalmente,</a:t>
            </a:r>
            <a:r>
              <a:rPr sz="650" b="0" i="0">
                <a:solidFill>
                  <a:srgbClr val="24383A"/>
                </a:solidFill>
                <a:latin typeface="DejaVu Sans"/>
                <a:ea typeface="DejaVu Sans"/>
                <a:cs typeface="DejaVu Sans"/>
              </a:rPr>
              <a:t> </a:t>
            </a:r>
          </a:p>
        </p:txBody>
      </p:sp>
      <p:sp>
        <p:nvSpPr>
          <p:cNvPr id="24" name="ANUARIO_CONTENIDO_0_0_10">
            <a:extLst xmlns:a="http://schemas.openxmlformats.org/drawingml/2006/main">
              <a:ext uri="{FF2B5EF4-FFF2-40B4-BE49-F238E27FC236}">
                <a16:creationId xmlns:a16="http://schemas.microsoft.com/office/drawing/2014/main" id="{79968642-7D06-4ECD-BC8B-2AF6B1071EBC}"/>
              </a:ext>
            </a:extLst>
          </p:cNvPr>
          <p:cNvSpPr>
            <a:spLocks xmlns:a="http://schemas.openxmlformats.org/drawingml/2006/main" noGrp="1"/>
          </p:cNvSpPr>
          <p:nvPr/>
        </p:nvSpPr>
        <p:spPr>
          <a:xfrm xmlns:a="http://schemas.openxmlformats.org/drawingml/2006/main">
            <a:off x="466344" y="18531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ofrece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ocupacionales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sociodemográficas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p>
        </p:txBody>
      </p:sp>
      <p:sp>
        <p:nvSpPr>
          <p:cNvPr id="25" name="ANUARIO_CONTENIDO_0_0_11">
            <a:extLst xmlns:a="http://schemas.openxmlformats.org/drawingml/2006/main">
              <a:ext uri="{FF2B5EF4-FFF2-40B4-BE49-F238E27FC236}">
                <a16:creationId xmlns:a16="http://schemas.microsoft.com/office/drawing/2014/main" id="{6B6FFB0F-2822-4432-89A5-24546031FC17}"/>
              </a:ext>
            </a:extLst>
          </p:cNvPr>
          <p:cNvSpPr>
            <a:spLocks xmlns:a="http://schemas.openxmlformats.org/drawingml/2006/main" noGrp="1"/>
          </p:cNvSpPr>
          <p:nvPr/>
        </p:nvSpPr>
        <p:spPr>
          <a:xfrm xmlns:a="http://schemas.openxmlformats.org/drawingml/2006/main">
            <a:off x="466344" y="19456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integrantes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así</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infraestructura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vivienda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26" name="ANUARIO_CONTENIDO_0_0_12">
            <a:extLst xmlns:a="http://schemas.openxmlformats.org/drawingml/2006/main">
              <a:ext uri="{FF2B5EF4-FFF2-40B4-BE49-F238E27FC236}">
                <a16:creationId xmlns:a16="http://schemas.microsoft.com/office/drawing/2014/main" id="{8D812A3E-651E-4762-BEA6-30CC55E3B10E}"/>
              </a:ext>
            </a:extLst>
          </p:cNvPr>
          <p:cNvSpPr>
            <a:spLocks xmlns:a="http://schemas.openxmlformats.org/drawingml/2006/main" noGrp="1"/>
          </p:cNvSpPr>
          <p:nvPr/>
        </p:nvSpPr>
        <p:spPr>
          <a:xfrm xmlns:a="http://schemas.openxmlformats.org/drawingml/2006/main">
            <a:off x="466344" y="20380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equipamiento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a:t>
            </a:r>
          </a:p>
        </p:txBody>
      </p:sp>
      <p:sp>
        <p:nvSpPr>
          <p:cNvPr id="27" name="ANUARIO_CONTENIDO_0_0_13">
            <a:extLst xmlns:a="http://schemas.openxmlformats.org/drawingml/2006/main">
              <a:ext uri="{FF2B5EF4-FFF2-40B4-BE49-F238E27FC236}">
                <a16:creationId xmlns:a16="http://schemas.microsoft.com/office/drawing/2014/main" id="{B1B6B940-89E4-4F28-B12D-FE0C0C11C9D4}"/>
              </a:ext>
            </a:extLst>
          </p:cNvPr>
          <p:cNvSpPr>
            <a:spLocks xmlns:a="http://schemas.openxmlformats.org/drawingml/2006/main" noGrp="1"/>
          </p:cNvSpPr>
          <p:nvPr/>
        </p:nvSpPr>
        <p:spPr>
          <a:xfrm xmlns:a="http://schemas.openxmlformats.org/drawingml/2006/main">
            <a:off x="466344" y="21305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www.inegi.org.mx/programas/enigh/nc/2024/</a:t>
            </a:r>
            <a:r>
              <a:rPr sz="650" b="0" i="0">
                <a:solidFill>
                  <a:srgbClr val="24383A"/>
                </a:solidFill>
                <a:latin typeface="DejaVu Sans"/>
                <a:ea typeface="DejaVu Sans"/>
                <a:cs typeface="DejaVu Sans"/>
              </a:rPr>
              <a:t>.</a:t>
            </a:r>
          </a:p>
        </p:txBody>
      </p:sp>
      <p:sp>
        <p:nvSpPr>
          <p:cNvPr id="28" name="ANUARIO_CONTENIDO_0_0_14">
            <a:extLst xmlns:a="http://schemas.openxmlformats.org/drawingml/2006/main">
              <a:ext uri="{FF2B5EF4-FFF2-40B4-BE49-F238E27FC236}">
                <a16:creationId xmlns:a16="http://schemas.microsoft.com/office/drawing/2014/main" id="{4FC0B02D-CE14-4985-A928-EFC73917C03E}"/>
              </a:ext>
            </a:extLst>
          </p:cNvPr>
          <p:cNvSpPr>
            <a:spLocks xmlns:a="http://schemas.openxmlformats.org/drawingml/2006/main" noGrp="1"/>
          </p:cNvSpPr>
          <p:nvPr/>
        </p:nvSpPr>
        <p:spPr>
          <a:xfrm xmlns:a="http://schemas.openxmlformats.org/drawingml/2006/main">
            <a:off x="466344" y="22484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Ocupación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Empleo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(ENOE):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29" name="ANUARIO_CONTENIDO_0_0_15">
            <a:extLst xmlns:a="http://schemas.openxmlformats.org/drawingml/2006/main">
              <a:ext uri="{FF2B5EF4-FFF2-40B4-BE49-F238E27FC236}">
                <a16:creationId xmlns:a16="http://schemas.microsoft.com/office/drawing/2014/main" id="{9866A27B-9380-49B2-BE91-255BA85AD571}"/>
              </a:ext>
            </a:extLst>
          </p:cNvPr>
          <p:cNvSpPr>
            <a:spLocks xmlns:a="http://schemas.openxmlformats.org/drawingml/2006/main" noGrp="1"/>
          </p:cNvSpPr>
          <p:nvPr/>
        </p:nvSpPr>
        <p:spPr>
          <a:xfrm xmlns:a="http://schemas.openxmlformats.org/drawingml/2006/main">
            <a:off x="466344" y="23408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proporcionar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laboral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mexicano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ofrecer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mensuales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30" name="ANUARIO_CONTENIDO_0_0_16">
            <a:extLst xmlns:a="http://schemas.openxmlformats.org/drawingml/2006/main">
              <a:ext uri="{FF2B5EF4-FFF2-40B4-BE49-F238E27FC236}">
                <a16:creationId xmlns:a16="http://schemas.microsoft.com/office/drawing/2014/main" id="{11DB692F-8B07-458A-8081-EFDD900D968E}"/>
              </a:ext>
            </a:extLst>
          </p:cNvPr>
          <p:cNvSpPr>
            <a:spLocks xmlns:a="http://schemas.openxmlformats.org/drawingml/2006/main" noGrp="1"/>
          </p:cNvSpPr>
          <p:nvPr/>
        </p:nvSpPr>
        <p:spPr>
          <a:xfrm xmlns:a="http://schemas.openxmlformats.org/drawingml/2006/main">
            <a:off x="466344" y="24333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trimestrales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fuerza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trabajo,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ocupación,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informalidad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laboral,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subocupación</a:t>
            </a:r>
            <a:r>
              <a:rPr sz="650" b="0" i="0">
                <a:solidFill>
                  <a:srgbClr val="24383A"/>
                </a:solidFill>
                <a:latin typeface="DejaVu Sans"/>
                <a:ea typeface="DejaVu Sans"/>
                <a:cs typeface="DejaVu Sans"/>
              </a:rPr>
              <a:t> </a:t>
            </a:r>
          </a:p>
        </p:txBody>
      </p:sp>
      <p:sp>
        <p:nvSpPr>
          <p:cNvPr id="31" name="ANUARIO_CONTENIDO_0_0_17">
            <a:extLst xmlns:a="http://schemas.openxmlformats.org/drawingml/2006/main">
              <a:ext uri="{FF2B5EF4-FFF2-40B4-BE49-F238E27FC236}">
                <a16:creationId xmlns:a16="http://schemas.microsoft.com/office/drawing/2014/main" id="{EF42B501-1DBF-4365-8B6A-61823333C4BF}"/>
              </a:ext>
            </a:extLst>
          </p:cNvPr>
          <p:cNvSpPr>
            <a:spLocks xmlns:a="http://schemas.openxmlformats.org/drawingml/2006/main" noGrp="1"/>
          </p:cNvSpPr>
          <p:nvPr/>
        </p:nvSpPr>
        <p:spPr>
          <a:xfrm xmlns:a="http://schemas.openxmlformats.org/drawingml/2006/main">
            <a:off x="466344" y="25257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desocupación.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https://www.inegi.org.mx/programas/enoe/15ymas/</a:t>
            </a:r>
            <a:r>
              <a:rPr sz="650" b="0" i="0">
                <a:solidFill>
                  <a:srgbClr val="24383A"/>
                </a:solidFill>
                <a:latin typeface="DejaVu Sans"/>
                <a:ea typeface="DejaVu Sans"/>
                <a:cs typeface="DejaVu Sans"/>
              </a:rPr>
              <a:t>.</a:t>
            </a:r>
            <a:r>
              <a:rPr sz="650" b="0" i="0">
                <a:solidFill>
                  <a:srgbClr val="24383A"/>
                </a:solidFill>
                <a:latin typeface="DejaVu Sans"/>
                <a:ea typeface="DejaVu Sans"/>
                <a:cs typeface="DejaVu Sans"/>
              </a:rPr>
              <a:t> </a:t>
            </a:r>
          </a:p>
        </p:txBody>
      </p:sp>
      <p:sp>
        <p:nvSpPr>
          <p:cNvPr id="32" name="ANUARIO_CONTENIDO_0_0_18">
            <a:extLst xmlns:a="http://schemas.openxmlformats.org/drawingml/2006/main">
              <a:ext uri="{FF2B5EF4-FFF2-40B4-BE49-F238E27FC236}">
                <a16:creationId xmlns:a16="http://schemas.microsoft.com/office/drawing/2014/main" id="{424A8096-1E1B-470A-8F82-C49DB8A4DC0F}"/>
              </a:ext>
            </a:extLst>
          </p:cNvPr>
          <p:cNvSpPr>
            <a:spLocks xmlns:a="http://schemas.openxmlformats.org/drawingml/2006/main" noGrp="1"/>
          </p:cNvSpPr>
          <p:nvPr/>
        </p:nvSpPr>
        <p:spPr>
          <a:xfrm xmlns:a="http://schemas.openxmlformats.org/drawingml/2006/main">
            <a:off x="466344" y="26436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Equipo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terminal: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Dispositivo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usuario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conectarse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Red</a:t>
            </a:r>
            <a:r>
              <a:rPr sz="650" b="0" i="0">
                <a:solidFill>
                  <a:srgbClr val="24383A"/>
                </a:solidFill>
                <a:latin typeface="DejaVu Sans"/>
                <a:ea typeface="DejaVu Sans"/>
                <a:cs typeface="DejaVu Sans"/>
              </a:rPr>
              <a:t> </a:t>
            </a:r>
          </a:p>
        </p:txBody>
      </p:sp>
      <p:sp>
        <p:nvSpPr>
          <p:cNvPr id="33" name="ANUARIO_CONTENIDO_0_0_19">
            <a:extLst xmlns:a="http://schemas.openxmlformats.org/drawingml/2006/main">
              <a:ext uri="{FF2B5EF4-FFF2-40B4-BE49-F238E27FC236}">
                <a16:creationId xmlns:a16="http://schemas.microsoft.com/office/drawing/2014/main" id="{6FC4B380-72B8-4281-B64C-EADE02F7E4FD}"/>
              </a:ext>
            </a:extLst>
          </p:cNvPr>
          <p:cNvSpPr>
            <a:spLocks xmlns:a="http://schemas.openxmlformats.org/drawingml/2006/main" noGrp="1"/>
          </p:cNvSpPr>
          <p:nvPr/>
        </p:nvSpPr>
        <p:spPr>
          <a:xfrm xmlns:a="http://schemas.openxmlformats.org/drawingml/2006/main">
            <a:off x="466344" y="273608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Pública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propósito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obtener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p>
        </p:txBody>
      </p:sp>
      <p:sp>
        <p:nvSpPr>
          <p:cNvPr id="34" name="ANUARIO_CONTENIDO_0_0_20">
            <a:extLst xmlns:a="http://schemas.openxmlformats.org/drawingml/2006/main">
              <a:ext uri="{FF2B5EF4-FFF2-40B4-BE49-F238E27FC236}">
                <a16:creationId xmlns:a16="http://schemas.microsoft.com/office/drawing/2014/main" id="{A3DFF438-1435-4B37-B58B-A232CE1E5AF2}"/>
              </a:ext>
            </a:extLst>
          </p:cNvPr>
          <p:cNvSpPr>
            <a:spLocks xmlns:a="http://schemas.openxmlformats.org/drawingml/2006/main" noGrp="1"/>
          </p:cNvSpPr>
          <p:nvPr/>
        </p:nvSpPr>
        <p:spPr>
          <a:xfrm xmlns:a="http://schemas.openxmlformats.org/drawingml/2006/main">
            <a:off x="466344" y="282854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p>
        </p:txBody>
      </p:sp>
      <p:sp>
        <p:nvSpPr>
          <p:cNvPr id="35" name="ANUARIO_ANEXO_P122_DESIGN_2026">
            <a:extLst xmlns:a="http://schemas.openxmlformats.org/drawingml/2006/main">
              <a:ext uri="{FF2B5EF4-FFF2-40B4-BE49-F238E27FC236}">
                <a16:creationId xmlns:a16="http://schemas.microsoft.com/office/drawing/2014/main" id="{993E622E-1C1B-42E9-B4C2-DCF53E450A4C}"/>
              </a:ext>
            </a:extLst>
          </p:cNvPr>
          <p:cNvSpPr>
            <a:spLocks xmlns:a="http://schemas.openxmlformats.org/drawingml/2006/main" noGrp="1"/>
          </p:cNvSpPr>
          <p:nvPr/>
        </p:nvSpPr>
        <p:spPr>
          <a:xfrm xmlns:a="http://schemas.openxmlformats.org/drawingml/2006/main">
            <a:off x="301752" y="3207684"/>
            <a:ext cx="4178808" cy="1254588"/>
          </a:xfrm>
          <a:prstGeom xmlns:a="http://schemas.openxmlformats.org/drawingml/2006/main" prst="roundRect">
            <a:avLst>
              <a:gd name="adj" fmla="val 4373"/>
            </a:avLst>
          </a:prstGeom>
          <a:solidFill xmlns:a="http://schemas.openxmlformats.org/drawingml/2006/main">
            <a:srgbClr val="F6FAF9"/>
          </a:solidFill>
          <a:ln xmlns:a="http://schemas.openxmlformats.org/drawingml/2006/main" w="9525">
            <a:solidFill>
              <a:srgbClr val="C9DAD6"/>
            </a:solidFill>
          </a:ln>
        </p:spPr>
      </p:sp>
      <p:sp>
        <p:nvSpPr>
          <p:cNvPr id="36" name="ANUARIO_ACENTO">
            <a:extLst xmlns:a="http://schemas.openxmlformats.org/drawingml/2006/main">
              <a:ext uri="{FF2B5EF4-FFF2-40B4-BE49-F238E27FC236}">
                <a16:creationId xmlns:a16="http://schemas.microsoft.com/office/drawing/2014/main" id="{0A1E6F72-C0AC-496F-BA08-51F74CAF087F}"/>
              </a:ext>
            </a:extLst>
          </p:cNvPr>
          <p:cNvSpPr>
            <a:spLocks xmlns:a="http://schemas.openxmlformats.org/drawingml/2006/main" noGrp="1"/>
          </p:cNvSpPr>
          <p:nvPr/>
        </p:nvSpPr>
        <p:spPr>
          <a:xfrm xmlns:a="http://schemas.openxmlformats.org/drawingml/2006/main">
            <a:off x="301752" y="3280836"/>
            <a:ext cx="64008" cy="110828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37" name="ANUARIO_LETRA_FONDO">
            <a:extLst xmlns:a="http://schemas.openxmlformats.org/drawingml/2006/main">
              <a:ext uri="{FF2B5EF4-FFF2-40B4-BE49-F238E27FC236}">
                <a16:creationId xmlns:a16="http://schemas.microsoft.com/office/drawing/2014/main" id="{AA6CEB90-E0B5-4BC8-B7C8-B2852A3888F5}"/>
              </a:ext>
            </a:extLst>
          </p:cNvPr>
          <p:cNvSpPr>
            <a:spLocks xmlns:a="http://schemas.openxmlformats.org/drawingml/2006/main" noGrp="1"/>
          </p:cNvSpPr>
          <p:nvPr/>
        </p:nvSpPr>
        <p:spPr>
          <a:xfrm xmlns:a="http://schemas.openxmlformats.org/drawingml/2006/main">
            <a:off x="466344" y="3280836"/>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38" name="ANUARIO_LETRA">
            <a:extLst xmlns:a="http://schemas.openxmlformats.org/drawingml/2006/main">
              <a:ext uri="{FF2B5EF4-FFF2-40B4-BE49-F238E27FC236}">
                <a16:creationId xmlns:a16="http://schemas.microsoft.com/office/drawing/2014/main" id="{FF9745E2-F069-4D59-B774-878B0CA18CF1}"/>
              </a:ext>
            </a:extLst>
          </p:cNvPr>
          <p:cNvSpPr>
            <a:spLocks xmlns:a="http://schemas.openxmlformats.org/drawingml/2006/main" noGrp="1"/>
          </p:cNvSpPr>
          <p:nvPr/>
        </p:nvSpPr>
        <p:spPr>
          <a:xfrm xmlns:a="http://schemas.openxmlformats.org/drawingml/2006/main">
            <a:off x="466344" y="3299124"/>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a:t>
            </a:r>
          </a:p>
        </p:txBody>
      </p:sp>
      <p:sp>
        <p:nvSpPr>
          <p:cNvPr id="39" name="ANUARIO_CONTENIDO_0_1_0">
            <a:extLst xmlns:a="http://schemas.openxmlformats.org/drawingml/2006/main">
              <a:ext uri="{FF2B5EF4-FFF2-40B4-BE49-F238E27FC236}">
                <a16:creationId xmlns:a16="http://schemas.microsoft.com/office/drawing/2014/main" id="{DBE4FE9E-3A5A-4743-A3E4-780CF7DDC265}"/>
              </a:ext>
            </a:extLst>
          </p:cNvPr>
          <p:cNvSpPr>
            <a:spLocks xmlns:a="http://schemas.openxmlformats.org/drawingml/2006/main" noGrp="1"/>
          </p:cNvSpPr>
          <p:nvPr/>
        </p:nvSpPr>
        <p:spPr>
          <a:xfrm xmlns:a="http://schemas.openxmlformats.org/drawingml/2006/main">
            <a:off x="466344" y="35185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etiqueta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referencia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Nielsen</a:t>
            </a:r>
            <a:r>
              <a:rPr sz="650" b="0" i="0">
                <a:solidFill>
                  <a:srgbClr val="24383A"/>
                </a:solidFill>
                <a:latin typeface="DejaVu Sans"/>
                <a:ea typeface="DejaVu Sans"/>
                <a:cs typeface="DejaVu Sans"/>
              </a:rPr>
              <a:t> </a:t>
            </a:r>
          </a:p>
        </p:txBody>
      </p:sp>
      <p:sp>
        <p:nvSpPr>
          <p:cNvPr id="40" name="ANUARIO_CONTENIDO_0_1_1">
            <a:extLst xmlns:a="http://schemas.openxmlformats.org/drawingml/2006/main">
              <a:ext uri="{FF2B5EF4-FFF2-40B4-BE49-F238E27FC236}">
                <a16:creationId xmlns:a16="http://schemas.microsoft.com/office/drawing/2014/main" id="{AB82C973-348A-48D2-A046-DBDB7498E34D}"/>
              </a:ext>
            </a:extLst>
          </p:cNvPr>
          <p:cNvSpPr>
            <a:spLocks xmlns:a="http://schemas.openxmlformats.org/drawingml/2006/main" noGrp="1"/>
          </p:cNvSpPr>
          <p:nvPr/>
        </p:nvSpPr>
        <p:spPr>
          <a:xfrm xmlns:a="http://schemas.openxmlformats.org/drawingml/2006/main">
            <a:off x="466344" y="36110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IBOPE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bases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propósito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clasificar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p>
        </p:txBody>
      </p:sp>
      <p:sp>
        <p:nvSpPr>
          <p:cNvPr id="41" name="ANUARIO_CONTENIDO_0_1_2">
            <a:extLst xmlns:a="http://schemas.openxmlformats.org/drawingml/2006/main">
              <a:ext uri="{FF2B5EF4-FFF2-40B4-BE49-F238E27FC236}">
                <a16:creationId xmlns:a16="http://schemas.microsoft.com/office/drawing/2014/main" id="{1EFD17B4-35BA-4252-8FD2-4532D2BB49AA}"/>
              </a:ext>
            </a:extLst>
          </p:cNvPr>
          <p:cNvSpPr>
            <a:spLocks xmlns:a="http://schemas.openxmlformats.org/drawingml/2006/main" noGrp="1"/>
          </p:cNvSpPr>
          <p:nvPr/>
        </p:nvSpPr>
        <p:spPr>
          <a:xfrm xmlns:a="http://schemas.openxmlformats.org/drawingml/2006/main">
            <a:off x="466344" y="37288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Gobierno: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LFTR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ordena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electrónicos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transmisión</a:t>
            </a:r>
            <a:r>
              <a:rPr sz="650" b="0" i="0">
                <a:solidFill>
                  <a:srgbClr val="24383A"/>
                </a:solidFill>
                <a:latin typeface="DejaVu Sans"/>
                <a:ea typeface="DejaVu Sans"/>
                <a:cs typeface="DejaVu Sans"/>
              </a:rPr>
              <a:t> </a:t>
            </a:r>
          </a:p>
        </p:txBody>
      </p:sp>
      <p:sp>
        <p:nvSpPr>
          <p:cNvPr id="42" name="ANUARIO_CONTENIDO_0_1_3">
            <a:extLst xmlns:a="http://schemas.openxmlformats.org/drawingml/2006/main">
              <a:ext uri="{FF2B5EF4-FFF2-40B4-BE49-F238E27FC236}">
                <a16:creationId xmlns:a16="http://schemas.microsoft.com/office/drawing/2014/main" id="{9143D28C-86F0-4FF5-A0C6-0BB84F65EB8B}"/>
              </a:ext>
            </a:extLst>
          </p:cNvPr>
          <p:cNvSpPr>
            <a:spLocks xmlns:a="http://schemas.openxmlformats.org/drawingml/2006/main" noGrp="1"/>
          </p:cNvSpPr>
          <p:nvPr/>
        </p:nvSpPr>
        <p:spPr>
          <a:xfrm xmlns:a="http://schemas.openxmlformats.org/drawingml/2006/main">
            <a:off x="466344" y="38213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gratuita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diaria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30</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minutos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continuos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discontinuos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p>
        </p:txBody>
      </p:sp>
      <p:sp>
        <p:nvSpPr>
          <p:cNvPr id="43" name="ANUARIO_CONTENIDO_0_1_4">
            <a:extLst xmlns:a="http://schemas.openxmlformats.org/drawingml/2006/main">
              <a:ext uri="{FF2B5EF4-FFF2-40B4-BE49-F238E27FC236}">
                <a16:creationId xmlns:a16="http://schemas.microsoft.com/office/drawing/2014/main" id="{A8D772EB-6793-4626-A915-73AA784EF612}"/>
              </a:ext>
            </a:extLst>
          </p:cNvPr>
          <p:cNvSpPr>
            <a:spLocks xmlns:a="http://schemas.openxmlformats.org/drawingml/2006/main" noGrp="1"/>
          </p:cNvSpPr>
          <p:nvPr/>
        </p:nvSpPr>
        <p:spPr>
          <a:xfrm xmlns:a="http://schemas.openxmlformats.org/drawingml/2006/main">
            <a:off x="466344" y="39138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dedicados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difundir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educativos,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culturales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orientación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social.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Todas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44" name="ANUARIO_CONTENIDO_0_1_5">
            <a:extLst xmlns:a="http://schemas.openxmlformats.org/drawingml/2006/main">
              <a:ext uri="{FF2B5EF4-FFF2-40B4-BE49-F238E27FC236}">
                <a16:creationId xmlns:a16="http://schemas.microsoft.com/office/drawing/2014/main" id="{70238828-5B92-4726-9D3C-476AC4C55FD3}"/>
              </a:ext>
            </a:extLst>
          </p:cNvPr>
          <p:cNvSpPr>
            <a:spLocks xmlns:a="http://schemas.openxmlformats.org/drawingml/2006/main" noGrp="1"/>
          </p:cNvSpPr>
          <p:nvPr/>
        </p:nvSpPr>
        <p:spPr>
          <a:xfrm xmlns:a="http://schemas.openxmlformats.org/drawingml/2006/main">
            <a:off x="466344" y="40062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estaciones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país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estarán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obligadas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encadenarse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p>
        </p:txBody>
      </p:sp>
      <p:sp>
        <p:nvSpPr>
          <p:cNvPr id="45" name="ANUARIO_CONTENIDO_0_1_6">
            <a:extLst xmlns:a="http://schemas.openxmlformats.org/drawingml/2006/main">
              <a:ext uri="{FF2B5EF4-FFF2-40B4-BE49-F238E27FC236}">
                <a16:creationId xmlns:a16="http://schemas.microsoft.com/office/drawing/2014/main" id="{8A64043B-7673-41FA-B484-1E55D746EE53}"/>
              </a:ext>
            </a:extLst>
          </p:cNvPr>
          <p:cNvSpPr>
            <a:spLocks xmlns:a="http://schemas.openxmlformats.org/drawingml/2006/main" noGrp="1"/>
          </p:cNvSpPr>
          <p:nvPr/>
        </p:nvSpPr>
        <p:spPr>
          <a:xfrm xmlns:a="http://schemas.openxmlformats.org/drawingml/2006/main">
            <a:off x="466344" y="40987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transmitir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trascendencia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juicio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Secretaría</a:t>
            </a:r>
            <a:r>
              <a:rPr sz="650" b="0" i="0">
                <a:solidFill>
                  <a:srgbClr val="24383A"/>
                </a:solidFill>
                <a:latin typeface="DejaVu Sans"/>
                <a:ea typeface="DejaVu Sans"/>
                <a:cs typeface="DejaVu Sans"/>
              </a:rPr>
              <a:t> </a:t>
            </a:r>
          </a:p>
        </p:txBody>
      </p:sp>
      <p:sp>
        <p:nvSpPr>
          <p:cNvPr id="46" name="ANUARIO_CONTENIDO_0_1_7">
            <a:extLst xmlns:a="http://schemas.openxmlformats.org/drawingml/2006/main">
              <a:ext uri="{FF2B5EF4-FFF2-40B4-BE49-F238E27FC236}">
                <a16:creationId xmlns:a16="http://schemas.microsoft.com/office/drawing/2014/main" id="{B2E0B6D7-DBF9-48DF-A39E-A45FD79F8ED9}"/>
              </a:ext>
            </a:extLst>
          </p:cNvPr>
          <p:cNvSpPr>
            <a:spLocks xmlns:a="http://schemas.openxmlformats.org/drawingml/2006/main" noGrp="1"/>
          </p:cNvSpPr>
          <p:nvPr/>
        </p:nvSpPr>
        <p:spPr>
          <a:xfrm xmlns:a="http://schemas.openxmlformats.org/drawingml/2006/main">
            <a:off x="466344" y="41911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Gobernación.</a:t>
            </a:r>
          </a:p>
        </p:txBody>
      </p:sp>
      <p:sp>
        <p:nvSpPr>
          <p:cNvPr id="47" name="ANUARIO_ANEXO_P122_DESIGN_2026">
            <a:extLst xmlns:a="http://schemas.openxmlformats.org/drawingml/2006/main">
              <a:ext uri="{FF2B5EF4-FFF2-40B4-BE49-F238E27FC236}">
                <a16:creationId xmlns:a16="http://schemas.microsoft.com/office/drawing/2014/main" id="{5EE6CAA8-70B1-4744-9F50-7C2A63A1BE39}"/>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48" name="ANUARIO_ACENTO">
            <a:extLst xmlns:a="http://schemas.openxmlformats.org/drawingml/2006/main">
              <a:ext uri="{FF2B5EF4-FFF2-40B4-BE49-F238E27FC236}">
                <a16:creationId xmlns:a16="http://schemas.microsoft.com/office/drawing/2014/main" id="{D63E11B6-1709-4B24-ABD4-139F10CAECB4}"/>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9" name="ANUARIO_LETRA_FONDO">
            <a:extLst xmlns:a="http://schemas.openxmlformats.org/drawingml/2006/main">
              <a:ext uri="{FF2B5EF4-FFF2-40B4-BE49-F238E27FC236}">
                <a16:creationId xmlns:a16="http://schemas.microsoft.com/office/drawing/2014/main" id="{61F6D5B9-6D0C-447A-9EE6-34154B5716CE}"/>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50" name="ANUARIO_LETRA">
            <a:extLst xmlns:a="http://schemas.openxmlformats.org/drawingml/2006/main">
              <a:ext uri="{FF2B5EF4-FFF2-40B4-BE49-F238E27FC236}">
                <a16:creationId xmlns:a16="http://schemas.microsoft.com/office/drawing/2014/main" id="{64F60DA7-390C-4FDC-880F-E19A9AD0CCFE}"/>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I</a:t>
            </a:r>
          </a:p>
        </p:txBody>
      </p:sp>
      <p:sp>
        <p:nvSpPr>
          <p:cNvPr id="51" name="ANUARIO_CONTENIDO_1_0_0">
            <a:extLst xmlns:a="http://schemas.openxmlformats.org/drawingml/2006/main">
              <a:ext uri="{FF2B5EF4-FFF2-40B4-BE49-F238E27FC236}">
                <a16:creationId xmlns:a16="http://schemas.microsoft.com/office/drawing/2014/main" id="{3D9CF672-B820-473C-946D-5A93D0269685}"/>
              </a:ext>
            </a:extLst>
          </p:cNvPr>
          <p:cNvSpPr>
            <a:spLocks xmlns:a="http://schemas.openxmlformats.org/drawingml/2006/main" noGrp="1"/>
          </p:cNvSpPr>
          <p:nvPr/>
        </p:nvSpPr>
        <p:spPr>
          <a:xfrm xmlns:a="http://schemas.openxmlformats.org/drawingml/2006/main">
            <a:off x="4828032"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Índice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Herfindahl-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Hirschman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calcula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52" name="ANUARIO_CONTENIDO_1_0_1">
            <a:extLst xmlns:a="http://schemas.openxmlformats.org/drawingml/2006/main">
              <a:ext uri="{FF2B5EF4-FFF2-40B4-BE49-F238E27FC236}">
                <a16:creationId xmlns:a16="http://schemas.microsoft.com/office/drawing/2014/main" id="{1630D686-95DC-4299-A384-2431CD2CF544}"/>
              </a:ext>
            </a:extLst>
          </p:cNvPr>
          <p:cNvSpPr>
            <a:spLocks xmlns:a="http://schemas.openxmlformats.org/drawingml/2006/main" noGrp="1"/>
          </p:cNvSpPr>
          <p:nvPr/>
        </p:nvSpPr>
        <p:spPr>
          <a:xfrm xmlns:a="http://schemas.openxmlformats.org/drawingml/2006/main">
            <a:off x="4828032"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participaciones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relevantes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relacionados.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53" name="ANUARIO_CONTENIDO_1_0_2">
            <a:extLst xmlns:a="http://schemas.openxmlformats.org/drawingml/2006/main">
              <a:ext uri="{FF2B5EF4-FFF2-40B4-BE49-F238E27FC236}">
                <a16:creationId xmlns:a16="http://schemas.microsoft.com/office/drawing/2014/main" id="{07612933-7F02-4683-943A-44762381F437}"/>
              </a:ext>
            </a:extLst>
          </p:cNvPr>
          <p:cNvSpPr>
            <a:spLocks xmlns:a="http://schemas.openxmlformats.org/drawingml/2006/main" noGrp="1"/>
          </p:cNvSpPr>
          <p:nvPr/>
        </p:nvSpPr>
        <p:spPr>
          <a:xfrm xmlns:a="http://schemas.openxmlformats.org/drawingml/2006/main">
            <a:off x="4828032" y="1062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aumenta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empresas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disminuye.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implica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54" name="ANUARIO_CONTENIDO_1_0_3">
            <a:extLst xmlns:a="http://schemas.openxmlformats.org/drawingml/2006/main">
              <a:ext uri="{FF2B5EF4-FFF2-40B4-BE49-F238E27FC236}">
                <a16:creationId xmlns:a16="http://schemas.microsoft.com/office/drawing/2014/main" id="{612FCBF9-A788-4969-AAAA-E3DD5F02089F}"/>
              </a:ext>
            </a:extLst>
          </p:cNvPr>
          <p:cNvSpPr>
            <a:spLocks xmlns:a="http://schemas.openxmlformats.org/drawingml/2006/main" noGrp="1"/>
          </p:cNvSpPr>
          <p:nvPr/>
        </p:nvSpPr>
        <p:spPr>
          <a:xfrm xmlns:a="http://schemas.openxmlformats.org/drawingml/2006/main">
            <a:off x="4828032" y="11551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cualquier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adquisición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completa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empresas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reflejada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p>
        </p:txBody>
      </p:sp>
      <p:sp>
        <p:nvSpPr>
          <p:cNvPr id="55" name="ANUARIO_CONTENIDO_1_0_4">
            <a:extLst xmlns:a="http://schemas.openxmlformats.org/drawingml/2006/main">
              <a:ext uri="{FF2B5EF4-FFF2-40B4-BE49-F238E27FC236}">
                <a16:creationId xmlns:a16="http://schemas.microsoft.com/office/drawing/2014/main" id="{13C24D4E-AB01-4CD5-A2CD-D5F00ED0C06A}"/>
              </a:ext>
            </a:extLst>
          </p:cNvPr>
          <p:cNvSpPr>
            <a:spLocks xmlns:a="http://schemas.openxmlformats.org/drawingml/2006/main" noGrp="1"/>
          </p:cNvSpPr>
          <p:nvPr/>
        </p:nvSpPr>
        <p:spPr>
          <a:xfrm xmlns:a="http://schemas.openxmlformats.org/drawingml/2006/main">
            <a:off x="4828032" y="12476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valor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pequeño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p>
        </p:txBody>
      </p:sp>
      <p:sp>
        <p:nvSpPr>
          <p:cNvPr id="56" name="ANUARIO_CONTENIDO_1_0_5">
            <a:extLst xmlns:a="http://schemas.openxmlformats.org/drawingml/2006/main">
              <a:ext uri="{FF2B5EF4-FFF2-40B4-BE49-F238E27FC236}">
                <a16:creationId xmlns:a16="http://schemas.microsoft.com/office/drawing/2014/main" id="{8D8B638B-3BC1-4DEA-9B70-603824FF4C54}"/>
              </a:ext>
            </a:extLst>
          </p:cNvPr>
          <p:cNvSpPr>
            <a:spLocks xmlns:a="http://schemas.openxmlformats.org/drawingml/2006/main" noGrp="1"/>
          </p:cNvSpPr>
          <p:nvPr/>
        </p:nvSpPr>
        <p:spPr>
          <a:xfrm xmlns:a="http://schemas.openxmlformats.org/drawingml/2006/main">
            <a:off x="4828032" y="13401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probable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participaciones,</a:t>
            </a:r>
            <a:r>
              <a:rPr sz="650" b="0" i="0">
                <a:solidFill>
                  <a:srgbClr val="24383A"/>
                </a:solidFill>
                <a:latin typeface="DejaVu Sans"/>
                <a:ea typeface="DejaVu Sans"/>
                <a:cs typeface="DejaVu Sans"/>
              </a:rPr>
              <a:t> </a:t>
            </a:r>
          </a:p>
        </p:txBody>
      </p:sp>
      <p:sp>
        <p:nvSpPr>
          <p:cNvPr id="57" name="ANUARIO_CONTENIDO_1_0_6">
            <a:extLst xmlns:a="http://schemas.openxmlformats.org/drawingml/2006/main">
              <a:ext uri="{FF2B5EF4-FFF2-40B4-BE49-F238E27FC236}">
                <a16:creationId xmlns:a16="http://schemas.microsoft.com/office/drawing/2014/main" id="{3155C03A-4E56-45C3-B1C4-E44466E63232}"/>
              </a:ext>
            </a:extLst>
          </p:cNvPr>
          <p:cNvSpPr>
            <a:spLocks xmlns:a="http://schemas.openxmlformats.org/drawingml/2006/main" noGrp="1"/>
          </p:cNvSpPr>
          <p:nvPr/>
        </p:nvSpPr>
        <p:spPr>
          <a:xfrm xmlns:a="http://schemas.openxmlformats.org/drawingml/2006/main">
            <a:off x="4828032" y="14325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modifiquen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condiciones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competencia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resto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p>
        </p:txBody>
      </p:sp>
      <p:sp>
        <p:nvSpPr>
          <p:cNvPr id="58" name="ANUARIO_CONTENIDO_1_0_7">
            <a:extLst xmlns:a="http://schemas.openxmlformats.org/drawingml/2006/main">
              <a:ext uri="{FF2B5EF4-FFF2-40B4-BE49-F238E27FC236}">
                <a16:creationId xmlns:a16="http://schemas.microsoft.com/office/drawing/2014/main" id="{2EBCCCFC-B509-446C-978A-C58D3309B5C6}"/>
              </a:ext>
            </a:extLst>
          </p:cNvPr>
          <p:cNvSpPr>
            <a:spLocks xmlns:a="http://schemas.openxmlformats.org/drawingml/2006/main" noGrp="1"/>
          </p:cNvSpPr>
          <p:nvPr/>
        </p:nvSpPr>
        <p:spPr>
          <a:xfrm xmlns:a="http://schemas.openxmlformats.org/drawingml/2006/main">
            <a:off x="4828032" y="15250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indicador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calculado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conforme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metodología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establecida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IFT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ACUERDO</a:t>
            </a:r>
            <a:r>
              <a:rPr sz="650" b="0" i="0">
                <a:solidFill>
                  <a:srgbClr val="24383A"/>
                </a:solidFill>
                <a:latin typeface="DejaVu Sans"/>
                <a:ea typeface="DejaVu Sans"/>
                <a:cs typeface="DejaVu Sans"/>
              </a:rPr>
              <a:t> </a:t>
            </a:r>
          </a:p>
        </p:txBody>
      </p:sp>
      <p:sp>
        <p:nvSpPr>
          <p:cNvPr id="59" name="ANUARIO_CONTENIDO_1_0_8">
            <a:extLst xmlns:a="http://schemas.openxmlformats.org/drawingml/2006/main">
              <a:ext uri="{FF2B5EF4-FFF2-40B4-BE49-F238E27FC236}">
                <a16:creationId xmlns:a16="http://schemas.microsoft.com/office/drawing/2014/main" id="{19884A5C-AAFA-4212-AA48-8B53493B38C9}"/>
              </a:ext>
            </a:extLst>
          </p:cNvPr>
          <p:cNvSpPr>
            <a:spLocks xmlns:a="http://schemas.openxmlformats.org/drawingml/2006/main" noGrp="1"/>
          </p:cNvSpPr>
          <p:nvPr/>
        </p:nvSpPr>
        <p:spPr>
          <a:xfrm xmlns:a="http://schemas.openxmlformats.org/drawingml/2006/main">
            <a:off x="4828032" y="16174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PLENO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INSTITUTO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FEDERAL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60" name="ANUARIO_CONTENIDO_1_0_9">
            <a:extLst xmlns:a="http://schemas.openxmlformats.org/drawingml/2006/main">
              <a:ext uri="{FF2B5EF4-FFF2-40B4-BE49-F238E27FC236}">
                <a16:creationId xmlns:a16="http://schemas.microsoft.com/office/drawing/2014/main" id="{14625262-06E7-4629-A8AA-FC473D3FDAA9}"/>
              </a:ext>
            </a:extLst>
          </p:cNvPr>
          <p:cNvSpPr>
            <a:spLocks xmlns:a="http://schemas.openxmlformats.org/drawingml/2006/main" noGrp="1"/>
          </p:cNvSpPr>
          <p:nvPr/>
        </p:nvSpPr>
        <p:spPr>
          <a:xfrm xmlns:a="http://schemas.openxmlformats.org/drawingml/2006/main">
            <a:off x="4828032" y="17099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MODIFICA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CRITERIO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TÉCNICO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CÁLCULO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APLICACIÓN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p>
        </p:txBody>
      </p:sp>
      <p:sp>
        <p:nvSpPr>
          <p:cNvPr id="61" name="ANUARIO_CONTENIDO_1_0_10">
            <a:extLst xmlns:a="http://schemas.openxmlformats.org/drawingml/2006/main">
              <a:ext uri="{FF2B5EF4-FFF2-40B4-BE49-F238E27FC236}">
                <a16:creationId xmlns:a16="http://schemas.microsoft.com/office/drawing/2014/main" id="{4E4E707A-A932-425A-87B0-1D63FCBC90E2}"/>
              </a:ext>
            </a:extLst>
          </p:cNvPr>
          <p:cNvSpPr>
            <a:spLocks xmlns:a="http://schemas.openxmlformats.org/drawingml/2006/main" noGrp="1"/>
          </p:cNvSpPr>
          <p:nvPr/>
        </p:nvSpPr>
        <p:spPr>
          <a:xfrm xmlns:a="http://schemas.openxmlformats.org/drawingml/2006/main">
            <a:off x="4828032" y="18023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CUANTITATIVO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CONCENTRACIÓN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MERCADOS</a:t>
            </a:r>
            <a:r>
              <a:rPr sz="650" b="0" i="0">
                <a:solidFill>
                  <a:srgbClr val="24383A"/>
                </a:solidFill>
                <a:latin typeface="DejaVu Sans"/>
                <a:ea typeface="DejaVu Sans"/>
                <a:cs typeface="DejaVu Sans"/>
              </a:rPr>
              <a:t> </a:t>
            </a:r>
          </a:p>
        </p:txBody>
      </p:sp>
      <p:sp>
        <p:nvSpPr>
          <p:cNvPr id="62" name="ANUARIO_CONTENIDO_1_0_11">
            <a:extLst xmlns:a="http://schemas.openxmlformats.org/drawingml/2006/main">
              <a:ext uri="{FF2B5EF4-FFF2-40B4-BE49-F238E27FC236}">
                <a16:creationId xmlns:a16="http://schemas.microsoft.com/office/drawing/2014/main" id="{C2CE1B92-74A6-48B6-80A2-8974E6FF66CD}"/>
              </a:ext>
            </a:extLst>
          </p:cNvPr>
          <p:cNvSpPr>
            <a:spLocks xmlns:a="http://schemas.openxmlformats.org/drawingml/2006/main" noGrp="1"/>
          </p:cNvSpPr>
          <p:nvPr/>
        </p:nvSpPr>
        <p:spPr>
          <a:xfrm xmlns:a="http://schemas.openxmlformats.org/drawingml/2006/main">
            <a:off x="4828032" y="18948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CORRESPONDIENTES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SECTORES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63" name="ANUARIO_CONTENIDO_1_0_12">
            <a:extLst xmlns:a="http://schemas.openxmlformats.org/drawingml/2006/main">
              <a:ext uri="{FF2B5EF4-FFF2-40B4-BE49-F238E27FC236}">
                <a16:creationId xmlns:a16="http://schemas.microsoft.com/office/drawing/2014/main" id="{107C2D02-172F-4BA1-878F-C9266C95398B}"/>
              </a:ext>
            </a:extLst>
          </p:cNvPr>
          <p:cNvSpPr>
            <a:spLocks xmlns:a="http://schemas.openxmlformats.org/drawingml/2006/main" noGrp="1"/>
          </p:cNvSpPr>
          <p:nvPr/>
        </p:nvSpPr>
        <p:spPr>
          <a:xfrm xmlns:a="http://schemas.openxmlformats.org/drawingml/2006/main">
            <a:off x="4828032" y="19872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RADIODIFUSIÓN.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https://www.dof.gob.</a:t>
            </a:r>
            <a:r>
              <a:rPr sz="650" b="0" i="0">
                <a:solidFill>
                  <a:srgbClr val="24383A"/>
                </a:solidFill>
                <a:latin typeface="DejaVu Sans"/>
                <a:ea typeface="DejaVu Sans"/>
                <a:cs typeface="DejaVu Sans"/>
              </a:rPr>
              <a:t> </a:t>
            </a:r>
          </a:p>
        </p:txBody>
      </p:sp>
      <p:sp>
        <p:nvSpPr>
          <p:cNvPr id="64" name="ANUARIO_CONTENIDO_1_0_13">
            <a:extLst xmlns:a="http://schemas.openxmlformats.org/drawingml/2006/main">
              <a:ext uri="{FF2B5EF4-FFF2-40B4-BE49-F238E27FC236}">
                <a16:creationId xmlns:a16="http://schemas.microsoft.com/office/drawing/2014/main" id="{9B540F80-A2F6-41B1-B1C5-BC1B5930E903}"/>
              </a:ext>
            </a:extLst>
          </p:cNvPr>
          <p:cNvSpPr>
            <a:spLocks xmlns:a="http://schemas.openxmlformats.org/drawingml/2006/main" noGrp="1"/>
          </p:cNvSpPr>
          <p:nvPr/>
        </p:nvSpPr>
        <p:spPr>
          <a:xfrm xmlns:a="http://schemas.openxmlformats.org/drawingml/2006/main">
            <a:off x="4828032" y="20797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mx/nota_detalle.php?codigo=5645045&amp;fecha=09/03/2022#gsc.tab=0</a:t>
            </a:r>
            <a:r>
              <a:rPr sz="650" b="0" i="0">
                <a:solidFill>
                  <a:srgbClr val="24383A"/>
                </a:solidFill>
                <a:latin typeface="DejaVu Sans"/>
                <a:ea typeface="DejaVu Sans"/>
                <a:cs typeface="DejaVu Sans"/>
              </a:rPr>
              <a:t>.</a:t>
            </a:r>
          </a:p>
        </p:txBody>
      </p:sp>
      <p:sp>
        <p:nvSpPr>
          <p:cNvPr id="65" name="ANUARIO_CONTENIDO_1_0_14">
            <a:extLst xmlns:a="http://schemas.openxmlformats.org/drawingml/2006/main">
              <a:ext uri="{FF2B5EF4-FFF2-40B4-BE49-F238E27FC236}">
                <a16:creationId xmlns:a16="http://schemas.microsoft.com/office/drawing/2014/main" id="{52554E27-046F-44B1-BB30-5F51F2050E34}"/>
              </a:ext>
            </a:extLst>
          </p:cNvPr>
          <p:cNvSpPr>
            <a:spLocks xmlns:a="http://schemas.openxmlformats.org/drawingml/2006/main" noGrp="1"/>
          </p:cNvSpPr>
          <p:nvPr/>
        </p:nvSpPr>
        <p:spPr>
          <a:xfrm xmlns:a="http://schemas.openxmlformats.org/drawingml/2006/main">
            <a:off x="4828032" y="21976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Índice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Precios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Consumidor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Indicador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finalidad</a:t>
            </a:r>
            <a:r>
              <a:rPr sz="650" b="0" i="0">
                <a:solidFill>
                  <a:srgbClr val="24383A"/>
                </a:solidFill>
                <a:latin typeface="DejaVu Sans"/>
                <a:ea typeface="DejaVu Sans"/>
                <a:cs typeface="DejaVu Sans"/>
              </a:rPr>
              <a:t> </a:t>
            </a:r>
          </a:p>
        </p:txBody>
      </p:sp>
      <p:sp>
        <p:nvSpPr>
          <p:cNvPr id="66" name="ANUARIO_CONTENIDO_1_0_15">
            <a:extLst xmlns:a="http://schemas.openxmlformats.org/drawingml/2006/main">
              <a:ext uri="{FF2B5EF4-FFF2-40B4-BE49-F238E27FC236}">
                <a16:creationId xmlns:a16="http://schemas.microsoft.com/office/drawing/2014/main" id="{89E0B928-2A1C-4090-9534-3FFF7E8D632A}"/>
              </a:ext>
            </a:extLst>
          </p:cNvPr>
          <p:cNvSpPr>
            <a:spLocks xmlns:a="http://schemas.openxmlformats.org/drawingml/2006/main" noGrp="1"/>
          </p:cNvSpPr>
          <p:nvPr/>
        </p:nvSpPr>
        <p:spPr>
          <a:xfrm xmlns:a="http://schemas.openxmlformats.org/drawingml/2006/main">
            <a:off x="4828032" y="22900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tiempo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fija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bienes</a:t>
            </a:r>
            <a:r>
              <a:rPr sz="650" b="0" i="0">
                <a:solidFill>
                  <a:srgbClr val="24383A"/>
                </a:solidFill>
                <a:latin typeface="DejaVu Sans"/>
                <a:ea typeface="DejaVu Sans"/>
                <a:cs typeface="DejaVu Sans"/>
              </a:rPr>
              <a:t> </a:t>
            </a:r>
          </a:p>
        </p:txBody>
      </p:sp>
      <p:sp>
        <p:nvSpPr>
          <p:cNvPr id="67" name="ANUARIO_CONTENIDO_1_0_16">
            <a:extLst xmlns:a="http://schemas.openxmlformats.org/drawingml/2006/main">
              <a:ext uri="{FF2B5EF4-FFF2-40B4-BE49-F238E27FC236}">
                <a16:creationId xmlns:a16="http://schemas.microsoft.com/office/drawing/2014/main" id="{4AF90D88-827D-4600-85DA-DB32C43AE1CA}"/>
              </a:ext>
            </a:extLst>
          </p:cNvPr>
          <p:cNvSpPr>
            <a:spLocks xmlns:a="http://schemas.openxmlformats.org/drawingml/2006/main" noGrp="1"/>
          </p:cNvSpPr>
          <p:nvPr/>
        </p:nvSpPr>
        <p:spPr>
          <a:xfrm xmlns:a="http://schemas.openxmlformats.org/drawingml/2006/main">
            <a:off x="4828032" y="23825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representativa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consumo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estudio</a:t>
            </a:r>
            <a:r>
              <a:rPr sz="650" b="0" i="0">
                <a:solidFill>
                  <a:srgbClr val="24383A"/>
                </a:solidFill>
                <a:latin typeface="DejaVu Sans"/>
                <a:ea typeface="DejaVu Sans"/>
                <a:cs typeface="DejaVu Sans"/>
              </a:rPr>
              <a:t> </a:t>
            </a:r>
          </a:p>
        </p:txBody>
      </p:sp>
      <p:sp>
        <p:nvSpPr>
          <p:cNvPr id="68" name="ANUARIO_CONTENIDO_1_0_17">
            <a:extLst xmlns:a="http://schemas.openxmlformats.org/drawingml/2006/main">
              <a:ext uri="{FF2B5EF4-FFF2-40B4-BE49-F238E27FC236}">
                <a16:creationId xmlns:a16="http://schemas.microsoft.com/office/drawing/2014/main" id="{4CCC57CA-DD80-45BB-B3D1-9207A6EB743A}"/>
              </a:ext>
            </a:extLst>
          </p:cNvPr>
          <p:cNvSpPr>
            <a:spLocks xmlns:a="http://schemas.openxmlformats.org/drawingml/2006/main" noGrp="1"/>
          </p:cNvSpPr>
          <p:nvPr/>
        </p:nvSpPr>
        <p:spPr>
          <a:xfrm xmlns:a="http://schemas.openxmlformats.org/drawingml/2006/main">
            <a:off x="4828032" y="24749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diciembre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2013.</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ponderadores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69" name="ANUARIO_CONTENIDO_1_0_18">
            <a:extLst xmlns:a="http://schemas.openxmlformats.org/drawingml/2006/main">
              <a:ext uri="{FF2B5EF4-FFF2-40B4-BE49-F238E27FC236}">
                <a16:creationId xmlns:a16="http://schemas.microsoft.com/office/drawing/2014/main" id="{02DAD0A0-2257-402C-84E1-D714B64D8D82}"/>
              </a:ext>
            </a:extLst>
          </p:cNvPr>
          <p:cNvSpPr>
            <a:spLocks xmlns:a="http://schemas.openxmlformats.org/drawingml/2006/main" noGrp="1"/>
          </p:cNvSpPr>
          <p:nvPr/>
        </p:nvSpPr>
        <p:spPr>
          <a:xfrm xmlns:a="http://schemas.openxmlformats.org/drawingml/2006/main">
            <a:off x="4828032" y="25674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dentro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70" name="ANUARIO_CONTENIDO_1_0_19">
            <a:extLst xmlns:a="http://schemas.openxmlformats.org/drawingml/2006/main">
              <a:ext uri="{FF2B5EF4-FFF2-40B4-BE49-F238E27FC236}">
                <a16:creationId xmlns:a16="http://schemas.microsoft.com/office/drawing/2014/main" id="{45BFD782-9DCC-4E5F-8132-B87CDB310CF4}"/>
              </a:ext>
            </a:extLst>
          </p:cNvPr>
          <p:cNvSpPr>
            <a:spLocks xmlns:a="http://schemas.openxmlformats.org/drawingml/2006/main" noGrp="1"/>
          </p:cNvSpPr>
          <p:nvPr/>
        </p:nvSpPr>
        <p:spPr>
          <a:xfrm xmlns:a="http://schemas.openxmlformats.org/drawingml/2006/main">
            <a:off x="4828032" y="265988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integran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consultar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Anexo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III.</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Metodologías.</a:t>
            </a:r>
          </a:p>
        </p:txBody>
      </p:sp>
      <p:sp>
        <p:nvSpPr>
          <p:cNvPr id="71" name="ANUARIO_CONTENIDO_1_0_20">
            <a:extLst xmlns:a="http://schemas.openxmlformats.org/drawingml/2006/main">
              <a:ext uri="{FF2B5EF4-FFF2-40B4-BE49-F238E27FC236}">
                <a16:creationId xmlns:a16="http://schemas.microsoft.com/office/drawing/2014/main" id="{416BC9A8-90FF-40EB-8E79-05566DDFBC65}"/>
              </a:ext>
            </a:extLst>
          </p:cNvPr>
          <p:cNvSpPr>
            <a:spLocks xmlns:a="http://schemas.openxmlformats.org/drawingml/2006/main" noGrp="1"/>
          </p:cNvSpPr>
          <p:nvPr/>
        </p:nvSpPr>
        <p:spPr>
          <a:xfrm xmlns:a="http://schemas.openxmlformats.org/drawingml/2006/main">
            <a:off x="4828032" y="277774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Infantil: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enfocados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directamente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aunque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excluyen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p>
        </p:txBody>
      </p:sp>
      <p:sp>
        <p:nvSpPr>
          <p:cNvPr id="72" name="ANUARIO_CONTENIDO_1_0_21">
            <a:extLst xmlns:a="http://schemas.openxmlformats.org/drawingml/2006/main">
              <a:ext uri="{FF2B5EF4-FFF2-40B4-BE49-F238E27FC236}">
                <a16:creationId xmlns:a16="http://schemas.microsoft.com/office/drawing/2014/main" id="{04A7F47E-F868-4832-94D0-C1079E52A3FE}"/>
              </a:ext>
            </a:extLst>
          </p:cNvPr>
          <p:cNvSpPr>
            <a:spLocks xmlns:a="http://schemas.openxmlformats.org/drawingml/2006/main" noGrp="1"/>
          </p:cNvSpPr>
          <p:nvPr/>
        </p:nvSpPr>
        <p:spPr>
          <a:xfrm xmlns:a="http://schemas.openxmlformats.org/drawingml/2006/main">
            <a:off x="4828032" y="287020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auditorio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adulto.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comprenden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caricaturas,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p>
        </p:txBody>
      </p:sp>
      <p:sp>
        <p:nvSpPr>
          <p:cNvPr id="73" name="ANUARIO_CONTENIDO_1_0_22">
            <a:extLst xmlns:a="http://schemas.openxmlformats.org/drawingml/2006/main">
              <a:ext uri="{FF2B5EF4-FFF2-40B4-BE49-F238E27FC236}">
                <a16:creationId xmlns:a16="http://schemas.microsoft.com/office/drawing/2014/main" id="{E7FC2C41-8381-41B2-941E-6EB573D382A4}"/>
              </a:ext>
            </a:extLst>
          </p:cNvPr>
          <p:cNvSpPr>
            <a:spLocks xmlns:a="http://schemas.openxmlformats.org/drawingml/2006/main" noGrp="1"/>
          </p:cNvSpPr>
          <p:nvPr/>
        </p:nvSpPr>
        <p:spPr>
          <a:xfrm xmlns:a="http://schemas.openxmlformats.org/drawingml/2006/main">
            <a:off x="4828032" y="296265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tendencia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didáctica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estructuran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lenguaje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sencillo,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función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74" name="ANUARIO_CONTENIDO_1_0_23">
            <a:extLst xmlns:a="http://schemas.openxmlformats.org/drawingml/2006/main">
              <a:ext uri="{FF2B5EF4-FFF2-40B4-BE49-F238E27FC236}">
                <a16:creationId xmlns:a16="http://schemas.microsoft.com/office/drawing/2014/main" id="{B9B8DD07-DDB3-4104-BFF9-C00C46D8472B}"/>
              </a:ext>
            </a:extLst>
          </p:cNvPr>
          <p:cNvSpPr>
            <a:spLocks xmlns:a="http://schemas.openxmlformats.org/drawingml/2006/main" noGrp="1"/>
          </p:cNvSpPr>
          <p:nvPr/>
        </p:nvSpPr>
        <p:spPr>
          <a:xfrm xmlns:a="http://schemas.openxmlformats.org/drawingml/2006/main">
            <a:off x="4828032" y="305511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auditorio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ocasiones,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recae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lograr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75" name="ANUARIO_CONTENIDO_1_0_24">
            <a:extLst xmlns:a="http://schemas.openxmlformats.org/drawingml/2006/main">
              <a:ext uri="{FF2B5EF4-FFF2-40B4-BE49-F238E27FC236}">
                <a16:creationId xmlns:a16="http://schemas.microsoft.com/office/drawing/2014/main" id="{39D8CAC0-4387-4F1B-A86E-735C57C06DC6}"/>
              </a:ext>
            </a:extLst>
          </p:cNvPr>
          <p:cNvSpPr>
            <a:spLocks xmlns:a="http://schemas.openxmlformats.org/drawingml/2006/main" noGrp="1"/>
          </p:cNvSpPr>
          <p:nvPr/>
        </p:nvSpPr>
        <p:spPr>
          <a:xfrm xmlns:a="http://schemas.openxmlformats.org/drawingml/2006/main">
            <a:off x="4828032" y="314756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mayor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identificación.</a:t>
            </a:r>
          </a:p>
        </p:txBody>
      </p:sp>
      <p:sp>
        <p:nvSpPr>
          <p:cNvPr id="76" name="ANUARIO_CONTENIDO_1_0_25">
            <a:extLst xmlns:a="http://schemas.openxmlformats.org/drawingml/2006/main">
              <a:ext uri="{FF2B5EF4-FFF2-40B4-BE49-F238E27FC236}">
                <a16:creationId xmlns:a16="http://schemas.microsoft.com/office/drawing/2014/main" id="{373B481E-2D1E-4A77-B412-E4B7390EAEE8}"/>
              </a:ext>
            </a:extLst>
          </p:cNvPr>
          <p:cNvSpPr>
            <a:spLocks xmlns:a="http://schemas.openxmlformats.org/drawingml/2006/main" noGrp="1"/>
          </p:cNvSpPr>
          <p:nvPr/>
        </p:nvSpPr>
        <p:spPr>
          <a:xfrm xmlns:a="http://schemas.openxmlformats.org/drawingml/2006/main">
            <a:off x="4828032" y="32654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corrientes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p>
        </p:txBody>
      </p:sp>
      <p:sp>
        <p:nvSpPr>
          <p:cNvPr id="77" name="ANUARIO_CONTENIDO_1_0_26">
            <a:extLst xmlns:a="http://schemas.openxmlformats.org/drawingml/2006/main">
              <a:ext uri="{FF2B5EF4-FFF2-40B4-BE49-F238E27FC236}">
                <a16:creationId xmlns:a16="http://schemas.microsoft.com/office/drawing/2014/main" id="{3231210D-6EB3-4C63-88E9-D749E9220F76}"/>
              </a:ext>
            </a:extLst>
          </p:cNvPr>
          <p:cNvSpPr>
            <a:spLocks xmlns:a="http://schemas.openxmlformats.org/drawingml/2006/main" noGrp="1"/>
          </p:cNvSpPr>
          <p:nvPr/>
        </p:nvSpPr>
        <p:spPr>
          <a:xfrm xmlns:a="http://schemas.openxmlformats.org/drawingml/2006/main">
            <a:off x="4828032" y="33578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Comprenden:</a:t>
            </a:r>
          </a:p>
        </p:txBody>
      </p:sp>
      <p:sp>
        <p:nvSpPr>
          <p:cNvPr id="78" name="ANUARIO_CONTENIDO_1_0_27">
            <a:extLst xmlns:a="http://schemas.openxmlformats.org/drawingml/2006/main">
              <a:ext uri="{FF2B5EF4-FFF2-40B4-BE49-F238E27FC236}">
                <a16:creationId xmlns:a16="http://schemas.microsoft.com/office/drawing/2014/main" id="{F70F5669-41BB-445E-9449-80112D208755}"/>
              </a:ext>
            </a:extLst>
          </p:cNvPr>
          <p:cNvSpPr>
            <a:spLocks xmlns:a="http://schemas.openxmlformats.org/drawingml/2006/main" noGrp="1"/>
          </p:cNvSpPr>
          <p:nvPr/>
        </p:nvSpPr>
        <p:spPr>
          <a:xfrm xmlns:a="http://schemas.openxmlformats.org/drawingml/2006/main">
            <a:off x="4828032" y="3475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1.</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79" name="ANUARIO_CONTENIDO_1_0_28">
            <a:extLst xmlns:a="http://schemas.openxmlformats.org/drawingml/2006/main">
              <a:ext uri="{FF2B5EF4-FFF2-40B4-BE49-F238E27FC236}">
                <a16:creationId xmlns:a16="http://schemas.microsoft.com/office/drawing/2014/main" id="{8E961128-5436-4DEC-BF03-5A22A7CC17FC}"/>
              </a:ext>
            </a:extLst>
          </p:cNvPr>
          <p:cNvSpPr>
            <a:spLocks xmlns:a="http://schemas.openxmlformats.org/drawingml/2006/main" noGrp="1"/>
          </p:cNvSpPr>
          <p:nvPr/>
        </p:nvSpPr>
        <p:spPr>
          <a:xfrm xmlns:a="http://schemas.openxmlformats.org/drawingml/2006/main">
            <a:off x="4828032" y="3593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2.</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instalación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mantenimiento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80" name="ANUARIO_CONTENIDO_1_0_29">
            <a:extLst xmlns:a="http://schemas.openxmlformats.org/drawingml/2006/main">
              <a:ext uri="{FF2B5EF4-FFF2-40B4-BE49-F238E27FC236}">
                <a16:creationId xmlns:a16="http://schemas.microsoft.com/office/drawing/2014/main" id="{BA3707B8-FD5B-46E7-A6AA-66DAA79B19B5}"/>
              </a:ext>
            </a:extLst>
          </p:cNvPr>
          <p:cNvSpPr>
            <a:spLocks xmlns:a="http://schemas.openxmlformats.org/drawingml/2006/main" noGrp="1"/>
          </p:cNvSpPr>
          <p:nvPr/>
        </p:nvSpPr>
        <p:spPr>
          <a:xfrm xmlns:a="http://schemas.openxmlformats.org/drawingml/2006/main">
            <a:off x="4828032" y="3686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81" name="ANUARIO_CONTENIDO_1_0_30">
            <a:extLst xmlns:a="http://schemas.openxmlformats.org/drawingml/2006/main">
              <a:ext uri="{FF2B5EF4-FFF2-40B4-BE49-F238E27FC236}">
                <a16:creationId xmlns:a16="http://schemas.microsoft.com/office/drawing/2014/main" id="{0F6BF5AC-84BA-4F5A-9AE4-A9F7DDC03632}"/>
              </a:ext>
            </a:extLst>
          </p:cNvPr>
          <p:cNvSpPr>
            <a:spLocks xmlns:a="http://schemas.openxmlformats.org/drawingml/2006/main" noGrp="1"/>
          </p:cNvSpPr>
          <p:nvPr/>
        </p:nvSpPr>
        <p:spPr>
          <a:xfrm xmlns:a="http://schemas.openxmlformats.org/drawingml/2006/main">
            <a:off x="4828032" y="38039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3.</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minoristas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Tree>
    <p:extLst>
      <p:ext uri="{BB962C8B-B14F-4D97-AF65-F5344CB8AC3E}">
        <p14:creationId xmlns:p14="http://schemas.microsoft.com/office/powerpoint/2010/main" val="224622623"/>
      </p:ext>
    </p:extLst>
  </p:cSld>
</p:sld>
</file>

<file path=ppt/slides/slide123.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72" name="ANUARIO_ENCABEZADO">
            <a:extLst xmlns:a="http://schemas.openxmlformats.org/drawingml/2006/main">
              <a:ext uri="{FF2B5EF4-FFF2-40B4-BE49-F238E27FC236}">
                <a16:creationId xmlns:a16="http://schemas.microsoft.com/office/drawing/2014/main" id="{DBE6B21C-A008-4556-8CBF-B5887DA699D9}"/>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265122FF-3104-4551-BD31-3552EEE0FF23}"/>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7E57356D-C63F-4D88-AAAC-2E5858D2D660}"/>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 DEFINICIONES</a:t>
            </a:r>
          </a:p>
        </p:txBody>
      </p:sp>
      <p:sp>
        <p:nvSpPr>
          <p:cNvPr id="4" name="ANUARIO_BIT_TEXTO">
            <a:extLst xmlns:a="http://schemas.openxmlformats.org/drawingml/2006/main">
              <a:ext uri="{FF2B5EF4-FFF2-40B4-BE49-F238E27FC236}">
                <a16:creationId xmlns:a16="http://schemas.microsoft.com/office/drawing/2014/main" id="{F6079F76-A555-4897-90A6-FA752E9F2DFE}"/>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BA161CC6-7064-4EC7-9EF3-47AABBACE3ED}"/>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97E14EDA-EF8C-4D1F-B671-7C7D5FA4F0F7}"/>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515113A1-98CA-49A9-B380-FEC1A17C89E8}"/>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6A683A15-33D8-46D3-B441-6B85AD5F548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123</a:t>
            </a:r>
          </a:p>
        </p:txBody>
      </p:sp>
      <p:sp>
        <p:nvSpPr>
          <p:cNvPr id="9" name="ANUARIO_EDICION">
            <a:extLst xmlns:a="http://schemas.openxmlformats.org/drawingml/2006/main">
              <a:ext uri="{FF2B5EF4-FFF2-40B4-BE49-F238E27FC236}">
                <a16:creationId xmlns:a16="http://schemas.microsoft.com/office/drawing/2014/main" id="{6625AFAD-CA33-44AD-83A7-84593EB8273E}"/>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3_DESIGN_2026">
            <a:extLst xmlns:a="http://schemas.openxmlformats.org/drawingml/2006/main">
              <a:ext uri="{FF2B5EF4-FFF2-40B4-BE49-F238E27FC236}">
                <a16:creationId xmlns:a16="http://schemas.microsoft.com/office/drawing/2014/main" id="{06263628-945A-45D7-891C-E1EB8717488D}"/>
              </a:ext>
            </a:extLst>
          </p:cNvPr>
          <p:cNvSpPr>
            <a:spLocks xmlns:a="http://schemas.openxmlformats.org/drawingml/2006/main" noGrp="1"/>
          </p:cNvSpPr>
          <p:nvPr/>
        </p:nvSpPr>
        <p:spPr>
          <a:xfrm xmlns:a="http://schemas.openxmlformats.org/drawingml/2006/main">
            <a:off x="301752"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FBEE744F-0061-45F1-A19E-6D5023E90496}"/>
              </a:ext>
            </a:extLst>
          </p:cNvPr>
          <p:cNvSpPr>
            <a:spLocks xmlns:a="http://schemas.openxmlformats.org/drawingml/2006/main" noGrp="1"/>
          </p:cNvSpPr>
          <p:nvPr/>
        </p:nvSpPr>
        <p:spPr>
          <a:xfrm xmlns:a="http://schemas.openxmlformats.org/drawingml/2006/main">
            <a:off x="301752"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96239DED-A592-4EFE-A438-28375615E3F5}"/>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I · continuación</a:t>
            </a:r>
          </a:p>
        </p:txBody>
      </p:sp>
      <p:sp>
        <p:nvSpPr>
          <p:cNvPr id="13" name="ANUARIO_CONTENIDO_0_0_0">
            <a:extLst xmlns:a="http://schemas.openxmlformats.org/drawingml/2006/main">
              <a:ext uri="{FF2B5EF4-FFF2-40B4-BE49-F238E27FC236}">
                <a16:creationId xmlns:a16="http://schemas.microsoft.com/office/drawing/2014/main" id="{EC3014CA-B78D-4B52-AE8C-C64A5BF78FB9}"/>
              </a:ext>
            </a:extLst>
          </p:cNvPr>
          <p:cNvSpPr>
            <a:spLocks xmlns:a="http://schemas.openxmlformats.org/drawingml/2006/main" noGrp="1"/>
          </p:cNvSpPr>
          <p:nvPr/>
        </p:nvSpPr>
        <p:spPr>
          <a:xfrm xmlns:a="http://schemas.openxmlformats.org/drawingml/2006/main">
            <a:off x="466344" y="100584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4.</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mayoristas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47CE5043-F7CC-4286-9E57-6AC99E08734D}"/>
              </a:ext>
            </a:extLst>
          </p:cNvPr>
          <p:cNvSpPr>
            <a:spLocks xmlns:a="http://schemas.openxmlformats.org/drawingml/2006/main" noGrp="1"/>
          </p:cNvSpPr>
          <p:nvPr/>
        </p:nvSpPr>
        <p:spPr>
          <a:xfrm xmlns:a="http://schemas.openxmlformats.org/drawingml/2006/main">
            <a:off x="466344" y="113223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5.</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minoristas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a:t>
            </a:r>
            <a:r>
              <a:rPr sz="710" b="0" i="0">
                <a:solidFill>
                  <a:srgbClr val="24383A"/>
                </a:solidFill>
                <a:latin typeface="DejaVu Sans"/>
                <a:ea typeface="DejaVu Sans"/>
                <a:cs typeface="DejaVu Sans"/>
              </a:rPr>
              <a:t> </a:t>
            </a:r>
            <a:r>
              <a:rPr sz="710" b="0" i="1">
                <a:solidFill>
                  <a:srgbClr val="24383A"/>
                </a:solidFill>
                <a:latin typeface="DejaVu Sans"/>
                <a:ea typeface="DejaVu Sans"/>
                <a:cs typeface="DejaVu Sans"/>
              </a:rPr>
              <a:t>Over</a:t>
            </a:r>
            <a:r>
              <a:rPr sz="710" b="0" i="1">
                <a:solidFill>
                  <a:srgbClr val="24383A"/>
                </a:solidFill>
                <a:latin typeface="DejaVu Sans"/>
                <a:ea typeface="DejaVu Sans"/>
                <a:cs typeface="DejaVu Sans"/>
              </a:rPr>
              <a:t> </a:t>
            </a:r>
            <a:r>
              <a:rPr sz="710" b="0" i="1">
                <a:solidFill>
                  <a:srgbClr val="24383A"/>
                </a:solidFill>
                <a:latin typeface="DejaVu Sans"/>
                <a:ea typeface="DejaVu Sans"/>
                <a:cs typeface="DejaVu Sans"/>
              </a:rPr>
              <a:t>The</a:t>
            </a:r>
            <a:r>
              <a:rPr sz="710" b="0" i="1">
                <a:solidFill>
                  <a:srgbClr val="24383A"/>
                </a:solidFill>
                <a:latin typeface="DejaVu Sans"/>
                <a:ea typeface="DejaVu Sans"/>
                <a:cs typeface="DejaVu Sans"/>
              </a:rPr>
              <a:t> </a:t>
            </a:r>
            <a:r>
              <a:rPr sz="710" b="0" i="1">
                <a:solidFill>
                  <a:srgbClr val="24383A"/>
                </a:solidFill>
                <a:latin typeface="DejaVu Sans"/>
                <a:ea typeface="DejaVu Sans"/>
                <a:cs typeface="DejaVu Sans"/>
              </a:rPr>
              <a:t>Top</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(OTT).</a:t>
            </a:r>
            <a:r>
              <a:rPr sz="71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C658E482-D11D-4F58-A414-D0657171876F}"/>
              </a:ext>
            </a:extLst>
          </p:cNvPr>
          <p:cNvSpPr>
            <a:spLocks xmlns:a="http://schemas.openxmlformats.org/drawingml/2006/main" noGrp="1"/>
          </p:cNvSpPr>
          <p:nvPr/>
        </p:nvSpPr>
        <p:spPr>
          <a:xfrm xmlns:a="http://schemas.openxmlformats.org/drawingml/2006/main">
            <a:off x="466344" y="125862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6.</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mayoristas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Over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The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Top</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(OTT).</a:t>
            </a:r>
          </a:p>
        </p:txBody>
      </p:sp>
      <p:sp>
        <p:nvSpPr>
          <p:cNvPr id="16" name="ANUARIO_CONTENIDO_0_0_3">
            <a:extLst xmlns:a="http://schemas.openxmlformats.org/drawingml/2006/main">
              <a:ext uri="{FF2B5EF4-FFF2-40B4-BE49-F238E27FC236}">
                <a16:creationId xmlns:a16="http://schemas.microsoft.com/office/drawing/2014/main" id="{1DFF5CDC-EDD5-46D1-9883-9D0CC8795DD1}"/>
              </a:ext>
            </a:extLst>
          </p:cNvPr>
          <p:cNvSpPr>
            <a:spLocks xmlns:a="http://schemas.openxmlformats.org/drawingml/2006/main" noGrp="1"/>
          </p:cNvSpPr>
          <p:nvPr/>
        </p:nvSpPr>
        <p:spPr>
          <a:xfrm xmlns:a="http://schemas.openxmlformats.org/drawingml/2006/main">
            <a:off x="466344" y="138501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7.</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p>
        </p:txBody>
      </p:sp>
      <p:sp>
        <p:nvSpPr>
          <p:cNvPr id="17" name="ANUARIO_CONTENIDO_0_0_4">
            <a:extLst xmlns:a="http://schemas.openxmlformats.org/drawingml/2006/main">
              <a:ext uri="{FF2B5EF4-FFF2-40B4-BE49-F238E27FC236}">
                <a16:creationId xmlns:a16="http://schemas.microsoft.com/office/drawing/2014/main" id="{C7F267CE-892C-464B-B1E7-264D9A039E68}"/>
              </a:ext>
            </a:extLst>
          </p:cNvPr>
          <p:cNvSpPr>
            <a:spLocks xmlns:a="http://schemas.openxmlformats.org/drawingml/2006/main" noGrp="1"/>
          </p:cNvSpPr>
          <p:nvPr/>
        </p:nvSpPr>
        <p:spPr>
          <a:xfrm xmlns:a="http://schemas.openxmlformats.org/drawingml/2006/main">
            <a:off x="466344" y="151140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Todos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valores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sin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ni</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ningún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impuesto</a:t>
            </a:r>
            <a:r>
              <a:rPr sz="71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4FA6FBA6-98F2-4CFF-A6EF-49E9CC869499}"/>
              </a:ext>
            </a:extLst>
          </p:cNvPr>
          <p:cNvSpPr>
            <a:spLocks xmlns:a="http://schemas.openxmlformats.org/drawingml/2006/main" noGrp="1"/>
          </p:cNvSpPr>
          <p:nvPr/>
        </p:nvSpPr>
        <p:spPr>
          <a:xfrm xmlns:a="http://schemas.openxmlformats.org/drawingml/2006/main">
            <a:off x="466344" y="161239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aplicable,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descuentos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bonificaciones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tarifarias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sus</a:t>
            </a:r>
            <a:r>
              <a:rPr sz="710" b="0" i="0">
                <a:solidFill>
                  <a:srgbClr val="24383A"/>
                </a:solidFill>
                <a:latin typeface="DejaVu Sans"/>
                <a:ea typeface="DejaVu Sans"/>
                <a:cs typeface="DejaVu Sans"/>
              </a:rPr>
              <a:t> </a:t>
            </a:r>
          </a:p>
        </p:txBody>
      </p:sp>
      <p:sp>
        <p:nvSpPr>
          <p:cNvPr id="19" name="ANUARIO_CONTENIDO_0_0_6">
            <a:extLst xmlns:a="http://schemas.openxmlformats.org/drawingml/2006/main">
              <a:ext uri="{FF2B5EF4-FFF2-40B4-BE49-F238E27FC236}">
                <a16:creationId xmlns:a16="http://schemas.microsoft.com/office/drawing/2014/main" id="{D3C93BC6-C03B-4487-85CE-01885633F7CD}"/>
              </a:ext>
            </a:extLst>
          </p:cNvPr>
          <p:cNvSpPr>
            <a:spLocks xmlns:a="http://schemas.openxmlformats.org/drawingml/2006/main" noGrp="1"/>
          </p:cNvSpPr>
          <p:nvPr/>
        </p:nvSpPr>
        <p:spPr>
          <a:xfrm xmlns:a="http://schemas.openxmlformats.org/drawingml/2006/main">
            <a:off x="466344" y="171338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Planes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Tarifarios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aplicadas.</a:t>
            </a:r>
            <a:r>
              <a:rPr sz="710" b="0" i="0">
                <a:solidFill>
                  <a:srgbClr val="24383A"/>
                </a:solidFill>
                <a:latin typeface="DejaVu Sans"/>
                <a:ea typeface="DejaVu Sans"/>
                <a:cs typeface="DejaVu Sans"/>
              </a:rPr>
              <a:t> </a:t>
            </a:r>
          </a:p>
        </p:txBody>
      </p:sp>
      <p:sp>
        <p:nvSpPr>
          <p:cNvPr id="20" name="ANUARIO_CONTENIDO_0_0_7">
            <a:extLst xmlns:a="http://schemas.openxmlformats.org/drawingml/2006/main">
              <a:ext uri="{FF2B5EF4-FFF2-40B4-BE49-F238E27FC236}">
                <a16:creationId xmlns:a16="http://schemas.microsoft.com/office/drawing/2014/main" id="{69130361-0F30-48A2-9EE2-FD3ACCA3D252}"/>
              </a:ext>
            </a:extLst>
          </p:cNvPr>
          <p:cNvSpPr>
            <a:spLocks xmlns:a="http://schemas.openxmlformats.org/drawingml/2006/main" noGrp="1"/>
          </p:cNvSpPr>
          <p:nvPr/>
        </p:nvSpPr>
        <p:spPr>
          <a:xfrm xmlns:a="http://schemas.openxmlformats.org/drawingml/2006/main">
            <a:off x="466344" y="183977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Ingreso</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corriente: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Máximo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recursos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hogar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puede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acceder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manera</a:t>
            </a:r>
            <a:r>
              <a:rPr sz="71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ED29799E-80B4-43A8-B243-9F0A4DADD67F}"/>
              </a:ext>
            </a:extLst>
          </p:cNvPr>
          <p:cNvSpPr>
            <a:spLocks xmlns:a="http://schemas.openxmlformats.org/drawingml/2006/main" noGrp="1"/>
          </p:cNvSpPr>
          <p:nvPr/>
        </p:nvSpPr>
        <p:spPr>
          <a:xfrm xmlns:a="http://schemas.openxmlformats.org/drawingml/2006/main">
            <a:off x="466344" y="194076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regular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están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disponibles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consumo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bienes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lapso</a:t>
            </a:r>
            <a:r>
              <a:rPr sz="71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FD34A22D-BD97-496D-A681-EC315C7BA674}"/>
              </a:ext>
            </a:extLst>
          </p:cNvPr>
          <p:cNvSpPr>
            <a:spLocks xmlns:a="http://schemas.openxmlformats.org/drawingml/2006/main" noGrp="1"/>
          </p:cNvSpPr>
          <p:nvPr/>
        </p:nvSpPr>
        <p:spPr>
          <a:xfrm xmlns:a="http://schemas.openxmlformats.org/drawingml/2006/main">
            <a:off x="466344" y="204175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manteniendo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inalterado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patrimonio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hogar.</a:t>
            </a:r>
          </a:p>
        </p:txBody>
      </p:sp>
      <p:sp>
        <p:nvSpPr>
          <p:cNvPr id="23" name="ANUARIO_CONTENIDO_0_0_10">
            <a:extLst xmlns:a="http://schemas.openxmlformats.org/drawingml/2006/main">
              <a:ext uri="{FF2B5EF4-FFF2-40B4-BE49-F238E27FC236}">
                <a16:creationId xmlns:a16="http://schemas.microsoft.com/office/drawing/2014/main" id="{2ABA1758-0F53-45E3-BF8C-44D616C123DE}"/>
              </a:ext>
            </a:extLst>
          </p:cNvPr>
          <p:cNvSpPr>
            <a:spLocks xmlns:a="http://schemas.openxmlformats.org/drawingml/2006/main" noGrp="1"/>
          </p:cNvSpPr>
          <p:nvPr/>
        </p:nvSpPr>
        <p:spPr>
          <a:xfrm xmlns:a="http://schemas.openxmlformats.org/drawingml/2006/main">
            <a:off x="466344" y="216814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Inversión</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privada</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en</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p>
        </p:txBody>
      </p:sp>
      <p:sp>
        <p:nvSpPr>
          <p:cNvPr id="24" name="ANUARIO_CONTENIDO_0_0_11">
            <a:extLst xmlns:a="http://schemas.openxmlformats.org/drawingml/2006/main">
              <a:ext uri="{FF2B5EF4-FFF2-40B4-BE49-F238E27FC236}">
                <a16:creationId xmlns:a16="http://schemas.microsoft.com/office/drawing/2014/main" id="{594858E5-1954-4754-A45F-402EAE851240}"/>
              </a:ext>
            </a:extLst>
          </p:cNvPr>
          <p:cNvSpPr>
            <a:spLocks xmlns:a="http://schemas.openxmlformats.org/drawingml/2006/main" noGrp="1"/>
          </p:cNvSpPr>
          <p:nvPr/>
        </p:nvSpPr>
        <p:spPr>
          <a:xfrm xmlns:a="http://schemas.openxmlformats.org/drawingml/2006/main">
            <a:off x="466344" y="226913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infraestructura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corrientes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operadores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25" name="ANUARIO_CONTENIDO_0_0_12">
            <a:extLst xmlns:a="http://schemas.openxmlformats.org/drawingml/2006/main">
              <a:ext uri="{FF2B5EF4-FFF2-40B4-BE49-F238E27FC236}">
                <a16:creationId xmlns:a16="http://schemas.microsoft.com/office/drawing/2014/main" id="{255022E6-C03F-4B0E-BDC2-4EC9CCC95585}"/>
              </a:ext>
            </a:extLst>
          </p:cNvPr>
          <p:cNvSpPr>
            <a:spLocks xmlns:a="http://schemas.openxmlformats.org/drawingml/2006/main" noGrp="1"/>
          </p:cNvSpPr>
          <p:nvPr/>
        </p:nvSpPr>
        <p:spPr>
          <a:xfrm xmlns:a="http://schemas.openxmlformats.org/drawingml/2006/main">
            <a:off x="466344" y="237012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comprende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siguiente:</a:t>
            </a:r>
            <a:r>
              <a:rPr sz="710" b="0" i="0">
                <a:solidFill>
                  <a:srgbClr val="24383A"/>
                </a:solidFill>
                <a:latin typeface="DejaVu Sans"/>
                <a:ea typeface="DejaVu Sans"/>
                <a:cs typeface="DejaVu Sans"/>
              </a:rPr>
              <a:t> </a:t>
            </a:r>
          </a:p>
        </p:txBody>
      </p:sp>
      <p:sp>
        <p:nvSpPr>
          <p:cNvPr id="26" name="ANUARIO_CONTENIDO_0_0_13">
            <a:extLst xmlns:a="http://schemas.openxmlformats.org/drawingml/2006/main">
              <a:ext uri="{FF2B5EF4-FFF2-40B4-BE49-F238E27FC236}">
                <a16:creationId xmlns:a16="http://schemas.microsoft.com/office/drawing/2014/main" id="{A5DD88A7-CBA3-455E-BFA8-E45ABF6836E4}"/>
              </a:ext>
            </a:extLst>
          </p:cNvPr>
          <p:cNvSpPr>
            <a:spLocks xmlns:a="http://schemas.openxmlformats.org/drawingml/2006/main" noGrp="1"/>
          </p:cNvSpPr>
          <p:nvPr/>
        </p:nvSpPr>
        <p:spPr>
          <a:xfrm xmlns:a="http://schemas.openxmlformats.org/drawingml/2006/main">
            <a:off x="466344" y="249651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1.</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bruta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adquisición</a:t>
            </a:r>
            <a:r>
              <a:rPr sz="710" b="0" i="0">
                <a:solidFill>
                  <a:srgbClr val="24383A"/>
                </a:solidFill>
                <a:latin typeface="DejaVu Sans"/>
                <a:ea typeface="DejaVu Sans"/>
                <a:cs typeface="DejaVu Sans"/>
              </a:rPr>
              <a:t> </a:t>
            </a:r>
          </a:p>
        </p:txBody>
      </p:sp>
      <p:sp>
        <p:nvSpPr>
          <p:cNvPr id="27" name="ANUARIO_CONTENIDO_0_0_14">
            <a:extLst xmlns:a="http://schemas.openxmlformats.org/drawingml/2006/main">
              <a:ext uri="{FF2B5EF4-FFF2-40B4-BE49-F238E27FC236}">
                <a16:creationId xmlns:a16="http://schemas.microsoft.com/office/drawing/2014/main" id="{298057B5-0A70-4067-B544-E0CCF203D5CE}"/>
              </a:ext>
            </a:extLst>
          </p:cNvPr>
          <p:cNvSpPr>
            <a:spLocks xmlns:a="http://schemas.openxmlformats.org/drawingml/2006/main" noGrp="1"/>
          </p:cNvSpPr>
          <p:nvPr/>
        </p:nvSpPr>
        <p:spPr>
          <a:xfrm xmlns:a="http://schemas.openxmlformats.org/drawingml/2006/main">
            <a:off x="466344" y="259750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mejora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infraestructura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territorio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Incluye</a:t>
            </a:r>
            <a:r>
              <a:rPr sz="710" b="0" i="0">
                <a:solidFill>
                  <a:srgbClr val="24383A"/>
                </a:solidFill>
                <a:latin typeface="DejaVu Sans"/>
                <a:ea typeface="DejaVu Sans"/>
                <a:cs typeface="DejaVu Sans"/>
              </a:rPr>
              <a:t> </a:t>
            </a:r>
          </a:p>
        </p:txBody>
      </p:sp>
      <p:sp>
        <p:nvSpPr>
          <p:cNvPr id="28" name="ANUARIO_CONTENIDO_0_0_15">
            <a:extLst xmlns:a="http://schemas.openxmlformats.org/drawingml/2006/main">
              <a:ext uri="{FF2B5EF4-FFF2-40B4-BE49-F238E27FC236}">
                <a16:creationId xmlns:a16="http://schemas.microsoft.com/office/drawing/2014/main" id="{E01A137B-6061-4D03-9697-5DAFBBEAB1BD}"/>
              </a:ext>
            </a:extLst>
          </p:cNvPr>
          <p:cNvSpPr>
            <a:spLocks xmlns:a="http://schemas.openxmlformats.org/drawingml/2006/main" noGrp="1"/>
          </p:cNvSpPr>
          <p:nvPr/>
        </p:nvSpPr>
        <p:spPr>
          <a:xfrm xmlns:a="http://schemas.openxmlformats.org/drawingml/2006/main">
            <a:off x="466344" y="269849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instalaciones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operación,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así</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adiciones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29" name="ANUARIO_CONTENIDO_0_0_16">
            <a:extLst xmlns:a="http://schemas.openxmlformats.org/drawingml/2006/main">
              <a:ext uri="{FF2B5EF4-FFF2-40B4-BE49-F238E27FC236}">
                <a16:creationId xmlns:a16="http://schemas.microsoft.com/office/drawing/2014/main" id="{0D39A70E-6B72-4C21-B857-3C5FDDC82E03}"/>
              </a:ext>
            </a:extLst>
          </p:cNvPr>
          <p:cNvSpPr>
            <a:spLocks xmlns:a="http://schemas.openxmlformats.org/drawingml/2006/main" noGrp="1"/>
          </p:cNvSpPr>
          <p:nvPr/>
        </p:nvSpPr>
        <p:spPr>
          <a:xfrm xmlns:a="http://schemas.openxmlformats.org/drawingml/2006/main">
            <a:off x="466344" y="279948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modificaciones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instalaciones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existentes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utilización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prevé</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p>
        </p:txBody>
      </p:sp>
      <p:sp>
        <p:nvSpPr>
          <p:cNvPr id="30" name="ANUARIO_CONTENIDO_0_0_17">
            <a:extLst xmlns:a="http://schemas.openxmlformats.org/drawingml/2006/main">
              <a:ext uri="{FF2B5EF4-FFF2-40B4-BE49-F238E27FC236}">
                <a16:creationId xmlns:a16="http://schemas.microsoft.com/office/drawing/2014/main" id="{E1CCD793-EE8C-4204-92F1-5FFB7E907B59}"/>
              </a:ext>
            </a:extLst>
          </p:cNvPr>
          <p:cNvSpPr>
            <a:spLocks xmlns:a="http://schemas.openxmlformats.org/drawingml/2006/main" noGrp="1"/>
          </p:cNvSpPr>
          <p:nvPr/>
        </p:nvSpPr>
        <p:spPr>
          <a:xfrm xmlns:a="http://schemas.openxmlformats.org/drawingml/2006/main">
            <a:off x="466344" y="290047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amplio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periodo,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ejemplo,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conmutación,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señalización,</a:t>
            </a:r>
            <a:r>
              <a:rPr sz="710" b="0" i="0">
                <a:solidFill>
                  <a:srgbClr val="24383A"/>
                </a:solidFill>
                <a:latin typeface="DejaVu Sans"/>
                <a:ea typeface="DejaVu Sans"/>
                <a:cs typeface="DejaVu Sans"/>
              </a:rPr>
              <a:t> </a:t>
            </a:r>
          </a:p>
        </p:txBody>
      </p:sp>
      <p:sp>
        <p:nvSpPr>
          <p:cNvPr id="31" name="ANUARIO_CONTENIDO_0_0_18">
            <a:extLst xmlns:a="http://schemas.openxmlformats.org/drawingml/2006/main">
              <a:ext uri="{FF2B5EF4-FFF2-40B4-BE49-F238E27FC236}">
                <a16:creationId xmlns:a16="http://schemas.microsoft.com/office/drawing/2014/main" id="{A1D82FC4-5D65-4C9D-85E3-BE49B885A52A}"/>
              </a:ext>
            </a:extLst>
          </p:cNvPr>
          <p:cNvSpPr>
            <a:spLocks xmlns:a="http://schemas.openxmlformats.org/drawingml/2006/main" noGrp="1"/>
          </p:cNvSpPr>
          <p:nvPr/>
        </p:nvSpPr>
        <p:spPr>
          <a:xfrm xmlns:a="http://schemas.openxmlformats.org/drawingml/2006/main">
            <a:off x="466344" y="300146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sincronización,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fuerza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eléctrica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clima,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p>
        </p:txBody>
      </p:sp>
      <p:sp>
        <p:nvSpPr>
          <p:cNvPr id="32" name="ANUARIO_CONTENIDO_0_0_19">
            <a:extLst xmlns:a="http://schemas.openxmlformats.org/drawingml/2006/main">
              <a:ext uri="{FF2B5EF4-FFF2-40B4-BE49-F238E27FC236}">
                <a16:creationId xmlns:a16="http://schemas.microsoft.com/office/drawing/2014/main" id="{0B6FA691-C3A2-49E2-A597-B899D77403AC}"/>
              </a:ext>
            </a:extLst>
          </p:cNvPr>
          <p:cNvSpPr>
            <a:spLocks xmlns:a="http://schemas.openxmlformats.org/drawingml/2006/main" noGrp="1"/>
          </p:cNvSpPr>
          <p:nvPr/>
        </p:nvSpPr>
        <p:spPr>
          <a:xfrm xmlns:a="http://schemas.openxmlformats.org/drawingml/2006/main">
            <a:off x="466344" y="312785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2.</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bruta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concepto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compra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terrenos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edificios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asociados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a:t>
            </a:r>
            <a:r>
              <a:rPr sz="710" b="0" i="0">
                <a:solidFill>
                  <a:srgbClr val="24383A"/>
                </a:solidFill>
                <a:latin typeface="DejaVu Sans"/>
                <a:ea typeface="DejaVu Sans"/>
                <a:cs typeface="DejaVu Sans"/>
              </a:rPr>
              <a:t> </a:t>
            </a:r>
          </a:p>
        </p:txBody>
      </p:sp>
      <p:sp>
        <p:nvSpPr>
          <p:cNvPr id="33" name="ANUARIO_CONTENIDO_0_0_20">
            <a:extLst xmlns:a="http://schemas.openxmlformats.org/drawingml/2006/main">
              <a:ext uri="{FF2B5EF4-FFF2-40B4-BE49-F238E27FC236}">
                <a16:creationId xmlns:a16="http://schemas.microsoft.com/office/drawing/2014/main" id="{0961B3D9-7A72-4F16-844F-B9D74C07B063}"/>
              </a:ext>
            </a:extLst>
          </p:cNvPr>
          <p:cNvSpPr>
            <a:spLocks xmlns:a="http://schemas.openxmlformats.org/drawingml/2006/main" noGrp="1"/>
          </p:cNvSpPr>
          <p:nvPr/>
        </p:nvSpPr>
        <p:spPr>
          <a:xfrm xmlns:a="http://schemas.openxmlformats.org/drawingml/2006/main">
            <a:off x="466344" y="322884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servicio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p>
        </p:txBody>
      </p:sp>
      <p:sp>
        <p:nvSpPr>
          <p:cNvPr id="34" name="ANUARIO_CONTENIDO_0_0_21">
            <a:extLst xmlns:a="http://schemas.openxmlformats.org/drawingml/2006/main">
              <a:ext uri="{FF2B5EF4-FFF2-40B4-BE49-F238E27FC236}">
                <a16:creationId xmlns:a16="http://schemas.microsoft.com/office/drawing/2014/main" id="{8D4D8566-3F95-4998-95D3-9DE005456072}"/>
              </a:ext>
            </a:extLst>
          </p:cNvPr>
          <p:cNvSpPr>
            <a:spLocks xmlns:a="http://schemas.openxmlformats.org/drawingml/2006/main" noGrp="1"/>
          </p:cNvSpPr>
          <p:nvPr/>
        </p:nvSpPr>
        <p:spPr>
          <a:xfrm xmlns:a="http://schemas.openxmlformats.org/drawingml/2006/main">
            <a:off x="466344" y="335523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Índice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de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Precios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de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Comunicaciones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(IPCOM):</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índice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integra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índices</a:t>
            </a:r>
            <a:r>
              <a:rPr sz="710" b="0" i="0">
                <a:solidFill>
                  <a:srgbClr val="24383A"/>
                </a:solidFill>
                <a:latin typeface="DejaVu Sans"/>
                <a:ea typeface="DejaVu Sans"/>
                <a:cs typeface="DejaVu Sans"/>
              </a:rPr>
              <a:t> </a:t>
            </a:r>
          </a:p>
        </p:txBody>
      </p:sp>
      <p:sp>
        <p:nvSpPr>
          <p:cNvPr id="35" name="ANUARIO_CONTENIDO_0_0_22">
            <a:extLst xmlns:a="http://schemas.openxmlformats.org/drawingml/2006/main">
              <a:ext uri="{FF2B5EF4-FFF2-40B4-BE49-F238E27FC236}">
                <a16:creationId xmlns:a16="http://schemas.microsoft.com/office/drawing/2014/main" id="{80092B86-56B8-4E06-B327-EFD6B0F36A9E}"/>
              </a:ext>
            </a:extLst>
          </p:cNvPr>
          <p:cNvSpPr>
            <a:spLocks xmlns:a="http://schemas.openxmlformats.org/drawingml/2006/main" noGrp="1"/>
          </p:cNvSpPr>
          <p:nvPr/>
        </p:nvSpPr>
        <p:spPr>
          <a:xfrm xmlns:a="http://schemas.openxmlformats.org/drawingml/2006/main">
            <a:off x="466344" y="345622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móvil,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fija,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paquetes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36" name="ANUARIO_CONTENIDO_0_0_23">
            <a:extLst xmlns:a="http://schemas.openxmlformats.org/drawingml/2006/main">
              <a:ext uri="{FF2B5EF4-FFF2-40B4-BE49-F238E27FC236}">
                <a16:creationId xmlns:a16="http://schemas.microsoft.com/office/drawing/2014/main" id="{30F60BCB-862B-41F7-97BF-4BB913B40AD3}"/>
              </a:ext>
            </a:extLst>
          </p:cNvPr>
          <p:cNvSpPr>
            <a:spLocks xmlns:a="http://schemas.openxmlformats.org/drawingml/2006/main" noGrp="1"/>
          </p:cNvSpPr>
          <p:nvPr/>
        </p:nvSpPr>
        <p:spPr>
          <a:xfrm xmlns:a="http://schemas.openxmlformats.org/drawingml/2006/main">
            <a:off x="466344" y="355721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televisión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paga,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terminales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comunicación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p>
        </p:txBody>
      </p:sp>
      <p:sp>
        <p:nvSpPr>
          <p:cNvPr id="37" name="ANUARIO_CONTENIDO_0_0_24">
            <a:extLst xmlns:a="http://schemas.openxmlformats.org/drawingml/2006/main">
              <a:ext uri="{FF2B5EF4-FFF2-40B4-BE49-F238E27FC236}">
                <a16:creationId xmlns:a16="http://schemas.microsoft.com/office/drawing/2014/main" id="{07840669-4E9E-4E3A-9C1D-DE5C190B97BC}"/>
              </a:ext>
            </a:extLst>
          </p:cNvPr>
          <p:cNvSpPr>
            <a:spLocks xmlns:a="http://schemas.openxmlformats.org/drawingml/2006/main" noGrp="1"/>
          </p:cNvSpPr>
          <p:nvPr/>
        </p:nvSpPr>
        <p:spPr>
          <a:xfrm xmlns:a="http://schemas.openxmlformats.org/drawingml/2006/main">
            <a:off x="466344" y="365821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paquetería.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más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sobre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ponderadores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38" name="ANUARIO_CONTENIDO_0_0_25">
            <a:extLst xmlns:a="http://schemas.openxmlformats.org/drawingml/2006/main">
              <a:ext uri="{FF2B5EF4-FFF2-40B4-BE49-F238E27FC236}">
                <a16:creationId xmlns:a16="http://schemas.microsoft.com/office/drawing/2014/main" id="{C155BCA3-C914-4BC3-BB42-01A53A2B6670}"/>
              </a:ext>
            </a:extLst>
          </p:cNvPr>
          <p:cNvSpPr>
            <a:spLocks xmlns:a="http://schemas.openxmlformats.org/drawingml/2006/main" noGrp="1"/>
          </p:cNvSpPr>
          <p:nvPr/>
        </p:nvSpPr>
        <p:spPr>
          <a:xfrm xmlns:a="http://schemas.openxmlformats.org/drawingml/2006/main">
            <a:off x="466344" y="375920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INPC</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consultar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Anexo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III.</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Metodologías.</a:t>
            </a:r>
          </a:p>
        </p:txBody>
      </p:sp>
      <p:sp>
        <p:nvSpPr>
          <p:cNvPr id="39" name="ANUARIO_ANEXO_P123_DESIGN_2026">
            <a:extLst xmlns:a="http://schemas.openxmlformats.org/drawingml/2006/main">
              <a:ext uri="{FF2B5EF4-FFF2-40B4-BE49-F238E27FC236}">
                <a16:creationId xmlns:a16="http://schemas.microsoft.com/office/drawing/2014/main" id="{F6B8FC87-DA26-4A8C-96DE-79611622178E}"/>
              </a:ext>
            </a:extLst>
          </p:cNvPr>
          <p:cNvSpPr>
            <a:spLocks xmlns:a="http://schemas.openxmlformats.org/drawingml/2006/main" noGrp="1"/>
          </p:cNvSpPr>
          <p:nvPr/>
        </p:nvSpPr>
        <p:spPr>
          <a:xfrm xmlns:a="http://schemas.openxmlformats.org/drawingml/2006/main">
            <a:off x="4663440" y="566928"/>
            <a:ext cx="4178808" cy="2556198"/>
          </a:xfrm>
          <a:prstGeom xmlns:a="http://schemas.openxmlformats.org/drawingml/2006/main" prst="roundRect">
            <a:avLst>
              <a:gd name="adj" fmla="val 2146"/>
            </a:avLst>
          </a:prstGeom>
          <a:solidFill xmlns:a="http://schemas.openxmlformats.org/drawingml/2006/main">
            <a:srgbClr val="F6FAF9"/>
          </a:solidFill>
          <a:ln xmlns:a="http://schemas.openxmlformats.org/drawingml/2006/main" w="9525">
            <a:solidFill>
              <a:srgbClr val="C9DAD6"/>
            </a:solidFill>
          </a:ln>
        </p:spPr>
      </p:sp>
      <p:sp>
        <p:nvSpPr>
          <p:cNvPr id="40" name="ANUARIO_ACENTO">
            <a:extLst xmlns:a="http://schemas.openxmlformats.org/drawingml/2006/main">
              <a:ext uri="{FF2B5EF4-FFF2-40B4-BE49-F238E27FC236}">
                <a16:creationId xmlns:a16="http://schemas.microsoft.com/office/drawing/2014/main" id="{7C0A87F2-0E63-4B57-87D7-C859E16449F7}"/>
              </a:ext>
            </a:extLst>
          </p:cNvPr>
          <p:cNvSpPr>
            <a:spLocks xmlns:a="http://schemas.openxmlformats.org/drawingml/2006/main" noGrp="1"/>
          </p:cNvSpPr>
          <p:nvPr/>
        </p:nvSpPr>
        <p:spPr>
          <a:xfrm xmlns:a="http://schemas.openxmlformats.org/drawingml/2006/main">
            <a:off x="4663440" y="640080"/>
            <a:ext cx="64008" cy="240989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1" name="ANUARIO_LETRA_FONDO">
            <a:extLst xmlns:a="http://schemas.openxmlformats.org/drawingml/2006/main">
              <a:ext uri="{FF2B5EF4-FFF2-40B4-BE49-F238E27FC236}">
                <a16:creationId xmlns:a16="http://schemas.microsoft.com/office/drawing/2014/main" id="{5B60389B-C4D0-4C71-81F2-18DAE486B3EC}"/>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42" name="ANUARIO_LETRA">
            <a:extLst xmlns:a="http://schemas.openxmlformats.org/drawingml/2006/main">
              <a:ext uri="{FF2B5EF4-FFF2-40B4-BE49-F238E27FC236}">
                <a16:creationId xmlns:a16="http://schemas.microsoft.com/office/drawing/2014/main" id="{EE3B56DD-BA1C-4AF2-A439-279687A71FC0}"/>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M</a:t>
            </a:r>
          </a:p>
        </p:txBody>
      </p:sp>
      <p:sp>
        <p:nvSpPr>
          <p:cNvPr id="43" name="ANUARIO_CONTENIDO_1_0_0">
            <a:extLst xmlns:a="http://schemas.openxmlformats.org/drawingml/2006/main">
              <a:ext uri="{FF2B5EF4-FFF2-40B4-BE49-F238E27FC236}">
                <a16:creationId xmlns:a16="http://schemas.microsoft.com/office/drawing/2014/main" id="{D2F8B5BA-6130-4435-BD1B-D567D44FAC20}"/>
              </a:ext>
            </a:extLst>
          </p:cNvPr>
          <p:cNvSpPr>
            <a:spLocks xmlns:a="http://schemas.openxmlformats.org/drawingml/2006/main" noGrp="1"/>
          </p:cNvSpPr>
          <p:nvPr/>
        </p:nvSpPr>
        <p:spPr>
          <a:xfrm xmlns:a="http://schemas.openxmlformats.org/drawingml/2006/main">
            <a:off x="4828032" y="87782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1">
                <a:solidFill>
                  <a:srgbClr val="2F7F6F"/>
                </a:solidFill>
                <a:latin typeface="DejaVu Sans"/>
                <a:ea typeface="DejaVu Sans"/>
                <a:cs typeface="DejaVu Sans"/>
              </a:rPr>
              <a:t>Magazine</a:t>
            </a:r>
            <a:r>
              <a:rPr sz="710" b="1" i="0">
                <a:solidFill>
                  <a:srgbClr val="2F7F6F"/>
                </a:solidFill>
                <a:latin typeface="DejaVu Sans"/>
                <a:ea typeface="DejaVu Sans"/>
                <a:cs typeface="DejaVu Sans"/>
              </a:rPr>
              <a: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producción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contiene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diferentes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cuadros,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p>
        </p:txBody>
      </p:sp>
      <p:sp>
        <p:nvSpPr>
          <p:cNvPr id="44" name="ANUARIO_CONTENIDO_1_0_1">
            <a:extLst xmlns:a="http://schemas.openxmlformats.org/drawingml/2006/main">
              <a:ext uri="{FF2B5EF4-FFF2-40B4-BE49-F238E27FC236}">
                <a16:creationId xmlns:a16="http://schemas.microsoft.com/office/drawing/2014/main" id="{D232C2CC-616C-4951-808A-424608C9EBA7}"/>
              </a:ext>
            </a:extLst>
          </p:cNvPr>
          <p:cNvSpPr>
            <a:spLocks xmlns:a="http://schemas.openxmlformats.org/drawingml/2006/main" noGrp="1"/>
          </p:cNvSpPr>
          <p:nvPr/>
        </p:nvSpPr>
        <p:spPr>
          <a:xfrm xmlns:a="http://schemas.openxmlformats.org/drawingml/2006/main">
            <a:off x="4828032" y="97881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variedades,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entrevistas,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investigaciones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comentarios.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p>
        </p:txBody>
      </p:sp>
      <p:sp>
        <p:nvSpPr>
          <p:cNvPr id="45" name="ANUARIO_CONTENIDO_1_0_2">
            <a:extLst xmlns:a="http://schemas.openxmlformats.org/drawingml/2006/main">
              <a:ext uri="{FF2B5EF4-FFF2-40B4-BE49-F238E27FC236}">
                <a16:creationId xmlns:a16="http://schemas.microsoft.com/office/drawing/2014/main" id="{611E37D7-1DE8-4204-AB35-0B800F2C6181}"/>
              </a:ext>
            </a:extLst>
          </p:cNvPr>
          <p:cNvSpPr>
            <a:spLocks xmlns:a="http://schemas.openxmlformats.org/drawingml/2006/main" noGrp="1"/>
          </p:cNvSpPr>
          <p:nvPr/>
        </p:nvSpPr>
        <p:spPr>
          <a:xfrm xmlns:a="http://schemas.openxmlformats.org/drawingml/2006/main">
            <a:off x="4828032" y="107980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contemplan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aquellos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características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sean</a:t>
            </a:r>
            <a:r>
              <a:rPr sz="710" b="0" i="0">
                <a:solidFill>
                  <a:srgbClr val="24383A"/>
                </a:solidFill>
                <a:latin typeface="DejaVu Sans"/>
                <a:ea typeface="DejaVu Sans"/>
                <a:cs typeface="DejaVu Sans"/>
              </a:rPr>
              <a:t> </a:t>
            </a:r>
          </a:p>
        </p:txBody>
      </p:sp>
      <p:sp>
        <p:nvSpPr>
          <p:cNvPr id="46" name="ANUARIO_CONTENIDO_1_0_3">
            <a:extLst xmlns:a="http://schemas.openxmlformats.org/drawingml/2006/main">
              <a:ext uri="{FF2B5EF4-FFF2-40B4-BE49-F238E27FC236}">
                <a16:creationId xmlns:a16="http://schemas.microsoft.com/office/drawing/2014/main" id="{37F7670D-C99E-46A8-AE96-D33D6F2AC8C5}"/>
              </a:ext>
            </a:extLst>
          </p:cNvPr>
          <p:cNvSpPr>
            <a:spLocks xmlns:a="http://schemas.openxmlformats.org/drawingml/2006/main" noGrp="1"/>
          </p:cNvSpPr>
          <p:nvPr/>
        </p:nvSpPr>
        <p:spPr>
          <a:xfrm xmlns:a="http://schemas.openxmlformats.org/drawingml/2006/main">
            <a:off x="4828032" y="118079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clasificables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algún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cobertura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eventos</a:t>
            </a:r>
            <a:r>
              <a:rPr sz="710" b="0" i="0">
                <a:solidFill>
                  <a:srgbClr val="24383A"/>
                </a:solidFill>
                <a:latin typeface="DejaVu Sans"/>
                <a:ea typeface="DejaVu Sans"/>
                <a:cs typeface="DejaVu Sans"/>
              </a:rPr>
              <a:t> </a:t>
            </a:r>
          </a:p>
        </p:txBody>
      </p:sp>
      <p:sp>
        <p:nvSpPr>
          <p:cNvPr id="47" name="ANUARIO_CONTENIDO_1_0_4">
            <a:extLst xmlns:a="http://schemas.openxmlformats.org/drawingml/2006/main">
              <a:ext uri="{FF2B5EF4-FFF2-40B4-BE49-F238E27FC236}">
                <a16:creationId xmlns:a16="http://schemas.microsoft.com/office/drawing/2014/main" id="{DBB81BBD-4339-4719-9AEB-451BB7282E20}"/>
              </a:ext>
            </a:extLst>
          </p:cNvPr>
          <p:cNvSpPr>
            <a:spLocks xmlns:a="http://schemas.openxmlformats.org/drawingml/2006/main" noGrp="1"/>
          </p:cNvSpPr>
          <p:nvPr/>
        </p:nvSpPr>
        <p:spPr>
          <a:xfrm xmlns:a="http://schemas.openxmlformats.org/drawingml/2006/main">
            <a:off x="4828032" y="128178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(exceptuando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religiosos,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deportivos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culturales).</a:t>
            </a:r>
          </a:p>
        </p:txBody>
      </p:sp>
      <p:sp>
        <p:nvSpPr>
          <p:cNvPr id="48" name="ANUARIO_CONTENIDO_1_0_5">
            <a:extLst xmlns:a="http://schemas.openxmlformats.org/drawingml/2006/main">
              <a:ext uri="{FF2B5EF4-FFF2-40B4-BE49-F238E27FC236}">
                <a16:creationId xmlns:a16="http://schemas.microsoft.com/office/drawing/2014/main" id="{4F57126C-FA15-4541-9399-48CA54A13960}"/>
              </a:ext>
            </a:extLst>
          </p:cNvPr>
          <p:cNvSpPr>
            <a:spLocks xmlns:a="http://schemas.openxmlformats.org/drawingml/2006/main" noGrp="1"/>
          </p:cNvSpPr>
          <p:nvPr/>
        </p:nvSpPr>
        <p:spPr>
          <a:xfrm xmlns:a="http://schemas.openxmlformats.org/drawingml/2006/main">
            <a:off x="4828032" y="140817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Megabyte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(MB):</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datos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p>
        </p:txBody>
      </p:sp>
      <p:sp>
        <p:nvSpPr>
          <p:cNvPr id="49" name="ANUARIO_CONTENIDO_1_0_6">
            <a:extLst xmlns:a="http://schemas.openxmlformats.org/drawingml/2006/main">
              <a:ext uri="{FF2B5EF4-FFF2-40B4-BE49-F238E27FC236}">
                <a16:creationId xmlns:a16="http://schemas.microsoft.com/office/drawing/2014/main" id="{76B8A2D6-E8C6-427D-9613-967607F32239}"/>
              </a:ext>
            </a:extLst>
          </p:cNvPr>
          <p:cNvSpPr>
            <a:spLocks xmlns:a="http://schemas.openxmlformats.org/drawingml/2006/main" noGrp="1"/>
          </p:cNvSpPr>
          <p:nvPr/>
        </p:nvSpPr>
        <p:spPr>
          <a:xfrm xmlns:a="http://schemas.openxmlformats.org/drawingml/2006/main">
            <a:off x="4828032" y="153456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Megabits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(Mbps):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Megabits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segundo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velocidad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50" name="ANUARIO_CONTENIDO_1_0_7">
            <a:extLst xmlns:a="http://schemas.openxmlformats.org/drawingml/2006/main">
              <a:ext uri="{FF2B5EF4-FFF2-40B4-BE49-F238E27FC236}">
                <a16:creationId xmlns:a16="http://schemas.microsoft.com/office/drawing/2014/main" id="{E9CA3EBB-924D-4211-B37B-4D46B35BB7B7}"/>
              </a:ext>
            </a:extLst>
          </p:cNvPr>
          <p:cNvSpPr>
            <a:spLocks xmlns:a="http://schemas.openxmlformats.org/drawingml/2006/main" noGrp="1"/>
          </p:cNvSpPr>
          <p:nvPr/>
        </p:nvSpPr>
        <p:spPr>
          <a:xfrm xmlns:a="http://schemas.openxmlformats.org/drawingml/2006/main">
            <a:off x="4828032" y="163555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datos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banda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ancha.</a:t>
            </a:r>
          </a:p>
        </p:txBody>
      </p:sp>
      <p:sp>
        <p:nvSpPr>
          <p:cNvPr id="51" name="ANUARIO_CONTENIDO_1_0_8">
            <a:extLst xmlns:a="http://schemas.openxmlformats.org/drawingml/2006/main">
              <a:ext uri="{FF2B5EF4-FFF2-40B4-BE49-F238E27FC236}">
                <a16:creationId xmlns:a16="http://schemas.microsoft.com/office/drawing/2014/main" id="{D1DA5B47-6404-4210-A11C-82AF48F0DBD4}"/>
              </a:ext>
            </a:extLst>
          </p:cNvPr>
          <p:cNvSpPr>
            <a:spLocks xmlns:a="http://schemas.openxmlformats.org/drawingml/2006/main" noGrp="1"/>
          </p:cNvSpPr>
          <p:nvPr/>
        </p:nvSpPr>
        <p:spPr>
          <a:xfrm xmlns:a="http://schemas.openxmlformats.org/drawingml/2006/main">
            <a:off x="4828032" y="176194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Megahertz</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(MHz):</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frecuencia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equivale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106</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Hertz.</a:t>
            </a:r>
          </a:p>
        </p:txBody>
      </p:sp>
      <p:sp>
        <p:nvSpPr>
          <p:cNvPr id="52" name="ANUARIO_CONTENIDO_1_0_9">
            <a:extLst xmlns:a="http://schemas.openxmlformats.org/drawingml/2006/main">
              <a:ext uri="{FF2B5EF4-FFF2-40B4-BE49-F238E27FC236}">
                <a16:creationId xmlns:a16="http://schemas.microsoft.com/office/drawing/2014/main" id="{C17F7D81-87AF-4880-810C-948D3DF57112}"/>
              </a:ext>
            </a:extLst>
          </p:cNvPr>
          <p:cNvSpPr>
            <a:spLocks xmlns:a="http://schemas.openxmlformats.org/drawingml/2006/main" noGrp="1"/>
          </p:cNvSpPr>
          <p:nvPr/>
        </p:nvSpPr>
        <p:spPr>
          <a:xfrm xmlns:a="http://schemas.openxmlformats.org/drawingml/2006/main">
            <a:off x="4828032" y="188833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Mercadeo: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promueve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venta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productos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telefónica.</a:t>
            </a:r>
            <a:r>
              <a:rPr sz="710" b="0" i="0">
                <a:solidFill>
                  <a:srgbClr val="24383A"/>
                </a:solidFill>
                <a:latin typeface="DejaVu Sans"/>
                <a:ea typeface="DejaVu Sans"/>
                <a:cs typeface="DejaVu Sans"/>
              </a:rPr>
              <a:t> </a:t>
            </a:r>
          </a:p>
        </p:txBody>
      </p:sp>
      <p:sp>
        <p:nvSpPr>
          <p:cNvPr id="53" name="ANUARIO_CONTENIDO_1_0_10">
            <a:extLst xmlns:a="http://schemas.openxmlformats.org/drawingml/2006/main">
              <a:ext uri="{FF2B5EF4-FFF2-40B4-BE49-F238E27FC236}">
                <a16:creationId xmlns:a16="http://schemas.microsoft.com/office/drawing/2014/main" id="{F51DDDB6-DCF9-41EF-889F-0F10750B755C}"/>
              </a:ext>
            </a:extLst>
          </p:cNvPr>
          <p:cNvSpPr>
            <a:spLocks xmlns:a="http://schemas.openxmlformats.org/drawingml/2006/main" noGrp="1"/>
          </p:cNvSpPr>
          <p:nvPr/>
        </p:nvSpPr>
        <p:spPr>
          <a:xfrm xmlns:a="http://schemas.openxmlformats.org/drawingml/2006/main">
            <a:off x="4828032" y="198932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Generalmente,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tipo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demostraciones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54" name="ANUARIO_CONTENIDO_1_0_11">
            <a:extLst xmlns:a="http://schemas.openxmlformats.org/drawingml/2006/main">
              <a:ext uri="{FF2B5EF4-FFF2-40B4-BE49-F238E27FC236}">
                <a16:creationId xmlns:a16="http://schemas.microsoft.com/office/drawing/2014/main" id="{71AB3BBA-308D-4C48-8C58-A36C80E28936}"/>
              </a:ext>
            </a:extLst>
          </p:cNvPr>
          <p:cNvSpPr>
            <a:spLocks xmlns:a="http://schemas.openxmlformats.org/drawingml/2006/main" noGrp="1"/>
          </p:cNvSpPr>
          <p:nvPr/>
        </p:nvSpPr>
        <p:spPr>
          <a:xfrm xmlns:a="http://schemas.openxmlformats.org/drawingml/2006/main">
            <a:off x="4828032" y="209031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explicaciones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funcionamiento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artículos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ofrecidos.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p>
        </p:txBody>
      </p:sp>
      <p:sp>
        <p:nvSpPr>
          <p:cNvPr id="55" name="ANUARIO_CONTENIDO_1_0_12">
            <a:extLst xmlns:a="http://schemas.openxmlformats.org/drawingml/2006/main">
              <a:ext uri="{FF2B5EF4-FFF2-40B4-BE49-F238E27FC236}">
                <a16:creationId xmlns:a16="http://schemas.microsoft.com/office/drawing/2014/main" id="{5C14E93C-43AA-4CB6-AF93-905EECAFF94B}"/>
              </a:ext>
            </a:extLst>
          </p:cNvPr>
          <p:cNvSpPr>
            <a:spLocks xmlns:a="http://schemas.openxmlformats.org/drawingml/2006/main" noGrp="1"/>
          </p:cNvSpPr>
          <p:nvPr/>
        </p:nvSpPr>
        <p:spPr>
          <a:xfrm xmlns:a="http://schemas.openxmlformats.org/drawingml/2006/main">
            <a:off x="4828032" y="219130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encuentran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categoría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pagados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instituciones,</a:t>
            </a:r>
            <a:r>
              <a:rPr sz="710" b="0" i="0">
                <a:solidFill>
                  <a:srgbClr val="24383A"/>
                </a:solidFill>
                <a:latin typeface="DejaVu Sans"/>
                <a:ea typeface="DejaVu Sans"/>
                <a:cs typeface="DejaVu Sans"/>
              </a:rPr>
              <a:t> </a:t>
            </a:r>
          </a:p>
        </p:txBody>
      </p:sp>
      <p:sp>
        <p:nvSpPr>
          <p:cNvPr id="56" name="ANUARIO_CONTENIDO_1_0_13">
            <a:extLst xmlns:a="http://schemas.openxmlformats.org/drawingml/2006/main">
              <a:ext uri="{FF2B5EF4-FFF2-40B4-BE49-F238E27FC236}">
                <a16:creationId xmlns:a16="http://schemas.microsoft.com/office/drawing/2014/main" id="{5A786FA2-0940-43D9-A39D-254D027D2E4C}"/>
              </a:ext>
            </a:extLst>
          </p:cNvPr>
          <p:cNvSpPr>
            <a:spLocks xmlns:a="http://schemas.openxmlformats.org/drawingml/2006/main" noGrp="1"/>
          </p:cNvSpPr>
          <p:nvPr/>
        </p:nvSpPr>
        <p:spPr>
          <a:xfrm xmlns:a="http://schemas.openxmlformats.org/drawingml/2006/main">
            <a:off x="4828032" y="229229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asociaciones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civiles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religiosas,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tiempo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aire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utilizado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p>
        </p:txBody>
      </p:sp>
      <p:sp>
        <p:nvSpPr>
          <p:cNvPr id="57" name="ANUARIO_CONTENIDO_1_0_14">
            <a:extLst xmlns:a="http://schemas.openxmlformats.org/drawingml/2006/main">
              <a:ext uri="{FF2B5EF4-FFF2-40B4-BE49-F238E27FC236}">
                <a16:creationId xmlns:a16="http://schemas.microsoft.com/office/drawing/2014/main" id="{0023F81E-9993-41B5-92EA-691317D1F030}"/>
              </a:ext>
            </a:extLst>
          </p:cNvPr>
          <p:cNvSpPr>
            <a:spLocks xmlns:a="http://schemas.openxmlformats.org/drawingml/2006/main" noGrp="1"/>
          </p:cNvSpPr>
          <p:nvPr/>
        </p:nvSpPr>
        <p:spPr>
          <a:xfrm xmlns:a="http://schemas.openxmlformats.org/drawingml/2006/main">
            <a:off x="4828032" y="239329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difusión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mensaje.</a:t>
            </a:r>
          </a:p>
        </p:txBody>
      </p:sp>
      <p:sp>
        <p:nvSpPr>
          <p:cNvPr id="58" name="ANUARIO_CONTENIDO_1_0_15">
            <a:extLst xmlns:a="http://schemas.openxmlformats.org/drawingml/2006/main">
              <a:ext uri="{FF2B5EF4-FFF2-40B4-BE49-F238E27FC236}">
                <a16:creationId xmlns:a16="http://schemas.microsoft.com/office/drawing/2014/main" id="{F2E018C1-095B-4973-B126-4C15A803ED05}"/>
              </a:ext>
            </a:extLst>
          </p:cNvPr>
          <p:cNvSpPr>
            <a:spLocks xmlns:a="http://schemas.openxmlformats.org/drawingml/2006/main" noGrp="1"/>
          </p:cNvSpPr>
          <p:nvPr/>
        </p:nvSpPr>
        <p:spPr>
          <a:xfrm xmlns:a="http://schemas.openxmlformats.org/drawingml/2006/main">
            <a:off x="4828032" y="251968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Musicales: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corte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musical,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videos,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conciertos,</a:t>
            </a:r>
            <a:r>
              <a:rPr sz="710" b="0" i="0">
                <a:solidFill>
                  <a:srgbClr val="24383A"/>
                </a:solidFill>
                <a:latin typeface="DejaVu Sans"/>
                <a:ea typeface="DejaVu Sans"/>
                <a:cs typeface="DejaVu Sans"/>
              </a:rPr>
              <a:t> </a:t>
            </a:r>
          </a:p>
        </p:txBody>
      </p:sp>
      <p:sp>
        <p:nvSpPr>
          <p:cNvPr id="59" name="ANUARIO_CONTENIDO_1_0_16">
            <a:extLst xmlns:a="http://schemas.openxmlformats.org/drawingml/2006/main">
              <a:ext uri="{FF2B5EF4-FFF2-40B4-BE49-F238E27FC236}">
                <a16:creationId xmlns:a16="http://schemas.microsoft.com/office/drawing/2014/main" id="{C42AEBBC-1724-4EC1-9F3B-00A2CB4616A3}"/>
              </a:ext>
            </a:extLst>
          </p:cNvPr>
          <p:cNvSpPr>
            <a:spLocks xmlns:a="http://schemas.openxmlformats.org/drawingml/2006/main" noGrp="1"/>
          </p:cNvSpPr>
          <p:nvPr/>
        </p:nvSpPr>
        <p:spPr>
          <a:xfrm xmlns:a="http://schemas.openxmlformats.org/drawingml/2006/main">
            <a:off x="4828032" y="262067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presentaciones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cantantes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grupos,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pueden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incluir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semblanzas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60" name="ANUARIO_CONTENIDO_1_0_17">
            <a:extLst xmlns:a="http://schemas.openxmlformats.org/drawingml/2006/main">
              <a:ext uri="{FF2B5EF4-FFF2-40B4-BE49-F238E27FC236}">
                <a16:creationId xmlns:a16="http://schemas.microsoft.com/office/drawing/2014/main" id="{88863E40-16B4-4068-8308-C2F11DB9DB11}"/>
              </a:ext>
            </a:extLst>
          </p:cNvPr>
          <p:cNvSpPr>
            <a:spLocks xmlns:a="http://schemas.openxmlformats.org/drawingml/2006/main" noGrp="1"/>
          </p:cNvSpPr>
          <p:nvPr/>
        </p:nvSpPr>
        <p:spPr>
          <a:xfrm xmlns:a="http://schemas.openxmlformats.org/drawingml/2006/main">
            <a:off x="4828032" y="272166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entrevistas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presentados.</a:t>
            </a:r>
          </a:p>
        </p:txBody>
      </p:sp>
      <p:sp>
        <p:nvSpPr>
          <p:cNvPr id="61" name="ANUARIO_ANEXO_P123_DESIGN_2026">
            <a:extLst xmlns:a="http://schemas.openxmlformats.org/drawingml/2006/main">
              <a:ext uri="{FF2B5EF4-FFF2-40B4-BE49-F238E27FC236}">
                <a16:creationId xmlns:a16="http://schemas.microsoft.com/office/drawing/2014/main" id="{ECB9C988-B179-4A01-A888-614E8BD05454}"/>
              </a:ext>
            </a:extLst>
          </p:cNvPr>
          <p:cNvSpPr>
            <a:spLocks xmlns:a="http://schemas.openxmlformats.org/drawingml/2006/main" noGrp="1"/>
          </p:cNvSpPr>
          <p:nvPr/>
        </p:nvSpPr>
        <p:spPr>
          <a:xfrm xmlns:a="http://schemas.openxmlformats.org/drawingml/2006/main">
            <a:off x="4663440" y="3214566"/>
            <a:ext cx="4178808" cy="1247706"/>
          </a:xfrm>
          <a:prstGeom xmlns:a="http://schemas.openxmlformats.org/drawingml/2006/main" prst="roundRect">
            <a:avLst>
              <a:gd name="adj" fmla="val 4397"/>
            </a:avLst>
          </a:prstGeom>
          <a:solidFill xmlns:a="http://schemas.openxmlformats.org/drawingml/2006/main">
            <a:srgbClr val="F6FAF9"/>
          </a:solidFill>
          <a:ln xmlns:a="http://schemas.openxmlformats.org/drawingml/2006/main" w="9525">
            <a:solidFill>
              <a:srgbClr val="C9DAD6"/>
            </a:solidFill>
          </a:ln>
        </p:spPr>
      </p:sp>
      <p:sp>
        <p:nvSpPr>
          <p:cNvPr id="62" name="ANUARIO_ACENTO">
            <a:extLst xmlns:a="http://schemas.openxmlformats.org/drawingml/2006/main">
              <a:ext uri="{FF2B5EF4-FFF2-40B4-BE49-F238E27FC236}">
                <a16:creationId xmlns:a16="http://schemas.microsoft.com/office/drawing/2014/main" id="{E9AADBC6-844C-424C-9BEE-09BD8D355997}"/>
              </a:ext>
            </a:extLst>
          </p:cNvPr>
          <p:cNvSpPr>
            <a:spLocks xmlns:a="http://schemas.openxmlformats.org/drawingml/2006/main" noGrp="1"/>
          </p:cNvSpPr>
          <p:nvPr/>
        </p:nvSpPr>
        <p:spPr>
          <a:xfrm xmlns:a="http://schemas.openxmlformats.org/drawingml/2006/main">
            <a:off x="4663440" y="3287718"/>
            <a:ext cx="64008" cy="110140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63" name="ANUARIO_LETRA_FONDO">
            <a:extLst xmlns:a="http://schemas.openxmlformats.org/drawingml/2006/main">
              <a:ext uri="{FF2B5EF4-FFF2-40B4-BE49-F238E27FC236}">
                <a16:creationId xmlns:a16="http://schemas.microsoft.com/office/drawing/2014/main" id="{89942648-AB1D-46B8-AA51-453C331A28ED}"/>
              </a:ext>
            </a:extLst>
          </p:cNvPr>
          <p:cNvSpPr>
            <a:spLocks xmlns:a="http://schemas.openxmlformats.org/drawingml/2006/main" noGrp="1"/>
          </p:cNvSpPr>
          <p:nvPr/>
        </p:nvSpPr>
        <p:spPr>
          <a:xfrm xmlns:a="http://schemas.openxmlformats.org/drawingml/2006/main">
            <a:off x="4828032" y="3287718"/>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64" name="ANUARIO_LETRA">
            <a:extLst xmlns:a="http://schemas.openxmlformats.org/drawingml/2006/main">
              <a:ext uri="{FF2B5EF4-FFF2-40B4-BE49-F238E27FC236}">
                <a16:creationId xmlns:a16="http://schemas.microsoft.com/office/drawing/2014/main" id="{E4ACC113-DE1D-408E-9267-D1953ED88CE2}"/>
              </a:ext>
            </a:extLst>
          </p:cNvPr>
          <p:cNvSpPr>
            <a:spLocks xmlns:a="http://schemas.openxmlformats.org/drawingml/2006/main" noGrp="1"/>
          </p:cNvSpPr>
          <p:nvPr/>
        </p:nvSpPr>
        <p:spPr>
          <a:xfrm xmlns:a="http://schemas.openxmlformats.org/drawingml/2006/main">
            <a:off x="4828032" y="3306006"/>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N</a:t>
            </a:r>
          </a:p>
        </p:txBody>
      </p:sp>
      <p:sp>
        <p:nvSpPr>
          <p:cNvPr id="65" name="ANUARIO_CONTENIDO_1_1_0">
            <a:extLst xmlns:a="http://schemas.openxmlformats.org/drawingml/2006/main">
              <a:ext uri="{FF2B5EF4-FFF2-40B4-BE49-F238E27FC236}">
                <a16:creationId xmlns:a16="http://schemas.microsoft.com/office/drawing/2014/main" id="{7FBC53AD-8CBB-457E-A6FB-F92136B4D387}"/>
              </a:ext>
            </a:extLst>
          </p:cNvPr>
          <p:cNvSpPr>
            <a:spLocks xmlns:a="http://schemas.openxmlformats.org/drawingml/2006/main" noGrp="1"/>
          </p:cNvSpPr>
          <p:nvPr/>
        </p:nvSpPr>
        <p:spPr>
          <a:xfrm xmlns:a="http://schemas.openxmlformats.org/drawingml/2006/main">
            <a:off x="4828032" y="352546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Noticieros: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basada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actualidad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a:t>
            </a:r>
            <a:r>
              <a:rPr sz="710" b="0" i="0">
                <a:solidFill>
                  <a:srgbClr val="24383A"/>
                </a:solidFill>
                <a:latin typeface="DejaVu Sans"/>
                <a:ea typeface="DejaVu Sans"/>
                <a:cs typeface="DejaVu Sans"/>
              </a:rPr>
              <a:t> </a:t>
            </a:r>
          </a:p>
        </p:txBody>
      </p:sp>
      <p:sp>
        <p:nvSpPr>
          <p:cNvPr id="66" name="ANUARIO_CONTENIDO_1_1_1">
            <a:extLst xmlns:a="http://schemas.openxmlformats.org/drawingml/2006/main">
              <a:ext uri="{FF2B5EF4-FFF2-40B4-BE49-F238E27FC236}">
                <a16:creationId xmlns:a16="http://schemas.microsoft.com/office/drawing/2014/main" id="{8B2704DA-C2AA-45FF-8D0E-04793E2E80C1}"/>
              </a:ext>
            </a:extLst>
          </p:cNvPr>
          <p:cNvSpPr>
            <a:spLocks xmlns:a="http://schemas.openxmlformats.org/drawingml/2006/main" noGrp="1"/>
          </p:cNvSpPr>
          <p:nvPr/>
        </p:nvSpPr>
        <p:spPr>
          <a:xfrm xmlns:a="http://schemas.openxmlformats.org/drawingml/2006/main">
            <a:off x="4828032" y="362645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internacional,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articulada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tradicionales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periodismo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escrito,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p>
        </p:txBody>
      </p:sp>
      <p:sp>
        <p:nvSpPr>
          <p:cNvPr id="67" name="ANUARIO_CONTENIDO_1_1_2">
            <a:extLst xmlns:a="http://schemas.openxmlformats.org/drawingml/2006/main">
              <a:ext uri="{FF2B5EF4-FFF2-40B4-BE49-F238E27FC236}">
                <a16:creationId xmlns:a16="http://schemas.microsoft.com/office/drawing/2014/main" id="{85928106-1532-477D-A034-E8971324F61D}"/>
              </a:ext>
            </a:extLst>
          </p:cNvPr>
          <p:cNvSpPr>
            <a:spLocks xmlns:a="http://schemas.openxmlformats.org/drawingml/2006/main" noGrp="1"/>
          </p:cNvSpPr>
          <p:nvPr/>
        </p:nvSpPr>
        <p:spPr>
          <a:xfrm xmlns:a="http://schemas.openxmlformats.org/drawingml/2006/main">
            <a:off x="4828032" y="372744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entrevista,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editorial,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p>
        </p:txBody>
      </p:sp>
      <p:sp>
        <p:nvSpPr>
          <p:cNvPr id="68" name="ANUARIO_CONTENIDO_1_1_3">
            <a:extLst xmlns:a="http://schemas.openxmlformats.org/drawingml/2006/main">
              <a:ext uri="{FF2B5EF4-FFF2-40B4-BE49-F238E27FC236}">
                <a16:creationId xmlns:a16="http://schemas.microsoft.com/office/drawing/2014/main" id="{380C8932-3F8C-42B3-BD49-43E3AB55887F}"/>
              </a:ext>
            </a:extLst>
          </p:cNvPr>
          <p:cNvSpPr>
            <a:spLocks xmlns:a="http://schemas.openxmlformats.org/drawingml/2006/main" noGrp="1"/>
          </p:cNvSpPr>
          <p:nvPr/>
        </p:nvSpPr>
        <p:spPr>
          <a:xfrm xmlns:a="http://schemas.openxmlformats.org/drawingml/2006/main">
            <a:off x="4828032" y="382843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Generalmente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estructuran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bloques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temáticos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buscan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mantener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interés</a:t>
            </a:r>
            <a:r>
              <a:rPr sz="710" b="0" i="0">
                <a:solidFill>
                  <a:srgbClr val="24383A"/>
                </a:solidFill>
                <a:latin typeface="DejaVu Sans"/>
                <a:ea typeface="DejaVu Sans"/>
                <a:cs typeface="DejaVu Sans"/>
              </a:rPr>
              <a:t> </a:t>
            </a:r>
          </a:p>
        </p:txBody>
      </p:sp>
      <p:sp>
        <p:nvSpPr>
          <p:cNvPr id="69" name="ANUARIO_CONTENIDO_1_1_4">
            <a:extLst xmlns:a="http://schemas.openxmlformats.org/drawingml/2006/main">
              <a:ext uri="{FF2B5EF4-FFF2-40B4-BE49-F238E27FC236}">
                <a16:creationId xmlns:a16="http://schemas.microsoft.com/office/drawing/2014/main" id="{2CB81059-5A3C-4ACB-99BF-09BACB07A915}"/>
              </a:ext>
            </a:extLst>
          </p:cNvPr>
          <p:cNvSpPr>
            <a:spLocks xmlns:a="http://schemas.openxmlformats.org/drawingml/2006/main" noGrp="1"/>
          </p:cNvSpPr>
          <p:nvPr/>
        </p:nvSpPr>
        <p:spPr>
          <a:xfrm xmlns:a="http://schemas.openxmlformats.org/drawingml/2006/main">
            <a:off x="4828032" y="392942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eliminar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factores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distracción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está</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expuesto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televidente.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p>
        </p:txBody>
      </p:sp>
      <p:sp>
        <p:nvSpPr>
          <p:cNvPr id="70" name="ANUARIO_CONTENIDO_1_1_5">
            <a:extLst xmlns:a="http://schemas.openxmlformats.org/drawingml/2006/main">
              <a:ext uri="{FF2B5EF4-FFF2-40B4-BE49-F238E27FC236}">
                <a16:creationId xmlns:a16="http://schemas.microsoft.com/office/drawing/2014/main" id="{6A6CE820-E046-4ECA-A9E3-5DE3978692AD}"/>
              </a:ext>
            </a:extLst>
          </p:cNvPr>
          <p:cNvSpPr>
            <a:spLocks xmlns:a="http://schemas.openxmlformats.org/drawingml/2006/main" noGrp="1"/>
          </p:cNvSpPr>
          <p:nvPr/>
        </p:nvSpPr>
        <p:spPr>
          <a:xfrm xmlns:a="http://schemas.openxmlformats.org/drawingml/2006/main">
            <a:off x="4828032" y="403041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contemplan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aquellos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carácter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informativo,</a:t>
            </a:r>
            <a:r>
              <a:rPr sz="710" b="0" i="0">
                <a:solidFill>
                  <a:srgbClr val="24383A"/>
                </a:solidFill>
                <a:latin typeface="DejaVu Sans"/>
                <a:ea typeface="DejaVu Sans"/>
                <a:cs typeface="DejaVu Sans"/>
              </a:rPr>
              <a:t> </a:t>
            </a:r>
          </a:p>
        </p:txBody>
      </p:sp>
      <p:sp>
        <p:nvSpPr>
          <p:cNvPr id="71" name="ANUARIO_CONTENIDO_1_1_6">
            <a:extLst xmlns:a="http://schemas.openxmlformats.org/drawingml/2006/main">
              <a:ext uri="{FF2B5EF4-FFF2-40B4-BE49-F238E27FC236}">
                <a16:creationId xmlns:a16="http://schemas.microsoft.com/office/drawing/2014/main" id="{81A69B70-BB60-4A40-99C0-A5B3A114F817}"/>
              </a:ext>
            </a:extLst>
          </p:cNvPr>
          <p:cNvSpPr>
            <a:spLocks xmlns:a="http://schemas.openxmlformats.org/drawingml/2006/main" noGrp="1"/>
          </p:cNvSpPr>
          <p:nvPr/>
        </p:nvSpPr>
        <p:spPr>
          <a:xfrm xmlns:a="http://schemas.openxmlformats.org/drawingml/2006/main">
            <a:off x="4828032" y="413140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análisis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especializados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sobre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específicos.</a:t>
            </a:r>
          </a:p>
        </p:txBody>
      </p:sp>
    </p:spTree>
    <p:extLst>
      <p:ext uri="{BB962C8B-B14F-4D97-AF65-F5344CB8AC3E}">
        <p14:creationId xmlns:p14="http://schemas.microsoft.com/office/powerpoint/2010/main" val="933780979"/>
      </p:ext>
    </p:extLst>
  </p:cSld>
</p:sld>
</file>

<file path=ppt/slides/slide124.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81" name="ANUARIO_ENCABEZADO">
            <a:extLst xmlns:a="http://schemas.openxmlformats.org/drawingml/2006/main">
              <a:ext uri="{FF2B5EF4-FFF2-40B4-BE49-F238E27FC236}">
                <a16:creationId xmlns:a16="http://schemas.microsoft.com/office/drawing/2014/main" id="{45F3D9BD-6B04-47D6-A145-740507791EB5}"/>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F3FA8A58-02F2-46E5-B7CB-DE1CF7117148}"/>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F1037CE4-2CE0-4B38-8FE5-D9D36F4E1FF0}"/>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 DEFINICIONES</a:t>
            </a:r>
          </a:p>
        </p:txBody>
      </p:sp>
      <p:sp>
        <p:nvSpPr>
          <p:cNvPr id="4" name="ANUARIO_BIT_TEXTO">
            <a:extLst xmlns:a="http://schemas.openxmlformats.org/drawingml/2006/main">
              <a:ext uri="{FF2B5EF4-FFF2-40B4-BE49-F238E27FC236}">
                <a16:creationId xmlns:a16="http://schemas.microsoft.com/office/drawing/2014/main" id="{4322C7EA-5554-4B01-820F-E11C051A61E8}"/>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01C9F150-3B5B-46AF-8CAF-9640987DB682}"/>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9BE76A32-DC73-4DE9-BEEC-6D387F8273B7}"/>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B6D8E8B6-C9A6-499C-B109-FB8373705338}"/>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A164387E-5395-48FD-834D-49FE05BA375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124</a:t>
            </a:r>
          </a:p>
        </p:txBody>
      </p:sp>
      <p:sp>
        <p:nvSpPr>
          <p:cNvPr id="9" name="ANUARIO_EDICION">
            <a:extLst xmlns:a="http://schemas.openxmlformats.org/drawingml/2006/main">
              <a:ext uri="{FF2B5EF4-FFF2-40B4-BE49-F238E27FC236}">
                <a16:creationId xmlns:a16="http://schemas.microsoft.com/office/drawing/2014/main" id="{09F30D03-6B36-4353-B047-4C2875F1C7E4}"/>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4_DESIGN_2026">
            <a:extLst xmlns:a="http://schemas.openxmlformats.org/drawingml/2006/main">
              <a:ext uri="{FF2B5EF4-FFF2-40B4-BE49-F238E27FC236}">
                <a16:creationId xmlns:a16="http://schemas.microsoft.com/office/drawing/2014/main" id="{C4FF3E71-FF42-4E66-B913-1251F98FBF94}"/>
              </a:ext>
            </a:extLst>
          </p:cNvPr>
          <p:cNvSpPr>
            <a:spLocks xmlns:a="http://schemas.openxmlformats.org/drawingml/2006/main" noGrp="1"/>
          </p:cNvSpPr>
          <p:nvPr/>
        </p:nvSpPr>
        <p:spPr>
          <a:xfrm xmlns:a="http://schemas.openxmlformats.org/drawingml/2006/main">
            <a:off x="301752" y="566928"/>
            <a:ext cx="4178808" cy="1135804"/>
          </a:xfrm>
          <a:prstGeom xmlns:a="http://schemas.openxmlformats.org/drawingml/2006/main" prst="roundRect">
            <a:avLst>
              <a:gd name="adj" fmla="val 4830"/>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136357BF-50BC-4822-8F9F-A86CD6169F4B}"/>
              </a:ext>
            </a:extLst>
          </p:cNvPr>
          <p:cNvSpPr>
            <a:spLocks xmlns:a="http://schemas.openxmlformats.org/drawingml/2006/main" noGrp="1"/>
          </p:cNvSpPr>
          <p:nvPr/>
        </p:nvSpPr>
        <p:spPr>
          <a:xfrm xmlns:a="http://schemas.openxmlformats.org/drawingml/2006/main">
            <a:off x="301752" y="640080"/>
            <a:ext cx="64008" cy="98950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LETRA_FONDO">
            <a:extLst xmlns:a="http://schemas.openxmlformats.org/drawingml/2006/main">
              <a:ext uri="{FF2B5EF4-FFF2-40B4-BE49-F238E27FC236}">
                <a16:creationId xmlns:a16="http://schemas.microsoft.com/office/drawing/2014/main" id="{C319BAA2-9EED-4859-8B81-27DEEB23DB6D}"/>
              </a:ext>
            </a:extLst>
          </p:cNvPr>
          <p:cNvSpPr>
            <a:spLocks xmlns:a="http://schemas.openxmlformats.org/drawingml/2006/main" noGrp="1"/>
          </p:cNvSpPr>
          <p:nvPr/>
        </p:nvSpPr>
        <p:spPr>
          <a:xfrm xmlns:a="http://schemas.openxmlformats.org/drawingml/2006/main">
            <a:off x="466344"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13" name="ANUARIO_LETRA">
            <a:extLst xmlns:a="http://schemas.openxmlformats.org/drawingml/2006/main">
              <a:ext uri="{FF2B5EF4-FFF2-40B4-BE49-F238E27FC236}">
                <a16:creationId xmlns:a16="http://schemas.microsoft.com/office/drawing/2014/main" id="{5E6066C0-302D-49E0-84CE-AAAA5EAD373F}"/>
              </a:ext>
            </a:extLst>
          </p:cNvPr>
          <p:cNvSpPr>
            <a:spLocks xmlns:a="http://schemas.openxmlformats.org/drawingml/2006/main" noGrp="1"/>
          </p:cNvSpPr>
          <p:nvPr/>
        </p:nvSpPr>
        <p:spPr>
          <a:xfrm xmlns:a="http://schemas.openxmlformats.org/drawingml/2006/main">
            <a:off x="466344"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O</a:t>
            </a:r>
          </a:p>
        </p:txBody>
      </p:sp>
      <p:sp>
        <p:nvSpPr>
          <p:cNvPr id="14" name="ANUARIO_CONTENIDO_0_0_0">
            <a:extLst xmlns:a="http://schemas.openxmlformats.org/drawingml/2006/main">
              <a:ext uri="{FF2B5EF4-FFF2-40B4-BE49-F238E27FC236}">
                <a16:creationId xmlns:a16="http://schemas.microsoft.com/office/drawing/2014/main" id="{495481F7-62C5-4192-A267-51A8C71B0976}"/>
              </a:ext>
            </a:extLst>
          </p:cNvPr>
          <p:cNvSpPr>
            <a:spLocks xmlns:a="http://schemas.openxmlformats.org/drawingml/2006/main" noGrp="1"/>
          </p:cNvSpPr>
          <p:nvPr/>
        </p:nvSpPr>
        <p:spPr>
          <a:xfrm xmlns:a="http://schemas.openxmlformats.org/drawingml/2006/main">
            <a:off x="466344"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Operador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física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titular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varias</a:t>
            </a:r>
            <a:r>
              <a:rPr sz="650" b="0" i="0">
                <a:solidFill>
                  <a:srgbClr val="24383A"/>
                </a:solidFill>
                <a:latin typeface="DejaVu Sans"/>
                <a:ea typeface="DejaVu Sans"/>
                <a:cs typeface="DejaVu Sans"/>
              </a:rPr>
              <a:t> </a:t>
            </a:r>
          </a:p>
        </p:txBody>
      </p:sp>
      <p:sp>
        <p:nvSpPr>
          <p:cNvPr id="15" name="ANUARIO_CONTENIDO_0_0_1">
            <a:extLst xmlns:a="http://schemas.openxmlformats.org/drawingml/2006/main">
              <a:ext uri="{FF2B5EF4-FFF2-40B4-BE49-F238E27FC236}">
                <a16:creationId xmlns:a16="http://schemas.microsoft.com/office/drawing/2014/main" id="{12EF2D98-6F09-4036-AC9A-B43DBC1864F2}"/>
              </a:ext>
            </a:extLst>
          </p:cNvPr>
          <p:cNvSpPr>
            <a:spLocks xmlns:a="http://schemas.openxmlformats.org/drawingml/2006/main" noGrp="1"/>
          </p:cNvSpPr>
          <p:nvPr/>
        </p:nvSpPr>
        <p:spPr>
          <a:xfrm xmlns:a="http://schemas.openxmlformats.org/drawingml/2006/main">
            <a:off x="466344"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concesiones,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autorizaciones,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asignaciones,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habilitan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explotar</a:t>
            </a:r>
            <a:r>
              <a:rPr sz="650" b="0" i="0">
                <a:solidFill>
                  <a:srgbClr val="24383A"/>
                </a:solidFill>
                <a:latin typeface="DejaVu Sans"/>
                <a:ea typeface="DejaVu Sans"/>
                <a:cs typeface="DejaVu Sans"/>
              </a:rPr>
              <a:t> </a:t>
            </a:r>
          </a:p>
        </p:txBody>
      </p:sp>
      <p:sp>
        <p:nvSpPr>
          <p:cNvPr id="16" name="ANUARIO_CONTENIDO_0_0_2">
            <a:extLst xmlns:a="http://schemas.openxmlformats.org/drawingml/2006/main">
              <a:ext uri="{FF2B5EF4-FFF2-40B4-BE49-F238E27FC236}">
                <a16:creationId xmlns:a16="http://schemas.microsoft.com/office/drawing/2014/main" id="{F4881284-6FC4-484E-A65C-6CA7C0940C8A}"/>
              </a:ext>
            </a:extLst>
          </p:cNvPr>
          <p:cNvSpPr>
            <a:spLocks xmlns:a="http://schemas.openxmlformats.org/drawingml/2006/main" noGrp="1"/>
          </p:cNvSpPr>
          <p:nvPr/>
        </p:nvSpPr>
        <p:spPr>
          <a:xfrm xmlns:a="http://schemas.openxmlformats.org/drawingml/2006/main">
            <a:off x="466344" y="1062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espectro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radioeléctrico,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recursos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orbitales.</a:t>
            </a:r>
          </a:p>
        </p:txBody>
      </p:sp>
      <p:sp>
        <p:nvSpPr>
          <p:cNvPr id="17" name="ANUARIO_CONTENIDO_0_0_3">
            <a:extLst xmlns:a="http://schemas.openxmlformats.org/drawingml/2006/main">
              <a:ext uri="{FF2B5EF4-FFF2-40B4-BE49-F238E27FC236}">
                <a16:creationId xmlns:a16="http://schemas.microsoft.com/office/drawing/2014/main" id="{F0164C54-0021-4606-A1BC-B1BE8AC3086D}"/>
              </a:ext>
            </a:extLst>
          </p:cNvPr>
          <p:cNvSpPr>
            <a:spLocks xmlns:a="http://schemas.openxmlformats.org/drawingml/2006/main" noGrp="1"/>
          </p:cNvSpPr>
          <p:nvPr/>
        </p:nvSpPr>
        <p:spPr>
          <a:xfrm xmlns:a="http://schemas.openxmlformats.org/drawingml/2006/main">
            <a:off x="466344"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Over</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the</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Top</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(OTT)</a:t>
            </a:r>
            <a:r>
              <a:rPr sz="650" b="1" i="0">
                <a:solidFill>
                  <a:srgbClr val="2F7F6F"/>
                </a:solidFill>
                <a:latin typeface="DejaVu Sans"/>
                <a:ea typeface="DejaVu Sans"/>
                <a:cs typeface="DejaVu Sans"/>
              </a:rPr>
              <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línea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según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Internacional</a:t>
            </a:r>
            <a:r>
              <a:rPr sz="650" b="0" i="0">
                <a:solidFill>
                  <a:srgbClr val="24383A"/>
                </a:solidFill>
                <a:latin typeface="DejaVu Sans"/>
                <a:ea typeface="DejaVu Sans"/>
                <a:cs typeface="DejaVu Sans"/>
              </a:rPr>
              <a:t> </a:t>
            </a:r>
          </a:p>
        </p:txBody>
      </p:sp>
      <p:sp>
        <p:nvSpPr>
          <p:cNvPr id="18" name="ANUARIO_CONTENIDO_0_0_4">
            <a:extLst xmlns:a="http://schemas.openxmlformats.org/drawingml/2006/main">
              <a:ext uri="{FF2B5EF4-FFF2-40B4-BE49-F238E27FC236}">
                <a16:creationId xmlns:a16="http://schemas.microsoft.com/office/drawing/2014/main" id="{24BC0660-80F8-4AE7-8B1E-3F511B6461F0}"/>
              </a:ext>
            </a:extLst>
          </p:cNvPr>
          <p:cNvSpPr>
            <a:spLocks xmlns:a="http://schemas.openxmlformats.org/drawingml/2006/main" noGrp="1"/>
          </p:cNvSpPr>
          <p:nvPr/>
        </p:nvSpPr>
        <p:spPr>
          <a:xfrm xmlns:a="http://schemas.openxmlformats.org/drawingml/2006/main">
            <a:off x="466344"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sustitutos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potenciales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p>
        </p:txBody>
      </p:sp>
      <p:sp>
        <p:nvSpPr>
          <p:cNvPr id="19" name="ANUARIO_CONTENIDO_0_0_5">
            <a:extLst xmlns:a="http://schemas.openxmlformats.org/drawingml/2006/main">
              <a:ext uri="{FF2B5EF4-FFF2-40B4-BE49-F238E27FC236}">
                <a16:creationId xmlns:a16="http://schemas.microsoft.com/office/drawing/2014/main" id="{ACA6A8A2-D453-4EE2-A92F-5E19E16EBD93}"/>
              </a:ext>
            </a:extLst>
          </p:cNvPr>
          <p:cNvSpPr>
            <a:spLocks xmlns:a="http://schemas.openxmlformats.org/drawingml/2006/main" noGrp="1"/>
          </p:cNvSpPr>
          <p:nvPr/>
        </p:nvSpPr>
        <p:spPr>
          <a:xfrm xmlns:a="http://schemas.openxmlformats.org/drawingml/2006/main">
            <a:off x="466344"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tradicionales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audiovisual.</a:t>
            </a:r>
          </a:p>
        </p:txBody>
      </p:sp>
      <p:sp>
        <p:nvSpPr>
          <p:cNvPr id="20" name="ANUARIO_ANEXO_P124_DESIGN_2026">
            <a:extLst xmlns:a="http://schemas.openxmlformats.org/drawingml/2006/main">
              <a:ext uri="{FF2B5EF4-FFF2-40B4-BE49-F238E27FC236}">
                <a16:creationId xmlns:a16="http://schemas.microsoft.com/office/drawing/2014/main" id="{74DE36E7-EB57-4F0B-8A85-0CA070A912F8}"/>
              </a:ext>
            </a:extLst>
          </p:cNvPr>
          <p:cNvSpPr>
            <a:spLocks xmlns:a="http://schemas.openxmlformats.org/drawingml/2006/main" noGrp="1"/>
          </p:cNvSpPr>
          <p:nvPr/>
        </p:nvSpPr>
        <p:spPr>
          <a:xfrm xmlns:a="http://schemas.openxmlformats.org/drawingml/2006/main">
            <a:off x="301752" y="1794172"/>
            <a:ext cx="4178808" cy="2668100"/>
          </a:xfrm>
          <a:prstGeom xmlns:a="http://schemas.openxmlformats.org/drawingml/2006/main" prst="roundRect">
            <a:avLst>
              <a:gd name="adj" fmla="val 2056"/>
            </a:avLst>
          </a:prstGeom>
          <a:solidFill xmlns:a="http://schemas.openxmlformats.org/drawingml/2006/main">
            <a:srgbClr val="F6FAF9"/>
          </a:solidFill>
          <a:ln xmlns:a="http://schemas.openxmlformats.org/drawingml/2006/main" w="9525">
            <a:solidFill>
              <a:srgbClr val="C9DAD6"/>
            </a:solidFill>
          </a:ln>
        </p:spPr>
      </p:sp>
      <p:sp>
        <p:nvSpPr>
          <p:cNvPr id="21" name="ANUARIO_ACENTO">
            <a:extLst xmlns:a="http://schemas.openxmlformats.org/drawingml/2006/main">
              <a:ext uri="{FF2B5EF4-FFF2-40B4-BE49-F238E27FC236}">
                <a16:creationId xmlns:a16="http://schemas.microsoft.com/office/drawing/2014/main" id="{51162988-A0A1-4608-BE27-73DA260C963B}"/>
              </a:ext>
            </a:extLst>
          </p:cNvPr>
          <p:cNvSpPr>
            <a:spLocks xmlns:a="http://schemas.openxmlformats.org/drawingml/2006/main" noGrp="1"/>
          </p:cNvSpPr>
          <p:nvPr/>
        </p:nvSpPr>
        <p:spPr>
          <a:xfrm xmlns:a="http://schemas.openxmlformats.org/drawingml/2006/main">
            <a:off x="301752" y="1867324"/>
            <a:ext cx="64008" cy="2521796"/>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2" name="ANUARIO_LETRA_FONDO">
            <a:extLst xmlns:a="http://schemas.openxmlformats.org/drawingml/2006/main">
              <a:ext uri="{FF2B5EF4-FFF2-40B4-BE49-F238E27FC236}">
                <a16:creationId xmlns:a16="http://schemas.microsoft.com/office/drawing/2014/main" id="{012E2182-291C-40C2-9C6C-F01677359C63}"/>
              </a:ext>
            </a:extLst>
          </p:cNvPr>
          <p:cNvSpPr>
            <a:spLocks xmlns:a="http://schemas.openxmlformats.org/drawingml/2006/main" noGrp="1"/>
          </p:cNvSpPr>
          <p:nvPr/>
        </p:nvSpPr>
        <p:spPr>
          <a:xfrm xmlns:a="http://schemas.openxmlformats.org/drawingml/2006/main">
            <a:off x="466344" y="1867324"/>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23" name="ANUARIO_LETRA">
            <a:extLst xmlns:a="http://schemas.openxmlformats.org/drawingml/2006/main">
              <a:ext uri="{FF2B5EF4-FFF2-40B4-BE49-F238E27FC236}">
                <a16:creationId xmlns:a16="http://schemas.microsoft.com/office/drawing/2014/main" id="{4037A7EC-B1F9-4630-93BD-9E462471CF09}"/>
              </a:ext>
            </a:extLst>
          </p:cNvPr>
          <p:cNvSpPr>
            <a:spLocks xmlns:a="http://schemas.openxmlformats.org/drawingml/2006/main" noGrp="1"/>
          </p:cNvSpPr>
          <p:nvPr/>
        </p:nvSpPr>
        <p:spPr>
          <a:xfrm xmlns:a="http://schemas.openxmlformats.org/drawingml/2006/main">
            <a:off x="466344" y="1885612"/>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P</a:t>
            </a:r>
          </a:p>
        </p:txBody>
      </p:sp>
      <p:sp>
        <p:nvSpPr>
          <p:cNvPr id="24" name="ANUARIO_CONTENIDO_0_1_0">
            <a:extLst xmlns:a="http://schemas.openxmlformats.org/drawingml/2006/main">
              <a:ext uri="{FF2B5EF4-FFF2-40B4-BE49-F238E27FC236}">
                <a16:creationId xmlns:a16="http://schemas.microsoft.com/office/drawing/2014/main" id="{A13056F7-063C-4B97-A23A-BF72F1097789}"/>
              </a:ext>
            </a:extLst>
          </p:cNvPr>
          <p:cNvSpPr>
            <a:spLocks xmlns:a="http://schemas.openxmlformats.org/drawingml/2006/main" noGrp="1"/>
          </p:cNvSpPr>
          <p:nvPr/>
        </p:nvSpPr>
        <p:spPr>
          <a:xfrm xmlns:a="http://schemas.openxmlformats.org/drawingml/2006/main">
            <a:off x="466344" y="210506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Partidos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Políticos: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p>
        </p:txBody>
      </p:sp>
      <p:sp>
        <p:nvSpPr>
          <p:cNvPr id="25" name="ANUARIO_CONTENIDO_0_1_1">
            <a:extLst xmlns:a="http://schemas.openxmlformats.org/drawingml/2006/main">
              <a:ext uri="{FF2B5EF4-FFF2-40B4-BE49-F238E27FC236}">
                <a16:creationId xmlns:a16="http://schemas.microsoft.com/office/drawing/2014/main" id="{14C0CA07-D5E8-4FCD-80DC-3997E110AC30}"/>
              </a:ext>
            </a:extLst>
          </p:cNvPr>
          <p:cNvSpPr>
            <a:spLocks xmlns:a="http://schemas.openxmlformats.org/drawingml/2006/main" noGrp="1"/>
          </p:cNvSpPr>
          <p:nvPr/>
        </p:nvSpPr>
        <p:spPr>
          <a:xfrm xmlns:a="http://schemas.openxmlformats.org/drawingml/2006/main">
            <a:off x="466344" y="21975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mensajes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actividades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políticos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registrados.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26" name="ANUARIO_CONTENIDO_0_1_2">
            <a:extLst xmlns:a="http://schemas.openxmlformats.org/drawingml/2006/main">
              <a:ext uri="{FF2B5EF4-FFF2-40B4-BE49-F238E27FC236}">
                <a16:creationId xmlns:a16="http://schemas.microsoft.com/office/drawing/2014/main" id="{DA7AF10B-395A-4A17-8E50-1B3815F98BAC}"/>
              </a:ext>
            </a:extLst>
          </p:cNvPr>
          <p:cNvSpPr>
            <a:spLocks xmlns:a="http://schemas.openxmlformats.org/drawingml/2006/main" noGrp="1"/>
          </p:cNvSpPr>
          <p:nvPr/>
        </p:nvSpPr>
        <p:spPr>
          <a:xfrm xmlns:a="http://schemas.openxmlformats.org/drawingml/2006/main">
            <a:off x="466344" y="22899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identificaciones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asociaciones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políticas.</a:t>
            </a:r>
          </a:p>
        </p:txBody>
      </p:sp>
      <p:sp>
        <p:nvSpPr>
          <p:cNvPr id="27" name="ANUARIO_CONTENIDO_0_1_3">
            <a:extLst xmlns:a="http://schemas.openxmlformats.org/drawingml/2006/main">
              <a:ext uri="{FF2B5EF4-FFF2-40B4-BE49-F238E27FC236}">
                <a16:creationId xmlns:a16="http://schemas.microsoft.com/office/drawing/2014/main" id="{54E74B4C-1BC6-4EDD-AAC1-F46314040C9B}"/>
              </a:ext>
            </a:extLst>
          </p:cNvPr>
          <p:cNvSpPr>
            <a:spLocks xmlns:a="http://schemas.openxmlformats.org/drawingml/2006/main" noGrp="1"/>
          </p:cNvSpPr>
          <p:nvPr/>
        </p:nvSpPr>
        <p:spPr>
          <a:xfrm xmlns:a="http://schemas.openxmlformats.org/drawingml/2006/main">
            <a:off x="466344" y="24078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Películas: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genérica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nombre.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Normalmente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realizada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cine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p>
        </p:txBody>
      </p:sp>
      <p:sp>
        <p:nvSpPr>
          <p:cNvPr id="28" name="ANUARIO_CONTENIDO_0_1_4">
            <a:extLst xmlns:a="http://schemas.openxmlformats.org/drawingml/2006/main">
              <a:ext uri="{FF2B5EF4-FFF2-40B4-BE49-F238E27FC236}">
                <a16:creationId xmlns:a16="http://schemas.microsoft.com/office/drawing/2014/main" id="{CF4CD4FA-2F1B-42E0-A480-F0BE0088981F}"/>
              </a:ext>
            </a:extLst>
          </p:cNvPr>
          <p:cNvSpPr>
            <a:spLocks xmlns:a="http://schemas.openxmlformats.org/drawingml/2006/main" noGrp="1"/>
          </p:cNvSpPr>
          <p:nvPr/>
        </p:nvSpPr>
        <p:spPr>
          <a:xfrm xmlns:a="http://schemas.openxmlformats.org/drawingml/2006/main">
            <a:off x="466344" y="25002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transmite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29" name="ANUARIO_CONTENIDO_0_1_5">
            <a:extLst xmlns:a="http://schemas.openxmlformats.org/drawingml/2006/main">
              <a:ext uri="{FF2B5EF4-FFF2-40B4-BE49-F238E27FC236}">
                <a16:creationId xmlns:a16="http://schemas.microsoft.com/office/drawing/2014/main" id="{14E35C7E-B8E3-486B-A170-772F1C350F60}"/>
              </a:ext>
            </a:extLst>
          </p:cNvPr>
          <p:cNvSpPr>
            <a:spLocks xmlns:a="http://schemas.openxmlformats.org/drawingml/2006/main" noGrp="1"/>
          </p:cNvSpPr>
          <p:nvPr/>
        </p:nvSpPr>
        <p:spPr>
          <a:xfrm xmlns:a="http://schemas.openxmlformats.org/drawingml/2006/main">
            <a:off x="466344" y="25927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extranjeras.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está</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contemplado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cine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documental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carácter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didáctico</a:t>
            </a:r>
            <a:r>
              <a:rPr sz="650" b="0" i="0">
                <a:solidFill>
                  <a:srgbClr val="24383A"/>
                </a:solidFill>
                <a:latin typeface="DejaVu Sans"/>
                <a:ea typeface="DejaVu Sans"/>
                <a:cs typeface="DejaVu Sans"/>
              </a:rPr>
              <a:t> </a:t>
            </a:r>
          </a:p>
        </p:txBody>
      </p:sp>
      <p:sp>
        <p:nvSpPr>
          <p:cNvPr id="30" name="ANUARIO_CONTENIDO_0_1_6">
            <a:extLst xmlns:a="http://schemas.openxmlformats.org/drawingml/2006/main">
              <a:ext uri="{FF2B5EF4-FFF2-40B4-BE49-F238E27FC236}">
                <a16:creationId xmlns:a16="http://schemas.microsoft.com/office/drawing/2014/main" id="{869748DC-AC21-4BA7-883F-27B682DF0366}"/>
              </a:ext>
            </a:extLst>
          </p:cNvPr>
          <p:cNvSpPr>
            <a:spLocks xmlns:a="http://schemas.openxmlformats.org/drawingml/2006/main" noGrp="1"/>
          </p:cNvSpPr>
          <p:nvPr/>
        </p:nvSpPr>
        <p:spPr>
          <a:xfrm xmlns:a="http://schemas.openxmlformats.org/drawingml/2006/main">
            <a:off x="466344" y="26852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entrevistas.</a:t>
            </a:r>
          </a:p>
        </p:txBody>
      </p:sp>
      <p:sp>
        <p:nvSpPr>
          <p:cNvPr id="31" name="ANUARIO_CONTENIDO_0_1_7">
            <a:extLst xmlns:a="http://schemas.openxmlformats.org/drawingml/2006/main">
              <a:ext uri="{FF2B5EF4-FFF2-40B4-BE49-F238E27FC236}">
                <a16:creationId xmlns:a16="http://schemas.microsoft.com/office/drawing/2014/main" id="{140A44B2-411E-4FFD-8ECB-5FC7AE4EB09D}"/>
              </a:ext>
            </a:extLst>
          </p:cNvPr>
          <p:cNvSpPr>
            <a:spLocks xmlns:a="http://schemas.openxmlformats.org/drawingml/2006/main" noGrp="1"/>
          </p:cNvSpPr>
          <p:nvPr/>
        </p:nvSpPr>
        <p:spPr>
          <a:xfrm xmlns:a="http://schemas.openxmlformats.org/drawingml/2006/main">
            <a:off x="466344" y="28030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Producto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Interno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Bruto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(PIB):</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valor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bienes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32" name="ANUARIO_CONTENIDO_0_1_8">
            <a:extLst xmlns:a="http://schemas.openxmlformats.org/drawingml/2006/main">
              <a:ext uri="{FF2B5EF4-FFF2-40B4-BE49-F238E27FC236}">
                <a16:creationId xmlns:a16="http://schemas.microsoft.com/office/drawing/2014/main" id="{C254C85B-1E28-4705-8743-45EBFED8C3AC}"/>
              </a:ext>
            </a:extLst>
          </p:cNvPr>
          <p:cNvSpPr>
            <a:spLocks xmlns:a="http://schemas.openxmlformats.org/drawingml/2006/main" noGrp="1"/>
          </p:cNvSpPr>
          <p:nvPr/>
        </p:nvSpPr>
        <p:spPr>
          <a:xfrm xmlns:a="http://schemas.openxmlformats.org/drawingml/2006/main">
            <a:off x="466344" y="28955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país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documento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p>
        </p:txBody>
      </p:sp>
      <p:sp>
        <p:nvSpPr>
          <p:cNvPr id="33" name="ANUARIO_CONTENIDO_0_1_9">
            <a:extLst xmlns:a="http://schemas.openxmlformats.org/drawingml/2006/main">
              <a:ext uri="{FF2B5EF4-FFF2-40B4-BE49-F238E27FC236}">
                <a16:creationId xmlns:a16="http://schemas.microsoft.com/office/drawing/2014/main" id="{8FF594CC-6A4B-4C25-8B69-C6524563C064}"/>
              </a:ext>
            </a:extLst>
          </p:cNvPr>
          <p:cNvSpPr>
            <a:spLocks xmlns:a="http://schemas.openxmlformats.org/drawingml/2006/main" noGrp="1"/>
          </p:cNvSpPr>
          <p:nvPr/>
        </p:nvSpPr>
        <p:spPr>
          <a:xfrm xmlns:a="http://schemas.openxmlformats.org/drawingml/2006/main">
            <a:off x="466344" y="29879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constantes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2018.</a:t>
            </a:r>
          </a:p>
        </p:txBody>
      </p:sp>
      <p:sp>
        <p:nvSpPr>
          <p:cNvPr id="34" name="ANUARIO_CONTENIDO_0_1_10">
            <a:extLst xmlns:a="http://schemas.openxmlformats.org/drawingml/2006/main">
              <a:ext uri="{FF2B5EF4-FFF2-40B4-BE49-F238E27FC236}">
                <a16:creationId xmlns:a16="http://schemas.microsoft.com/office/drawing/2014/main" id="{A59A4652-E4B1-4D0D-BAB6-51F65F82C8A9}"/>
              </a:ext>
            </a:extLst>
          </p:cNvPr>
          <p:cNvSpPr>
            <a:spLocks xmlns:a="http://schemas.openxmlformats.org/drawingml/2006/main" noGrp="1"/>
          </p:cNvSpPr>
          <p:nvPr/>
        </p:nvSpPr>
        <p:spPr>
          <a:xfrm xmlns:a="http://schemas.openxmlformats.org/drawingml/2006/main">
            <a:off x="466344" y="31058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controlado: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p>
        </p:txBody>
      </p:sp>
      <p:sp>
        <p:nvSpPr>
          <p:cNvPr id="35" name="ANUARIO_CONTENIDO_0_1_11">
            <a:extLst xmlns:a="http://schemas.openxmlformats.org/drawingml/2006/main">
              <a:ext uri="{FF2B5EF4-FFF2-40B4-BE49-F238E27FC236}">
                <a16:creationId xmlns:a16="http://schemas.microsoft.com/office/drawing/2014/main" id="{2D89F53F-9C3B-480A-BB97-241F1465E7DE}"/>
              </a:ext>
            </a:extLst>
          </p:cNvPr>
          <p:cNvSpPr>
            <a:spLocks xmlns:a="http://schemas.openxmlformats.org/drawingml/2006/main" noGrp="1"/>
          </p:cNvSpPr>
          <p:nvPr/>
        </p:nvSpPr>
        <p:spPr>
          <a:xfrm xmlns:a="http://schemas.openxmlformats.org/drawingml/2006/main">
            <a:off x="466344" y="31982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posterior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p>
        </p:txBody>
      </p:sp>
      <p:sp>
        <p:nvSpPr>
          <p:cNvPr id="36" name="ANUARIO_CONTENIDO_0_1_12">
            <a:extLst xmlns:a="http://schemas.openxmlformats.org/drawingml/2006/main">
              <a:ext uri="{FF2B5EF4-FFF2-40B4-BE49-F238E27FC236}">
                <a16:creationId xmlns:a16="http://schemas.microsoft.com/office/drawing/2014/main" id="{668CA4D9-5814-42B1-B154-16D18B042E80}"/>
              </a:ext>
            </a:extLst>
          </p:cNvPr>
          <p:cNvSpPr>
            <a:spLocks xmlns:a="http://schemas.openxmlformats.org/drawingml/2006/main" noGrp="1"/>
          </p:cNvSpPr>
          <p:nvPr/>
        </p:nvSpPr>
        <p:spPr>
          <a:xfrm xmlns:a="http://schemas.openxmlformats.org/drawingml/2006/main">
            <a:off x="466344" y="32907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recargas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adicionales.</a:t>
            </a:r>
          </a:p>
        </p:txBody>
      </p:sp>
      <p:sp>
        <p:nvSpPr>
          <p:cNvPr id="37" name="ANUARIO_CONTENIDO_0_1_13">
            <a:extLst xmlns:a="http://schemas.openxmlformats.org/drawingml/2006/main">
              <a:ext uri="{FF2B5EF4-FFF2-40B4-BE49-F238E27FC236}">
                <a16:creationId xmlns:a16="http://schemas.microsoft.com/office/drawing/2014/main" id="{6306A1BB-393E-4AEF-BABA-08BD43018F6B}"/>
              </a:ext>
            </a:extLst>
          </p:cNvPr>
          <p:cNvSpPr>
            <a:spLocks xmlns:a="http://schemas.openxmlformats.org/drawingml/2006/main" noGrp="1"/>
          </p:cNvSpPr>
          <p:nvPr/>
        </p:nvSpPr>
        <p:spPr>
          <a:xfrm xmlns:a="http://schemas.openxmlformats.org/drawingml/2006/main">
            <a:off x="466344" y="34085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libre: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38" name="ANUARIO_CONTENIDO_0_1_14">
            <a:extLst xmlns:a="http://schemas.openxmlformats.org/drawingml/2006/main">
              <a:ext uri="{FF2B5EF4-FFF2-40B4-BE49-F238E27FC236}">
                <a16:creationId xmlns:a16="http://schemas.microsoft.com/office/drawing/2014/main" id="{14734F85-BEC3-4148-B498-84180D70A323}"/>
              </a:ext>
            </a:extLst>
          </p:cNvPr>
          <p:cNvSpPr>
            <a:spLocks xmlns:a="http://schemas.openxmlformats.org/drawingml/2006/main" noGrp="1"/>
          </p:cNvSpPr>
          <p:nvPr/>
        </p:nvSpPr>
        <p:spPr>
          <a:xfrm xmlns:a="http://schemas.openxmlformats.org/drawingml/2006/main">
            <a:off x="466344" y="35010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inicialmente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realizar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recargas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adicionales</a:t>
            </a:r>
            <a:r>
              <a:rPr sz="650" b="0" i="0">
                <a:solidFill>
                  <a:srgbClr val="24383A"/>
                </a:solidFill>
                <a:latin typeface="DejaVu Sans"/>
                <a:ea typeface="DejaVu Sans"/>
                <a:cs typeface="DejaVu Sans"/>
              </a:rPr>
              <a:t> </a:t>
            </a:r>
          </a:p>
        </p:txBody>
      </p:sp>
      <p:sp>
        <p:nvSpPr>
          <p:cNvPr id="39" name="ANUARIO_CONTENIDO_0_1_15">
            <a:extLst xmlns:a="http://schemas.openxmlformats.org/drawingml/2006/main">
              <a:ext uri="{FF2B5EF4-FFF2-40B4-BE49-F238E27FC236}">
                <a16:creationId xmlns:a16="http://schemas.microsoft.com/office/drawing/2014/main" id="{AFF96B0F-EA3C-41D8-903E-C7912E5927FD}"/>
              </a:ext>
            </a:extLst>
          </p:cNvPr>
          <p:cNvSpPr>
            <a:spLocks xmlns:a="http://schemas.openxmlformats.org/drawingml/2006/main" noGrp="1"/>
          </p:cNvSpPr>
          <p:nvPr/>
        </p:nvSpPr>
        <p:spPr>
          <a:xfrm xmlns:a="http://schemas.openxmlformats.org/drawingml/2006/main">
            <a:off x="466344" y="35935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(prepago).</a:t>
            </a:r>
          </a:p>
        </p:txBody>
      </p:sp>
      <p:sp>
        <p:nvSpPr>
          <p:cNvPr id="40" name="ANUARIO_CONTENIDO_0_1_16">
            <a:extLst xmlns:a="http://schemas.openxmlformats.org/drawingml/2006/main">
              <a:ext uri="{FF2B5EF4-FFF2-40B4-BE49-F238E27FC236}">
                <a16:creationId xmlns:a16="http://schemas.microsoft.com/office/drawing/2014/main" id="{44FB9E5B-D7EE-4336-BA38-FF2A6EF9ABF6}"/>
              </a:ext>
            </a:extLst>
          </p:cNvPr>
          <p:cNvSpPr>
            <a:spLocks xmlns:a="http://schemas.openxmlformats.org/drawingml/2006/main" noGrp="1"/>
          </p:cNvSpPr>
          <p:nvPr/>
        </p:nvSpPr>
        <p:spPr>
          <a:xfrm xmlns:a="http://schemas.openxmlformats.org/drawingml/2006/main">
            <a:off x="466344" y="37113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41" name="ANUARIO_CONTENIDO_0_1_17">
            <a:extLst xmlns:a="http://schemas.openxmlformats.org/drawingml/2006/main">
              <a:ext uri="{FF2B5EF4-FFF2-40B4-BE49-F238E27FC236}">
                <a16:creationId xmlns:a16="http://schemas.microsoft.com/office/drawing/2014/main" id="{A5C2DFC4-0327-4089-A286-C68767312DAC}"/>
              </a:ext>
            </a:extLst>
          </p:cNvPr>
          <p:cNvSpPr>
            <a:spLocks xmlns:a="http://schemas.openxmlformats.org/drawingml/2006/main" noGrp="1"/>
          </p:cNvSpPr>
          <p:nvPr/>
        </p:nvSpPr>
        <p:spPr>
          <a:xfrm xmlns:a="http://schemas.openxmlformats.org/drawingml/2006/main">
            <a:off x="466344" y="38038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posterior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mismos.</a:t>
            </a:r>
            <a:r>
              <a:rPr sz="650" b="0" i="0">
                <a:solidFill>
                  <a:srgbClr val="24383A"/>
                </a:solidFill>
                <a:latin typeface="DejaVu Sans"/>
                <a:ea typeface="DejaVu Sans"/>
                <a:cs typeface="DejaVu Sans"/>
              </a:rPr>
              <a:t> </a:t>
            </a:r>
          </a:p>
        </p:txBody>
      </p:sp>
      <p:sp>
        <p:nvSpPr>
          <p:cNvPr id="42" name="ANUARIO_CONTENIDO_0_1_18">
            <a:extLst xmlns:a="http://schemas.openxmlformats.org/drawingml/2006/main">
              <a:ext uri="{FF2B5EF4-FFF2-40B4-BE49-F238E27FC236}">
                <a16:creationId xmlns:a16="http://schemas.microsoft.com/office/drawing/2014/main" id="{5543A42C-AA74-4C6E-B48F-0CD5DE00C24A}"/>
              </a:ext>
            </a:extLst>
          </p:cNvPr>
          <p:cNvSpPr>
            <a:spLocks xmlns:a="http://schemas.openxmlformats.org/drawingml/2006/main" noGrp="1"/>
          </p:cNvSpPr>
          <p:nvPr/>
        </p:nvSpPr>
        <p:spPr>
          <a:xfrm xmlns:a="http://schemas.openxmlformats.org/drawingml/2006/main">
            <a:off x="466344" y="39216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Prepago: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43" name="ANUARIO_CONTENIDO_0_1_19">
            <a:extLst xmlns:a="http://schemas.openxmlformats.org/drawingml/2006/main">
              <a:ext uri="{FF2B5EF4-FFF2-40B4-BE49-F238E27FC236}">
                <a16:creationId xmlns:a16="http://schemas.microsoft.com/office/drawing/2014/main" id="{1A1CE70D-EE9F-459A-B09E-134A2CC1BF0B}"/>
              </a:ext>
            </a:extLst>
          </p:cNvPr>
          <p:cNvSpPr>
            <a:spLocks xmlns:a="http://schemas.openxmlformats.org/drawingml/2006/main" noGrp="1"/>
          </p:cNvSpPr>
          <p:nvPr/>
        </p:nvSpPr>
        <p:spPr>
          <a:xfrm xmlns:a="http://schemas.openxmlformats.org/drawingml/2006/main">
            <a:off x="466344" y="40141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anticipada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mismos.</a:t>
            </a:r>
            <a:r>
              <a:rPr sz="650" b="0" i="0">
                <a:solidFill>
                  <a:srgbClr val="24383A"/>
                </a:solidFill>
                <a:latin typeface="DejaVu Sans"/>
                <a:ea typeface="DejaVu Sans"/>
                <a:cs typeface="DejaVu Sans"/>
              </a:rPr>
              <a:t> </a:t>
            </a:r>
          </a:p>
        </p:txBody>
      </p:sp>
      <p:sp>
        <p:nvSpPr>
          <p:cNvPr id="44" name="ANUARIO_ANEXO_P124_DESIGN_2026">
            <a:extLst xmlns:a="http://schemas.openxmlformats.org/drawingml/2006/main">
              <a:ext uri="{FF2B5EF4-FFF2-40B4-BE49-F238E27FC236}">
                <a16:creationId xmlns:a16="http://schemas.microsoft.com/office/drawing/2014/main" id="{177C0CC3-69FE-4FF5-8BD4-400F150508E0}"/>
              </a:ext>
            </a:extLst>
          </p:cNvPr>
          <p:cNvSpPr>
            <a:spLocks xmlns:a="http://schemas.openxmlformats.org/drawingml/2006/main" noGrp="1"/>
          </p:cNvSpPr>
          <p:nvPr/>
        </p:nvSpPr>
        <p:spPr>
          <a:xfrm xmlns:a="http://schemas.openxmlformats.org/drawingml/2006/main">
            <a:off x="4663440" y="566928"/>
            <a:ext cx="4178808" cy="1373975"/>
          </a:xfrm>
          <a:prstGeom xmlns:a="http://schemas.openxmlformats.org/drawingml/2006/main" prst="roundRect">
            <a:avLst>
              <a:gd name="adj" fmla="val 3993"/>
            </a:avLst>
          </a:prstGeom>
          <a:solidFill xmlns:a="http://schemas.openxmlformats.org/drawingml/2006/main">
            <a:srgbClr val="F6FAF9"/>
          </a:solidFill>
          <a:ln xmlns:a="http://schemas.openxmlformats.org/drawingml/2006/main" w="9525">
            <a:solidFill>
              <a:srgbClr val="C9DAD6"/>
            </a:solidFill>
          </a:ln>
        </p:spPr>
      </p:sp>
      <p:sp>
        <p:nvSpPr>
          <p:cNvPr id="45" name="ANUARIO_ACENTO">
            <a:extLst xmlns:a="http://schemas.openxmlformats.org/drawingml/2006/main">
              <a:ext uri="{FF2B5EF4-FFF2-40B4-BE49-F238E27FC236}">
                <a16:creationId xmlns:a16="http://schemas.microsoft.com/office/drawing/2014/main" id="{D362C69E-84B0-445D-AE50-BF9E4C550234}"/>
              </a:ext>
            </a:extLst>
          </p:cNvPr>
          <p:cNvSpPr>
            <a:spLocks xmlns:a="http://schemas.openxmlformats.org/drawingml/2006/main" noGrp="1"/>
          </p:cNvSpPr>
          <p:nvPr/>
        </p:nvSpPr>
        <p:spPr>
          <a:xfrm xmlns:a="http://schemas.openxmlformats.org/drawingml/2006/main">
            <a:off x="4663440" y="640080"/>
            <a:ext cx="64008" cy="1227671"/>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6" name="ANUARIO_LETRA_FONDO">
            <a:extLst xmlns:a="http://schemas.openxmlformats.org/drawingml/2006/main">
              <a:ext uri="{FF2B5EF4-FFF2-40B4-BE49-F238E27FC236}">
                <a16:creationId xmlns:a16="http://schemas.microsoft.com/office/drawing/2014/main" id="{F2EBE179-CA9F-4860-B84F-975F56DBAAEB}"/>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47" name="ANUARIO_LETRA">
            <a:extLst xmlns:a="http://schemas.openxmlformats.org/drawingml/2006/main">
              <a:ext uri="{FF2B5EF4-FFF2-40B4-BE49-F238E27FC236}">
                <a16:creationId xmlns:a16="http://schemas.microsoft.com/office/drawing/2014/main" id="{0892AA08-BD1A-4B1B-B224-571DE70784F4}"/>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R</a:t>
            </a:r>
          </a:p>
        </p:txBody>
      </p:sp>
      <p:sp>
        <p:nvSpPr>
          <p:cNvPr id="48" name="ANUARIO_CONTENIDO_1_0_0">
            <a:extLst xmlns:a="http://schemas.openxmlformats.org/drawingml/2006/main">
              <a:ext uri="{FF2B5EF4-FFF2-40B4-BE49-F238E27FC236}">
                <a16:creationId xmlns:a16="http://schemas.microsoft.com/office/drawing/2014/main" id="{98038B01-66DC-4DD4-B4A3-A4FFFBE7D616}"/>
              </a:ext>
            </a:extLst>
          </p:cNvPr>
          <p:cNvSpPr>
            <a:spLocks xmlns:a="http://schemas.openxmlformats.org/drawingml/2006/main" noGrp="1"/>
          </p:cNvSpPr>
          <p:nvPr/>
        </p:nvSpPr>
        <p:spPr>
          <a:xfrm xmlns:a="http://schemas.openxmlformats.org/drawingml/2006/main">
            <a:off x="4828032"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Rating</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(rat%):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Porcentaje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estuvieron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viendo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p>
        </p:txBody>
      </p:sp>
      <p:sp>
        <p:nvSpPr>
          <p:cNvPr id="49" name="ANUARIO_CONTENIDO_1_0_1">
            <a:extLst xmlns:a="http://schemas.openxmlformats.org/drawingml/2006/main">
              <a:ext uri="{FF2B5EF4-FFF2-40B4-BE49-F238E27FC236}">
                <a16:creationId xmlns:a16="http://schemas.microsoft.com/office/drawing/2014/main" id="{81562BEF-511E-4641-811C-032B96DACE5A}"/>
              </a:ext>
            </a:extLst>
          </p:cNvPr>
          <p:cNvSpPr>
            <a:spLocks xmlns:a="http://schemas.openxmlformats.org/drawingml/2006/main" noGrp="1"/>
          </p:cNvSpPr>
          <p:nvPr/>
        </p:nvSpPr>
        <p:spPr>
          <a:xfrm xmlns:a="http://schemas.openxmlformats.org/drawingml/2006/main">
            <a:off x="4828032"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tiempo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p>
        </p:txBody>
      </p:sp>
      <p:sp>
        <p:nvSpPr>
          <p:cNvPr id="50" name="ANUARIO_CONTENIDO_1_0_2">
            <a:extLst xmlns:a="http://schemas.openxmlformats.org/drawingml/2006/main">
              <a:ext uri="{FF2B5EF4-FFF2-40B4-BE49-F238E27FC236}">
                <a16:creationId xmlns:a16="http://schemas.microsoft.com/office/drawing/2014/main" id="{C5994D18-F543-4A8E-9553-80C7E0AAAB69}"/>
              </a:ext>
            </a:extLst>
          </p:cNvPr>
          <p:cNvSpPr>
            <a:spLocks xmlns:a="http://schemas.openxmlformats.org/drawingml/2006/main" noGrp="1"/>
          </p:cNvSpPr>
          <p:nvPr/>
        </p:nvSpPr>
        <p:spPr>
          <a:xfrm xmlns:a="http://schemas.openxmlformats.org/drawingml/2006/main">
            <a:off x="4828032" y="10881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Reality</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Show</a:t>
            </a:r>
            <a:r>
              <a:rPr sz="650" b="1" i="0">
                <a:solidFill>
                  <a:srgbClr val="2F7F6F"/>
                </a:solidFill>
                <a:latin typeface="DejaVu Sans"/>
                <a:ea typeface="DejaVu Sans"/>
                <a:cs typeface="DejaVu Sans"/>
              </a:rPr>
              <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También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conocidos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donde</a:t>
            </a:r>
            <a:r>
              <a:rPr sz="650" b="0" i="0">
                <a:solidFill>
                  <a:srgbClr val="24383A"/>
                </a:solidFill>
                <a:latin typeface="DejaVu Sans"/>
                <a:ea typeface="DejaVu Sans"/>
                <a:cs typeface="DejaVu Sans"/>
              </a:rPr>
              <a:t> </a:t>
            </a:r>
          </a:p>
        </p:txBody>
      </p:sp>
      <p:sp>
        <p:nvSpPr>
          <p:cNvPr id="51" name="ANUARIO_CONTENIDO_1_0_3">
            <a:extLst xmlns:a="http://schemas.openxmlformats.org/drawingml/2006/main">
              <a:ext uri="{FF2B5EF4-FFF2-40B4-BE49-F238E27FC236}">
                <a16:creationId xmlns:a16="http://schemas.microsoft.com/office/drawing/2014/main" id="{7527D588-8A65-4DF3-B367-75B8AF03D7BF}"/>
              </a:ext>
            </a:extLst>
          </p:cNvPr>
          <p:cNvSpPr>
            <a:spLocks xmlns:a="http://schemas.openxmlformats.org/drawingml/2006/main" noGrp="1"/>
          </p:cNvSpPr>
          <p:nvPr/>
        </p:nvSpPr>
        <p:spPr>
          <a:xfrm xmlns:a="http://schemas.openxmlformats.org/drawingml/2006/main">
            <a:off x="4828032"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grupo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famosas-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grabadas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durante</a:t>
            </a:r>
            <a:r>
              <a:rPr sz="650" b="0" i="0">
                <a:solidFill>
                  <a:srgbClr val="24383A"/>
                </a:solidFill>
                <a:latin typeface="DejaVu Sans"/>
                <a:ea typeface="DejaVu Sans"/>
                <a:cs typeface="DejaVu Sans"/>
              </a:rPr>
              <a:t> </a:t>
            </a:r>
          </a:p>
        </p:txBody>
      </p:sp>
      <p:sp>
        <p:nvSpPr>
          <p:cNvPr id="52" name="ANUARIO_CONTENIDO_1_0_4">
            <a:extLst xmlns:a="http://schemas.openxmlformats.org/drawingml/2006/main">
              <a:ext uri="{FF2B5EF4-FFF2-40B4-BE49-F238E27FC236}">
                <a16:creationId xmlns:a16="http://schemas.microsoft.com/office/drawing/2014/main" id="{3AD56A16-64B9-4553-B418-AE68944949D8}"/>
              </a:ext>
            </a:extLst>
          </p:cNvPr>
          <p:cNvSpPr>
            <a:spLocks xmlns:a="http://schemas.openxmlformats.org/drawingml/2006/main" noGrp="1"/>
          </p:cNvSpPr>
          <p:nvPr/>
        </p:nvSpPr>
        <p:spPr>
          <a:xfrm xmlns:a="http://schemas.openxmlformats.org/drawingml/2006/main">
            <a:off x="4828032"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encuentran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sitio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común,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importar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p>
        </p:txBody>
      </p:sp>
      <p:sp>
        <p:nvSpPr>
          <p:cNvPr id="53" name="ANUARIO_CONTENIDO_1_0_5">
            <a:extLst xmlns:a="http://schemas.openxmlformats.org/drawingml/2006/main">
              <a:ext uri="{FF2B5EF4-FFF2-40B4-BE49-F238E27FC236}">
                <a16:creationId xmlns:a16="http://schemas.microsoft.com/office/drawing/2014/main" id="{8879E920-B43F-4DA7-B8C8-103860F4710C}"/>
              </a:ext>
            </a:extLst>
          </p:cNvPr>
          <p:cNvSpPr>
            <a:spLocks xmlns:a="http://schemas.openxmlformats.org/drawingml/2006/main" noGrp="1"/>
          </p:cNvSpPr>
          <p:nvPr/>
        </p:nvSpPr>
        <p:spPr>
          <a:xfrm xmlns:a="http://schemas.openxmlformats.org/drawingml/2006/main">
            <a:off x="4828032"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compitiendo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premio.</a:t>
            </a:r>
          </a:p>
        </p:txBody>
      </p:sp>
      <p:sp>
        <p:nvSpPr>
          <p:cNvPr id="54" name="ANUARIO_CONTENIDO_1_0_6">
            <a:extLst xmlns:a="http://schemas.openxmlformats.org/drawingml/2006/main">
              <a:ext uri="{FF2B5EF4-FFF2-40B4-BE49-F238E27FC236}">
                <a16:creationId xmlns:a16="http://schemas.microsoft.com/office/drawing/2014/main" id="{59FFB0F6-F2DC-4246-ADCD-E9D29A771CB4}"/>
              </a:ext>
            </a:extLst>
          </p:cNvPr>
          <p:cNvSpPr>
            <a:spLocks xmlns:a="http://schemas.openxmlformats.org/drawingml/2006/main" noGrp="1"/>
          </p:cNvSpPr>
          <p:nvPr/>
        </p:nvSpPr>
        <p:spPr>
          <a:xfrm xmlns:a="http://schemas.openxmlformats.org/drawingml/2006/main">
            <a:off x="4828032" y="14833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Religión: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estrictamente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religioso,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retiros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55" name="ANUARIO_CONTENIDO_1_0_7">
            <a:extLst xmlns:a="http://schemas.openxmlformats.org/drawingml/2006/main">
              <a:ext uri="{FF2B5EF4-FFF2-40B4-BE49-F238E27FC236}">
                <a16:creationId xmlns:a16="http://schemas.microsoft.com/office/drawing/2014/main" id="{DF876D5B-1DFF-46E2-B9E9-CA29CD6427DD}"/>
              </a:ext>
            </a:extLst>
          </p:cNvPr>
          <p:cNvSpPr>
            <a:spLocks xmlns:a="http://schemas.openxmlformats.org/drawingml/2006/main" noGrp="1"/>
          </p:cNvSpPr>
          <p:nvPr/>
        </p:nvSpPr>
        <p:spPr>
          <a:xfrm xmlns:a="http://schemas.openxmlformats.org/drawingml/2006/main">
            <a:off x="4828032" y="15758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coberturas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visitas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pastorales.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están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reportaje</a:t>
            </a:r>
            <a:r>
              <a:rPr sz="650" b="0" i="0">
                <a:solidFill>
                  <a:srgbClr val="24383A"/>
                </a:solidFill>
                <a:latin typeface="DejaVu Sans"/>
                <a:ea typeface="DejaVu Sans"/>
                <a:cs typeface="DejaVu Sans"/>
              </a:rPr>
              <a:t> </a:t>
            </a:r>
          </a:p>
        </p:txBody>
      </p:sp>
      <p:sp>
        <p:nvSpPr>
          <p:cNvPr id="56" name="ANUARIO_CONTENIDO_1_0_8">
            <a:extLst xmlns:a="http://schemas.openxmlformats.org/drawingml/2006/main">
              <a:ext uri="{FF2B5EF4-FFF2-40B4-BE49-F238E27FC236}">
                <a16:creationId xmlns:a16="http://schemas.microsoft.com/office/drawing/2014/main" id="{5D97706D-91C9-4B05-8FCD-660E778A5D6D}"/>
              </a:ext>
            </a:extLst>
          </p:cNvPr>
          <p:cNvSpPr>
            <a:spLocks xmlns:a="http://schemas.openxmlformats.org/drawingml/2006/main" noGrp="1"/>
          </p:cNvSpPr>
          <p:nvPr/>
        </p:nvSpPr>
        <p:spPr>
          <a:xfrm xmlns:a="http://schemas.openxmlformats.org/drawingml/2006/main">
            <a:off x="4828032" y="16682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capítulo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específico,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aborden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religioso.</a:t>
            </a:r>
          </a:p>
        </p:txBody>
      </p:sp>
      <p:sp>
        <p:nvSpPr>
          <p:cNvPr id="57" name="ANUARIO_ANEXO_P124_DESIGN_2026">
            <a:extLst xmlns:a="http://schemas.openxmlformats.org/drawingml/2006/main">
              <a:ext uri="{FF2B5EF4-FFF2-40B4-BE49-F238E27FC236}">
                <a16:creationId xmlns:a16="http://schemas.microsoft.com/office/drawing/2014/main" id="{BD4FFAEA-81AD-4C9B-8570-440A40A0AD43}"/>
              </a:ext>
            </a:extLst>
          </p:cNvPr>
          <p:cNvSpPr>
            <a:spLocks xmlns:a="http://schemas.openxmlformats.org/drawingml/2006/main" noGrp="1"/>
          </p:cNvSpPr>
          <p:nvPr/>
        </p:nvSpPr>
        <p:spPr>
          <a:xfrm xmlns:a="http://schemas.openxmlformats.org/drawingml/2006/main">
            <a:off x="4663440" y="2032343"/>
            <a:ext cx="4178808" cy="2429929"/>
          </a:xfrm>
          <a:prstGeom xmlns:a="http://schemas.openxmlformats.org/drawingml/2006/main" prst="roundRect">
            <a:avLst>
              <a:gd name="adj" fmla="val 2258"/>
            </a:avLst>
          </a:prstGeom>
          <a:solidFill xmlns:a="http://schemas.openxmlformats.org/drawingml/2006/main">
            <a:srgbClr val="F6FAF9"/>
          </a:solidFill>
          <a:ln xmlns:a="http://schemas.openxmlformats.org/drawingml/2006/main" w="9525">
            <a:solidFill>
              <a:srgbClr val="C9DAD6"/>
            </a:solidFill>
          </a:ln>
        </p:spPr>
      </p:sp>
      <p:sp>
        <p:nvSpPr>
          <p:cNvPr id="58" name="ANUARIO_ACENTO">
            <a:extLst xmlns:a="http://schemas.openxmlformats.org/drawingml/2006/main">
              <a:ext uri="{FF2B5EF4-FFF2-40B4-BE49-F238E27FC236}">
                <a16:creationId xmlns:a16="http://schemas.microsoft.com/office/drawing/2014/main" id="{D701F3B3-AADA-4D46-B8B5-886EA406802A}"/>
              </a:ext>
            </a:extLst>
          </p:cNvPr>
          <p:cNvSpPr>
            <a:spLocks xmlns:a="http://schemas.openxmlformats.org/drawingml/2006/main" noGrp="1"/>
          </p:cNvSpPr>
          <p:nvPr/>
        </p:nvSpPr>
        <p:spPr>
          <a:xfrm xmlns:a="http://schemas.openxmlformats.org/drawingml/2006/main">
            <a:off x="4663440" y="2105495"/>
            <a:ext cx="64008" cy="2283625"/>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59" name="ANUARIO_LETRA_FONDO">
            <a:extLst xmlns:a="http://schemas.openxmlformats.org/drawingml/2006/main">
              <a:ext uri="{FF2B5EF4-FFF2-40B4-BE49-F238E27FC236}">
                <a16:creationId xmlns:a16="http://schemas.microsoft.com/office/drawing/2014/main" id="{BA43EEAC-A004-4224-A53D-AE5A88097F99}"/>
              </a:ext>
            </a:extLst>
          </p:cNvPr>
          <p:cNvSpPr>
            <a:spLocks xmlns:a="http://schemas.openxmlformats.org/drawingml/2006/main" noGrp="1"/>
          </p:cNvSpPr>
          <p:nvPr/>
        </p:nvSpPr>
        <p:spPr>
          <a:xfrm xmlns:a="http://schemas.openxmlformats.org/drawingml/2006/main">
            <a:off x="4828032" y="2105495"/>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60" name="ANUARIO_LETRA">
            <a:extLst xmlns:a="http://schemas.openxmlformats.org/drawingml/2006/main">
              <a:ext uri="{FF2B5EF4-FFF2-40B4-BE49-F238E27FC236}">
                <a16:creationId xmlns:a16="http://schemas.microsoft.com/office/drawing/2014/main" id="{328A74FE-3596-4BC4-837A-6965D35FF68B}"/>
              </a:ext>
            </a:extLst>
          </p:cNvPr>
          <p:cNvSpPr>
            <a:spLocks xmlns:a="http://schemas.openxmlformats.org/drawingml/2006/main" noGrp="1"/>
          </p:cNvSpPr>
          <p:nvPr/>
        </p:nvSpPr>
        <p:spPr>
          <a:xfrm xmlns:a="http://schemas.openxmlformats.org/drawingml/2006/main">
            <a:off x="4828032" y="2123783"/>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S</a:t>
            </a:r>
          </a:p>
        </p:txBody>
      </p:sp>
      <p:sp>
        <p:nvSpPr>
          <p:cNvPr id="61" name="ANUARIO_CONTENIDO_1_1_0">
            <a:extLst xmlns:a="http://schemas.openxmlformats.org/drawingml/2006/main">
              <a:ext uri="{FF2B5EF4-FFF2-40B4-BE49-F238E27FC236}">
                <a16:creationId xmlns:a16="http://schemas.microsoft.com/office/drawing/2014/main" id="{6CA5197E-DE38-4575-8933-78392421EC32}"/>
              </a:ext>
            </a:extLst>
          </p:cNvPr>
          <p:cNvSpPr>
            <a:spLocks xmlns:a="http://schemas.openxmlformats.org/drawingml/2006/main" noGrp="1"/>
          </p:cNvSpPr>
          <p:nvPr/>
        </p:nvSpPr>
        <p:spPr>
          <a:xfrm xmlns:a="http://schemas.openxmlformats.org/drawingml/2006/main">
            <a:off x="4828032" y="234323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Series: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Formato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emisiones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sucesivas,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individualmente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62" name="ANUARIO_CONTENIDO_1_1_1">
            <a:extLst xmlns:a="http://schemas.openxmlformats.org/drawingml/2006/main">
              <a:ext uri="{FF2B5EF4-FFF2-40B4-BE49-F238E27FC236}">
                <a16:creationId xmlns:a16="http://schemas.microsoft.com/office/drawing/2014/main" id="{69AD4FD0-A366-4021-810C-3C6898E6AE9A}"/>
              </a:ext>
            </a:extLst>
          </p:cNvPr>
          <p:cNvSpPr>
            <a:spLocks xmlns:a="http://schemas.openxmlformats.org/drawingml/2006/main" noGrp="1"/>
          </p:cNvSpPr>
          <p:nvPr/>
        </p:nvSpPr>
        <p:spPr>
          <a:xfrm xmlns:a="http://schemas.openxmlformats.org/drawingml/2006/main">
            <a:off x="4828032" y="243569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argumental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sí</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aunque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continuidad,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menos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temática,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p>
        </p:txBody>
      </p:sp>
      <p:sp>
        <p:nvSpPr>
          <p:cNvPr id="63" name="ANUARIO_CONTENIDO_1_1_2">
            <a:extLst xmlns:a="http://schemas.openxmlformats.org/drawingml/2006/main">
              <a:ext uri="{FF2B5EF4-FFF2-40B4-BE49-F238E27FC236}">
                <a16:creationId xmlns:a16="http://schemas.microsoft.com/office/drawing/2014/main" id="{7FBC00E3-8614-4961-A958-A1D784E559CA}"/>
              </a:ext>
            </a:extLst>
          </p:cNvPr>
          <p:cNvSpPr>
            <a:spLocks xmlns:a="http://schemas.openxmlformats.org/drawingml/2006/main" noGrp="1"/>
          </p:cNvSpPr>
          <p:nvPr/>
        </p:nvSpPr>
        <p:spPr>
          <a:xfrm xmlns:a="http://schemas.openxmlformats.org/drawingml/2006/main">
            <a:off x="4828032" y="252815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episodios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integran.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subgéneros,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ficción,</a:t>
            </a:r>
            <a:r>
              <a:rPr sz="650" b="0" i="0">
                <a:solidFill>
                  <a:srgbClr val="24383A"/>
                </a:solidFill>
                <a:latin typeface="DejaVu Sans"/>
                <a:ea typeface="DejaVu Sans"/>
                <a:cs typeface="DejaVu Sans"/>
              </a:rPr>
              <a:t> </a:t>
            </a:r>
          </a:p>
        </p:txBody>
      </p:sp>
      <p:sp>
        <p:nvSpPr>
          <p:cNvPr id="64" name="ANUARIO_CONTENIDO_1_1_3">
            <a:extLst xmlns:a="http://schemas.openxmlformats.org/drawingml/2006/main">
              <a:ext uri="{FF2B5EF4-FFF2-40B4-BE49-F238E27FC236}">
                <a16:creationId xmlns:a16="http://schemas.microsoft.com/office/drawing/2014/main" id="{96FD1059-6954-4771-B474-EB1BAB2A95BF}"/>
              </a:ext>
            </a:extLst>
          </p:cNvPr>
          <p:cNvSpPr>
            <a:spLocks xmlns:a="http://schemas.openxmlformats.org/drawingml/2006/main" noGrp="1"/>
          </p:cNvSpPr>
          <p:nvPr/>
        </p:nvSpPr>
        <p:spPr>
          <a:xfrm xmlns:a="http://schemas.openxmlformats.org/drawingml/2006/main">
            <a:off x="4828032" y="262060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suspenso,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comedia,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etcétera.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Bajo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encontrar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tanto</a:t>
            </a:r>
            <a:r>
              <a:rPr sz="650" b="0" i="0">
                <a:solidFill>
                  <a:srgbClr val="24383A"/>
                </a:solidFill>
                <a:latin typeface="DejaVu Sans"/>
                <a:ea typeface="DejaVu Sans"/>
                <a:cs typeface="DejaVu Sans"/>
              </a:rPr>
              <a:t> </a:t>
            </a:r>
          </a:p>
        </p:txBody>
      </p:sp>
      <p:sp>
        <p:nvSpPr>
          <p:cNvPr id="65" name="ANUARIO_CONTENIDO_1_1_4">
            <a:extLst xmlns:a="http://schemas.openxmlformats.org/drawingml/2006/main">
              <a:ext uri="{FF2B5EF4-FFF2-40B4-BE49-F238E27FC236}">
                <a16:creationId xmlns:a16="http://schemas.microsoft.com/office/drawing/2014/main" id="{C2406386-076D-418D-A2D2-E9BA02F7A43D}"/>
              </a:ext>
            </a:extLst>
          </p:cNvPr>
          <p:cNvSpPr>
            <a:spLocks xmlns:a="http://schemas.openxmlformats.org/drawingml/2006/main" noGrp="1"/>
          </p:cNvSpPr>
          <p:nvPr/>
        </p:nvSpPr>
        <p:spPr>
          <a:xfrm xmlns:a="http://schemas.openxmlformats.org/drawingml/2006/main">
            <a:off x="4828032" y="271306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extranjeras.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miniseries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también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agrupan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p>
        </p:txBody>
      </p:sp>
      <p:sp>
        <p:nvSpPr>
          <p:cNvPr id="66" name="ANUARIO_CONTENIDO_1_1_5">
            <a:extLst xmlns:a="http://schemas.openxmlformats.org/drawingml/2006/main">
              <a:ext uri="{FF2B5EF4-FFF2-40B4-BE49-F238E27FC236}">
                <a16:creationId xmlns:a16="http://schemas.microsoft.com/office/drawing/2014/main" id="{46F8C4A1-9EA2-4751-9F7C-8B3A605C8123}"/>
              </a:ext>
            </a:extLst>
          </p:cNvPr>
          <p:cNvSpPr>
            <a:spLocks xmlns:a="http://schemas.openxmlformats.org/drawingml/2006/main" noGrp="1"/>
          </p:cNvSpPr>
          <p:nvPr/>
        </p:nvSpPr>
        <p:spPr>
          <a:xfrm xmlns:a="http://schemas.openxmlformats.org/drawingml/2006/main">
            <a:off x="4828032" y="280551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formato.</a:t>
            </a:r>
          </a:p>
        </p:txBody>
      </p:sp>
      <p:sp>
        <p:nvSpPr>
          <p:cNvPr id="67" name="ANUARIO_CONTENIDO_1_1_6">
            <a:extLst xmlns:a="http://schemas.openxmlformats.org/drawingml/2006/main">
              <a:ext uri="{FF2B5EF4-FFF2-40B4-BE49-F238E27FC236}">
                <a16:creationId xmlns:a16="http://schemas.microsoft.com/office/drawing/2014/main" id="{990FEF35-CC4E-4E13-9DDD-E630E77BBEE5}"/>
              </a:ext>
            </a:extLst>
          </p:cNvPr>
          <p:cNvSpPr>
            <a:spLocks xmlns:a="http://schemas.openxmlformats.org/drawingml/2006/main" noGrp="1"/>
          </p:cNvSpPr>
          <p:nvPr/>
        </p:nvSpPr>
        <p:spPr>
          <a:xfrm xmlns:a="http://schemas.openxmlformats.org/drawingml/2006/main">
            <a:off x="4828032" y="292337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televisión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restringida: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a:t>
            </a:r>
            <a:r>
              <a:rPr sz="650" b="0" i="0">
                <a:solidFill>
                  <a:srgbClr val="24383A"/>
                </a:solidFill>
                <a:latin typeface="DejaVu Sans"/>
                <a:ea typeface="DejaVu Sans"/>
                <a:cs typeface="DejaVu Sans"/>
              </a:rPr>
              <a:t> </a:t>
            </a:r>
          </a:p>
        </p:txBody>
      </p:sp>
      <p:sp>
        <p:nvSpPr>
          <p:cNvPr id="68" name="ANUARIO_CONTENIDO_1_1_7">
            <a:extLst xmlns:a="http://schemas.openxmlformats.org/drawingml/2006/main">
              <a:ext uri="{FF2B5EF4-FFF2-40B4-BE49-F238E27FC236}">
                <a16:creationId xmlns:a16="http://schemas.microsoft.com/office/drawing/2014/main" id="{CEBF3E02-4D07-45B9-9A87-1F3913C5B297}"/>
              </a:ext>
            </a:extLst>
          </p:cNvPr>
          <p:cNvSpPr>
            <a:spLocks xmlns:a="http://schemas.openxmlformats.org/drawingml/2006/main" noGrp="1"/>
          </p:cNvSpPr>
          <p:nvPr/>
        </p:nvSpPr>
        <p:spPr>
          <a:xfrm xmlns:a="http://schemas.openxmlformats.org/drawingml/2006/main">
            <a:off x="4828032" y="301583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video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asociados,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redes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públicas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69" name="ANUARIO_CONTENIDO_1_1_8">
            <a:extLst xmlns:a="http://schemas.openxmlformats.org/drawingml/2006/main">
              <a:ext uri="{FF2B5EF4-FFF2-40B4-BE49-F238E27FC236}">
                <a16:creationId xmlns:a16="http://schemas.microsoft.com/office/drawing/2014/main" id="{8CC4186C-2C71-4673-9A36-21816FF73693}"/>
              </a:ext>
            </a:extLst>
          </p:cNvPr>
          <p:cNvSpPr>
            <a:spLocks xmlns:a="http://schemas.openxmlformats.org/drawingml/2006/main" noGrp="1"/>
          </p:cNvSpPr>
          <p:nvPr/>
        </p:nvSpPr>
        <p:spPr>
          <a:xfrm xmlns:a="http://schemas.openxmlformats.org/drawingml/2006/main">
            <a:off x="4828032" y="310828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periódico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cantidad</a:t>
            </a:r>
            <a:r>
              <a:rPr sz="650" b="0" i="0">
                <a:solidFill>
                  <a:srgbClr val="24383A"/>
                </a:solidFill>
                <a:latin typeface="DejaVu Sans"/>
                <a:ea typeface="DejaVu Sans"/>
                <a:cs typeface="DejaVu Sans"/>
              </a:rPr>
              <a:t> </a:t>
            </a:r>
          </a:p>
        </p:txBody>
      </p:sp>
      <p:sp>
        <p:nvSpPr>
          <p:cNvPr id="70" name="ANUARIO_CONTENIDO_1_1_9">
            <a:extLst xmlns:a="http://schemas.openxmlformats.org/drawingml/2006/main">
              <a:ext uri="{FF2B5EF4-FFF2-40B4-BE49-F238E27FC236}">
                <a16:creationId xmlns:a16="http://schemas.microsoft.com/office/drawing/2014/main" id="{E22406CD-56A2-4BB6-A8CC-3269E5CFE645}"/>
              </a:ext>
            </a:extLst>
          </p:cNvPr>
          <p:cNvSpPr>
            <a:spLocks xmlns:a="http://schemas.openxmlformats.org/drawingml/2006/main" noGrp="1"/>
          </p:cNvSpPr>
          <p:nvPr/>
        </p:nvSpPr>
        <p:spPr>
          <a:xfrm xmlns:a="http://schemas.openxmlformats.org/drawingml/2006/main">
            <a:off x="4828032" y="320074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preestablecida.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accesos.</a:t>
            </a:r>
          </a:p>
        </p:txBody>
      </p:sp>
      <p:sp>
        <p:nvSpPr>
          <p:cNvPr id="71" name="ANUARIO_CONTENIDO_1_1_10">
            <a:extLst xmlns:a="http://schemas.openxmlformats.org/drawingml/2006/main">
              <a:ext uri="{FF2B5EF4-FFF2-40B4-BE49-F238E27FC236}">
                <a16:creationId xmlns:a16="http://schemas.microsoft.com/office/drawing/2014/main" id="{281C03F5-1222-4972-965C-22B10D24DC82}"/>
              </a:ext>
            </a:extLst>
          </p:cNvPr>
          <p:cNvSpPr>
            <a:spLocks xmlns:a="http://schemas.openxmlformats.org/drawingml/2006/main" noGrp="1"/>
          </p:cNvSpPr>
          <p:nvPr/>
        </p:nvSpPr>
        <p:spPr>
          <a:xfrm xmlns:a="http://schemas.openxmlformats.org/drawingml/2006/main">
            <a:off x="4828032" y="331859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fijo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acceso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Internet: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provee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p>
        </p:txBody>
      </p:sp>
      <p:sp>
        <p:nvSpPr>
          <p:cNvPr id="72" name="ANUARIO_CONTENIDO_1_1_11">
            <a:extLst xmlns:a="http://schemas.openxmlformats.org/drawingml/2006/main">
              <a:ext uri="{FF2B5EF4-FFF2-40B4-BE49-F238E27FC236}">
                <a16:creationId xmlns:a16="http://schemas.microsoft.com/office/drawing/2014/main" id="{E0FBB3B9-6865-4878-A1DA-0A2FA9B7663B}"/>
              </a:ext>
            </a:extLst>
          </p:cNvPr>
          <p:cNvSpPr>
            <a:spLocks xmlns:a="http://schemas.openxmlformats.org/drawingml/2006/main" noGrp="1"/>
          </p:cNvSpPr>
          <p:nvPr/>
        </p:nvSpPr>
        <p:spPr>
          <a:xfrm xmlns:a="http://schemas.openxmlformats.org/drawingml/2006/main">
            <a:off x="4828032" y="341105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transferencia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terminales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73" name="ANUARIO_CONTENIDO_1_1_12">
            <a:extLst xmlns:a="http://schemas.openxmlformats.org/drawingml/2006/main">
              <a:ext uri="{FF2B5EF4-FFF2-40B4-BE49-F238E27FC236}">
                <a16:creationId xmlns:a16="http://schemas.microsoft.com/office/drawing/2014/main" id="{1E168B36-6B22-414D-943F-356E91F124C7}"/>
              </a:ext>
            </a:extLst>
          </p:cNvPr>
          <p:cNvSpPr>
            <a:spLocks xmlns:a="http://schemas.openxmlformats.org/drawingml/2006/main" noGrp="1"/>
          </p:cNvSpPr>
          <p:nvPr/>
        </p:nvSpPr>
        <p:spPr>
          <a:xfrm xmlns:a="http://schemas.openxmlformats.org/drawingml/2006/main">
            <a:off x="4828032" y="350351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ubicación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geográfica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74" name="ANUARIO_CONTENIDO_1_1_13">
            <a:extLst xmlns:a="http://schemas.openxmlformats.org/drawingml/2006/main">
              <a:ext uri="{FF2B5EF4-FFF2-40B4-BE49-F238E27FC236}">
                <a16:creationId xmlns:a16="http://schemas.microsoft.com/office/drawing/2014/main" id="{458F1169-111B-45C9-890D-839E8FBDC128}"/>
              </a:ext>
            </a:extLst>
          </p:cNvPr>
          <p:cNvSpPr>
            <a:spLocks xmlns:a="http://schemas.openxmlformats.org/drawingml/2006/main" noGrp="1"/>
          </p:cNvSpPr>
          <p:nvPr/>
        </p:nvSpPr>
        <p:spPr>
          <a:xfrm xmlns:a="http://schemas.openxmlformats.org/drawingml/2006/main">
            <a:off x="4828032" y="359596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accesos.</a:t>
            </a:r>
          </a:p>
        </p:txBody>
      </p:sp>
      <p:sp>
        <p:nvSpPr>
          <p:cNvPr id="75" name="ANUARIO_CONTENIDO_1_1_14">
            <a:extLst xmlns:a="http://schemas.openxmlformats.org/drawingml/2006/main">
              <a:ext uri="{FF2B5EF4-FFF2-40B4-BE49-F238E27FC236}">
                <a16:creationId xmlns:a16="http://schemas.microsoft.com/office/drawing/2014/main" id="{0CE38284-9FEC-43FD-A990-5D77C7CA85E2}"/>
              </a:ext>
            </a:extLst>
          </p:cNvPr>
          <p:cNvSpPr>
            <a:spLocks xmlns:a="http://schemas.openxmlformats.org/drawingml/2006/main" noGrp="1"/>
          </p:cNvSpPr>
          <p:nvPr/>
        </p:nvSpPr>
        <p:spPr>
          <a:xfrm xmlns:a="http://schemas.openxmlformats.org/drawingml/2006/main">
            <a:off x="4828032" y="371382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fijo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telefonía: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provee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76" name="ANUARIO_CONTENIDO_1_1_15">
            <a:extLst xmlns:a="http://schemas.openxmlformats.org/drawingml/2006/main">
              <a:ext uri="{FF2B5EF4-FFF2-40B4-BE49-F238E27FC236}">
                <a16:creationId xmlns:a16="http://schemas.microsoft.com/office/drawing/2014/main" id="{E6C38890-2A30-43FE-8E47-599DFD83F8C6}"/>
              </a:ext>
            </a:extLst>
          </p:cNvPr>
          <p:cNvSpPr>
            <a:spLocks xmlns:a="http://schemas.openxmlformats.org/drawingml/2006/main" noGrp="1"/>
          </p:cNvSpPr>
          <p:nvPr/>
        </p:nvSpPr>
        <p:spPr>
          <a:xfrm xmlns:a="http://schemas.openxmlformats.org/drawingml/2006/main">
            <a:off x="4828032" y="380627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transporte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voz,</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terminales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77" name="ANUARIO_CONTENIDO_1_1_16">
            <a:extLst xmlns:a="http://schemas.openxmlformats.org/drawingml/2006/main">
              <a:ext uri="{FF2B5EF4-FFF2-40B4-BE49-F238E27FC236}">
                <a16:creationId xmlns:a16="http://schemas.microsoft.com/office/drawing/2014/main" id="{C6C4615D-A1C3-480F-A8B2-4521DE36AACD}"/>
              </a:ext>
            </a:extLst>
          </p:cNvPr>
          <p:cNvSpPr>
            <a:spLocks xmlns:a="http://schemas.openxmlformats.org/drawingml/2006/main" noGrp="1"/>
          </p:cNvSpPr>
          <p:nvPr/>
        </p:nvSpPr>
        <p:spPr>
          <a:xfrm xmlns:a="http://schemas.openxmlformats.org/drawingml/2006/main">
            <a:off x="4828032" y="389873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ubicación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geográfica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además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efectuar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recibir</a:t>
            </a:r>
            <a:r>
              <a:rPr sz="650" b="0" i="0">
                <a:solidFill>
                  <a:srgbClr val="24383A"/>
                </a:solidFill>
                <a:latin typeface="DejaVu Sans"/>
                <a:ea typeface="DejaVu Sans"/>
                <a:cs typeface="DejaVu Sans"/>
              </a:rPr>
              <a:t> </a:t>
            </a:r>
          </a:p>
        </p:txBody>
      </p:sp>
      <p:sp>
        <p:nvSpPr>
          <p:cNvPr id="78" name="ANUARIO_CONTENIDO_1_1_17">
            <a:extLst xmlns:a="http://schemas.openxmlformats.org/drawingml/2006/main">
              <a:ext uri="{FF2B5EF4-FFF2-40B4-BE49-F238E27FC236}">
                <a16:creationId xmlns:a16="http://schemas.microsoft.com/office/drawing/2014/main" id="{59F7E41B-03CB-49E6-8359-28F71420FB2B}"/>
              </a:ext>
            </a:extLst>
          </p:cNvPr>
          <p:cNvSpPr>
            <a:spLocks xmlns:a="http://schemas.openxmlformats.org/drawingml/2006/main" noGrp="1"/>
          </p:cNvSpPr>
          <p:nvPr/>
        </p:nvSpPr>
        <p:spPr>
          <a:xfrm xmlns:a="http://schemas.openxmlformats.org/drawingml/2006/main">
            <a:off x="4828032" y="399119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llamadas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locales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larga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distancia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internacional,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serie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p>
        </p:txBody>
      </p:sp>
      <p:sp>
        <p:nvSpPr>
          <p:cNvPr id="79" name="ANUARIO_CONTENIDO_1_1_18">
            <a:extLst xmlns:a="http://schemas.openxmlformats.org/drawingml/2006/main">
              <a:ext uri="{FF2B5EF4-FFF2-40B4-BE49-F238E27FC236}">
                <a16:creationId xmlns:a16="http://schemas.microsoft.com/office/drawing/2014/main" id="{056E9437-3E7E-448A-AFE8-DF7DEEC5AB2F}"/>
              </a:ext>
            </a:extLst>
          </p:cNvPr>
          <p:cNvSpPr>
            <a:spLocks xmlns:a="http://schemas.openxmlformats.org/drawingml/2006/main" noGrp="1"/>
          </p:cNvSpPr>
          <p:nvPr/>
        </p:nvSpPr>
        <p:spPr>
          <a:xfrm xmlns:a="http://schemas.openxmlformats.org/drawingml/2006/main">
            <a:off x="4828032" y="408364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adicionales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emergencia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suplementarios,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p>
        </p:txBody>
      </p:sp>
      <p:sp>
        <p:nvSpPr>
          <p:cNvPr id="80" name="ANUARIO_CONTENIDO_1_1_19">
            <a:extLst xmlns:a="http://schemas.openxmlformats.org/drawingml/2006/main">
              <a:ext uri="{FF2B5EF4-FFF2-40B4-BE49-F238E27FC236}">
                <a16:creationId xmlns:a16="http://schemas.microsoft.com/office/drawing/2014/main" id="{212F42D6-4EFA-4C25-AFDB-7C7AC7F7D368}"/>
              </a:ext>
            </a:extLst>
          </p:cNvPr>
          <p:cNvSpPr>
            <a:spLocks xmlns:a="http://schemas.openxmlformats.org/drawingml/2006/main" noGrp="1"/>
          </p:cNvSpPr>
          <p:nvPr/>
        </p:nvSpPr>
        <p:spPr>
          <a:xfrm xmlns:a="http://schemas.openxmlformats.org/drawingml/2006/main">
            <a:off x="4828032" y="417610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otros.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líneas.</a:t>
            </a:r>
          </a:p>
        </p:txBody>
      </p:sp>
    </p:spTree>
    <p:extLst>
      <p:ext uri="{BB962C8B-B14F-4D97-AF65-F5344CB8AC3E}">
        <p14:creationId xmlns:p14="http://schemas.microsoft.com/office/powerpoint/2010/main" val="526979659"/>
      </p:ext>
    </p:extLst>
  </p:cSld>
</p:sld>
</file>

<file path=ppt/slides/slide125.xml><?xml version="1.0" encoding="utf-8"?>
<p:sld xmlns:a="http://schemas.openxmlformats.org/drawingml/2006/main" xmlns:r="http://schemas.openxmlformats.org/officeDocument/2006/relationships" xmlns:p="http://schemas.openxmlformats.org/presentationml/2006/main">
  <p:cSld name="Slide 1">
    <p:bg>
      <p:bgPr>
        <a:solidFill>
          <a:srgbClr val="E8F0EE"/>
        </a:solidFill>
      </p:bgPr>
    </p:bg>
    <p:spTree>
      <p:nvGrpSpPr>
        <p:cNvPr id="1" name=""/>
        <p:cNvGrpSpPr/>
        <p:nvPr/>
      </p:nvGrpSpPr>
      <p:grpSpPr>
        <a:xfrm>
          <a:off x="0" y="0"/>
          <a:ext cx="0" cy="0"/>
          <a:chOff x="0" y="0"/>
          <a:chExt cx="0" cy="0"/>
        </a:xfrm>
      </p:grpSpPr>
      <p:sp>
        <p:nvSpPr>
          <p:cNvPr id="2" name="ANUARIO_ANEXO_II_STU_DESIGN_2026"/>
          <p:cNvSpPr/>
          <p:nvPr/>
        </p:nvSpPr>
        <p:spPr>
          <a:xfrm>
            <a:off x="0" y="0"/>
            <a:ext cx="9144000" cy="457200"/>
          </a:xfrm>
          <a:prstGeom prst="rect">
            <a:avLst/>
          </a:prstGeom>
          <a:solidFill>
            <a:srgbClr val="13393A"/>
          </a:solidFill>
          <a:ln w="12700">
            <a:solidFill>
              <a:srgbClr val="13393A"/>
            </a:solidFill>
            <a:prstDash val="solid"/>
          </a:ln>
        </p:spPr>
      </p:sp>
      <p:sp>
        <p:nvSpPr>
          <p:cNvPr id="3" name="Text 1"/>
          <p:cNvSpPr txBox="1"/>
          <p:nvPr/>
        </p:nvSpPr>
        <p:spPr>
          <a:xfrm>
            <a:off x="301752" y="64008"/>
            <a:ext cx="4572000" cy="329184"/>
          </a:xfrm>
          <a:prstGeom prst="rect">
            <a:avLst/>
          </a:prstGeom>
          <a:noFill/>
          <a:ln/>
        </p:spPr>
        <p:txBody>
          <a:bodyPr wrap="square" lIns="0" tIns="0" rIns="0" bIns="0" rtlCol="0" anchor="ctr"/>
          <a:lstStyle/>
          <a:p>
            <a:pPr indent="0" marL="0">
              <a:buNone/>
            </a:pPr>
            <a:r>
              <a:rPr lang="en-US" sz="1700" b="1" dirty="0">
                <a:solidFill>
                  <a:srgbClr val="FFFFFF"/>
                </a:solidFill>
                <a:latin typeface="DejaVu Sans" pitchFamily="34" charset="0"/>
                <a:ea typeface="DejaVu Sans" pitchFamily="34" charset="-122"/>
                <a:cs typeface="DejaVu Sans" pitchFamily="34" charset="-120"/>
              </a:rPr>
              <a:t>ANEXO II. DEFINICIONES</a:t>
            </a:r>
            <a:endParaRPr lang="en-US" sz="1700" dirty="0"/>
          </a:p>
        </p:txBody>
      </p:sp>
      <p:sp>
        <p:nvSpPr>
          <p:cNvPr id="4" name="Text 2"/>
          <p:cNvSpPr txBox="1"/>
          <p:nvPr/>
        </p:nvSpPr>
        <p:spPr>
          <a:xfrm>
            <a:off x="4846320" y="64008"/>
            <a:ext cx="2743200" cy="329184"/>
          </a:xfrm>
          <a:prstGeom prst="rect">
            <a:avLst/>
          </a:prstGeom>
          <a:noFill/>
          <a:ln/>
        </p:spPr>
        <p:txBody>
          <a:bodyPr wrap="square" lIns="0" tIns="0" rIns="0" bIns="0" rtlCol="0" anchor="ctr"/>
          <a:lstStyle/>
          <a:p>
            <a:pPr algn="r" indent="0" marL="0">
              <a:buNone/>
            </a:pPr>
            <a:r>
              <a:rPr lang="en-US" sz="650" dirty="0">
                <a:solidFill>
                  <a:srgbClr val="D5E4E1"/>
                </a:solidFill>
                <a:latin typeface="DejaVu Sans" pitchFamily="34" charset="0"/>
                <a:ea typeface="DejaVu Sans" pitchFamily="34" charset="-122"/>
                <a:cs typeface="DejaVu Sans" pitchFamily="34" charset="-120"/>
              </a:rPr>
              <a:t>Para consultar información con mayor desagregación, visita
</a:t>
            </a:r>
            <a:pPr algn="r" indent="0" marL="0">
              <a:buNone/>
            </a:pPr>
            <a:r>
              <a:rPr lang="en-US" sz="750" b="1" dirty="0">
                <a:solidFill>
                  <a:srgbClr val="FFFFFF"/>
                </a:solidFill>
                <a:latin typeface="DejaVu Sans" pitchFamily="34" charset="0"/>
                <a:ea typeface="DejaVu Sans" pitchFamily="34" charset="-122"/>
                <a:cs typeface="DejaVu Sans" pitchFamily="34" charset="-120"/>
              </a:rPr>
              <a:t>BIT CRT · bit.crt.gob.mx/BitWebApp</a:t>
            </a:r>
            <a:endParaRPr lang="en-US" sz="650" dirty="0"/>
          </a:p>
        </p:txBody>
      </p:sp>
      <p:sp>
        <p:nvSpPr>
          <p:cNvPr id="5" name="Shape 3"/>
          <p:cNvSpPr/>
          <p:nvPr/>
        </p:nvSpPr>
        <p:spPr>
          <a:xfrm>
            <a:off x="7680960" y="45720"/>
            <a:ext cx="365760" cy="365760"/>
          </a:xfrm>
          <a:prstGeom prst="roundRect">
            <a:avLst>
              <a:gd name="adj" fmla="val 10000"/>
            </a:avLst>
          </a:prstGeom>
          <a:solidFill>
            <a:srgbClr val="FFFFFF"/>
          </a:solidFill>
          <a:ln w="12700">
            <a:solidFill>
              <a:srgbClr val="FFFFFF"/>
            </a:solidFill>
            <a:prstDash val="solid"/>
          </a:ln>
        </p:spPr>
      </p:sp>
      <p:sp>
        <p:nvSpPr>
          <p:cNvPr id="6" name="Text 4"/>
          <p:cNvSpPr txBox="1"/>
          <p:nvPr/>
        </p:nvSpPr>
        <p:spPr>
          <a:xfrm>
            <a:off x="8138160" y="64008"/>
            <a:ext cx="731520" cy="329184"/>
          </a:xfrm>
          <a:prstGeom prst="rect">
            <a:avLst/>
          </a:prstGeom>
          <a:noFill/>
          <a:ln/>
        </p:spPr>
        <p:txBody>
          <a:bodyPr wrap="square" lIns="0" tIns="0" rIns="0" bIns="0" rtlCol="0" anchor="ctr"/>
          <a:lstStyle/>
          <a:p>
            <a:pPr algn="r" indent="0" marL="0">
              <a:buNone/>
            </a:pPr>
            <a:r>
              <a:rPr lang="en-US" sz="1500" b="1" dirty="0">
                <a:solidFill>
                  <a:srgbClr val="FFFFFF"/>
                </a:solidFill>
                <a:latin typeface="DejaVu Sans" pitchFamily="34" charset="0"/>
                <a:ea typeface="DejaVu Sans" pitchFamily="34" charset="-122"/>
                <a:cs typeface="DejaVu Sans" pitchFamily="34" charset="-120"/>
              </a:rPr>
              <a:t>CRT</a:t>
            </a:r>
            <a:endParaRPr lang="en-US" sz="1500" dirty="0"/>
          </a:p>
        </p:txBody>
      </p:sp>
      <p:sp>
        <p:nvSpPr>
          <p:cNvPr id="7" name="Shape 5"/>
          <p:cNvSpPr/>
          <p:nvPr/>
        </p:nvSpPr>
        <p:spPr>
          <a:xfrm>
            <a:off x="0" y="4937760"/>
            <a:ext cx="9144000" cy="205740"/>
          </a:xfrm>
          <a:prstGeom prst="rect">
            <a:avLst/>
          </a:prstGeom>
          <a:solidFill>
            <a:srgbClr val="1A4043"/>
          </a:solidFill>
          <a:ln w="12700">
            <a:solidFill>
              <a:srgbClr val="1A4043"/>
            </a:solidFill>
            <a:prstDash val="solid"/>
          </a:ln>
        </p:spPr>
      </p:sp>
      <p:sp>
        <p:nvSpPr>
          <p:cNvPr id="8" name="Text 6"/>
          <p:cNvSpPr txBox="1"/>
          <p:nvPr/>
        </p:nvSpPr>
        <p:spPr>
          <a:xfrm>
            <a:off x="301752" y="4937760"/>
            <a:ext cx="731520" cy="205740"/>
          </a:xfrm>
          <a:prstGeom prst="rect">
            <a:avLst/>
          </a:prstGeom>
          <a:noFill/>
          <a:ln/>
        </p:spPr>
        <p:txBody>
          <a:bodyPr wrap="square" lIns="0" tIns="0" rIns="0" bIns="0" rtlCol="0" anchor="ctr"/>
          <a:lstStyle/>
          <a:p>
            <a:pPr indent="0" marL="0">
              <a:buNone/>
            </a:pPr>
            <a:r>
              <a:rPr lang="en-US" sz="700" b="1" dirty="0">
                <a:solidFill>
                  <a:srgbClr val="FFFFFF"/>
                </a:solidFill>
                <a:latin typeface="DejaVu Sans" pitchFamily="34" charset="0"/>
                <a:ea typeface="DejaVu Sans" pitchFamily="34" charset="-122"/>
                <a:cs typeface="DejaVu Sans" pitchFamily="34" charset="-120"/>
              </a:rPr>
              <a:t>125</a:t>
            </a:r>
            <a:endParaRPr lang="en-US" sz="700" dirty="0"/>
          </a:p>
        </p:txBody>
      </p:sp>
      <p:sp>
        <p:nvSpPr>
          <p:cNvPr id="9" name="Text 7"/>
          <p:cNvSpPr txBox="1"/>
          <p:nvPr/>
        </p:nvSpPr>
        <p:spPr>
          <a:xfrm>
            <a:off x="5029200" y="4937760"/>
            <a:ext cx="3813048" cy="205740"/>
          </a:xfrm>
          <a:prstGeom prst="rect">
            <a:avLst/>
          </a:prstGeom>
          <a:noFill/>
          <a:ln/>
        </p:spPr>
        <p:txBody>
          <a:bodyPr wrap="square" lIns="0" tIns="0" rIns="0" bIns="0" rtlCol="0" anchor="ctr"/>
          <a:lstStyle/>
          <a:p>
            <a:pPr algn="r" indent="0" marL="0">
              <a:buNone/>
            </a:pPr>
            <a:r>
              <a:rPr lang="en-US" sz="600" dirty="0">
                <a:solidFill>
                  <a:srgbClr val="D5E4E1"/>
                </a:solidFill>
                <a:latin typeface="DejaVu Sans" pitchFamily="34" charset="0"/>
                <a:ea typeface="DejaVu Sans" pitchFamily="34" charset="-122"/>
                <a:cs typeface="DejaVu Sans" pitchFamily="34" charset="-120"/>
              </a:rPr>
              <a:t>A N U A R I O   E S T A D Í S T I C O   2 0 2 6</a:t>
            </a:r>
            <a:endParaRPr lang="en-US" sz="600" dirty="0"/>
          </a:p>
        </p:txBody>
      </p:sp>
      <p:sp>
        <p:nvSpPr>
          <p:cNvPr id="10" name="Shape 8"/>
          <p:cNvSpPr/>
          <p:nvPr/>
        </p:nvSpPr>
        <p:spPr>
          <a:xfrm>
            <a:off x="301752" y="566928"/>
            <a:ext cx="4178808" cy="1920240"/>
          </a:xfrm>
          <a:prstGeom prst="roundRect">
            <a:avLst>
              <a:gd name="adj" fmla="val 2857"/>
            </a:avLst>
          </a:prstGeom>
          <a:solidFill>
            <a:srgbClr val="F6FAF9"/>
          </a:solidFill>
          <a:ln w="9525">
            <a:solidFill>
              <a:srgbClr val="C9DAD6"/>
            </a:solidFill>
            <a:prstDash val="solid"/>
          </a:ln>
        </p:spPr>
      </p:sp>
      <p:sp>
        <p:nvSpPr>
          <p:cNvPr id="11" name="Shape 9"/>
          <p:cNvSpPr/>
          <p:nvPr/>
        </p:nvSpPr>
        <p:spPr>
          <a:xfrm>
            <a:off x="301752" y="640080"/>
            <a:ext cx="64008" cy="1773936"/>
          </a:xfrm>
          <a:prstGeom prst="rect">
            <a:avLst/>
          </a:prstGeom>
          <a:solidFill>
            <a:srgbClr val="2F7F6F"/>
          </a:solidFill>
          <a:ln w="12700">
            <a:solidFill>
              <a:srgbClr val="2F7F6F"/>
            </a:solidFill>
            <a:prstDash val="solid"/>
          </a:ln>
        </p:spPr>
      </p:sp>
      <p:sp>
        <p:nvSpPr>
          <p:cNvPr id="12" name="Shape 10"/>
          <p:cNvSpPr/>
          <p:nvPr/>
        </p:nvSpPr>
        <p:spPr>
          <a:xfrm>
            <a:off x="466344" y="640080"/>
            <a:ext cx="201168" cy="201168"/>
          </a:xfrm>
          <a:prstGeom prst="roundRect">
            <a:avLst>
              <a:gd name="adj" fmla="val 18182"/>
            </a:avLst>
          </a:prstGeom>
          <a:solidFill>
            <a:srgbClr val="1A4043"/>
          </a:solidFill>
          <a:ln w="12700">
            <a:solidFill>
              <a:srgbClr val="1A4043"/>
            </a:solidFill>
            <a:prstDash val="solid"/>
          </a:ln>
        </p:spPr>
      </p:sp>
      <p:sp>
        <p:nvSpPr>
          <p:cNvPr id="13" name="Text 11"/>
          <p:cNvSpPr txBox="1"/>
          <p:nvPr/>
        </p:nvSpPr>
        <p:spPr>
          <a:xfrm>
            <a:off x="466344" y="6400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S</a:t>
            </a:r>
            <a:endParaRPr lang="en-US" sz="900" dirty="0"/>
          </a:p>
        </p:txBody>
      </p:sp>
      <p:sp>
        <p:nvSpPr>
          <p:cNvPr id="14" name="Text 12"/>
          <p:cNvSpPr txBox="1"/>
          <p:nvPr/>
        </p:nvSpPr>
        <p:spPr>
          <a:xfrm>
            <a:off x="466344" y="868680"/>
            <a:ext cx="3904488" cy="155448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fijo: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Servicio de telecomunicaciones para usuarios finales, que se puede prestar mientras el Equipo Terminal se encuentra sin movilidad, o con movilidad limitada a un área geográfica determinada por el Operador, independientemente de su Cobertura.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de acceso a Internet: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Este servicio permite enviar y recibir datos dentro del territorio nacional y/o en itinerancia, a través de equipos terminales que no tienen una ubicación geográfica determinada. Este servicio se mide en líneas.</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de telefonía: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Este servicio permite efectuar y recibir llamadas locales, de larga distancia internacional y/o de itinerancia a través de equipos terminales que no tienen una ubicación geográfica determinada, además permite hacer uso de una serie de servicios adicionales tales como acceso a servicios de emergencia o servicios suplementarios, entre otros. Este servicio se mide en líneas.</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Servicio de telecomunicaciones para usuarios finales que se puede prestar en movilidad mientras el Equipo Terminal se encuentre en cualquier área geográfica dentro de la Cobertura del Operador.</a:t>
            </a:r>
            <a:endParaRPr lang="en-US" sz="630" dirty="0"/>
          </a:p>
        </p:txBody>
      </p:sp>
      <p:sp>
        <p:nvSpPr>
          <p:cNvPr id="15" name="Shape 13"/>
          <p:cNvSpPr/>
          <p:nvPr/>
        </p:nvSpPr>
        <p:spPr>
          <a:xfrm>
            <a:off x="301752" y="2560320"/>
            <a:ext cx="4178808" cy="1901952"/>
          </a:xfrm>
          <a:prstGeom prst="roundRect">
            <a:avLst>
              <a:gd name="adj" fmla="val 2885"/>
            </a:avLst>
          </a:prstGeom>
          <a:solidFill>
            <a:srgbClr val="F6FAF9"/>
          </a:solidFill>
          <a:ln w="9525">
            <a:solidFill>
              <a:srgbClr val="C9DAD6"/>
            </a:solidFill>
            <a:prstDash val="solid"/>
          </a:ln>
        </p:spPr>
      </p:sp>
      <p:sp>
        <p:nvSpPr>
          <p:cNvPr id="16" name="Shape 14"/>
          <p:cNvSpPr/>
          <p:nvPr/>
        </p:nvSpPr>
        <p:spPr>
          <a:xfrm>
            <a:off x="301752" y="2633472"/>
            <a:ext cx="64008" cy="1755648"/>
          </a:xfrm>
          <a:prstGeom prst="rect">
            <a:avLst/>
          </a:prstGeom>
          <a:solidFill>
            <a:srgbClr val="2F7F6F"/>
          </a:solidFill>
          <a:ln w="12700">
            <a:solidFill>
              <a:srgbClr val="2F7F6F"/>
            </a:solidFill>
            <a:prstDash val="solid"/>
          </a:ln>
        </p:spPr>
      </p:sp>
      <p:sp>
        <p:nvSpPr>
          <p:cNvPr id="17" name="Shape 15"/>
          <p:cNvSpPr/>
          <p:nvPr/>
        </p:nvSpPr>
        <p:spPr>
          <a:xfrm>
            <a:off x="466344" y="2633472"/>
            <a:ext cx="201168" cy="201168"/>
          </a:xfrm>
          <a:prstGeom prst="roundRect">
            <a:avLst>
              <a:gd name="adj" fmla="val 18182"/>
            </a:avLst>
          </a:prstGeom>
          <a:solidFill>
            <a:srgbClr val="1A4043"/>
          </a:solidFill>
          <a:ln w="12700">
            <a:solidFill>
              <a:srgbClr val="1A4043"/>
            </a:solidFill>
            <a:prstDash val="solid"/>
          </a:ln>
        </p:spPr>
      </p:sp>
      <p:sp>
        <p:nvSpPr>
          <p:cNvPr id="18" name="Text 16"/>
          <p:cNvSpPr txBox="1"/>
          <p:nvPr/>
        </p:nvSpPr>
        <p:spPr>
          <a:xfrm>
            <a:off x="466344" y="263347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T</a:t>
            </a:r>
            <a:endParaRPr lang="en-US" sz="900" dirty="0"/>
          </a:p>
        </p:txBody>
      </p:sp>
      <p:sp>
        <p:nvSpPr>
          <p:cNvPr id="19" name="Text 17"/>
          <p:cNvSpPr txBox="1"/>
          <p:nvPr/>
        </p:nvSpPr>
        <p:spPr>
          <a:xfrm>
            <a:off x="466344" y="2862072"/>
            <a:ext cx="3904488" cy="150876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Talk show: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Programa de televisión en el que varios invitados hablan sobre un tema de actualidad o brindan testimonios personales (los invitados no son especialistas en el tema).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Telehogares: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Hogares en los cuales reside de forma permanente al menos una persona y cuentan por lo menos con un aparato de televisión.</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Telenovelas: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Historias o novelas producidas para la televisión, transmitidas en episodios diarios y consecutivos. Narran una historia ficticia –aunque puede estar basada en hechos reales— de contenido melodramático, sin que se excluyan otros géneros, y cada capítulo cuenta con los elementos inicio, desarrollo, clímax y, al término, una situación de suspenso que puede ser coincidente con el clímax.</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Televisión por protocolo de Internet (IPTV, por sus siglas en inglés Internet Protocol Television):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La televisión sobre el protocolo IP o IPTV es una tecnología que permite que los servicios de televisión sean emitidos a través de la banda ancha de una red de paquete de datos privados mediante el uso del protocolo de Internet.</a:t>
            </a:r>
            <a:endParaRPr lang="en-US" sz="630" dirty="0"/>
          </a:p>
        </p:txBody>
      </p:sp>
      <p:sp>
        <p:nvSpPr>
          <p:cNvPr id="20" name="Shape 18"/>
          <p:cNvSpPr/>
          <p:nvPr/>
        </p:nvSpPr>
        <p:spPr>
          <a:xfrm>
            <a:off x="4663440" y="566928"/>
            <a:ext cx="4178808" cy="1481328"/>
          </a:xfrm>
          <a:prstGeom prst="roundRect">
            <a:avLst>
              <a:gd name="adj" fmla="val 3704"/>
            </a:avLst>
          </a:prstGeom>
          <a:solidFill>
            <a:srgbClr val="F6FAF9"/>
          </a:solidFill>
          <a:ln w="9525">
            <a:solidFill>
              <a:srgbClr val="C9DAD6"/>
            </a:solidFill>
            <a:prstDash val="solid"/>
          </a:ln>
        </p:spPr>
      </p:sp>
      <p:sp>
        <p:nvSpPr>
          <p:cNvPr id="21" name="Shape 19"/>
          <p:cNvSpPr/>
          <p:nvPr/>
        </p:nvSpPr>
        <p:spPr>
          <a:xfrm>
            <a:off x="4663440" y="640080"/>
            <a:ext cx="64008" cy="1335024"/>
          </a:xfrm>
          <a:prstGeom prst="rect">
            <a:avLst/>
          </a:prstGeom>
          <a:solidFill>
            <a:srgbClr val="2F7F6F"/>
          </a:solidFill>
          <a:ln w="12700">
            <a:solidFill>
              <a:srgbClr val="2F7F6F"/>
            </a:solidFill>
            <a:prstDash val="solid"/>
          </a:ln>
        </p:spPr>
      </p:sp>
      <p:sp>
        <p:nvSpPr>
          <p:cNvPr id="22" name="Shape 20"/>
          <p:cNvSpPr/>
          <p:nvPr/>
        </p:nvSpPr>
        <p:spPr>
          <a:xfrm>
            <a:off x="4828032" y="640080"/>
            <a:ext cx="201168" cy="201168"/>
          </a:xfrm>
          <a:prstGeom prst="roundRect">
            <a:avLst>
              <a:gd name="adj" fmla="val 18182"/>
            </a:avLst>
          </a:prstGeom>
          <a:solidFill>
            <a:srgbClr val="1A4043"/>
          </a:solidFill>
          <a:ln w="12700">
            <a:solidFill>
              <a:srgbClr val="1A4043"/>
            </a:solidFill>
            <a:prstDash val="solid"/>
          </a:ln>
        </p:spPr>
      </p:sp>
      <p:sp>
        <p:nvSpPr>
          <p:cNvPr id="23" name="Text 21"/>
          <p:cNvSpPr txBox="1"/>
          <p:nvPr/>
        </p:nvSpPr>
        <p:spPr>
          <a:xfrm>
            <a:off x="4828032" y="6400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U</a:t>
            </a:r>
            <a:endParaRPr lang="en-US" sz="900" dirty="0"/>
          </a:p>
        </p:txBody>
      </p:sp>
      <p:sp>
        <p:nvSpPr>
          <p:cNvPr id="24" name="Text 22"/>
          <p:cNvSpPr txBox="1"/>
          <p:nvPr/>
        </p:nvSpPr>
        <p:spPr>
          <a:xfrm>
            <a:off x="4828032" y="868680"/>
            <a:ext cx="3904488" cy="100584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Unidades Económicas (UE):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Son las unidades estadísticas sobre las cuales se recopilan datos, se dedican principalmente a un tipo de actividad de manera permanente en construcciones e instalaciones fijas, combinando acciones y recursos bajo el control de una sola entidad propietaria o controladora, para llevar a cabo producción de bienes y servicios, sea con fines mercantiles o no. Se definen por sector de acuerdo con la disponibilidad de registros contables y la necesidad de obtener información con el mayor nivel de precisión analítica.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Universo: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Conjunto de individuos o elementos que tienen una o más características en común y que se someten a un estudio estadístico. En este caso conformado por los individuos capaces de recibir señales de audio y video asociado (televisión) o radio.</a:t>
            </a:r>
            <a:endParaRPr lang="en-US" sz="630" dirty="0"/>
          </a:p>
        </p:txBody>
      </p:sp>
      <p:sp>
        <p:nvSpPr>
          <p:cNvPr id="25" name="Shape 23"/>
          <p:cNvSpPr/>
          <p:nvPr/>
        </p:nvSpPr>
        <p:spPr>
          <a:xfrm>
            <a:off x="4663440" y="2121408"/>
            <a:ext cx="4178808" cy="2340864"/>
          </a:xfrm>
          <a:prstGeom prst="roundRect">
            <a:avLst>
              <a:gd name="adj" fmla="val 2344"/>
            </a:avLst>
          </a:prstGeom>
          <a:solidFill>
            <a:srgbClr val="F6FAF9"/>
          </a:solidFill>
          <a:ln w="9525">
            <a:solidFill>
              <a:srgbClr val="C9DAD6"/>
            </a:solidFill>
            <a:prstDash val="solid"/>
          </a:ln>
        </p:spPr>
      </p:sp>
      <p:sp>
        <p:nvSpPr>
          <p:cNvPr id="26" name="Shape 24"/>
          <p:cNvSpPr/>
          <p:nvPr/>
        </p:nvSpPr>
        <p:spPr>
          <a:xfrm>
            <a:off x="4663440" y="2194560"/>
            <a:ext cx="64008" cy="2194560"/>
          </a:xfrm>
          <a:prstGeom prst="rect">
            <a:avLst/>
          </a:prstGeom>
          <a:solidFill>
            <a:srgbClr val="2F7F6F"/>
          </a:solidFill>
          <a:ln w="12700">
            <a:solidFill>
              <a:srgbClr val="2F7F6F"/>
            </a:solidFill>
            <a:prstDash val="solid"/>
          </a:ln>
        </p:spPr>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846320" y="2212848"/>
          <a:ext cx="3813048" cy="914400"/>
        </p:xfrm>
        <a:graphic>
          <a:graphicData uri="http://schemas.openxmlformats.org/drawingml/2006/table">
            <a:tbl>
              <a:tblPr/>
              <a:tblGrid>
                <a:gridCol w="841248"/>
                <a:gridCol w="1216152"/>
                <a:gridCol w="841248"/>
                <a:gridCol w="914400"/>
              </a:tblGrid>
              <a:tr h="164592">
                <a:tc gridSpan="2">
                  <a:txBody>
                    <a:bodyPr/>
                    <a:lstStyle/>
                    <a:p>
                      <a:pPr algn="ctr" indent="0" marL="0">
                        <a:buNone/>
                      </a:pPr>
                      <a:r>
                        <a:rPr lang="en-US" sz="600" b="1" dirty="0">
                          <a:solidFill>
                            <a:srgbClr val="FFFFFF"/>
                          </a:solidFill>
                          <a:latin typeface="DejaVu Sans" pitchFamily="34" charset="0"/>
                          <a:ea typeface="DejaVu Sans" pitchFamily="34" charset="-122"/>
                          <a:cs typeface="DejaVu Sans" pitchFamily="34" charset="-120"/>
                        </a:rPr>
                        <a:t>Televisión</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1A4043"/>
                    </a:solidFill>
                  </a:tcPr>
                </a:tc>
                <a:tc hMerge="1">
                  <a:tcPr/>
                </a:tc>
                <a:tc gridSpan="2">
                  <a:txBody>
                    <a:bodyPr/>
                    <a:lstStyle/>
                    <a:p>
                      <a:pPr algn="ctr" indent="0" marL="0">
                        <a:buNone/>
                      </a:pPr>
                      <a:r>
                        <a:rPr lang="en-US" sz="600" b="1" dirty="0">
                          <a:solidFill>
                            <a:srgbClr val="FFFFFF"/>
                          </a:solidFill>
                          <a:latin typeface="DejaVu Sans" pitchFamily="34" charset="0"/>
                          <a:ea typeface="DejaVu Sans" pitchFamily="34" charset="-122"/>
                          <a:cs typeface="DejaVu Sans" pitchFamily="34" charset="-120"/>
                        </a:rPr>
                        <a:t>Radio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1A4043"/>
                    </a:solidFill>
                  </a:tcPr>
                </a:tc>
                <a:tc hMerge="1">
                  <a:tcPr/>
                </a:tc>
              </a:tr>
              <a:tr h="457200">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Especificaciones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Personas de 4 o más años que cuenten con un televisor funcional en el hogar. Se incluyen a los usuarios visitantes en el hogar (</a:t>
                      </a:r>
                      <a:pPr algn="ctr" indent="0" marL="0">
                        <a:buNone/>
                      </a:pPr>
                      <a:r>
                        <a:rPr lang="en-US" sz="600" i="1" dirty="0">
                          <a:solidFill>
                            <a:srgbClr val="24383A"/>
                          </a:solidFill>
                          <a:latin typeface="DejaVu Sans" pitchFamily="34" charset="0"/>
                          <a:ea typeface="DejaVu Sans" pitchFamily="34" charset="-122"/>
                          <a:cs typeface="DejaVu Sans" pitchFamily="34" charset="-120"/>
                        </a:rPr>
                        <a:t>Guest Viewers</a:t>
                      </a:r>
                      <a:pPr algn="ctr" indent="0" marL="0">
                        <a:buNone/>
                      </a:pPr>
                      <a:r>
                        <a:rPr lang="en-US" sz="600" dirty="0">
                          <a:solidFill>
                            <a:srgbClr val="24383A"/>
                          </a:solidFill>
                          <a:latin typeface="DejaVu Sans" pitchFamily="34" charset="0"/>
                          <a:ea typeface="DejaVu Sans" pitchFamily="34" charset="-122"/>
                          <a:cs typeface="DejaVu Sans" pitchFamily="34" charset="-120"/>
                        </a:rPr>
                        <a:t>).</a:t>
                      </a:r>
                      <a:pPr algn="ctr" indent="0" marL="0">
                        <a:buNone/>
                      </a:pPr>
                      <a:r>
                        <a:rPr lang="en-US" sz="600" baseline="30000" dirty="0">
                          <a:solidFill>
                            <a:srgbClr val="24383A"/>
                          </a:solidFill>
                          <a:latin typeface="DejaVu Sans" pitchFamily="34" charset="0"/>
                          <a:ea typeface="DejaVu Sans" pitchFamily="34" charset="-122"/>
                          <a:cs typeface="DejaVu Sans" pitchFamily="34" charset="-120"/>
                        </a:rPr>
                        <a:t>12</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Especificaciones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Personas de 8 años en adelante.</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274320">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Cobertura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28 ciudades que comprende el estudio de Nielsen IBOPE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Cobertura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Ciudad de México, Guadalajara y 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gridSpan="2">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Universo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EAF3F1"/>
                    </a:solidFill>
                  </a:tcPr>
                </a:tc>
                <a:tc hMerge="1">
                  <a:tcPr/>
                </a:tc>
                <a:tc rowSpan="2" gridSpan="2">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Universos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EAF3F1"/>
                    </a:solidFill>
                  </a:tcPr>
                </a:tc>
                <a:tc rowSpan="2" hMerge="1">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28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58,151,356</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gridSpan="2" vMerge="1">
                  <a:tcPr/>
                </a:tc>
                <a:tc vMerge="1" hMerge="1">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Ciudad de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20,258,180</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Total 3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27,325,688</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Guadalajara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4,840,117</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Ciudad de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18,224,996</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4,819,593</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Guadalajara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4,640,377</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25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28,233,465</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4,460,315</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bl>
          </a:graphicData>
        </a:graphic>
      </p:graphicFrame>
      <p:sp>
        <p:nvSpPr>
          <p:cNvPr id="28" name="Text 25"/>
          <p:cNvSpPr txBox="1"/>
          <p:nvPr/>
        </p:nvSpPr>
        <p:spPr>
          <a:xfrm>
            <a:off x="301752" y="4507992"/>
            <a:ext cx="8540496" cy="292608"/>
          </a:xfrm>
          <a:prstGeom prst="rect">
            <a:avLst/>
          </a:prstGeom>
          <a:noFill/>
          <a:ln/>
        </p:spPr>
        <p:txBody>
          <a:bodyPr wrap="square" lIns="0" tIns="0" rIns="0" bIns="0" rtlCol="0" anchor="t"/>
          <a:lstStyle/>
          <a:p>
            <a:pPr indent="0" marL="0">
              <a:buNone/>
            </a:pPr>
            <a:r>
              <a:rPr lang="en-US" sz="520" b="1" baseline="30000" dirty="0">
                <a:solidFill>
                  <a:srgbClr val="24383A"/>
                </a:solidFill>
                <a:latin typeface="DejaVu Sans" pitchFamily="34" charset="0"/>
                <a:ea typeface="DejaVu Sans" pitchFamily="34" charset="-122"/>
                <a:cs typeface="DejaVu Sans" pitchFamily="34" charset="-120"/>
              </a:rPr>
              <a:t>12 </a:t>
            </a:r>
            <a:pPr indent="0" marL="0">
              <a:buNone/>
            </a:pPr>
            <a:r>
              <a:rPr lang="en-US" sz="520" dirty="0">
                <a:solidFill>
                  <a:srgbClr val="24383A"/>
                </a:solidFill>
                <a:latin typeface="DejaVu Sans" pitchFamily="34" charset="0"/>
                <a:ea typeface="DejaVu Sans" pitchFamily="34" charset="-122"/>
                <a:cs typeface="DejaVu Sans" pitchFamily="34" charset="-120"/>
              </a:rPr>
              <a:t>El Universo de TV corresponde al promedio de los universos del estudio de Nielsen IBOPE México para el periodo de julio de 2023 a junio de 2024, obtenido a través de la evaluación del </a:t>
            </a:r>
            <a:pPr indent="0" marL="0">
              <a:buNone/>
            </a:pPr>
            <a:r>
              <a:rPr lang="en-US" sz="520" i="1" dirty="0">
                <a:solidFill>
                  <a:srgbClr val="24383A"/>
                </a:solidFill>
                <a:latin typeface="DejaVu Sans" pitchFamily="34" charset="0"/>
                <a:ea typeface="DejaVu Sans" pitchFamily="34" charset="-122"/>
                <a:cs typeface="DejaVu Sans" pitchFamily="34" charset="-120"/>
              </a:rPr>
              <a:t>target</a:t>
            </a:r>
            <a:pPr indent="0" marL="0">
              <a:buNone/>
            </a:pPr>
            <a:r>
              <a:rPr lang="en-US" sz="520" dirty="0">
                <a:solidFill>
                  <a:srgbClr val="24383A"/>
                </a:solidFill>
                <a:latin typeface="DejaVu Sans" pitchFamily="34" charset="0"/>
                <a:ea typeface="DejaVu Sans" pitchFamily="34" charset="-122"/>
                <a:cs typeface="DejaVu Sans" pitchFamily="34" charset="-120"/>
              </a:rPr>
              <a:t> en el periodo.</a:t>
            </a:r>
            <a:endParaRPr lang="en-US" sz="520" dirty="0"/>
          </a:p>
        </p:txBody>
      </p:sp>
    </p:spTree>
  </p:cSld>
  <p:clrMapOvr>
    <a:masterClrMapping/>
  </p:clrMapOvr>
</p:sld>
</file>

<file path=ppt/slides/slide126.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33" name="ANUARIO_ENCABEZADO">
            <a:extLst xmlns:a="http://schemas.openxmlformats.org/drawingml/2006/main">
              <a:ext uri="{FF2B5EF4-FFF2-40B4-BE49-F238E27FC236}">
                <a16:creationId xmlns:a16="http://schemas.microsoft.com/office/drawing/2014/main" id="{F5B550B0-1136-45F8-95A7-6623EFE0D384}"/>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D000D7C9-1CEB-4CC6-B246-76144B59C2CD}"/>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C2C50504-F7EC-43DF-B40F-533C907D6DB2}"/>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III. METODOLOGÍAS</a:t>
            </a:r>
          </a:p>
        </p:txBody>
      </p:sp>
      <p:sp>
        <p:nvSpPr>
          <p:cNvPr id="4" name="ANUARIO_BIT_TEXTO">
            <a:extLst xmlns:a="http://schemas.openxmlformats.org/drawingml/2006/main">
              <a:ext uri="{FF2B5EF4-FFF2-40B4-BE49-F238E27FC236}">
                <a16:creationId xmlns:a16="http://schemas.microsoft.com/office/drawing/2014/main" id="{66A1CA8C-BEAE-484F-B5B3-106F3C1D2C2A}"/>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02310F36-F499-4E0B-B25E-1B083C5E9E84}"/>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B04C77F7-99A1-406F-8590-1A9CA2F03A61}"/>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2F8D20EB-A30F-465F-9D99-602336BBABEF}"/>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7028AC88-2A2A-4B3D-8F77-C69F2027F3A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126</a:t>
            </a:r>
          </a:p>
        </p:txBody>
      </p:sp>
      <p:sp>
        <p:nvSpPr>
          <p:cNvPr id="9" name="ANUARIO_EDICION">
            <a:extLst xmlns:a="http://schemas.openxmlformats.org/drawingml/2006/main">
              <a:ext uri="{FF2B5EF4-FFF2-40B4-BE49-F238E27FC236}">
                <a16:creationId xmlns:a16="http://schemas.microsoft.com/office/drawing/2014/main" id="{E2611950-2BC8-40FC-A842-19AE88EBB177}"/>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6_DESIGN_2026">
            <a:extLst xmlns:a="http://schemas.openxmlformats.org/drawingml/2006/main">
              <a:ext uri="{FF2B5EF4-FFF2-40B4-BE49-F238E27FC236}">
                <a16:creationId xmlns:a16="http://schemas.microsoft.com/office/drawing/2014/main" id="{45DA7B79-82F2-4175-8358-B5E5CBEF28A8}"/>
              </a:ext>
            </a:extLst>
          </p:cNvPr>
          <p:cNvSpPr>
            <a:spLocks xmlns:a="http://schemas.openxmlformats.org/drawingml/2006/main" noGrp="1"/>
          </p:cNvSpPr>
          <p:nvPr/>
        </p:nvSpPr>
        <p:spPr>
          <a:xfrm xmlns:a="http://schemas.openxmlformats.org/drawingml/2006/main">
            <a:off x="301752" y="566928"/>
            <a:ext cx="8540496" cy="2761488"/>
          </a:xfrm>
          <a:prstGeom xmlns:a="http://schemas.openxmlformats.org/drawingml/2006/main" prst="roundRect">
            <a:avLst>
              <a:gd name="adj" fmla="val 1987"/>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02EFE0E9-B2A0-4D2E-9F20-CED96A7C4B52}"/>
              </a:ext>
            </a:extLst>
          </p:cNvPr>
          <p:cNvSpPr>
            <a:spLocks xmlns:a="http://schemas.openxmlformats.org/drawingml/2006/main" noGrp="1"/>
          </p:cNvSpPr>
          <p:nvPr/>
        </p:nvSpPr>
        <p:spPr>
          <a:xfrm xmlns:a="http://schemas.openxmlformats.org/drawingml/2006/main">
            <a:off x="301752" y="640080"/>
            <a:ext cx="64008" cy="261518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80BD47A4-8567-488D-97A5-56610111DC68}"/>
              </a:ext>
            </a:extLst>
          </p:cNvPr>
          <p:cNvSpPr>
            <a:spLocks xmlns:a="http://schemas.openxmlformats.org/drawingml/2006/main" noGrp="1"/>
          </p:cNvSpPr>
          <p:nvPr/>
        </p:nvSpPr>
        <p:spPr>
          <a:xfrm xmlns:a="http://schemas.openxmlformats.org/drawingml/2006/main">
            <a:off x="466344" y="658368"/>
            <a:ext cx="8220456"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Servicios de telecomunicaciones</a:t>
            </a:r>
          </a:p>
        </p:txBody>
      </p:sp>
      <p:sp>
        <p:nvSpPr>
          <p:cNvPr id="13" name="ANUARIO_SERVICIOS_0_0">
            <a:extLst xmlns:a="http://schemas.openxmlformats.org/drawingml/2006/main">
              <a:ext uri="{FF2B5EF4-FFF2-40B4-BE49-F238E27FC236}">
                <a16:creationId xmlns:a16="http://schemas.microsoft.com/office/drawing/2014/main" id="{BF855166-325D-43F0-8A6E-71F4F5721CC1}"/>
              </a:ext>
            </a:extLst>
          </p:cNvPr>
          <p:cNvSpPr>
            <a:spLocks xmlns:a="http://schemas.openxmlformats.org/drawingml/2006/main" noGrp="1"/>
          </p:cNvSpPr>
          <p:nvPr/>
        </p:nvSpPr>
        <p:spPr>
          <a:xfrm xmlns:a="http://schemas.openxmlformats.org/drawingml/2006/main">
            <a:off x="466344" y="9784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indicadores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mostrados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presente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Anuario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Estadístico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fueron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elaborados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trimestral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proporcionada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operadores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p>
        </p:txBody>
      </p:sp>
      <p:sp>
        <p:nvSpPr>
          <p:cNvPr id="14" name="ANUARIO_SERVICIOS_0_1">
            <a:extLst xmlns:a="http://schemas.openxmlformats.org/drawingml/2006/main">
              <a:ext uri="{FF2B5EF4-FFF2-40B4-BE49-F238E27FC236}">
                <a16:creationId xmlns:a16="http://schemas.microsoft.com/office/drawing/2014/main" id="{A311D9FD-ED6F-422F-AEEC-ACA7DD65C5D9}"/>
              </a:ext>
            </a:extLst>
          </p:cNvPr>
          <p:cNvSpPr>
            <a:spLocks xmlns:a="http://schemas.openxmlformats.org/drawingml/2006/main" noGrp="1"/>
          </p:cNvSpPr>
          <p:nvPr/>
        </p:nvSpPr>
        <p:spPr>
          <a:xfrm xmlns:a="http://schemas.openxmlformats.org/drawingml/2006/main">
            <a:off x="466344" y="10850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CRT,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revisada,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procesada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analizada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Coordinación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General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Planeación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Estratégica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su</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publicación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Banco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p>
        </p:txBody>
      </p:sp>
      <p:sp>
        <p:nvSpPr>
          <p:cNvPr id="15" name="ANUARIO_SERVICIOS_0_2">
            <a:extLst xmlns:a="http://schemas.openxmlformats.org/drawingml/2006/main">
              <a:ext uri="{FF2B5EF4-FFF2-40B4-BE49-F238E27FC236}">
                <a16:creationId xmlns:a16="http://schemas.microsoft.com/office/drawing/2014/main" id="{4CED58EA-7AA8-47DF-9666-57F0C3B55979}"/>
              </a:ext>
            </a:extLst>
          </p:cNvPr>
          <p:cNvSpPr>
            <a:spLocks xmlns:a="http://schemas.openxmlformats.org/drawingml/2006/main" noGrp="1"/>
          </p:cNvSpPr>
          <p:nvPr/>
        </p:nvSpPr>
        <p:spPr>
          <a:xfrm xmlns:a="http://schemas.openxmlformats.org/drawingml/2006/main">
            <a:off x="466344" y="11917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(BIT).</a:t>
            </a:r>
          </a:p>
        </p:txBody>
      </p:sp>
      <p:sp>
        <p:nvSpPr>
          <p:cNvPr id="16" name="ANUARIO_SERVICIOS_0_3">
            <a:extLst xmlns:a="http://schemas.openxmlformats.org/drawingml/2006/main">
              <a:ext uri="{FF2B5EF4-FFF2-40B4-BE49-F238E27FC236}">
                <a16:creationId xmlns:a16="http://schemas.microsoft.com/office/drawing/2014/main" id="{6415C3C9-3E24-4E57-82E6-70D75B388AFD}"/>
              </a:ext>
            </a:extLst>
          </p:cNvPr>
          <p:cNvSpPr>
            <a:spLocks xmlns:a="http://schemas.openxmlformats.org/drawingml/2006/main" noGrp="1"/>
          </p:cNvSpPr>
          <p:nvPr/>
        </p:nvSpPr>
        <p:spPr>
          <a:xfrm xmlns:a="http://schemas.openxmlformats.org/drawingml/2006/main">
            <a:off x="466344" y="13238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Debido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naturaleza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telefonía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cuentan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p>
        </p:txBody>
      </p:sp>
      <p:sp>
        <p:nvSpPr>
          <p:cNvPr id="17" name="ANUARIO_SERVICIOS_0_4">
            <a:extLst xmlns:a="http://schemas.openxmlformats.org/drawingml/2006/main">
              <a:ext uri="{FF2B5EF4-FFF2-40B4-BE49-F238E27FC236}">
                <a16:creationId xmlns:a16="http://schemas.microsoft.com/office/drawing/2014/main" id="{F2C4E3DF-A827-4AB7-A7BE-379BC910E524}"/>
              </a:ext>
            </a:extLst>
          </p:cNvPr>
          <p:cNvSpPr>
            <a:spLocks xmlns:a="http://schemas.openxmlformats.org/drawingml/2006/main" noGrp="1"/>
          </p:cNvSpPr>
          <p:nvPr/>
        </p:nvSpPr>
        <p:spPr>
          <a:xfrm xmlns:a="http://schemas.openxmlformats.org/drawingml/2006/main">
            <a:off x="466344" y="143052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desagregación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obtener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indicadores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100</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habitantes,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obtuvo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ENDUTIH</a:t>
            </a:r>
            <a:r>
              <a:rPr sz="750" b="0" i="0">
                <a:solidFill>
                  <a:srgbClr val="24383A"/>
                </a:solidFill>
                <a:latin typeface="DejaVu Sans"/>
                <a:ea typeface="DejaVu Sans"/>
                <a:cs typeface="DejaVu Sans"/>
              </a:rPr>
              <a:t> </a:t>
            </a:r>
          </a:p>
        </p:txBody>
      </p:sp>
      <p:sp>
        <p:nvSpPr>
          <p:cNvPr id="18" name="ANUARIO_SERVICIOS_0_5">
            <a:extLst xmlns:a="http://schemas.openxmlformats.org/drawingml/2006/main">
              <a:ext uri="{FF2B5EF4-FFF2-40B4-BE49-F238E27FC236}">
                <a16:creationId xmlns:a16="http://schemas.microsoft.com/office/drawing/2014/main" id="{BA569680-900A-49B7-8471-9AD928305BBB}"/>
              </a:ext>
            </a:extLst>
          </p:cNvPr>
          <p:cNvSpPr>
            <a:spLocks xmlns:a="http://schemas.openxmlformats.org/drawingml/2006/main" noGrp="1"/>
          </p:cNvSpPr>
          <p:nvPr/>
        </p:nvSpPr>
        <p:spPr>
          <a:xfrm xmlns:a="http://schemas.openxmlformats.org/drawingml/2006/main">
            <a:off x="466344" y="15372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2025</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tomaron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siguientes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supuestos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acuerdo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tipo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p>
        </p:txBody>
      </p:sp>
      <p:sp>
        <p:nvSpPr>
          <p:cNvPr id="19" name="ANUARIO_SERVICIOS_0_6">
            <a:extLst xmlns:a="http://schemas.openxmlformats.org/drawingml/2006/main">
              <a:ext uri="{FF2B5EF4-FFF2-40B4-BE49-F238E27FC236}">
                <a16:creationId xmlns:a16="http://schemas.microsoft.com/office/drawing/2014/main" id="{A7FE5E3C-7382-46B8-B387-45E93CD7BF1C}"/>
              </a:ext>
            </a:extLst>
          </p:cNvPr>
          <p:cNvSpPr>
            <a:spLocks xmlns:a="http://schemas.openxmlformats.org/drawingml/2006/main" noGrp="1"/>
          </p:cNvSpPr>
          <p:nvPr/>
        </p:nvSpPr>
        <p:spPr>
          <a:xfrm xmlns:a="http://schemas.openxmlformats.org/drawingml/2006/main">
            <a:off x="466344" y="16692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a:t>
            </a:r>
            <a:r>
              <a:rPr sz="750" b="0" i="0">
                <a:solidFill>
                  <a:srgbClr val="24383A"/>
                </a:solidFill>
                <a:latin typeface="DejaVu Sans"/>
                <a:ea typeface="DejaVu Sans"/>
                <a:cs typeface="DejaVu Sans"/>
              </a:rPr>
              <a:t> </a:t>
            </a:r>
            <a:r>
              <a:rPr sz="750" b="1" i="0">
                <a:solidFill>
                  <a:srgbClr val="2F7F6F"/>
                </a:solidFill>
                <a:latin typeface="DejaVu Sans"/>
                <a:ea typeface="DejaVu Sans"/>
                <a:cs typeface="DejaVu Sans"/>
              </a:rPr>
              <a:t>Servicio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móvil</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de</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telefonía.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usuarios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6</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años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más,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residente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p>
        </p:txBody>
      </p:sp>
      <p:sp>
        <p:nvSpPr>
          <p:cNvPr id="20" name="ANUARIO_SERVICIOS_0_7">
            <a:extLst xmlns:a="http://schemas.openxmlformats.org/drawingml/2006/main">
              <a:ext uri="{FF2B5EF4-FFF2-40B4-BE49-F238E27FC236}">
                <a16:creationId xmlns:a16="http://schemas.microsoft.com/office/drawing/2014/main" id="{00E1ED43-1FE2-4213-A7C7-9987FB43F6C0}"/>
              </a:ext>
            </a:extLst>
          </p:cNvPr>
          <p:cNvSpPr>
            <a:spLocks xmlns:a="http://schemas.openxmlformats.org/drawingml/2006/main" noGrp="1"/>
          </p:cNvSpPr>
          <p:nvPr/>
        </p:nvSpPr>
        <p:spPr>
          <a:xfrm xmlns:a="http://schemas.openxmlformats.org/drawingml/2006/main">
            <a:off x="466344" y="17759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respondió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contar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teléfono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celular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haberlo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usado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últimos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meses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previos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levantamiento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encuesta.</a:t>
            </a:r>
            <a:r>
              <a:rPr sz="750" b="0" i="0">
                <a:solidFill>
                  <a:srgbClr val="24383A"/>
                </a:solidFill>
                <a:latin typeface="DejaVu Sans"/>
                <a:ea typeface="DejaVu Sans"/>
                <a:cs typeface="DejaVu Sans"/>
              </a:rPr>
              <a:t> </a:t>
            </a:r>
          </a:p>
        </p:txBody>
      </p:sp>
      <p:sp>
        <p:nvSpPr>
          <p:cNvPr id="21" name="ANUARIO_SERVICIOS_0_8">
            <a:extLst xmlns:a="http://schemas.openxmlformats.org/drawingml/2006/main">
              <a:ext uri="{FF2B5EF4-FFF2-40B4-BE49-F238E27FC236}">
                <a16:creationId xmlns:a16="http://schemas.microsoft.com/office/drawing/2014/main" id="{02F400AF-E5E6-4E45-A414-243547CE3122}"/>
              </a:ext>
            </a:extLst>
          </p:cNvPr>
          <p:cNvSpPr>
            <a:spLocks xmlns:a="http://schemas.openxmlformats.org/drawingml/2006/main" noGrp="1"/>
          </p:cNvSpPr>
          <p:nvPr/>
        </p:nvSpPr>
        <p:spPr>
          <a:xfrm xmlns:a="http://schemas.openxmlformats.org/drawingml/2006/main">
            <a:off x="466344" y="19080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a:t>
            </a:r>
            <a:r>
              <a:rPr sz="750" b="0" i="0">
                <a:solidFill>
                  <a:srgbClr val="24383A"/>
                </a:solidFill>
                <a:latin typeface="DejaVu Sans"/>
                <a:ea typeface="DejaVu Sans"/>
                <a:cs typeface="DejaVu Sans"/>
              </a:rPr>
              <a:t> </a:t>
            </a:r>
            <a:r>
              <a:rPr sz="750" b="1" i="0">
                <a:solidFill>
                  <a:srgbClr val="2F7F6F"/>
                </a:solidFill>
                <a:latin typeface="DejaVu Sans"/>
                <a:ea typeface="DejaVu Sans"/>
                <a:cs typeface="DejaVu Sans"/>
              </a:rPr>
              <a:t>Servicio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móvil</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de</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acceso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a</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usuarios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6</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años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más,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residente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p>
        </p:txBody>
      </p:sp>
      <p:sp>
        <p:nvSpPr>
          <p:cNvPr id="22" name="ANUARIO_SERVICIOS_0_9">
            <a:extLst xmlns:a="http://schemas.openxmlformats.org/drawingml/2006/main">
              <a:ext uri="{FF2B5EF4-FFF2-40B4-BE49-F238E27FC236}">
                <a16:creationId xmlns:a16="http://schemas.microsoft.com/office/drawing/2014/main" id="{15C6B5E9-8F30-49F1-8529-21AF3DDBC27E}"/>
              </a:ext>
            </a:extLst>
          </p:cNvPr>
          <p:cNvSpPr>
            <a:spLocks xmlns:a="http://schemas.openxmlformats.org/drawingml/2006/main" noGrp="1"/>
          </p:cNvSpPr>
          <p:nvPr/>
        </p:nvSpPr>
        <p:spPr>
          <a:xfrm xmlns:a="http://schemas.openxmlformats.org/drawingml/2006/main">
            <a:off x="466344" y="201472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respondió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haberse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conectado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mediante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celular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(conexión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datos)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través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teléfono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inteligente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t>
            </a:r>
            <a:r>
              <a:rPr sz="750" b="0" i="1">
                <a:solidFill>
                  <a:srgbClr val="24383A"/>
                </a:solidFill>
                <a:latin typeface="DejaVu Sans"/>
                <a:ea typeface="DejaVu Sans"/>
                <a:cs typeface="DejaVu Sans"/>
              </a:rPr>
              <a:t>Smartphone</a:t>
            </a:r>
            <a:r>
              <a:rPr sz="750" b="0" i="0">
                <a:solidFill>
                  <a:srgbClr val="24383A"/>
                </a:solidFill>
                <a:latin typeface="DejaVu Sans"/>
                <a:ea typeface="DejaVu Sans"/>
                <a:cs typeface="DejaVu Sans"/>
              </a:rPr>
              <a:t>).</a:t>
            </a:r>
          </a:p>
        </p:txBody>
      </p:sp>
      <p:sp>
        <p:nvSpPr>
          <p:cNvPr id="23" name="ANUARIO_SERVICIOS_0_10">
            <a:extLst xmlns:a="http://schemas.openxmlformats.org/drawingml/2006/main">
              <a:ext uri="{FF2B5EF4-FFF2-40B4-BE49-F238E27FC236}">
                <a16:creationId xmlns:a16="http://schemas.microsoft.com/office/drawing/2014/main" id="{F78A210E-7B50-45ED-BCE0-888B2E5D871B}"/>
              </a:ext>
            </a:extLst>
          </p:cNvPr>
          <p:cNvSpPr>
            <a:spLocks xmlns:a="http://schemas.openxmlformats.org/drawingml/2006/main" noGrp="1"/>
          </p:cNvSpPr>
          <p:nvPr/>
        </p:nvSpPr>
        <p:spPr>
          <a:xfrm xmlns:a="http://schemas.openxmlformats.org/drawingml/2006/main">
            <a:off x="466344" y="21468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habitantes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obtienen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partir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propias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datos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ENDUTIH</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2025</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p>
        </p:txBody>
      </p:sp>
      <p:sp>
        <p:nvSpPr>
          <p:cNvPr id="24" name="ANUARIO_SERVICIOS_0_11">
            <a:extLst xmlns:a="http://schemas.openxmlformats.org/drawingml/2006/main">
              <a:ext uri="{FF2B5EF4-FFF2-40B4-BE49-F238E27FC236}">
                <a16:creationId xmlns:a16="http://schemas.microsoft.com/office/drawing/2014/main" id="{1505C603-D43E-40E3-8BEF-FFABB064E585}"/>
              </a:ext>
            </a:extLst>
          </p:cNvPr>
          <p:cNvSpPr>
            <a:spLocks xmlns:a="http://schemas.openxmlformats.org/drawingml/2006/main" noGrp="1"/>
          </p:cNvSpPr>
          <p:nvPr/>
        </p:nvSpPr>
        <p:spPr>
          <a:xfrm xmlns:a="http://schemas.openxmlformats.org/drawingml/2006/main">
            <a:off x="466344" y="22534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Censo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Vivienda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2020.</a:t>
            </a:r>
          </a:p>
        </p:txBody>
      </p:sp>
      <p:sp>
        <p:nvSpPr>
          <p:cNvPr id="25" name="ANUARIO_SERVICIOS_0_12">
            <a:extLst xmlns:a="http://schemas.openxmlformats.org/drawingml/2006/main">
              <a:ext uri="{FF2B5EF4-FFF2-40B4-BE49-F238E27FC236}">
                <a16:creationId xmlns:a16="http://schemas.microsoft.com/office/drawing/2014/main" id="{E4056BF2-115C-49A8-96A7-F456386ADAAB}"/>
              </a:ext>
            </a:extLst>
          </p:cNvPr>
          <p:cNvSpPr>
            <a:spLocks xmlns:a="http://schemas.openxmlformats.org/drawingml/2006/main" noGrp="1"/>
          </p:cNvSpPr>
          <p:nvPr/>
        </p:nvSpPr>
        <p:spPr>
          <a:xfrm xmlns:a="http://schemas.openxmlformats.org/drawingml/2006/main">
            <a:off x="466344" y="23855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2)</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accesos/líneas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100</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calculan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dividiendo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Asimismo,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unidades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económicas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obtuvo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p>
        </p:txBody>
      </p:sp>
      <p:sp>
        <p:nvSpPr>
          <p:cNvPr id="26" name="ANUARIO_SERVICIOS_0_13">
            <a:extLst xmlns:a="http://schemas.openxmlformats.org/drawingml/2006/main">
              <a:ext uri="{FF2B5EF4-FFF2-40B4-BE49-F238E27FC236}">
                <a16:creationId xmlns:a16="http://schemas.microsoft.com/office/drawing/2014/main" id="{0C396390-6CB5-461C-883C-0ECDF888DE0D}"/>
              </a:ext>
            </a:extLst>
          </p:cNvPr>
          <p:cNvSpPr>
            <a:spLocks xmlns:a="http://schemas.openxmlformats.org/drawingml/2006/main" noGrp="1"/>
          </p:cNvSpPr>
          <p:nvPr/>
        </p:nvSpPr>
        <p:spPr>
          <a:xfrm xmlns:a="http://schemas.openxmlformats.org/drawingml/2006/main">
            <a:off x="466344" y="24922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DENUE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INEGI.</a:t>
            </a:r>
          </a:p>
        </p:txBody>
      </p:sp>
      <p:sp>
        <p:nvSpPr>
          <p:cNvPr id="27" name="ANUARIO_ANEXO_P126_DESIGN_2026">
            <a:extLst xmlns:a="http://schemas.openxmlformats.org/drawingml/2006/main">
              <a:ext uri="{FF2B5EF4-FFF2-40B4-BE49-F238E27FC236}">
                <a16:creationId xmlns:a16="http://schemas.microsoft.com/office/drawing/2014/main" id="{1BD79560-6A2D-4383-AB1B-60A4DA3C6216}"/>
              </a:ext>
            </a:extLst>
          </p:cNvPr>
          <p:cNvSpPr>
            <a:spLocks xmlns:a="http://schemas.openxmlformats.org/drawingml/2006/main" noGrp="1"/>
          </p:cNvSpPr>
          <p:nvPr/>
        </p:nvSpPr>
        <p:spPr>
          <a:xfrm xmlns:a="http://schemas.openxmlformats.org/drawingml/2006/main">
            <a:off x="301752" y="3419856"/>
            <a:ext cx="8540496" cy="1042416"/>
          </a:xfrm>
          <a:prstGeom xmlns:a="http://schemas.openxmlformats.org/drawingml/2006/main" prst="roundRect">
            <a:avLst>
              <a:gd name="adj" fmla="val 5263"/>
            </a:avLst>
          </a:prstGeom>
          <a:solidFill xmlns:a="http://schemas.openxmlformats.org/drawingml/2006/main">
            <a:srgbClr val="F6FAF9"/>
          </a:solidFill>
          <a:ln xmlns:a="http://schemas.openxmlformats.org/drawingml/2006/main" w="9525">
            <a:solidFill>
              <a:srgbClr val="C9DAD6"/>
            </a:solidFill>
          </a:ln>
        </p:spPr>
      </p:sp>
      <p:sp>
        <p:nvSpPr>
          <p:cNvPr id="28" name="ANUARIO_ACENTO">
            <a:extLst xmlns:a="http://schemas.openxmlformats.org/drawingml/2006/main">
              <a:ext uri="{FF2B5EF4-FFF2-40B4-BE49-F238E27FC236}">
                <a16:creationId xmlns:a16="http://schemas.microsoft.com/office/drawing/2014/main" id="{7151CB42-86C7-4263-BB38-A1F3FE523877}"/>
              </a:ext>
            </a:extLst>
          </p:cNvPr>
          <p:cNvSpPr>
            <a:spLocks xmlns:a="http://schemas.openxmlformats.org/drawingml/2006/main" noGrp="1"/>
          </p:cNvSpPr>
          <p:nvPr/>
        </p:nvSpPr>
        <p:spPr>
          <a:xfrm xmlns:a="http://schemas.openxmlformats.org/drawingml/2006/main">
            <a:off x="301752" y="3493008"/>
            <a:ext cx="64008" cy="89611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9" name="ANUARIO_SECCION">
            <a:extLst xmlns:a="http://schemas.openxmlformats.org/drawingml/2006/main">
              <a:ext uri="{FF2B5EF4-FFF2-40B4-BE49-F238E27FC236}">
                <a16:creationId xmlns:a16="http://schemas.microsoft.com/office/drawing/2014/main" id="{4DF54AB0-6BAA-44C6-B815-7578C13D3D15}"/>
              </a:ext>
            </a:extLst>
          </p:cNvPr>
          <p:cNvSpPr>
            <a:spLocks xmlns:a="http://schemas.openxmlformats.org/drawingml/2006/main" noGrp="1"/>
          </p:cNvSpPr>
          <p:nvPr/>
        </p:nvSpPr>
        <p:spPr>
          <a:xfrm xmlns:a="http://schemas.openxmlformats.org/drawingml/2006/main">
            <a:off x="466344" y="3511296"/>
            <a:ext cx="8220456"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Índices de precios</a:t>
            </a:r>
          </a:p>
        </p:txBody>
      </p:sp>
      <p:sp>
        <p:nvSpPr>
          <p:cNvPr id="30" name="ANUARIO_SERVICIOS_1_0">
            <a:extLst xmlns:a="http://schemas.openxmlformats.org/drawingml/2006/main">
              <a:ext uri="{FF2B5EF4-FFF2-40B4-BE49-F238E27FC236}">
                <a16:creationId xmlns:a16="http://schemas.microsoft.com/office/drawing/2014/main" id="{C877D3FE-21DC-4B30-9845-346EED1DA9F5}"/>
              </a:ext>
            </a:extLst>
          </p:cNvPr>
          <p:cNvSpPr>
            <a:spLocks xmlns:a="http://schemas.openxmlformats.org/drawingml/2006/main" noGrp="1"/>
          </p:cNvSpPr>
          <p:nvPr/>
        </p:nvSpPr>
        <p:spPr>
          <a:xfrm xmlns:a="http://schemas.openxmlformats.org/drawingml/2006/main">
            <a:off x="466344" y="383133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INEGI</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construye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INPC</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utilizando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variaciones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canasta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consumo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mexicanos.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Dichos</a:t>
            </a:r>
            <a:r>
              <a:rPr sz="750" b="0" i="0">
                <a:solidFill>
                  <a:srgbClr val="24383A"/>
                </a:solidFill>
                <a:latin typeface="DejaVu Sans"/>
                <a:ea typeface="DejaVu Sans"/>
                <a:cs typeface="DejaVu Sans"/>
              </a:rPr>
              <a:t> </a:t>
            </a:r>
          </a:p>
        </p:txBody>
      </p:sp>
      <p:sp>
        <p:nvSpPr>
          <p:cNvPr id="31" name="ANUARIO_SERVICIOS_1_1">
            <a:extLst xmlns:a="http://schemas.openxmlformats.org/drawingml/2006/main">
              <a:ext uri="{FF2B5EF4-FFF2-40B4-BE49-F238E27FC236}">
                <a16:creationId xmlns:a16="http://schemas.microsoft.com/office/drawing/2014/main" id="{30FF3B14-DD49-450D-8FD6-DE17F1583EA2}"/>
              </a:ext>
            </a:extLst>
          </p:cNvPr>
          <p:cNvSpPr>
            <a:spLocks xmlns:a="http://schemas.openxmlformats.org/drawingml/2006/main" noGrp="1"/>
          </p:cNvSpPr>
          <p:nvPr/>
        </p:nvSpPr>
        <p:spPr>
          <a:xfrm xmlns:a="http://schemas.openxmlformats.org/drawingml/2006/main">
            <a:off x="466344" y="393801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pueden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representarse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medio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Clasificación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Consumo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Individual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Finalidades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(CCIF),</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doce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divisiones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desagregan</a:t>
            </a:r>
            <a:r>
              <a:rPr sz="750" b="0" i="0">
                <a:solidFill>
                  <a:srgbClr val="24383A"/>
                </a:solidFill>
                <a:latin typeface="DejaVu Sans"/>
                <a:ea typeface="DejaVu Sans"/>
                <a:cs typeface="DejaVu Sans"/>
              </a:rPr>
              <a:t> </a:t>
            </a:r>
          </a:p>
        </p:txBody>
      </p:sp>
      <p:sp>
        <p:nvSpPr>
          <p:cNvPr id="32" name="ANUARIO_SERVICIOS_1_2">
            <a:extLst xmlns:a="http://schemas.openxmlformats.org/drawingml/2006/main">
              <a:ext uri="{FF2B5EF4-FFF2-40B4-BE49-F238E27FC236}">
                <a16:creationId xmlns:a16="http://schemas.microsoft.com/office/drawing/2014/main" id="{DE260164-016C-46CC-BDDC-B318B540F921}"/>
              </a:ext>
            </a:extLst>
          </p:cNvPr>
          <p:cNvSpPr>
            <a:spLocks xmlns:a="http://schemas.openxmlformats.org/drawingml/2006/main" noGrp="1"/>
          </p:cNvSpPr>
          <p:nvPr/>
        </p:nvSpPr>
        <p:spPr>
          <a:xfrm xmlns:a="http://schemas.openxmlformats.org/drawingml/2006/main">
            <a:off x="466344" y="404469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Grupos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Clases,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categorías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finalidad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compuestos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genéricos.</a:t>
            </a:r>
          </a:p>
        </p:txBody>
      </p:sp>
    </p:spTree>
    <p:extLst>
      <p:ext uri="{BB962C8B-B14F-4D97-AF65-F5344CB8AC3E}">
        <p14:creationId xmlns:p14="http://schemas.microsoft.com/office/powerpoint/2010/main" val="1013393704"/>
      </p:ext>
    </p:extLst>
  </p:cSld>
</p:sld>
</file>

<file path=ppt/slides/slide127.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53" name="ANUARIO_ENCABEZADO">
            <a:extLst xmlns:a="http://schemas.openxmlformats.org/drawingml/2006/main">
              <a:ext uri="{FF2B5EF4-FFF2-40B4-BE49-F238E27FC236}">
                <a16:creationId xmlns:a16="http://schemas.microsoft.com/office/drawing/2014/main" id="{0937AFDF-1A07-4CB6-8B08-1299442F576B}"/>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CBA38C09-5D64-4566-97B7-FF303ECF9F7F}"/>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F5B2E0FA-D2C2-462F-B45D-5421C1B92A03}"/>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III. METODOLOGÍAS</a:t>
            </a:r>
          </a:p>
        </p:txBody>
      </p:sp>
      <p:sp>
        <p:nvSpPr>
          <p:cNvPr id="4" name="ANUARIO_BIT_TEXTO">
            <a:extLst xmlns:a="http://schemas.openxmlformats.org/drawingml/2006/main">
              <a:ext uri="{FF2B5EF4-FFF2-40B4-BE49-F238E27FC236}">
                <a16:creationId xmlns:a16="http://schemas.microsoft.com/office/drawing/2014/main" id="{EC3338FD-6EBF-48D5-9684-82348BB45778}"/>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D6FD1610-6C00-4BA5-AB57-4AF0ED7C3075}"/>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EE49195D-9818-49D6-9526-23329D5AAC32}"/>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605B3F53-2AD6-4896-A73A-1FFB58A8CC31}"/>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C8A6A9CD-0DBF-4217-A574-41C32221DDA4}"/>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127</a:t>
            </a:r>
          </a:p>
        </p:txBody>
      </p:sp>
      <p:sp>
        <p:nvSpPr>
          <p:cNvPr id="9" name="ANUARIO_EDICION">
            <a:extLst xmlns:a="http://schemas.openxmlformats.org/drawingml/2006/main">
              <a:ext uri="{FF2B5EF4-FFF2-40B4-BE49-F238E27FC236}">
                <a16:creationId xmlns:a16="http://schemas.microsoft.com/office/drawing/2014/main" id="{DCF2ABCE-BBA7-4CFB-B5BA-1B4B69AADBE6}"/>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7_DESIGN_2026">
            <a:extLst xmlns:a="http://schemas.openxmlformats.org/drawingml/2006/main">
              <a:ext uri="{FF2B5EF4-FFF2-40B4-BE49-F238E27FC236}">
                <a16:creationId xmlns:a16="http://schemas.microsoft.com/office/drawing/2014/main" id="{31F7A381-0BB7-46B2-A096-7A816FEB78AE}"/>
              </a:ext>
            </a:extLst>
          </p:cNvPr>
          <p:cNvSpPr>
            <a:spLocks xmlns:a="http://schemas.openxmlformats.org/drawingml/2006/main" noGrp="1"/>
          </p:cNvSpPr>
          <p:nvPr/>
        </p:nvSpPr>
        <p:spPr>
          <a:xfrm xmlns:a="http://schemas.openxmlformats.org/drawingml/2006/main">
            <a:off x="301752" y="566928"/>
            <a:ext cx="4178808" cy="2121408"/>
          </a:xfrm>
          <a:prstGeom xmlns:a="http://schemas.openxmlformats.org/drawingml/2006/main" prst="roundRect">
            <a:avLst>
              <a:gd name="adj" fmla="val 2586"/>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2D6F240D-2EF2-4036-9F44-DE45AA50AF43}"/>
              </a:ext>
            </a:extLst>
          </p:cNvPr>
          <p:cNvSpPr>
            <a:spLocks xmlns:a="http://schemas.openxmlformats.org/drawingml/2006/main" noGrp="1"/>
          </p:cNvSpPr>
          <p:nvPr/>
        </p:nvSpPr>
        <p:spPr>
          <a:xfrm xmlns:a="http://schemas.openxmlformats.org/drawingml/2006/main">
            <a:off x="301752" y="640080"/>
            <a:ext cx="64008" cy="197510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9A2D8AAB-29E9-4A97-AF60-32A7E7875F98}"/>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650" b="1">
                <a:solidFill>
                  <a:srgbClr val="2F7F6F"/>
                </a:solidFill>
                <a:latin typeface="DejaVu Sans"/>
                <a:ea typeface="DejaVu Sans"/>
                <a:cs typeface="DejaVu Sans"/>
              </a:rPr>
              <a:t>Clasificación del Consumo Individual por Finalidades (CCIF)</a:t>
            </a:r>
          </a:p>
        </p:txBody>
      </p:sp>
      <p:graphicFrame>
        <p:nvGraphicFramePr>
          <p:cNvPr id="65" name=""/>
          <p:cNvGraphicFramePr/>
          <p:nvPr/>
        </p:nvGraphicFramePr>
        <p:xfrm>
          <a:off xmlns:a="http://schemas.openxmlformats.org/drawingml/2006/main" x="466344" y="960120"/>
          <a:ext xmlns:a="http://schemas.openxmlformats.org/drawingml/2006/main" cx="3794760" cy="1435608"/>
        </p:xfrm>
        <a:graphic xmlns:a="http://schemas.openxmlformats.org/drawingml/2006/main">
          <a:graphicData uri="http://schemas.openxmlformats.org/drawingml/2006/table">
            <a:tbl>
              <a:tblPr firstRow="0" bandRow="0"/>
              <a:tblGrid>
                <a:gridCol w="3008376"/>
                <a:gridCol w="786384"/>
              </a:tblGrid>
              <a:tr h="110431">
                <a:tc>
                  <a:txBody>
                    <a:bodyPr lIns="38100" tIns="19050" rIns="38100" bIns="19050" wrap="square">
                      <a:noAutofit/>
                    </a:bodyPr>
                    <a:lstStyle/>
                    <a:p>
                      <a:pPr algn="l"/>
                      <a:r>
                        <a:rPr sz="580" b="1">
                          <a:solidFill>
                            <a:srgbClr val="FFFFFF"/>
                          </a:solidFill>
                          <a:latin typeface="DejaVu Sans"/>
                          <a:ea typeface="DejaVu Sans"/>
                          <a:cs typeface="DejaVu Sans"/>
                        </a:rPr>
                        <a:t>División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580" b="1">
                          <a:solidFill>
                            <a:srgbClr val="FFFFFF"/>
                          </a:solidFill>
                          <a:latin typeface="DejaVu Sans"/>
                          <a:ea typeface="DejaVu Sans"/>
                          <a:cs typeface="DejaVu Sans"/>
                        </a:rPr>
                        <a:t>Ponderador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Alimentos y bebidas no alcohólicas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25.77%</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Bebidas alcohólicas y tabaco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2.69%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Prendas de vestir y calzado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4.78%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Vivienda, agua, electricidad, gas y otros combustibles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19.64%</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Muebles, artículos para el hogar y para su conservación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4.53%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Salud</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3.08%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Transporte</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13.76%</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Comunicaciones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3.13%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Recreación y cultura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4.87%</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Educación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3.54%</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Restaurantes y hoteles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9.52%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Bienes y servicios diversos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4.69%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bl>
          </a:graphicData>
        </a:graphic>
      </p:graphicFrame>
      <p:sp>
        <p:nvSpPr>
          <p:cNvPr id="14" name="ANUARIO_FUENTE_INPC_0">
            <a:extLst xmlns:a="http://schemas.openxmlformats.org/drawingml/2006/main">
              <a:ext uri="{FF2B5EF4-FFF2-40B4-BE49-F238E27FC236}">
                <a16:creationId xmlns:a16="http://schemas.microsoft.com/office/drawing/2014/main" id="{D43A7B03-E93E-48D7-B429-656759A88FC8}"/>
              </a:ext>
            </a:extLst>
          </p:cNvPr>
          <p:cNvSpPr>
            <a:spLocks xmlns:a="http://schemas.openxmlformats.org/drawingml/2006/main" noGrp="1"/>
          </p:cNvSpPr>
          <p:nvPr/>
        </p:nvSpPr>
        <p:spPr>
          <a:xfrm xmlns:a="http://schemas.openxmlformats.org/drawingml/2006/main">
            <a:off x="466344" y="2468880"/>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1" i="0">
                <a:solidFill>
                  <a:srgbClr val="2F7F6F"/>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Índice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Nacional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Precios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Consumidor,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Documento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metodológico.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Base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segunda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quincena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julio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p>
        </p:txBody>
      </p:sp>
      <p:sp>
        <p:nvSpPr>
          <p:cNvPr id="15" name="ANUARIO_FUENTE_INPC_1">
            <a:extLst xmlns:a="http://schemas.openxmlformats.org/drawingml/2006/main">
              <a:ext uri="{FF2B5EF4-FFF2-40B4-BE49-F238E27FC236}">
                <a16:creationId xmlns:a16="http://schemas.microsoft.com/office/drawing/2014/main" id="{1D40A6A1-1B5E-410C-8A1B-3D9FCC6E29D0}"/>
              </a:ext>
            </a:extLst>
          </p:cNvPr>
          <p:cNvSpPr>
            <a:spLocks xmlns:a="http://schemas.openxmlformats.org/drawingml/2006/main" noGrp="1"/>
          </p:cNvSpPr>
          <p:nvPr/>
        </p:nvSpPr>
        <p:spPr>
          <a:xfrm xmlns:a="http://schemas.openxmlformats.org/drawingml/2006/main">
            <a:off x="466344" y="2542845"/>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2018,</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p>
        </p:txBody>
      </p:sp>
      <p:sp>
        <p:nvSpPr>
          <p:cNvPr id="16" name="ANUARIO_ANEXO_P127_DESIGN_2026">
            <a:extLst xmlns:a="http://schemas.openxmlformats.org/drawingml/2006/main">
              <a:ext uri="{FF2B5EF4-FFF2-40B4-BE49-F238E27FC236}">
                <a16:creationId xmlns:a16="http://schemas.microsoft.com/office/drawing/2014/main" id="{401CFD2A-6580-418A-B55E-B865980BFE82}"/>
              </a:ext>
            </a:extLst>
          </p:cNvPr>
          <p:cNvSpPr>
            <a:spLocks xmlns:a="http://schemas.openxmlformats.org/drawingml/2006/main" noGrp="1"/>
          </p:cNvSpPr>
          <p:nvPr/>
        </p:nvSpPr>
        <p:spPr>
          <a:xfrm xmlns:a="http://schemas.openxmlformats.org/drawingml/2006/main">
            <a:off x="301752" y="2779776"/>
            <a:ext cx="4178808" cy="1682496"/>
          </a:xfrm>
          <a:prstGeom xmlns:a="http://schemas.openxmlformats.org/drawingml/2006/main" prst="roundRect">
            <a:avLst>
              <a:gd name="adj" fmla="val 3261"/>
            </a:avLst>
          </a:prstGeom>
          <a:solidFill xmlns:a="http://schemas.openxmlformats.org/drawingml/2006/main">
            <a:srgbClr val="F6FAF9"/>
          </a:solidFill>
          <a:ln xmlns:a="http://schemas.openxmlformats.org/drawingml/2006/main" w="9525">
            <a:solidFill>
              <a:srgbClr val="C9DAD6"/>
            </a:solidFill>
          </a:ln>
        </p:spPr>
      </p:sp>
      <p:sp>
        <p:nvSpPr>
          <p:cNvPr id="17" name="ANUARIO_ACENTO">
            <a:extLst xmlns:a="http://schemas.openxmlformats.org/drawingml/2006/main">
              <a:ext uri="{FF2B5EF4-FFF2-40B4-BE49-F238E27FC236}">
                <a16:creationId xmlns:a16="http://schemas.microsoft.com/office/drawing/2014/main" id="{5EE6C27E-4748-4FC1-9ED2-769BE943C82E}"/>
              </a:ext>
            </a:extLst>
          </p:cNvPr>
          <p:cNvSpPr>
            <a:spLocks xmlns:a="http://schemas.openxmlformats.org/drawingml/2006/main" noGrp="1"/>
          </p:cNvSpPr>
          <p:nvPr/>
        </p:nvSpPr>
        <p:spPr>
          <a:xfrm xmlns:a="http://schemas.openxmlformats.org/drawingml/2006/main">
            <a:off x="301752" y="2852928"/>
            <a:ext cx="64008" cy="153619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8" name="ANUARIO_SECCION">
            <a:extLst xmlns:a="http://schemas.openxmlformats.org/drawingml/2006/main">
              <a:ext uri="{FF2B5EF4-FFF2-40B4-BE49-F238E27FC236}">
                <a16:creationId xmlns:a16="http://schemas.microsoft.com/office/drawing/2014/main" id="{39B3E12E-FE84-4C5F-8033-38B7693F1D33}"/>
              </a:ext>
            </a:extLst>
          </p:cNvPr>
          <p:cNvSpPr>
            <a:spLocks xmlns:a="http://schemas.openxmlformats.org/drawingml/2006/main" noGrp="1"/>
          </p:cNvSpPr>
          <p:nvPr/>
        </p:nvSpPr>
        <p:spPr>
          <a:xfrm xmlns:a="http://schemas.openxmlformats.org/drawingml/2006/main">
            <a:off x="466344" y="2871216"/>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Ponderadores de la división Comunicaciones del INPC</a:t>
            </a:r>
          </a:p>
        </p:txBody>
      </p:sp>
      <p:graphicFrame>
        <p:nvGraphicFramePr>
          <p:cNvPr id="71" name=""/>
          <p:cNvGraphicFramePr/>
          <p:nvPr/>
        </p:nvGraphicFramePr>
        <p:xfrm>
          <a:off xmlns:a="http://schemas.openxmlformats.org/drawingml/2006/main" x="466344" y="3172968"/>
          <a:ext xmlns:a="http://schemas.openxmlformats.org/drawingml/2006/main" cx="3794760" cy="941832"/>
        </p:xfrm>
        <a:graphic xmlns:a="http://schemas.openxmlformats.org/drawingml/2006/main">
          <a:graphicData uri="http://schemas.openxmlformats.org/drawingml/2006/table">
            <a:tbl>
              <a:tblPr firstRow="0" bandRow="0"/>
              <a:tblGrid>
                <a:gridCol w="3008376"/>
                <a:gridCol w="786384"/>
              </a:tblGrid>
              <a:tr h="117729">
                <a:tc>
                  <a:txBody>
                    <a:bodyPr lIns="38100" tIns="19050" rIns="38100" bIns="19050" wrap="square">
                      <a:noAutofit/>
                    </a:bodyPr>
                    <a:lstStyle/>
                    <a:p>
                      <a:pPr algn="l"/>
                      <a:r>
                        <a:rPr sz="580" b="1">
                          <a:solidFill>
                            <a:srgbClr val="FFFFFF"/>
                          </a:solidFill>
                          <a:latin typeface="DejaVu Sans"/>
                          <a:ea typeface="DejaVu Sans"/>
                          <a:cs typeface="DejaVu Sans"/>
                        </a:rPr>
                        <a:t>Concepto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580" b="1">
                          <a:solidFill>
                            <a:srgbClr val="FFFFFF"/>
                          </a:solidFill>
                          <a:latin typeface="DejaVu Sans"/>
                          <a:ea typeface="DejaVu Sans"/>
                          <a:cs typeface="DejaVu Sans"/>
                        </a:rPr>
                        <a:t>Ponderador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Comunicaciones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3.13%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telefonía móvil</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1.28%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Paquetes de Internet, telefonía y televisión de paga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1.09%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Equipo terminal de comunicación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0.35%</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telefonía fija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0.28%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Internet</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0.12%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Paquetería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0.02%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bl>
          </a:graphicData>
        </a:graphic>
      </p:graphicFrame>
      <p:sp>
        <p:nvSpPr>
          <p:cNvPr id="20" name="ANUARIO_FUENTE_COM_0">
            <a:extLst xmlns:a="http://schemas.openxmlformats.org/drawingml/2006/main">
              <a:ext uri="{FF2B5EF4-FFF2-40B4-BE49-F238E27FC236}">
                <a16:creationId xmlns:a16="http://schemas.microsoft.com/office/drawing/2014/main" id="{9C8104C5-B47C-41A9-8AE0-FD6707792AAA}"/>
              </a:ext>
            </a:extLst>
          </p:cNvPr>
          <p:cNvSpPr>
            <a:spLocks xmlns:a="http://schemas.openxmlformats.org/drawingml/2006/main" noGrp="1"/>
          </p:cNvSpPr>
          <p:nvPr/>
        </p:nvSpPr>
        <p:spPr>
          <a:xfrm xmlns:a="http://schemas.openxmlformats.org/drawingml/2006/main">
            <a:off x="466344" y="4169664"/>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1" i="0">
                <a:solidFill>
                  <a:srgbClr val="2F7F6F"/>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Ponderadores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INPC,</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Objeto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Gasto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Nacional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Genérico.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Segunda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quincena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julio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2018=100,</a:t>
            </a:r>
            <a:r>
              <a:rPr sz="520" b="0" i="0">
                <a:solidFill>
                  <a:srgbClr val="24383A"/>
                </a:solidFill>
                <a:latin typeface="DejaVu Sans"/>
                <a:ea typeface="DejaVu Sans"/>
                <a:cs typeface="DejaVu Sans"/>
              </a:rPr>
              <a:t> </a:t>
            </a:r>
          </a:p>
        </p:txBody>
      </p:sp>
      <p:sp>
        <p:nvSpPr>
          <p:cNvPr id="21" name="ANUARIO_FUENTE_COM_1">
            <a:extLst xmlns:a="http://schemas.openxmlformats.org/drawingml/2006/main">
              <a:ext uri="{FF2B5EF4-FFF2-40B4-BE49-F238E27FC236}">
                <a16:creationId xmlns:a16="http://schemas.microsoft.com/office/drawing/2014/main" id="{B80100D2-0301-462B-BF98-09816C131E65}"/>
              </a:ext>
            </a:extLst>
          </p:cNvPr>
          <p:cNvSpPr>
            <a:spLocks xmlns:a="http://schemas.openxmlformats.org/drawingml/2006/main" noGrp="1"/>
          </p:cNvSpPr>
          <p:nvPr/>
        </p:nvSpPr>
        <p:spPr>
          <a:xfrm xmlns:a="http://schemas.openxmlformats.org/drawingml/2006/main">
            <a:off x="466344" y="4243629"/>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Disponible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en: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https://www.inegi.org.mx/programas/inpc/2018/</a:t>
            </a:r>
            <a:r>
              <a:rPr sz="520" b="0" i="0">
                <a:solidFill>
                  <a:srgbClr val="24383A"/>
                </a:solidFill>
                <a:latin typeface="DejaVu Sans"/>
                <a:ea typeface="DejaVu Sans"/>
                <a:cs typeface="DejaVu Sans"/>
              </a:rPr>
              <a:t>.</a:t>
            </a:r>
          </a:p>
        </p:txBody>
      </p:sp>
      <p:sp>
        <p:nvSpPr>
          <p:cNvPr id="22" name="ANUARIO_ANEXO_P127_DESIGN_2026">
            <a:extLst xmlns:a="http://schemas.openxmlformats.org/drawingml/2006/main">
              <a:ext uri="{FF2B5EF4-FFF2-40B4-BE49-F238E27FC236}">
                <a16:creationId xmlns:a16="http://schemas.microsoft.com/office/drawing/2014/main" id="{B60B7500-36C4-4523-BA92-2D48103E4A12}"/>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23" name="ANUARIO_ACENTO">
            <a:extLst xmlns:a="http://schemas.openxmlformats.org/drawingml/2006/main">
              <a:ext uri="{FF2B5EF4-FFF2-40B4-BE49-F238E27FC236}">
                <a16:creationId xmlns:a16="http://schemas.microsoft.com/office/drawing/2014/main" id="{1F5A2265-EC3A-42FD-9695-EC131807CF8F}"/>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4" name="ANUARIO_SECCION">
            <a:extLst xmlns:a="http://schemas.openxmlformats.org/drawingml/2006/main">
              <a:ext uri="{FF2B5EF4-FFF2-40B4-BE49-F238E27FC236}">
                <a16:creationId xmlns:a16="http://schemas.microsoft.com/office/drawing/2014/main" id="{1782B35E-E3C7-4202-B250-5602EE58FD07}"/>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Ingreso y gasto de los hogares</a:t>
            </a:r>
          </a:p>
        </p:txBody>
      </p:sp>
      <p:sp>
        <p:nvSpPr>
          <p:cNvPr id="25" name="ANUARIO_INGRESOGASTO_0">
            <a:extLst xmlns:a="http://schemas.openxmlformats.org/drawingml/2006/main">
              <a:ext uri="{FF2B5EF4-FFF2-40B4-BE49-F238E27FC236}">
                <a16:creationId xmlns:a16="http://schemas.microsoft.com/office/drawing/2014/main" id="{306828B9-CD90-4187-848B-A59AE40F62BA}"/>
              </a:ext>
            </a:extLst>
          </p:cNvPr>
          <p:cNvSpPr>
            <a:spLocks xmlns:a="http://schemas.openxmlformats.org/drawingml/2006/main" noGrp="1"/>
          </p:cNvSpPr>
          <p:nvPr/>
        </p:nvSpPr>
        <p:spPr>
          <a:xfrm xmlns:a="http://schemas.openxmlformats.org/drawingml/2006/main">
            <a:off x="4828032" y="100584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información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mostrada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Anuario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refiere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p>
        </p:txBody>
      </p:sp>
      <p:sp>
        <p:nvSpPr>
          <p:cNvPr id="26" name="ANUARIO_INGRESOGASTO_1">
            <a:extLst xmlns:a="http://schemas.openxmlformats.org/drawingml/2006/main">
              <a:ext uri="{FF2B5EF4-FFF2-40B4-BE49-F238E27FC236}">
                <a16:creationId xmlns:a16="http://schemas.microsoft.com/office/drawing/2014/main" id="{9401DF79-85EE-45A8-9180-B5D8F33945B2}"/>
              </a:ext>
            </a:extLst>
          </p:cNvPr>
          <p:cNvSpPr>
            <a:spLocks xmlns:a="http://schemas.openxmlformats.org/drawingml/2006/main" noGrp="1"/>
          </p:cNvSpPr>
          <p:nvPr/>
        </p:nvSpPr>
        <p:spPr>
          <a:xfrm xmlns:a="http://schemas.openxmlformats.org/drawingml/2006/main">
            <a:off x="4828032" y="109687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obtuvo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información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p>
        </p:txBody>
      </p:sp>
      <p:sp>
        <p:nvSpPr>
          <p:cNvPr id="27" name="ANUARIO_INGRESOGASTO_2">
            <a:extLst xmlns:a="http://schemas.openxmlformats.org/drawingml/2006/main">
              <a:ext uri="{FF2B5EF4-FFF2-40B4-BE49-F238E27FC236}">
                <a16:creationId xmlns:a16="http://schemas.microsoft.com/office/drawing/2014/main" id="{197CE8B5-5EDB-4269-A659-EEA8986FB732}"/>
              </a:ext>
            </a:extLst>
          </p:cNvPr>
          <p:cNvSpPr>
            <a:spLocks xmlns:a="http://schemas.openxmlformats.org/drawingml/2006/main" noGrp="1"/>
          </p:cNvSpPr>
          <p:nvPr/>
        </p:nvSpPr>
        <p:spPr>
          <a:xfrm xmlns:a="http://schemas.openxmlformats.org/drawingml/2006/main">
            <a:off x="4828032" y="1187907"/>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ENIGH</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2024</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publica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INEGI.</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metodología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siguiente:</a:t>
            </a:r>
          </a:p>
        </p:txBody>
      </p:sp>
      <p:sp>
        <p:nvSpPr>
          <p:cNvPr id="28" name="ANUARIO_INGRESOGASTO_3">
            <a:extLst xmlns:a="http://schemas.openxmlformats.org/drawingml/2006/main">
              <a:ext uri="{FF2B5EF4-FFF2-40B4-BE49-F238E27FC236}">
                <a16:creationId xmlns:a16="http://schemas.microsoft.com/office/drawing/2014/main" id="{4AE3B3F7-138D-4C90-8419-3A0E246CA6BA}"/>
              </a:ext>
            </a:extLst>
          </p:cNvPr>
          <p:cNvSpPr>
            <a:spLocks xmlns:a="http://schemas.openxmlformats.org/drawingml/2006/main" noGrp="1"/>
          </p:cNvSpPr>
          <p:nvPr/>
        </p:nvSpPr>
        <p:spPr>
          <a:xfrm xmlns:a="http://schemas.openxmlformats.org/drawingml/2006/main">
            <a:off x="4828032" y="1304341"/>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1.</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primera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instancia,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clasifican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deciles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acuerdo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su</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p>
        </p:txBody>
      </p:sp>
      <p:sp>
        <p:nvSpPr>
          <p:cNvPr id="29" name="ANUARIO_INGRESOGASTO_4">
            <a:extLst xmlns:a="http://schemas.openxmlformats.org/drawingml/2006/main">
              <a:ext uri="{FF2B5EF4-FFF2-40B4-BE49-F238E27FC236}">
                <a16:creationId xmlns:a16="http://schemas.microsoft.com/office/drawing/2014/main" id="{573DDF90-A475-4C2E-8C44-6E48110B097A}"/>
              </a:ext>
            </a:extLst>
          </p:cNvPr>
          <p:cNvSpPr>
            <a:spLocks xmlns:a="http://schemas.openxmlformats.org/drawingml/2006/main" noGrp="1"/>
          </p:cNvSpPr>
          <p:nvPr/>
        </p:nvSpPr>
        <p:spPr>
          <a:xfrm xmlns:a="http://schemas.openxmlformats.org/drawingml/2006/main">
            <a:off x="4828032" y="139537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trimestral.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corriente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encuentra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tablas</a:t>
            </a:r>
            <a:r>
              <a:rPr sz="640" b="0" i="0">
                <a:solidFill>
                  <a:srgbClr val="24383A"/>
                </a:solidFill>
                <a:latin typeface="DejaVu Sans"/>
                <a:ea typeface="DejaVu Sans"/>
                <a:cs typeface="DejaVu Sans"/>
              </a:rPr>
              <a:t> </a:t>
            </a:r>
          </a:p>
        </p:txBody>
      </p:sp>
      <p:sp>
        <p:nvSpPr>
          <p:cNvPr id="30" name="ANUARIO_INGRESOGASTO_5">
            <a:extLst xmlns:a="http://schemas.openxmlformats.org/drawingml/2006/main">
              <a:ext uri="{FF2B5EF4-FFF2-40B4-BE49-F238E27FC236}">
                <a16:creationId xmlns:a16="http://schemas.microsoft.com/office/drawing/2014/main" id="{FB35DA7E-3393-4E10-8A96-3229E16BC591}"/>
              </a:ext>
            </a:extLst>
          </p:cNvPr>
          <p:cNvSpPr>
            <a:spLocks xmlns:a="http://schemas.openxmlformats.org/drawingml/2006/main" noGrp="1"/>
          </p:cNvSpPr>
          <p:nvPr/>
        </p:nvSpPr>
        <p:spPr>
          <a:xfrm xmlns:a="http://schemas.openxmlformats.org/drawingml/2006/main">
            <a:off x="4828032" y="148640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disponibles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encuesta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llamada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CONCENTRADOHOGAR.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deciles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calculan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p>
        </p:txBody>
      </p:sp>
      <p:sp>
        <p:nvSpPr>
          <p:cNvPr id="31" name="ANUARIO_INGRESOGASTO_6">
            <a:extLst xmlns:a="http://schemas.openxmlformats.org/drawingml/2006/main">
              <a:ext uri="{FF2B5EF4-FFF2-40B4-BE49-F238E27FC236}">
                <a16:creationId xmlns:a16="http://schemas.microsoft.com/office/drawing/2014/main" id="{EFEAFF3A-894F-4151-B108-EB9D0A0FBCDE}"/>
              </a:ext>
            </a:extLst>
          </p:cNvPr>
          <p:cNvSpPr>
            <a:spLocks xmlns:a="http://schemas.openxmlformats.org/drawingml/2006/main" noGrp="1"/>
          </p:cNvSpPr>
          <p:nvPr/>
        </p:nvSpPr>
        <p:spPr>
          <a:xfrm xmlns:a="http://schemas.openxmlformats.org/drawingml/2006/main">
            <a:off x="4828032" y="157744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acuerdo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esté</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considerando,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nivel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nacional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una</a:t>
            </a:r>
            <a:r>
              <a:rPr sz="640" b="0" i="0">
                <a:solidFill>
                  <a:srgbClr val="24383A"/>
                </a:solidFill>
                <a:latin typeface="DejaVu Sans"/>
                <a:ea typeface="DejaVu Sans"/>
                <a:cs typeface="DejaVu Sans"/>
              </a:rPr>
              <a:t> </a:t>
            </a:r>
          </a:p>
        </p:txBody>
      </p:sp>
      <p:sp>
        <p:nvSpPr>
          <p:cNvPr id="32" name="ANUARIO_INGRESOGASTO_7">
            <a:extLst xmlns:a="http://schemas.openxmlformats.org/drawingml/2006/main">
              <a:ext uri="{FF2B5EF4-FFF2-40B4-BE49-F238E27FC236}">
                <a16:creationId xmlns:a16="http://schemas.microsoft.com/office/drawing/2014/main" id="{822896DF-0BA6-4A21-8AFB-EE8BA9FF647D}"/>
              </a:ext>
            </a:extLst>
          </p:cNvPr>
          <p:cNvSpPr>
            <a:spLocks xmlns:a="http://schemas.openxmlformats.org/drawingml/2006/main" noGrp="1"/>
          </p:cNvSpPr>
          <p:nvPr/>
        </p:nvSpPr>
        <p:spPr>
          <a:xfrm xmlns:a="http://schemas.openxmlformats.org/drawingml/2006/main">
            <a:off x="4828032" y="1668475"/>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entidades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federativas.</a:t>
            </a:r>
          </a:p>
        </p:txBody>
      </p:sp>
      <p:sp>
        <p:nvSpPr>
          <p:cNvPr id="33" name="ANUARIO_INGRESOGASTO_8">
            <a:extLst xmlns:a="http://schemas.openxmlformats.org/drawingml/2006/main">
              <a:ext uri="{FF2B5EF4-FFF2-40B4-BE49-F238E27FC236}">
                <a16:creationId xmlns:a16="http://schemas.microsoft.com/office/drawing/2014/main" id="{3430B251-658A-4E9D-9FA6-98EC24C85356}"/>
              </a:ext>
            </a:extLst>
          </p:cNvPr>
          <p:cNvSpPr>
            <a:spLocks xmlns:a="http://schemas.openxmlformats.org/drawingml/2006/main" noGrp="1"/>
          </p:cNvSpPr>
          <p:nvPr/>
        </p:nvSpPr>
        <p:spPr>
          <a:xfrm xmlns:a="http://schemas.openxmlformats.org/drawingml/2006/main">
            <a:off x="4828032" y="1784909"/>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2.</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figuras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mostradas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tanto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nacional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como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estatal,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definen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dos</a:t>
            </a:r>
            <a:r>
              <a:rPr sz="640" b="0" i="0">
                <a:solidFill>
                  <a:srgbClr val="24383A"/>
                </a:solidFill>
                <a:latin typeface="DejaVu Sans"/>
                <a:ea typeface="DejaVu Sans"/>
                <a:cs typeface="DejaVu Sans"/>
              </a:rPr>
              <a:t> </a:t>
            </a:r>
          </a:p>
        </p:txBody>
      </p:sp>
      <p:sp>
        <p:nvSpPr>
          <p:cNvPr id="34" name="ANUARIO_INGRESOGASTO_9">
            <a:extLst xmlns:a="http://schemas.openxmlformats.org/drawingml/2006/main">
              <a:ext uri="{FF2B5EF4-FFF2-40B4-BE49-F238E27FC236}">
                <a16:creationId xmlns:a16="http://schemas.microsoft.com/office/drawing/2014/main" id="{5AB85AC6-7376-49F6-B064-257203DCE43F}"/>
              </a:ext>
            </a:extLst>
          </p:cNvPr>
          <p:cNvSpPr>
            <a:spLocks xmlns:a="http://schemas.openxmlformats.org/drawingml/2006/main" noGrp="1"/>
          </p:cNvSpPr>
          <p:nvPr/>
        </p:nvSpPr>
        <p:spPr>
          <a:xfrm xmlns:a="http://schemas.openxmlformats.org/drawingml/2006/main">
            <a:off x="4828032" y="187594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universos: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disponen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p>
        </p:txBody>
      </p:sp>
      <p:sp>
        <p:nvSpPr>
          <p:cNvPr id="35" name="ANUARIO_INGRESOGASTO_10">
            <a:extLst xmlns:a="http://schemas.openxmlformats.org/drawingml/2006/main">
              <a:ext uri="{FF2B5EF4-FFF2-40B4-BE49-F238E27FC236}">
                <a16:creationId xmlns:a16="http://schemas.microsoft.com/office/drawing/2014/main" id="{4994AB3D-64AE-41AB-84DE-24C8C0B275CB}"/>
              </a:ext>
            </a:extLst>
          </p:cNvPr>
          <p:cNvSpPr>
            <a:spLocks xmlns:a="http://schemas.openxmlformats.org/drawingml/2006/main" noGrp="1"/>
          </p:cNvSpPr>
          <p:nvPr/>
        </p:nvSpPr>
        <p:spPr>
          <a:xfrm xmlns:a="http://schemas.openxmlformats.org/drawingml/2006/main">
            <a:off x="4828032" y="196697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disponen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p>
        </p:txBody>
      </p:sp>
      <p:sp>
        <p:nvSpPr>
          <p:cNvPr id="36" name="ANUARIO_INGRESOGASTO_11">
            <a:extLst xmlns:a="http://schemas.openxmlformats.org/drawingml/2006/main">
              <a:ext uri="{FF2B5EF4-FFF2-40B4-BE49-F238E27FC236}">
                <a16:creationId xmlns:a16="http://schemas.microsoft.com/office/drawing/2014/main" id="{5B63A228-E74C-47B1-A302-4EDF6AA93387}"/>
              </a:ext>
            </a:extLst>
          </p:cNvPr>
          <p:cNvSpPr>
            <a:spLocks xmlns:a="http://schemas.openxmlformats.org/drawingml/2006/main" noGrp="1"/>
          </p:cNvSpPr>
          <p:nvPr/>
        </p:nvSpPr>
        <p:spPr>
          <a:xfrm xmlns:a="http://schemas.openxmlformats.org/drawingml/2006/main">
            <a:off x="4828032" y="205801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t>
            </a:r>
          </a:p>
        </p:txBody>
      </p:sp>
      <p:sp>
        <p:nvSpPr>
          <p:cNvPr id="37" name="ANUARIO_INGRESOGASTO_12">
            <a:extLst xmlns:a="http://schemas.openxmlformats.org/drawingml/2006/main">
              <a:ext uri="{FF2B5EF4-FFF2-40B4-BE49-F238E27FC236}">
                <a16:creationId xmlns:a16="http://schemas.microsoft.com/office/drawing/2014/main" id="{A7D11A55-AE3E-45C5-B0A8-01AFC13F6C75}"/>
              </a:ext>
            </a:extLst>
          </p:cNvPr>
          <p:cNvSpPr>
            <a:spLocks xmlns:a="http://schemas.openxmlformats.org/drawingml/2006/main" noGrp="1"/>
          </p:cNvSpPr>
          <p:nvPr/>
        </p:nvSpPr>
        <p:spPr>
          <a:xfrm xmlns:a="http://schemas.openxmlformats.org/drawingml/2006/main">
            <a:off x="4828032" y="2174443"/>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3.</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estima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trimestral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p>
        </p:txBody>
      </p:sp>
      <p:sp>
        <p:nvSpPr>
          <p:cNvPr id="38" name="ANUARIO_INGRESOGASTO_13">
            <a:extLst xmlns:a="http://schemas.openxmlformats.org/drawingml/2006/main">
              <a:ext uri="{FF2B5EF4-FFF2-40B4-BE49-F238E27FC236}">
                <a16:creationId xmlns:a16="http://schemas.microsoft.com/office/drawing/2014/main" id="{86A44643-09DB-409A-8690-7B8FDCBF4C85}"/>
              </a:ext>
            </a:extLst>
          </p:cNvPr>
          <p:cNvSpPr>
            <a:spLocks xmlns:a="http://schemas.openxmlformats.org/drawingml/2006/main" noGrp="1"/>
          </p:cNvSpPr>
          <p:nvPr/>
        </p:nvSpPr>
        <p:spPr>
          <a:xfrm xmlns:a="http://schemas.openxmlformats.org/drawingml/2006/main">
            <a:off x="4828032" y="2265477"/>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considerando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siguientes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conceptos,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p>
        </p:txBody>
      </p:sp>
      <p:sp>
        <p:nvSpPr>
          <p:cNvPr id="39" name="ANUARIO_INGRESOGASTO_14">
            <a:extLst xmlns:a="http://schemas.openxmlformats.org/drawingml/2006/main">
              <a:ext uri="{FF2B5EF4-FFF2-40B4-BE49-F238E27FC236}">
                <a16:creationId xmlns:a16="http://schemas.microsoft.com/office/drawing/2014/main" id="{8D7EB7BC-4031-43FA-AB9A-B15B56DF479A}"/>
              </a:ext>
            </a:extLst>
          </p:cNvPr>
          <p:cNvSpPr>
            <a:spLocks xmlns:a="http://schemas.openxmlformats.org/drawingml/2006/main" noGrp="1"/>
          </p:cNvSpPr>
          <p:nvPr/>
        </p:nvSpPr>
        <p:spPr>
          <a:xfrm xmlns:a="http://schemas.openxmlformats.org/drawingml/2006/main">
            <a:off x="4828032" y="235651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tabla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GASTOSHOGAR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encuesta:</a:t>
            </a:r>
          </a:p>
        </p:txBody>
      </p:sp>
      <p:sp>
        <p:nvSpPr>
          <p:cNvPr id="40" name="ANUARIO_INGRESOGASTO_15">
            <a:extLst xmlns:a="http://schemas.openxmlformats.org/drawingml/2006/main">
              <a:ext uri="{FF2B5EF4-FFF2-40B4-BE49-F238E27FC236}">
                <a16:creationId xmlns:a16="http://schemas.microsoft.com/office/drawing/2014/main" id="{CB842B0B-2AC0-4063-9996-105BB0771E30}"/>
              </a:ext>
            </a:extLst>
          </p:cNvPr>
          <p:cNvSpPr>
            <a:spLocks xmlns:a="http://schemas.openxmlformats.org/drawingml/2006/main" noGrp="1"/>
          </p:cNvSpPr>
          <p:nvPr/>
        </p:nvSpPr>
        <p:spPr>
          <a:xfrm xmlns:a="http://schemas.openxmlformats.org/drawingml/2006/main">
            <a:off x="4828032" y="247294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p>
        </p:txBody>
      </p:sp>
      <p:sp>
        <p:nvSpPr>
          <p:cNvPr id="41" name="ANUARIO_INGRESOGASTO_16">
            <a:extLst xmlns:a="http://schemas.openxmlformats.org/drawingml/2006/main">
              <a:ext uri="{FF2B5EF4-FFF2-40B4-BE49-F238E27FC236}">
                <a16:creationId xmlns:a16="http://schemas.microsoft.com/office/drawing/2014/main" id="{5303C755-FC46-4E9C-9110-058AA9F1EEE7}"/>
              </a:ext>
            </a:extLst>
          </p:cNvPr>
          <p:cNvSpPr>
            <a:spLocks xmlns:a="http://schemas.openxmlformats.org/drawingml/2006/main" noGrp="1"/>
          </p:cNvSpPr>
          <p:nvPr/>
        </p:nvSpPr>
        <p:spPr>
          <a:xfrm xmlns:a="http://schemas.openxmlformats.org/drawingml/2006/main">
            <a:off x="4828032" y="258937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R005:</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Larga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distancia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línea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particular</a:t>
            </a:r>
          </a:p>
        </p:txBody>
      </p:sp>
      <p:sp>
        <p:nvSpPr>
          <p:cNvPr id="42" name="ANUARIO_INGRESOGASTO_17">
            <a:extLst xmlns:a="http://schemas.openxmlformats.org/drawingml/2006/main">
              <a:ext uri="{FF2B5EF4-FFF2-40B4-BE49-F238E27FC236}">
                <a16:creationId xmlns:a16="http://schemas.microsoft.com/office/drawing/2014/main" id="{11E00626-76D9-472F-B4D3-F59767E75FA3}"/>
              </a:ext>
            </a:extLst>
          </p:cNvPr>
          <p:cNvSpPr>
            <a:spLocks xmlns:a="http://schemas.openxmlformats.org/drawingml/2006/main" noGrp="1"/>
          </p:cNvSpPr>
          <p:nvPr/>
        </p:nvSpPr>
        <p:spPr>
          <a:xfrm xmlns:a="http://schemas.openxmlformats.org/drawingml/2006/main">
            <a:off x="4828032" y="2705811"/>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R006:</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Llamadas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locales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línea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particular</a:t>
            </a:r>
          </a:p>
        </p:txBody>
      </p:sp>
      <p:sp>
        <p:nvSpPr>
          <p:cNvPr id="43" name="ANUARIO_INGRESOGASTO_18">
            <a:extLst xmlns:a="http://schemas.openxmlformats.org/drawingml/2006/main">
              <a:ext uri="{FF2B5EF4-FFF2-40B4-BE49-F238E27FC236}">
                <a16:creationId xmlns:a16="http://schemas.microsoft.com/office/drawing/2014/main" id="{3B6FDC96-6720-4E93-929C-1C5D1DC6F3B6}"/>
              </a:ext>
            </a:extLst>
          </p:cNvPr>
          <p:cNvSpPr>
            <a:spLocks xmlns:a="http://schemas.openxmlformats.org/drawingml/2006/main" noGrp="1"/>
          </p:cNvSpPr>
          <p:nvPr/>
        </p:nvSpPr>
        <p:spPr>
          <a:xfrm xmlns:a="http://schemas.openxmlformats.org/drawingml/2006/main">
            <a:off x="4828032" y="2822245"/>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R008:</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p>
        </p:txBody>
      </p:sp>
      <p:sp>
        <p:nvSpPr>
          <p:cNvPr id="44" name="ANUARIO_INGRESOGASTO_19">
            <a:extLst xmlns:a="http://schemas.openxmlformats.org/drawingml/2006/main">
              <a:ext uri="{FF2B5EF4-FFF2-40B4-BE49-F238E27FC236}">
                <a16:creationId xmlns:a16="http://schemas.microsoft.com/office/drawing/2014/main" id="{A8E4A517-5212-4E1E-BB44-3E196BD7CC1E}"/>
              </a:ext>
            </a:extLst>
          </p:cNvPr>
          <p:cNvSpPr>
            <a:spLocks xmlns:a="http://schemas.openxmlformats.org/drawingml/2006/main" noGrp="1"/>
          </p:cNvSpPr>
          <p:nvPr/>
        </p:nvSpPr>
        <p:spPr>
          <a:xfrm xmlns:a="http://schemas.openxmlformats.org/drawingml/2006/main">
            <a:off x="4828032" y="293867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R009:</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Televisión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paga</a:t>
            </a:r>
          </a:p>
        </p:txBody>
      </p:sp>
      <p:sp>
        <p:nvSpPr>
          <p:cNvPr id="45" name="ANUARIO_INGRESOGASTO_20">
            <a:extLst xmlns:a="http://schemas.openxmlformats.org/drawingml/2006/main">
              <a:ext uri="{FF2B5EF4-FFF2-40B4-BE49-F238E27FC236}">
                <a16:creationId xmlns:a16="http://schemas.microsoft.com/office/drawing/2014/main" id="{D65C97CD-36FB-4B44-ABB8-A01672980011}"/>
              </a:ext>
            </a:extLst>
          </p:cNvPr>
          <p:cNvSpPr>
            <a:spLocks xmlns:a="http://schemas.openxmlformats.org/drawingml/2006/main" noGrp="1"/>
          </p:cNvSpPr>
          <p:nvPr/>
        </p:nvSpPr>
        <p:spPr>
          <a:xfrm xmlns:a="http://schemas.openxmlformats.org/drawingml/2006/main">
            <a:off x="4828032" y="305511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R010:</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Paquete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p>
        </p:txBody>
      </p:sp>
      <p:sp>
        <p:nvSpPr>
          <p:cNvPr id="46" name="ANUARIO_INGRESOGASTO_21">
            <a:extLst xmlns:a="http://schemas.openxmlformats.org/drawingml/2006/main">
              <a:ext uri="{FF2B5EF4-FFF2-40B4-BE49-F238E27FC236}">
                <a16:creationId xmlns:a16="http://schemas.microsoft.com/office/drawing/2014/main" id="{13CD507D-4348-40F0-9F7D-B307579BD631}"/>
              </a:ext>
            </a:extLst>
          </p:cNvPr>
          <p:cNvSpPr>
            <a:spLocks xmlns:a="http://schemas.openxmlformats.org/drawingml/2006/main" noGrp="1"/>
          </p:cNvSpPr>
          <p:nvPr/>
        </p:nvSpPr>
        <p:spPr>
          <a:xfrm xmlns:a="http://schemas.openxmlformats.org/drawingml/2006/main">
            <a:off x="4828032" y="317154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R011:</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Paquete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televisión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paga</a:t>
            </a:r>
            <a:r>
              <a:rPr sz="640" b="0" i="0">
                <a:solidFill>
                  <a:srgbClr val="24383A"/>
                </a:solidFill>
                <a:latin typeface="DejaVu Sans"/>
                <a:ea typeface="DejaVu Sans"/>
                <a:cs typeface="DejaVu Sans"/>
              </a:rPr>
              <a:t> </a:t>
            </a:r>
          </a:p>
        </p:txBody>
      </p:sp>
      <p:sp>
        <p:nvSpPr>
          <p:cNvPr id="47" name="ANUARIO_INGRESOGASTO_22">
            <a:extLst xmlns:a="http://schemas.openxmlformats.org/drawingml/2006/main">
              <a:ext uri="{FF2B5EF4-FFF2-40B4-BE49-F238E27FC236}">
                <a16:creationId xmlns:a16="http://schemas.microsoft.com/office/drawing/2014/main" id="{E5F86568-600E-47EF-9A90-0002389AE167}"/>
              </a:ext>
            </a:extLst>
          </p:cNvPr>
          <p:cNvSpPr>
            <a:spLocks xmlns:a="http://schemas.openxmlformats.org/drawingml/2006/main" noGrp="1"/>
          </p:cNvSpPr>
          <p:nvPr/>
        </p:nvSpPr>
        <p:spPr>
          <a:xfrm xmlns:a="http://schemas.openxmlformats.org/drawingml/2006/main">
            <a:off x="4828032" y="3287979"/>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t>
            </a:r>
          </a:p>
        </p:txBody>
      </p:sp>
      <p:sp>
        <p:nvSpPr>
          <p:cNvPr id="48" name="ANUARIO_INGRESOGASTO_23">
            <a:extLst xmlns:a="http://schemas.openxmlformats.org/drawingml/2006/main">
              <a:ext uri="{FF2B5EF4-FFF2-40B4-BE49-F238E27FC236}">
                <a16:creationId xmlns:a16="http://schemas.microsoft.com/office/drawing/2014/main" id="{BCD60557-15D4-4CCF-82DC-81730CD534D0}"/>
              </a:ext>
            </a:extLst>
          </p:cNvPr>
          <p:cNvSpPr>
            <a:spLocks xmlns:a="http://schemas.openxmlformats.org/drawingml/2006/main" noGrp="1"/>
          </p:cNvSpPr>
          <p:nvPr/>
        </p:nvSpPr>
        <p:spPr>
          <a:xfrm xmlns:a="http://schemas.openxmlformats.org/drawingml/2006/main">
            <a:off x="4828032" y="3404413"/>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F003:</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Compra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tarjetas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por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celular</a:t>
            </a:r>
          </a:p>
        </p:txBody>
      </p:sp>
      <p:sp>
        <p:nvSpPr>
          <p:cNvPr id="49" name="ANUARIO_INGRESOGASTO_24">
            <a:extLst xmlns:a="http://schemas.openxmlformats.org/drawingml/2006/main">
              <a:ext uri="{FF2B5EF4-FFF2-40B4-BE49-F238E27FC236}">
                <a16:creationId xmlns:a16="http://schemas.microsoft.com/office/drawing/2014/main" id="{0536F298-E53C-454C-A3BB-6AEBBAC2AD99}"/>
              </a:ext>
            </a:extLst>
          </p:cNvPr>
          <p:cNvSpPr>
            <a:spLocks xmlns:a="http://schemas.openxmlformats.org/drawingml/2006/main" noGrp="1"/>
          </p:cNvSpPr>
          <p:nvPr/>
        </p:nvSpPr>
        <p:spPr>
          <a:xfrm xmlns:a="http://schemas.openxmlformats.org/drawingml/2006/main">
            <a:off x="4828032" y="352084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R007:</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celulares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(plan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mensual)</a:t>
            </a:r>
          </a:p>
        </p:txBody>
      </p:sp>
      <p:sp>
        <p:nvSpPr>
          <p:cNvPr id="50" name="ANUARIO_PONDERADOR_NOTA_0">
            <a:extLst xmlns:a="http://schemas.openxmlformats.org/drawingml/2006/main">
              <a:ext uri="{FF2B5EF4-FFF2-40B4-BE49-F238E27FC236}">
                <a16:creationId xmlns:a16="http://schemas.microsoft.com/office/drawing/2014/main" id="{B52DF570-A28F-4FC2-9BE2-A41D2B52917E}"/>
              </a:ext>
            </a:extLst>
          </p:cNvPr>
          <p:cNvSpPr>
            <a:spLocks xmlns:a="http://schemas.openxmlformats.org/drawingml/2006/main" noGrp="1"/>
          </p:cNvSpPr>
          <p:nvPr/>
        </p:nvSpPr>
        <p:spPr>
          <a:xfrm xmlns:a="http://schemas.openxmlformats.org/drawingml/2006/main">
            <a:off x="301752" y="4544568"/>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La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división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&lt;&lt;Comunicaciones&gt;&gt;</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representa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3.13%</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ponderación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INPC</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general.</a:t>
            </a:r>
            <a:r>
              <a:rPr sz="630" b="0" i="0">
                <a:solidFill>
                  <a:srgbClr val="24383A"/>
                </a:solidFill>
                <a:latin typeface="DejaVu Sans"/>
                <a:ea typeface="DejaVu Sans"/>
                <a:cs typeface="DejaVu Sans"/>
              </a:rPr>
              <a:t> </a:t>
            </a:r>
          </a:p>
        </p:txBody>
      </p:sp>
      <p:sp>
        <p:nvSpPr>
          <p:cNvPr id="51" name="ANUARIO_PONDERADOR_NOTA_1">
            <a:extLst xmlns:a="http://schemas.openxmlformats.org/drawingml/2006/main">
              <a:ext uri="{FF2B5EF4-FFF2-40B4-BE49-F238E27FC236}">
                <a16:creationId xmlns:a16="http://schemas.microsoft.com/office/drawing/2014/main" id="{3123494D-A2F8-47D5-B0A1-9AF0B2E95D07}"/>
              </a:ext>
            </a:extLst>
          </p:cNvPr>
          <p:cNvSpPr>
            <a:spLocks xmlns:a="http://schemas.openxmlformats.org/drawingml/2006/main" noGrp="1"/>
          </p:cNvSpPr>
          <p:nvPr/>
        </p:nvSpPr>
        <p:spPr>
          <a:xfrm xmlns:a="http://schemas.openxmlformats.org/drawingml/2006/main">
            <a:off x="301752" y="4634179"/>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Dicha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división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incluye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seis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conceptos,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los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cuales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el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servicio</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telefonía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móvil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representa</a:t>
            </a:r>
            <a:r>
              <a:rPr sz="630" b="0" i="0">
                <a:solidFill>
                  <a:srgbClr val="24383A"/>
                </a:solidFill>
                <a:latin typeface="DejaVu Sans"/>
                <a:ea typeface="DejaVu Sans"/>
                <a:cs typeface="DejaVu Sans"/>
              </a:rPr>
              <a:t> </a:t>
            </a:r>
          </a:p>
        </p:txBody>
      </p:sp>
      <p:sp>
        <p:nvSpPr>
          <p:cNvPr id="52" name="ANUARIO_PONDERADOR_NOTA_2">
            <a:extLst xmlns:a="http://schemas.openxmlformats.org/drawingml/2006/main">
              <a:ext uri="{FF2B5EF4-FFF2-40B4-BE49-F238E27FC236}">
                <a16:creationId xmlns:a16="http://schemas.microsoft.com/office/drawing/2014/main" id="{56409FF6-26EA-4E04-A569-97B0759872D1}"/>
              </a:ext>
            </a:extLst>
          </p:cNvPr>
          <p:cNvSpPr>
            <a:spLocks xmlns:a="http://schemas.openxmlformats.org/drawingml/2006/main" noGrp="1"/>
          </p:cNvSpPr>
          <p:nvPr/>
        </p:nvSpPr>
        <p:spPr>
          <a:xfrm xmlns:a="http://schemas.openxmlformats.org/drawingml/2006/main">
            <a:off x="301752" y="4723790"/>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1.28%.</a:t>
            </a:r>
          </a:p>
        </p:txBody>
      </p:sp>
    </p:spTree>
    <p:extLst>
      <p:ext uri="{BB962C8B-B14F-4D97-AF65-F5344CB8AC3E}">
        <p14:creationId xmlns:p14="http://schemas.microsoft.com/office/powerpoint/2010/main" val="416992631"/>
      </p:ext>
    </p:extLst>
  </p:cSld>
</p:sld>
</file>

<file path=ppt/slides/slide128.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68" name="ANUARIO_ENCABEZADO">
            <a:extLst xmlns:a="http://schemas.openxmlformats.org/drawingml/2006/main">
              <a:ext uri="{FF2B5EF4-FFF2-40B4-BE49-F238E27FC236}">
                <a16:creationId xmlns:a16="http://schemas.microsoft.com/office/drawing/2014/main" id="{9557F67B-5735-4D86-A861-AD75DBB718BF}"/>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B7EE5BDD-DAB9-4CC5-BD5A-1DB7EE71A183}"/>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72EFE0BD-F097-449E-870C-A9F6DA65AAF5}"/>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III. METODOLOGÍAS</a:t>
            </a:r>
          </a:p>
        </p:txBody>
      </p:sp>
      <p:sp>
        <p:nvSpPr>
          <p:cNvPr id="4" name="ANUARIO_BIT_TEXTO">
            <a:extLst xmlns:a="http://schemas.openxmlformats.org/drawingml/2006/main">
              <a:ext uri="{FF2B5EF4-FFF2-40B4-BE49-F238E27FC236}">
                <a16:creationId xmlns:a16="http://schemas.microsoft.com/office/drawing/2014/main" id="{68DE85E2-2B4E-4907-BC6C-D0A8395DCC88}"/>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5BF41FC8-CC59-4C69-8D32-14B7784CFFB5}"/>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1601AF2E-6413-4485-85F7-44951E516E72}"/>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D6794763-6F46-48F6-B3EC-9BB5E3B3699F}"/>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C2C8DBA9-9D43-4124-81CC-A53EE8B3117D}"/>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128</a:t>
            </a:r>
          </a:p>
        </p:txBody>
      </p:sp>
      <p:sp>
        <p:nvSpPr>
          <p:cNvPr id="9" name="ANUARIO_EDICION">
            <a:extLst xmlns:a="http://schemas.openxmlformats.org/drawingml/2006/main">
              <a:ext uri="{FF2B5EF4-FFF2-40B4-BE49-F238E27FC236}">
                <a16:creationId xmlns:a16="http://schemas.microsoft.com/office/drawing/2014/main" id="{1684152A-4141-4683-8C70-81D1FD27DFD5}"/>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8_DESIGN_2026">
            <a:extLst xmlns:a="http://schemas.openxmlformats.org/drawingml/2006/main">
              <a:ext uri="{FF2B5EF4-FFF2-40B4-BE49-F238E27FC236}">
                <a16:creationId xmlns:a16="http://schemas.microsoft.com/office/drawing/2014/main" id="{3F0852C7-62A1-4944-AE3B-0A6A6730C0B8}"/>
              </a:ext>
            </a:extLst>
          </p:cNvPr>
          <p:cNvSpPr>
            <a:spLocks xmlns:a="http://schemas.openxmlformats.org/drawingml/2006/main" noGrp="1"/>
          </p:cNvSpPr>
          <p:nvPr/>
        </p:nvSpPr>
        <p:spPr>
          <a:xfrm xmlns:a="http://schemas.openxmlformats.org/drawingml/2006/main">
            <a:off x="301752" y="566928"/>
            <a:ext cx="4178808" cy="1901952"/>
          </a:xfrm>
          <a:prstGeom xmlns:a="http://schemas.openxmlformats.org/drawingml/2006/main" prst="roundRect">
            <a:avLst>
              <a:gd name="adj" fmla="val 2885"/>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991B6EA7-51D0-461C-BB04-4EE0DE7C0B66}"/>
              </a:ext>
            </a:extLst>
          </p:cNvPr>
          <p:cNvSpPr>
            <a:spLocks xmlns:a="http://schemas.openxmlformats.org/drawingml/2006/main" noGrp="1"/>
          </p:cNvSpPr>
          <p:nvPr/>
        </p:nvSpPr>
        <p:spPr>
          <a:xfrm xmlns:a="http://schemas.openxmlformats.org/drawingml/2006/main">
            <a:off x="301752" y="640080"/>
            <a:ext cx="64008" cy="1755648"/>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51C1A20F-5214-4F75-9B88-B95AB212BA4E}"/>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Gasto e ingreso · continuación</a:t>
            </a:r>
          </a:p>
        </p:txBody>
      </p:sp>
      <p:sp>
        <p:nvSpPr>
          <p:cNvPr id="13" name="ANUARIO_CONTENIDO_0_0_0">
            <a:extLst xmlns:a="http://schemas.openxmlformats.org/drawingml/2006/main">
              <a:ext uri="{FF2B5EF4-FFF2-40B4-BE49-F238E27FC236}">
                <a16:creationId xmlns:a16="http://schemas.microsoft.com/office/drawing/2014/main" id="{F94856A3-E00A-4B20-9585-E3003E6CD683}"/>
              </a:ext>
            </a:extLst>
          </p:cNvPr>
          <p:cNvSpPr>
            <a:spLocks xmlns:a="http://schemas.openxmlformats.org/drawingml/2006/main" noGrp="1"/>
          </p:cNvSpPr>
          <p:nvPr/>
        </p:nvSpPr>
        <p:spPr>
          <a:xfrm xmlns:a="http://schemas.openxmlformats.org/drawingml/2006/main">
            <a:off x="466344"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1" i="0">
                <a:solidFill>
                  <a:srgbClr val="2F7F6F"/>
                </a:solidFill>
                <a:latin typeface="DejaVu Sans"/>
                <a:ea typeface="DejaVu Sans"/>
                <a:cs typeface="DejaVu Sans"/>
              </a:rPr>
              <a:t>4.</a:t>
            </a:r>
            <a:r>
              <a:rPr sz="730" b="1" i="0">
                <a:solidFill>
                  <a:srgbClr val="2F7F6F"/>
                </a:solidFill>
                <a:latin typeface="DejaVu Sans"/>
                <a:ea typeface="DejaVu Sans"/>
                <a:cs typeface="DejaVu Sans"/>
              </a:rPr>
              <a:t> </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obtener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según</a:t>
            </a:r>
            <a:r>
              <a:rPr sz="73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B91E1A41-0D9F-4CD9-83DF-37B02151976E}"/>
              </a:ext>
            </a:extLst>
          </p:cNvPr>
          <p:cNvSpPr>
            <a:spLocks xmlns:a="http://schemas.openxmlformats.org/drawingml/2006/main" noGrp="1"/>
          </p:cNvSpPr>
          <p:nvPr/>
        </p:nvSpPr>
        <p:spPr>
          <a:xfrm xmlns:a="http://schemas.openxmlformats.org/drawingml/2006/main">
            <a:off x="466344"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sea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utilizan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listados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002A338B-BC70-41B4-8AD6-B5E8D61E7B0F}"/>
              </a:ext>
            </a:extLst>
          </p:cNvPr>
          <p:cNvSpPr>
            <a:spLocks xmlns:a="http://schemas.openxmlformats.org/drawingml/2006/main" noGrp="1"/>
          </p:cNvSpPr>
          <p:nvPr/>
        </p:nvSpPr>
        <p:spPr>
          <a:xfrm xmlns:a="http://schemas.openxmlformats.org/drawingml/2006/main">
            <a:off x="466344"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Posteriormente,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número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16" name="ANUARIO_CONTENIDO_0_0_3">
            <a:extLst xmlns:a="http://schemas.openxmlformats.org/drawingml/2006/main">
              <a:ext uri="{FF2B5EF4-FFF2-40B4-BE49-F238E27FC236}">
                <a16:creationId xmlns:a16="http://schemas.microsoft.com/office/drawing/2014/main" id="{5BA85A07-4120-4E0E-A30E-2352909FA1B1}"/>
              </a:ext>
            </a:extLst>
          </p:cNvPr>
          <p:cNvSpPr>
            <a:spLocks xmlns:a="http://schemas.openxmlformats.org/drawingml/2006/main" noGrp="1"/>
          </p:cNvSpPr>
          <p:nvPr/>
        </p:nvSpPr>
        <p:spPr>
          <a:xfrm xmlns:a="http://schemas.openxmlformats.org/drawingml/2006/main">
            <a:off x="466344" y="13173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analizados.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manera,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17" name="ANUARIO_CONTENIDO_0_0_4">
            <a:extLst xmlns:a="http://schemas.openxmlformats.org/drawingml/2006/main">
              <a:ext uri="{FF2B5EF4-FFF2-40B4-BE49-F238E27FC236}">
                <a16:creationId xmlns:a16="http://schemas.microsoft.com/office/drawing/2014/main" id="{006A5B5B-9FDB-4473-A7F7-7635C003ADA9}"/>
              </a:ext>
            </a:extLst>
          </p:cNvPr>
          <p:cNvSpPr>
            <a:spLocks xmlns:a="http://schemas.openxmlformats.org/drawingml/2006/main" noGrp="1"/>
          </p:cNvSpPr>
          <p:nvPr/>
        </p:nvSpPr>
        <p:spPr>
          <a:xfrm xmlns:a="http://schemas.openxmlformats.org/drawingml/2006/main">
            <a:off x="466344" y="14211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mostrado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figuras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Anuario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representa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a:t>
            </a:r>
            <a:r>
              <a:rPr sz="73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5F45ABE7-F995-43D4-91A0-731D2A542FFA}"/>
              </a:ext>
            </a:extLst>
          </p:cNvPr>
          <p:cNvSpPr>
            <a:spLocks xmlns:a="http://schemas.openxmlformats.org/drawingml/2006/main" noGrp="1"/>
          </p:cNvSpPr>
          <p:nvPr/>
        </p:nvSpPr>
        <p:spPr>
          <a:xfrm xmlns:a="http://schemas.openxmlformats.org/drawingml/2006/main">
            <a:off x="466344" y="15250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tuvieron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19" name="ANUARIO_CONTENIDO_0_0_6">
            <a:extLst xmlns:a="http://schemas.openxmlformats.org/drawingml/2006/main">
              <a:ext uri="{FF2B5EF4-FFF2-40B4-BE49-F238E27FC236}">
                <a16:creationId xmlns:a16="http://schemas.microsoft.com/office/drawing/2014/main" id="{49E5B130-1FA9-4FD1-99C4-28B2471775D3}"/>
              </a:ext>
            </a:extLst>
          </p:cNvPr>
          <p:cNvSpPr>
            <a:spLocks xmlns:a="http://schemas.openxmlformats.org/drawingml/2006/main" noGrp="1"/>
          </p:cNvSpPr>
          <p:nvPr/>
        </p:nvSpPr>
        <p:spPr>
          <a:xfrm xmlns:a="http://schemas.openxmlformats.org/drawingml/2006/main">
            <a:off x="466344" y="16288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disponían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gastaban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p>
        </p:txBody>
      </p:sp>
      <p:sp>
        <p:nvSpPr>
          <p:cNvPr id="20" name="ANUARIO_CONTENIDO_0_0_7">
            <a:extLst xmlns:a="http://schemas.openxmlformats.org/drawingml/2006/main">
              <a:ext uri="{FF2B5EF4-FFF2-40B4-BE49-F238E27FC236}">
                <a16:creationId xmlns:a16="http://schemas.microsoft.com/office/drawing/2014/main" id="{62D2ACA9-19E8-4574-BACE-F7F048160C31}"/>
              </a:ext>
            </a:extLst>
          </p:cNvPr>
          <p:cNvSpPr>
            <a:spLocks xmlns:a="http://schemas.openxmlformats.org/drawingml/2006/main" noGrp="1"/>
          </p:cNvSpPr>
          <p:nvPr/>
        </p:nvSpPr>
        <p:spPr>
          <a:xfrm xmlns:a="http://schemas.openxmlformats.org/drawingml/2006/main">
            <a:off x="466344" y="17580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1" i="0">
                <a:solidFill>
                  <a:srgbClr val="2F7F6F"/>
                </a:solidFill>
                <a:latin typeface="DejaVu Sans"/>
                <a:ea typeface="DejaVu Sans"/>
                <a:cs typeface="DejaVu Sans"/>
              </a:rPr>
              <a:t>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porcentaje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respecto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decil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9A72C06F-CBCE-4B4A-8B57-24A2F8AA1F15}"/>
              </a:ext>
            </a:extLst>
          </p:cNvPr>
          <p:cNvSpPr>
            <a:spLocks xmlns:a="http://schemas.openxmlformats.org/drawingml/2006/main" noGrp="1"/>
          </p:cNvSpPr>
          <p:nvPr/>
        </p:nvSpPr>
        <p:spPr>
          <a:xfrm xmlns:a="http://schemas.openxmlformats.org/drawingml/2006/main">
            <a:off x="466344" y="18619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9A7C4046-73A4-4C24-B2D6-EA348042C298}"/>
              </a:ext>
            </a:extLst>
          </p:cNvPr>
          <p:cNvSpPr>
            <a:spLocks xmlns:a="http://schemas.openxmlformats.org/drawingml/2006/main" noGrp="1"/>
          </p:cNvSpPr>
          <p:nvPr/>
        </p:nvSpPr>
        <p:spPr>
          <a:xfrm xmlns:a="http://schemas.openxmlformats.org/drawingml/2006/main">
            <a:off x="466344" y="19657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explican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p>
        </p:txBody>
      </p:sp>
      <p:sp>
        <p:nvSpPr>
          <p:cNvPr id="23" name="ANUARIO_CONTENIDO_0_0_10">
            <a:extLst xmlns:a="http://schemas.openxmlformats.org/drawingml/2006/main">
              <a:ext uri="{FF2B5EF4-FFF2-40B4-BE49-F238E27FC236}">
                <a16:creationId xmlns:a16="http://schemas.microsoft.com/office/drawing/2014/main" id="{C4FEDBE7-2632-4236-98E2-53EE73B4965A}"/>
              </a:ext>
            </a:extLst>
          </p:cNvPr>
          <p:cNvSpPr>
            <a:spLocks xmlns:a="http://schemas.openxmlformats.org/drawingml/2006/main" noGrp="1"/>
          </p:cNvSpPr>
          <p:nvPr/>
        </p:nvSpPr>
        <p:spPr>
          <a:xfrm xmlns:a="http://schemas.openxmlformats.org/drawingml/2006/main">
            <a:off x="466344" y="20695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dispusieron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dichos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p>
        </p:txBody>
      </p:sp>
      <p:sp>
        <p:nvSpPr>
          <p:cNvPr id="24" name="ANUARIO_ANEXO_P128_DESIGN_2026">
            <a:extLst xmlns:a="http://schemas.openxmlformats.org/drawingml/2006/main">
              <a:ext uri="{FF2B5EF4-FFF2-40B4-BE49-F238E27FC236}">
                <a16:creationId xmlns:a16="http://schemas.microsoft.com/office/drawing/2014/main" id="{FB4B121B-C2B0-4F22-B2DD-3986F57FCF21}"/>
              </a:ext>
            </a:extLst>
          </p:cNvPr>
          <p:cNvSpPr>
            <a:spLocks xmlns:a="http://schemas.openxmlformats.org/drawingml/2006/main" noGrp="1"/>
          </p:cNvSpPr>
          <p:nvPr/>
        </p:nvSpPr>
        <p:spPr>
          <a:xfrm xmlns:a="http://schemas.openxmlformats.org/drawingml/2006/main">
            <a:off x="301752" y="2560320"/>
            <a:ext cx="4178808" cy="1901952"/>
          </a:xfrm>
          <a:prstGeom xmlns:a="http://schemas.openxmlformats.org/drawingml/2006/main" prst="roundRect">
            <a:avLst>
              <a:gd name="adj" fmla="val 2885"/>
            </a:avLst>
          </a:prstGeom>
          <a:solidFill xmlns:a="http://schemas.openxmlformats.org/drawingml/2006/main">
            <a:srgbClr val="F6FAF9"/>
          </a:solidFill>
          <a:ln xmlns:a="http://schemas.openxmlformats.org/drawingml/2006/main" w="9525">
            <a:solidFill>
              <a:srgbClr val="C9DAD6"/>
            </a:solidFill>
          </a:ln>
        </p:spPr>
      </p:sp>
      <p:sp>
        <p:nvSpPr>
          <p:cNvPr id="25" name="ANUARIO_ACENTO">
            <a:extLst xmlns:a="http://schemas.openxmlformats.org/drawingml/2006/main">
              <a:ext uri="{FF2B5EF4-FFF2-40B4-BE49-F238E27FC236}">
                <a16:creationId xmlns:a16="http://schemas.microsoft.com/office/drawing/2014/main" id="{9DFD51AF-F9EB-4957-B692-02C1A87A446A}"/>
              </a:ext>
            </a:extLst>
          </p:cNvPr>
          <p:cNvSpPr>
            <a:spLocks xmlns:a="http://schemas.openxmlformats.org/drawingml/2006/main" noGrp="1"/>
          </p:cNvSpPr>
          <p:nvPr/>
        </p:nvSpPr>
        <p:spPr>
          <a:xfrm xmlns:a="http://schemas.openxmlformats.org/drawingml/2006/main">
            <a:off x="301752" y="2633472"/>
            <a:ext cx="64008" cy="1755648"/>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6" name="ANUARIO_SECCION">
            <a:extLst xmlns:a="http://schemas.openxmlformats.org/drawingml/2006/main">
              <a:ext uri="{FF2B5EF4-FFF2-40B4-BE49-F238E27FC236}">
                <a16:creationId xmlns:a16="http://schemas.microsoft.com/office/drawing/2014/main" id="{8F0F17E4-9E4B-4C51-BA20-EF3A9948BEE3}"/>
              </a:ext>
            </a:extLst>
          </p:cNvPr>
          <p:cNvSpPr>
            <a:spLocks xmlns:a="http://schemas.openxmlformats.org/drawingml/2006/main" noGrp="1"/>
          </p:cNvSpPr>
          <p:nvPr/>
        </p:nvSpPr>
        <p:spPr>
          <a:xfrm xmlns:a="http://schemas.openxmlformats.org/drawingml/2006/main">
            <a:off x="466344" y="2651760"/>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ENDUTIH 2025 · metodología¹³</a:t>
            </a:r>
          </a:p>
        </p:txBody>
      </p:sp>
      <p:sp>
        <p:nvSpPr>
          <p:cNvPr id="27" name="ANUARIO_CONTENIDO_0_1_0">
            <a:extLst xmlns:a="http://schemas.openxmlformats.org/drawingml/2006/main">
              <a:ext uri="{FF2B5EF4-FFF2-40B4-BE49-F238E27FC236}">
                <a16:creationId xmlns:a16="http://schemas.microsoft.com/office/drawing/2014/main" id="{C22E41BE-3FDC-44D7-B1AD-594B7A69717C}"/>
              </a:ext>
            </a:extLst>
          </p:cNvPr>
          <p:cNvSpPr>
            <a:spLocks xmlns:a="http://schemas.openxmlformats.org/drawingml/2006/main" noGrp="1"/>
          </p:cNvSpPr>
          <p:nvPr/>
        </p:nvSpPr>
        <p:spPr>
          <a:xfrm xmlns:a="http://schemas.openxmlformats.org/drawingml/2006/main">
            <a:off x="466344" y="299923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ENDUTIH</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finalidad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obtener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disponibilidad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28" name="ANUARIO_CONTENIDO_0_1_1">
            <a:extLst xmlns:a="http://schemas.openxmlformats.org/drawingml/2006/main">
              <a:ext uri="{FF2B5EF4-FFF2-40B4-BE49-F238E27FC236}">
                <a16:creationId xmlns:a16="http://schemas.microsoft.com/office/drawing/2014/main" id="{DF2B112F-AE99-4D18-8DFD-33A3BB85681D}"/>
              </a:ext>
            </a:extLst>
          </p:cNvPr>
          <p:cNvSpPr>
            <a:spLocks xmlns:a="http://schemas.openxmlformats.org/drawingml/2006/main" noGrp="1"/>
          </p:cNvSpPr>
          <p:nvPr/>
        </p:nvSpPr>
        <p:spPr>
          <a:xfrm xmlns:a="http://schemas.openxmlformats.org/drawingml/2006/main">
            <a:off x="466344" y="310306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tecnologías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a:t>
            </a:r>
            <a:r>
              <a:rPr sz="730" b="0" i="0">
                <a:solidFill>
                  <a:srgbClr val="24383A"/>
                </a:solidFill>
                <a:latin typeface="DejaVu Sans"/>
                <a:ea typeface="DejaVu Sans"/>
                <a:cs typeface="DejaVu Sans"/>
              </a:rPr>
              <a:t> </a:t>
            </a:r>
          </a:p>
        </p:txBody>
      </p:sp>
      <p:sp>
        <p:nvSpPr>
          <p:cNvPr id="29" name="ANUARIO_CONTENIDO_0_1_2">
            <a:extLst xmlns:a="http://schemas.openxmlformats.org/drawingml/2006/main">
              <a:ext uri="{FF2B5EF4-FFF2-40B4-BE49-F238E27FC236}">
                <a16:creationId xmlns:a16="http://schemas.microsoft.com/office/drawing/2014/main" id="{3015A1CC-A9DC-40DD-8502-78EE86989164}"/>
              </a:ext>
            </a:extLst>
          </p:cNvPr>
          <p:cNvSpPr>
            <a:spLocks xmlns:a="http://schemas.openxmlformats.org/drawingml/2006/main" noGrp="1"/>
          </p:cNvSpPr>
          <p:nvPr/>
        </p:nvSpPr>
        <p:spPr>
          <a:xfrm xmlns:a="http://schemas.openxmlformats.org/drawingml/2006/main">
            <a:off x="466344" y="320690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utilización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individuos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más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30" name="ANUARIO_CONTENIDO_0_1_3">
            <a:extLst xmlns:a="http://schemas.openxmlformats.org/drawingml/2006/main">
              <a:ext uri="{FF2B5EF4-FFF2-40B4-BE49-F238E27FC236}">
                <a16:creationId xmlns:a16="http://schemas.microsoft.com/office/drawing/2014/main" id="{45062051-96B1-4270-9567-2A783DD1E7C5}"/>
              </a:ext>
            </a:extLst>
          </p:cNvPr>
          <p:cNvSpPr>
            <a:spLocks xmlns:a="http://schemas.openxmlformats.org/drawingml/2006/main" noGrp="1"/>
          </p:cNvSpPr>
          <p:nvPr/>
        </p:nvSpPr>
        <p:spPr>
          <a:xfrm xmlns:a="http://schemas.openxmlformats.org/drawingml/2006/main">
            <a:off x="466344" y="33107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resultados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ENDUTIH,</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factores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31" name="ANUARIO_CONTENIDO_0_1_4">
            <a:extLst xmlns:a="http://schemas.openxmlformats.org/drawingml/2006/main">
              <a:ext uri="{FF2B5EF4-FFF2-40B4-BE49-F238E27FC236}">
                <a16:creationId xmlns:a16="http://schemas.microsoft.com/office/drawing/2014/main" id="{FF4982B3-5B85-4CF5-A752-566B53DA7009}"/>
              </a:ext>
            </a:extLst>
          </p:cNvPr>
          <p:cNvSpPr>
            <a:spLocks xmlns:a="http://schemas.openxmlformats.org/drawingml/2006/main" noGrp="1"/>
          </p:cNvSpPr>
          <p:nvPr/>
        </p:nvSpPr>
        <p:spPr>
          <a:xfrm xmlns:a="http://schemas.openxmlformats.org/drawingml/2006/main">
            <a:off x="466344" y="341457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expansión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cifras</a:t>
            </a:r>
            <a:r>
              <a:rPr sz="730" b="0" i="0">
                <a:solidFill>
                  <a:srgbClr val="24383A"/>
                </a:solidFill>
                <a:latin typeface="DejaVu Sans"/>
                <a:ea typeface="DejaVu Sans"/>
                <a:cs typeface="DejaVu Sans"/>
              </a:rPr>
              <a:t> </a:t>
            </a:r>
          </a:p>
        </p:txBody>
      </p:sp>
      <p:sp>
        <p:nvSpPr>
          <p:cNvPr id="32" name="ANUARIO_CONTENIDO_0_1_5">
            <a:extLst xmlns:a="http://schemas.openxmlformats.org/drawingml/2006/main">
              <a:ext uri="{FF2B5EF4-FFF2-40B4-BE49-F238E27FC236}">
                <a16:creationId xmlns:a16="http://schemas.microsoft.com/office/drawing/2014/main" id="{DDEAA855-64B2-47D1-A7BA-FB02CF82B552}"/>
              </a:ext>
            </a:extLst>
          </p:cNvPr>
          <p:cNvSpPr>
            <a:spLocks xmlns:a="http://schemas.openxmlformats.org/drawingml/2006/main" noGrp="1"/>
          </p:cNvSpPr>
          <p:nvPr/>
        </p:nvSpPr>
        <p:spPr>
          <a:xfrm xmlns:a="http://schemas.openxmlformats.org/drawingml/2006/main">
            <a:off x="466344" y="351840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proyecciones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venían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utilizando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Ahora,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33" name="ANUARIO_CONTENIDO_0_1_6">
            <a:extLst xmlns:a="http://schemas.openxmlformats.org/drawingml/2006/main">
              <a:ext uri="{FF2B5EF4-FFF2-40B4-BE49-F238E27FC236}">
                <a16:creationId xmlns:a16="http://schemas.microsoft.com/office/drawing/2014/main" id="{211DE168-0FCF-4F45-AFA6-400EF65EEA76}"/>
              </a:ext>
            </a:extLst>
          </p:cNvPr>
          <p:cNvSpPr>
            <a:spLocks xmlns:a="http://schemas.openxmlformats.org/drawingml/2006/main" noGrp="1"/>
          </p:cNvSpPr>
          <p:nvPr/>
        </p:nvSpPr>
        <p:spPr>
          <a:xfrm xmlns:a="http://schemas.openxmlformats.org/drawingml/2006/main">
            <a:off x="466344" y="362224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generando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propia</a:t>
            </a:r>
            <a:r>
              <a:rPr sz="730" b="0" i="0">
                <a:solidFill>
                  <a:srgbClr val="24383A"/>
                </a:solidFill>
                <a:latin typeface="DejaVu Sans"/>
                <a:ea typeface="DejaVu Sans"/>
                <a:cs typeface="DejaVu Sans"/>
              </a:rPr>
              <a:t> </a:t>
            </a:r>
          </a:p>
        </p:txBody>
      </p:sp>
      <p:sp>
        <p:nvSpPr>
          <p:cNvPr id="34" name="ANUARIO_CONTENIDO_0_1_7">
            <a:extLst xmlns:a="http://schemas.openxmlformats.org/drawingml/2006/main">
              <a:ext uri="{FF2B5EF4-FFF2-40B4-BE49-F238E27FC236}">
                <a16:creationId xmlns:a16="http://schemas.microsoft.com/office/drawing/2014/main" id="{16F04FA5-CBBC-4917-A140-961F37B6190D}"/>
              </a:ext>
            </a:extLst>
          </p:cNvPr>
          <p:cNvSpPr>
            <a:spLocks xmlns:a="http://schemas.openxmlformats.org/drawingml/2006/main" noGrp="1"/>
          </p:cNvSpPr>
          <p:nvPr/>
        </p:nvSpPr>
        <p:spPr>
          <a:xfrm xmlns:a="http://schemas.openxmlformats.org/drawingml/2006/main">
            <a:off x="466344" y="372607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Muestra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Maestra.</a:t>
            </a:r>
          </a:p>
        </p:txBody>
      </p:sp>
      <p:sp>
        <p:nvSpPr>
          <p:cNvPr id="35" name="ANUARIO_CONTENIDO_0_1_8">
            <a:extLst xmlns:a="http://schemas.openxmlformats.org/drawingml/2006/main">
              <a:ext uri="{FF2B5EF4-FFF2-40B4-BE49-F238E27FC236}">
                <a16:creationId xmlns:a16="http://schemas.microsoft.com/office/drawing/2014/main" id="{13FBD5B0-EE6C-4FD4-8CF2-7FCE8CF06075}"/>
              </a:ext>
            </a:extLst>
          </p:cNvPr>
          <p:cNvSpPr>
            <a:spLocks xmlns:a="http://schemas.openxmlformats.org/drawingml/2006/main" noGrp="1"/>
          </p:cNvSpPr>
          <p:nvPr/>
        </p:nvSpPr>
        <p:spPr>
          <a:xfrm xmlns:a="http://schemas.openxmlformats.org/drawingml/2006/main">
            <a:off x="466344" y="385531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eventos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36" name="ANUARIO_CONTENIDO_0_1_9">
            <a:extLst xmlns:a="http://schemas.openxmlformats.org/drawingml/2006/main">
              <a:ext uri="{FF2B5EF4-FFF2-40B4-BE49-F238E27FC236}">
                <a16:creationId xmlns:a16="http://schemas.microsoft.com/office/drawing/2014/main" id="{2C4ACF18-F52E-435C-BB6A-3C868B68B41B}"/>
              </a:ext>
            </a:extLst>
          </p:cNvPr>
          <p:cNvSpPr>
            <a:spLocks xmlns:a="http://schemas.openxmlformats.org/drawingml/2006/main" noGrp="1"/>
          </p:cNvSpPr>
          <p:nvPr/>
        </p:nvSpPr>
        <p:spPr>
          <a:xfrm xmlns:a="http://schemas.openxmlformats.org/drawingml/2006/main">
            <a:off x="466344" y="395914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4</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eventos</a:t>
            </a:r>
            <a:r>
              <a:rPr sz="730" b="0" i="0">
                <a:solidFill>
                  <a:srgbClr val="24383A"/>
                </a:solidFill>
                <a:latin typeface="DejaVu Sans"/>
                <a:ea typeface="DejaVu Sans"/>
                <a:cs typeface="DejaVu Sans"/>
              </a:rPr>
              <a:t> </a:t>
            </a:r>
          </a:p>
        </p:txBody>
      </p:sp>
      <p:sp>
        <p:nvSpPr>
          <p:cNvPr id="37" name="ANUARIO_CONTENIDO_0_1_10">
            <a:extLst xmlns:a="http://schemas.openxmlformats.org/drawingml/2006/main">
              <a:ext uri="{FF2B5EF4-FFF2-40B4-BE49-F238E27FC236}">
                <a16:creationId xmlns:a16="http://schemas.microsoft.com/office/drawing/2014/main" id="{60BE6DB8-CDAC-4CEC-B3BF-C21240293F82}"/>
              </a:ext>
            </a:extLst>
          </p:cNvPr>
          <p:cNvSpPr>
            <a:spLocks xmlns:a="http://schemas.openxmlformats.org/drawingml/2006/main" noGrp="1"/>
          </p:cNvSpPr>
          <p:nvPr/>
        </p:nvSpPr>
        <p:spPr>
          <a:xfrm xmlns:a="http://schemas.openxmlformats.org/drawingml/2006/main">
            <a:off x="466344" y="406298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2015-2016</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30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noviembre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r>
              <a:rPr sz="730" b="0" i="0">
                <a:solidFill>
                  <a:srgbClr val="24383A"/>
                </a:solidFill>
                <a:latin typeface="DejaVu Sans"/>
                <a:ea typeface="DejaVu Sans"/>
                <a:cs typeface="DejaVu Sans"/>
              </a:rPr>
              <a:t> </a:t>
            </a:r>
          </a:p>
        </p:txBody>
      </p:sp>
      <p:sp>
        <p:nvSpPr>
          <p:cNvPr id="38" name="ANUARIO_ANEXO_P128_DESIGN_2026">
            <a:extLst xmlns:a="http://schemas.openxmlformats.org/drawingml/2006/main">
              <a:ext uri="{FF2B5EF4-FFF2-40B4-BE49-F238E27FC236}">
                <a16:creationId xmlns:a16="http://schemas.microsoft.com/office/drawing/2014/main" id="{4C8EA383-9F2D-4D43-A3EB-B4C50361B118}"/>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39" name="ANUARIO_ACENTO">
            <a:extLst xmlns:a="http://schemas.openxmlformats.org/drawingml/2006/main">
              <a:ext uri="{FF2B5EF4-FFF2-40B4-BE49-F238E27FC236}">
                <a16:creationId xmlns:a16="http://schemas.microsoft.com/office/drawing/2014/main" id="{BF6387ED-BB45-4C42-AF05-F78A68D0C0C8}"/>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0" name="ANUARIO_SECCION">
            <a:extLst xmlns:a="http://schemas.openxmlformats.org/drawingml/2006/main">
              <a:ext uri="{FF2B5EF4-FFF2-40B4-BE49-F238E27FC236}">
                <a16:creationId xmlns:a16="http://schemas.microsoft.com/office/drawing/2014/main" id="{DBD58DBC-A66F-4AEA-A96B-0504C16F43BE}"/>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Consumo de radio y televisión</a:t>
            </a:r>
          </a:p>
        </p:txBody>
      </p:sp>
      <p:sp>
        <p:nvSpPr>
          <p:cNvPr id="41" name="ANUARIO_CONTENIDO_1_0_0">
            <a:extLst xmlns:a="http://schemas.openxmlformats.org/drawingml/2006/main">
              <a:ext uri="{FF2B5EF4-FFF2-40B4-BE49-F238E27FC236}">
                <a16:creationId xmlns:a16="http://schemas.microsoft.com/office/drawing/2014/main" id="{7060990B-7519-4FDA-AEF7-41D0B8D1E1B1}"/>
              </a:ext>
            </a:extLst>
          </p:cNvPr>
          <p:cNvSpPr>
            <a:spLocks xmlns:a="http://schemas.openxmlformats.org/drawingml/2006/main" noGrp="1"/>
          </p:cNvSpPr>
          <p:nvPr/>
        </p:nvSpPr>
        <p:spPr>
          <a:xfrm xmlns:a="http://schemas.openxmlformats.org/drawingml/2006/main">
            <a:off x="4828032"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compilados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p>
        </p:txBody>
      </p:sp>
      <p:sp>
        <p:nvSpPr>
          <p:cNvPr id="42" name="ANUARIO_CONTENIDO_1_0_1">
            <a:extLst xmlns:a="http://schemas.openxmlformats.org/drawingml/2006/main">
              <a:ext uri="{FF2B5EF4-FFF2-40B4-BE49-F238E27FC236}">
                <a16:creationId xmlns:a16="http://schemas.microsoft.com/office/drawing/2014/main" id="{85983D2A-881C-49B0-8184-1AE13B86123C}"/>
              </a:ext>
            </a:extLst>
          </p:cNvPr>
          <p:cNvSpPr>
            <a:spLocks xmlns:a="http://schemas.openxmlformats.org/drawingml/2006/main" noGrp="1"/>
          </p:cNvSpPr>
          <p:nvPr/>
        </p:nvSpPr>
        <p:spPr>
          <a:xfrm xmlns:a="http://schemas.openxmlformats.org/drawingml/2006/main">
            <a:off x="4828032"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través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dispositivos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llamados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“people</a:t>
            </a:r>
            <a:r>
              <a:rPr sz="730" b="0" i="0">
                <a:solidFill>
                  <a:srgbClr val="24383A"/>
                </a:solidFill>
                <a:latin typeface="DejaVu Sans"/>
                <a:ea typeface="DejaVu Sans"/>
                <a:cs typeface="DejaVu Sans"/>
              </a:rPr>
              <a:t> </a:t>
            </a:r>
          </a:p>
        </p:txBody>
      </p:sp>
      <p:sp>
        <p:nvSpPr>
          <p:cNvPr id="43" name="ANUARIO_CONTENIDO_1_0_2">
            <a:extLst xmlns:a="http://schemas.openxmlformats.org/drawingml/2006/main">
              <a:ext uri="{FF2B5EF4-FFF2-40B4-BE49-F238E27FC236}">
                <a16:creationId xmlns:a16="http://schemas.microsoft.com/office/drawing/2014/main" id="{41D1B34B-317F-425F-8DA5-138A31FB7BFC}"/>
              </a:ext>
            </a:extLst>
          </p:cNvPr>
          <p:cNvSpPr>
            <a:spLocks xmlns:a="http://schemas.openxmlformats.org/drawingml/2006/main" noGrp="1"/>
          </p:cNvSpPr>
          <p:nvPr/>
        </p:nvSpPr>
        <p:spPr>
          <a:xfrm xmlns:a="http://schemas.openxmlformats.org/drawingml/2006/main">
            <a:off x="4828032"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meter”,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mismos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permiten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recopilación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electrónico.</a:t>
            </a:r>
          </a:p>
        </p:txBody>
      </p:sp>
      <p:sp>
        <p:nvSpPr>
          <p:cNvPr id="44" name="ANUARIO_CONTENIDO_1_0_3">
            <a:extLst xmlns:a="http://schemas.openxmlformats.org/drawingml/2006/main">
              <a:ext uri="{FF2B5EF4-FFF2-40B4-BE49-F238E27FC236}">
                <a16:creationId xmlns:a16="http://schemas.microsoft.com/office/drawing/2014/main" id="{79714E8D-1593-4C3F-BB00-90AFE80BAFA2}"/>
              </a:ext>
            </a:extLst>
          </p:cNvPr>
          <p:cNvSpPr>
            <a:spLocks xmlns:a="http://schemas.openxmlformats.org/drawingml/2006/main" noGrp="1"/>
          </p:cNvSpPr>
          <p:nvPr/>
        </p:nvSpPr>
        <p:spPr>
          <a:xfrm xmlns:a="http://schemas.openxmlformats.org/drawingml/2006/main">
            <a:off x="4828032" y="13427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mediciones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agrupadas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cinco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rubros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p>
        </p:txBody>
      </p:sp>
      <p:sp>
        <p:nvSpPr>
          <p:cNvPr id="45" name="ANUARIO_CONTENIDO_1_0_4">
            <a:extLst xmlns:a="http://schemas.openxmlformats.org/drawingml/2006/main">
              <a:ext uri="{FF2B5EF4-FFF2-40B4-BE49-F238E27FC236}">
                <a16:creationId xmlns:a16="http://schemas.microsoft.com/office/drawing/2014/main" id="{22FF0411-9AAC-4F5F-A8CB-B800192B2F6C}"/>
              </a:ext>
            </a:extLst>
          </p:cNvPr>
          <p:cNvSpPr>
            <a:spLocks xmlns:a="http://schemas.openxmlformats.org/drawingml/2006/main" noGrp="1"/>
          </p:cNvSpPr>
          <p:nvPr/>
        </p:nvSpPr>
        <p:spPr>
          <a:xfrm xmlns:a="http://schemas.openxmlformats.org/drawingml/2006/main">
            <a:off x="4828032"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AMCM</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Monterrey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p>
        </p:txBody>
      </p:sp>
      <p:sp>
        <p:nvSpPr>
          <p:cNvPr id="46" name="ANUARIO_CONTENIDO_1_0_5">
            <a:extLst xmlns:a="http://schemas.openxmlformats.org/drawingml/2006/main">
              <a:ext uri="{FF2B5EF4-FFF2-40B4-BE49-F238E27FC236}">
                <a16:creationId xmlns:a16="http://schemas.microsoft.com/office/drawing/2014/main" id="{1412F00B-5E04-4D92-98BA-9209496BA144}"/>
              </a:ext>
            </a:extLst>
          </p:cNvPr>
          <p:cNvSpPr>
            <a:spLocks xmlns:a="http://schemas.openxmlformats.org/drawingml/2006/main" noGrp="1"/>
          </p:cNvSpPr>
          <p:nvPr/>
        </p:nvSpPr>
        <p:spPr>
          <a:xfrm xmlns:a="http://schemas.openxmlformats.org/drawingml/2006/main">
            <a:off x="4828032"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Monterrey),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Guadalajara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47" name="ANUARIO_CONTENIDO_1_0_6">
            <a:extLst xmlns:a="http://schemas.openxmlformats.org/drawingml/2006/main">
              <a:ext uri="{FF2B5EF4-FFF2-40B4-BE49-F238E27FC236}">
                <a16:creationId xmlns:a16="http://schemas.microsoft.com/office/drawing/2014/main" id="{4D69ED56-BCBB-4433-849D-DDCA07E290E9}"/>
              </a:ext>
            </a:extLst>
          </p:cNvPr>
          <p:cNvSpPr>
            <a:spLocks xmlns:a="http://schemas.openxmlformats.org/drawingml/2006/main" noGrp="1"/>
          </p:cNvSpPr>
          <p:nvPr/>
        </p:nvSpPr>
        <p:spPr>
          <a:xfrm xmlns:a="http://schemas.openxmlformats.org/drawingml/2006/main">
            <a:off x="4828032" y="16542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Guadalajara);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anteriores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p>
        </p:txBody>
      </p:sp>
      <p:sp>
        <p:nvSpPr>
          <p:cNvPr id="48" name="ANUARIO_CONTENIDO_1_0_7">
            <a:extLst xmlns:a="http://schemas.openxmlformats.org/drawingml/2006/main">
              <a:ext uri="{FF2B5EF4-FFF2-40B4-BE49-F238E27FC236}">
                <a16:creationId xmlns:a16="http://schemas.microsoft.com/office/drawing/2014/main" id="{1E9E9AB2-5BE7-43EF-888A-BA4838C02B88}"/>
              </a:ext>
            </a:extLst>
          </p:cNvPr>
          <p:cNvSpPr>
            <a:spLocks xmlns:a="http://schemas.openxmlformats.org/drawingml/2006/main" noGrp="1"/>
          </p:cNvSpPr>
          <p:nvPr/>
        </p:nvSpPr>
        <p:spPr>
          <a:xfrm xmlns:a="http://schemas.openxmlformats.org/drawingml/2006/main">
            <a:off x="4828032" y="17580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indicativos,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además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conglomerado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interior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república</a:t>
            </a:r>
            <a:r>
              <a:rPr sz="730" b="0" i="0">
                <a:solidFill>
                  <a:srgbClr val="24383A"/>
                </a:solidFill>
                <a:latin typeface="DejaVu Sans"/>
                <a:ea typeface="DejaVu Sans"/>
                <a:cs typeface="DejaVu Sans"/>
              </a:rPr>
              <a:t> </a:t>
            </a:r>
          </a:p>
        </p:txBody>
      </p:sp>
      <p:sp>
        <p:nvSpPr>
          <p:cNvPr id="49" name="ANUARIO_CONTENIDO_1_0_8">
            <a:extLst xmlns:a="http://schemas.openxmlformats.org/drawingml/2006/main">
              <a:ext uri="{FF2B5EF4-FFF2-40B4-BE49-F238E27FC236}">
                <a16:creationId xmlns:a16="http://schemas.microsoft.com/office/drawing/2014/main" id="{07AEBFEC-11D3-49EE-A16E-75A5F2203D03}"/>
              </a:ext>
            </a:extLst>
          </p:cNvPr>
          <p:cNvSpPr>
            <a:spLocks xmlns:a="http://schemas.openxmlformats.org/drawingml/2006/main" noGrp="1"/>
          </p:cNvSpPr>
          <p:nvPr/>
        </p:nvSpPr>
        <p:spPr>
          <a:xfrm xmlns:a="http://schemas.openxmlformats.org/drawingml/2006/main">
            <a:off x="4828032" y="18619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conjunto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estudio.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nivel</a:t>
            </a:r>
            <a:r>
              <a:rPr sz="730" b="0" i="0">
                <a:solidFill>
                  <a:srgbClr val="24383A"/>
                </a:solidFill>
                <a:latin typeface="DejaVu Sans"/>
                <a:ea typeface="DejaVu Sans"/>
                <a:cs typeface="DejaVu Sans"/>
              </a:rPr>
              <a:t> </a:t>
            </a:r>
          </a:p>
        </p:txBody>
      </p:sp>
      <p:sp>
        <p:nvSpPr>
          <p:cNvPr id="50" name="ANUARIO_CONTENIDO_1_0_9">
            <a:extLst xmlns:a="http://schemas.openxmlformats.org/drawingml/2006/main">
              <a:ext uri="{FF2B5EF4-FFF2-40B4-BE49-F238E27FC236}">
                <a16:creationId xmlns:a16="http://schemas.microsoft.com/office/drawing/2014/main" id="{F6042E21-525E-4E72-9DF5-3A114121B577}"/>
              </a:ext>
            </a:extLst>
          </p:cNvPr>
          <p:cNvSpPr>
            <a:spLocks xmlns:a="http://schemas.openxmlformats.org/drawingml/2006/main" noGrp="1"/>
          </p:cNvSpPr>
          <p:nvPr/>
        </p:nvSpPr>
        <p:spPr>
          <a:xfrm xmlns:a="http://schemas.openxmlformats.org/drawingml/2006/main">
            <a:off x="4828032" y="19657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evaluados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p>
        </p:txBody>
      </p:sp>
      <p:sp>
        <p:nvSpPr>
          <p:cNvPr id="51" name="ANUARIO_CONTENIDO_1_0_10">
            <a:extLst xmlns:a="http://schemas.openxmlformats.org/drawingml/2006/main">
              <a:ext uri="{FF2B5EF4-FFF2-40B4-BE49-F238E27FC236}">
                <a16:creationId xmlns:a16="http://schemas.microsoft.com/office/drawing/2014/main" id="{459F3BFA-0E24-4134-B943-D3B8CA74F3A7}"/>
              </a:ext>
            </a:extLst>
          </p:cNvPr>
          <p:cNvSpPr>
            <a:spLocks xmlns:a="http://schemas.openxmlformats.org/drawingml/2006/main" noGrp="1"/>
          </p:cNvSpPr>
          <p:nvPr/>
        </p:nvSpPr>
        <p:spPr>
          <a:xfrm xmlns:a="http://schemas.openxmlformats.org/drawingml/2006/main">
            <a:off x="4828032" y="20949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referirse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Universo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mayores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4</a:t>
            </a:r>
            <a:r>
              <a:rPr sz="730" b="0" i="0">
                <a:solidFill>
                  <a:srgbClr val="24383A"/>
                </a:solidFill>
                <a:latin typeface="DejaVu Sans"/>
                <a:ea typeface="DejaVu Sans"/>
                <a:cs typeface="DejaVu Sans"/>
              </a:rPr>
              <a:t> </a:t>
            </a:r>
          </a:p>
        </p:txBody>
      </p:sp>
      <p:sp>
        <p:nvSpPr>
          <p:cNvPr id="52" name="ANUARIO_CONTENIDO_1_0_11">
            <a:extLst xmlns:a="http://schemas.openxmlformats.org/drawingml/2006/main">
              <a:ext uri="{FF2B5EF4-FFF2-40B4-BE49-F238E27FC236}">
                <a16:creationId xmlns:a16="http://schemas.microsoft.com/office/drawing/2014/main" id="{904FE1D3-6289-42DC-BD0C-27777B6271B3}"/>
              </a:ext>
            </a:extLst>
          </p:cNvPr>
          <p:cNvSpPr>
            <a:spLocks xmlns:a="http://schemas.openxmlformats.org/drawingml/2006/main" noGrp="1"/>
          </p:cNvSpPr>
          <p:nvPr/>
        </p:nvSpPr>
        <p:spPr>
          <a:xfrm xmlns:a="http://schemas.openxmlformats.org/drawingml/2006/main">
            <a:off x="4828032" y="21988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tengan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acceso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funcionando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niveles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3" name="ANUARIO_CONTENIDO_1_0_12">
            <a:extLst xmlns:a="http://schemas.openxmlformats.org/drawingml/2006/main">
              <a:ext uri="{FF2B5EF4-FFF2-40B4-BE49-F238E27FC236}">
                <a16:creationId xmlns:a16="http://schemas.microsoft.com/office/drawing/2014/main" id="{48466C9B-E02B-4916-855C-D14B6AF780B5}"/>
              </a:ext>
            </a:extLst>
          </p:cNvPr>
          <p:cNvSpPr>
            <a:spLocks xmlns:a="http://schemas.openxmlformats.org/drawingml/2006/main" noGrp="1"/>
          </p:cNvSpPr>
          <p:nvPr/>
        </p:nvSpPr>
        <p:spPr>
          <a:xfrm xmlns:a="http://schemas.openxmlformats.org/drawingml/2006/main">
            <a:off x="4828032" y="23026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audiencia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reportados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p>
        </p:txBody>
      </p:sp>
      <p:sp>
        <p:nvSpPr>
          <p:cNvPr id="54" name="ANUARIO_CONTENIDO_1_0_13">
            <a:extLst xmlns:a="http://schemas.openxmlformats.org/drawingml/2006/main">
              <a:ext uri="{FF2B5EF4-FFF2-40B4-BE49-F238E27FC236}">
                <a16:creationId xmlns:a16="http://schemas.microsoft.com/office/drawing/2014/main" id="{61F24B7A-06B7-4772-92D9-7393148E3501}"/>
              </a:ext>
            </a:extLst>
          </p:cNvPr>
          <p:cNvSpPr>
            <a:spLocks xmlns:a="http://schemas.openxmlformats.org/drawingml/2006/main" noGrp="1"/>
          </p:cNvSpPr>
          <p:nvPr/>
        </p:nvSpPr>
        <p:spPr>
          <a:xfrm xmlns:a="http://schemas.openxmlformats.org/drawingml/2006/main">
            <a:off x="4828032" y="24064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funciona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acceso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algún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tipo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contenido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través</a:t>
            </a:r>
            <a:r>
              <a:rPr sz="730" b="0" i="0">
                <a:solidFill>
                  <a:srgbClr val="24383A"/>
                </a:solidFill>
                <a:latin typeface="DejaVu Sans"/>
                <a:ea typeface="DejaVu Sans"/>
                <a:cs typeface="DejaVu Sans"/>
              </a:rPr>
              <a:t> </a:t>
            </a:r>
          </a:p>
        </p:txBody>
      </p:sp>
      <p:sp>
        <p:nvSpPr>
          <p:cNvPr id="55" name="ANUARIO_CONTENIDO_1_0_14">
            <a:extLst xmlns:a="http://schemas.openxmlformats.org/drawingml/2006/main">
              <a:ext uri="{FF2B5EF4-FFF2-40B4-BE49-F238E27FC236}">
                <a16:creationId xmlns:a16="http://schemas.microsoft.com/office/drawing/2014/main" id="{7562D141-7F85-49DA-A565-416A273047FC}"/>
              </a:ext>
            </a:extLst>
          </p:cNvPr>
          <p:cNvSpPr>
            <a:spLocks xmlns:a="http://schemas.openxmlformats.org/drawingml/2006/main" noGrp="1"/>
          </p:cNvSpPr>
          <p:nvPr/>
        </p:nvSpPr>
        <p:spPr>
          <a:xfrm xmlns:a="http://schemas.openxmlformats.org/drawingml/2006/main">
            <a:off x="4828032" y="25103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mismo,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independientemente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forma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reciban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señal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(señal</a:t>
            </a:r>
            <a:r>
              <a:rPr sz="730" b="0" i="0">
                <a:solidFill>
                  <a:srgbClr val="24383A"/>
                </a:solidFill>
                <a:latin typeface="DejaVu Sans"/>
                <a:ea typeface="DejaVu Sans"/>
                <a:cs typeface="DejaVu Sans"/>
              </a:rPr>
              <a:t> </a:t>
            </a:r>
          </a:p>
        </p:txBody>
      </p:sp>
      <p:sp>
        <p:nvSpPr>
          <p:cNvPr id="56" name="ANUARIO_CONTENIDO_1_0_15">
            <a:extLst xmlns:a="http://schemas.openxmlformats.org/drawingml/2006/main">
              <a:ext uri="{FF2B5EF4-FFF2-40B4-BE49-F238E27FC236}">
                <a16:creationId xmlns:a16="http://schemas.microsoft.com/office/drawing/2014/main" id="{642481D9-8409-4384-BE1D-3371D19002D7}"/>
              </a:ext>
            </a:extLst>
          </p:cNvPr>
          <p:cNvSpPr>
            <a:spLocks xmlns:a="http://schemas.openxmlformats.org/drawingml/2006/main" noGrp="1"/>
          </p:cNvSpPr>
          <p:nvPr/>
        </p:nvSpPr>
        <p:spPr>
          <a:xfrm xmlns:a="http://schemas.openxmlformats.org/drawingml/2006/main">
            <a:off x="4828032" y="26141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abierta,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restringida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otros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dispositivos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conectados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incluyen</a:t>
            </a:r>
            <a:r>
              <a:rPr sz="730" b="0" i="0">
                <a:solidFill>
                  <a:srgbClr val="24383A"/>
                </a:solidFill>
                <a:latin typeface="DejaVu Sans"/>
                <a:ea typeface="DejaVu Sans"/>
                <a:cs typeface="DejaVu Sans"/>
              </a:rPr>
              <a:t> </a:t>
            </a:r>
          </a:p>
        </p:txBody>
      </p:sp>
      <p:sp>
        <p:nvSpPr>
          <p:cNvPr id="57" name="ANUARIO_CONTENIDO_1_0_16">
            <a:extLst xmlns:a="http://schemas.openxmlformats.org/drawingml/2006/main">
              <a:ext uri="{FF2B5EF4-FFF2-40B4-BE49-F238E27FC236}">
                <a16:creationId xmlns:a16="http://schemas.microsoft.com/office/drawing/2014/main" id="{23806E99-CA5C-40D7-9E40-CFC2FA2C2C9D}"/>
              </a:ext>
            </a:extLst>
          </p:cNvPr>
          <p:cNvSpPr>
            <a:spLocks xmlns:a="http://schemas.openxmlformats.org/drawingml/2006/main" noGrp="1"/>
          </p:cNvSpPr>
          <p:nvPr/>
        </p:nvSpPr>
        <p:spPr>
          <a:xfrm xmlns:a="http://schemas.openxmlformats.org/drawingml/2006/main">
            <a:off x="4828032" y="27180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invitados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(Guests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Viewers).</a:t>
            </a:r>
            <a:r>
              <a:rPr sz="730" b="0" i="0">
                <a:solidFill>
                  <a:srgbClr val="24383A"/>
                </a:solidFill>
                <a:latin typeface="DejaVu Sans"/>
                <a:ea typeface="DejaVu Sans"/>
                <a:cs typeface="DejaVu Sans"/>
              </a:rPr>
              <a:t> </a:t>
            </a:r>
          </a:p>
        </p:txBody>
      </p:sp>
      <p:sp>
        <p:nvSpPr>
          <p:cNvPr id="58" name="ANUARIO_CONTENIDO_1_0_17">
            <a:extLst xmlns:a="http://schemas.openxmlformats.org/drawingml/2006/main">
              <a:ext uri="{FF2B5EF4-FFF2-40B4-BE49-F238E27FC236}">
                <a16:creationId xmlns:a16="http://schemas.microsoft.com/office/drawing/2014/main" id="{EAB5F81B-42CD-4F25-AFCA-6EA2EC5791A3}"/>
              </a:ext>
            </a:extLst>
          </p:cNvPr>
          <p:cNvSpPr>
            <a:spLocks xmlns:a="http://schemas.openxmlformats.org/drawingml/2006/main" noGrp="1"/>
          </p:cNvSpPr>
          <p:nvPr/>
        </p:nvSpPr>
        <p:spPr>
          <a:xfrm xmlns:a="http://schemas.openxmlformats.org/drawingml/2006/main">
            <a:off x="4828032" y="28472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Cuando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habla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acuerdo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análisis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definido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p>
        </p:txBody>
      </p:sp>
      <p:sp>
        <p:nvSpPr>
          <p:cNvPr id="59" name="ANUARIO_CONTENIDO_1_0_18">
            <a:extLst xmlns:a="http://schemas.openxmlformats.org/drawingml/2006/main">
              <a:ext uri="{FF2B5EF4-FFF2-40B4-BE49-F238E27FC236}">
                <a16:creationId xmlns:a16="http://schemas.microsoft.com/office/drawing/2014/main" id="{2114B3BC-6B81-49E8-BD72-75C70EB0F8C3}"/>
              </a:ext>
            </a:extLst>
          </p:cNvPr>
          <p:cNvSpPr>
            <a:spLocks xmlns:a="http://schemas.openxmlformats.org/drawingml/2006/main" noGrp="1"/>
          </p:cNvSpPr>
          <p:nvPr/>
        </p:nvSpPr>
        <p:spPr>
          <a:xfrm xmlns:a="http://schemas.openxmlformats.org/drawingml/2006/main">
            <a:off x="4828032" y="29510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Azteca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Estrellas,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Imagen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Azteca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NU9VE,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p>
        </p:txBody>
      </p:sp>
      <p:sp>
        <p:nvSpPr>
          <p:cNvPr id="60" name="ANUARIO_CONTENIDO_1_0_19">
            <a:extLst xmlns:a="http://schemas.openxmlformats.org/drawingml/2006/main">
              <a:ext uri="{FF2B5EF4-FFF2-40B4-BE49-F238E27FC236}">
                <a16:creationId xmlns:a16="http://schemas.microsoft.com/office/drawing/2014/main" id="{3D5F5B44-706B-4639-B56B-DA44D5E7BC20}"/>
              </a:ext>
            </a:extLst>
          </p:cNvPr>
          <p:cNvSpPr>
            <a:spLocks xmlns:a="http://schemas.openxmlformats.org/drawingml/2006/main" noGrp="1"/>
          </p:cNvSpPr>
          <p:nvPr/>
        </p:nvSpPr>
        <p:spPr>
          <a:xfrm xmlns:a="http://schemas.openxmlformats.org/drawingml/2006/main">
            <a:off x="4828032" y="30549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ADN40.</a:t>
            </a:r>
          </a:p>
        </p:txBody>
      </p:sp>
      <p:sp>
        <p:nvSpPr>
          <p:cNvPr id="61" name="ANUARIO_CONTENIDO_1_0_20">
            <a:extLst xmlns:a="http://schemas.openxmlformats.org/drawingml/2006/main">
              <a:ext uri="{FF2B5EF4-FFF2-40B4-BE49-F238E27FC236}">
                <a16:creationId xmlns:a16="http://schemas.microsoft.com/office/drawing/2014/main" id="{2C6BE62C-6146-4CED-854E-6FAA71002F2C}"/>
              </a:ext>
            </a:extLst>
          </p:cNvPr>
          <p:cNvSpPr>
            <a:spLocks xmlns:a="http://schemas.openxmlformats.org/drawingml/2006/main" noGrp="1"/>
          </p:cNvSpPr>
          <p:nvPr/>
        </p:nvSpPr>
        <p:spPr>
          <a:xfrm xmlns:a="http://schemas.openxmlformats.org/drawingml/2006/main">
            <a:off x="4828032" y="318414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análisis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interpretación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realizado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responsabilidad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p>
        </p:txBody>
      </p:sp>
      <p:sp>
        <p:nvSpPr>
          <p:cNvPr id="62" name="ANUARIO_CONTENIDO_1_0_21">
            <a:extLst xmlns:a="http://schemas.openxmlformats.org/drawingml/2006/main">
              <a:ext uri="{FF2B5EF4-FFF2-40B4-BE49-F238E27FC236}">
                <a16:creationId xmlns:a16="http://schemas.microsoft.com/office/drawing/2014/main" id="{8F9C1971-F451-48B9-95AC-5D65A12C23A6}"/>
              </a:ext>
            </a:extLst>
          </p:cNvPr>
          <p:cNvSpPr>
            <a:spLocks xmlns:a="http://schemas.openxmlformats.org/drawingml/2006/main" noGrp="1"/>
          </p:cNvSpPr>
          <p:nvPr/>
        </p:nvSpPr>
        <p:spPr>
          <a:xfrm xmlns:a="http://schemas.openxmlformats.org/drawingml/2006/main">
            <a:off x="4828032" y="328797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p>
        </p:txBody>
      </p:sp>
      <p:sp>
        <p:nvSpPr>
          <p:cNvPr id="63" name="ANUARIO_CONTENIDO_1_0_22">
            <a:extLst xmlns:a="http://schemas.openxmlformats.org/drawingml/2006/main">
              <a:ext uri="{FF2B5EF4-FFF2-40B4-BE49-F238E27FC236}">
                <a16:creationId xmlns:a16="http://schemas.microsoft.com/office/drawing/2014/main" id="{ABC72B5D-2582-4D19-9107-33167B98819D}"/>
              </a:ext>
            </a:extLst>
          </p:cNvPr>
          <p:cNvSpPr>
            <a:spLocks xmlns:a="http://schemas.openxmlformats.org/drawingml/2006/main" noGrp="1"/>
          </p:cNvSpPr>
          <p:nvPr/>
        </p:nvSpPr>
        <p:spPr>
          <a:xfrm xmlns:a="http://schemas.openxmlformats.org/drawingml/2006/main">
            <a:off x="4828032" y="339181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contractuales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licenciamiento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64" name="ANUARIO_CONTENIDO_1_0_23">
            <a:extLst xmlns:a="http://schemas.openxmlformats.org/drawingml/2006/main">
              <a:ext uri="{FF2B5EF4-FFF2-40B4-BE49-F238E27FC236}">
                <a16:creationId xmlns:a16="http://schemas.microsoft.com/office/drawing/2014/main" id="{F78B2079-BA79-446A-8533-326CA342A64D}"/>
              </a:ext>
            </a:extLst>
          </p:cNvPr>
          <p:cNvSpPr>
            <a:spLocks xmlns:a="http://schemas.openxmlformats.org/drawingml/2006/main" noGrp="1"/>
          </p:cNvSpPr>
          <p:nvPr/>
        </p:nvSpPr>
        <p:spPr>
          <a:xfrm xmlns:a="http://schemas.openxmlformats.org/drawingml/2006/main">
            <a:off x="4828032" y="349565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validado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65" name="ANUARIO_CONTENIDO_1_0_24">
            <a:extLst xmlns:a="http://schemas.openxmlformats.org/drawingml/2006/main">
              <a:ext uri="{FF2B5EF4-FFF2-40B4-BE49-F238E27FC236}">
                <a16:creationId xmlns:a16="http://schemas.microsoft.com/office/drawing/2014/main" id="{C79E92AE-CA9D-4854-83C5-FF22ADB342AD}"/>
              </a:ext>
            </a:extLst>
          </p:cNvPr>
          <p:cNvSpPr>
            <a:spLocks xmlns:a="http://schemas.openxmlformats.org/drawingml/2006/main" noGrp="1"/>
          </p:cNvSpPr>
          <p:nvPr/>
        </p:nvSpPr>
        <p:spPr>
          <a:xfrm xmlns:a="http://schemas.openxmlformats.org/drawingml/2006/main">
            <a:off x="4828032" y="359948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contenida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mencionado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reporte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concuerda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p>
        </p:txBody>
      </p:sp>
      <p:sp>
        <p:nvSpPr>
          <p:cNvPr id="66" name="ANUARIO_CONTENIDO_1_0_25">
            <a:extLst xmlns:a="http://schemas.openxmlformats.org/drawingml/2006/main">
              <a:ext uri="{FF2B5EF4-FFF2-40B4-BE49-F238E27FC236}">
                <a16:creationId xmlns:a16="http://schemas.microsoft.com/office/drawing/2014/main" id="{49EC8DFD-B141-476A-BCC4-969DF918F7E7}"/>
              </a:ext>
            </a:extLst>
          </p:cNvPr>
          <p:cNvSpPr>
            <a:spLocks xmlns:a="http://schemas.openxmlformats.org/drawingml/2006/main" noGrp="1"/>
          </p:cNvSpPr>
          <p:nvPr/>
        </p:nvSpPr>
        <p:spPr>
          <a:xfrm xmlns:a="http://schemas.openxmlformats.org/drawingml/2006/main">
            <a:off x="4828032" y="370332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aquellas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licenciadas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p>
        </p:txBody>
      </p:sp>
      <p:sp>
        <p:nvSpPr>
          <p:cNvPr id="67" name="ANUARIO_NOTAS_0">
            <a:extLst xmlns:a="http://schemas.openxmlformats.org/drawingml/2006/main">
              <a:ext uri="{FF2B5EF4-FFF2-40B4-BE49-F238E27FC236}">
                <a16:creationId xmlns:a16="http://schemas.microsoft.com/office/drawing/2014/main" id="{F7A1C7C8-6016-4FE1-8BCF-22326259EE3E}"/>
              </a:ext>
            </a:extLst>
          </p:cNvPr>
          <p:cNvSpPr>
            <a:spLocks xmlns:a="http://schemas.openxmlformats.org/drawingml/2006/main" noGrp="1"/>
          </p:cNvSpPr>
          <p:nvPr/>
        </p:nvSpPr>
        <p:spPr>
          <a:xfrm xmlns:a="http://schemas.openxmlformats.org/drawingml/2006/main">
            <a:off x="301752" y="4544568"/>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13</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https://www.inegi.org.mx/programas/endutih/2025/</a:t>
            </a:r>
            <a:r>
              <a:rPr sz="520" b="0" i="0">
                <a:solidFill>
                  <a:srgbClr val="24383A"/>
                </a:solidFill>
                <a:latin typeface="DejaVu Sans"/>
                <a:ea typeface="DejaVu Sans"/>
                <a:cs typeface="DejaVu Sans"/>
              </a:rPr>
              <a:t>.</a:t>
            </a:r>
          </a:p>
        </p:txBody>
      </p:sp>
    </p:spTree>
    <p:extLst>
      <p:ext uri="{BB962C8B-B14F-4D97-AF65-F5344CB8AC3E}">
        <p14:creationId xmlns:p14="http://schemas.microsoft.com/office/powerpoint/2010/main" val="6249289"/>
      </p:ext>
    </p:extLst>
  </p:cSld>
</p:sld>
</file>

<file path=ppt/slides/slide129.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58" name="ANUARIO_ENCABEZADO">
            <a:extLst xmlns:a="http://schemas.openxmlformats.org/drawingml/2006/main">
              <a:ext uri="{FF2B5EF4-FFF2-40B4-BE49-F238E27FC236}">
                <a16:creationId xmlns:a16="http://schemas.microsoft.com/office/drawing/2014/main" id="{DAFEA229-C832-4859-8369-626DDBD8803F}"/>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8CC7D224-1ED2-475B-BB86-58B28F1A7609}"/>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8EB7BCD1-DAF9-4330-804A-624C056C04B9}"/>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III. METODOLOGÍAS</a:t>
            </a:r>
          </a:p>
        </p:txBody>
      </p:sp>
      <p:sp>
        <p:nvSpPr>
          <p:cNvPr id="4" name="ANUARIO_BIT_TEXTO">
            <a:extLst xmlns:a="http://schemas.openxmlformats.org/drawingml/2006/main">
              <a:ext uri="{FF2B5EF4-FFF2-40B4-BE49-F238E27FC236}">
                <a16:creationId xmlns:a16="http://schemas.microsoft.com/office/drawing/2014/main" id="{726C8D9A-3F98-4EB1-8807-3F8F4E16BDB8}"/>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9D46F281-1A37-42DB-B88B-3FF3505291BE}"/>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E1B4D126-1305-4401-A924-C80362DDC4A2}"/>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9B2194C8-9016-401D-932C-EB4E85EC606C}"/>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93958AFB-6B78-429E-BF97-29D6E2C34000}"/>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129</a:t>
            </a:r>
          </a:p>
        </p:txBody>
      </p:sp>
      <p:sp>
        <p:nvSpPr>
          <p:cNvPr id="9" name="ANUARIO_EDICION">
            <a:extLst xmlns:a="http://schemas.openxmlformats.org/drawingml/2006/main">
              <a:ext uri="{FF2B5EF4-FFF2-40B4-BE49-F238E27FC236}">
                <a16:creationId xmlns:a16="http://schemas.microsoft.com/office/drawing/2014/main" id="{69CF3E38-1D58-4EFF-9970-6886B6DD0523}"/>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9_DESIGN_2026">
            <a:extLst xmlns:a="http://schemas.openxmlformats.org/drawingml/2006/main">
              <a:ext uri="{FF2B5EF4-FFF2-40B4-BE49-F238E27FC236}">
                <a16:creationId xmlns:a16="http://schemas.microsoft.com/office/drawing/2014/main" id="{EC135B2E-DF10-4094-8614-68430AD00437}"/>
              </a:ext>
            </a:extLst>
          </p:cNvPr>
          <p:cNvSpPr>
            <a:spLocks xmlns:a="http://schemas.openxmlformats.org/drawingml/2006/main" noGrp="1"/>
          </p:cNvSpPr>
          <p:nvPr/>
        </p:nvSpPr>
        <p:spPr>
          <a:xfrm xmlns:a="http://schemas.openxmlformats.org/drawingml/2006/main">
            <a:off x="301752"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A63BD975-DC4A-4CD2-A102-8A48E96C7C70}"/>
              </a:ext>
            </a:extLst>
          </p:cNvPr>
          <p:cNvSpPr>
            <a:spLocks xmlns:a="http://schemas.openxmlformats.org/drawingml/2006/main" noGrp="1"/>
          </p:cNvSpPr>
          <p:nvPr/>
        </p:nvSpPr>
        <p:spPr>
          <a:xfrm xmlns:a="http://schemas.openxmlformats.org/drawingml/2006/main">
            <a:off x="301752"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1677E7A2-F632-4A38-B65D-119107F01266}"/>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ENOE · población de 15 años y más¹⁴</a:t>
            </a:r>
          </a:p>
        </p:txBody>
      </p:sp>
      <p:sp>
        <p:nvSpPr>
          <p:cNvPr id="13" name="ANUARIO_CONTENIDO_0_0_0">
            <a:extLst xmlns:a="http://schemas.openxmlformats.org/drawingml/2006/main">
              <a:ext uri="{FF2B5EF4-FFF2-40B4-BE49-F238E27FC236}">
                <a16:creationId xmlns:a16="http://schemas.microsoft.com/office/drawing/2014/main" id="{400618FF-0F46-429C-ADC8-9033389E68B3}"/>
              </a:ext>
            </a:extLst>
          </p:cNvPr>
          <p:cNvSpPr>
            <a:spLocks xmlns:a="http://schemas.openxmlformats.org/drawingml/2006/main" noGrp="1"/>
          </p:cNvSpPr>
          <p:nvPr/>
        </p:nvSpPr>
        <p:spPr>
          <a:xfrm xmlns:a="http://schemas.openxmlformats.org/drawingml/2006/main">
            <a:off x="466344"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principal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mercado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laboral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mexicano</a:t>
            </a:r>
            <a:r>
              <a:rPr sz="73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4FAE9CD7-EFD6-49F7-A86C-7ED3034163A8}"/>
              </a:ext>
            </a:extLst>
          </p:cNvPr>
          <p:cNvSpPr>
            <a:spLocks xmlns:a="http://schemas.openxmlformats.org/drawingml/2006/main" noGrp="1"/>
          </p:cNvSpPr>
          <p:nvPr/>
        </p:nvSpPr>
        <p:spPr>
          <a:xfrm xmlns:a="http://schemas.openxmlformats.org/drawingml/2006/main">
            <a:off x="466344"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fuerza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ocupación,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9FDC84C6-422E-4BEA-877E-A41420DF8AB6}"/>
              </a:ext>
            </a:extLst>
          </p:cNvPr>
          <p:cNvSpPr>
            <a:spLocks xmlns:a="http://schemas.openxmlformats.org/drawingml/2006/main" noGrp="1"/>
          </p:cNvSpPr>
          <p:nvPr/>
        </p:nvSpPr>
        <p:spPr>
          <a:xfrm xmlns:a="http://schemas.openxmlformats.org/drawingml/2006/main">
            <a:off x="466344"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laboral,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subocupación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desocupación.</a:t>
            </a:r>
            <a:r>
              <a:rPr sz="730" b="0" i="0">
                <a:solidFill>
                  <a:srgbClr val="24383A"/>
                </a:solidFill>
                <a:latin typeface="DejaVu Sans"/>
                <a:ea typeface="DejaVu Sans"/>
                <a:cs typeface="DejaVu Sans"/>
              </a:rPr>
              <a:t> </a:t>
            </a:r>
          </a:p>
        </p:txBody>
      </p:sp>
      <p:sp>
        <p:nvSpPr>
          <p:cNvPr id="16" name="ANUARIO_CONTENIDO_0_0_3">
            <a:extLst xmlns:a="http://schemas.openxmlformats.org/drawingml/2006/main">
              <a:ext uri="{FF2B5EF4-FFF2-40B4-BE49-F238E27FC236}">
                <a16:creationId xmlns:a16="http://schemas.microsoft.com/office/drawing/2014/main" id="{F69202CE-6948-4B81-B6B6-5DC6A2D2DE78}"/>
              </a:ext>
            </a:extLst>
          </p:cNvPr>
          <p:cNvSpPr>
            <a:spLocks xmlns:a="http://schemas.openxmlformats.org/drawingml/2006/main" noGrp="1"/>
          </p:cNvSpPr>
          <p:nvPr/>
        </p:nvSpPr>
        <p:spPr>
          <a:xfrm xmlns:a="http://schemas.openxmlformats.org/drawingml/2006/main">
            <a:off x="466344" y="13427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enero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levantamiento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p>
        </p:txBody>
      </p:sp>
      <p:sp>
        <p:nvSpPr>
          <p:cNvPr id="17" name="ANUARIO_CONTENIDO_0_0_4">
            <a:extLst xmlns:a="http://schemas.openxmlformats.org/drawingml/2006/main">
              <a:ext uri="{FF2B5EF4-FFF2-40B4-BE49-F238E27FC236}">
                <a16:creationId xmlns:a16="http://schemas.microsoft.com/office/drawing/2014/main" id="{B3081422-DBAD-44C8-8B0A-692F008FF90F}"/>
              </a:ext>
            </a:extLst>
          </p:cNvPr>
          <p:cNvSpPr>
            <a:spLocks xmlns:a="http://schemas.openxmlformats.org/drawingml/2006/main" noGrp="1"/>
          </p:cNvSpPr>
          <p:nvPr/>
        </p:nvSpPr>
        <p:spPr>
          <a:xfrm xmlns:a="http://schemas.openxmlformats.org/drawingml/2006/main">
            <a:off x="466344"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Interés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incorporando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preguntas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migración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33CA109F-7BCE-4FFE-9361-10C8D242E582}"/>
              </a:ext>
            </a:extLst>
          </p:cNvPr>
          <p:cNvSpPr>
            <a:spLocks xmlns:a="http://schemas.openxmlformats.org/drawingml/2006/main" noGrp="1"/>
          </p:cNvSpPr>
          <p:nvPr/>
        </p:nvSpPr>
        <p:spPr>
          <a:xfrm xmlns:a="http://schemas.openxmlformats.org/drawingml/2006/main">
            <a:off x="466344"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entrevistas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telefónicas.</a:t>
            </a:r>
          </a:p>
        </p:txBody>
      </p:sp>
      <p:sp>
        <p:nvSpPr>
          <p:cNvPr id="19" name="ANUARIO_CONTENIDO_0_0_6">
            <a:extLst xmlns:a="http://schemas.openxmlformats.org/drawingml/2006/main">
              <a:ext uri="{FF2B5EF4-FFF2-40B4-BE49-F238E27FC236}">
                <a16:creationId xmlns:a16="http://schemas.microsoft.com/office/drawing/2014/main" id="{E460F737-A934-4725-AD28-95120E2F9EAD}"/>
              </a:ext>
            </a:extLst>
          </p:cNvPr>
          <p:cNvSpPr>
            <a:spLocks xmlns:a="http://schemas.openxmlformats.org/drawingml/2006/main" noGrp="1"/>
          </p:cNvSpPr>
          <p:nvPr/>
        </p:nvSpPr>
        <p:spPr>
          <a:xfrm xmlns:a="http://schemas.openxmlformats.org/drawingml/2006/main">
            <a:off x="466344" y="16796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periodo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suspensión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levantamiento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p>
        </p:txBody>
      </p:sp>
      <p:sp>
        <p:nvSpPr>
          <p:cNvPr id="20" name="ANUARIO_CONTENIDO_0_0_7">
            <a:extLst xmlns:a="http://schemas.openxmlformats.org/drawingml/2006/main">
              <a:ext uri="{FF2B5EF4-FFF2-40B4-BE49-F238E27FC236}">
                <a16:creationId xmlns:a16="http://schemas.microsoft.com/office/drawing/2014/main" id="{965022A3-628D-4CF8-B805-10C0815A8E8F}"/>
              </a:ext>
            </a:extLst>
          </p:cNvPr>
          <p:cNvSpPr>
            <a:spLocks xmlns:a="http://schemas.openxmlformats.org/drawingml/2006/main" noGrp="1"/>
          </p:cNvSpPr>
          <p:nvPr/>
        </p:nvSpPr>
        <p:spPr>
          <a:xfrm xmlns:a="http://schemas.openxmlformats.org/drawingml/2006/main">
            <a:off x="466344" y="17834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abril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debido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contingencia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sanitaria,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consultar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10F3F3B5-AE23-4BA0-8C7B-23FDD90B9588}"/>
              </a:ext>
            </a:extLst>
          </p:cNvPr>
          <p:cNvSpPr>
            <a:spLocks xmlns:a="http://schemas.openxmlformats.org/drawingml/2006/main" noGrp="1"/>
          </p:cNvSpPr>
          <p:nvPr/>
        </p:nvSpPr>
        <p:spPr>
          <a:xfrm xmlns:a="http://schemas.openxmlformats.org/drawingml/2006/main">
            <a:off x="466344" y="18873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ETOE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abril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junio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así</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resultados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Edición</a:t>
            </a:r>
            <a:r>
              <a:rPr sz="73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C8376C47-210A-457C-88BA-1C4DA2CEAFA4}"/>
              </a:ext>
            </a:extLst>
          </p:cNvPr>
          <p:cNvSpPr>
            <a:spLocks xmlns:a="http://schemas.openxmlformats.org/drawingml/2006/main" noGrp="1"/>
          </p:cNvSpPr>
          <p:nvPr/>
        </p:nvSpPr>
        <p:spPr>
          <a:xfrm xmlns:a="http://schemas.openxmlformats.org/drawingml/2006/main">
            <a:off x="466344" y="19911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(ENOEN)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periodo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diciembre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p>
        </p:txBody>
      </p:sp>
      <p:sp>
        <p:nvSpPr>
          <p:cNvPr id="23" name="ANUARIO_CONTENIDO_0_0_10">
            <a:extLst xmlns:a="http://schemas.openxmlformats.org/drawingml/2006/main">
              <a:ext uri="{FF2B5EF4-FFF2-40B4-BE49-F238E27FC236}">
                <a16:creationId xmlns:a16="http://schemas.microsoft.com/office/drawing/2014/main" id="{20E7AD1F-F848-4E31-83BF-991350591BAE}"/>
              </a:ext>
            </a:extLst>
          </p:cNvPr>
          <p:cNvSpPr>
            <a:spLocks xmlns:a="http://schemas.openxmlformats.org/drawingml/2006/main" noGrp="1"/>
          </p:cNvSpPr>
          <p:nvPr/>
        </p:nvSpPr>
        <p:spPr>
          <a:xfrm xmlns:a="http://schemas.openxmlformats.org/drawingml/2006/main">
            <a:off x="466344" y="21203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primer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mayo</a:t>
            </a:r>
            <a:r>
              <a:rPr sz="730" b="0" i="0">
                <a:solidFill>
                  <a:srgbClr val="24383A"/>
                </a:solidFill>
                <a:latin typeface="DejaVu Sans"/>
                <a:ea typeface="DejaVu Sans"/>
                <a:cs typeface="DejaVu Sans"/>
              </a:rPr>
              <a:t> </a:t>
            </a:r>
          </a:p>
        </p:txBody>
      </p:sp>
      <p:sp>
        <p:nvSpPr>
          <p:cNvPr id="24" name="ANUARIO_CONTENIDO_0_0_11">
            <a:extLst xmlns:a="http://schemas.openxmlformats.org/drawingml/2006/main">
              <a:ext uri="{FF2B5EF4-FFF2-40B4-BE49-F238E27FC236}">
                <a16:creationId xmlns:a16="http://schemas.microsoft.com/office/drawing/2014/main" id="{086F91D4-A001-4C7F-B874-E7AEEB73B99C}"/>
              </a:ext>
            </a:extLst>
          </p:cNvPr>
          <p:cNvSpPr>
            <a:spLocks xmlns:a="http://schemas.openxmlformats.org/drawingml/2006/main" noGrp="1"/>
          </p:cNvSpPr>
          <p:nvPr/>
        </p:nvSpPr>
        <p:spPr>
          <a:xfrm xmlns:a="http://schemas.openxmlformats.org/drawingml/2006/main">
            <a:off x="466344" y="22242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factores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expansión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5" name="ANUARIO_CONTENIDO_0_0_12">
            <a:extLst xmlns:a="http://schemas.openxmlformats.org/drawingml/2006/main">
              <a:ext uri="{FF2B5EF4-FFF2-40B4-BE49-F238E27FC236}">
                <a16:creationId xmlns:a16="http://schemas.microsoft.com/office/drawing/2014/main" id="{E4263B40-C6F7-4BDA-A7D3-CBD74EBFE3E1}"/>
              </a:ext>
            </a:extLst>
          </p:cNvPr>
          <p:cNvSpPr>
            <a:spLocks xmlns:a="http://schemas.openxmlformats.org/drawingml/2006/main" noGrp="1"/>
          </p:cNvSpPr>
          <p:nvPr/>
        </p:nvSpPr>
        <p:spPr>
          <a:xfrm xmlns:a="http://schemas.openxmlformats.org/drawingml/2006/main">
            <a:off x="466344" y="23280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cifras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proyecciones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venían</a:t>
            </a:r>
            <a:r>
              <a:rPr sz="730" b="0" i="0">
                <a:solidFill>
                  <a:srgbClr val="24383A"/>
                </a:solidFill>
                <a:latin typeface="DejaVu Sans"/>
                <a:ea typeface="DejaVu Sans"/>
                <a:cs typeface="DejaVu Sans"/>
              </a:rPr>
              <a:t> </a:t>
            </a:r>
          </a:p>
        </p:txBody>
      </p:sp>
      <p:sp>
        <p:nvSpPr>
          <p:cNvPr id="26" name="ANUARIO_CONTENIDO_0_0_13">
            <a:extLst xmlns:a="http://schemas.openxmlformats.org/drawingml/2006/main">
              <a:ext uri="{FF2B5EF4-FFF2-40B4-BE49-F238E27FC236}">
                <a16:creationId xmlns:a16="http://schemas.microsoft.com/office/drawing/2014/main" id="{D3032BC0-6126-4C52-8D87-7E9BACDFC9DE}"/>
              </a:ext>
            </a:extLst>
          </p:cNvPr>
          <p:cNvSpPr>
            <a:spLocks xmlns:a="http://schemas.openxmlformats.org/drawingml/2006/main" noGrp="1"/>
          </p:cNvSpPr>
          <p:nvPr/>
        </p:nvSpPr>
        <p:spPr>
          <a:xfrm xmlns:a="http://schemas.openxmlformats.org/drawingml/2006/main">
            <a:off x="466344" y="24318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utilizando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Ahora,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generando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7" name="ANUARIO_CONTENIDO_0_0_14">
            <a:extLst xmlns:a="http://schemas.openxmlformats.org/drawingml/2006/main">
              <a:ext uri="{FF2B5EF4-FFF2-40B4-BE49-F238E27FC236}">
                <a16:creationId xmlns:a16="http://schemas.microsoft.com/office/drawing/2014/main" id="{1F42FE44-3B31-40DA-B641-0CDCB44B82E4}"/>
              </a:ext>
            </a:extLst>
          </p:cNvPr>
          <p:cNvSpPr>
            <a:spLocks xmlns:a="http://schemas.openxmlformats.org/drawingml/2006/main" noGrp="1"/>
          </p:cNvSpPr>
          <p:nvPr/>
        </p:nvSpPr>
        <p:spPr>
          <a:xfrm xmlns:a="http://schemas.openxmlformats.org/drawingml/2006/main">
            <a:off x="466344" y="25357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federativa,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propia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p>
        </p:txBody>
      </p:sp>
      <p:sp>
        <p:nvSpPr>
          <p:cNvPr id="28" name="ANUARIO_CONTENIDO_0_0_15">
            <a:extLst xmlns:a="http://schemas.openxmlformats.org/drawingml/2006/main">
              <a:ext uri="{FF2B5EF4-FFF2-40B4-BE49-F238E27FC236}">
                <a16:creationId xmlns:a16="http://schemas.microsoft.com/office/drawing/2014/main" id="{9315EAF7-A05A-44F3-9416-3505F2B2C102}"/>
              </a:ext>
            </a:extLst>
          </p:cNvPr>
          <p:cNvSpPr>
            <a:spLocks xmlns:a="http://schemas.openxmlformats.org/drawingml/2006/main" noGrp="1"/>
          </p:cNvSpPr>
          <p:nvPr/>
        </p:nvSpPr>
        <p:spPr>
          <a:xfrm xmlns:a="http://schemas.openxmlformats.org/drawingml/2006/main">
            <a:off x="466344" y="26395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Muestreo.</a:t>
            </a:r>
          </a:p>
        </p:txBody>
      </p:sp>
      <p:sp>
        <p:nvSpPr>
          <p:cNvPr id="29" name="ANUARIO_CONTENIDO_0_0_16">
            <a:extLst xmlns:a="http://schemas.openxmlformats.org/drawingml/2006/main">
              <a:ext uri="{FF2B5EF4-FFF2-40B4-BE49-F238E27FC236}">
                <a16:creationId xmlns:a16="http://schemas.microsoft.com/office/drawing/2014/main" id="{8F4F22A9-4C96-48A3-A74E-8ECFA35BF716}"/>
              </a:ext>
            </a:extLst>
          </p:cNvPr>
          <p:cNvSpPr>
            <a:spLocks xmlns:a="http://schemas.openxmlformats.org/drawingml/2006/main" noGrp="1"/>
          </p:cNvSpPr>
          <p:nvPr/>
        </p:nvSpPr>
        <p:spPr>
          <a:xfrm xmlns:a="http://schemas.openxmlformats.org/drawingml/2006/main">
            <a:off x="466344" y="27688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finalidad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serie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histórica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N</a:t>
            </a:r>
            <a:r>
              <a:rPr sz="730" b="0" i="0">
                <a:solidFill>
                  <a:srgbClr val="24383A"/>
                </a:solidFill>
                <a:latin typeface="DejaVu Sans"/>
                <a:ea typeface="DejaVu Sans"/>
                <a:cs typeface="DejaVu Sans"/>
              </a:rPr>
              <a:t> </a:t>
            </a:r>
          </a:p>
        </p:txBody>
      </p:sp>
      <p:sp>
        <p:nvSpPr>
          <p:cNvPr id="30" name="ANUARIO_CONTENIDO_0_0_17">
            <a:extLst xmlns:a="http://schemas.openxmlformats.org/drawingml/2006/main">
              <a:ext uri="{FF2B5EF4-FFF2-40B4-BE49-F238E27FC236}">
                <a16:creationId xmlns:a16="http://schemas.microsoft.com/office/drawing/2014/main" id="{26866388-F335-4726-84E0-7B4539B75B4A}"/>
              </a:ext>
            </a:extLst>
          </p:cNvPr>
          <p:cNvSpPr>
            <a:spLocks xmlns:a="http://schemas.openxmlformats.org/drawingml/2006/main" noGrp="1"/>
          </p:cNvSpPr>
          <p:nvPr/>
        </p:nvSpPr>
        <p:spPr>
          <a:xfrm xmlns:a="http://schemas.openxmlformats.org/drawingml/2006/main">
            <a:off x="466344" y="28726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2005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hasta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llevará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p>
        </p:txBody>
      </p:sp>
      <p:sp>
        <p:nvSpPr>
          <p:cNvPr id="31" name="ANUARIO_CONTENIDO_0_0_18">
            <a:extLst xmlns:a="http://schemas.openxmlformats.org/drawingml/2006/main">
              <a:ext uri="{FF2B5EF4-FFF2-40B4-BE49-F238E27FC236}">
                <a16:creationId xmlns:a16="http://schemas.microsoft.com/office/drawing/2014/main" id="{FF71DC9A-2F0A-456A-A4F7-2B35DAA221C4}"/>
              </a:ext>
            </a:extLst>
          </p:cNvPr>
          <p:cNvSpPr>
            <a:spLocks xmlns:a="http://schemas.openxmlformats.org/drawingml/2006/main" noGrp="1"/>
          </p:cNvSpPr>
          <p:nvPr/>
        </p:nvSpPr>
        <p:spPr>
          <a:xfrm xmlns:a="http://schemas.openxmlformats.org/drawingml/2006/main">
            <a:off x="466344" y="29764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cabo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esquema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divulgación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permitirá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reemplazar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forma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paulatina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32" name="ANUARIO_CONTENIDO_0_0_19">
            <a:extLst xmlns:a="http://schemas.openxmlformats.org/drawingml/2006/main">
              <a:ext uri="{FF2B5EF4-FFF2-40B4-BE49-F238E27FC236}">
                <a16:creationId xmlns:a16="http://schemas.microsoft.com/office/drawing/2014/main" id="{6BD93000-D182-44EB-9821-D18B6A362CBB}"/>
              </a:ext>
            </a:extLst>
          </p:cNvPr>
          <p:cNvSpPr>
            <a:spLocks xmlns:a="http://schemas.openxmlformats.org/drawingml/2006/main" noGrp="1"/>
          </p:cNvSpPr>
          <p:nvPr/>
        </p:nvSpPr>
        <p:spPr>
          <a:xfrm xmlns:a="http://schemas.openxmlformats.org/drawingml/2006/main">
            <a:off x="466344" y="30803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productos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publicados.</a:t>
            </a:r>
            <a:r>
              <a:rPr sz="730" b="0" i="0">
                <a:solidFill>
                  <a:srgbClr val="24383A"/>
                </a:solidFill>
                <a:latin typeface="DejaVu Sans"/>
                <a:ea typeface="DejaVu Sans"/>
                <a:cs typeface="DejaVu Sans"/>
              </a:rPr>
              <a:t> </a:t>
            </a:r>
          </a:p>
        </p:txBody>
      </p:sp>
      <p:sp>
        <p:nvSpPr>
          <p:cNvPr id="33" name="ANUARIO_ANEXO_P129_DESIGN_2026">
            <a:extLst xmlns:a="http://schemas.openxmlformats.org/drawingml/2006/main">
              <a:ext uri="{FF2B5EF4-FFF2-40B4-BE49-F238E27FC236}">
                <a16:creationId xmlns:a16="http://schemas.microsoft.com/office/drawing/2014/main" id="{BCA5FBA7-35D3-4323-A2AF-ABD208EA4986}"/>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34" name="ANUARIO_ACENTO">
            <a:extLst xmlns:a="http://schemas.openxmlformats.org/drawingml/2006/main">
              <a:ext uri="{FF2B5EF4-FFF2-40B4-BE49-F238E27FC236}">
                <a16:creationId xmlns:a16="http://schemas.microsoft.com/office/drawing/2014/main" id="{ACCEF537-552F-4E7B-9B1E-D17E5EC9905F}"/>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35" name="ANUARIO_SECCION">
            <a:extLst xmlns:a="http://schemas.openxmlformats.org/drawingml/2006/main">
              <a:ext uri="{FF2B5EF4-FFF2-40B4-BE49-F238E27FC236}">
                <a16:creationId xmlns:a16="http://schemas.microsoft.com/office/drawing/2014/main" id="{56FF1480-97D9-47B5-86A9-85CD5F5D0500}"/>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PIB · metodología¹⁵</a:t>
            </a:r>
          </a:p>
        </p:txBody>
      </p:sp>
      <p:sp>
        <p:nvSpPr>
          <p:cNvPr id="36" name="ANUARIO_CONTENIDO_1_0_0">
            <a:extLst xmlns:a="http://schemas.openxmlformats.org/drawingml/2006/main">
              <a:ext uri="{FF2B5EF4-FFF2-40B4-BE49-F238E27FC236}">
                <a16:creationId xmlns:a16="http://schemas.microsoft.com/office/drawing/2014/main" id="{5E810A21-DA51-46C0-901A-718C94F1C1ED}"/>
              </a:ext>
            </a:extLst>
          </p:cNvPr>
          <p:cNvSpPr>
            <a:spLocks xmlns:a="http://schemas.openxmlformats.org/drawingml/2006/main" noGrp="1"/>
          </p:cNvSpPr>
          <p:nvPr/>
        </p:nvSpPr>
        <p:spPr>
          <a:xfrm xmlns:a="http://schemas.openxmlformats.org/drawingml/2006/main">
            <a:off x="4828032"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Producto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Interno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Bruto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principal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indicador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p>
        </p:txBody>
      </p:sp>
      <p:sp>
        <p:nvSpPr>
          <p:cNvPr id="37" name="ANUARIO_CONTENIDO_1_0_1">
            <a:extLst xmlns:a="http://schemas.openxmlformats.org/drawingml/2006/main">
              <a:ext uri="{FF2B5EF4-FFF2-40B4-BE49-F238E27FC236}">
                <a16:creationId xmlns:a16="http://schemas.microsoft.com/office/drawing/2014/main" id="{5616EB59-2557-4271-A15D-90BBA6A31A66}"/>
              </a:ext>
            </a:extLst>
          </p:cNvPr>
          <p:cNvSpPr>
            <a:spLocks xmlns:a="http://schemas.openxmlformats.org/drawingml/2006/main" noGrp="1"/>
          </p:cNvSpPr>
          <p:nvPr/>
        </p:nvSpPr>
        <p:spPr>
          <a:xfrm xmlns:a="http://schemas.openxmlformats.org/drawingml/2006/main">
            <a:off x="4828032"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puede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(eliminando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efectos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38" name="ANUARIO_CONTENIDO_1_0_2">
            <a:extLst xmlns:a="http://schemas.openxmlformats.org/drawingml/2006/main">
              <a:ext uri="{FF2B5EF4-FFF2-40B4-BE49-F238E27FC236}">
                <a16:creationId xmlns:a16="http://schemas.microsoft.com/office/drawing/2014/main" id="{183A4D77-142A-4ECC-8A17-8FF9B6068537}"/>
              </a:ext>
            </a:extLst>
          </p:cNvPr>
          <p:cNvSpPr>
            <a:spLocks xmlns:a="http://schemas.openxmlformats.org/drawingml/2006/main" noGrp="1"/>
          </p:cNvSpPr>
          <p:nvPr/>
        </p:nvSpPr>
        <p:spPr>
          <a:xfrm xmlns:a="http://schemas.openxmlformats.org/drawingml/2006/main">
            <a:off x="4828032"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precios)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corrientes.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indicador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puede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calcular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p>
        </p:txBody>
      </p:sp>
      <p:sp>
        <p:nvSpPr>
          <p:cNvPr id="39" name="ANUARIO_CONTENIDO_1_0_3">
            <a:extLst xmlns:a="http://schemas.openxmlformats.org/drawingml/2006/main">
              <a:ext uri="{FF2B5EF4-FFF2-40B4-BE49-F238E27FC236}">
                <a16:creationId xmlns:a16="http://schemas.microsoft.com/office/drawing/2014/main" id="{0FBB072A-FFFA-4DEC-82F0-559DDC30605C}"/>
              </a:ext>
            </a:extLst>
          </p:cNvPr>
          <p:cNvSpPr>
            <a:spLocks xmlns:a="http://schemas.openxmlformats.org/drawingml/2006/main" noGrp="1"/>
          </p:cNvSpPr>
          <p:nvPr/>
        </p:nvSpPr>
        <p:spPr>
          <a:xfrm xmlns:a="http://schemas.openxmlformats.org/drawingml/2006/main">
            <a:off x="4828032" y="13173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métodos: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producción,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p>
        </p:txBody>
      </p:sp>
      <p:sp>
        <p:nvSpPr>
          <p:cNvPr id="40" name="ANUARIO_CONTENIDO_1_0_4">
            <a:extLst xmlns:a="http://schemas.openxmlformats.org/drawingml/2006/main">
              <a:ext uri="{FF2B5EF4-FFF2-40B4-BE49-F238E27FC236}">
                <a16:creationId xmlns:a16="http://schemas.microsoft.com/office/drawing/2014/main" id="{044EE613-A773-401E-8A4B-CDDEB22050E9}"/>
              </a:ext>
            </a:extLst>
          </p:cNvPr>
          <p:cNvSpPr>
            <a:spLocks xmlns:a="http://schemas.openxmlformats.org/drawingml/2006/main" noGrp="1"/>
          </p:cNvSpPr>
          <p:nvPr/>
        </p:nvSpPr>
        <p:spPr>
          <a:xfrm xmlns:a="http://schemas.openxmlformats.org/drawingml/2006/main">
            <a:off x="4828032"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corto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plazo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oportuna,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completa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p>
        </p:txBody>
      </p:sp>
      <p:sp>
        <p:nvSpPr>
          <p:cNvPr id="41" name="ANUARIO_CONTENIDO_1_0_5">
            <a:extLst xmlns:a="http://schemas.openxmlformats.org/drawingml/2006/main">
              <a:ext uri="{FF2B5EF4-FFF2-40B4-BE49-F238E27FC236}">
                <a16:creationId xmlns:a16="http://schemas.microsoft.com/office/drawing/2014/main" id="{9F02D3D0-08AE-4EB4-9DAF-0C64BAB8EDBA}"/>
              </a:ext>
            </a:extLst>
          </p:cNvPr>
          <p:cNvSpPr>
            <a:spLocks xmlns:a="http://schemas.openxmlformats.org/drawingml/2006/main" noGrp="1"/>
          </p:cNvSpPr>
          <p:nvPr/>
        </p:nvSpPr>
        <p:spPr>
          <a:xfrm xmlns:a="http://schemas.openxmlformats.org/drawingml/2006/main">
            <a:off x="4828032"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coherente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evolución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económicas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p>
        </p:txBody>
      </p:sp>
      <p:sp>
        <p:nvSpPr>
          <p:cNvPr id="42" name="ANUARIO_CONTENIDO_1_0_6">
            <a:extLst xmlns:a="http://schemas.openxmlformats.org/drawingml/2006/main">
              <a:ext uri="{FF2B5EF4-FFF2-40B4-BE49-F238E27FC236}">
                <a16:creationId xmlns:a16="http://schemas.microsoft.com/office/drawing/2014/main" id="{3D5A47F9-7DBD-43AA-BFEA-805490EA685C}"/>
              </a:ext>
            </a:extLst>
          </p:cNvPr>
          <p:cNvSpPr>
            <a:spLocks xmlns:a="http://schemas.openxmlformats.org/drawingml/2006/main" noGrp="1"/>
          </p:cNvSpPr>
          <p:nvPr/>
        </p:nvSpPr>
        <p:spPr>
          <a:xfrm xmlns:a="http://schemas.openxmlformats.org/drawingml/2006/main">
            <a:off x="4828032" y="16542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proporcionando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apoyar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decisiones.</a:t>
            </a:r>
          </a:p>
        </p:txBody>
      </p:sp>
      <p:sp>
        <p:nvSpPr>
          <p:cNvPr id="43" name="ANUARIO_CONTENIDO_1_0_7">
            <a:extLst xmlns:a="http://schemas.openxmlformats.org/drawingml/2006/main">
              <a:ext uri="{FF2B5EF4-FFF2-40B4-BE49-F238E27FC236}">
                <a16:creationId xmlns:a16="http://schemas.microsoft.com/office/drawing/2014/main" id="{CA196D61-8156-4E22-8D8B-5909318016AC}"/>
              </a:ext>
            </a:extLst>
          </p:cNvPr>
          <p:cNvSpPr>
            <a:spLocks xmlns:a="http://schemas.openxmlformats.org/drawingml/2006/main" noGrp="1"/>
          </p:cNvSpPr>
          <p:nvPr/>
        </p:nvSpPr>
        <p:spPr>
          <a:xfrm xmlns:a="http://schemas.openxmlformats.org/drawingml/2006/main">
            <a:off x="4828032" y="17834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29</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agosto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Instituto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Geografía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p>
        </p:txBody>
      </p:sp>
      <p:sp>
        <p:nvSpPr>
          <p:cNvPr id="44" name="ANUARIO_CONTENIDO_1_0_8">
            <a:extLst xmlns:a="http://schemas.openxmlformats.org/drawingml/2006/main">
              <a:ext uri="{FF2B5EF4-FFF2-40B4-BE49-F238E27FC236}">
                <a16:creationId xmlns:a16="http://schemas.microsoft.com/office/drawing/2014/main" id="{527DC507-1CC6-4745-8982-9FE9A1C4A4E2}"/>
              </a:ext>
            </a:extLst>
          </p:cNvPr>
          <p:cNvSpPr>
            <a:spLocks xmlns:a="http://schemas.openxmlformats.org/drawingml/2006/main" noGrp="1"/>
          </p:cNvSpPr>
          <p:nvPr/>
        </p:nvSpPr>
        <p:spPr>
          <a:xfrm xmlns:a="http://schemas.openxmlformats.org/drawingml/2006/main">
            <a:off x="4828032" y="18873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presentó</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Sistema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(SCNM),</a:t>
            </a:r>
            <a:r>
              <a:rPr sz="730" b="0" i="0">
                <a:solidFill>
                  <a:srgbClr val="24383A"/>
                </a:solidFill>
                <a:latin typeface="DejaVu Sans"/>
                <a:ea typeface="DejaVu Sans"/>
                <a:cs typeface="DejaVu Sans"/>
              </a:rPr>
              <a:t> </a:t>
            </a:r>
          </a:p>
        </p:txBody>
      </p:sp>
      <p:sp>
        <p:nvSpPr>
          <p:cNvPr id="45" name="ANUARIO_CONTENIDO_1_0_9">
            <a:extLst xmlns:a="http://schemas.openxmlformats.org/drawingml/2006/main">
              <a:ext uri="{FF2B5EF4-FFF2-40B4-BE49-F238E27FC236}">
                <a16:creationId xmlns:a16="http://schemas.microsoft.com/office/drawing/2014/main" id="{F50AA142-CA42-48EB-8E9E-AF79166540DE}"/>
              </a:ext>
            </a:extLst>
          </p:cNvPr>
          <p:cNvSpPr>
            <a:spLocks xmlns:a="http://schemas.openxmlformats.org/drawingml/2006/main" noGrp="1"/>
          </p:cNvSpPr>
          <p:nvPr/>
        </p:nvSpPr>
        <p:spPr>
          <a:xfrm xmlns:a="http://schemas.openxmlformats.org/drawingml/2006/main">
            <a:off x="4828032" y="19911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tendría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modificaciones.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anterior,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p>
        </p:txBody>
      </p:sp>
      <p:sp>
        <p:nvSpPr>
          <p:cNvPr id="46" name="ANUARIO_CONTENIDO_1_0_10">
            <a:extLst xmlns:a="http://schemas.openxmlformats.org/drawingml/2006/main">
              <a:ext uri="{FF2B5EF4-FFF2-40B4-BE49-F238E27FC236}">
                <a16:creationId xmlns:a16="http://schemas.microsoft.com/office/drawing/2014/main" id="{80E4609A-2C11-415E-92AE-2DE595BA9BE6}"/>
              </a:ext>
            </a:extLst>
          </p:cNvPr>
          <p:cNvSpPr>
            <a:spLocks xmlns:a="http://schemas.openxmlformats.org/drawingml/2006/main" noGrp="1"/>
          </p:cNvSpPr>
          <p:nvPr/>
        </p:nvSpPr>
        <p:spPr>
          <a:xfrm xmlns:a="http://schemas.openxmlformats.org/drawingml/2006/main">
            <a:off x="4828032" y="20949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función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Lineamientos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Ciclo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p>
        </p:txBody>
      </p:sp>
      <p:sp>
        <p:nvSpPr>
          <p:cNvPr id="47" name="ANUARIO_CONTENIDO_1_0_11">
            <a:extLst xmlns:a="http://schemas.openxmlformats.org/drawingml/2006/main">
              <a:ext uri="{FF2B5EF4-FFF2-40B4-BE49-F238E27FC236}">
                <a16:creationId xmlns:a16="http://schemas.microsoft.com/office/drawing/2014/main" id="{2BAEE7D1-C341-4C30-ADEA-3188191B5DC3}"/>
              </a:ext>
            </a:extLst>
          </p:cNvPr>
          <p:cNvSpPr>
            <a:spLocks xmlns:a="http://schemas.openxmlformats.org/drawingml/2006/main" noGrp="1"/>
          </p:cNvSpPr>
          <p:nvPr/>
        </p:nvSpPr>
        <p:spPr>
          <a:xfrm xmlns:a="http://schemas.openxmlformats.org/drawingml/2006/main">
            <a:off x="4828032" y="21988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clave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integración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conceptual</a:t>
            </a:r>
            <a:r>
              <a:rPr sz="730" b="0" i="0">
                <a:solidFill>
                  <a:srgbClr val="24383A"/>
                </a:solidFill>
                <a:latin typeface="DejaVu Sans"/>
                <a:ea typeface="DejaVu Sans"/>
                <a:cs typeface="DejaVu Sans"/>
              </a:rPr>
              <a:t> </a:t>
            </a:r>
          </a:p>
        </p:txBody>
      </p:sp>
      <p:sp>
        <p:nvSpPr>
          <p:cNvPr id="48" name="ANUARIO_CONTENIDO_1_0_12">
            <a:extLst xmlns:a="http://schemas.openxmlformats.org/drawingml/2006/main">
              <a:ext uri="{FF2B5EF4-FFF2-40B4-BE49-F238E27FC236}">
                <a16:creationId xmlns:a16="http://schemas.microsoft.com/office/drawing/2014/main" id="{E8021DC2-3E79-4D6D-A0C7-3E9243D74EF2}"/>
              </a:ext>
            </a:extLst>
          </p:cNvPr>
          <p:cNvSpPr>
            <a:spLocks xmlns:a="http://schemas.openxmlformats.org/drawingml/2006/main" noGrp="1"/>
          </p:cNvSpPr>
          <p:nvPr/>
        </p:nvSpPr>
        <p:spPr>
          <a:xfrm xmlns:a="http://schemas.openxmlformats.org/drawingml/2006/main">
            <a:off x="4828032" y="23026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adopción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adaptación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teórico-contable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p>
        </p:txBody>
      </p:sp>
      <p:sp>
        <p:nvSpPr>
          <p:cNvPr id="49" name="ANUARIO_CONTENIDO_1_0_13">
            <a:extLst xmlns:a="http://schemas.openxmlformats.org/drawingml/2006/main">
              <a:ext uri="{FF2B5EF4-FFF2-40B4-BE49-F238E27FC236}">
                <a16:creationId xmlns:a16="http://schemas.microsoft.com/office/drawing/2014/main" id="{FCBC120A-F96B-4090-A6F5-47734348E579}"/>
              </a:ext>
            </a:extLst>
          </p:cNvPr>
          <p:cNvSpPr>
            <a:spLocks xmlns:a="http://schemas.openxmlformats.org/drawingml/2006/main" noGrp="1"/>
          </p:cNvSpPr>
          <p:nvPr/>
        </p:nvSpPr>
        <p:spPr>
          <a:xfrm xmlns:a="http://schemas.openxmlformats.org/drawingml/2006/main">
            <a:off x="4828032" y="24064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versiones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Sistema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aprobado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0" name="ANUARIO_CONTENIDO_1_0_14">
            <a:extLst xmlns:a="http://schemas.openxmlformats.org/drawingml/2006/main">
              <a:ext uri="{FF2B5EF4-FFF2-40B4-BE49-F238E27FC236}">
                <a16:creationId xmlns:a16="http://schemas.microsoft.com/office/drawing/2014/main" id="{5B98C8CB-ED32-47FE-94A8-E811D321494B}"/>
              </a:ext>
            </a:extLst>
          </p:cNvPr>
          <p:cNvSpPr>
            <a:spLocks xmlns:a="http://schemas.openxmlformats.org/drawingml/2006/main" noGrp="1"/>
          </p:cNvSpPr>
          <p:nvPr/>
        </p:nvSpPr>
        <p:spPr>
          <a:xfrm xmlns:a="http://schemas.openxmlformats.org/drawingml/2006/main">
            <a:off x="4828032" y="25103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Unidas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1968,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1993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2008,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algunos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aspectos</a:t>
            </a:r>
            <a:r>
              <a:rPr sz="730" b="0" i="0">
                <a:solidFill>
                  <a:srgbClr val="24383A"/>
                </a:solidFill>
                <a:latin typeface="DejaVu Sans"/>
                <a:ea typeface="DejaVu Sans"/>
                <a:cs typeface="DejaVu Sans"/>
              </a:rPr>
              <a:t> </a:t>
            </a:r>
          </a:p>
        </p:txBody>
      </p:sp>
      <p:sp>
        <p:nvSpPr>
          <p:cNvPr id="51" name="ANUARIO_CONTENIDO_1_0_15">
            <a:extLst xmlns:a="http://schemas.openxmlformats.org/drawingml/2006/main">
              <a:ext uri="{FF2B5EF4-FFF2-40B4-BE49-F238E27FC236}">
                <a16:creationId xmlns:a16="http://schemas.microsoft.com/office/drawing/2014/main" id="{8B5F3C73-E4A7-46F6-916A-8BAA0CBA1CD2}"/>
              </a:ext>
            </a:extLst>
          </p:cNvPr>
          <p:cNvSpPr>
            <a:spLocks xmlns:a="http://schemas.openxmlformats.org/drawingml/2006/main" noGrp="1"/>
          </p:cNvSpPr>
          <p:nvPr/>
        </p:nvSpPr>
        <p:spPr>
          <a:xfrm xmlns:a="http://schemas.openxmlformats.org/drawingml/2006/main">
            <a:off x="4828032" y="26141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2025.</a:t>
            </a:r>
          </a:p>
        </p:txBody>
      </p:sp>
      <p:sp>
        <p:nvSpPr>
          <p:cNvPr id="52" name="ANUARIO_CONTENIDO_1_0_16">
            <a:extLst xmlns:a="http://schemas.openxmlformats.org/drawingml/2006/main">
              <a:ext uri="{FF2B5EF4-FFF2-40B4-BE49-F238E27FC236}">
                <a16:creationId xmlns:a16="http://schemas.microsoft.com/office/drawing/2014/main" id="{E1A2A129-A501-41A8-94CE-36B1A610F205}"/>
              </a:ext>
            </a:extLst>
          </p:cNvPr>
          <p:cNvSpPr>
            <a:spLocks xmlns:a="http://schemas.openxmlformats.org/drawingml/2006/main" noGrp="1"/>
          </p:cNvSpPr>
          <p:nvPr/>
        </p:nvSpPr>
        <p:spPr>
          <a:xfrm xmlns:a="http://schemas.openxmlformats.org/drawingml/2006/main">
            <a:off x="4828032" y="27434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cobertura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geográfica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alcanza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representatividad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3" name="ANUARIO_CONTENIDO_1_0_17">
            <a:extLst xmlns:a="http://schemas.openxmlformats.org/drawingml/2006/main">
              <a:ext uri="{FF2B5EF4-FFF2-40B4-BE49-F238E27FC236}">
                <a16:creationId xmlns:a16="http://schemas.microsoft.com/office/drawing/2014/main" id="{75189FBF-906D-4EB4-BE3C-1A30D929A110}"/>
              </a:ext>
            </a:extLst>
          </p:cNvPr>
          <p:cNvSpPr>
            <a:spLocks xmlns:a="http://schemas.openxmlformats.org/drawingml/2006/main" noGrp="1"/>
          </p:cNvSpPr>
          <p:nvPr/>
        </p:nvSpPr>
        <p:spPr>
          <a:xfrm xmlns:a="http://schemas.openxmlformats.org/drawingml/2006/main">
            <a:off x="4828032" y="28472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97.7%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valor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agregado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bruto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p>
        </p:txBody>
      </p:sp>
      <p:sp>
        <p:nvSpPr>
          <p:cNvPr id="54" name="ANUARIO_CONTENIDO_1_0_18">
            <a:extLst xmlns:a="http://schemas.openxmlformats.org/drawingml/2006/main">
              <a:ext uri="{FF2B5EF4-FFF2-40B4-BE49-F238E27FC236}">
                <a16:creationId xmlns:a16="http://schemas.microsoft.com/office/drawing/2014/main" id="{9E1E0B30-AE08-4B4F-8D69-CFD6FC8031FF}"/>
              </a:ext>
            </a:extLst>
          </p:cNvPr>
          <p:cNvSpPr>
            <a:spLocks xmlns:a="http://schemas.openxmlformats.org/drawingml/2006/main" noGrp="1"/>
          </p:cNvSpPr>
          <p:nvPr/>
        </p:nvSpPr>
        <p:spPr>
          <a:xfrm xmlns:a="http://schemas.openxmlformats.org/drawingml/2006/main">
            <a:off x="4828032" y="29510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subsectores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ramas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industrias</a:t>
            </a:r>
            <a:r>
              <a:rPr sz="730" b="0" i="0">
                <a:solidFill>
                  <a:srgbClr val="24383A"/>
                </a:solidFill>
                <a:latin typeface="DejaVu Sans"/>
                <a:ea typeface="DejaVu Sans"/>
                <a:cs typeface="DejaVu Sans"/>
              </a:rPr>
              <a:t> </a:t>
            </a:r>
          </a:p>
        </p:txBody>
      </p:sp>
      <p:sp>
        <p:nvSpPr>
          <p:cNvPr id="55" name="ANUARIO_CONTENIDO_1_0_19">
            <a:extLst xmlns:a="http://schemas.openxmlformats.org/drawingml/2006/main">
              <a:ext uri="{FF2B5EF4-FFF2-40B4-BE49-F238E27FC236}">
                <a16:creationId xmlns:a16="http://schemas.microsoft.com/office/drawing/2014/main" id="{3C08AA2D-4CF4-4F85-A85D-A6364D5F855C}"/>
              </a:ext>
            </a:extLst>
          </p:cNvPr>
          <p:cNvSpPr>
            <a:spLocks xmlns:a="http://schemas.openxmlformats.org/drawingml/2006/main" noGrp="1"/>
          </p:cNvSpPr>
          <p:nvPr/>
        </p:nvSpPr>
        <p:spPr>
          <a:xfrm xmlns:a="http://schemas.openxmlformats.org/drawingml/2006/main">
            <a:off x="4828032" y="30549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manufactureras.</a:t>
            </a:r>
            <a:r>
              <a:rPr sz="730" b="0" i="0">
                <a:solidFill>
                  <a:srgbClr val="24383A"/>
                </a:solidFill>
                <a:latin typeface="DejaVu Sans"/>
                <a:ea typeface="DejaVu Sans"/>
                <a:cs typeface="DejaVu Sans"/>
              </a:rPr>
              <a:t> </a:t>
            </a:r>
          </a:p>
        </p:txBody>
      </p:sp>
      <p:sp>
        <p:nvSpPr>
          <p:cNvPr id="56" name="ANUARIO_NOTAS_0">
            <a:extLst xmlns:a="http://schemas.openxmlformats.org/drawingml/2006/main">
              <a:ext uri="{FF2B5EF4-FFF2-40B4-BE49-F238E27FC236}">
                <a16:creationId xmlns:a16="http://schemas.microsoft.com/office/drawing/2014/main" id="{F050ADB1-1BFC-4646-BE24-A7F07771D4AB}"/>
              </a:ext>
            </a:extLst>
          </p:cNvPr>
          <p:cNvSpPr>
            <a:spLocks xmlns:a="http://schemas.openxmlformats.org/drawingml/2006/main" noGrp="1"/>
          </p:cNvSpPr>
          <p:nvPr/>
        </p:nvSpPr>
        <p:spPr>
          <a:xfrm xmlns:a="http://schemas.openxmlformats.org/drawingml/2006/main">
            <a:off x="301752" y="4544568"/>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14</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https://www.inegi.org.mx/programas/enoe/15ymas/</a:t>
            </a:r>
            <a:r>
              <a:rPr sz="520" b="0" i="0">
                <a:solidFill>
                  <a:srgbClr val="24383A"/>
                </a:solidFill>
                <a:latin typeface="DejaVu Sans"/>
                <a:ea typeface="DejaVu Sans"/>
                <a:cs typeface="DejaVu Sans"/>
              </a:rPr>
              <a: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15</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p>
        </p:txBody>
      </p:sp>
      <p:sp>
        <p:nvSpPr>
          <p:cNvPr id="57" name="ANUARIO_NOTAS_1">
            <a:extLst xmlns:a="http://schemas.openxmlformats.org/drawingml/2006/main">
              <a:ext uri="{FF2B5EF4-FFF2-40B4-BE49-F238E27FC236}">
                <a16:creationId xmlns:a16="http://schemas.microsoft.com/office/drawing/2014/main" id="{4257E342-4227-4A73-8A8C-E964CD609C43}"/>
              </a:ext>
            </a:extLst>
          </p:cNvPr>
          <p:cNvSpPr>
            <a:spLocks xmlns:a="http://schemas.openxmlformats.org/drawingml/2006/main" noGrp="1"/>
          </p:cNvSpPr>
          <p:nvPr/>
        </p:nvSpPr>
        <p:spPr>
          <a:xfrm xmlns:a="http://schemas.openxmlformats.org/drawingml/2006/main">
            <a:off x="301752" y="4618533"/>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https://www.inegi.org.mx/contenidos/programas/pib/2018/doc/guia_cab2018.pdf</a:t>
            </a:r>
            <a:r>
              <a:rPr sz="520" b="0" i="0">
                <a:solidFill>
                  <a:srgbClr val="24383A"/>
                </a:solidFill>
                <a:latin typeface="DejaVu Sans"/>
                <a:ea typeface="DejaVu Sans"/>
                <a:cs typeface="DejaVu Sans"/>
              </a:rPr>
              <a:t>.</a:t>
            </a:r>
            <a:r>
              <a:rPr sz="520" b="0" i="0">
                <a:solidFill>
                  <a:srgbClr val="24383A"/>
                </a:solidFill>
                <a:latin typeface="DejaVu Sans"/>
                <a:ea typeface="DejaVu Sans"/>
                <a:cs typeface="DejaVu Sans"/>
              </a:rPr>
              <a:t> </a:t>
            </a:r>
          </a:p>
        </p:txBody>
      </p:sp>
    </p:spTree>
    <p:extLst>
      <p:ext uri="{BB962C8B-B14F-4D97-AF65-F5344CB8AC3E}">
        <p14:creationId xmlns:p14="http://schemas.microsoft.com/office/powerpoint/2010/main" val="1840071913"/>
      </p:ext>
    </p:extLst>
  </p:cSld>
</p:sld>
</file>

<file path=ppt/slides/slide130.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0" name="ANUARIO_ENCABEZADO">
            <a:extLst xmlns:a="http://schemas.openxmlformats.org/drawingml/2006/main">
              <a:ext uri="{FF2B5EF4-FFF2-40B4-BE49-F238E27FC236}">
                <a16:creationId xmlns:a16="http://schemas.microsoft.com/office/drawing/2014/main" id="{76486E26-067E-4EB0-BE6D-E5E66AE50FFA}"/>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8D367F9A-30C1-46DD-BB53-D1EF987AA176}"/>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A05BD631-9546-4363-A035-E1923ABB3DFB}"/>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80" b="1">
                <a:solidFill>
                  <a:srgbClr val="FFFFFF"/>
                </a:solidFill>
                <a:latin typeface="DejaVu Sans"/>
                <a:ea typeface="DejaVu Sans"/>
                <a:cs typeface="DejaVu Sans"/>
              </a:defRPr>
            </a:pPr>
            <a:r>
              <a:rPr sz="1380" b="1">
                <a:solidFill>
                  <a:srgbClr val="FFFFFF"/>
                </a:solidFill>
                <a:latin typeface="DejaVu Sans"/>
                <a:ea typeface="DejaVu Sans"/>
                <a:cs typeface="DejaVu Sans"/>
              </a:rPr>
              <a:t>ANEXO IV. MÉTODOS DE CÁLCULO</a:t>
            </a:r>
          </a:p>
        </p:txBody>
      </p:sp>
      <p:sp>
        <p:nvSpPr>
          <p:cNvPr id="4" name="ANUARIO_BIT_TEXTO">
            <a:extLst xmlns:a="http://schemas.openxmlformats.org/drawingml/2006/main">
              <a:ext uri="{FF2B5EF4-FFF2-40B4-BE49-F238E27FC236}">
                <a16:creationId xmlns:a16="http://schemas.microsoft.com/office/drawing/2014/main" id="{D2EDE9E2-A067-48B7-8E55-084E7CD59E48}"/>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F5E661A9-1256-4D07-AE84-B458DDC79024}"/>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A7D48238-E879-4AC7-9C75-39C67EBB2EC3}"/>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731BD67E-EB85-44F1-855E-0338FAF3DBB2}"/>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8D9D43BA-91BF-4482-8A43-D9A2FA349DDA}"/>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130</a:t>
            </a:r>
          </a:p>
        </p:txBody>
      </p:sp>
      <p:sp>
        <p:nvSpPr>
          <p:cNvPr id="9" name="ANUARIO_EDICION">
            <a:extLst xmlns:a="http://schemas.openxmlformats.org/drawingml/2006/main">
              <a:ext uri="{FF2B5EF4-FFF2-40B4-BE49-F238E27FC236}">
                <a16:creationId xmlns:a16="http://schemas.microsoft.com/office/drawing/2014/main" id="{9435A382-43CE-42A5-94C4-FADA97A0D5CD}"/>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METODOS_INTRO">
            <a:extLst xmlns:a="http://schemas.openxmlformats.org/drawingml/2006/main">
              <a:ext uri="{FF2B5EF4-FFF2-40B4-BE49-F238E27FC236}">
                <a16:creationId xmlns:a16="http://schemas.microsoft.com/office/drawing/2014/main" id="{66799505-B803-47E7-AE35-4E85A774DF25}"/>
              </a:ext>
            </a:extLst>
          </p:cNvPr>
          <p:cNvSpPr>
            <a:spLocks xmlns:a="http://schemas.openxmlformats.org/drawingml/2006/main" noGrp="1"/>
          </p:cNvSpPr>
          <p:nvPr/>
        </p:nvSpPr>
        <p:spPr>
          <a:xfrm xmlns:a="http://schemas.openxmlformats.org/drawingml/2006/main">
            <a:off x="301752" y="594360"/>
            <a:ext cx="8540496"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a:solidFill>
                  <a:srgbClr val="24383A"/>
                </a:solidFill>
                <a:latin typeface="DejaVu Sans"/>
                <a:ea typeface="DejaVu Sans"/>
                <a:cs typeface="DejaVu Sans"/>
              </a:rPr>
              <a:t>Para obtener los indicadores mostrados en el documento se utilizaron los siguientes métodos de cálculo:</a:t>
            </a:r>
          </a:p>
        </p:txBody>
      </p:sp>
      <p:sp>
        <p:nvSpPr>
          <p:cNvPr id="11" name="ANUARIO_ANEXO_P130_DESIGN_2026">
            <a:extLst xmlns:a="http://schemas.openxmlformats.org/drawingml/2006/main">
              <a:ext uri="{FF2B5EF4-FFF2-40B4-BE49-F238E27FC236}">
                <a16:creationId xmlns:a16="http://schemas.microsoft.com/office/drawing/2014/main" id="{0785A41D-B74C-4A74-94BD-193EAF8C8A29}"/>
              </a:ext>
            </a:extLst>
          </p:cNvPr>
          <p:cNvSpPr>
            <a:spLocks xmlns:a="http://schemas.openxmlformats.org/drawingml/2006/main" noGrp="1"/>
          </p:cNvSpPr>
          <p:nvPr/>
        </p:nvSpPr>
        <p:spPr>
          <a:xfrm xmlns:a="http://schemas.openxmlformats.org/drawingml/2006/main">
            <a:off x="301752" y="932688"/>
            <a:ext cx="4178808" cy="3529584"/>
          </a:xfrm>
          <a:prstGeom xmlns:a="http://schemas.openxmlformats.org/drawingml/2006/main" prst="roundRect">
            <a:avLst>
              <a:gd name="adj" fmla="val 1554"/>
            </a:avLst>
          </a:prstGeom>
          <a:solidFill xmlns:a="http://schemas.openxmlformats.org/drawingml/2006/main">
            <a:srgbClr val="F6FAF9"/>
          </a:solidFill>
          <a:ln xmlns:a="http://schemas.openxmlformats.org/drawingml/2006/main" w="9525">
            <a:solidFill>
              <a:srgbClr val="C9DAD6"/>
            </a:solidFill>
          </a:ln>
        </p:spPr>
      </p:sp>
      <p:sp>
        <p:nvSpPr>
          <p:cNvPr id="12" name="ANUARIO_ACENTO">
            <a:extLst xmlns:a="http://schemas.openxmlformats.org/drawingml/2006/main">
              <a:ext uri="{FF2B5EF4-FFF2-40B4-BE49-F238E27FC236}">
                <a16:creationId xmlns:a16="http://schemas.microsoft.com/office/drawing/2014/main" id="{CB458468-29D3-4E6C-8EF4-67FC3CF48101}"/>
              </a:ext>
            </a:extLst>
          </p:cNvPr>
          <p:cNvSpPr>
            <a:spLocks xmlns:a="http://schemas.openxmlformats.org/drawingml/2006/main" noGrp="1"/>
          </p:cNvSpPr>
          <p:nvPr/>
        </p:nvSpPr>
        <p:spPr>
          <a:xfrm xmlns:a="http://schemas.openxmlformats.org/drawingml/2006/main">
            <a:off x="301752" y="1005840"/>
            <a:ext cx="64008" cy="338328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3" name="ANUARIO_SECCION">
            <a:extLst xmlns:a="http://schemas.openxmlformats.org/drawingml/2006/main">
              <a:ext uri="{FF2B5EF4-FFF2-40B4-BE49-F238E27FC236}">
                <a16:creationId xmlns:a16="http://schemas.microsoft.com/office/drawing/2014/main" id="{F57B89C4-EC53-4B25-969F-FAE093CE173D}"/>
              </a:ext>
            </a:extLst>
          </p:cNvPr>
          <p:cNvSpPr>
            <a:spLocks xmlns:a="http://schemas.openxmlformats.org/drawingml/2006/main" noGrp="1"/>
          </p:cNvSpPr>
          <p:nvPr/>
        </p:nvSpPr>
        <p:spPr>
          <a:xfrm xmlns:a="http://schemas.openxmlformats.org/drawingml/2006/main">
            <a:off x="466344" y="102412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Concentración y penetración</a:t>
            </a:r>
          </a:p>
        </p:txBody>
      </p:sp>
      <p:graphicFrame>
        <p:nvGraphicFramePr>
          <p:cNvPr id="33" name=""/>
          <p:cNvGraphicFramePr/>
          <p:nvPr/>
        </p:nvGraphicFramePr>
        <p:xfrm>
          <a:off xmlns:a="http://schemas.openxmlformats.org/drawingml/2006/main" x="466344" y="1362456"/>
          <a:ext xmlns:a="http://schemas.openxmlformats.org/drawingml/2006/main" cx="3794760" cy="2880360"/>
        </p:xfrm>
        <a:graphic xmlns:a="http://schemas.openxmlformats.org/drawingml/2006/main">
          <a:graphicData uri="http://schemas.openxmlformats.org/drawingml/2006/table">
            <a:tbl>
              <a:tblPr firstRow="0" bandRow="0"/>
              <a:tblGrid>
                <a:gridCol w="1435608"/>
                <a:gridCol w="2359152"/>
              </a:tblGrid>
              <a:tr h="480060">
                <a:tc>
                  <a:txBody>
                    <a:bodyPr lIns="38100" tIns="19050" rIns="38100" bIns="19050" wrap="square">
                      <a:noAutofit/>
                    </a:bodyPr>
                    <a:lstStyle/>
                    <a:p>
                      <a:pPr algn="l"/>
                      <a:r>
                        <a:rPr sz="630" b="1">
                          <a:solidFill>
                            <a:srgbClr val="FFFFFF"/>
                          </a:solidFill>
                          <a:latin typeface="DejaVu Sans"/>
                          <a:ea typeface="DejaVu Sans"/>
                          <a:cs typeface="DejaVu Sans"/>
                        </a:rPr>
                        <a:t>Indicador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630" b="1">
                          <a:solidFill>
                            <a:srgbClr val="FFFFFF"/>
                          </a:solidFill>
                          <a:latin typeface="DejaVu Sans"/>
                          <a:ea typeface="DejaVu Sans"/>
                          <a:cs typeface="DejaVu Sans"/>
                        </a:rPr>
                        <a:t>Método de cálculo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Índice de Herfindahl-Hirschman (IHH)</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(participación de mercado de cada grupo económico × 100)²</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o accesos residenciales por cada 100 hogares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Accesos o líneas residenciales ÷ hogares de ENDUTIH del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o accesos no residenciales por cada 100 UE</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Accesos o líneas no residenciales ÷ unidades económicas de DENUE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móviles de telefonía por cada 100 habitantes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Líneas del servicio móvil de telefonía ÷ población compatible con 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de Internet móvil por cada 100 habitantes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Líneas del servicio móvil de Internet ÷ población compatible con 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bl>
          </a:graphicData>
        </a:graphic>
      </p:graphicFrame>
      <p:sp>
        <p:nvSpPr>
          <p:cNvPr id="15" name="ANUARIO_ANEXO_P130_DESIGN_2026">
            <a:extLst xmlns:a="http://schemas.openxmlformats.org/drawingml/2006/main">
              <a:ext uri="{FF2B5EF4-FFF2-40B4-BE49-F238E27FC236}">
                <a16:creationId xmlns:a16="http://schemas.microsoft.com/office/drawing/2014/main" id="{B2F0BCB9-AFD5-442A-A71B-B2436FD338AD}"/>
              </a:ext>
            </a:extLst>
          </p:cNvPr>
          <p:cNvSpPr>
            <a:spLocks xmlns:a="http://schemas.openxmlformats.org/drawingml/2006/main" noGrp="1"/>
          </p:cNvSpPr>
          <p:nvPr/>
        </p:nvSpPr>
        <p:spPr>
          <a:xfrm xmlns:a="http://schemas.openxmlformats.org/drawingml/2006/main">
            <a:off x="4663440" y="932688"/>
            <a:ext cx="4178808" cy="3529584"/>
          </a:xfrm>
          <a:prstGeom xmlns:a="http://schemas.openxmlformats.org/drawingml/2006/main" prst="roundRect">
            <a:avLst>
              <a:gd name="adj" fmla="val 1554"/>
            </a:avLst>
          </a:prstGeom>
          <a:solidFill xmlns:a="http://schemas.openxmlformats.org/drawingml/2006/main">
            <a:srgbClr val="F6FAF9"/>
          </a:solidFill>
          <a:ln xmlns:a="http://schemas.openxmlformats.org/drawingml/2006/main" w="9525">
            <a:solidFill>
              <a:srgbClr val="C9DAD6"/>
            </a:solidFill>
          </a:ln>
        </p:spPr>
      </p:sp>
      <p:sp>
        <p:nvSpPr>
          <p:cNvPr id="16" name="ANUARIO_ACENTO">
            <a:extLst xmlns:a="http://schemas.openxmlformats.org/drawingml/2006/main">
              <a:ext uri="{FF2B5EF4-FFF2-40B4-BE49-F238E27FC236}">
                <a16:creationId xmlns:a16="http://schemas.microsoft.com/office/drawing/2014/main" id="{AE73D338-AF54-4E3A-8BCA-9FBF0DCD65E0}"/>
              </a:ext>
            </a:extLst>
          </p:cNvPr>
          <p:cNvSpPr>
            <a:spLocks xmlns:a="http://schemas.openxmlformats.org/drawingml/2006/main" noGrp="1"/>
          </p:cNvSpPr>
          <p:nvPr/>
        </p:nvSpPr>
        <p:spPr>
          <a:xfrm xmlns:a="http://schemas.openxmlformats.org/drawingml/2006/main">
            <a:off x="4663440" y="1005840"/>
            <a:ext cx="64008" cy="338328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7" name="ANUARIO_SECCION">
            <a:extLst xmlns:a="http://schemas.openxmlformats.org/drawingml/2006/main">
              <a:ext uri="{FF2B5EF4-FFF2-40B4-BE49-F238E27FC236}">
                <a16:creationId xmlns:a16="http://schemas.microsoft.com/office/drawing/2014/main" id="{18260187-E5FE-45F2-8C87-D458AFEE2C70}"/>
              </a:ext>
            </a:extLst>
          </p:cNvPr>
          <p:cNvSpPr>
            <a:spLocks xmlns:a="http://schemas.openxmlformats.org/drawingml/2006/main" noGrp="1"/>
          </p:cNvSpPr>
          <p:nvPr/>
        </p:nvSpPr>
        <p:spPr>
          <a:xfrm xmlns:a="http://schemas.openxmlformats.org/drawingml/2006/main">
            <a:off x="4828032" y="102412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Uso de servicios y utilidad</a:t>
            </a:r>
          </a:p>
        </p:txBody>
      </p:sp>
      <p:graphicFrame>
        <p:nvGraphicFramePr>
          <p:cNvPr id="37" name=""/>
          <p:cNvGraphicFramePr/>
          <p:nvPr/>
        </p:nvGraphicFramePr>
        <p:xfrm>
          <a:off xmlns:a="http://schemas.openxmlformats.org/drawingml/2006/main" x="4828032" y="1362456"/>
          <a:ext xmlns:a="http://schemas.openxmlformats.org/drawingml/2006/main" cx="3794760" cy="2880360"/>
        </p:xfrm>
        <a:graphic xmlns:a="http://schemas.openxmlformats.org/drawingml/2006/main">
          <a:graphicData uri="http://schemas.openxmlformats.org/drawingml/2006/table">
            <a:tbl>
              <a:tblPr firstRow="0" bandRow="0"/>
              <a:tblGrid>
                <a:gridCol w="1435608"/>
                <a:gridCol w="2359152"/>
              </a:tblGrid>
              <a:tr h="576072">
                <a:tc>
                  <a:txBody>
                    <a:bodyPr lIns="38100" tIns="19050" rIns="38100" bIns="19050" wrap="square">
                      <a:noAutofit/>
                    </a:bodyPr>
                    <a:lstStyle/>
                    <a:p>
                      <a:pPr algn="l"/>
                      <a:r>
                        <a:rPr sz="630" b="1">
                          <a:solidFill>
                            <a:srgbClr val="FFFFFF"/>
                          </a:solidFill>
                          <a:latin typeface="DejaVu Sans"/>
                          <a:ea typeface="DejaVu Sans"/>
                          <a:cs typeface="DejaVu Sans"/>
                        </a:rPr>
                        <a:t>Indicador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630" b="1">
                          <a:solidFill>
                            <a:srgbClr val="FFFFFF"/>
                          </a:solidFill>
                          <a:latin typeface="DejaVu Sans"/>
                          <a:ea typeface="DejaVu Sans"/>
                          <a:cs typeface="DejaVu Sans"/>
                        </a:rPr>
                        <a:t>Método de cálculo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Minutos de uso promedio mensual (MOU)</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(minutos mensuales ÷ líneas del servicio de telefonía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Tráfico mensual promedio de Internet móvil</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(GB mensuales ÷ líneas de Internet móvil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Mensajes de texto promedio (SMS)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(SMS enviados por mes ÷ líneas móviles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Margen de utilidad</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Ingresos brutos − egresos operativos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bl>
          </a:graphicData>
        </a:graphic>
      </p:graphicFrame>
      <p:sp>
        <p:nvSpPr>
          <p:cNvPr id="19" name="ANUARIO_METODOS_NOTA">
            <a:extLst xmlns:a="http://schemas.openxmlformats.org/drawingml/2006/main">
              <a:ext uri="{FF2B5EF4-FFF2-40B4-BE49-F238E27FC236}">
                <a16:creationId xmlns:a16="http://schemas.microsoft.com/office/drawing/2014/main" id="{9068D59E-96F3-42AF-9A8C-F484245A97B5}"/>
              </a:ext>
            </a:extLst>
          </p:cNvPr>
          <p:cNvSpPr>
            <a:spLocks xmlns:a="http://schemas.openxmlformats.org/drawingml/2006/main" noGrp="1"/>
          </p:cNvSpPr>
          <p:nvPr/>
        </p:nvSpPr>
        <p:spPr>
          <a:xfrm xmlns:a="http://schemas.openxmlformats.org/drawingml/2006/main">
            <a:off x="301752" y="4553712"/>
            <a:ext cx="8540496"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 b="0">
                <a:solidFill>
                  <a:srgbClr val="24383A"/>
                </a:solidFill>
                <a:latin typeface="DejaVu Sans"/>
                <a:ea typeface="DejaVu Sans"/>
                <a:cs typeface="DejaVu Sans"/>
              </a:defRPr>
            </a:pPr>
            <a:r>
              <a:rPr sz="570" b="0">
                <a:solidFill>
                  <a:srgbClr val="24383A"/>
                </a:solidFill>
                <a:latin typeface="DejaVu Sans"/>
                <a:ea typeface="DejaVu Sans"/>
                <a:cs typeface="DejaVu Sans"/>
              </a:rPr>
              <a:t>Nota: hogares y población corresponden a la ENDUTIH del corte de cada figura; las UE provienen del DENUE. Las figuras identifican fuente y periodo.</a:t>
            </a:r>
          </a:p>
        </p:txBody>
      </p:sp>
    </p:spTree>
    <p:extLst>
      <p:ext uri="{BB962C8B-B14F-4D97-AF65-F5344CB8AC3E}">
        <p14:creationId xmlns:p14="http://schemas.microsoft.com/office/powerpoint/2010/main" val="1380278910"/>
      </p:ext>
    </p:extLst>
  </p:cSld>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
        <p:nvSpPr>
          <p:cNvPr id="149" name="ANUARIO_BACK_CONTACT"/>
          <p:cNvSpPr txBox="1"/>
          <p:nvPr/>
        </p:nvSpPr>
        <p:spPr>
          <a:xfrm>
            <a:off x="914400" y="3374136"/>
            <a:ext cx="7315200" cy="713232"/>
          </a:xfrm>
          <a:prstGeom prst="rect">
            <a:avLst/>
          </a:prstGeom>
          <a:noFill/>
        </p:spPr>
        <p:txBody>
          <a:bodyPr wrap="square" lIns="0" rIns="0" tIns="0" bIns="0">
            <a:spAutoFit/>
          </a:bodyPr>
          <a:lstStyle/>
          <a:p>
            <a:pPr algn="ctr">
              <a:spcBef>
                <a:spcPts val="0"/>
              </a:spcBef>
              <a:spcAft>
                <a:spcPts val="0"/>
              </a:spcAft>
            </a:pPr>
            <a:r>
              <a:rPr sz="720" b="1">
                <a:solidFill>
                  <a:srgbClr val="EFF7F3"/>
                </a:solidFill>
                <a:latin typeface="Noto Sans"/>
              </a:rPr>
              <a:t>Comisión Reguladora de Telecomunicaciones · www.gob.mx/crt</a:t>
            </a:r>
          </a:p>
          <a:p>
            <a:pPr algn="ctr">
              <a:spcBef>
                <a:spcPts val="0"/>
              </a:spcBef>
              <a:spcAft>
                <a:spcPts val="0"/>
              </a:spcAft>
            </a:pPr>
            <a:r>
              <a:rPr sz="665" b="0">
                <a:solidFill>
                  <a:srgbClr val="EFF7F3"/>
                </a:solidFill>
                <a:latin typeface="Noto Sans"/>
              </a:rPr>
              <a:t>Av. Insurgentes Sur 1143, Col. Nochebuena, Benito Juárez, C.P. 03720, Ciudad de México · Tel. 55 5015 4000</a:t>
            </a:r>
          </a:p>
          <a:p>
            <a:pPr algn="ctr">
              <a:spcBef>
                <a:spcPts val="0"/>
              </a:spcBef>
              <a:spcAft>
                <a:spcPts val="0"/>
              </a:spcAft>
            </a:pPr>
            <a:r>
              <a:rPr sz="665" b="0">
                <a:solidFill>
                  <a:srgbClr val="EFF7F3"/>
                </a:solidFill>
                <a:latin typeface="Noto Sans"/>
              </a:rPr>
              <a:t>Banco de Información de Telecomunicaciones: https://bit.crt.gob.mx/BitWebApp/</a:t>
            </a:r>
          </a:p>
        </p:txBody>
      </p:sp>
    </p:spTree>
  </p:cSld>
  <p:clrMapOvr>
    <a:masterClrMapping/>
  </p:clrMapOvr>
</p:sld>
</file>

<file path=ppt/theme/a121_130_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s9_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s121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s125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