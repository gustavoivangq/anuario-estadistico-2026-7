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Type="http://schemas.openxmlformats.org/officeDocument/2006/relationships/slideLayout" Target="../slideLayouts/slideLayout5.xml" Id="R4ac4d059969546b8"/><Relationship Type="http://schemas.openxmlformats.org/officeDocument/2006/relationships/image" Target="../media/slide4_diseno_image.png" Id="Rf8fb4188d6b4464a"/><Relationship Type="http://schemas.openxmlformats.org/officeDocument/2006/relationships/image" Target="../media/slide4_diseno_image2.png" Id="R14645e5e3e97428a"/><Relationship Type="http://schemas.openxmlformats.org/officeDocument/2006/relationships/image" Target="../media/slide4_diseno_image3.png" Id="R195d0b918bde4936"/><Relationship Type="http://schemas.openxmlformats.org/officeDocument/2006/relationships/image" Target="../media/slide4_diseno_image4.png" Id="Rb0a2d06d11914fd1"/><Relationship Type="http://schemas.openxmlformats.org/officeDocument/2006/relationships/hyperlink" Target="https://bit.crt.gob.mx/BitWebApp/" TargetMode="External" Id="R601321f2454c4057"/></Relationships>
</file>

<file path=ppt/slides/_rels/slide5.xml.rels><?xml version='1.0' encoding='UTF-8' standalone='yes'?>
<Relationships xmlns="http://schemas.openxmlformats.org/package/2006/relationships"><Relationship Type="http://schemas.openxmlformats.org/officeDocument/2006/relationships/slideLayout" Target="../slideLayouts/slideLayout5.xml" Id="R46abcff555714d09"/><Relationship Type="http://schemas.openxmlformats.org/officeDocument/2006/relationships/image" Target="../media/slide5_diseno_image5.png" Id="Rd0c2a94fb7504565"/><Relationship Type="http://schemas.openxmlformats.org/officeDocument/2006/relationships/image" Target="../media/slide5_diseno_image6.png" Id="R053ec0800dab470a"/><Relationship Type="http://schemas.openxmlformats.org/officeDocument/2006/relationships/image" Target="../media/slide5_diseno_image7.png" Id="R9b21366084f1421c"/><Relationship Type="http://schemas.openxmlformats.org/officeDocument/2006/relationships/image" Target="../media/slide5_diseno_image8.png" Id="R30bbdc5925644f1f"/><Relationship Type="http://schemas.openxmlformats.org/officeDocument/2006/relationships/hyperlink" Target="https://bit.crt.gob.mx/BitWebApp/" TargetMode="External" Id="R063e77096b704b59"/><Relationship Type="http://schemas.openxmlformats.org/officeDocument/2006/relationships/image" Target="../media/slide5_diseno_image9.png" Id="R5f7ecf3039b54788"/><Relationship Type="http://schemas.openxmlformats.org/officeDocument/2006/relationships/image" Target="../media/slide5_diseno_image10.png" Id="Rca2af74a4db24cd7"/><Relationship Type="http://schemas.openxmlformats.org/officeDocument/2006/relationships/image" Target="../media/slide5_diseno_image11.png" Id="R17eda56c66264122"/><Relationship Type="http://schemas.openxmlformats.org/officeDocument/2006/relationships/image" Target="../media/slide5_diseno_image12.png" Id="R0598c2e78d6345bf"/></Relationships>
</file>

<file path=ppt/slides/_rels/slide6.xml.rels><?xml version='1.0' encoding='UTF-8' standalone='yes'?>
<Relationships xmlns="http://schemas.openxmlformats.org/package/2006/relationships"><Relationship Type="http://schemas.openxmlformats.org/officeDocument/2006/relationships/slideLayout" Target="../slideLayouts/slideLayout5.xml" Id="R66974e7e788647ff"/><Relationship Type="http://schemas.openxmlformats.org/officeDocument/2006/relationships/image" Target="../media/slide6_diseno_image13.png" Id="Ra85e1c9945e94a7e"/><Relationship Type="http://schemas.openxmlformats.org/officeDocument/2006/relationships/image" Target="../media/slide6_diseno_image14.png" Id="R5101691e18134900"/><Relationship Type="http://schemas.openxmlformats.org/officeDocument/2006/relationships/image" Target="../media/slide6_diseno_image15.png" Id="Rcd1fc5a8caa9402d"/><Relationship Type="http://schemas.openxmlformats.org/officeDocument/2006/relationships/image" Target="../media/slide6_diseno_image16.png" Id="Ra902198852794fa7"/><Relationship Type="http://schemas.openxmlformats.org/officeDocument/2006/relationships/hyperlink" Target="https://bit.crt.gob.mx/BitWebApp/" TargetMode="External" Id="Rbf38f4683d754baf"/><Relationship Type="http://schemas.openxmlformats.org/officeDocument/2006/relationships/image" Target="../media/slide6_diseno_image17.png" Id="Rc151f4e85cd14391"/><Relationship Type="http://schemas.openxmlformats.org/officeDocument/2006/relationships/image" Target="../media/slide6_diseno_image18.png" Id="R8e1ef3adc9d843cd"/><Relationship Type="http://schemas.openxmlformats.org/officeDocument/2006/relationships/image" Target="../media/slide6_diseno_image19.png" Id="R8f9341f9b5c94c17"/><Relationship Type="http://schemas.openxmlformats.org/officeDocument/2006/relationships/image" Target="../media/slide6_diseno_image20.png" Id="R18bf096c142f478e"/></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5.xml" Id="Ra94795058d6343e6"/><Relationship Type="http://schemas.openxmlformats.org/officeDocument/2006/relationships/image" Target="../media/slide7_diseno_image.png" Id="Ra2f113fc51c24590"/><Relationship Type="http://schemas.openxmlformats.org/officeDocument/2006/relationships/image" Target="../media/slide7_diseno_image2.png" Id="R5124f4555e354735"/><Relationship Type="http://schemas.openxmlformats.org/officeDocument/2006/relationships/image" Target="../media/slide7_diseno_image3.png" Id="R055272988eb84dce"/><Relationship Type="http://schemas.openxmlformats.org/officeDocument/2006/relationships/image" Target="../media/slide7_diseno_image4.png" Id="R9648ba0efd3e4fb5"/><Relationship Type="http://schemas.openxmlformats.org/officeDocument/2006/relationships/hyperlink" Target="https://bit.crt.gob.mx/BitWebApp/" TargetMode="External" Id="R44fd49cd4a32425c"/></Relationships>
</file>

<file path=ppt/slides/_rels/slide8.xml.rels><?xml version='1.0' encoding='UTF-8' standalone='yes'?>
<Relationships xmlns="http://schemas.openxmlformats.org/package/2006/relationships"><Relationship Type="http://schemas.openxmlformats.org/officeDocument/2006/relationships/slideLayout" Target="../slideLayouts/slideLayout5.xml" Id="R0f556a324a294929"/><Relationship Type="http://schemas.openxmlformats.org/officeDocument/2006/relationships/image" Target="../media/slide8_diseno_image.png" Id="Rab0adeb70d7b4625"/><Relationship Type="http://schemas.openxmlformats.org/officeDocument/2006/relationships/image" Target="../media/slide8_diseno_image2.png" Id="Rea391cf12914453e"/><Relationship Type="http://schemas.openxmlformats.org/officeDocument/2006/relationships/image" Target="../media/slide8_diseno_image3.png" Id="R4f2cbbb30dda4051"/><Relationship Type="http://schemas.openxmlformats.org/officeDocument/2006/relationships/image" Target="../media/slide8_diseno_image4.png" Id="R4d12f4a07a004500"/><Relationship Type="http://schemas.openxmlformats.org/officeDocument/2006/relationships/hyperlink" Target="https://bit.crt.gob.mx/BitWebApp/" TargetMode="External" Id="R4e3103bf1d6a40b8"/></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anuario_figure_c_3.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app/mapa/denue/default"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 TargetMode="External"/><Relationship Id="rId3" Type="http://schemas.openxmlformats.org/officeDocument/2006/relationships/hyperlink" Target="https://www.inegi.org.mx/programas/enoe/15ymas/" TargetMode="External"/><Relationship Id="rId4" Type="http://schemas.openxmlformats.org/officeDocument/2006/relationships/hyperlink" Target="https://www.dof.gob"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inpc/2018/"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oe/15ymas/" TargetMode="External"/><Relationship Id="rId3" Type="http://schemas.openxmlformats.org/officeDocument/2006/relationships/hyperlink" Target="https://www.inegi.org.mx/contenidos/programas/pib/2018/doc/guia_cab2018.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sp>
        <p:nvSpPr>
          <p:cNvPr id="33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3"/>
              </a:rPr>
              <a:t>BIT CRT: https://bit.crt.gob.mx/BitWebApp/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f8fb4188d6b4464a"/>
          <a:srcRect xmlns:a="http://schemas.openxmlformats.org/drawingml/2006/main" l="0" t="37" r="0" b="37"/>
          <a:stretch xmlns:a="http://schemas.openxmlformats.org/drawingml/2006/main">
            <a:fillRect l="0" t="0" r="0" b="0"/>
          </a:stretch>
        </p:blipFill>
        <p:spPr>
          <a:xfrm xmlns:a="http://schemas.openxmlformats.org/drawingml/2006/main">
            <a:off x="0" y="0"/>
            <a:ext cx="9143644" cy="456844"/>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4645e5e3e97428a"/>
          <a:srcRect xmlns:a="http://schemas.openxmlformats.org/drawingml/2006/main" l="0" t="156" r="0" b="156"/>
          <a:stretch xmlns:a="http://schemas.openxmlformats.org/drawingml/2006/main">
            <a:fillRect l="0" t="0" r="0" b="0"/>
          </a:stretch>
        </p:blipFill>
        <p:spPr>
          <a:xfrm xmlns:a="http://schemas.openxmlformats.org/drawingml/2006/main">
            <a:off x="0" y="4990683"/>
            <a:ext cx="9143644" cy="151917"/>
          </a:xfrm>
          <a:prstGeom xmlns:a="http://schemas.openxmlformats.org/drawingml/2006/main" prst="rect">
            <a:avLst/>
          </a:prstGeom>
        </p:spPr>
      </p:pic>
      <p:sp>
        <p:nvSpPr>
          <p:cNvPr id="3" name="LEGALES4_QR_FONDO">
            <a:extLst xmlns:a="http://schemas.openxmlformats.org/drawingml/2006/main">
              <a:ext uri="{FF2B5EF4-FFF2-40B4-BE49-F238E27FC236}">
                <a16:creationId xmlns:a16="http://schemas.microsoft.com/office/drawing/2014/main" id="{B4D72414-DDEA-4B6F-B0C6-D91CE872920A}"/>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6350">
            <a:solidFill>
              <a:srgbClr val="FFFFFF"/>
            </a:solid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195d0b918bde4936"/>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b0a2d06d11914fd1"/>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TITULO">
            <a:extLst xmlns:a="http://schemas.openxmlformats.org/drawingml/2006/main">
              <a:ext uri="{FF2B5EF4-FFF2-40B4-BE49-F238E27FC236}">
                <a16:creationId xmlns:a16="http://schemas.microsoft.com/office/drawing/2014/main" id="{7B68070D-8491-41BD-A8FE-C0D26B1C3E44}"/>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263632"/>
                </a:solidFill>
                <a:latin typeface="Noto Sans"/>
                <a:ea typeface="Noto Sans"/>
                <a:cs typeface="Noto Sans"/>
              </a:defRPr>
            </a:pPr>
            <a:r>
              <a:rPr sz="1500" b="1">
                <a:solidFill>
                  <a:srgbClr val="FFFFFF"/>
                </a:solidFill>
                <a:latin typeface="Noto Sans"/>
                <a:ea typeface="Noto Sans"/>
                <a:cs typeface="Noto Sans"/>
              </a:rPr>
              <a:t>LEGALES</a:t>
            </a:r>
          </a:p>
        </p:txBody>
      </p:sp>
      <p:sp>
        <p:nvSpPr>
          <p:cNvPr id="7" name="ANUARIO_ENCABEZADO_1">
            <a:extLst xmlns:a="http://schemas.openxmlformats.org/drawingml/2006/main">
              <a:ext uri="{FF2B5EF4-FFF2-40B4-BE49-F238E27FC236}">
                <a16:creationId xmlns:a16="http://schemas.microsoft.com/office/drawing/2014/main" id="{FAD32884-2968-43E4-9743-4070C90B9867}"/>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8" name="ANUARIO_ENCABEZADO_2">
            <a:extLst xmlns:a="http://schemas.openxmlformats.org/drawingml/2006/main">
              <a:ext uri="{FF2B5EF4-FFF2-40B4-BE49-F238E27FC236}">
                <a16:creationId xmlns:a16="http://schemas.microsoft.com/office/drawing/2014/main" id="{2DA9EC93-A1A5-4476-88E2-59BC709507F9}"/>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601321f2454c4057"/>
              </a:rPr>
              <a:t>BIT CRT · bit.crt.gob.mx/BitWebApp</a:t>
            </a:r>
          </a:p>
        </p:txBody>
      </p:sp>
      <p:sp>
        <p:nvSpPr>
          <p:cNvPr id="9" name="ANUARIO_LEGALES_CONT_DESIGN_2026">
            <a:extLst xmlns:a="http://schemas.openxmlformats.org/drawingml/2006/main">
              <a:ext uri="{FF2B5EF4-FFF2-40B4-BE49-F238E27FC236}">
                <a16:creationId xmlns:a16="http://schemas.microsoft.com/office/drawing/2014/main" id="{80DE92E0-C67D-4429-8273-8499CF835341}"/>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6350">
            <a:solidFill>
              <a:srgbClr val="1A4043"/>
            </a:solidFill>
          </a:ln>
        </p:spPr>
      </p:sp>
      <p:sp>
        <p:nvSpPr>
          <p:cNvPr id="10" name="LEGALES4_LATERAL_TITULO_0">
            <a:extLst xmlns:a="http://schemas.openxmlformats.org/drawingml/2006/main">
              <a:ext uri="{FF2B5EF4-FFF2-40B4-BE49-F238E27FC236}">
                <a16:creationId xmlns:a16="http://schemas.microsoft.com/office/drawing/2014/main" id="{51309CBF-496A-4972-B853-0C813FFF44AA}"/>
              </a:ext>
            </a:extLst>
          </p:cNvPr>
          <p:cNvSpPr>
            <a:spLocks xmlns:a="http://schemas.openxmlformats.org/drawingml/2006/main" noGrp="1"/>
          </p:cNvSpPr>
          <p:nvPr/>
        </p:nvSpPr>
        <p:spPr>
          <a:xfrm xmlns:a="http://schemas.openxmlformats.org/drawingml/2006/main">
            <a:off x="482600" y="819150"/>
            <a:ext cx="17145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9FD3C7"/>
                </a:solidFill>
                <a:latin typeface="Noto Sans"/>
                <a:ea typeface="Noto Sans"/>
                <a:cs typeface="Noto Sans"/>
              </a:rPr>
              <a:t>CONSIDERACIONES</a:t>
            </a:r>
          </a:p>
        </p:txBody>
      </p:sp>
      <p:sp>
        <p:nvSpPr>
          <p:cNvPr id="11" name="LEGALES4_LATERAL_TITULO_1">
            <a:extLst xmlns:a="http://schemas.openxmlformats.org/drawingml/2006/main">
              <a:ext uri="{FF2B5EF4-FFF2-40B4-BE49-F238E27FC236}">
                <a16:creationId xmlns:a16="http://schemas.microsoft.com/office/drawing/2014/main" id="{5B5C6423-8855-4F80-9605-65001C295E0F}"/>
              </a:ext>
            </a:extLst>
          </p:cNvPr>
          <p:cNvSpPr>
            <a:spLocks xmlns:a="http://schemas.openxmlformats.org/drawingml/2006/main" noGrp="1"/>
          </p:cNvSpPr>
          <p:nvPr/>
        </p:nvSpPr>
        <p:spPr>
          <a:xfrm xmlns:a="http://schemas.openxmlformats.org/drawingml/2006/main">
            <a:off x="482600" y="958850"/>
            <a:ext cx="17145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9FD3C7"/>
                </a:solidFill>
                <a:latin typeface="Noto Sans"/>
                <a:ea typeface="Noto Sans"/>
                <a:cs typeface="Noto Sans"/>
              </a:rPr>
              <a:t>DE USO</a:t>
            </a:r>
          </a:p>
        </p:txBody>
      </p:sp>
      <p:sp>
        <p:nvSpPr>
          <p:cNvPr id="12" name="LEGALES4_LATERAL_DIVISOR">
            <a:extLst xmlns:a="http://schemas.openxmlformats.org/drawingml/2006/main">
              <a:ext uri="{FF2B5EF4-FFF2-40B4-BE49-F238E27FC236}">
                <a16:creationId xmlns:a16="http://schemas.microsoft.com/office/drawing/2014/main" id="{D1ECC25D-D196-47BA-B2E4-B014C5022835}"/>
              </a:ext>
            </a:extLst>
          </p:cNvPr>
          <p:cNvSpPr>
            <a:spLocks xmlns:a="http://schemas.openxmlformats.org/drawingml/2006/main" noGrp="1"/>
          </p:cNvSpPr>
          <p:nvPr/>
        </p:nvSpPr>
        <p:spPr>
          <a:xfrm xmlns:a="http://schemas.openxmlformats.org/drawingml/2006/main">
            <a:off x="482600" y="11811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13" name="LEGALES4_LATERAL_ASUNTO_0">
            <a:extLst xmlns:a="http://schemas.openxmlformats.org/drawingml/2006/main">
              <a:ext uri="{FF2B5EF4-FFF2-40B4-BE49-F238E27FC236}">
                <a16:creationId xmlns:a16="http://schemas.microsoft.com/office/drawing/2014/main" id="{D8C370F4-5C66-4BC3-9FC7-D2E681F24DCC}"/>
              </a:ext>
            </a:extLst>
          </p:cNvPr>
          <p:cNvSpPr>
            <a:spLocks xmlns:a="http://schemas.openxmlformats.org/drawingml/2006/main" noGrp="1"/>
          </p:cNvSpPr>
          <p:nvPr/>
        </p:nvSpPr>
        <p:spPr>
          <a:xfrm xmlns:a="http://schemas.openxmlformats.org/drawingml/2006/main">
            <a:off x="482600" y="1422400"/>
            <a:ext cx="16764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0" b="1">
                <a:solidFill>
                  <a:srgbClr val="263632"/>
                </a:solidFill>
                <a:latin typeface="Noto Sans"/>
                <a:ea typeface="Noto Sans"/>
                <a:cs typeface="Noto Sans"/>
              </a:defRPr>
            </a:pPr>
            <a:r>
              <a:rPr sz="1120" b="1">
                <a:solidFill>
                  <a:srgbClr val="FFFFFF"/>
                </a:solidFill>
                <a:latin typeface="Noto Sans"/>
                <a:ea typeface="Noto Sans"/>
                <a:cs typeface="Noto Sans"/>
              </a:rPr>
              <a:t>Audiencias de</a:t>
            </a:r>
          </a:p>
        </p:txBody>
      </p:sp>
      <p:sp>
        <p:nvSpPr>
          <p:cNvPr id="14" name="LEGALES4_LATERAL_ASUNTO_1">
            <a:extLst xmlns:a="http://schemas.openxmlformats.org/drawingml/2006/main">
              <a:ext uri="{FF2B5EF4-FFF2-40B4-BE49-F238E27FC236}">
                <a16:creationId xmlns:a16="http://schemas.microsoft.com/office/drawing/2014/main" id="{9C670B7C-2E02-4810-9EF0-EF9DC73CC0D0}"/>
              </a:ext>
            </a:extLst>
          </p:cNvPr>
          <p:cNvSpPr>
            <a:spLocks xmlns:a="http://schemas.openxmlformats.org/drawingml/2006/main" noGrp="1"/>
          </p:cNvSpPr>
          <p:nvPr/>
        </p:nvSpPr>
        <p:spPr>
          <a:xfrm xmlns:a="http://schemas.openxmlformats.org/drawingml/2006/main">
            <a:off x="482600" y="1612900"/>
            <a:ext cx="16764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0" b="1">
                <a:solidFill>
                  <a:srgbClr val="263632"/>
                </a:solidFill>
                <a:latin typeface="Noto Sans"/>
                <a:ea typeface="Noto Sans"/>
                <a:cs typeface="Noto Sans"/>
              </a:defRPr>
            </a:pPr>
            <a:r>
              <a:rPr sz="1120" b="1">
                <a:solidFill>
                  <a:srgbClr val="FFFFFF"/>
                </a:solidFill>
                <a:latin typeface="Noto Sans"/>
                <a:ea typeface="Noto Sans"/>
                <a:cs typeface="Noto Sans"/>
              </a:rPr>
              <a:t>televisión</a:t>
            </a:r>
          </a:p>
        </p:txBody>
      </p:sp>
      <p:sp>
        <p:nvSpPr>
          <p:cNvPr id="15" name="LEGALES4_LATERAL_TEXTO_0">
            <a:extLst xmlns:a="http://schemas.openxmlformats.org/drawingml/2006/main">
              <a:ext uri="{FF2B5EF4-FFF2-40B4-BE49-F238E27FC236}">
                <a16:creationId xmlns:a16="http://schemas.microsoft.com/office/drawing/2014/main" id="{18F1AAEE-8D33-4354-BC09-C33D0DA05850}"/>
              </a:ext>
            </a:extLst>
          </p:cNvPr>
          <p:cNvSpPr>
            <a:spLocks xmlns:a="http://schemas.openxmlformats.org/drawingml/2006/main" noGrp="1"/>
          </p:cNvSpPr>
          <p:nvPr/>
        </p:nvSpPr>
        <p:spPr>
          <a:xfrm xmlns:a="http://schemas.openxmlformats.org/drawingml/2006/main">
            <a:off x="482600" y="200660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20">
                <a:solidFill>
                  <a:srgbClr val="263632"/>
                </a:solidFill>
                <a:latin typeface="Noto Sans"/>
                <a:ea typeface="Noto Sans"/>
                <a:cs typeface="Noto Sans"/>
              </a:defRPr>
            </a:pPr>
            <a:r>
              <a:rPr sz="920" b="0">
                <a:solidFill>
                  <a:srgbClr val="FFFFFF"/>
                </a:solidFill>
                <a:latin typeface="Noto Sans"/>
                <a:ea typeface="Noto Sans"/>
                <a:cs typeface="Noto Sans"/>
              </a:rPr>
              <a:t>Consideraciones para</a:t>
            </a:r>
          </a:p>
        </p:txBody>
      </p:sp>
      <p:sp>
        <p:nvSpPr>
          <p:cNvPr id="16" name="LEGALES4_LATERAL_TEXTO_1">
            <a:extLst xmlns:a="http://schemas.openxmlformats.org/drawingml/2006/main">
              <a:ext uri="{FF2B5EF4-FFF2-40B4-BE49-F238E27FC236}">
                <a16:creationId xmlns:a16="http://schemas.microsoft.com/office/drawing/2014/main" id="{E3BB24C1-264F-406E-9653-DE12AC2C2A25}"/>
              </a:ext>
            </a:extLst>
          </p:cNvPr>
          <p:cNvSpPr>
            <a:spLocks xmlns:a="http://schemas.openxmlformats.org/drawingml/2006/main" noGrp="1"/>
          </p:cNvSpPr>
          <p:nvPr/>
        </p:nvSpPr>
        <p:spPr>
          <a:xfrm xmlns:a="http://schemas.openxmlformats.org/drawingml/2006/main">
            <a:off x="482600" y="21780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20">
                <a:solidFill>
                  <a:srgbClr val="263632"/>
                </a:solidFill>
                <a:latin typeface="Noto Sans"/>
                <a:ea typeface="Noto Sans"/>
                <a:cs typeface="Noto Sans"/>
              </a:defRPr>
            </a:pPr>
            <a:r>
              <a:rPr sz="920" b="0">
                <a:solidFill>
                  <a:srgbClr val="FFFFFF"/>
                </a:solidFill>
                <a:latin typeface="Noto Sans"/>
                <a:ea typeface="Noto Sans"/>
                <a:cs typeface="Noto Sans"/>
              </a:rPr>
              <a:t>comparar series de</a:t>
            </a:r>
          </a:p>
        </p:txBody>
      </p:sp>
      <p:sp>
        <p:nvSpPr>
          <p:cNvPr id="17" name="LEGALES4_LATERAL_TEXTO_2">
            <a:extLst xmlns:a="http://schemas.openxmlformats.org/drawingml/2006/main">
              <a:ext uri="{FF2B5EF4-FFF2-40B4-BE49-F238E27FC236}">
                <a16:creationId xmlns:a16="http://schemas.microsoft.com/office/drawing/2014/main" id="{6D479A9A-E646-4081-96EB-6DF757A1EE1B}"/>
              </a:ext>
            </a:extLst>
          </p:cNvPr>
          <p:cNvSpPr>
            <a:spLocks xmlns:a="http://schemas.openxmlformats.org/drawingml/2006/main" noGrp="1"/>
          </p:cNvSpPr>
          <p:nvPr/>
        </p:nvSpPr>
        <p:spPr>
          <a:xfrm xmlns:a="http://schemas.openxmlformats.org/drawingml/2006/main">
            <a:off x="482600" y="234950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20">
                <a:solidFill>
                  <a:srgbClr val="263632"/>
                </a:solidFill>
                <a:latin typeface="Noto Sans"/>
                <a:ea typeface="Noto Sans"/>
                <a:cs typeface="Noto Sans"/>
              </a:defRPr>
            </a:pPr>
            <a:r>
              <a:rPr sz="920" b="0">
                <a:solidFill>
                  <a:srgbClr val="FFFFFF"/>
                </a:solidFill>
                <a:latin typeface="Noto Sans"/>
                <a:ea typeface="Noto Sans"/>
                <a:cs typeface="Noto Sans"/>
              </a:rPr>
              <a:t>televisión y utilizar</a:t>
            </a:r>
          </a:p>
        </p:txBody>
      </p:sp>
      <p:sp>
        <p:nvSpPr>
          <p:cNvPr id="18" name="LEGALES4_LATERAL_TEXTO_3">
            <a:extLst xmlns:a="http://schemas.openxmlformats.org/drawingml/2006/main">
              <a:ext uri="{FF2B5EF4-FFF2-40B4-BE49-F238E27FC236}">
                <a16:creationId xmlns:a16="http://schemas.microsoft.com/office/drawing/2014/main" id="{98943108-5B47-4E46-8948-000E90535F83}"/>
              </a:ext>
            </a:extLst>
          </p:cNvPr>
          <p:cNvSpPr>
            <a:spLocks xmlns:a="http://schemas.openxmlformats.org/drawingml/2006/main" noGrp="1"/>
          </p:cNvSpPr>
          <p:nvPr/>
        </p:nvSpPr>
        <p:spPr>
          <a:xfrm xmlns:a="http://schemas.openxmlformats.org/drawingml/2006/main">
            <a:off x="482600" y="252095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20">
                <a:solidFill>
                  <a:srgbClr val="263632"/>
                </a:solidFill>
                <a:latin typeface="Noto Sans"/>
                <a:ea typeface="Noto Sans"/>
                <a:cs typeface="Noto Sans"/>
              </a:defRPr>
            </a:pPr>
            <a:r>
              <a:rPr sz="920" b="0">
                <a:solidFill>
                  <a:srgbClr val="FFFFFF"/>
                </a:solidFill>
                <a:latin typeface="Noto Sans"/>
                <a:ea typeface="Noto Sans"/>
                <a:cs typeface="Noto Sans"/>
              </a:rPr>
              <a:t>la información de</a:t>
            </a:r>
          </a:p>
        </p:txBody>
      </p:sp>
      <p:sp>
        <p:nvSpPr>
          <p:cNvPr id="19" name="LEGALES4_LATERAL_TEXTO_4">
            <a:extLst xmlns:a="http://schemas.openxmlformats.org/drawingml/2006/main">
              <a:ext uri="{FF2B5EF4-FFF2-40B4-BE49-F238E27FC236}">
                <a16:creationId xmlns:a16="http://schemas.microsoft.com/office/drawing/2014/main" id="{58B723C1-36A6-4A86-99B0-A53B8E3A3DAA}"/>
              </a:ext>
            </a:extLst>
          </p:cNvPr>
          <p:cNvSpPr>
            <a:spLocks xmlns:a="http://schemas.openxmlformats.org/drawingml/2006/main" noGrp="1"/>
          </p:cNvSpPr>
          <p:nvPr/>
        </p:nvSpPr>
        <p:spPr>
          <a:xfrm xmlns:a="http://schemas.openxmlformats.org/drawingml/2006/main">
            <a:off x="482600" y="2692400"/>
            <a:ext cx="1676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20">
                <a:solidFill>
                  <a:srgbClr val="263632"/>
                </a:solidFill>
                <a:latin typeface="Noto Sans"/>
                <a:ea typeface="Noto Sans"/>
                <a:cs typeface="Noto Sans"/>
              </a:defRPr>
            </a:pPr>
            <a:r>
              <a:rPr sz="920" b="0">
                <a:solidFill>
                  <a:srgbClr val="FFFFFF"/>
                </a:solidFill>
                <a:latin typeface="Noto Sans"/>
                <a:ea typeface="Noto Sans"/>
                <a:cs typeface="Noto Sans"/>
              </a:rPr>
              <a:t>Nielsen IBOPE.</a:t>
            </a:r>
          </a:p>
        </p:txBody>
      </p:sp>
      <p:sp>
        <p:nvSpPr>
          <p:cNvPr id="20" name="LEGALES4_RECUADRO_1">
            <a:extLst xmlns:a="http://schemas.openxmlformats.org/drawingml/2006/main">
              <a:ext uri="{FF2B5EF4-FFF2-40B4-BE49-F238E27FC236}">
                <a16:creationId xmlns:a16="http://schemas.microsoft.com/office/drawing/2014/main" id="{8395D070-72F0-4B96-8FF5-2827C64CB9D9}"/>
              </a:ext>
            </a:extLst>
          </p:cNvPr>
          <p:cNvSpPr>
            <a:spLocks xmlns:a="http://schemas.openxmlformats.org/drawingml/2006/main" noGrp="1"/>
          </p:cNvSpPr>
          <p:nvPr/>
        </p:nvSpPr>
        <p:spPr>
          <a:xfrm xmlns:a="http://schemas.openxmlformats.org/drawingml/2006/main">
            <a:off x="2489200" y="609600"/>
            <a:ext cx="6350000" cy="1168400"/>
          </a:xfrm>
          <a:prstGeom xmlns:a="http://schemas.openxmlformats.org/drawingml/2006/main" prst="roundRect">
            <a:avLst>
              <a:gd name="adj" fmla="val 3261"/>
            </a:avLst>
          </a:prstGeom>
          <a:solidFill xmlns:a="http://schemas.openxmlformats.org/drawingml/2006/main">
            <a:srgbClr val="F6FAF9"/>
          </a:solidFill>
          <a:ln xmlns:a="http://schemas.openxmlformats.org/drawingml/2006/main" w="6350">
            <a:solidFill>
              <a:srgbClr val="DCE9E6"/>
            </a:solidFill>
          </a:ln>
        </p:spPr>
      </p:sp>
      <p:sp>
        <p:nvSpPr>
          <p:cNvPr id="21" name="LEGALES4_ACENTO_1">
            <a:extLst xmlns:a="http://schemas.openxmlformats.org/drawingml/2006/main">
              <a:ext uri="{FF2B5EF4-FFF2-40B4-BE49-F238E27FC236}">
                <a16:creationId xmlns:a16="http://schemas.microsoft.com/office/drawing/2014/main" id="{04A3680C-7316-4652-984E-8646B2342774}"/>
              </a:ext>
            </a:extLst>
          </p:cNvPr>
          <p:cNvSpPr>
            <a:spLocks xmlns:a="http://schemas.openxmlformats.org/drawingml/2006/main" noGrp="1"/>
          </p:cNvSpPr>
          <p:nvPr/>
        </p:nvSpPr>
        <p:spPr>
          <a:xfrm xmlns:a="http://schemas.openxmlformats.org/drawingml/2006/main">
            <a:off x="2489200" y="685800"/>
            <a:ext cx="38100" cy="1016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2" name="LEGALES4_ROTULO_1">
            <a:extLst xmlns:a="http://schemas.openxmlformats.org/drawingml/2006/main">
              <a:ext uri="{FF2B5EF4-FFF2-40B4-BE49-F238E27FC236}">
                <a16:creationId xmlns:a16="http://schemas.microsoft.com/office/drawing/2014/main" id="{42E54233-D122-44A9-9613-BB0251A2EEE6}"/>
              </a:ext>
            </a:extLst>
          </p:cNvPr>
          <p:cNvSpPr>
            <a:spLocks xmlns:a="http://schemas.openxmlformats.org/drawingml/2006/main" noGrp="1"/>
          </p:cNvSpPr>
          <p:nvPr/>
        </p:nvSpPr>
        <p:spPr>
          <a:xfrm xmlns:a="http://schemas.openxmlformats.org/drawingml/2006/main">
            <a:off x="2641600" y="736600"/>
            <a:ext cx="60452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80" b="1">
                <a:solidFill>
                  <a:srgbClr val="263632"/>
                </a:solidFill>
                <a:latin typeface="Noto Sans"/>
                <a:ea typeface="Noto Sans"/>
                <a:cs typeface="Noto Sans"/>
              </a:defRPr>
            </a:pPr>
            <a:r>
              <a:rPr sz="1080" b="1">
                <a:solidFill>
                  <a:srgbClr val="1A4043"/>
                </a:solidFill>
                <a:latin typeface="Noto Sans"/>
                <a:ea typeface="Noto Sans"/>
                <a:cs typeface="Noto Sans"/>
              </a:rPr>
              <a:t>2016 · Apagón analógico</a:t>
            </a:r>
          </a:p>
        </p:txBody>
      </p:sp>
      <p:sp>
        <p:nvSpPr>
          <p:cNvPr id="23" name="LEGALES4_CUERPO_1_1">
            <a:extLst xmlns:a="http://schemas.openxmlformats.org/drawingml/2006/main">
              <a:ext uri="{FF2B5EF4-FFF2-40B4-BE49-F238E27FC236}">
                <a16:creationId xmlns:a16="http://schemas.microsoft.com/office/drawing/2014/main" id="{76467E31-19F2-46BF-93AA-F20405972D14}"/>
              </a:ext>
            </a:extLst>
          </p:cNvPr>
          <p:cNvSpPr>
            <a:spLocks xmlns:a="http://schemas.openxmlformats.org/drawingml/2006/main" noGrp="1"/>
          </p:cNvSpPr>
          <p:nvPr/>
        </p:nvSpPr>
        <p:spPr>
          <a:xfrm xmlns:a="http://schemas.openxmlformats.org/drawingml/2006/main">
            <a:off x="2641600" y="101600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Adicional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estas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consideraciones,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importante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mencionar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que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año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2016</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se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identifica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como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un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periodo</a:t>
            </a:r>
          </a:p>
        </p:txBody>
      </p:sp>
      <p:sp>
        <p:nvSpPr>
          <p:cNvPr id="24" name="LEGALES4_CUERPO_1_2">
            <a:extLst xmlns:a="http://schemas.openxmlformats.org/drawingml/2006/main">
              <a:ext uri="{FF2B5EF4-FFF2-40B4-BE49-F238E27FC236}">
                <a16:creationId xmlns:a16="http://schemas.microsoft.com/office/drawing/2014/main" id="{25A21142-D434-4606-A994-3102021D2DEB}"/>
              </a:ext>
            </a:extLst>
          </p:cNvPr>
          <p:cNvSpPr>
            <a:spLocks xmlns:a="http://schemas.openxmlformats.org/drawingml/2006/main" noGrp="1"/>
          </p:cNvSpPr>
          <p:nvPr/>
        </p:nvSpPr>
        <p:spPr>
          <a:xfrm xmlns:a="http://schemas.openxmlformats.org/drawingml/2006/main">
            <a:off x="2641600" y="116205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adaptación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para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hogares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frente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cambios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presentados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por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apagón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analógico;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por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cual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no</a:t>
            </a:r>
          </a:p>
        </p:txBody>
      </p:sp>
      <p:sp>
        <p:nvSpPr>
          <p:cNvPr id="25" name="LEGALES4_CUERPO_1_3">
            <a:extLst xmlns:a="http://schemas.openxmlformats.org/drawingml/2006/main">
              <a:ext uri="{FF2B5EF4-FFF2-40B4-BE49-F238E27FC236}">
                <a16:creationId xmlns:a16="http://schemas.microsoft.com/office/drawing/2014/main" id="{1B48D172-D244-4A7E-8929-B41C41088A68}"/>
              </a:ext>
            </a:extLst>
          </p:cNvPr>
          <p:cNvSpPr>
            <a:spLocks xmlns:a="http://schemas.openxmlformats.org/drawingml/2006/main" noGrp="1"/>
          </p:cNvSpPr>
          <p:nvPr/>
        </p:nvSpPr>
        <p:spPr>
          <a:xfrm xmlns:a="http://schemas.openxmlformats.org/drawingml/2006/main">
            <a:off x="2641600" y="130810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podrá</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ser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comparado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total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años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anteriores,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ni</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realizar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comparaciones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lineales.</a:t>
            </a:r>
          </a:p>
        </p:txBody>
      </p:sp>
      <p:sp>
        <p:nvSpPr>
          <p:cNvPr id="26" name="LEGALES4_RECUADRO_2">
            <a:extLst xmlns:a="http://schemas.openxmlformats.org/drawingml/2006/main">
              <a:ext uri="{FF2B5EF4-FFF2-40B4-BE49-F238E27FC236}">
                <a16:creationId xmlns:a16="http://schemas.microsoft.com/office/drawing/2014/main" id="{00BAD5C9-B305-428E-B9AD-C3B910861957}"/>
              </a:ext>
            </a:extLst>
          </p:cNvPr>
          <p:cNvSpPr>
            <a:spLocks xmlns:a="http://schemas.openxmlformats.org/drawingml/2006/main" noGrp="1"/>
          </p:cNvSpPr>
          <p:nvPr/>
        </p:nvSpPr>
        <p:spPr>
          <a:xfrm xmlns:a="http://schemas.openxmlformats.org/drawingml/2006/main">
            <a:off x="2489200" y="1879600"/>
            <a:ext cx="6350000" cy="1625600"/>
          </a:xfrm>
          <a:prstGeom xmlns:a="http://schemas.openxmlformats.org/drawingml/2006/main" prst="roundRect">
            <a:avLst>
              <a:gd name="adj" fmla="val 2344"/>
            </a:avLst>
          </a:prstGeom>
          <a:solidFill xmlns:a="http://schemas.openxmlformats.org/drawingml/2006/main">
            <a:srgbClr val="F6FAF9"/>
          </a:solidFill>
          <a:ln xmlns:a="http://schemas.openxmlformats.org/drawingml/2006/main" w="6350">
            <a:solidFill>
              <a:srgbClr val="DCE9E6"/>
            </a:solidFill>
          </a:ln>
        </p:spPr>
      </p:sp>
      <p:sp>
        <p:nvSpPr>
          <p:cNvPr id="27" name="LEGALES4_ACENTO_2">
            <a:extLst xmlns:a="http://schemas.openxmlformats.org/drawingml/2006/main">
              <a:ext uri="{FF2B5EF4-FFF2-40B4-BE49-F238E27FC236}">
                <a16:creationId xmlns:a16="http://schemas.microsoft.com/office/drawing/2014/main" id="{55E91E42-8482-4B4E-9675-00BCA918BEE9}"/>
              </a:ext>
            </a:extLst>
          </p:cNvPr>
          <p:cNvSpPr>
            <a:spLocks xmlns:a="http://schemas.openxmlformats.org/drawingml/2006/main" noGrp="1"/>
          </p:cNvSpPr>
          <p:nvPr/>
        </p:nvSpPr>
        <p:spPr>
          <a:xfrm xmlns:a="http://schemas.openxmlformats.org/drawingml/2006/main">
            <a:off x="2489200" y="1955800"/>
            <a:ext cx="38100" cy="1473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8" name="LEGALES4_ROTULO_2">
            <a:extLst xmlns:a="http://schemas.openxmlformats.org/drawingml/2006/main">
              <a:ext uri="{FF2B5EF4-FFF2-40B4-BE49-F238E27FC236}">
                <a16:creationId xmlns:a16="http://schemas.microsoft.com/office/drawing/2014/main" id="{AE682C94-9574-4323-95D1-74C2BB3A140F}"/>
              </a:ext>
            </a:extLst>
          </p:cNvPr>
          <p:cNvSpPr>
            <a:spLocks xmlns:a="http://schemas.openxmlformats.org/drawingml/2006/main" noGrp="1"/>
          </p:cNvSpPr>
          <p:nvPr/>
        </p:nvSpPr>
        <p:spPr>
          <a:xfrm xmlns:a="http://schemas.openxmlformats.org/drawingml/2006/main">
            <a:off x="2641600" y="2006600"/>
            <a:ext cx="60452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80" b="1">
                <a:solidFill>
                  <a:srgbClr val="263632"/>
                </a:solidFill>
                <a:latin typeface="Noto Sans"/>
                <a:ea typeface="Noto Sans"/>
                <a:cs typeface="Noto Sans"/>
              </a:defRPr>
            </a:pPr>
            <a:r>
              <a:rPr sz="1080" b="1">
                <a:solidFill>
                  <a:srgbClr val="1A4043"/>
                </a:solidFill>
                <a:latin typeface="Noto Sans"/>
                <a:ea typeface="Noto Sans"/>
                <a:cs typeface="Noto Sans"/>
              </a:rPr>
              <a:t>2017 y 2018 · Audiencias de televisión</a:t>
            </a:r>
          </a:p>
        </p:txBody>
      </p:sp>
      <p:sp>
        <p:nvSpPr>
          <p:cNvPr id="29" name="LEGALES4_CUERPO_2_1">
            <a:extLst xmlns:a="http://schemas.openxmlformats.org/drawingml/2006/main">
              <a:ext uri="{FF2B5EF4-FFF2-40B4-BE49-F238E27FC236}">
                <a16:creationId xmlns:a16="http://schemas.microsoft.com/office/drawing/2014/main" id="{5892487F-0FC2-4BCD-8DAB-69FC882DF16E}"/>
              </a:ext>
            </a:extLst>
          </p:cNvPr>
          <p:cNvSpPr>
            <a:spLocks xmlns:a="http://schemas.openxmlformats.org/drawingml/2006/main" noGrp="1"/>
          </p:cNvSpPr>
          <p:nvPr/>
        </p:nvSpPr>
        <p:spPr>
          <a:xfrm xmlns:a="http://schemas.openxmlformats.org/drawingml/2006/main">
            <a:off x="2641600" y="228600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También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importante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considerar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que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análisis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realizados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partir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2017</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y</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2018</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las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Bases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Datos</a:t>
            </a:r>
          </a:p>
        </p:txBody>
      </p:sp>
      <p:sp>
        <p:nvSpPr>
          <p:cNvPr id="30" name="LEGALES4_CUERPO_2_2">
            <a:extLst xmlns:a="http://schemas.openxmlformats.org/drawingml/2006/main">
              <a:ext uri="{FF2B5EF4-FFF2-40B4-BE49-F238E27FC236}">
                <a16:creationId xmlns:a16="http://schemas.microsoft.com/office/drawing/2014/main" id="{B303195E-6806-4988-BA31-B6E5295F215E}"/>
              </a:ext>
            </a:extLst>
          </p:cNvPr>
          <p:cNvSpPr>
            <a:spLocks xmlns:a="http://schemas.openxmlformats.org/drawingml/2006/main" noGrp="1"/>
          </p:cNvSpPr>
          <p:nvPr/>
        </p:nvSpPr>
        <p:spPr>
          <a:xfrm xmlns:a="http://schemas.openxmlformats.org/drawingml/2006/main">
            <a:off x="2641600" y="243205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que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contienen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información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audiencias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televisión,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son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un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producto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nuevo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mediante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cual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Nielsen</a:t>
            </a:r>
          </a:p>
        </p:txBody>
      </p:sp>
      <p:sp>
        <p:nvSpPr>
          <p:cNvPr id="31" name="LEGALES4_CUERPO_2_3">
            <a:extLst xmlns:a="http://schemas.openxmlformats.org/drawingml/2006/main">
              <a:ext uri="{FF2B5EF4-FFF2-40B4-BE49-F238E27FC236}">
                <a16:creationId xmlns:a16="http://schemas.microsoft.com/office/drawing/2014/main" id="{BDE19D95-CF21-4B0E-9D0F-3E6C51F86CD7}"/>
              </a:ext>
            </a:extLst>
          </p:cNvPr>
          <p:cNvSpPr>
            <a:spLocks xmlns:a="http://schemas.openxmlformats.org/drawingml/2006/main" noGrp="1"/>
          </p:cNvSpPr>
          <p:nvPr/>
        </p:nvSpPr>
        <p:spPr>
          <a:xfrm xmlns:a="http://schemas.openxmlformats.org/drawingml/2006/main">
            <a:off x="2641600" y="257810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IBOPE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compila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su</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información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y</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que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son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distintas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aquellas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que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hasta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año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2016</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pudo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haber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licenciado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al</a:t>
            </a:r>
          </a:p>
        </p:txBody>
      </p:sp>
      <p:sp>
        <p:nvSpPr>
          <p:cNvPr id="32" name="LEGALES4_CUERPO_2_4">
            <a:extLst xmlns:a="http://schemas.openxmlformats.org/drawingml/2006/main">
              <a:ext uri="{FF2B5EF4-FFF2-40B4-BE49-F238E27FC236}">
                <a16:creationId xmlns:a16="http://schemas.microsoft.com/office/drawing/2014/main" id="{EF77820B-DC08-4B2B-8F13-888BD875025C}"/>
              </a:ext>
            </a:extLst>
          </p:cNvPr>
          <p:cNvSpPr>
            <a:spLocks xmlns:a="http://schemas.openxmlformats.org/drawingml/2006/main" noGrp="1"/>
          </p:cNvSpPr>
          <p:nvPr/>
        </p:nvSpPr>
        <p:spPr>
          <a:xfrm xmlns:a="http://schemas.openxmlformats.org/drawingml/2006/main">
            <a:off x="2641600" y="272415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IFT,</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esto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ya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que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partir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1</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enero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2017</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se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cuenta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nuevos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elementos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para</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su</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definición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y</a:t>
            </a:r>
          </a:p>
        </p:txBody>
      </p:sp>
      <p:sp>
        <p:nvSpPr>
          <p:cNvPr id="33" name="LEGALES4_CUERPO_2_5">
            <a:extLst xmlns:a="http://schemas.openxmlformats.org/drawingml/2006/main">
              <a:ext uri="{FF2B5EF4-FFF2-40B4-BE49-F238E27FC236}">
                <a16:creationId xmlns:a16="http://schemas.microsoft.com/office/drawing/2014/main" id="{09FBA9D8-5A03-47FB-B1B9-F7FA84C35668}"/>
              </a:ext>
            </a:extLst>
          </p:cNvPr>
          <p:cNvSpPr>
            <a:spLocks xmlns:a="http://schemas.openxmlformats.org/drawingml/2006/main" noGrp="1"/>
          </p:cNvSpPr>
          <p:nvPr/>
        </p:nvSpPr>
        <p:spPr>
          <a:xfrm xmlns:a="http://schemas.openxmlformats.org/drawingml/2006/main">
            <a:off x="2641600" y="287020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asignación,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como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son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aspectos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tecnológicos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y</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definición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hogares;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por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cual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no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podrá</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ser</a:t>
            </a:r>
          </a:p>
        </p:txBody>
      </p:sp>
      <p:sp>
        <p:nvSpPr>
          <p:cNvPr id="34" name="LEGALES4_CUERPO_2_6">
            <a:extLst xmlns:a="http://schemas.openxmlformats.org/drawingml/2006/main">
              <a:ext uri="{FF2B5EF4-FFF2-40B4-BE49-F238E27FC236}">
                <a16:creationId xmlns:a16="http://schemas.microsoft.com/office/drawing/2014/main" id="{77002ED5-E714-4925-91EE-ED1AB1017F51}"/>
              </a:ext>
            </a:extLst>
          </p:cNvPr>
          <p:cNvSpPr>
            <a:spLocks xmlns:a="http://schemas.openxmlformats.org/drawingml/2006/main" noGrp="1"/>
          </p:cNvSpPr>
          <p:nvPr/>
        </p:nvSpPr>
        <p:spPr>
          <a:xfrm xmlns:a="http://schemas.openxmlformats.org/drawingml/2006/main">
            <a:off x="2641600" y="301625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comparado</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con</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el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total</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de</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años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anteriores,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ni</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realizar</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comparaciones</a:t>
            </a:r>
            <a:r>
              <a:rPr sz="900" b="0" i="0">
                <a:solidFill>
                  <a:srgbClr val="263632"/>
                </a:solidFill>
                <a:latin typeface="Noto Sans"/>
                <a:ea typeface="Noto Sans"/>
                <a:cs typeface="Noto Sans"/>
              </a:rPr>
              <a:t> </a:t>
            </a:r>
            <a:r>
              <a:rPr sz="900" b="0" i="0">
                <a:solidFill>
                  <a:srgbClr val="263632"/>
                </a:solidFill>
                <a:latin typeface="Noto Sans"/>
                <a:ea typeface="Noto Sans"/>
                <a:cs typeface="Noto Sans"/>
              </a:rPr>
              <a:t>lineales.</a:t>
            </a:r>
          </a:p>
        </p:txBody>
      </p:sp>
      <p:sp>
        <p:nvSpPr>
          <p:cNvPr id="35" name="LEGALES4_RECUADRO_3">
            <a:extLst xmlns:a="http://schemas.openxmlformats.org/drawingml/2006/main">
              <a:ext uri="{FF2B5EF4-FFF2-40B4-BE49-F238E27FC236}">
                <a16:creationId xmlns:a16="http://schemas.microsoft.com/office/drawing/2014/main" id="{F77A64BC-5A02-45D7-9C81-A268C74B9F1F}"/>
              </a:ext>
            </a:extLst>
          </p:cNvPr>
          <p:cNvSpPr>
            <a:spLocks xmlns:a="http://schemas.openxmlformats.org/drawingml/2006/main" noGrp="1"/>
          </p:cNvSpPr>
          <p:nvPr/>
        </p:nvSpPr>
        <p:spPr>
          <a:xfrm xmlns:a="http://schemas.openxmlformats.org/drawingml/2006/main">
            <a:off x="2489200" y="3606800"/>
            <a:ext cx="6350000" cy="1270000"/>
          </a:xfrm>
          <a:prstGeom xmlns:a="http://schemas.openxmlformats.org/drawingml/2006/main" prst="roundRect">
            <a:avLst>
              <a:gd name="adj" fmla="val 3000"/>
            </a:avLst>
          </a:prstGeom>
          <a:solidFill xmlns:a="http://schemas.openxmlformats.org/drawingml/2006/main">
            <a:srgbClr val="F6FAF9"/>
          </a:solidFill>
          <a:ln xmlns:a="http://schemas.openxmlformats.org/drawingml/2006/main" w="6350">
            <a:solidFill>
              <a:srgbClr val="DCE9E6"/>
            </a:solidFill>
          </a:ln>
        </p:spPr>
      </p:sp>
      <p:sp>
        <p:nvSpPr>
          <p:cNvPr id="36" name="LEGALES4_ACENTO_3">
            <a:extLst xmlns:a="http://schemas.openxmlformats.org/drawingml/2006/main">
              <a:ext uri="{FF2B5EF4-FFF2-40B4-BE49-F238E27FC236}">
                <a16:creationId xmlns:a16="http://schemas.microsoft.com/office/drawing/2014/main" id="{634930AF-E847-47EA-8467-D2F79E2E4710}"/>
              </a:ext>
            </a:extLst>
          </p:cNvPr>
          <p:cNvSpPr>
            <a:spLocks xmlns:a="http://schemas.openxmlformats.org/drawingml/2006/main" noGrp="1"/>
          </p:cNvSpPr>
          <p:nvPr/>
        </p:nvSpPr>
        <p:spPr>
          <a:xfrm xmlns:a="http://schemas.openxmlformats.org/drawingml/2006/main">
            <a:off x="2489200" y="3683000"/>
            <a:ext cx="38100" cy="1117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7" name="LEGALES4_ROTULO_3">
            <a:extLst xmlns:a="http://schemas.openxmlformats.org/drawingml/2006/main">
              <a:ext uri="{FF2B5EF4-FFF2-40B4-BE49-F238E27FC236}">
                <a16:creationId xmlns:a16="http://schemas.microsoft.com/office/drawing/2014/main" id="{AC4D4DB8-D8D8-41E9-A301-031BC34B9CDF}"/>
              </a:ext>
            </a:extLst>
          </p:cNvPr>
          <p:cNvSpPr>
            <a:spLocks xmlns:a="http://schemas.openxmlformats.org/drawingml/2006/main" noGrp="1"/>
          </p:cNvSpPr>
          <p:nvPr/>
        </p:nvSpPr>
        <p:spPr>
          <a:xfrm xmlns:a="http://schemas.openxmlformats.org/drawingml/2006/main">
            <a:off x="2641600" y="3733800"/>
            <a:ext cx="60452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80" b="1">
                <a:solidFill>
                  <a:srgbClr val="263632"/>
                </a:solidFill>
                <a:latin typeface="Noto Sans"/>
                <a:ea typeface="Noto Sans"/>
                <a:cs typeface="Noto Sans"/>
              </a:defRPr>
            </a:pPr>
            <a:r>
              <a:rPr sz="1080" b="1">
                <a:solidFill>
                  <a:srgbClr val="1A4043"/>
                </a:solidFill>
                <a:latin typeface="Noto Sans"/>
                <a:ea typeface="Noto Sans"/>
                <a:cs typeface="Noto Sans"/>
              </a:rPr>
              <a:t>Guía para el uso de datos de audiencia</a:t>
            </a:r>
          </a:p>
        </p:txBody>
      </p:sp>
      <p:sp>
        <p:nvSpPr>
          <p:cNvPr id="38" name="LEGALES4_CUERPO_3_1">
            <a:extLst xmlns:a="http://schemas.openxmlformats.org/drawingml/2006/main">
              <a:ext uri="{FF2B5EF4-FFF2-40B4-BE49-F238E27FC236}">
                <a16:creationId xmlns:a16="http://schemas.microsoft.com/office/drawing/2014/main" id="{B3FDBC9F-F302-420D-BDA8-8B05A9D9F856}"/>
              </a:ext>
            </a:extLst>
          </p:cNvPr>
          <p:cNvSpPr>
            <a:spLocks xmlns:a="http://schemas.openxmlformats.org/drawingml/2006/main" noGrp="1"/>
          </p:cNvSpPr>
          <p:nvPr/>
        </p:nvSpPr>
        <p:spPr>
          <a:xfrm xmlns:a="http://schemas.openxmlformats.org/drawingml/2006/main">
            <a:off x="2641600" y="401320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El lector puede consultar las recomendaciones respecto al uso de la información propiedad de Nielsen IBOPE</a:t>
            </a:r>
          </a:p>
        </p:txBody>
      </p:sp>
      <p:sp>
        <p:nvSpPr>
          <p:cNvPr id="39" name="LEGALES4_CUERPO_3_2">
            <a:extLst xmlns:a="http://schemas.openxmlformats.org/drawingml/2006/main">
              <a:ext uri="{FF2B5EF4-FFF2-40B4-BE49-F238E27FC236}">
                <a16:creationId xmlns:a16="http://schemas.microsoft.com/office/drawing/2014/main" id="{66F29AFA-F4A0-438F-B298-E8673B6CC7E2}"/>
              </a:ext>
            </a:extLst>
          </p:cNvPr>
          <p:cNvSpPr>
            <a:spLocks xmlns:a="http://schemas.openxmlformats.org/drawingml/2006/main" noGrp="1"/>
          </p:cNvSpPr>
          <p:nvPr/>
        </p:nvSpPr>
        <p:spPr>
          <a:xfrm xmlns:a="http://schemas.openxmlformats.org/drawingml/2006/main">
            <a:off x="2641600" y="415925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México, S.A. De C.V. contenidas en la “Guía para el uso de datos de audiencia Nielsen IBOPE México” que</a:t>
            </a:r>
          </a:p>
        </p:txBody>
      </p:sp>
      <p:sp>
        <p:nvSpPr>
          <p:cNvPr id="40" name="LEGALES4_CUERPO_3_3">
            <a:extLst xmlns:a="http://schemas.openxmlformats.org/drawingml/2006/main">
              <a:ext uri="{FF2B5EF4-FFF2-40B4-BE49-F238E27FC236}">
                <a16:creationId xmlns:a16="http://schemas.microsoft.com/office/drawing/2014/main" id="{EC318E8B-0B71-43BA-817A-453C2549960D}"/>
              </a:ext>
            </a:extLst>
          </p:cNvPr>
          <p:cNvSpPr>
            <a:spLocks xmlns:a="http://schemas.openxmlformats.org/drawingml/2006/main" noGrp="1"/>
          </p:cNvSpPr>
          <p:nvPr/>
        </p:nvSpPr>
        <p:spPr>
          <a:xfrm xmlns:a="http://schemas.openxmlformats.org/drawingml/2006/main">
            <a:off x="2641600" y="4305300"/>
            <a:ext cx="5892800" cy="16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263632"/>
                </a:solidFill>
                <a:latin typeface="Noto Sans"/>
                <a:ea typeface="Noto Sans"/>
                <a:cs typeface="Noto Sans"/>
              </a:defRPr>
            </a:pPr>
            <a:r>
              <a:rPr sz="900" b="0" i="0">
                <a:solidFill>
                  <a:srgbClr val="263632"/>
                </a:solidFill>
                <a:latin typeface="Noto Sans"/>
                <a:ea typeface="Noto Sans"/>
                <a:cs typeface="Noto Sans"/>
              </a:rPr>
              <a:t>puede descargar descargar en</a:t>
            </a:r>
          </a:p>
        </p:txBody>
      </p:sp>
      <p:sp>
        <p:nvSpPr>
          <p:cNvPr id="41" name="LEGALES4_GUIA_URL">
            <a:extLst xmlns:a="http://schemas.openxmlformats.org/drawingml/2006/main">
              <a:ext uri="{FF2B5EF4-FFF2-40B4-BE49-F238E27FC236}">
                <a16:creationId xmlns:a16="http://schemas.microsoft.com/office/drawing/2014/main" id="{C52A0C3B-A20C-4832-B603-BCE400EABB22}"/>
              </a:ext>
            </a:extLst>
          </p:cNvPr>
          <p:cNvSpPr>
            <a:spLocks xmlns:a="http://schemas.openxmlformats.org/drawingml/2006/main" noGrp="1"/>
          </p:cNvSpPr>
          <p:nvPr/>
        </p:nvSpPr>
        <p:spPr>
          <a:xfrm xmlns:a="http://schemas.openxmlformats.org/drawingml/2006/main">
            <a:off x="2641600" y="4514850"/>
            <a:ext cx="5892800" cy="1498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0">
                <a:solidFill>
                  <a:srgbClr val="263632"/>
                </a:solidFill>
                <a:latin typeface="Noto Sans"/>
                <a:ea typeface="Noto Sans"/>
                <a:cs typeface="Noto Sans"/>
              </a:defRPr>
            </a:pPr>
            <a:r>
              <a:rPr sz="780" b="0">
                <a:solidFill>
                  <a:srgbClr val="0563C1"/>
                </a:solidFill>
                <a:latin typeface="Noto Sans"/>
                <a:ea typeface="Noto Sans"/>
                <a:cs typeface="Noto Sans"/>
              </a:rPr>
              <a:t>https://www.nielsenibope.com/wp-content/uploads/sites/14/2020/08/Gui%CC%81a-de-uso-de-datos-NIM-2020.pdf.</a:t>
            </a:r>
          </a:p>
        </p:txBody>
      </p:sp>
      <p:sp>
        <p:nvSpPr>
          <p:cNvPr id="42" name="ANUARIO_PAGE_NUMBER">
            <a:extLst xmlns:a="http://schemas.openxmlformats.org/drawingml/2006/main">
              <a:ext uri="{FF2B5EF4-FFF2-40B4-BE49-F238E27FC236}">
                <a16:creationId xmlns:a16="http://schemas.microsoft.com/office/drawing/2014/main" id="{5C91B7AE-F9BD-44FE-9937-30F1D992363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4</a:t>
            </a:r>
          </a:p>
        </p:txBody>
      </p:sp>
      <p:sp>
        <p:nvSpPr>
          <p:cNvPr id="43" name="ANUARIO_EDICION_PIE">
            <a:extLst xmlns:a="http://schemas.openxmlformats.org/drawingml/2006/main">
              <a:ext uri="{FF2B5EF4-FFF2-40B4-BE49-F238E27FC236}">
                <a16:creationId xmlns:a16="http://schemas.microsoft.com/office/drawing/2014/main" id="{4425BAD9-5900-410A-BDC4-160413889A7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62102921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d0c2a94fb7504565"/>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b21366084f1421c"/>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30bbdc5925644f1f"/>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A52027BC-6A47-44A1-AAA5-072193A5651E}"/>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ECE57C74-B73B-4552-96C1-368EF002ADA5}"/>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CD640ADB-FF74-4F25-BE94-FCCC658AC292}"/>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063e77096b704b59"/>
              </a:rPr>
              <a:t>BIT CRT · bit.crt.gob.mx/BitWebApp</a:t>
            </a:r>
          </a:p>
        </p:txBody>
      </p:sp>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BARD</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DE</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GOOGLE: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23" name="GLOSARIO_left_2_2">
            <a:extLst xmlns:a="http://schemas.openxmlformats.org/drawingml/2006/main">
              <a:ext uri="{FF2B5EF4-FFF2-40B4-BE49-F238E27FC236}">
                <a16:creationId xmlns:a16="http://schemas.microsoft.com/office/drawing/2014/main" id="{EEC876AC-76F1-4063-9597-B1F5984C4BEC}"/>
              </a:ext>
            </a:extLst>
          </p:cNvPr>
          <p:cNvSpPr>
            <a:spLocks xmlns:a="http://schemas.openxmlformats.org/drawingml/2006/main" noGrp="1"/>
          </p:cNvSpPr>
          <p:nvPr/>
        </p:nvSpPr>
        <p:spPr>
          <a:xfrm xmlns:a="http://schemas.openxmlformats.org/drawingml/2006/main">
            <a:off x="2742844" y="18465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Google</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Planeación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Estratégica</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85e1c9945e94a7e"/>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d1fc5a8caa9402d"/>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902198852794fa7"/>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F883BFF5-67ED-47FC-8BA7-E4E07EBD6368}"/>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14057280-D4CF-4514-A2FF-CEDF5C793794}"/>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B8EF6B10-EFC3-4432-AAE9-52BE2B4C4B0B}"/>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bf38f4683d754baf"/>
              </a:rPr>
              <a:t>BIT CRT · bit.crt.gob.mx/BitWebApp</a:t>
            </a:r>
          </a:p>
        </p:txBody>
      </p:sp>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6</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ab0adeb70d7b4625"/>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8_QR_FONDO">
            <a:extLst xmlns:a="http://schemas.openxmlformats.org/drawingml/2006/main">
              <a:ext uri="{FF2B5EF4-FFF2-40B4-BE49-F238E27FC236}">
                <a16:creationId xmlns:a16="http://schemas.microsoft.com/office/drawing/2014/main" id="{6C171A84-A6B9-4E34-849A-B13DB2FC9A31}"/>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f2cbbb30dda405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4d12f4a07a004500"/>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INTRO8_ENCABEZADO_0">
            <a:extLst xmlns:a="http://schemas.openxmlformats.org/drawingml/2006/main">
              <a:ext uri="{FF2B5EF4-FFF2-40B4-BE49-F238E27FC236}">
                <a16:creationId xmlns:a16="http://schemas.microsoft.com/office/drawing/2014/main" id="{2086B35C-CC9A-4539-9BE8-B6BF92A7A8A8}"/>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7" name="INTRO8_ENCABEZADO_1">
            <a:extLst xmlns:a="http://schemas.openxmlformats.org/drawingml/2006/main">
              <a:ext uri="{FF2B5EF4-FFF2-40B4-BE49-F238E27FC236}">
                <a16:creationId xmlns:a16="http://schemas.microsoft.com/office/drawing/2014/main" id="{35EB97AC-FD4D-4190-A884-228E8ADF1338}"/>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 name="INTRO8_ENCABEZADO_2">
            <a:extLst xmlns:a="http://schemas.openxmlformats.org/drawingml/2006/main">
              <a:ext uri="{FF2B5EF4-FFF2-40B4-BE49-F238E27FC236}">
                <a16:creationId xmlns:a16="http://schemas.microsoft.com/office/drawing/2014/main" id="{D3387CBA-FF9E-4760-86D9-A567A5A929A8}"/>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e3103bf1d6a40b8"/>
              </a:rPr>
              <a:t>BIT CRT · bit.crt.gob.mx/BitWebApp</a:t>
            </a:r>
          </a:p>
        </p:txBody>
      </p:sp>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Planeación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Estratégica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8</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a:t>
            </a:r>
          </a:p>
        </p:txBody>
      </p:sp>
      <p:sp>
        <p:nvSpPr>
          <p:cNvPr id="227" name="ANUARIO_REFERENCIA_2024_P9_L001"/>
          <p:cNvSpPr txBox="1"/>
          <p:nvPr/>
        </p:nvSpPr>
        <p:spPr>
          <a:xfrm>
            <a:off x="414572" y="880944"/>
            <a:ext cx="1699589"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ECONÓMICOS</a:t>
            </a:r>
          </a:p>
        </p:txBody>
      </p:sp>
      <p:sp>
        <p:nvSpPr>
          <p:cNvPr id="228" name="ANUARIO_REFERENCIA_2024_P9_L002"/>
          <p:cNvSpPr txBox="1"/>
          <p:nvPr/>
        </p:nvSpPr>
        <p:spPr>
          <a:xfrm>
            <a:off x="414572" y="2734668"/>
            <a:ext cx="167941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ESPECTRO RADIOELÉCTRICO</a:t>
            </a:r>
          </a:p>
        </p:txBody>
      </p:sp>
      <p:sp>
        <p:nvSpPr>
          <p:cNvPr id="229" name="ANUARIO_REFERENCIA_2024_P9_L003"/>
          <p:cNvSpPr txBox="1"/>
          <p:nvPr/>
        </p:nvSpPr>
        <p:spPr>
          <a:xfrm>
            <a:off x="4608465" y="615362"/>
            <a:ext cx="273724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MÓVILES DE TELECOMUNICACIONES</a:t>
            </a:r>
          </a:p>
        </p:txBody>
      </p:sp>
      <p:sp>
        <p:nvSpPr>
          <p:cNvPr id="230" name="ANUARIO_REFERENCIA_2024_P9_L004"/>
          <p:cNvSpPr txBox="1"/>
          <p:nvPr/>
        </p:nvSpPr>
        <p:spPr>
          <a:xfrm>
            <a:off x="414572" y="3698229"/>
            <a:ext cx="11767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diciembre de 2023.</a:t>
            </a:r>
          </a:p>
        </p:txBody>
      </p:sp>
      <p:sp>
        <p:nvSpPr>
          <p:cNvPr id="231" name="ANUARIO_REFERENCIA_2024_P9_L005"/>
          <p:cNvSpPr txBox="1"/>
          <p:nvPr/>
        </p:nvSpPr>
        <p:spPr>
          <a:xfrm>
            <a:off x="432631" y="3884559"/>
            <a:ext cx="2042043"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CONSUMO DE RADIO Y TELEVISIÓN</a:t>
            </a:r>
          </a:p>
        </p:txBody>
      </p:sp>
      <p:sp>
        <p:nvSpPr>
          <p:cNvPr id="232" name="ANUARIO_REFERENCIA_2024_P9_L006"/>
          <p:cNvSpPr txBox="1"/>
          <p:nvPr/>
        </p:nvSpPr>
        <p:spPr>
          <a:xfrm>
            <a:off x="433022" y="4277571"/>
            <a:ext cx="263522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proporción de personas que escucharon la radio alcanzó su máximo </a:t>
            </a:r>
          </a:p>
        </p:txBody>
      </p:sp>
      <p:sp>
        <p:nvSpPr>
          <p:cNvPr id="233" name="ANUARIO_REFERENCIA_2024_P9_L007"/>
          <p:cNvSpPr txBox="1"/>
          <p:nvPr/>
        </p:nvSpPr>
        <p:spPr>
          <a:xfrm>
            <a:off x="433022" y="4359284"/>
            <a:ext cx="124827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entre las </a:t>
            </a:r>
            <a:r>
              <a:rPr sz="688" b="1" i="0">
                <a:solidFill>
                  <a:srgbClr val="1C2829"/>
                </a:solidFill>
                <a:latin typeface="Noto Sans"/>
              </a:rPr>
              <a:t>9 y 10 de la mañana</a:t>
            </a:r>
            <a:r>
              <a:rPr sz="602" b="0" i="0">
                <a:solidFill>
                  <a:srgbClr val="1C2829"/>
                </a:solidFill>
                <a:latin typeface="Noto Sans"/>
              </a:rPr>
              <a:t>.</a:t>
            </a:r>
          </a:p>
        </p:txBody>
      </p:sp>
      <p:sp>
        <p:nvSpPr>
          <p:cNvPr id="234" name="ANUARIO_REFERENCIA_2024_P9_L008"/>
          <p:cNvSpPr txBox="1"/>
          <p:nvPr/>
        </p:nvSpPr>
        <p:spPr>
          <a:xfrm>
            <a:off x="433022" y="4129602"/>
            <a:ext cx="903825"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Escucharon la radio</a:t>
            </a:r>
          </a:p>
        </p:txBody>
      </p:sp>
      <p:sp>
        <p:nvSpPr>
          <p:cNvPr id="235" name="ANUARIO_REFERENCIA_2024_P9_L009"/>
          <p:cNvSpPr txBox="1"/>
          <p:nvPr/>
        </p:nvSpPr>
        <p:spPr>
          <a:xfrm>
            <a:off x="2840005" y="3042630"/>
            <a:ext cx="1534005"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774" b="1" i="0">
                <a:solidFill>
                  <a:srgbClr val="1C2829"/>
                </a:solidFill>
                <a:latin typeface="Noto Sans"/>
              </a:rPr>
              <a:t>21.7%</a:t>
            </a:r>
            <a:r>
              <a:rPr sz="602" b="0" i="0">
                <a:solidFill>
                  <a:srgbClr val="1C2829"/>
                </a:solidFill>
                <a:latin typeface="Noto Sans"/>
              </a:rPr>
              <a:t> del espectro radioeléctrico es</a:t>
            </a:r>
          </a:p>
        </p:txBody>
      </p:sp>
      <p:sp>
        <p:nvSpPr>
          <p:cNvPr id="236" name="ANUARIO_REFERENCIA_2024_P9_L010"/>
          <p:cNvSpPr txBox="1"/>
          <p:nvPr/>
        </p:nvSpPr>
        <p:spPr>
          <a:xfrm>
            <a:off x="2840007" y="3145182"/>
            <a:ext cx="1465037"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asignado a la banda de </a:t>
            </a:r>
            <a:r>
              <a:rPr sz="774" b="1" i="0">
                <a:solidFill>
                  <a:srgbClr val="1C2829"/>
                </a:solidFill>
                <a:latin typeface="Noto Sans"/>
              </a:rPr>
              <a:t>2,500 MHz</a:t>
            </a:r>
            <a:r>
              <a:rPr sz="602" b="0" i="0">
                <a:solidFill>
                  <a:srgbClr val="1C2829"/>
                </a:solidFill>
                <a:latin typeface="Noto Sans"/>
              </a:rPr>
              <a:t>.</a:t>
            </a:r>
          </a:p>
        </p:txBody>
      </p:sp>
      <p:sp>
        <p:nvSpPr>
          <p:cNvPr id="237" name="ANUARIO_REFERENCIA_2024_P9_L011"/>
          <p:cNvSpPr txBox="1"/>
          <p:nvPr/>
        </p:nvSpPr>
        <p:spPr>
          <a:xfrm>
            <a:off x="4741980" y="4285737"/>
            <a:ext cx="265130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Por su parte, el mayor porcentaje de personas viendo la televisión se </a:t>
            </a:r>
          </a:p>
        </p:txBody>
      </p:sp>
      <p:sp>
        <p:nvSpPr>
          <p:cNvPr id="238" name="ANUARIO_REFERENCIA_2024_P9_L012"/>
          <p:cNvSpPr txBox="1"/>
          <p:nvPr/>
        </p:nvSpPr>
        <p:spPr>
          <a:xfrm>
            <a:off x="4741980" y="4367423"/>
            <a:ext cx="1463850"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alcanzó entre las </a:t>
            </a:r>
            <a:r>
              <a:rPr sz="688" b="1" i="0">
                <a:solidFill>
                  <a:srgbClr val="1C2829"/>
                </a:solidFill>
                <a:latin typeface="Noto Sans"/>
              </a:rPr>
              <a:t>9 y 10 de la noche</a:t>
            </a:r>
            <a:r>
              <a:rPr sz="602" b="0" i="0">
                <a:solidFill>
                  <a:srgbClr val="1C2829"/>
                </a:solidFill>
                <a:latin typeface="Noto Sans"/>
              </a:rPr>
              <a:t>.</a:t>
            </a:r>
          </a:p>
        </p:txBody>
      </p:sp>
      <p:sp>
        <p:nvSpPr>
          <p:cNvPr id="239" name="ANUARIO_REFERENCIA_2024_P9_L013"/>
          <p:cNvSpPr txBox="1"/>
          <p:nvPr/>
        </p:nvSpPr>
        <p:spPr>
          <a:xfrm>
            <a:off x="4741963" y="4129602"/>
            <a:ext cx="893387"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Vieron la televisión</a:t>
            </a:r>
          </a:p>
        </p:txBody>
      </p:sp>
      <p:sp>
        <p:nvSpPr>
          <p:cNvPr id="240" name="ANUARIO_REFERENCIA_2024_P9_L014"/>
          <p:cNvSpPr txBox="1"/>
          <p:nvPr/>
        </p:nvSpPr>
        <p:spPr>
          <a:xfrm>
            <a:off x="432631" y="4601059"/>
            <a:ext cx="674581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El consumo de radio se obtuvo de la base de datos de INRA a través de </a:t>
            </a:r>
            <a:r>
              <a:rPr sz="430" b="0" i="1">
                <a:solidFill>
                  <a:srgbClr val="1C2829"/>
                </a:solidFill>
                <a:latin typeface="Noto Sans"/>
              </a:rPr>
              <a:t>software</a:t>
            </a:r>
            <a:r>
              <a:rPr sz="430" b="0" i="0">
                <a:solidFill>
                  <a:srgbClr val="1C2829"/>
                </a:solidFill>
                <a:latin typeface="Noto Sans"/>
              </a:rPr>
              <a:t> INRAM. El consumo de televisión se obtuvo de la base de datos de Audiencias-</a:t>
            </a:r>
            <a:r>
              <a:rPr sz="430" b="0" i="1">
                <a:solidFill>
                  <a:srgbClr val="1C2829"/>
                </a:solidFill>
                <a:latin typeface="Noto Sans"/>
              </a:rPr>
              <a:t>Ratings</a:t>
            </a:r>
            <a:r>
              <a:rPr sz="430" b="0" i="0">
                <a:solidFill>
                  <a:srgbClr val="1C2829"/>
                </a:solidFill>
                <a:latin typeface="Noto Sans"/>
              </a:rPr>
              <a:t> TV de Nielsen IBOPE, </a:t>
            </a:r>
            <a:r>
              <a:rPr sz="430" b="0" i="1">
                <a:solidFill>
                  <a:srgbClr val="1C2829"/>
                </a:solidFill>
                <a:latin typeface="Noto Sans"/>
              </a:rPr>
              <a:t>software</a:t>
            </a:r>
            <a:r>
              <a:rPr sz="430" b="0" i="0">
                <a:solidFill>
                  <a:srgbClr val="1C2829"/>
                </a:solidFill>
                <a:latin typeface="Noto Sans"/>
              </a:rPr>
              <a:t> de explotación MSS TV. Datos de julio 2023 a junio 2024.</a:t>
            </a:r>
          </a:p>
        </p:txBody>
      </p:sp>
      <p:sp>
        <p:nvSpPr>
          <p:cNvPr id="241" name="ANUARIO_REFERENCIA_2024_P9_L015"/>
          <p:cNvSpPr txBox="1"/>
          <p:nvPr/>
        </p:nvSpPr>
        <p:spPr>
          <a:xfrm>
            <a:off x="487823" y="1132333"/>
            <a:ext cx="286529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2023, los ingresos de las empresas del sector de telecomunicaciones sumaron </a:t>
            </a:r>
          </a:p>
        </p:txBody>
      </p:sp>
      <p:sp>
        <p:nvSpPr>
          <p:cNvPr id="242" name="ANUARIO_REFERENCIA_2024_P9_L016"/>
          <p:cNvSpPr txBox="1"/>
          <p:nvPr/>
        </p:nvSpPr>
        <p:spPr>
          <a:xfrm>
            <a:off x="420206" y="1204180"/>
            <a:ext cx="2914577" cy="149916"/>
          </a:xfrm>
          <a:prstGeom prst="rect">
            <a:avLst/>
          </a:prstGeom>
          <a:noFill/>
        </p:spPr>
        <p:txBody>
          <a:bodyPr wrap="none" anchor="t" lIns="0" rIns="0" tIns="0" bIns="0">
            <a:noAutofit/>
          </a:bodyPr>
          <a:lstStyle/>
          <a:p>
            <a:pPr>
              <a:spcBef>
                <a:spcPts val="0"/>
              </a:spcBef>
              <a:spcAft>
                <a:spcPts val="0"/>
              </a:spcAft>
            </a:pPr>
            <a:r>
              <a:rPr sz="681" b="1" i="0">
                <a:solidFill>
                  <a:srgbClr val="1C2829"/>
                </a:solidFill>
                <a:latin typeface="Noto Sans"/>
              </a:rPr>
              <a:t>$603 mil millones de pesos</a:t>
            </a:r>
            <a:r>
              <a:rPr sz="596" b="0" i="0">
                <a:solidFill>
                  <a:srgbClr val="1C2829"/>
                </a:solidFill>
                <a:latin typeface="Noto Sans"/>
              </a:rPr>
              <a:t>. Lo que representó un crecimiento anual del</a:t>
            </a:r>
            <a:r>
              <a:rPr sz="681" b="1" i="0">
                <a:solidFill>
                  <a:srgbClr val="1C2829"/>
                </a:solidFill>
                <a:latin typeface="Noto Sans"/>
              </a:rPr>
              <a:t>6.8%</a:t>
            </a:r>
            <a:r>
              <a:rPr sz="596" b="0" i="0">
                <a:solidFill>
                  <a:srgbClr val="1C2829"/>
                </a:solidFill>
                <a:latin typeface="Noto Sans"/>
              </a:rPr>
              <a:t>.</a:t>
            </a:r>
          </a:p>
        </p:txBody>
      </p:sp>
      <p:sp>
        <p:nvSpPr>
          <p:cNvPr id="243" name="ANUARIO_REFERENCIA_2024_P9_L017"/>
          <p:cNvSpPr txBox="1"/>
          <p:nvPr/>
        </p:nvSpPr>
        <p:spPr>
          <a:xfrm>
            <a:off x="420212" y="1342406"/>
            <a:ext cx="189825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2023.  </a:t>
            </a:r>
          </a:p>
        </p:txBody>
      </p:sp>
      <p:sp>
        <p:nvSpPr>
          <p:cNvPr id="244" name="ANUARIO_REFERENCIA_2024_P9_L018"/>
          <p:cNvSpPr txBox="1"/>
          <p:nvPr/>
        </p:nvSpPr>
        <p:spPr>
          <a:xfrm>
            <a:off x="488588" y="1523751"/>
            <a:ext cx="2866764" cy="137322"/>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junio de 2024, el PIB de telecomunicaciones y radiodifusión (TyR) fue de </a:t>
            </a:r>
            <a:r>
              <a:rPr sz="681" b="1" i="0">
                <a:solidFill>
                  <a:srgbClr val="1C2829"/>
                </a:solidFill>
                <a:latin typeface="Noto Sans"/>
              </a:rPr>
              <a:t>$404 </a:t>
            </a:r>
          </a:p>
        </p:txBody>
      </p:sp>
      <p:sp>
        <p:nvSpPr>
          <p:cNvPr id="245" name="ANUARIO_REFERENCIA_2024_P9_L019"/>
          <p:cNvSpPr txBox="1"/>
          <p:nvPr/>
        </p:nvSpPr>
        <p:spPr>
          <a:xfrm>
            <a:off x="420972" y="1616048"/>
            <a:ext cx="2796888"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mil millones de pesos</a:t>
            </a:r>
            <a:r>
              <a:rPr sz="602" b="0" i="0">
                <a:solidFill>
                  <a:srgbClr val="1C2829"/>
                </a:solidFill>
                <a:latin typeface="Noto Sans"/>
              </a:rPr>
              <a:t>, lo que representó un crecimiento anual de </a:t>
            </a:r>
            <a:r>
              <a:rPr sz="688" b="1" i="0">
                <a:solidFill>
                  <a:srgbClr val="1C2829"/>
                </a:solidFill>
                <a:latin typeface="Noto Sans"/>
              </a:rPr>
              <a:t>0.4%</a:t>
            </a:r>
            <a:r>
              <a:rPr sz="602" b="0" i="0">
                <a:solidFill>
                  <a:srgbClr val="1C2829"/>
                </a:solidFill>
                <a:latin typeface="Noto Sans"/>
              </a:rPr>
              <a:t>.</a:t>
            </a:r>
          </a:p>
        </p:txBody>
      </p:sp>
      <p:sp>
        <p:nvSpPr>
          <p:cNvPr id="246" name="ANUARIO_REFERENCIA_2024_P9_L020"/>
          <p:cNvSpPr txBox="1"/>
          <p:nvPr/>
        </p:nvSpPr>
        <p:spPr>
          <a:xfrm>
            <a:off x="420212" y="1742127"/>
            <a:ext cx="136014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del INEGI.  </a:t>
            </a:r>
          </a:p>
        </p:txBody>
      </p:sp>
      <p:sp>
        <p:nvSpPr>
          <p:cNvPr id="247" name="ANUARIO_REFERENCIA_2024_P9_L021"/>
          <p:cNvSpPr txBox="1"/>
          <p:nvPr/>
        </p:nvSpPr>
        <p:spPr>
          <a:xfrm>
            <a:off x="1188917" y="1923470"/>
            <a:ext cx="3212746"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junio de 2024, el </a:t>
            </a:r>
            <a:r>
              <a:rPr sz="688" b="1" i="0">
                <a:solidFill>
                  <a:srgbClr val="1C2829"/>
                </a:solidFill>
                <a:latin typeface="Noto Sans"/>
              </a:rPr>
              <a:t>82%</a:t>
            </a:r>
            <a:r>
              <a:rPr sz="602" b="0" i="0">
                <a:solidFill>
                  <a:srgbClr val="1C2829"/>
                </a:solidFill>
                <a:latin typeface="Noto Sans"/>
              </a:rPr>
              <a:t> de los empleos pertenecieron al sector de telecomunicaciones </a:t>
            </a:r>
          </a:p>
        </p:txBody>
      </p:sp>
      <p:sp>
        <p:nvSpPr>
          <p:cNvPr id="248" name="ANUARIO_REFERENCIA_2024_P9_L022"/>
          <p:cNvSpPr txBox="1"/>
          <p:nvPr/>
        </p:nvSpPr>
        <p:spPr>
          <a:xfrm>
            <a:off x="1121308" y="2015767"/>
            <a:ext cx="110398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y el </a:t>
            </a:r>
            <a:r>
              <a:rPr sz="688" b="1" i="0">
                <a:solidFill>
                  <a:srgbClr val="1C2829"/>
                </a:solidFill>
                <a:latin typeface="Noto Sans"/>
              </a:rPr>
              <a:t>18%</a:t>
            </a:r>
            <a:r>
              <a:rPr sz="602" b="0" i="0">
                <a:solidFill>
                  <a:srgbClr val="1C2829"/>
                </a:solidFill>
                <a:latin typeface="Noto Sans"/>
              </a:rPr>
              <a:t> al de radiodifusión.</a:t>
            </a:r>
          </a:p>
        </p:txBody>
      </p:sp>
      <p:sp>
        <p:nvSpPr>
          <p:cNvPr id="249" name="ANUARIO_REFERENCIA_2024_P9_L023"/>
          <p:cNvSpPr txBox="1"/>
          <p:nvPr/>
        </p:nvSpPr>
        <p:spPr>
          <a:xfrm>
            <a:off x="1122022" y="2136365"/>
            <a:ext cx="156817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 la ENOE- INEGI.  </a:t>
            </a:r>
          </a:p>
        </p:txBody>
      </p:sp>
      <p:sp>
        <p:nvSpPr>
          <p:cNvPr id="250" name="ANUARIO_REFERENCIA_2024_P9_L024"/>
          <p:cNvSpPr txBox="1"/>
          <p:nvPr/>
        </p:nvSpPr>
        <p:spPr>
          <a:xfrm>
            <a:off x="1188917" y="2319529"/>
            <a:ext cx="321324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De junio de 2013 a julio de 2024, los precios de comunicaciones en su conjunto </a:t>
            </a:r>
          </a:p>
        </p:txBody>
      </p:sp>
      <p:sp>
        <p:nvSpPr>
          <p:cNvPr id="251" name="ANUARIO_REFERENCIA_2024_P9_L025"/>
          <p:cNvSpPr txBox="1"/>
          <p:nvPr/>
        </p:nvSpPr>
        <p:spPr>
          <a:xfrm>
            <a:off x="1121312" y="2401242"/>
            <a:ext cx="2621327"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disminuyeron </a:t>
            </a:r>
            <a:r>
              <a:rPr sz="688" b="1" i="0">
                <a:solidFill>
                  <a:srgbClr val="1C2829"/>
                </a:solidFill>
                <a:latin typeface="Noto Sans"/>
              </a:rPr>
              <a:t>49.3%</a:t>
            </a:r>
            <a:r>
              <a:rPr sz="602" b="0" i="0">
                <a:solidFill>
                  <a:srgbClr val="1C2829"/>
                </a:solidFill>
                <a:latin typeface="Noto Sans"/>
              </a:rPr>
              <a:t>, mientras que la inflación general fue de </a:t>
            </a:r>
            <a:r>
              <a:rPr sz="688" b="1" i="0">
                <a:solidFill>
                  <a:srgbClr val="1C2829"/>
                </a:solidFill>
                <a:latin typeface="Noto Sans"/>
              </a:rPr>
              <a:t>66.6%</a:t>
            </a:r>
            <a:r>
              <a:rPr sz="602" b="0" i="0">
                <a:solidFill>
                  <a:srgbClr val="1C2829"/>
                </a:solidFill>
                <a:latin typeface="Noto Sans"/>
              </a:rPr>
              <a:t>.</a:t>
            </a:r>
          </a:p>
        </p:txBody>
      </p:sp>
      <p:sp>
        <p:nvSpPr>
          <p:cNvPr id="252" name="ANUARIO_REFERENCIA_2024_P9_L026"/>
          <p:cNvSpPr txBox="1"/>
          <p:nvPr/>
        </p:nvSpPr>
        <p:spPr>
          <a:xfrm>
            <a:off x="1121300" y="2523768"/>
            <a:ext cx="13021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julio de 2024, del INEGI.</a:t>
            </a:r>
          </a:p>
        </p:txBody>
      </p:sp>
      <p:sp>
        <p:nvSpPr>
          <p:cNvPr id="253" name="ANUARIO_REFERENCIA_2024_P9_L027"/>
          <p:cNvSpPr txBox="1"/>
          <p:nvPr/>
        </p:nvSpPr>
        <p:spPr>
          <a:xfrm>
            <a:off x="456304" y="3022002"/>
            <a:ext cx="152899"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0Hz</a:t>
            </a:r>
          </a:p>
        </p:txBody>
      </p:sp>
      <p:sp>
        <p:nvSpPr>
          <p:cNvPr id="254" name="ANUARIO_REFERENCIA_2024_P9_L028"/>
          <p:cNvSpPr txBox="1"/>
          <p:nvPr/>
        </p:nvSpPr>
        <p:spPr>
          <a:xfrm>
            <a:off x="717483" y="3022002"/>
            <a:ext cx="170956"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50Hz</a:t>
            </a:r>
          </a:p>
        </p:txBody>
      </p:sp>
      <p:sp>
        <p:nvSpPr>
          <p:cNvPr id="255" name="ANUARIO_REFERENCIA_2024_P9_L029"/>
          <p:cNvSpPr txBox="1"/>
          <p:nvPr/>
        </p:nvSpPr>
        <p:spPr>
          <a:xfrm>
            <a:off x="960804" y="3022002"/>
            <a:ext cx="169797"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3KHz</a:t>
            </a:r>
          </a:p>
        </p:txBody>
      </p:sp>
      <p:sp>
        <p:nvSpPr>
          <p:cNvPr id="256" name="ANUARIO_REFERENCIA_2024_P9_L030"/>
          <p:cNvSpPr txBox="1"/>
          <p:nvPr/>
        </p:nvSpPr>
        <p:spPr>
          <a:xfrm>
            <a:off x="1605286" y="3022002"/>
            <a:ext cx="216778"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300GHz</a:t>
            </a:r>
          </a:p>
        </p:txBody>
      </p:sp>
      <p:sp>
        <p:nvSpPr>
          <p:cNvPr id="257" name="ANUARIO_REFERENCIA_2024_P9_L031"/>
          <p:cNvSpPr txBox="1"/>
          <p:nvPr/>
        </p:nvSpPr>
        <p:spPr>
          <a:xfrm>
            <a:off x="1225925" y="3022002"/>
            <a:ext cx="33099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Radiofrecuencia</a:t>
            </a:r>
          </a:p>
        </p:txBody>
      </p:sp>
      <p:sp>
        <p:nvSpPr>
          <p:cNvPr id="258" name="ANUARIO_REFERENCIA_2024_P9_L032"/>
          <p:cNvSpPr txBox="1"/>
          <p:nvPr/>
        </p:nvSpPr>
        <p:spPr>
          <a:xfrm>
            <a:off x="1984382" y="3022002"/>
            <a:ext cx="23838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3,000THz</a:t>
            </a:r>
          </a:p>
        </p:txBody>
      </p:sp>
      <p:sp>
        <p:nvSpPr>
          <p:cNvPr id="259" name="ANUARIO_REFERENCIA_2024_P9_L033"/>
          <p:cNvSpPr txBox="1"/>
          <p:nvPr/>
        </p:nvSpPr>
        <p:spPr>
          <a:xfrm>
            <a:off x="2509920" y="3022002"/>
            <a:ext cx="188715"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30EHz</a:t>
            </a:r>
          </a:p>
        </p:txBody>
      </p:sp>
      <p:sp>
        <p:nvSpPr>
          <p:cNvPr id="260" name="ANUARIO_REFERENCIA_2024_P9_L034"/>
          <p:cNvSpPr txBox="1"/>
          <p:nvPr/>
        </p:nvSpPr>
        <p:spPr>
          <a:xfrm>
            <a:off x="5334798" y="815147"/>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diciembre de 2023, se tuvieron </a:t>
            </a:r>
            <a:r>
              <a:rPr sz="688" b="1" i="0">
                <a:solidFill>
                  <a:srgbClr val="1C2829"/>
                </a:solidFill>
                <a:latin typeface="Noto Sans"/>
              </a:rPr>
              <a:t>110 líneas</a:t>
            </a:r>
            <a:r>
              <a:rPr sz="602" b="0" i="0">
                <a:solidFill>
                  <a:srgbClr val="1C2829"/>
                </a:solidFill>
                <a:latin typeface="Noto Sans"/>
              </a:rPr>
              <a:t> del servicio móvil de telefonía por cada 100 </a:t>
            </a:r>
          </a:p>
        </p:txBody>
      </p:sp>
      <p:sp>
        <p:nvSpPr>
          <p:cNvPr id="261" name="ANUARIO_REFERENCIA_2024_P9_L035"/>
          <p:cNvSpPr txBox="1"/>
          <p:nvPr/>
        </p:nvSpPr>
        <p:spPr>
          <a:xfrm>
            <a:off x="5334815" y="918047"/>
            <a:ext cx="48831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habitantes.</a:t>
            </a:r>
          </a:p>
        </p:txBody>
      </p:sp>
      <p:sp>
        <p:nvSpPr>
          <p:cNvPr id="262" name="ANUARIO_REFERENCIA_2024_P9_L036"/>
          <p:cNvSpPr txBox="1"/>
          <p:nvPr/>
        </p:nvSpPr>
        <p:spPr>
          <a:xfrm>
            <a:off x="5334798" y="103482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63" name="ANUARIO_REFERENCIA_2024_P9_L037"/>
          <p:cNvSpPr txBox="1"/>
          <p:nvPr/>
        </p:nvSpPr>
        <p:spPr>
          <a:xfrm>
            <a:off x="5334798" y="1096360"/>
            <a:ext cx="39441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64" name="ANUARIO_REFERENCIA_2024_P9_L038"/>
          <p:cNvSpPr txBox="1"/>
          <p:nvPr/>
        </p:nvSpPr>
        <p:spPr>
          <a:xfrm>
            <a:off x="5334798" y="132914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el </a:t>
            </a:r>
            <a:r>
              <a:rPr sz="688" b="1" i="0">
                <a:solidFill>
                  <a:srgbClr val="1C2829"/>
                </a:solidFill>
                <a:latin typeface="Noto Sans"/>
              </a:rPr>
              <a:t>29.6%</a:t>
            </a:r>
            <a:r>
              <a:rPr sz="602" b="0" i="0">
                <a:solidFill>
                  <a:srgbClr val="1C2829"/>
                </a:solidFill>
                <a:latin typeface="Noto Sans"/>
              </a:rPr>
              <a:t> de las MiPymes contrató el servicio de telefonía móvil y el </a:t>
            </a:r>
            <a:r>
              <a:rPr sz="688" b="1" i="0">
                <a:solidFill>
                  <a:srgbClr val="1C2829"/>
                </a:solidFill>
                <a:latin typeface="Noto Sans"/>
              </a:rPr>
              <a:t>19.6%</a:t>
            </a:r>
            <a:r>
              <a:rPr sz="602" b="0" i="0">
                <a:solidFill>
                  <a:srgbClr val="1C2829"/>
                </a:solidFill>
                <a:latin typeface="Noto Sans"/>
              </a:rPr>
              <a:t> contrató </a:t>
            </a:r>
          </a:p>
        </p:txBody>
      </p:sp>
      <p:sp>
        <p:nvSpPr>
          <p:cNvPr id="265" name="ANUARIO_REFERENCIA_2024_P9_L039"/>
          <p:cNvSpPr txBox="1"/>
          <p:nvPr/>
        </p:nvSpPr>
        <p:spPr>
          <a:xfrm>
            <a:off x="5334800" y="1426876"/>
            <a:ext cx="339771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conexión a Internet por datos móviles (telefonía móvil). Ambos servicios les permiten tener </a:t>
            </a:r>
          </a:p>
        </p:txBody>
      </p:sp>
      <p:sp>
        <p:nvSpPr>
          <p:cNvPr id="266" name="ANUARIO_REFERENCIA_2024_P9_L040"/>
          <p:cNvSpPr txBox="1"/>
          <p:nvPr/>
        </p:nvSpPr>
        <p:spPr>
          <a:xfrm>
            <a:off x="5334800" y="1514024"/>
            <a:ext cx="1513407"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diferentes beneficios para sus negocios.</a:t>
            </a:r>
          </a:p>
        </p:txBody>
      </p:sp>
      <p:sp>
        <p:nvSpPr>
          <p:cNvPr id="267" name="ANUARIO_REFERENCIA_2024_P9_L041"/>
          <p:cNvSpPr txBox="1"/>
          <p:nvPr/>
        </p:nvSpPr>
        <p:spPr>
          <a:xfrm>
            <a:off x="5334798" y="1630920"/>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68" name="ANUARIO_REFERENCIA_2024_P9_L042"/>
          <p:cNvSpPr txBox="1"/>
          <p:nvPr/>
        </p:nvSpPr>
        <p:spPr>
          <a:xfrm>
            <a:off x="5334798" y="1692451"/>
            <a:ext cx="303122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a:t>
            </a:r>
            <a:r>
              <a:rPr sz="430" b="0" i="0">
                <a:solidFill>
                  <a:srgbClr val="1C2829"/>
                </a:solidFill>
                <a:latin typeface="Noto Sans"/>
              </a:rPr>
              <a:t>s. </a:t>
            </a:r>
          </a:p>
        </p:txBody>
      </p:sp>
      <p:sp>
        <p:nvSpPr>
          <p:cNvPr id="269" name="ANUARIO_REFERENCIA_2024_P9_L043"/>
          <p:cNvSpPr txBox="1"/>
          <p:nvPr/>
        </p:nvSpPr>
        <p:spPr>
          <a:xfrm>
            <a:off x="3312399" y="4395959"/>
            <a:ext cx="35671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8.5%</a:t>
            </a:r>
          </a:p>
        </p:txBody>
      </p:sp>
      <p:sp>
        <p:nvSpPr>
          <p:cNvPr id="270" name="ANUARIO_REFERENCIA_2024_P9_L044"/>
          <p:cNvSpPr txBox="1"/>
          <p:nvPr/>
        </p:nvSpPr>
        <p:spPr>
          <a:xfrm>
            <a:off x="3850351" y="4395959"/>
            <a:ext cx="447155"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11.09%</a:t>
            </a:r>
          </a:p>
        </p:txBody>
      </p:sp>
      <p:sp>
        <p:nvSpPr>
          <p:cNvPr id="271" name="ANUARIO_REFERENCIA_2024_P9_L045"/>
          <p:cNvSpPr txBox="1"/>
          <p:nvPr/>
        </p:nvSpPr>
        <p:spPr>
          <a:xfrm>
            <a:off x="5334798" y="1956658"/>
            <a:ext cx="3397721" cy="137322"/>
          </a:xfrm>
          <a:prstGeom prst="rect">
            <a:avLst/>
          </a:prstGeom>
          <a:noFill/>
        </p:spPr>
        <p:txBody>
          <a:bodyPr wrap="none" anchor="t" lIns="0" rIns="0" tIns="0" bIns="0">
            <a:noAutofit/>
          </a:bodyPr>
          <a:lstStyle/>
          <a:p>
            <a:pPr>
              <a:spcBef>
                <a:spcPts val="0"/>
              </a:spcBef>
              <a:spcAft>
                <a:spcPts val="0"/>
              </a:spcAft>
            </a:pPr>
            <a:r>
              <a:rPr sz="587" b="0" i="0">
                <a:solidFill>
                  <a:srgbClr val="1C2829"/>
                </a:solidFill>
                <a:latin typeface="Noto Sans"/>
              </a:rPr>
              <a:t>La Ciudad de México fue la entidad federativa con el </a:t>
            </a:r>
            <a:r>
              <a:rPr sz="688" b="1" i="0">
                <a:solidFill>
                  <a:srgbClr val="1C2829"/>
                </a:solidFill>
                <a:latin typeface="Noto Sans"/>
              </a:rPr>
              <a:t>mayor número de líneas del servicio </a:t>
            </a:r>
          </a:p>
        </p:txBody>
      </p:sp>
      <p:sp>
        <p:nvSpPr>
          <p:cNvPr id="272" name="ANUARIO_REFERENCIA_2024_P9_L046"/>
          <p:cNvSpPr txBox="1"/>
          <p:nvPr/>
        </p:nvSpPr>
        <p:spPr>
          <a:xfrm>
            <a:off x="5334841" y="2048954"/>
            <a:ext cx="156110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móvil </a:t>
            </a:r>
            <a:r>
              <a:rPr sz="587" b="0" i="0">
                <a:solidFill>
                  <a:srgbClr val="1C2829"/>
                </a:solidFill>
                <a:latin typeface="Noto Sans"/>
              </a:rPr>
              <a:t>de telefonía por cada 100 habitantes.</a:t>
            </a:r>
          </a:p>
        </p:txBody>
      </p:sp>
      <p:sp>
        <p:nvSpPr>
          <p:cNvPr id="273" name="ANUARIO_REFERENCIA_2024_P9_L047"/>
          <p:cNvSpPr txBox="1"/>
          <p:nvPr/>
        </p:nvSpPr>
        <p:spPr>
          <a:xfrm>
            <a:off x="5334798" y="2161430"/>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74" name="ANUARIO_REFERENCIA_2024_P9_L048"/>
          <p:cNvSpPr txBox="1"/>
          <p:nvPr/>
        </p:nvSpPr>
        <p:spPr>
          <a:xfrm>
            <a:off x="5334798" y="2453176"/>
            <a:ext cx="3139033"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servicio móvil de acceso a Internet se tuvieron </a:t>
            </a:r>
            <a:r>
              <a:rPr sz="688" b="1" i="0">
                <a:solidFill>
                  <a:srgbClr val="1C2829"/>
                </a:solidFill>
                <a:latin typeface="Noto Sans"/>
              </a:rPr>
              <a:t>96 líneas</a:t>
            </a:r>
            <a:r>
              <a:rPr sz="602" b="0" i="0">
                <a:solidFill>
                  <a:srgbClr val="1C2829"/>
                </a:solidFill>
                <a:latin typeface="Noto Sans"/>
              </a:rPr>
              <a:t>por cada 100 habitantes.</a:t>
            </a:r>
          </a:p>
        </p:txBody>
      </p:sp>
      <p:sp>
        <p:nvSpPr>
          <p:cNvPr id="275" name="ANUARIO_REFERENCIA_2024_P9_L049"/>
          <p:cNvSpPr txBox="1"/>
          <p:nvPr/>
        </p:nvSpPr>
        <p:spPr>
          <a:xfrm>
            <a:off x="5334798" y="2580415"/>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76" name="ANUARIO_REFERENCIA_2024_P9_L050"/>
          <p:cNvSpPr txBox="1"/>
          <p:nvPr/>
        </p:nvSpPr>
        <p:spPr>
          <a:xfrm>
            <a:off x="5334798" y="2641946"/>
            <a:ext cx="38140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77" name="ANUARIO_REFERENCIA_2024_P9_L051"/>
          <p:cNvSpPr txBox="1"/>
          <p:nvPr/>
        </p:nvSpPr>
        <p:spPr>
          <a:xfrm>
            <a:off x="5334798" y="291255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Chiapas fue la entidad federativa con el </a:t>
            </a:r>
            <a:r>
              <a:rPr sz="688" b="1" i="0">
                <a:solidFill>
                  <a:srgbClr val="1C2829"/>
                </a:solidFill>
                <a:latin typeface="Noto Sans"/>
              </a:rPr>
              <a:t>menor número líneas del servicio móvil</a:t>
            </a:r>
            <a:r>
              <a:rPr sz="602" b="0" i="0">
                <a:solidFill>
                  <a:srgbClr val="1C2829"/>
                </a:solidFill>
                <a:latin typeface="Noto Sans"/>
              </a:rPr>
              <a:t> de acceso </a:t>
            </a:r>
          </a:p>
        </p:txBody>
      </p:sp>
      <p:sp>
        <p:nvSpPr>
          <p:cNvPr id="278" name="ANUARIO_REFERENCIA_2024_P9_L052"/>
          <p:cNvSpPr txBox="1"/>
          <p:nvPr/>
        </p:nvSpPr>
        <p:spPr>
          <a:xfrm>
            <a:off x="5334790" y="3015454"/>
            <a:ext cx="130255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Internet por cada 100 habitantes.</a:t>
            </a:r>
          </a:p>
        </p:txBody>
      </p:sp>
      <p:sp>
        <p:nvSpPr>
          <p:cNvPr id="279" name="ANUARIO_REFERENCIA_2024_P9_L053"/>
          <p:cNvSpPr txBox="1"/>
          <p:nvPr/>
        </p:nvSpPr>
        <p:spPr>
          <a:xfrm>
            <a:off x="5334798" y="3118921"/>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80" name="ANUARIO_REFERENCIA_2024_P9_L054"/>
          <p:cNvSpPr txBox="1"/>
          <p:nvPr/>
        </p:nvSpPr>
        <p:spPr>
          <a:xfrm>
            <a:off x="5334798" y="3386212"/>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62.7%</a:t>
            </a:r>
            <a:r>
              <a:rPr sz="602" b="0" i="0">
                <a:solidFill>
                  <a:srgbClr val="1C2829"/>
                </a:solidFill>
                <a:latin typeface="Noto Sans"/>
              </a:rPr>
              <a:t> de las MiPymes señaló que contar con una aplicación móvil para su empresa o </a:t>
            </a:r>
          </a:p>
        </p:txBody>
      </p:sp>
      <p:sp>
        <p:nvSpPr>
          <p:cNvPr id="281" name="ANUARIO_REFERENCIA_2024_P9_L055"/>
          <p:cNvSpPr txBox="1"/>
          <p:nvPr/>
        </p:nvSpPr>
        <p:spPr>
          <a:xfrm>
            <a:off x="5334787" y="3483944"/>
            <a:ext cx="28296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negocio tiene como beneficio que el contacto con los clientes es más rápido.</a:t>
            </a:r>
          </a:p>
        </p:txBody>
      </p:sp>
      <p:sp>
        <p:nvSpPr>
          <p:cNvPr id="282" name="ANUARIO_REFERENCIA_2024_P9_L056"/>
          <p:cNvSpPr txBox="1"/>
          <p:nvPr/>
        </p:nvSpPr>
        <p:spPr>
          <a:xfrm>
            <a:off x="5334798" y="359049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83" name="ANUARIO_REFERENCIA_2024_P9_L057"/>
          <p:cNvSpPr txBox="1"/>
          <p:nvPr/>
        </p:nvSpPr>
        <p:spPr>
          <a:xfrm>
            <a:off x="5334798" y="3652030"/>
            <a:ext cx="303126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84" name="ANUARIO_REFERENCIA_2024_P9_L058"/>
          <p:cNvSpPr txBox="1"/>
          <p:nvPr/>
        </p:nvSpPr>
        <p:spPr>
          <a:xfrm>
            <a:off x="5334798" y="3713561"/>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85" name="ANUARIO_REFERENCIA_2024_P9_L059"/>
          <p:cNvSpPr txBox="1"/>
          <p:nvPr/>
        </p:nvSpPr>
        <p:spPr>
          <a:xfrm>
            <a:off x="7563964" y="4395954"/>
            <a:ext cx="46769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16.46%</a:t>
            </a:r>
          </a:p>
        </p:txBody>
      </p:sp>
      <p:sp>
        <p:nvSpPr>
          <p:cNvPr id="286" name="ANUARIO_REFERENCIA_2024_P9_L060"/>
          <p:cNvSpPr txBox="1"/>
          <p:nvPr/>
        </p:nvSpPr>
        <p:spPr>
          <a:xfrm>
            <a:off x="8153934" y="4395954"/>
            <a:ext cx="454124"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14.95%</a:t>
            </a:r>
          </a:p>
        </p:txBody>
      </p:sp>
      <p:sp>
        <p:nvSpPr>
          <p:cNvPr id="287" name="ANUARIO_REFERENCIA_2024_P9_L061"/>
          <p:cNvSpPr txBox="1"/>
          <p:nvPr/>
        </p:nvSpPr>
        <p:spPr>
          <a:xfrm>
            <a:off x="3308734" y="3931724"/>
            <a:ext cx="36404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88" name="ANUARIO_REFERENCIA_2024_P9_L062"/>
          <p:cNvSpPr txBox="1"/>
          <p:nvPr/>
        </p:nvSpPr>
        <p:spPr>
          <a:xfrm>
            <a:off x="3872759" y="3931724"/>
            <a:ext cx="402389"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89" name="ANUARIO_REFERENCIA_2024_P9_L063"/>
          <p:cNvSpPr txBox="1"/>
          <p:nvPr/>
        </p:nvSpPr>
        <p:spPr>
          <a:xfrm>
            <a:off x="7615785" y="3931724"/>
            <a:ext cx="364042"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90" name="ANUARIO_REFERENCIA_2024_P9_L064"/>
          <p:cNvSpPr txBox="1"/>
          <p:nvPr/>
        </p:nvSpPr>
        <p:spPr>
          <a:xfrm>
            <a:off x="8179811" y="3931724"/>
            <a:ext cx="40239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121</a:t>
            </a:r>
          </a:p>
        </p:txBody>
      </p:sp>
      <p:sp>
        <p:nvSpPr>
          <p:cNvPr id="225" name="ANUARIO_ANEXO_P121_L001"/>
          <p:cNvSpPr txBox="1"/>
          <p:nvPr/>
        </p:nvSpPr>
        <p:spPr>
          <a:xfrm>
            <a:off x="589682" y="653801"/>
            <a:ext cx="1858873"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 DEFINICIONES</a:t>
            </a:r>
          </a:p>
        </p:txBody>
      </p:sp>
      <p:sp>
        <p:nvSpPr>
          <p:cNvPr id="226" name="ANUARIO_ANEXO_P121_L002"/>
          <p:cNvSpPr txBox="1"/>
          <p:nvPr/>
        </p:nvSpPr>
        <p:spPr>
          <a:xfrm>
            <a:off x="528422" y="1521200"/>
            <a:ext cx="18115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a:t>
            </a:r>
          </a:p>
        </p:txBody>
      </p:sp>
      <p:sp>
        <p:nvSpPr>
          <p:cNvPr id="227" name="ANUARIO_ANEXO_P121_L003"/>
          <p:cNvSpPr txBox="1"/>
          <p:nvPr/>
        </p:nvSpPr>
        <p:spPr>
          <a:xfrm>
            <a:off x="528422" y="1734804"/>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Acceso:</a:t>
            </a:r>
            <a:r>
              <a:rPr sz="640" b="0" i="0">
                <a:solidFill>
                  <a:srgbClr val="1F3031"/>
                </a:solidFill>
                <a:latin typeface="Noto Sans"/>
              </a:rPr>
              <a:t> El conjunto de canales físicos de una Red Pública de Telecomunicaciones, que conecta el </a:t>
            </a:r>
          </a:p>
        </p:txBody>
      </p:sp>
      <p:sp>
        <p:nvSpPr>
          <p:cNvPr id="228" name="ANUARIO_ANEXO_P121_L004"/>
          <p:cNvSpPr txBox="1"/>
          <p:nvPr/>
        </p:nvSpPr>
        <p:spPr>
          <a:xfrm>
            <a:off x="528422" y="184229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Equipo Terminal en la ubicación del usuario con la instalación del Operador desde la cual se presta </a:t>
            </a:r>
          </a:p>
        </p:txBody>
      </p:sp>
      <p:sp>
        <p:nvSpPr>
          <p:cNvPr id="229" name="ANUARIO_ANEXO_P121_L005"/>
          <p:cNvSpPr txBox="1"/>
          <p:nvPr/>
        </p:nvSpPr>
        <p:spPr>
          <a:xfrm>
            <a:off x="528422" y="1949091"/>
            <a:ext cx="41283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servicio al usuario. En el caso de Redes de Acceso Fijo alámbrico se le suele llamar históricamente </a:t>
            </a:r>
          </a:p>
        </p:txBody>
      </p:sp>
      <p:sp>
        <p:nvSpPr>
          <p:cNvPr id="230" name="ANUARIO_ANEXO_P121_L006"/>
          <p:cNvSpPr txBox="1"/>
          <p:nvPr/>
        </p:nvSpPr>
        <p:spPr>
          <a:xfrm>
            <a:off x="528422" y="2055893"/>
            <a:ext cx="30287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bucle local, y en Servicios de Transporte de Voz se le conoce como línea.</a:t>
            </a:r>
          </a:p>
        </p:txBody>
      </p:sp>
      <p:sp>
        <p:nvSpPr>
          <p:cNvPr id="231" name="ANUARIO_ANEXO_P121_L007"/>
          <p:cNvSpPr txBox="1"/>
          <p:nvPr/>
        </p:nvSpPr>
        <p:spPr>
          <a:xfrm>
            <a:off x="528422" y="2268814"/>
            <a:ext cx="1838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t>
            </a:r>
          </a:p>
        </p:txBody>
      </p:sp>
      <p:sp>
        <p:nvSpPr>
          <p:cNvPr id="232" name="ANUARIO_ANEXO_P121_L008"/>
          <p:cNvSpPr txBox="1"/>
          <p:nvPr/>
        </p:nvSpPr>
        <p:spPr>
          <a:xfrm>
            <a:off x="528422" y="2482418"/>
            <a:ext cx="412768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Caricaturas:</a:t>
            </a:r>
            <a:r>
              <a:rPr sz="640" b="0" i="0">
                <a:solidFill>
                  <a:srgbClr val="1F3031"/>
                </a:solidFill>
                <a:latin typeface="Noto Sans"/>
              </a:rPr>
              <a:t> Son todos los programas que están hechos con alguna de las siguientes técnicas: dibujos </a:t>
            </a:r>
          </a:p>
        </p:txBody>
      </p:sp>
      <p:sp>
        <p:nvSpPr>
          <p:cNvPr id="233" name="ANUARIO_ANEXO_P121_L009"/>
          <p:cNvSpPr txBox="1"/>
          <p:nvPr/>
        </p:nvSpPr>
        <p:spPr>
          <a:xfrm>
            <a:off x="528422" y="2589903"/>
            <a:ext cx="41282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animados, plastilina, arcilla (</a:t>
            </a:r>
            <a:r>
              <a:rPr sz="640" b="0" i="1">
                <a:solidFill>
                  <a:srgbClr val="1F3031"/>
                </a:solidFill>
                <a:latin typeface="Noto Sans"/>
              </a:rPr>
              <a:t>stop motion</a:t>
            </a:r>
            <a:r>
              <a:rPr sz="640" b="0" i="0">
                <a:solidFill>
                  <a:srgbClr val="1F3031"/>
                </a:solidFill>
                <a:latin typeface="Noto Sans"/>
              </a:rPr>
              <a:t>), animación vectorial y de tercera dimensión. No deben </a:t>
            </a:r>
          </a:p>
        </p:txBody>
      </p:sp>
      <p:sp>
        <p:nvSpPr>
          <p:cNvPr id="234" name="ANUARIO_ANEXO_P121_L010"/>
          <p:cNvSpPr txBox="1"/>
          <p:nvPr/>
        </p:nvSpPr>
        <p:spPr>
          <a:xfrm>
            <a:off x="528422" y="2696705"/>
            <a:ext cx="272072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considerarse dentro de este género los cortometrajes animados.</a:t>
            </a:r>
          </a:p>
        </p:txBody>
      </p:sp>
      <p:sp>
        <p:nvSpPr>
          <p:cNvPr id="235" name="ANUARIO_ANEXO_P121_L011"/>
          <p:cNvSpPr txBox="1"/>
          <p:nvPr/>
        </p:nvSpPr>
        <p:spPr>
          <a:xfrm>
            <a:off x="528422" y="2909625"/>
            <a:ext cx="412778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Cómico:</a:t>
            </a:r>
            <a:r>
              <a:rPr sz="640" b="0" i="0">
                <a:solidFill>
                  <a:srgbClr val="1F3031"/>
                </a:solidFill>
                <a:latin typeface="Noto Sans"/>
              </a:rPr>
              <a:t> Programa cuyo contenido está enfocado al esparcimiento de la audiencia, al manejar </a:t>
            </a:r>
          </a:p>
        </p:txBody>
      </p:sp>
      <p:sp>
        <p:nvSpPr>
          <p:cNvPr id="236" name="ANUARIO_ANEXO_P121_L012"/>
          <p:cNvSpPr txBox="1"/>
          <p:nvPr/>
        </p:nvSpPr>
        <p:spPr>
          <a:xfrm>
            <a:off x="528422" y="3017111"/>
            <a:ext cx="37222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cuadros cómicos, chistes, cuentos y cualquier otro elemento que intente provocar la risa. </a:t>
            </a:r>
          </a:p>
        </p:txBody>
      </p:sp>
      <p:sp>
        <p:nvSpPr>
          <p:cNvPr id="237" name="ANUARIO_ANEXO_P121_L013"/>
          <p:cNvSpPr txBox="1"/>
          <p:nvPr/>
        </p:nvSpPr>
        <p:spPr>
          <a:xfrm>
            <a:off x="528422" y="3230031"/>
            <a:ext cx="412796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Concurso:</a:t>
            </a:r>
            <a:r>
              <a:rPr sz="640" b="0" i="0">
                <a:solidFill>
                  <a:srgbClr val="1F3031"/>
                </a:solidFill>
                <a:latin typeface="Noto Sans"/>
              </a:rPr>
              <a:t> Formato de programa en el que los participantes realizan una serie de actividades en </a:t>
            </a:r>
          </a:p>
        </p:txBody>
      </p:sp>
      <p:sp>
        <p:nvSpPr>
          <p:cNvPr id="238" name="ANUARIO_ANEXO_P121_L014"/>
          <p:cNvSpPr txBox="1"/>
          <p:nvPr/>
        </p:nvSpPr>
        <p:spPr>
          <a:xfrm>
            <a:off x="528422" y="3337517"/>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busca de superar a sus rivales. Un concurso puede hacer competir tanto a individuos, como a grupos </a:t>
            </a:r>
          </a:p>
        </p:txBody>
      </p:sp>
      <p:sp>
        <p:nvSpPr>
          <p:cNvPr id="239" name="ANUARIO_ANEXO_P121_L015"/>
          <p:cNvSpPr txBox="1"/>
          <p:nvPr/>
        </p:nvSpPr>
        <p:spPr>
          <a:xfrm>
            <a:off x="528422" y="3444318"/>
            <a:ext cx="29960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y/o instituciones privadas o públicas, y pueden o no obtenerse premios.</a:t>
            </a:r>
          </a:p>
        </p:txBody>
      </p:sp>
      <p:sp>
        <p:nvSpPr>
          <p:cNvPr id="240" name="ANUARIO_ANEXO_P121_L016"/>
          <p:cNvSpPr txBox="1"/>
          <p:nvPr/>
        </p:nvSpPr>
        <p:spPr>
          <a:xfrm>
            <a:off x="528422" y="3657239"/>
            <a:ext cx="412823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Cultural:</a:t>
            </a:r>
            <a:r>
              <a:rPr sz="640" b="0" i="0">
                <a:solidFill>
                  <a:srgbClr val="1F3031"/>
                </a:solidFill>
                <a:latin typeface="Noto Sans"/>
              </a:rPr>
              <a:t> Programación que presenta las formas y expresiones de una sociedad. Su contenido </a:t>
            </a:r>
          </a:p>
        </p:txBody>
      </p:sp>
      <p:sp>
        <p:nvSpPr>
          <p:cNvPr id="241" name="ANUARIO_ANEXO_P121_L017"/>
          <p:cNvSpPr txBox="1"/>
          <p:nvPr/>
        </p:nvSpPr>
        <p:spPr>
          <a:xfrm>
            <a:off x="528422" y="3764724"/>
            <a:ext cx="412803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 referente a los siguientes temas artísticos: arquitectura, danza, escultura, literatura, ópera, </a:t>
            </a:r>
          </a:p>
        </p:txBody>
      </p:sp>
      <p:sp>
        <p:nvSpPr>
          <p:cNvPr id="242" name="ANUARIO_ANEXO_P121_L018"/>
          <p:cNvSpPr txBox="1"/>
          <p:nvPr/>
        </p:nvSpPr>
        <p:spPr>
          <a:xfrm>
            <a:off x="528422" y="3871526"/>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pintura, teatro, museos, exposiciones; sociales: académicos, científicos, históricos, gastronómicos, </a:t>
            </a:r>
          </a:p>
        </p:txBody>
      </p:sp>
      <p:sp>
        <p:nvSpPr>
          <p:cNvPr id="243" name="ANUARIO_ANEXO_P121_L019"/>
          <p:cNvSpPr txBox="1"/>
          <p:nvPr/>
        </p:nvSpPr>
        <p:spPr>
          <a:xfrm>
            <a:off x="528422" y="3978328"/>
            <a:ext cx="41281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etnográficos, ciencias naturales; y simbólicos: biografías, entrevista de semblanza a personajes </a:t>
            </a:r>
          </a:p>
        </p:txBody>
      </p:sp>
      <p:sp>
        <p:nvSpPr>
          <p:cNvPr id="244" name="ANUARIO_ANEXO_P121_L020"/>
          <p:cNvSpPr txBox="1"/>
          <p:nvPr/>
        </p:nvSpPr>
        <p:spPr>
          <a:xfrm>
            <a:off x="528422" y="4085130"/>
            <a:ext cx="169415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involucrados en la cultura, happenings.</a:t>
            </a:r>
          </a:p>
        </p:txBody>
      </p:sp>
      <p:sp>
        <p:nvSpPr>
          <p:cNvPr id="245" name="ANUARIO_ANEXO_P121_L021"/>
          <p:cNvSpPr txBox="1"/>
          <p:nvPr/>
        </p:nvSpPr>
        <p:spPr>
          <a:xfrm>
            <a:off x="4647535" y="1521200"/>
            <a:ext cx="1865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a:t>
            </a:r>
          </a:p>
        </p:txBody>
      </p:sp>
      <p:sp>
        <p:nvSpPr>
          <p:cNvPr id="246" name="ANUARIO_ANEXO_P121_L022"/>
          <p:cNvSpPr txBox="1"/>
          <p:nvPr/>
        </p:nvSpPr>
        <p:spPr>
          <a:xfrm>
            <a:off x="4647535" y="1734804"/>
            <a:ext cx="412788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Debate:</a:t>
            </a:r>
            <a:r>
              <a:rPr sz="640" b="0" i="0">
                <a:solidFill>
                  <a:srgbClr val="1F3031"/>
                </a:solidFill>
                <a:latin typeface="Noto Sans"/>
              </a:rPr>
              <a:t> Espacio argumentativo en el cual se emiten ideas antagónicas sobre un tema o temas </a:t>
            </a:r>
          </a:p>
        </p:txBody>
      </p:sp>
      <p:sp>
        <p:nvSpPr>
          <p:cNvPr id="247" name="ANUARIO_ANEXO_P121_L023"/>
          <p:cNvSpPr txBox="1"/>
          <p:nvPr/>
        </p:nvSpPr>
        <p:spPr>
          <a:xfrm>
            <a:off x="4647535" y="1842290"/>
            <a:ext cx="41277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específicos. Contempla un panel de especialistas y un moderador, quienes aportan puntos de vista </a:t>
            </a:r>
          </a:p>
        </p:txBody>
      </p:sp>
      <p:sp>
        <p:nvSpPr>
          <p:cNvPr id="248" name="ANUARIO_ANEXO_P121_L024"/>
          <p:cNvSpPr txBox="1"/>
          <p:nvPr/>
        </p:nvSpPr>
        <p:spPr>
          <a:xfrm>
            <a:off x="4647535" y="1949091"/>
            <a:ext cx="15008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desde su campo de conocimiento.</a:t>
            </a:r>
          </a:p>
        </p:txBody>
      </p:sp>
      <p:sp>
        <p:nvSpPr>
          <p:cNvPr id="249" name="ANUARIO_ANEXO_P121_L025"/>
          <p:cNvSpPr txBox="1"/>
          <p:nvPr/>
        </p:nvSpPr>
        <p:spPr>
          <a:xfrm>
            <a:off x="4647535" y="216201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Decil de ingreso:</a:t>
            </a:r>
            <a:r>
              <a:rPr sz="640" b="0" i="0">
                <a:solidFill>
                  <a:srgbClr val="1F3031"/>
                </a:solidFill>
                <a:latin typeface="Noto Sans"/>
              </a:rPr>
              <a:t> Los hogares pueden ser agrupados de acuerdo con los ingresos que perciben. </a:t>
            </a:r>
          </a:p>
        </p:txBody>
      </p:sp>
      <p:sp>
        <p:nvSpPr>
          <p:cNvPr id="250" name="ANUARIO_ANEXO_P121_L026"/>
          <p:cNvSpPr txBox="1"/>
          <p:nvPr/>
        </p:nvSpPr>
        <p:spPr>
          <a:xfrm>
            <a:off x="4647535" y="2269497"/>
            <a:ext cx="412853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Cuando se forman diez conjuntos del mismo tamaño, se les conoce como “deciles”, por lo que el </a:t>
            </a:r>
          </a:p>
        </p:txBody>
      </p:sp>
      <p:sp>
        <p:nvSpPr>
          <p:cNvPr id="251" name="ANUARIO_ANEXO_P121_L027"/>
          <p:cNvSpPr txBox="1"/>
          <p:nvPr/>
        </p:nvSpPr>
        <p:spPr>
          <a:xfrm>
            <a:off x="4647535" y="2376299"/>
            <a:ext cx="41279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primer decil está integrado por la décima parte de los hogares que tienen los menores ingresos, y </a:t>
            </a:r>
          </a:p>
        </p:txBody>
      </p:sp>
      <p:sp>
        <p:nvSpPr>
          <p:cNvPr id="252" name="ANUARIO_ANEXO_P121_L028"/>
          <p:cNvSpPr txBox="1"/>
          <p:nvPr/>
        </p:nvSpPr>
        <p:spPr>
          <a:xfrm>
            <a:off x="4647535" y="2483101"/>
            <a:ext cx="41277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de manera sucesiva, hasta llegar al último decil, que está compuesto por la décima parte de los </a:t>
            </a:r>
          </a:p>
        </p:txBody>
      </p:sp>
      <p:sp>
        <p:nvSpPr>
          <p:cNvPr id="253" name="ANUARIO_ANEXO_P121_L029"/>
          <p:cNvSpPr txBox="1"/>
          <p:nvPr/>
        </p:nvSpPr>
        <p:spPr>
          <a:xfrm>
            <a:off x="4647535" y="2589903"/>
            <a:ext cx="157841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hogares con los ingresos más altos</a:t>
            </a:r>
            <a:r>
              <a:rPr sz="373" b="0" i="0">
                <a:solidFill>
                  <a:srgbClr val="1F3031"/>
                </a:solidFill>
                <a:latin typeface="Noto Sans"/>
              </a:rPr>
              <a:t>11</a:t>
            </a:r>
            <a:r>
              <a:rPr sz="640" b="0" i="0">
                <a:solidFill>
                  <a:srgbClr val="1F3031"/>
                </a:solidFill>
                <a:latin typeface="Noto Sans"/>
              </a:rPr>
              <a:t>.</a:t>
            </a:r>
          </a:p>
        </p:txBody>
      </p:sp>
      <p:sp>
        <p:nvSpPr>
          <p:cNvPr id="254" name="ANUARIO_ANEXO_P121_L030"/>
          <p:cNvSpPr txBox="1"/>
          <p:nvPr/>
        </p:nvSpPr>
        <p:spPr>
          <a:xfrm>
            <a:off x="4647535" y="2802823"/>
            <a:ext cx="412815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Deportes:</a:t>
            </a:r>
            <a:r>
              <a:rPr sz="640" b="0" i="0">
                <a:solidFill>
                  <a:srgbClr val="1F3031"/>
                </a:solidFill>
                <a:latin typeface="Noto Sans"/>
              </a:rPr>
              <a:t> Transmisión de eventos deportivos, cultura física o programas de resumen deportivo, </a:t>
            </a:r>
          </a:p>
        </p:txBody>
      </p:sp>
      <p:sp>
        <p:nvSpPr>
          <p:cNvPr id="255" name="ANUARIO_ANEXO_P121_L031"/>
          <p:cNvSpPr txBox="1"/>
          <p:nvPr/>
        </p:nvSpPr>
        <p:spPr>
          <a:xfrm>
            <a:off x="4647535" y="2910309"/>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como resultados y/o comentarios relacionados con el deporte. En este género no se incluyen </a:t>
            </a:r>
          </a:p>
        </p:txBody>
      </p:sp>
      <p:sp>
        <p:nvSpPr>
          <p:cNvPr id="256" name="ANUARIO_ANEXO_P121_L032"/>
          <p:cNvSpPr txBox="1"/>
          <p:nvPr/>
        </p:nvSpPr>
        <p:spPr>
          <a:xfrm>
            <a:off x="4647535" y="3017111"/>
            <a:ext cx="35979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programas de reportaje que, en un capítulo en específico, aborden un tema deportivo.</a:t>
            </a:r>
          </a:p>
        </p:txBody>
      </p:sp>
      <p:sp>
        <p:nvSpPr>
          <p:cNvPr id="257" name="ANUARIO_ANEXO_P121_L033"/>
          <p:cNvSpPr txBox="1"/>
          <p:nvPr/>
        </p:nvSpPr>
        <p:spPr>
          <a:xfrm>
            <a:off x="4647535" y="3230031"/>
            <a:ext cx="412830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Directorio Estadístico Nacional de Unidades Económicas (DENUE):</a:t>
            </a:r>
            <a:r>
              <a:rPr sz="640" b="0" i="0">
                <a:solidFill>
                  <a:srgbClr val="1F3031"/>
                </a:solidFill>
                <a:latin typeface="Noto Sans"/>
              </a:rPr>
              <a:t> Herramienta interactiva del </a:t>
            </a:r>
          </a:p>
        </p:txBody>
      </p:sp>
      <p:sp>
        <p:nvSpPr>
          <p:cNvPr id="258" name="ANUARIO_ANEXO_P121_L034"/>
          <p:cNvSpPr txBox="1"/>
          <p:nvPr/>
        </p:nvSpPr>
        <p:spPr>
          <a:xfrm>
            <a:off x="4647536" y="3337517"/>
            <a:ext cx="41280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INEGI en la que se ofrecen los datos de identificación, ubicación, actividad económica y tamaño </a:t>
            </a:r>
          </a:p>
        </p:txBody>
      </p:sp>
      <p:sp>
        <p:nvSpPr>
          <p:cNvPr id="259" name="ANUARIO_ANEXO_P121_L035"/>
          <p:cNvSpPr txBox="1"/>
          <p:nvPr/>
        </p:nvSpPr>
        <p:spPr>
          <a:xfrm>
            <a:off x="4647536" y="3444318"/>
            <a:ext cx="41283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negocios activos en el territorio nacional, actualizados, fundamentalmente, en el segmento </a:t>
            </a:r>
          </a:p>
        </p:txBody>
      </p:sp>
      <p:sp>
        <p:nvSpPr>
          <p:cNvPr id="260" name="ANUARIO_ANEXO_P121_L036"/>
          <p:cNvSpPr txBox="1"/>
          <p:nvPr/>
        </p:nvSpPr>
        <p:spPr>
          <a:xfrm>
            <a:off x="4647536" y="3551120"/>
            <a:ext cx="410770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establecimientos grandes. Disponible en: </a:t>
            </a:r>
            <a:r>
              <a:rPr sz="640" b="0" i="0">
                <a:solidFill>
                  <a:srgbClr val="0563C1"/>
                </a:solidFill>
                <a:latin typeface="Noto Sans"/>
                <a:hlinkClick r:id="rId2"/>
              </a:rPr>
              <a:t>https://www.inegi.org.mx/app/mapa/denue/default.</a:t>
            </a:r>
          </a:p>
        </p:txBody>
      </p:sp>
      <p:sp>
        <p:nvSpPr>
          <p:cNvPr id="261" name="ANUARIO_ANEXO_P121_L037"/>
          <p:cNvSpPr txBox="1"/>
          <p:nvPr/>
        </p:nvSpPr>
        <p:spPr>
          <a:xfrm>
            <a:off x="4647536" y="3657922"/>
            <a:ext cx="319446"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aspx</a:t>
            </a:r>
            <a:r>
              <a:rPr sz="640" b="0" i="0">
                <a:solidFill>
                  <a:srgbClr val="1F3031"/>
                </a:solidFill>
                <a:latin typeface="Noto Sans"/>
              </a:rPr>
              <a:t>.</a:t>
            </a:r>
          </a:p>
        </p:txBody>
      </p:sp>
      <p:sp>
        <p:nvSpPr>
          <p:cNvPr id="262" name="ANUARIO_ANEXO_P121_L038"/>
          <p:cNvSpPr txBox="1"/>
          <p:nvPr/>
        </p:nvSpPr>
        <p:spPr>
          <a:xfrm>
            <a:off x="4647536" y="3870842"/>
            <a:ext cx="41280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Dramatizado Unitario:</a:t>
            </a:r>
            <a:r>
              <a:rPr sz="640" b="0" i="0">
                <a:solidFill>
                  <a:srgbClr val="1F3031"/>
                </a:solidFill>
                <a:latin typeface="Noto Sans"/>
              </a:rPr>
              <a:t> Programas de ficción en los que cada capítulo constituye una unidad narrativa </a:t>
            </a:r>
          </a:p>
        </p:txBody>
      </p:sp>
      <p:sp>
        <p:nvSpPr>
          <p:cNvPr id="263" name="ANUARIO_ANEXO_P121_L039"/>
          <p:cNvSpPr txBox="1"/>
          <p:nvPr/>
        </p:nvSpPr>
        <p:spPr>
          <a:xfrm>
            <a:off x="4647536" y="3978328"/>
            <a:ext cx="41279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independiente. En su contenido se manifiestan situaciones conflictivas y/o trágicas, y cada episodio </a:t>
            </a:r>
          </a:p>
        </p:txBody>
      </p:sp>
      <p:sp>
        <p:nvSpPr>
          <p:cNvPr id="264" name="ANUARIO_ANEXO_P121_L040"/>
          <p:cNvSpPr txBox="1"/>
          <p:nvPr/>
        </p:nvSpPr>
        <p:spPr>
          <a:xfrm>
            <a:off x="4647536" y="4085130"/>
            <a:ext cx="39672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tiene inicio, desarrollo y final. En muy pocas ocasiones puede extenderse a más de una emisión.</a:t>
            </a:r>
          </a:p>
        </p:txBody>
      </p:sp>
      <p:sp>
        <p:nvSpPr>
          <p:cNvPr id="265" name="ANUARIO_ANEXO_P121_L041"/>
          <p:cNvSpPr txBox="1"/>
          <p:nvPr/>
        </p:nvSpPr>
        <p:spPr>
          <a:xfrm>
            <a:off x="383625" y="4451011"/>
            <a:ext cx="8486054"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11</a:t>
            </a:r>
            <a:r>
              <a:rPr sz="480" b="0" i="0">
                <a:solidFill>
                  <a:srgbClr val="1F3031"/>
                </a:solidFill>
                <a:latin typeface="Noto Sans"/>
              </a:rPr>
              <a:t> Definición publicada el 26 de julio de 2023 por el Instituto Nacional de Estadística y Geografía (INEGI) el 26 de julio de 2023, pág. 11., en el cual se dan a conocer los resultados de la Encuesta Nacional de Ingresos y Gastos de los Hogares (ENIGH) 2020. Disponible en: </a:t>
            </a:r>
            <a:r>
              <a:rPr sz="480" b="0" i="0">
                <a:solidFill>
                  <a:srgbClr val="0563C1"/>
                </a:solidFill>
                <a:latin typeface="Noto Sans"/>
              </a:rPr>
              <a:t>Encuesta </a:t>
            </a:r>
          </a:p>
        </p:txBody>
      </p:sp>
      <p:sp>
        <p:nvSpPr>
          <p:cNvPr id="266" name="ANUARIO_ANEXO_P121_L042"/>
          <p:cNvSpPr txBox="1"/>
          <p:nvPr/>
        </p:nvSpPr>
        <p:spPr>
          <a:xfrm>
            <a:off x="383625" y="4527909"/>
            <a:ext cx="2519533" cy="118622"/>
          </a:xfrm>
          <a:prstGeom prst="rect">
            <a:avLst/>
          </a:prstGeom>
          <a:noFill/>
        </p:spPr>
        <p:txBody>
          <a:bodyPr wrap="none" lIns="0" rIns="0" tIns="0" bIns="0">
            <a:noAutofit/>
          </a:bodyPr>
          <a:lstStyle/>
          <a:p>
            <a:pPr>
              <a:spcBef>
                <a:spcPts val="0"/>
              </a:spcBef>
              <a:spcAft>
                <a:spcPts val="0"/>
              </a:spcAft>
            </a:pPr>
            <a:r>
              <a:rPr sz="480" b="0" i="0">
                <a:solidFill>
                  <a:srgbClr val="0563C1"/>
                </a:solidFill>
                <a:latin typeface="Noto Sans"/>
              </a:rPr>
              <a:t>Nacional de Ingresos y Gastos de los Hogares 2022. Presentación de resultados</a:t>
            </a:r>
            <a:r>
              <a:rPr sz="480" b="0" i="0">
                <a:solidFill>
                  <a:srgbClr val="1F3031"/>
                </a:solidFill>
                <a:latin typeface="Noto Sans"/>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122</a:t>
            </a:r>
          </a:p>
        </p:txBody>
      </p:sp>
      <p:sp>
        <p:nvSpPr>
          <p:cNvPr id="225" name="ANUARIO_ANEXO_P122_L001"/>
          <p:cNvSpPr txBox="1"/>
          <p:nvPr/>
        </p:nvSpPr>
        <p:spPr>
          <a:xfrm>
            <a:off x="528422" y="656471"/>
            <a:ext cx="1709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a:t>
            </a:r>
          </a:p>
        </p:txBody>
      </p:sp>
      <p:sp>
        <p:nvSpPr>
          <p:cNvPr id="226" name="ANUARIO_ANEXO_P122_L002"/>
          <p:cNvSpPr txBox="1"/>
          <p:nvPr/>
        </p:nvSpPr>
        <p:spPr>
          <a:xfrm>
            <a:off x="528422" y="850056"/>
            <a:ext cx="412854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Encendidos (tvr% o TRr%):</a:t>
            </a:r>
            <a:r>
              <a:rPr sz="640" b="0" i="0">
                <a:solidFill>
                  <a:srgbClr val="1F3031"/>
                </a:solidFill>
                <a:latin typeface="Noto Sans"/>
              </a:rPr>
              <a:t> Porcentaje de hogares o personas que tienen encendida la televisión o </a:t>
            </a:r>
          </a:p>
        </p:txBody>
      </p:sp>
      <p:sp>
        <p:nvSpPr>
          <p:cNvPr id="227" name="ANUARIO_ANEXO_P122_L003"/>
          <p:cNvSpPr txBox="1"/>
          <p:nvPr/>
        </p:nvSpPr>
        <p:spPr>
          <a:xfrm>
            <a:off x="528422" y="958882"/>
            <a:ext cx="28445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escucharon la radio en un momento dado sin importar el canal.</a:t>
            </a:r>
          </a:p>
        </p:txBody>
      </p:sp>
      <p:sp>
        <p:nvSpPr>
          <p:cNvPr id="228" name="ANUARIO_ANEXO_P122_L004"/>
          <p:cNvSpPr txBox="1"/>
          <p:nvPr/>
        </p:nvSpPr>
        <p:spPr>
          <a:xfrm>
            <a:off x="528422" y="1151784"/>
            <a:ext cx="41277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Disponibilidad y Uso de las Tecnologías de la Información en los Hogares </a:t>
            </a:r>
          </a:p>
        </p:txBody>
      </p:sp>
      <p:sp>
        <p:nvSpPr>
          <p:cNvPr id="229" name="ANUARIO_ANEXO_P122_L005"/>
          <p:cNvSpPr txBox="1"/>
          <p:nvPr/>
        </p:nvSpPr>
        <p:spPr>
          <a:xfrm>
            <a:off x="528422" y="1259926"/>
            <a:ext cx="41279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(ENDUTIH):</a:t>
            </a:r>
            <a:r>
              <a:rPr sz="640" b="0" i="0">
                <a:solidFill>
                  <a:srgbClr val="1F3031"/>
                </a:solidFill>
                <a:latin typeface="Noto Sans"/>
              </a:rPr>
              <a:t> Encuesta que tiene como objetivo generar información estadística que permita conocer </a:t>
            </a:r>
          </a:p>
        </p:txBody>
      </p:sp>
      <p:sp>
        <p:nvSpPr>
          <p:cNvPr id="230" name="ANUARIO_ANEXO_P122_L006"/>
          <p:cNvSpPr txBox="1"/>
          <p:nvPr/>
        </p:nvSpPr>
        <p:spPr>
          <a:xfrm>
            <a:off x="528422" y="1368753"/>
            <a:ext cx="412826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disponibilidad y el uso de las Tecnologías de la Información y la Comunicación en los hogares y </a:t>
            </a:r>
          </a:p>
        </p:txBody>
      </p:sp>
      <p:sp>
        <p:nvSpPr>
          <p:cNvPr id="231" name="ANUARIO_ANEXO_P122_L007"/>
          <p:cNvSpPr txBox="1"/>
          <p:nvPr/>
        </p:nvSpPr>
        <p:spPr>
          <a:xfrm>
            <a:off x="528422" y="1476895"/>
            <a:ext cx="410770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los individuos de seis años o más en México. Disponible en: </a:t>
            </a:r>
            <a:r>
              <a:rPr sz="640" b="0" i="0">
                <a:solidFill>
                  <a:srgbClr val="0563C1"/>
                </a:solidFill>
                <a:latin typeface="Noto Sans"/>
                <a:hlinkClick r:id="rId2"/>
              </a:rPr>
              <a:t>https://www.inegi.org.mx/programas/</a:t>
            </a:r>
          </a:p>
        </p:txBody>
      </p:sp>
      <p:sp>
        <p:nvSpPr>
          <p:cNvPr id="232" name="ANUARIO_ANEXO_P122_L008"/>
          <p:cNvSpPr txBox="1"/>
          <p:nvPr/>
        </p:nvSpPr>
        <p:spPr>
          <a:xfrm>
            <a:off x="528422" y="1585038"/>
            <a:ext cx="614465"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endutih/2025/</a:t>
            </a:r>
            <a:r>
              <a:rPr sz="640" b="0" i="0">
                <a:solidFill>
                  <a:srgbClr val="1F3031"/>
                </a:solidFill>
                <a:latin typeface="Noto Sans"/>
              </a:rPr>
              <a:t>.</a:t>
            </a:r>
          </a:p>
        </p:txBody>
      </p:sp>
      <p:sp>
        <p:nvSpPr>
          <p:cNvPr id="233" name="ANUARIO_ANEXO_P122_L009"/>
          <p:cNvSpPr txBox="1"/>
          <p:nvPr/>
        </p:nvSpPr>
        <p:spPr>
          <a:xfrm>
            <a:off x="528422" y="1777939"/>
            <a:ext cx="412808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Ingresos y Gastos de los Hogares (ENIGH):</a:t>
            </a:r>
            <a:r>
              <a:rPr sz="640" b="0" i="0">
                <a:solidFill>
                  <a:srgbClr val="1F3031"/>
                </a:solidFill>
                <a:latin typeface="Noto Sans"/>
              </a:rPr>
              <a:t> Encuesta cuyo objetivo es </a:t>
            </a:r>
          </a:p>
        </p:txBody>
      </p:sp>
      <p:sp>
        <p:nvSpPr>
          <p:cNvPr id="234" name="ANUARIO_ANEXO_P122_L010"/>
          <p:cNvSpPr txBox="1"/>
          <p:nvPr/>
        </p:nvSpPr>
        <p:spPr>
          <a:xfrm>
            <a:off x="528422" y="1886765"/>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proporcionar un panorama estadístico del comportamiento de los ingresos y gastos de los hogares </a:t>
            </a:r>
          </a:p>
        </p:txBody>
      </p:sp>
      <p:sp>
        <p:nvSpPr>
          <p:cNvPr id="235" name="ANUARIO_ANEXO_P122_L011"/>
          <p:cNvSpPr txBox="1"/>
          <p:nvPr/>
        </p:nvSpPr>
        <p:spPr>
          <a:xfrm>
            <a:off x="528422" y="1994908"/>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en cuanto a su monto, procedencia y distribución; adicionalmente, ofrece información sobre </a:t>
            </a:r>
          </a:p>
        </p:txBody>
      </p:sp>
      <p:sp>
        <p:nvSpPr>
          <p:cNvPr id="236" name="ANUARIO_ANEXO_P122_L012"/>
          <p:cNvSpPr txBox="1"/>
          <p:nvPr/>
        </p:nvSpPr>
        <p:spPr>
          <a:xfrm>
            <a:off x="528422" y="2103051"/>
            <a:ext cx="41281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características ocupacionales y sociodemográficas de los integrantes del hogar, así como las </a:t>
            </a:r>
          </a:p>
        </p:txBody>
      </p:sp>
      <p:sp>
        <p:nvSpPr>
          <p:cNvPr id="237" name="ANUARIO_ANEXO_P122_L013"/>
          <p:cNvSpPr txBox="1"/>
          <p:nvPr/>
        </p:nvSpPr>
        <p:spPr>
          <a:xfrm>
            <a:off x="528422" y="2211195"/>
            <a:ext cx="41077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características de la infraestructura de la vivienda y el equipamiento del hogar. Disponible en: </a:t>
            </a:r>
            <a:r>
              <a:rPr sz="640" b="0" i="0">
                <a:solidFill>
                  <a:srgbClr val="0563C1"/>
                </a:solidFill>
                <a:latin typeface="Noto Sans"/>
              </a:rPr>
              <a:t>https://</a:t>
            </a:r>
          </a:p>
        </p:txBody>
      </p:sp>
      <p:sp>
        <p:nvSpPr>
          <p:cNvPr id="238" name="ANUARIO_ANEXO_P122_L014"/>
          <p:cNvSpPr txBox="1"/>
          <p:nvPr/>
        </p:nvSpPr>
        <p:spPr>
          <a:xfrm>
            <a:off x="528422" y="2319337"/>
            <a:ext cx="1951037"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www.inegi.org.mx/programas/enigh/nc/2024/</a:t>
            </a:r>
            <a:r>
              <a:rPr sz="640" b="0" i="0">
                <a:solidFill>
                  <a:srgbClr val="1F3031"/>
                </a:solidFill>
                <a:latin typeface="Noto Sans"/>
              </a:rPr>
              <a:t>.</a:t>
            </a:r>
          </a:p>
        </p:txBody>
      </p:sp>
      <p:sp>
        <p:nvSpPr>
          <p:cNvPr id="239" name="ANUARIO_ANEXO_P122_L015"/>
          <p:cNvSpPr txBox="1"/>
          <p:nvPr/>
        </p:nvSpPr>
        <p:spPr>
          <a:xfrm>
            <a:off x="528422" y="2512238"/>
            <a:ext cx="412820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Ocupación y Empleo (ENOE):</a:t>
            </a:r>
            <a:r>
              <a:rPr sz="640" b="0" i="0">
                <a:solidFill>
                  <a:srgbClr val="1F3031"/>
                </a:solidFill>
                <a:latin typeface="Noto Sans"/>
              </a:rPr>
              <a:t> Encuesta con el objetivo de proporcionar </a:t>
            </a:r>
          </a:p>
        </p:txBody>
      </p:sp>
      <p:sp>
        <p:nvSpPr>
          <p:cNvPr id="240" name="ANUARIO_ANEXO_P122_L016"/>
          <p:cNvSpPr txBox="1"/>
          <p:nvPr/>
        </p:nvSpPr>
        <p:spPr>
          <a:xfrm>
            <a:off x="528422" y="2621064"/>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mercado laboral mexicano al ofrecer datos mensuales y trimestrales de la fuerza </a:t>
            </a:r>
          </a:p>
        </p:txBody>
      </p:sp>
      <p:sp>
        <p:nvSpPr>
          <p:cNvPr id="241" name="ANUARIO_ANEXO_P122_L017"/>
          <p:cNvSpPr txBox="1"/>
          <p:nvPr/>
        </p:nvSpPr>
        <p:spPr>
          <a:xfrm>
            <a:off x="528422" y="2729208"/>
            <a:ext cx="41278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trabajo, la ocupación, la informalidad laboral, la subocupación y la desocupación. Disponible en: </a:t>
            </a:r>
          </a:p>
        </p:txBody>
      </p:sp>
      <p:sp>
        <p:nvSpPr>
          <p:cNvPr id="242" name="ANUARIO_ANEXO_P122_L018"/>
          <p:cNvSpPr txBox="1"/>
          <p:nvPr/>
        </p:nvSpPr>
        <p:spPr>
          <a:xfrm>
            <a:off x="528422" y="2837351"/>
            <a:ext cx="2207390"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hlinkClick r:id="rId3"/>
              </a:rPr>
              <a:t>https://www.inegi.org.mx/programas/enoe/15ymas/</a:t>
            </a:r>
            <a:r>
              <a:rPr sz="640" b="0" i="0">
                <a:solidFill>
                  <a:srgbClr val="1F3031"/>
                </a:solidFill>
                <a:latin typeface="Noto Sans"/>
              </a:rPr>
              <a:t>. </a:t>
            </a:r>
          </a:p>
        </p:txBody>
      </p:sp>
      <p:sp>
        <p:nvSpPr>
          <p:cNvPr id="243" name="ANUARIO_ANEXO_P122_L019"/>
          <p:cNvSpPr txBox="1"/>
          <p:nvPr/>
        </p:nvSpPr>
        <p:spPr>
          <a:xfrm>
            <a:off x="528422" y="3030251"/>
            <a:ext cx="41286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Equipo terminal:</a:t>
            </a:r>
            <a:r>
              <a:rPr sz="640" b="0" i="0">
                <a:solidFill>
                  <a:srgbClr val="1F3031"/>
                </a:solidFill>
                <a:latin typeface="Noto Sans"/>
              </a:rPr>
              <a:t> Dispositivo que utiliza el usuario final para conectarse a una Red Pública de </a:t>
            </a:r>
          </a:p>
        </p:txBody>
      </p:sp>
      <p:sp>
        <p:nvSpPr>
          <p:cNvPr id="244" name="ANUARIO_ANEXO_P122_L020"/>
          <p:cNvSpPr txBox="1"/>
          <p:nvPr/>
        </p:nvSpPr>
        <p:spPr>
          <a:xfrm>
            <a:off x="528422" y="3139078"/>
            <a:ext cx="41281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con el propósito de obtener un Acceso y/o recibir uno o más servicios de </a:t>
            </a:r>
          </a:p>
        </p:txBody>
      </p:sp>
      <p:sp>
        <p:nvSpPr>
          <p:cNvPr id="245" name="ANUARIO_ANEXO_P122_L021"/>
          <p:cNvSpPr txBox="1"/>
          <p:nvPr/>
        </p:nvSpPr>
        <p:spPr>
          <a:xfrm>
            <a:off x="528422" y="3247221"/>
            <a:ext cx="93551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a:t>
            </a:r>
          </a:p>
        </p:txBody>
      </p:sp>
      <p:sp>
        <p:nvSpPr>
          <p:cNvPr id="246" name="ANUARIO_ANEXO_P122_L022"/>
          <p:cNvSpPr txBox="1"/>
          <p:nvPr/>
        </p:nvSpPr>
        <p:spPr>
          <a:xfrm>
            <a:off x="528422" y="3440121"/>
            <a:ext cx="18801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a:t>
            </a:r>
          </a:p>
        </p:txBody>
      </p:sp>
      <p:sp>
        <p:nvSpPr>
          <p:cNvPr id="247" name="ANUARIO_ANEXO_P122_L023"/>
          <p:cNvSpPr txBox="1"/>
          <p:nvPr/>
        </p:nvSpPr>
        <p:spPr>
          <a:xfrm>
            <a:off x="528422" y="3633706"/>
            <a:ext cx="412851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Género:</a:t>
            </a:r>
            <a:r>
              <a:rPr sz="640" b="0" i="0">
                <a:solidFill>
                  <a:srgbClr val="1F3031"/>
                </a:solidFill>
                <a:latin typeface="Noto Sans"/>
              </a:rPr>
              <a:t> El Género de Programa es una etiqueta que incluye como referencia Nielsen IBOPE en sus </a:t>
            </a:r>
          </a:p>
        </p:txBody>
      </p:sp>
      <p:sp>
        <p:nvSpPr>
          <p:cNvPr id="248" name="ANUARIO_ANEXO_P122_L024"/>
          <p:cNvSpPr txBox="1"/>
          <p:nvPr/>
        </p:nvSpPr>
        <p:spPr>
          <a:xfrm>
            <a:off x="528422" y="3742533"/>
            <a:ext cx="252932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bases de datos, con el propósito de clasificar los programas.</a:t>
            </a:r>
          </a:p>
        </p:txBody>
      </p:sp>
      <p:sp>
        <p:nvSpPr>
          <p:cNvPr id="249" name="ANUARIO_ANEXO_P122_L025"/>
          <p:cNvSpPr txBox="1"/>
          <p:nvPr/>
        </p:nvSpPr>
        <p:spPr>
          <a:xfrm>
            <a:off x="528422" y="3935433"/>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Gobierno:</a:t>
            </a:r>
            <a:r>
              <a:rPr sz="640" b="0" i="0">
                <a:solidFill>
                  <a:srgbClr val="1F3031"/>
                </a:solidFill>
                <a:latin typeface="Noto Sans"/>
              </a:rPr>
              <a:t> La LFTR ordena a los medios electrónicos de comunicación la transmisión gratuita diaria </a:t>
            </a:r>
          </a:p>
        </p:txBody>
      </p:sp>
      <p:sp>
        <p:nvSpPr>
          <p:cNvPr id="250" name="ANUARIO_ANEXO_P122_L026"/>
          <p:cNvSpPr txBox="1"/>
          <p:nvPr/>
        </p:nvSpPr>
        <p:spPr>
          <a:xfrm>
            <a:off x="528422" y="4044260"/>
            <a:ext cx="412827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duración de hasta 30 minutos continuos o discontinuos de programas dedicados a difundir </a:t>
            </a:r>
          </a:p>
        </p:txBody>
      </p:sp>
      <p:sp>
        <p:nvSpPr>
          <p:cNvPr id="251" name="ANUARIO_ANEXO_P122_L027"/>
          <p:cNvSpPr txBox="1"/>
          <p:nvPr/>
        </p:nvSpPr>
        <p:spPr>
          <a:xfrm>
            <a:off x="528422" y="4152403"/>
            <a:ext cx="41285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temas educativos, culturales y de orientación social. Todas las estaciones de radio y televisión en el </a:t>
            </a:r>
          </a:p>
        </p:txBody>
      </p:sp>
      <p:sp>
        <p:nvSpPr>
          <p:cNvPr id="252" name="ANUARIO_ANEXO_P122_L028"/>
          <p:cNvSpPr txBox="1"/>
          <p:nvPr/>
        </p:nvSpPr>
        <p:spPr>
          <a:xfrm>
            <a:off x="528422" y="4260546"/>
            <a:ext cx="41280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país estarán obligadas a encadenarse cuando se trate de transmitir informaciones de trascendencia </a:t>
            </a:r>
          </a:p>
        </p:txBody>
      </p:sp>
      <p:sp>
        <p:nvSpPr>
          <p:cNvPr id="253" name="ANUARIO_ANEXO_P122_L029"/>
          <p:cNvSpPr txBox="1"/>
          <p:nvPr/>
        </p:nvSpPr>
        <p:spPr>
          <a:xfrm>
            <a:off x="528422" y="4368689"/>
            <a:ext cx="23733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para la Nación, a juicio de la Secretaría de Gobernación.</a:t>
            </a:r>
          </a:p>
        </p:txBody>
      </p:sp>
      <p:sp>
        <p:nvSpPr>
          <p:cNvPr id="254" name="ANUARIO_ANEXO_P122_L030"/>
          <p:cNvSpPr txBox="1"/>
          <p:nvPr/>
        </p:nvSpPr>
        <p:spPr>
          <a:xfrm>
            <a:off x="4647536" y="656471"/>
            <a:ext cx="14622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a:t>
            </a:r>
          </a:p>
        </p:txBody>
      </p:sp>
      <p:sp>
        <p:nvSpPr>
          <p:cNvPr id="255" name="ANUARIO_ANEXO_P122_L031"/>
          <p:cNvSpPr txBox="1"/>
          <p:nvPr/>
        </p:nvSpPr>
        <p:spPr>
          <a:xfrm>
            <a:off x="4647536" y="873048"/>
            <a:ext cx="412816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Herfindahl- Hirschman (IHH):</a:t>
            </a:r>
            <a:r>
              <a:rPr sz="640" b="0" i="0">
                <a:solidFill>
                  <a:srgbClr val="1F3031"/>
                </a:solidFill>
                <a:latin typeface="Noto Sans"/>
              </a:rPr>
              <a:t> Este índice se calcula a partir de las participaciones de los </a:t>
            </a:r>
          </a:p>
        </p:txBody>
      </p:sp>
      <p:sp>
        <p:nvSpPr>
          <p:cNvPr id="256" name="ANUARIO_ANEXO_P122_L032"/>
          <p:cNvSpPr txBox="1"/>
          <p:nvPr/>
        </p:nvSpPr>
        <p:spPr>
          <a:xfrm>
            <a:off x="4647536" y="983506"/>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agentes económicos en los mercados relevantes y/o relacionados. El IHH aumenta cuando el número </a:t>
            </a:r>
          </a:p>
        </p:txBody>
      </p:sp>
      <p:sp>
        <p:nvSpPr>
          <p:cNvPr id="257" name="ANUARIO_ANEXO_P122_L033"/>
          <p:cNvSpPr txBox="1"/>
          <p:nvPr/>
        </p:nvSpPr>
        <p:spPr>
          <a:xfrm>
            <a:off x="4647536" y="1093282"/>
            <a:ext cx="41279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empresas disminuye. Esta característica implica que cualquier fusión o adquisición completa entre </a:t>
            </a:r>
          </a:p>
        </p:txBody>
      </p:sp>
      <p:sp>
        <p:nvSpPr>
          <p:cNvPr id="258" name="ANUARIO_ANEXO_P122_L034"/>
          <p:cNvSpPr txBox="1"/>
          <p:nvPr/>
        </p:nvSpPr>
        <p:spPr>
          <a:xfrm>
            <a:off x="4647536" y="1203056"/>
            <a:ext cx="41284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dos o más empresas se ve reflejada en un valor más alto del IHH. Entre más pequeño sea el número de </a:t>
            </a:r>
          </a:p>
        </p:txBody>
      </p:sp>
      <p:sp>
        <p:nvSpPr>
          <p:cNvPr id="259" name="ANUARIO_ANEXO_P122_L035"/>
          <p:cNvSpPr txBox="1"/>
          <p:nvPr/>
        </p:nvSpPr>
        <p:spPr>
          <a:xfrm>
            <a:off x="4647536" y="1312831"/>
            <a:ext cx="41263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participantes, es más probable que las variaciones en el número de participantes o de las participaciones, </a:t>
            </a:r>
          </a:p>
        </p:txBody>
      </p:sp>
      <p:sp>
        <p:nvSpPr>
          <p:cNvPr id="260" name="ANUARIO_ANEXO_P122_L036"/>
          <p:cNvSpPr txBox="1"/>
          <p:nvPr/>
        </p:nvSpPr>
        <p:spPr>
          <a:xfrm>
            <a:off x="4647536" y="1422606"/>
            <a:ext cx="41278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modifiquen las condiciones de competencia para el resto de los agentes económicos. Este indicador </a:t>
            </a:r>
          </a:p>
        </p:txBody>
      </p:sp>
      <p:sp>
        <p:nvSpPr>
          <p:cNvPr id="261" name="ANUARIO_ANEXO_P122_L037"/>
          <p:cNvSpPr txBox="1"/>
          <p:nvPr/>
        </p:nvSpPr>
        <p:spPr>
          <a:xfrm>
            <a:off x="4647536" y="1532381"/>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fue calculado conforme a la metodología establecida por el IFT en el ACUERDO MEDIANTE EL </a:t>
            </a:r>
          </a:p>
        </p:txBody>
      </p:sp>
      <p:sp>
        <p:nvSpPr>
          <p:cNvPr id="262" name="ANUARIO_ANEXO_P122_L038"/>
          <p:cNvSpPr txBox="1"/>
          <p:nvPr/>
        </p:nvSpPr>
        <p:spPr>
          <a:xfrm>
            <a:off x="4647536" y="1642156"/>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CUAL EL PLENO DEL INSTITUTO FEDERAL DE TELECOMUNICACIONES MODIFICA EL CRITERIO </a:t>
            </a:r>
          </a:p>
        </p:txBody>
      </p:sp>
      <p:sp>
        <p:nvSpPr>
          <p:cNvPr id="263" name="ANUARIO_ANEXO_P122_L039"/>
          <p:cNvSpPr txBox="1"/>
          <p:nvPr/>
        </p:nvSpPr>
        <p:spPr>
          <a:xfrm>
            <a:off x="4647536" y="1751930"/>
            <a:ext cx="41284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TÉCNICO PARA EL CÁLCULO Y APLICACIÓN DE UN ÍNDICE CUANTITATIVO A FIN DE DETERMINAR </a:t>
            </a:r>
          </a:p>
        </p:txBody>
      </p:sp>
      <p:sp>
        <p:nvSpPr>
          <p:cNvPr id="264" name="ANUARIO_ANEXO_P122_L040"/>
          <p:cNvSpPr txBox="1"/>
          <p:nvPr/>
        </p:nvSpPr>
        <p:spPr>
          <a:xfrm>
            <a:off x="4647536" y="1861705"/>
            <a:ext cx="41284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GRADO DE CONCENTRACIÓN EN LOS MERCADOS Y SERVICIOS CORRESPONDIENTES A LOS </a:t>
            </a:r>
          </a:p>
        </p:txBody>
      </p:sp>
      <p:sp>
        <p:nvSpPr>
          <p:cNvPr id="265" name="ANUARIO_ANEXO_P122_L041"/>
          <p:cNvSpPr txBox="1"/>
          <p:nvPr/>
        </p:nvSpPr>
        <p:spPr>
          <a:xfrm>
            <a:off x="4647536" y="1971480"/>
            <a:ext cx="41077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SECTORES DE TELECOMUNICACIONES Y RADIODIFUSIÓN. Disponible en: </a:t>
            </a:r>
            <a:r>
              <a:rPr sz="640" b="0" i="0">
                <a:solidFill>
                  <a:srgbClr val="0563C1"/>
                </a:solidFill>
                <a:latin typeface="Noto Sans"/>
                <a:hlinkClick r:id="rId4"/>
              </a:rPr>
              <a:t>https://www.dof.gob.</a:t>
            </a:r>
          </a:p>
        </p:txBody>
      </p:sp>
      <p:sp>
        <p:nvSpPr>
          <p:cNvPr id="266" name="ANUARIO_ANEXO_P122_L042"/>
          <p:cNvSpPr txBox="1"/>
          <p:nvPr/>
        </p:nvSpPr>
        <p:spPr>
          <a:xfrm>
            <a:off x="4647537" y="2081255"/>
            <a:ext cx="2992121"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mx/nota_detalle.php?codigo=5645045&amp;fecha=09/03/2022#gsc.tab=0</a:t>
            </a:r>
            <a:r>
              <a:rPr sz="640" b="0" i="0">
                <a:solidFill>
                  <a:srgbClr val="1F3031"/>
                </a:solidFill>
                <a:latin typeface="Noto Sans"/>
              </a:rPr>
              <a:t>.</a:t>
            </a:r>
          </a:p>
        </p:txBody>
      </p:sp>
      <p:sp>
        <p:nvSpPr>
          <p:cNvPr id="267" name="ANUARIO_ANEXO_P122_L043"/>
          <p:cNvSpPr txBox="1"/>
          <p:nvPr/>
        </p:nvSpPr>
        <p:spPr>
          <a:xfrm>
            <a:off x="4647537" y="2297148"/>
            <a:ext cx="41282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Nacional de Precios al Consumidor (INPC):</a:t>
            </a:r>
            <a:r>
              <a:rPr sz="640" b="0" i="0">
                <a:solidFill>
                  <a:srgbClr val="1F3031"/>
                </a:solidFill>
                <a:latin typeface="Noto Sans"/>
              </a:rPr>
              <a:t> Indicador económico cuya finalidad es la de medir </a:t>
            </a:r>
          </a:p>
        </p:txBody>
      </p:sp>
      <p:sp>
        <p:nvSpPr>
          <p:cNvPr id="268" name="ANUARIO_ANEXO_P122_L044"/>
          <p:cNvSpPr txBox="1"/>
          <p:nvPr/>
        </p:nvSpPr>
        <p:spPr>
          <a:xfrm>
            <a:off x="4647537" y="2407606"/>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través del tiempo la variación de los precios de una canasta fija de bienes y servicios representativa </a:t>
            </a:r>
          </a:p>
        </p:txBody>
      </p:sp>
      <p:sp>
        <p:nvSpPr>
          <p:cNvPr id="269" name="ANUARIO_ANEXO_P122_L045"/>
          <p:cNvSpPr txBox="1"/>
          <p:nvPr/>
        </p:nvSpPr>
        <p:spPr>
          <a:xfrm>
            <a:off x="4647537" y="2517381"/>
            <a:ext cx="41285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consumo de los hogares. El INPC se presenta en este estudio con precios en base diciembre de </a:t>
            </a:r>
          </a:p>
        </p:txBody>
      </p:sp>
      <p:sp>
        <p:nvSpPr>
          <p:cNvPr id="270" name="ANUARIO_ANEXO_P122_L046"/>
          <p:cNvSpPr txBox="1"/>
          <p:nvPr/>
        </p:nvSpPr>
        <p:spPr>
          <a:xfrm>
            <a:off x="4647537" y="2627156"/>
            <a:ext cx="41283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2013. Para más información sobre los ponderadores de los servicios de telecomunicaciones dentro </a:t>
            </a:r>
          </a:p>
        </p:txBody>
      </p:sp>
      <p:sp>
        <p:nvSpPr>
          <p:cNvPr id="271" name="ANUARIO_ANEXO_P122_L047"/>
          <p:cNvSpPr txBox="1"/>
          <p:nvPr/>
        </p:nvSpPr>
        <p:spPr>
          <a:xfrm>
            <a:off x="4647537" y="2736931"/>
            <a:ext cx="41282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INPC y los índices de los servicios que integran el Índice de Precios de Comunicaciones, consultar </a:t>
            </a:r>
          </a:p>
        </p:txBody>
      </p:sp>
      <p:sp>
        <p:nvSpPr>
          <p:cNvPr id="272" name="ANUARIO_ANEXO_P122_L048"/>
          <p:cNvSpPr txBox="1"/>
          <p:nvPr/>
        </p:nvSpPr>
        <p:spPr>
          <a:xfrm>
            <a:off x="4647537" y="2846705"/>
            <a:ext cx="10961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Anexo III. Metodologías.</a:t>
            </a:r>
          </a:p>
        </p:txBody>
      </p:sp>
      <p:sp>
        <p:nvSpPr>
          <p:cNvPr id="273" name="ANUARIO_ANEXO_P122_L049"/>
          <p:cNvSpPr txBox="1"/>
          <p:nvPr/>
        </p:nvSpPr>
        <p:spPr>
          <a:xfrm>
            <a:off x="4647537" y="3062598"/>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Infantil:</a:t>
            </a:r>
            <a:r>
              <a:rPr sz="640" b="0" i="0">
                <a:solidFill>
                  <a:srgbClr val="1F3031"/>
                </a:solidFill>
                <a:latin typeface="Noto Sans"/>
              </a:rPr>
              <a:t> Son programas enfocados directamente a los niños, aunque no excluyen a un auditorio </a:t>
            </a:r>
          </a:p>
        </p:txBody>
      </p:sp>
      <p:sp>
        <p:nvSpPr>
          <p:cNvPr id="274" name="ANUARIO_ANEXO_P122_L050"/>
          <p:cNvSpPr txBox="1"/>
          <p:nvPr/>
        </p:nvSpPr>
        <p:spPr>
          <a:xfrm>
            <a:off x="4647537" y="3173057"/>
            <a:ext cx="41284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adulto. Estas producciones generalmente no comprenden caricaturas, ya que su tendencia es </a:t>
            </a:r>
          </a:p>
        </p:txBody>
      </p:sp>
      <p:sp>
        <p:nvSpPr>
          <p:cNvPr id="275" name="ANUARIO_ANEXO_P122_L051"/>
          <p:cNvSpPr txBox="1"/>
          <p:nvPr/>
        </p:nvSpPr>
        <p:spPr>
          <a:xfrm>
            <a:off x="4647537" y="3282832"/>
            <a:ext cx="412859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didáctica y se estructuran a partir del uso de lenguaje sencillo, en función de la edad del auditorio </a:t>
            </a:r>
          </a:p>
        </p:txBody>
      </p:sp>
      <p:sp>
        <p:nvSpPr>
          <p:cNvPr id="276" name="ANUARIO_ANEXO_P122_L052"/>
          <p:cNvSpPr txBox="1"/>
          <p:nvPr/>
        </p:nvSpPr>
        <p:spPr>
          <a:xfrm>
            <a:off x="4647537" y="3392607"/>
            <a:ext cx="37486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objetivo. En ocasiones, la conducción recae en niños para lograr una mayor identificación.</a:t>
            </a:r>
          </a:p>
        </p:txBody>
      </p:sp>
      <p:sp>
        <p:nvSpPr>
          <p:cNvPr id="277" name="ANUARIO_ANEXO_P122_L053"/>
          <p:cNvSpPr txBox="1"/>
          <p:nvPr/>
        </p:nvSpPr>
        <p:spPr>
          <a:xfrm>
            <a:off x="4647537" y="3608500"/>
            <a:ext cx="41287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Ingresos:</a:t>
            </a:r>
            <a:r>
              <a:rPr sz="640" b="0" i="0">
                <a:solidFill>
                  <a:srgbClr val="1F3031"/>
                </a:solidFill>
                <a:latin typeface="Noto Sans"/>
              </a:rPr>
              <a:t> Es la suma de los ingresos en pesos corrientes recibidos por cada operador por la prestación </a:t>
            </a:r>
          </a:p>
        </p:txBody>
      </p:sp>
      <p:sp>
        <p:nvSpPr>
          <p:cNvPr id="278" name="ANUARIO_ANEXO_P122_L054"/>
          <p:cNvSpPr txBox="1"/>
          <p:nvPr/>
        </p:nvSpPr>
        <p:spPr>
          <a:xfrm>
            <a:off x="4647537" y="3718959"/>
            <a:ext cx="21551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servicios de telecomunicaciones. Comprenden:</a:t>
            </a:r>
          </a:p>
        </p:txBody>
      </p:sp>
      <p:sp>
        <p:nvSpPr>
          <p:cNvPr id="279" name="ANUARIO_ANEXO_P122_L055"/>
          <p:cNvSpPr txBox="1"/>
          <p:nvPr/>
        </p:nvSpPr>
        <p:spPr>
          <a:xfrm>
            <a:off x="4814610" y="3934851"/>
            <a:ext cx="275814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1. </a:t>
            </a:r>
            <a:r>
              <a:rPr sz="640" b="0" i="0">
                <a:solidFill>
                  <a:srgbClr val="1F3031"/>
                </a:solidFill>
                <a:latin typeface="Noto Sans"/>
              </a:rPr>
              <a:t>Ingresos por venta o renta de equipos de telecomunicaciones. </a:t>
            </a:r>
          </a:p>
        </p:txBody>
      </p:sp>
      <p:sp>
        <p:nvSpPr>
          <p:cNvPr id="280" name="ANUARIO_ANEXO_P122_L056"/>
          <p:cNvSpPr txBox="1"/>
          <p:nvPr/>
        </p:nvSpPr>
        <p:spPr>
          <a:xfrm>
            <a:off x="4814610" y="4151428"/>
            <a:ext cx="39613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2. </a:t>
            </a:r>
            <a:r>
              <a:rPr sz="640" b="0" i="0">
                <a:solidFill>
                  <a:srgbClr val="1F3031"/>
                </a:solidFill>
                <a:latin typeface="Noto Sans"/>
              </a:rPr>
              <a:t> Ingresos por instalación y mantenimiento para servicios considerados de telecomunicaciones. </a:t>
            </a:r>
          </a:p>
        </p:txBody>
      </p:sp>
      <p:sp>
        <p:nvSpPr>
          <p:cNvPr id="281" name="ANUARIO_ANEXO_P122_L057"/>
          <p:cNvSpPr txBox="1"/>
          <p:nvPr/>
        </p:nvSpPr>
        <p:spPr>
          <a:xfrm>
            <a:off x="4814610" y="4368005"/>
            <a:ext cx="311456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3. </a:t>
            </a:r>
            <a:r>
              <a:rPr sz="640" b="0" i="0">
                <a:solidFill>
                  <a:srgbClr val="1F3031"/>
                </a:solidFill>
                <a:latin typeface="Noto Sans"/>
              </a:rPr>
              <a:t> Ingresos por servicios considerados minoristas de telecomunicaciones.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123</a:t>
            </a:r>
          </a:p>
        </p:txBody>
      </p:sp>
      <p:sp>
        <p:nvSpPr>
          <p:cNvPr id="225" name="ANUARIO_ANEXO_P123_L001"/>
          <p:cNvSpPr txBox="1"/>
          <p:nvPr/>
        </p:nvSpPr>
        <p:spPr>
          <a:xfrm>
            <a:off x="695494" y="656471"/>
            <a:ext cx="312899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Ingresos por servicios considerados mayoristas de telecomunicaciones. </a:t>
            </a:r>
          </a:p>
        </p:txBody>
      </p:sp>
      <p:sp>
        <p:nvSpPr>
          <p:cNvPr id="226" name="ANUARIO_ANEXO_P123_L002"/>
          <p:cNvSpPr txBox="1"/>
          <p:nvPr/>
        </p:nvSpPr>
        <p:spPr>
          <a:xfrm>
            <a:off x="695494" y="874823"/>
            <a:ext cx="237730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 </a:t>
            </a:r>
            <a:r>
              <a:rPr sz="592" b="0" i="0">
                <a:solidFill>
                  <a:srgbClr val="1F3031"/>
                </a:solidFill>
                <a:latin typeface="Noto Sans"/>
              </a:rPr>
              <a:t> Ingresos minoristas por servicio </a:t>
            </a:r>
            <a:r>
              <a:rPr sz="592" b="0" i="1">
                <a:solidFill>
                  <a:srgbClr val="1F3031"/>
                </a:solidFill>
                <a:latin typeface="Noto Sans"/>
              </a:rPr>
              <a:t>Over The Top</a:t>
            </a:r>
            <a:r>
              <a:rPr sz="592" b="0" i="0">
                <a:solidFill>
                  <a:srgbClr val="1F3031"/>
                </a:solidFill>
                <a:latin typeface="Noto Sans"/>
              </a:rPr>
              <a:t> (OTT). </a:t>
            </a:r>
          </a:p>
        </p:txBody>
      </p:sp>
      <p:sp>
        <p:nvSpPr>
          <p:cNvPr id="227" name="ANUARIO_ANEXO_P123_L003"/>
          <p:cNvSpPr txBox="1"/>
          <p:nvPr/>
        </p:nvSpPr>
        <p:spPr>
          <a:xfrm>
            <a:off x="695494" y="1093174"/>
            <a:ext cx="241427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6. </a:t>
            </a:r>
            <a:r>
              <a:rPr sz="592" b="0" i="0">
                <a:solidFill>
                  <a:srgbClr val="1F3031"/>
                </a:solidFill>
                <a:latin typeface="Noto Sans"/>
              </a:rPr>
              <a:t> Ingresos mayoristas por servicios Over The Top (OTT).</a:t>
            </a:r>
          </a:p>
        </p:txBody>
      </p:sp>
      <p:sp>
        <p:nvSpPr>
          <p:cNvPr id="228" name="ANUARIO_ANEXO_P123_L004"/>
          <p:cNvSpPr txBox="1"/>
          <p:nvPr/>
        </p:nvSpPr>
        <p:spPr>
          <a:xfrm>
            <a:off x="695494" y="1311525"/>
            <a:ext cx="13606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7. </a:t>
            </a:r>
            <a:r>
              <a:rPr sz="592" b="0" i="0">
                <a:solidFill>
                  <a:srgbClr val="1F3031"/>
                </a:solidFill>
                <a:latin typeface="Noto Sans"/>
              </a:rPr>
              <a:t>Ingresos por otros servicios.</a:t>
            </a:r>
          </a:p>
        </p:txBody>
      </p:sp>
      <p:sp>
        <p:nvSpPr>
          <p:cNvPr id="229" name="ANUARIO_ANEXO_P123_L005"/>
          <p:cNvSpPr txBox="1"/>
          <p:nvPr/>
        </p:nvSpPr>
        <p:spPr>
          <a:xfrm>
            <a:off x="528422" y="1530559"/>
            <a:ext cx="41278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Todos los valores de los ingresos son considerados sin IVA ni ningún otro impuesto aplicable, y con </a:t>
            </a:r>
          </a:p>
        </p:txBody>
      </p:sp>
      <p:sp>
        <p:nvSpPr>
          <p:cNvPr id="230" name="ANUARIO_ANEXO_P123_L006"/>
          <p:cNvSpPr txBox="1"/>
          <p:nvPr/>
        </p:nvSpPr>
        <p:spPr>
          <a:xfrm>
            <a:off x="528422" y="1642109"/>
            <a:ext cx="404141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descuentos y bonificaciones tarifarias que se consideren en sus Planes Tarifarios ya aplicadas. </a:t>
            </a:r>
          </a:p>
        </p:txBody>
      </p:sp>
      <p:sp>
        <p:nvSpPr>
          <p:cNvPr id="231" name="ANUARIO_ANEXO_P123_L007"/>
          <p:cNvSpPr txBox="1"/>
          <p:nvPr/>
        </p:nvSpPr>
        <p:spPr>
          <a:xfrm>
            <a:off x="528422" y="1859776"/>
            <a:ext cx="412765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Ingreso corriente:</a:t>
            </a:r>
            <a:r>
              <a:rPr sz="592" b="0" i="0">
                <a:solidFill>
                  <a:srgbClr val="1F3031"/>
                </a:solidFill>
                <a:latin typeface="Noto Sans"/>
              </a:rPr>
              <a:t> Máximo de recursos al que un hogar puede acceder de manera regular y que </a:t>
            </a:r>
          </a:p>
        </p:txBody>
      </p:sp>
      <p:sp>
        <p:nvSpPr>
          <p:cNvPr id="232" name="ANUARIO_ANEXO_P123_L008"/>
          <p:cNvSpPr txBox="1"/>
          <p:nvPr/>
        </p:nvSpPr>
        <p:spPr>
          <a:xfrm>
            <a:off x="528422" y="1972009"/>
            <a:ext cx="41278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están disponibles para su consumo de bienes y servicios en un lapso dado, manteniendo inalterado </a:t>
            </a:r>
          </a:p>
        </p:txBody>
      </p:sp>
      <p:sp>
        <p:nvSpPr>
          <p:cNvPr id="233" name="ANUARIO_ANEXO_P123_L009"/>
          <p:cNvSpPr txBox="1"/>
          <p:nvPr/>
        </p:nvSpPr>
        <p:spPr>
          <a:xfrm>
            <a:off x="528422" y="2083558"/>
            <a:ext cx="10873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patrimonio del hogar.</a:t>
            </a:r>
          </a:p>
        </p:txBody>
      </p:sp>
      <p:sp>
        <p:nvSpPr>
          <p:cNvPr id="234" name="ANUARIO_ANEXO_P123_L010"/>
          <p:cNvSpPr txBox="1"/>
          <p:nvPr/>
        </p:nvSpPr>
        <p:spPr>
          <a:xfrm>
            <a:off x="528422" y="2301225"/>
            <a:ext cx="41284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Inversión privada en telecomunicaciones:</a:t>
            </a:r>
            <a:r>
              <a:rPr sz="592" b="0" i="0">
                <a:solidFill>
                  <a:srgbClr val="1F3031"/>
                </a:solidFill>
                <a:latin typeface="Noto Sans"/>
              </a:rPr>
              <a:t> Es la suma de la inversión en infraestructura en pesos </a:t>
            </a:r>
          </a:p>
        </p:txBody>
      </p:sp>
      <p:sp>
        <p:nvSpPr>
          <p:cNvPr id="235" name="ANUARIO_ANEXO_P123_L011"/>
          <p:cNvSpPr txBox="1"/>
          <p:nvPr/>
        </p:nvSpPr>
        <p:spPr>
          <a:xfrm>
            <a:off x="528422" y="2413458"/>
            <a:ext cx="41282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corrientes realizada por cada uno de los operadores de servicios de telecomunicaciones y comprende </a:t>
            </a:r>
          </a:p>
        </p:txBody>
      </p:sp>
      <p:sp>
        <p:nvSpPr>
          <p:cNvPr id="236" name="ANUARIO_ANEXO_P123_L012"/>
          <p:cNvSpPr txBox="1"/>
          <p:nvPr/>
        </p:nvSpPr>
        <p:spPr>
          <a:xfrm>
            <a:off x="528422" y="2525007"/>
            <a:ext cx="6312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 siguiente: </a:t>
            </a:r>
          </a:p>
        </p:txBody>
      </p:sp>
      <p:sp>
        <p:nvSpPr>
          <p:cNvPr id="237" name="ANUARIO_ANEXO_P123_L013"/>
          <p:cNvSpPr txBox="1"/>
          <p:nvPr/>
        </p:nvSpPr>
        <p:spPr>
          <a:xfrm>
            <a:off x="695494" y="2742675"/>
            <a:ext cx="39613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 </a:t>
            </a:r>
            <a:r>
              <a:rPr sz="592" b="0" i="0">
                <a:solidFill>
                  <a:srgbClr val="1F3031"/>
                </a:solidFill>
                <a:latin typeface="Noto Sans"/>
              </a:rPr>
              <a:t>Inversión bruta en servicios de telecomunicaciones realizada para la adquisición o mejora </a:t>
            </a:r>
          </a:p>
        </p:txBody>
      </p:sp>
      <p:sp>
        <p:nvSpPr>
          <p:cNvPr id="238" name="ANUARIO_ANEXO_P123_L014"/>
          <p:cNvSpPr txBox="1"/>
          <p:nvPr/>
        </p:nvSpPr>
        <p:spPr>
          <a:xfrm>
            <a:off x="806876" y="2854908"/>
            <a:ext cx="38494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infraestructura de telecomunicaciones en el territorio nacional. Incluye la inversión en las </a:t>
            </a:r>
          </a:p>
        </p:txBody>
      </p:sp>
      <p:sp>
        <p:nvSpPr>
          <p:cNvPr id="239" name="ANUARIO_ANEXO_P123_L015"/>
          <p:cNvSpPr txBox="1"/>
          <p:nvPr/>
        </p:nvSpPr>
        <p:spPr>
          <a:xfrm>
            <a:off x="806876" y="2966457"/>
            <a:ext cx="38501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instalaciones para la operación, así como las adiciones o modificaciones a las instalaciones </a:t>
            </a:r>
          </a:p>
        </p:txBody>
      </p:sp>
      <p:sp>
        <p:nvSpPr>
          <p:cNvPr id="240" name="ANUARIO_ANEXO_P123_L016"/>
          <p:cNvSpPr txBox="1"/>
          <p:nvPr/>
        </p:nvSpPr>
        <p:spPr>
          <a:xfrm>
            <a:off x="806876" y="3078006"/>
            <a:ext cx="3849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existentes cuya utilización se prevé para un amplio periodo, por ejemplo, equipos de </a:t>
            </a:r>
          </a:p>
        </p:txBody>
      </p:sp>
      <p:sp>
        <p:nvSpPr>
          <p:cNvPr id="241" name="ANUARIO_ANEXO_P123_L017"/>
          <p:cNvSpPr txBox="1"/>
          <p:nvPr/>
        </p:nvSpPr>
        <p:spPr>
          <a:xfrm>
            <a:off x="806876" y="3189555"/>
            <a:ext cx="384941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conmutación, de señalización, sincronización, transmisión, fuerza eléctrica y clima, entre </a:t>
            </a:r>
          </a:p>
        </p:txBody>
      </p:sp>
      <p:sp>
        <p:nvSpPr>
          <p:cNvPr id="242" name="ANUARIO_ANEXO_P123_L018"/>
          <p:cNvSpPr txBox="1"/>
          <p:nvPr/>
        </p:nvSpPr>
        <p:spPr>
          <a:xfrm>
            <a:off x="806876" y="3301105"/>
            <a:ext cx="37300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otros. </a:t>
            </a:r>
          </a:p>
        </p:txBody>
      </p:sp>
      <p:sp>
        <p:nvSpPr>
          <p:cNvPr id="243" name="ANUARIO_ANEXO_P123_L019"/>
          <p:cNvSpPr txBox="1"/>
          <p:nvPr/>
        </p:nvSpPr>
        <p:spPr>
          <a:xfrm>
            <a:off x="695494" y="3518771"/>
            <a:ext cx="396116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 </a:t>
            </a:r>
            <a:r>
              <a:rPr sz="592" b="0" i="0">
                <a:solidFill>
                  <a:srgbClr val="1F3031"/>
                </a:solidFill>
                <a:latin typeface="Noto Sans"/>
              </a:rPr>
              <a:t> Inversión bruta por concepto de compra de terrenos y/o edificios asociados al servicio de </a:t>
            </a:r>
          </a:p>
        </p:txBody>
      </p:sp>
      <p:sp>
        <p:nvSpPr>
          <p:cNvPr id="244" name="ANUARIO_ANEXO_P123_L020"/>
          <p:cNvSpPr txBox="1"/>
          <p:nvPr/>
        </p:nvSpPr>
        <p:spPr>
          <a:xfrm>
            <a:off x="806876" y="3631004"/>
            <a:ext cx="95645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telecomunicaciones.</a:t>
            </a:r>
          </a:p>
        </p:txBody>
      </p:sp>
      <p:sp>
        <p:nvSpPr>
          <p:cNvPr id="245" name="ANUARIO_ANEXO_P123_L021"/>
          <p:cNvSpPr txBox="1"/>
          <p:nvPr/>
        </p:nvSpPr>
        <p:spPr>
          <a:xfrm>
            <a:off x="528422" y="3848672"/>
            <a:ext cx="412798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Índice de Precios de Comunicaciones (IPCOM):</a:t>
            </a:r>
            <a:r>
              <a:rPr sz="592" b="0" i="0">
                <a:solidFill>
                  <a:srgbClr val="1F3031"/>
                </a:solidFill>
                <a:latin typeface="Noto Sans"/>
              </a:rPr>
              <a:t> Este índice integra los índices de precios de los </a:t>
            </a:r>
          </a:p>
        </p:txBody>
      </p:sp>
      <p:sp>
        <p:nvSpPr>
          <p:cNvPr id="246" name="ANUARIO_ANEXO_P123_L022"/>
          <p:cNvSpPr txBox="1"/>
          <p:nvPr/>
        </p:nvSpPr>
        <p:spPr>
          <a:xfrm>
            <a:off x="528422" y="3960905"/>
            <a:ext cx="41277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de telefonía móvil, telefonía fija, Internet, paquetes de telefonía, Internet y televisión de paga, </a:t>
            </a:r>
          </a:p>
        </p:txBody>
      </p:sp>
      <p:sp>
        <p:nvSpPr>
          <p:cNvPr id="247" name="ANUARIO_ANEXO_P123_L023"/>
          <p:cNvSpPr txBox="1"/>
          <p:nvPr/>
        </p:nvSpPr>
        <p:spPr>
          <a:xfrm>
            <a:off x="528422" y="4072454"/>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equipos terminales de comunicación y paquetería. Para más información sobre los ponderadores de </a:t>
            </a:r>
          </a:p>
        </p:txBody>
      </p:sp>
      <p:sp>
        <p:nvSpPr>
          <p:cNvPr id="248" name="ANUARIO_ANEXO_P123_L024"/>
          <p:cNvSpPr txBox="1"/>
          <p:nvPr/>
        </p:nvSpPr>
        <p:spPr>
          <a:xfrm>
            <a:off x="528422" y="4184003"/>
            <a:ext cx="364036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dentro del INPC consultar Anexo III. Metodologías.</a:t>
            </a:r>
          </a:p>
        </p:txBody>
      </p:sp>
      <p:sp>
        <p:nvSpPr>
          <p:cNvPr id="249" name="ANUARIO_ANEXO_P123_L025"/>
          <p:cNvSpPr txBox="1"/>
          <p:nvPr/>
        </p:nvSpPr>
        <p:spPr>
          <a:xfrm>
            <a:off x="4647536" y="656471"/>
            <a:ext cx="20129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a:t>
            </a:r>
          </a:p>
        </p:txBody>
      </p:sp>
      <p:sp>
        <p:nvSpPr>
          <p:cNvPr id="250" name="ANUARIO_ANEXO_P123_L026"/>
          <p:cNvSpPr txBox="1"/>
          <p:nvPr/>
        </p:nvSpPr>
        <p:spPr>
          <a:xfrm>
            <a:off x="4647536" y="884748"/>
            <a:ext cx="4128278" cy="146070"/>
          </a:xfrm>
          <a:prstGeom prst="rect">
            <a:avLst/>
          </a:prstGeom>
          <a:noFill/>
        </p:spPr>
        <p:txBody>
          <a:bodyPr wrap="none" lIns="0" rIns="0" tIns="0" bIns="0">
            <a:noAutofit/>
          </a:bodyPr>
          <a:lstStyle/>
          <a:p>
            <a:pPr>
              <a:spcBef>
                <a:spcPts val="0"/>
              </a:spcBef>
              <a:spcAft>
                <a:spcPts val="0"/>
              </a:spcAft>
            </a:pPr>
            <a:r>
              <a:rPr sz="592" b="1" i="1">
                <a:solidFill>
                  <a:srgbClr val="1F3031"/>
                </a:solidFill>
                <a:latin typeface="Noto Sans"/>
              </a:rPr>
              <a:t>Magazine</a:t>
            </a:r>
            <a:r>
              <a:rPr sz="592" b="1" i="0">
                <a:solidFill>
                  <a:srgbClr val="1F3031"/>
                </a:solidFill>
                <a:latin typeface="Noto Sans"/>
              </a:rPr>
              <a:t>:</a:t>
            </a:r>
            <a:r>
              <a:rPr sz="592" b="0" i="0">
                <a:solidFill>
                  <a:srgbClr val="1F3031"/>
                </a:solidFill>
                <a:latin typeface="Noto Sans"/>
              </a:rPr>
              <a:t> Programas cuya producción contiene diferentes cuadros, tales como variedades, </a:t>
            </a:r>
          </a:p>
        </p:txBody>
      </p:sp>
      <p:sp>
        <p:nvSpPr>
          <p:cNvPr id="251" name="ANUARIO_ANEXO_P123_L027"/>
          <p:cNvSpPr txBox="1"/>
          <p:nvPr/>
        </p:nvSpPr>
        <p:spPr>
          <a:xfrm>
            <a:off x="4647536" y="1006906"/>
            <a:ext cx="412847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entrevistas, reportajes, investigaciones y comentarios. Dentro de este género también se contemplan </a:t>
            </a:r>
          </a:p>
        </p:txBody>
      </p:sp>
      <p:sp>
        <p:nvSpPr>
          <p:cNvPr id="252" name="ANUARIO_ANEXO_P123_L028"/>
          <p:cNvSpPr txBox="1"/>
          <p:nvPr/>
        </p:nvSpPr>
        <p:spPr>
          <a:xfrm>
            <a:off x="4647536" y="1128380"/>
            <a:ext cx="412845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aquellos programas cuyas características no sean clasificables dentro de algún otro género, tales </a:t>
            </a:r>
          </a:p>
        </p:txBody>
      </p:sp>
      <p:sp>
        <p:nvSpPr>
          <p:cNvPr id="253" name="ANUARIO_ANEXO_P123_L029"/>
          <p:cNvSpPr txBox="1"/>
          <p:nvPr/>
        </p:nvSpPr>
        <p:spPr>
          <a:xfrm>
            <a:off x="4647536" y="1249854"/>
            <a:ext cx="33650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cobertura de eventos (exceptuando los religiosos, deportivos y culturales).</a:t>
            </a:r>
          </a:p>
        </p:txBody>
      </p:sp>
      <p:sp>
        <p:nvSpPr>
          <p:cNvPr id="254" name="ANUARIO_ANEXO_P123_L030"/>
          <p:cNvSpPr txBox="1"/>
          <p:nvPr/>
        </p:nvSpPr>
        <p:spPr>
          <a:xfrm>
            <a:off x="4647536" y="1477447"/>
            <a:ext cx="33028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Megabyte (MB):</a:t>
            </a:r>
            <a:r>
              <a:rPr sz="592" b="0" i="0">
                <a:solidFill>
                  <a:srgbClr val="1F3031"/>
                </a:solidFill>
                <a:latin typeface="Noto Sans"/>
              </a:rPr>
              <a:t> Es la unidad de medida de la transmisión de datos de Internet.</a:t>
            </a:r>
          </a:p>
        </p:txBody>
      </p:sp>
      <p:sp>
        <p:nvSpPr>
          <p:cNvPr id="255" name="ANUARIO_ANEXO_P123_L031"/>
          <p:cNvSpPr txBox="1"/>
          <p:nvPr/>
        </p:nvSpPr>
        <p:spPr>
          <a:xfrm>
            <a:off x="4647536" y="1705722"/>
            <a:ext cx="412816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Megabits (Mbps):</a:t>
            </a:r>
            <a:r>
              <a:rPr sz="592" b="0" i="0">
                <a:solidFill>
                  <a:srgbClr val="1F3031"/>
                </a:solidFill>
                <a:latin typeface="Noto Sans"/>
              </a:rPr>
              <a:t> Megabits por segundo es la medida de la velocidad de transmisión de datos de </a:t>
            </a:r>
          </a:p>
        </p:txBody>
      </p:sp>
      <p:sp>
        <p:nvSpPr>
          <p:cNvPr id="256" name="ANUARIO_ANEXO_P123_L032"/>
          <p:cNvSpPr txBox="1"/>
          <p:nvPr/>
        </p:nvSpPr>
        <p:spPr>
          <a:xfrm>
            <a:off x="4647536" y="1827880"/>
            <a:ext cx="656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banda ancha.</a:t>
            </a:r>
          </a:p>
        </p:txBody>
      </p:sp>
      <p:sp>
        <p:nvSpPr>
          <p:cNvPr id="257" name="ANUARIO_ANEXO_P123_L033"/>
          <p:cNvSpPr txBox="1"/>
          <p:nvPr/>
        </p:nvSpPr>
        <p:spPr>
          <a:xfrm>
            <a:off x="4647536" y="2055473"/>
            <a:ext cx="34097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Megahertz (MHz):</a:t>
            </a:r>
            <a:r>
              <a:rPr sz="592" b="0" i="0">
                <a:solidFill>
                  <a:srgbClr val="1F3031"/>
                </a:solidFill>
                <a:latin typeface="Noto Sans"/>
              </a:rPr>
              <a:t> Es la unidad de medida de la frecuencia y equivale a 106 Hertz.</a:t>
            </a:r>
          </a:p>
        </p:txBody>
      </p:sp>
      <p:sp>
        <p:nvSpPr>
          <p:cNvPr id="258" name="ANUARIO_ANEXO_P123_L034"/>
          <p:cNvSpPr txBox="1"/>
          <p:nvPr/>
        </p:nvSpPr>
        <p:spPr>
          <a:xfrm>
            <a:off x="4647536" y="2283749"/>
            <a:ext cx="412850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Mercadeo:</a:t>
            </a:r>
            <a:r>
              <a:rPr sz="592" b="0" i="0">
                <a:solidFill>
                  <a:srgbClr val="1F3031"/>
                </a:solidFill>
                <a:latin typeface="Noto Sans"/>
              </a:rPr>
              <a:t> Programa que promueve la venta de productos vía telefónica. Generalmente, en este </a:t>
            </a:r>
          </a:p>
        </p:txBody>
      </p:sp>
      <p:sp>
        <p:nvSpPr>
          <p:cNvPr id="259" name="ANUARIO_ANEXO_P123_L035"/>
          <p:cNvSpPr txBox="1"/>
          <p:nvPr/>
        </p:nvSpPr>
        <p:spPr>
          <a:xfrm>
            <a:off x="4647536" y="2405907"/>
            <a:ext cx="41285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tipo de programas se realizan demostraciones o explicaciones del funcionamiento del o de los </a:t>
            </a:r>
          </a:p>
        </p:txBody>
      </p:sp>
      <p:sp>
        <p:nvSpPr>
          <p:cNvPr id="260" name="ANUARIO_ANEXO_P123_L036"/>
          <p:cNvSpPr txBox="1"/>
          <p:nvPr/>
        </p:nvSpPr>
        <p:spPr>
          <a:xfrm>
            <a:off x="4647536" y="2527381"/>
            <a:ext cx="412849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artículos ofrecidos. También se encuentran dentro de esta categoría los programas pagados por </a:t>
            </a:r>
          </a:p>
        </p:txBody>
      </p:sp>
      <p:sp>
        <p:nvSpPr>
          <p:cNvPr id="261" name="ANUARIO_ANEXO_P123_L037"/>
          <p:cNvSpPr txBox="1"/>
          <p:nvPr/>
        </p:nvSpPr>
        <p:spPr>
          <a:xfrm>
            <a:off x="4647536" y="2648855"/>
            <a:ext cx="412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instituciones, asociaciones civiles o religiosas, en los cuales el tiempo aire es utilizado para la difusión </a:t>
            </a:r>
          </a:p>
        </p:txBody>
      </p:sp>
      <p:sp>
        <p:nvSpPr>
          <p:cNvPr id="262" name="ANUARIO_ANEXO_P123_L038"/>
          <p:cNvSpPr txBox="1"/>
          <p:nvPr/>
        </p:nvSpPr>
        <p:spPr>
          <a:xfrm>
            <a:off x="4647536" y="2770329"/>
            <a:ext cx="729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un mensaje.</a:t>
            </a:r>
          </a:p>
        </p:txBody>
      </p:sp>
      <p:sp>
        <p:nvSpPr>
          <p:cNvPr id="263" name="ANUARIO_ANEXO_P123_L039"/>
          <p:cNvSpPr txBox="1"/>
          <p:nvPr/>
        </p:nvSpPr>
        <p:spPr>
          <a:xfrm>
            <a:off x="4647536" y="2997922"/>
            <a:ext cx="412812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Musicales:</a:t>
            </a:r>
            <a:r>
              <a:rPr sz="592" b="0" i="0">
                <a:solidFill>
                  <a:srgbClr val="1F3031"/>
                </a:solidFill>
                <a:latin typeface="Noto Sans"/>
              </a:rPr>
              <a:t> Programas de corte musical, tales como videos, conciertos, presentaciones de cantantes </a:t>
            </a:r>
          </a:p>
        </p:txBody>
      </p:sp>
      <p:sp>
        <p:nvSpPr>
          <p:cNvPr id="264" name="ANUARIO_ANEXO_P123_L040"/>
          <p:cNvSpPr txBox="1"/>
          <p:nvPr/>
        </p:nvSpPr>
        <p:spPr>
          <a:xfrm>
            <a:off x="4647536" y="3120080"/>
            <a:ext cx="36704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grupos, que pueden incluir o no semblanzas o entrevistas con los artistas presentados.</a:t>
            </a:r>
          </a:p>
        </p:txBody>
      </p:sp>
      <p:sp>
        <p:nvSpPr>
          <p:cNvPr id="265" name="ANUARIO_ANEXO_P123_L041"/>
          <p:cNvSpPr txBox="1"/>
          <p:nvPr/>
        </p:nvSpPr>
        <p:spPr>
          <a:xfrm>
            <a:off x="4647536" y="3347673"/>
            <a:ext cx="189710"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a:t>
            </a:r>
          </a:p>
        </p:txBody>
      </p:sp>
      <p:sp>
        <p:nvSpPr>
          <p:cNvPr id="266" name="ANUARIO_ANEXO_P123_L042"/>
          <p:cNvSpPr txBox="1"/>
          <p:nvPr/>
        </p:nvSpPr>
        <p:spPr>
          <a:xfrm>
            <a:off x="4647536" y="3575948"/>
            <a:ext cx="412843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Noticieros:</a:t>
            </a:r>
            <a:r>
              <a:rPr sz="592" b="0" i="0">
                <a:solidFill>
                  <a:srgbClr val="1F3031"/>
                </a:solidFill>
                <a:latin typeface="Noto Sans"/>
              </a:rPr>
              <a:t> Programación basada en la actualidad informativa nacional e internacional, articulada </a:t>
            </a:r>
          </a:p>
        </p:txBody>
      </p:sp>
      <p:sp>
        <p:nvSpPr>
          <p:cNvPr id="267" name="ANUARIO_ANEXO_P123_L043"/>
          <p:cNvSpPr txBox="1"/>
          <p:nvPr/>
        </p:nvSpPr>
        <p:spPr>
          <a:xfrm>
            <a:off x="4647536" y="3698107"/>
            <a:ext cx="41280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 los géneros tradicionales del periodismo escrito, tales como la nota informativa, el reportaje, la </a:t>
            </a:r>
          </a:p>
        </p:txBody>
      </p:sp>
      <p:sp>
        <p:nvSpPr>
          <p:cNvPr id="268" name="ANUARIO_ANEXO_P123_L044"/>
          <p:cNvSpPr txBox="1"/>
          <p:nvPr/>
        </p:nvSpPr>
        <p:spPr>
          <a:xfrm>
            <a:off x="4647536" y="3819580"/>
            <a:ext cx="41284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 la editorial, entre otros. Generalmente se estructuran en bloques temáticos que buscan </a:t>
            </a:r>
          </a:p>
        </p:txBody>
      </p:sp>
      <p:sp>
        <p:nvSpPr>
          <p:cNvPr id="269" name="ANUARIO_ANEXO_P123_L045"/>
          <p:cNvSpPr txBox="1"/>
          <p:nvPr/>
        </p:nvSpPr>
        <p:spPr>
          <a:xfrm>
            <a:off x="4647536" y="3941055"/>
            <a:ext cx="412796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mantener el interés y eliminar los factores de distracción a los que está expuesto el televidente. </a:t>
            </a:r>
          </a:p>
        </p:txBody>
      </p:sp>
      <p:sp>
        <p:nvSpPr>
          <p:cNvPr id="270" name="ANUARIO_ANEXO_P123_L046"/>
          <p:cNvSpPr txBox="1"/>
          <p:nvPr/>
        </p:nvSpPr>
        <p:spPr>
          <a:xfrm>
            <a:off x="4647536" y="4062528"/>
            <a:ext cx="41280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Dentro de este género se contemplan también aquellos programas de carácter informativo, de </a:t>
            </a:r>
          </a:p>
        </p:txBody>
      </p:sp>
      <p:sp>
        <p:nvSpPr>
          <p:cNvPr id="271" name="ANUARIO_ANEXO_P123_L047"/>
          <p:cNvSpPr txBox="1"/>
          <p:nvPr/>
        </p:nvSpPr>
        <p:spPr>
          <a:xfrm>
            <a:off x="4647536" y="4184003"/>
            <a:ext cx="254053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análisis o reportajes especializados sobre temas específicos.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124</a:t>
            </a:r>
          </a:p>
        </p:txBody>
      </p:sp>
      <p:sp>
        <p:nvSpPr>
          <p:cNvPr id="225" name="ANUARIO_ANEXO_P124_L001"/>
          <p:cNvSpPr txBox="1"/>
          <p:nvPr/>
        </p:nvSpPr>
        <p:spPr>
          <a:xfrm>
            <a:off x="528422" y="656471"/>
            <a:ext cx="1938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a:t>
            </a:r>
          </a:p>
        </p:txBody>
      </p:sp>
      <p:sp>
        <p:nvSpPr>
          <p:cNvPr id="226" name="ANUARIO_ANEXO_P124_L002"/>
          <p:cNvSpPr txBox="1"/>
          <p:nvPr/>
        </p:nvSpPr>
        <p:spPr>
          <a:xfrm>
            <a:off x="528422" y="879387"/>
            <a:ext cx="412837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Operador de telecomunicaciones:</a:t>
            </a:r>
            <a:r>
              <a:rPr sz="640" b="0" i="0">
                <a:solidFill>
                  <a:srgbClr val="1F3031"/>
                </a:solidFill>
                <a:latin typeface="Noto Sans"/>
              </a:rPr>
              <a:t> Persona física o moral titular de una o varias concesiones, </a:t>
            </a:r>
          </a:p>
        </p:txBody>
      </p:sp>
      <p:sp>
        <p:nvSpPr>
          <p:cNvPr id="227" name="ANUARIO_ANEXO_P124_L003"/>
          <p:cNvSpPr txBox="1"/>
          <p:nvPr/>
        </p:nvSpPr>
        <p:spPr>
          <a:xfrm>
            <a:off x="528422" y="996183"/>
            <a:ext cx="41266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autorizaciones, permisos o asignaciones, que lo habilitan para explotar servicios de telecomunicaciones, </a:t>
            </a:r>
          </a:p>
        </p:txBody>
      </p:sp>
      <p:sp>
        <p:nvSpPr>
          <p:cNvPr id="228" name="ANUARIO_ANEXO_P124_L004"/>
          <p:cNvSpPr txBox="1"/>
          <p:nvPr/>
        </p:nvSpPr>
        <p:spPr>
          <a:xfrm>
            <a:off x="528422" y="1112296"/>
            <a:ext cx="2078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espectro radioeléctrico, y/o recursos orbitales.</a:t>
            </a:r>
          </a:p>
        </p:txBody>
      </p:sp>
      <p:sp>
        <p:nvSpPr>
          <p:cNvPr id="229" name="ANUARIO_ANEXO_P124_L005"/>
          <p:cNvSpPr txBox="1"/>
          <p:nvPr/>
        </p:nvSpPr>
        <p:spPr>
          <a:xfrm>
            <a:off x="528422" y="1334528"/>
            <a:ext cx="412851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Over the Top (OTT)</a:t>
            </a:r>
            <a:r>
              <a:rPr sz="640" b="1" i="0">
                <a:solidFill>
                  <a:srgbClr val="1F3031"/>
                </a:solidFill>
                <a:latin typeface="Noto Sans"/>
              </a:rPr>
              <a:t>:</a:t>
            </a:r>
            <a:r>
              <a:rPr sz="640" b="0" i="0">
                <a:solidFill>
                  <a:srgbClr val="1F3031"/>
                </a:solidFill>
                <a:latin typeface="Noto Sans"/>
              </a:rPr>
              <a:t> Se consideran servicios en línea que, según la Unión Internacional de </a:t>
            </a:r>
          </a:p>
        </p:txBody>
      </p:sp>
      <p:sp>
        <p:nvSpPr>
          <p:cNvPr id="230" name="ANUARIO_ANEXO_P124_L006"/>
          <p:cNvSpPr txBox="1"/>
          <p:nvPr/>
        </p:nvSpPr>
        <p:spPr>
          <a:xfrm>
            <a:off x="528422" y="1451324"/>
            <a:ext cx="41284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se pueden considerar sustitutos potenciales de los servicios tradicionales de </a:t>
            </a:r>
          </a:p>
        </p:txBody>
      </p:sp>
      <p:sp>
        <p:nvSpPr>
          <p:cNvPr id="231" name="ANUARIO_ANEXO_P124_L007"/>
          <p:cNvSpPr txBox="1"/>
          <p:nvPr/>
        </p:nvSpPr>
        <p:spPr>
          <a:xfrm>
            <a:off x="528422" y="1567438"/>
            <a:ext cx="20544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y de contenido audiovisual.</a:t>
            </a:r>
          </a:p>
        </p:txBody>
      </p:sp>
      <p:sp>
        <p:nvSpPr>
          <p:cNvPr id="232" name="ANUARIO_ANEXO_P124_L008"/>
          <p:cNvSpPr txBox="1"/>
          <p:nvPr/>
        </p:nvSpPr>
        <p:spPr>
          <a:xfrm>
            <a:off x="528422" y="1789669"/>
            <a:ext cx="17340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t>
            </a:r>
          </a:p>
        </p:txBody>
      </p:sp>
      <p:sp>
        <p:nvSpPr>
          <p:cNvPr id="233" name="ANUARIO_ANEXO_P124_L009"/>
          <p:cNvSpPr txBox="1"/>
          <p:nvPr/>
        </p:nvSpPr>
        <p:spPr>
          <a:xfrm>
            <a:off x="528422" y="2012584"/>
            <a:ext cx="412841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Partidos Políticos:</a:t>
            </a:r>
            <a:r>
              <a:rPr sz="640" b="0" i="0">
                <a:solidFill>
                  <a:srgbClr val="1F3031"/>
                </a:solidFill>
                <a:latin typeface="Noto Sans"/>
              </a:rPr>
              <a:t> Programa cuyo contenido es la presentación o difusión de los mensajes y/o </a:t>
            </a:r>
          </a:p>
        </p:txBody>
      </p:sp>
      <p:sp>
        <p:nvSpPr>
          <p:cNvPr id="234" name="ANUARIO_ANEXO_P124_L010"/>
          <p:cNvSpPr txBox="1"/>
          <p:nvPr/>
        </p:nvSpPr>
        <p:spPr>
          <a:xfrm>
            <a:off x="528422" y="2129381"/>
            <a:ext cx="41279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actividades de los diferentes partidos políticos registrados. Las identificaciones de la producción </a:t>
            </a:r>
          </a:p>
        </p:txBody>
      </p:sp>
      <p:sp>
        <p:nvSpPr>
          <p:cNvPr id="235" name="ANUARIO_ANEXO_P124_L011"/>
          <p:cNvSpPr txBox="1"/>
          <p:nvPr/>
        </p:nvSpPr>
        <p:spPr>
          <a:xfrm>
            <a:off x="528422" y="2245493"/>
            <a:ext cx="23246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pueden presentar a una o varias asociaciones políticas.</a:t>
            </a:r>
          </a:p>
        </p:txBody>
      </p:sp>
      <p:sp>
        <p:nvSpPr>
          <p:cNvPr id="236" name="ANUARIO_ANEXO_P124_L012"/>
          <p:cNvSpPr txBox="1"/>
          <p:nvPr/>
        </p:nvSpPr>
        <p:spPr>
          <a:xfrm>
            <a:off x="528422" y="2467725"/>
            <a:ext cx="41276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Películas:</a:t>
            </a:r>
            <a:r>
              <a:rPr sz="640" b="0" i="0">
                <a:solidFill>
                  <a:srgbClr val="1F3031"/>
                </a:solidFill>
                <a:latin typeface="Noto Sans"/>
              </a:rPr>
              <a:t> Producción genérica al nombre. Normalmente es realizada para el cine o, y se transmite </a:t>
            </a:r>
          </a:p>
        </p:txBody>
      </p:sp>
      <p:sp>
        <p:nvSpPr>
          <p:cNvPr id="237" name="ANUARIO_ANEXO_P124_L013"/>
          <p:cNvSpPr txBox="1"/>
          <p:nvPr/>
        </p:nvSpPr>
        <p:spPr>
          <a:xfrm>
            <a:off x="528422" y="2584522"/>
            <a:ext cx="41279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televisión. En este caso, se incluyen las producciones nacionales y extranjeras. En este género no </a:t>
            </a:r>
          </a:p>
        </p:txBody>
      </p:sp>
      <p:sp>
        <p:nvSpPr>
          <p:cNvPr id="238" name="ANUARIO_ANEXO_P124_L014"/>
          <p:cNvSpPr txBox="1"/>
          <p:nvPr/>
        </p:nvSpPr>
        <p:spPr>
          <a:xfrm>
            <a:off x="528422" y="2700635"/>
            <a:ext cx="355428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está contemplado el cine documental de carácter didáctico o que incluya entrevistas.</a:t>
            </a:r>
          </a:p>
        </p:txBody>
      </p:sp>
      <p:sp>
        <p:nvSpPr>
          <p:cNvPr id="239" name="ANUARIO_ANEXO_P124_L015"/>
          <p:cNvSpPr txBox="1"/>
          <p:nvPr/>
        </p:nvSpPr>
        <p:spPr>
          <a:xfrm>
            <a:off x="528422" y="2922866"/>
            <a:ext cx="41282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Producto Interno Bruto (PIB):</a:t>
            </a:r>
            <a:r>
              <a:rPr sz="640" b="0" i="0">
                <a:solidFill>
                  <a:srgbClr val="1F3031"/>
                </a:solidFill>
                <a:latin typeface="Noto Sans"/>
              </a:rPr>
              <a:t> Indica el valor de la producción de bienes y servicios de un país durante </a:t>
            </a:r>
          </a:p>
        </p:txBody>
      </p:sp>
      <p:sp>
        <p:nvSpPr>
          <p:cNvPr id="240" name="ANUARIO_ANEXO_P124_L016"/>
          <p:cNvSpPr txBox="1"/>
          <p:nvPr/>
        </p:nvSpPr>
        <p:spPr>
          <a:xfrm>
            <a:off x="528422" y="3039663"/>
            <a:ext cx="36184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 determinado periodo. En este documento se presenta a precios constantes de 2018.</a:t>
            </a:r>
          </a:p>
        </p:txBody>
      </p:sp>
      <p:sp>
        <p:nvSpPr>
          <p:cNvPr id="241" name="ANUARIO_ANEXO_P124_L017"/>
          <p:cNvSpPr txBox="1"/>
          <p:nvPr/>
        </p:nvSpPr>
        <p:spPr>
          <a:xfrm>
            <a:off x="528422" y="3261894"/>
            <a:ext cx="412837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controlado:</a:t>
            </a:r>
            <a:r>
              <a:rPr sz="640" b="0" i="0">
                <a:solidFill>
                  <a:srgbClr val="1F3031"/>
                </a:solidFill>
                <a:latin typeface="Noto Sans"/>
              </a:rPr>
              <a:t> Esquema de contratación mediante el cual el suscriptor paga servicios de </a:t>
            </a:r>
          </a:p>
        </p:txBody>
      </p:sp>
      <p:sp>
        <p:nvSpPr>
          <p:cNvPr id="242" name="ANUARIO_ANEXO_P124_L018"/>
          <p:cNvSpPr txBox="1"/>
          <p:nvPr/>
        </p:nvSpPr>
        <p:spPr>
          <a:xfrm>
            <a:off x="528422" y="3378691"/>
            <a:ext cx="39000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su utilización y no se permite recargas adicionales.</a:t>
            </a:r>
          </a:p>
        </p:txBody>
      </p:sp>
      <p:sp>
        <p:nvSpPr>
          <p:cNvPr id="243" name="ANUARIO_ANEXO_P124_L019"/>
          <p:cNvSpPr txBox="1"/>
          <p:nvPr/>
        </p:nvSpPr>
        <p:spPr>
          <a:xfrm>
            <a:off x="528422" y="360092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libre:</a:t>
            </a:r>
            <a:r>
              <a:rPr sz="640" b="0" i="0">
                <a:solidFill>
                  <a:srgbClr val="1F3031"/>
                </a:solidFill>
                <a:latin typeface="Noto Sans"/>
              </a:rPr>
              <a:t> Esquema de contratación mediante el cual el suscriptor paga servicios de </a:t>
            </a:r>
          </a:p>
        </p:txBody>
      </p:sp>
      <p:sp>
        <p:nvSpPr>
          <p:cNvPr id="244" name="ANUARIO_ANEXO_P124_L020"/>
          <p:cNvSpPr txBox="1"/>
          <p:nvPr/>
        </p:nvSpPr>
        <p:spPr>
          <a:xfrm>
            <a:off x="528422" y="3717719"/>
            <a:ext cx="41078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inicialmente de pospago, pero permite realizar recargas adicionales (prepago).</a:t>
            </a:r>
          </a:p>
        </p:txBody>
      </p:sp>
      <p:sp>
        <p:nvSpPr>
          <p:cNvPr id="245" name="ANUARIO_ANEXO_P124_L021"/>
          <p:cNvSpPr txBox="1"/>
          <p:nvPr/>
        </p:nvSpPr>
        <p:spPr>
          <a:xfrm>
            <a:off x="528422" y="3939950"/>
            <a:ext cx="412789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a:t>
            </a:r>
            <a:r>
              <a:rPr sz="640" b="0" i="0">
                <a:solidFill>
                  <a:srgbClr val="1F3031"/>
                </a:solidFill>
                <a:latin typeface="Noto Sans"/>
              </a:rPr>
              <a:t> Esquema de contratación mediante el cual el suscriptor paga servicios de </a:t>
            </a:r>
          </a:p>
        </p:txBody>
      </p:sp>
      <p:sp>
        <p:nvSpPr>
          <p:cNvPr id="246" name="ANUARIO_ANEXO_P124_L022"/>
          <p:cNvSpPr txBox="1"/>
          <p:nvPr/>
        </p:nvSpPr>
        <p:spPr>
          <a:xfrm>
            <a:off x="528422" y="4056747"/>
            <a:ext cx="30735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la utilización de los mismos. </a:t>
            </a:r>
          </a:p>
        </p:txBody>
      </p:sp>
      <p:sp>
        <p:nvSpPr>
          <p:cNvPr id="247" name="ANUARIO_ANEXO_P124_L023"/>
          <p:cNvSpPr txBox="1"/>
          <p:nvPr/>
        </p:nvSpPr>
        <p:spPr>
          <a:xfrm>
            <a:off x="528422" y="4278978"/>
            <a:ext cx="412825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Prepago:</a:t>
            </a:r>
            <a:r>
              <a:rPr sz="640" b="0" i="0">
                <a:solidFill>
                  <a:srgbClr val="1F3031"/>
                </a:solidFill>
                <a:latin typeface="Noto Sans"/>
              </a:rPr>
              <a:t> Esquema de contratación mediante el cual el suscriptor paga servicios de </a:t>
            </a:r>
          </a:p>
        </p:txBody>
      </p:sp>
      <p:sp>
        <p:nvSpPr>
          <p:cNvPr id="248" name="ANUARIO_ANEXO_P124_L024"/>
          <p:cNvSpPr txBox="1"/>
          <p:nvPr/>
        </p:nvSpPr>
        <p:spPr>
          <a:xfrm>
            <a:off x="528422" y="4395775"/>
            <a:ext cx="31278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anticipada a la utilización de los mismos. </a:t>
            </a:r>
          </a:p>
        </p:txBody>
      </p:sp>
      <p:sp>
        <p:nvSpPr>
          <p:cNvPr id="249" name="ANUARIO_ANEXO_P124_L025"/>
          <p:cNvSpPr txBox="1"/>
          <p:nvPr/>
        </p:nvSpPr>
        <p:spPr>
          <a:xfrm>
            <a:off x="4647536" y="656471"/>
            <a:ext cx="17643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a:t>
            </a:r>
          </a:p>
        </p:txBody>
      </p:sp>
      <p:sp>
        <p:nvSpPr>
          <p:cNvPr id="250" name="ANUARIO_ANEXO_P124_L026"/>
          <p:cNvSpPr txBox="1"/>
          <p:nvPr/>
        </p:nvSpPr>
        <p:spPr>
          <a:xfrm>
            <a:off x="4647536" y="870075"/>
            <a:ext cx="412789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Rating</a:t>
            </a:r>
            <a:r>
              <a:rPr sz="640" b="1" i="0">
                <a:solidFill>
                  <a:srgbClr val="1F3031"/>
                </a:solidFill>
                <a:latin typeface="Noto Sans"/>
              </a:rPr>
              <a:t> (rat%):</a:t>
            </a:r>
            <a:r>
              <a:rPr sz="640" b="0" i="0">
                <a:solidFill>
                  <a:srgbClr val="1F3031"/>
                </a:solidFill>
                <a:latin typeface="Noto Sans"/>
              </a:rPr>
              <a:t> Porcentaje de hogares o personas que estuvieron viendo la televisión en un canal/ </a:t>
            </a:r>
          </a:p>
        </p:txBody>
      </p:sp>
      <p:sp>
        <p:nvSpPr>
          <p:cNvPr id="251" name="ANUARIO_ANEXO_P124_L027"/>
          <p:cNvSpPr txBox="1"/>
          <p:nvPr/>
        </p:nvSpPr>
        <p:spPr>
          <a:xfrm>
            <a:off x="4647536" y="977561"/>
            <a:ext cx="20530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estación en un periodo de tiempo determinado.</a:t>
            </a:r>
          </a:p>
        </p:txBody>
      </p:sp>
      <p:sp>
        <p:nvSpPr>
          <p:cNvPr id="252" name="ANUARIO_ANEXO_P124_L028"/>
          <p:cNvSpPr txBox="1"/>
          <p:nvPr/>
        </p:nvSpPr>
        <p:spPr>
          <a:xfrm>
            <a:off x="4647536" y="1190481"/>
            <a:ext cx="4128573"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Reality Show</a:t>
            </a:r>
            <a:r>
              <a:rPr sz="640" b="1" i="0">
                <a:solidFill>
                  <a:srgbClr val="1F3031"/>
                </a:solidFill>
                <a:latin typeface="Noto Sans"/>
              </a:rPr>
              <a:t>:</a:t>
            </a:r>
            <a:r>
              <a:rPr sz="640" b="0" i="0">
                <a:solidFill>
                  <a:srgbClr val="1F3031"/>
                </a:solidFill>
                <a:latin typeface="Noto Sans"/>
              </a:rPr>
              <a:t> También conocidos como Televisión Real, es un género televisivo en donde un </a:t>
            </a:r>
          </a:p>
        </p:txBody>
      </p:sp>
      <p:sp>
        <p:nvSpPr>
          <p:cNvPr id="253" name="ANUARIO_ANEXO_P124_L029"/>
          <p:cNvSpPr txBox="1"/>
          <p:nvPr/>
        </p:nvSpPr>
        <p:spPr>
          <a:xfrm>
            <a:off x="4647536" y="1297966"/>
            <a:ext cx="41280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grupo de personas –comunes o famosas- permite que sus vidas sean grabadas durante un periodo </a:t>
            </a:r>
          </a:p>
        </p:txBody>
      </p:sp>
      <p:sp>
        <p:nvSpPr>
          <p:cNvPr id="254" name="ANUARIO_ANEXO_P124_L030"/>
          <p:cNvSpPr txBox="1"/>
          <p:nvPr/>
        </p:nvSpPr>
        <p:spPr>
          <a:xfrm>
            <a:off x="4647536" y="1404768"/>
            <a:ext cx="41279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determinado. Generalmente se encuentran en un sitio común, sin importar su locación, y pueden o </a:t>
            </a:r>
          </a:p>
        </p:txBody>
      </p:sp>
      <p:sp>
        <p:nvSpPr>
          <p:cNvPr id="255" name="ANUARIO_ANEXO_P124_L031"/>
          <p:cNvSpPr txBox="1"/>
          <p:nvPr/>
        </p:nvSpPr>
        <p:spPr>
          <a:xfrm>
            <a:off x="4647536" y="1511570"/>
            <a:ext cx="16087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no estar compitiendo por un premio.</a:t>
            </a:r>
          </a:p>
        </p:txBody>
      </p:sp>
      <p:sp>
        <p:nvSpPr>
          <p:cNvPr id="256" name="ANUARIO_ANEXO_P124_L032"/>
          <p:cNvSpPr txBox="1"/>
          <p:nvPr/>
        </p:nvSpPr>
        <p:spPr>
          <a:xfrm>
            <a:off x="4647536" y="1724491"/>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Religión:</a:t>
            </a:r>
            <a:r>
              <a:rPr sz="640" b="0" i="0">
                <a:solidFill>
                  <a:srgbClr val="1F3031"/>
                </a:solidFill>
                <a:latin typeface="Noto Sans"/>
              </a:rPr>
              <a:t> Programas de contenido estrictamente religioso, tales como misas, retiros y coberturas de </a:t>
            </a:r>
          </a:p>
        </p:txBody>
      </p:sp>
      <p:sp>
        <p:nvSpPr>
          <p:cNvPr id="257" name="ANUARIO_ANEXO_P124_L033"/>
          <p:cNvSpPr txBox="1"/>
          <p:nvPr/>
        </p:nvSpPr>
        <p:spPr>
          <a:xfrm>
            <a:off x="4647536" y="1831976"/>
            <a:ext cx="41282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visitas pastorales. En este género no están incluidos programas de reportaje que, en un capítulo en </a:t>
            </a:r>
          </a:p>
        </p:txBody>
      </p:sp>
      <p:sp>
        <p:nvSpPr>
          <p:cNvPr id="258" name="ANUARIO_ANEXO_P124_L034"/>
          <p:cNvSpPr txBox="1"/>
          <p:nvPr/>
        </p:nvSpPr>
        <p:spPr>
          <a:xfrm>
            <a:off x="4647536" y="1938778"/>
            <a:ext cx="16569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 aborden un tema religioso.</a:t>
            </a:r>
          </a:p>
        </p:txBody>
      </p:sp>
      <p:sp>
        <p:nvSpPr>
          <p:cNvPr id="259" name="ANUARIO_ANEXO_P124_L035"/>
          <p:cNvSpPr txBox="1"/>
          <p:nvPr/>
        </p:nvSpPr>
        <p:spPr>
          <a:xfrm>
            <a:off x="4647536" y="2151698"/>
            <a:ext cx="17055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a:t>
            </a:r>
          </a:p>
        </p:txBody>
      </p:sp>
      <p:sp>
        <p:nvSpPr>
          <p:cNvPr id="260" name="ANUARIO_ANEXO_P124_L036"/>
          <p:cNvSpPr txBox="1"/>
          <p:nvPr/>
        </p:nvSpPr>
        <p:spPr>
          <a:xfrm>
            <a:off x="4647536" y="2365302"/>
            <a:ext cx="412787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Series:</a:t>
            </a:r>
            <a:r>
              <a:rPr sz="640" b="0" i="0">
                <a:solidFill>
                  <a:srgbClr val="1F3031"/>
                </a:solidFill>
                <a:latin typeface="Noto Sans"/>
              </a:rPr>
              <a:t> Formato presentado en emisiones sucesivas, que individualmente mantienen una unidad </a:t>
            </a:r>
          </a:p>
        </p:txBody>
      </p:sp>
      <p:sp>
        <p:nvSpPr>
          <p:cNvPr id="261" name="ANUARIO_ANEXO_P124_L037"/>
          <p:cNvSpPr txBox="1"/>
          <p:nvPr/>
        </p:nvSpPr>
        <p:spPr>
          <a:xfrm>
            <a:off x="4647536" y="2472788"/>
            <a:ext cx="412849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argumental en sí misma, aunque presentan continuidad, al menos temática, entre los diferentes </a:t>
            </a:r>
          </a:p>
        </p:txBody>
      </p:sp>
      <p:sp>
        <p:nvSpPr>
          <p:cNvPr id="262" name="ANUARIO_ANEXO_P124_L038"/>
          <p:cNvSpPr txBox="1"/>
          <p:nvPr/>
        </p:nvSpPr>
        <p:spPr>
          <a:xfrm>
            <a:off x="4647536" y="2579590"/>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episodios que la integran. Incluye diferentes subgéneros, como la ficción, acción, suspenso, comedia, </a:t>
            </a:r>
          </a:p>
        </p:txBody>
      </p:sp>
      <p:sp>
        <p:nvSpPr>
          <p:cNvPr id="263" name="ANUARIO_ANEXO_P124_L039"/>
          <p:cNvSpPr txBox="1"/>
          <p:nvPr/>
        </p:nvSpPr>
        <p:spPr>
          <a:xfrm>
            <a:off x="4647536" y="2686392"/>
            <a:ext cx="41278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etcétera. Bajo este género se pueden encontrar tanto producciones nacionales como extranjeras. </a:t>
            </a:r>
          </a:p>
        </p:txBody>
      </p:sp>
      <p:sp>
        <p:nvSpPr>
          <p:cNvPr id="264" name="ANUARIO_ANEXO_P124_L040"/>
          <p:cNvSpPr txBox="1"/>
          <p:nvPr/>
        </p:nvSpPr>
        <p:spPr>
          <a:xfrm>
            <a:off x="4647536" y="2793193"/>
            <a:ext cx="22002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miniseries también se agrupan en este formato.</a:t>
            </a:r>
          </a:p>
        </p:txBody>
      </p:sp>
      <p:sp>
        <p:nvSpPr>
          <p:cNvPr id="265" name="ANUARIO_ANEXO_P124_L041"/>
          <p:cNvSpPr txBox="1"/>
          <p:nvPr/>
        </p:nvSpPr>
        <p:spPr>
          <a:xfrm>
            <a:off x="4647536" y="3006114"/>
            <a:ext cx="41282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de televisión restringida:</a:t>
            </a:r>
            <a:r>
              <a:rPr sz="640" b="0" i="0">
                <a:solidFill>
                  <a:srgbClr val="1F3031"/>
                </a:solidFill>
                <a:latin typeface="Noto Sans"/>
              </a:rPr>
              <a:t> Servicio de telecomunicaciones de audio, o de audio y video </a:t>
            </a:r>
          </a:p>
        </p:txBody>
      </p:sp>
      <p:sp>
        <p:nvSpPr>
          <p:cNvPr id="266" name="ANUARIO_ANEXO_P124_L042"/>
          <p:cNvSpPr txBox="1"/>
          <p:nvPr/>
        </p:nvSpPr>
        <p:spPr>
          <a:xfrm>
            <a:off x="4647536" y="3113600"/>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asociados, que se presta a suscriptores, a través de redes públicas de telecomunicaciones, mediante </a:t>
            </a:r>
          </a:p>
        </p:txBody>
      </p:sp>
      <p:sp>
        <p:nvSpPr>
          <p:cNvPr id="267" name="ANUARIO_ANEXO_P124_L043"/>
          <p:cNvSpPr txBox="1"/>
          <p:nvPr/>
        </p:nvSpPr>
        <p:spPr>
          <a:xfrm>
            <a:off x="4647536" y="3220401"/>
            <a:ext cx="41284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contrato y el pago periódico de una cantidad preestablecida. Este servicio se mide en número de </a:t>
            </a:r>
          </a:p>
        </p:txBody>
      </p:sp>
      <p:sp>
        <p:nvSpPr>
          <p:cNvPr id="268" name="ANUARIO_ANEXO_P124_L044"/>
          <p:cNvSpPr txBox="1"/>
          <p:nvPr/>
        </p:nvSpPr>
        <p:spPr>
          <a:xfrm>
            <a:off x="4647536" y="3327203"/>
            <a:ext cx="4572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accesos.</a:t>
            </a:r>
          </a:p>
        </p:txBody>
      </p:sp>
      <p:sp>
        <p:nvSpPr>
          <p:cNvPr id="269" name="ANUARIO_ANEXO_P124_L045"/>
          <p:cNvSpPr txBox="1"/>
          <p:nvPr/>
        </p:nvSpPr>
        <p:spPr>
          <a:xfrm>
            <a:off x="4647536" y="3540123"/>
            <a:ext cx="41282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acceso a Internet:</a:t>
            </a:r>
            <a:r>
              <a:rPr sz="640" b="0" i="0">
                <a:solidFill>
                  <a:srgbClr val="1F3031"/>
                </a:solidFill>
                <a:latin typeface="Noto Sans"/>
              </a:rPr>
              <a:t> Mediante este servicio un operador provee el acceso por el cual </a:t>
            </a:r>
          </a:p>
        </p:txBody>
      </p:sp>
      <p:sp>
        <p:nvSpPr>
          <p:cNvPr id="270" name="ANUARIO_ANEXO_P124_L046"/>
          <p:cNvSpPr txBox="1"/>
          <p:nvPr/>
        </p:nvSpPr>
        <p:spPr>
          <a:xfrm>
            <a:off x="4647536" y="3647609"/>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presta el servicio de transferencia de datos a través de equipos terminales que tienen una ubicación </a:t>
            </a:r>
          </a:p>
        </p:txBody>
      </p:sp>
      <p:sp>
        <p:nvSpPr>
          <p:cNvPr id="271" name="ANUARIO_ANEXO_P124_L047"/>
          <p:cNvSpPr txBox="1"/>
          <p:nvPr/>
        </p:nvSpPr>
        <p:spPr>
          <a:xfrm>
            <a:off x="4647536" y="3754411"/>
            <a:ext cx="29174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Este servicio se mide en número de accesos.</a:t>
            </a:r>
          </a:p>
        </p:txBody>
      </p:sp>
      <p:sp>
        <p:nvSpPr>
          <p:cNvPr id="272" name="ANUARIO_ANEXO_P124_L048"/>
          <p:cNvSpPr txBox="1"/>
          <p:nvPr/>
        </p:nvSpPr>
        <p:spPr>
          <a:xfrm>
            <a:off x="4647536" y="3967331"/>
            <a:ext cx="412814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telefonía:</a:t>
            </a:r>
            <a:r>
              <a:rPr sz="640" b="0" i="0">
                <a:solidFill>
                  <a:srgbClr val="1F3031"/>
                </a:solidFill>
                <a:latin typeface="Noto Sans"/>
              </a:rPr>
              <a:t> Mediante este servicio un operador provee el acceso por el cual presta el </a:t>
            </a:r>
          </a:p>
        </p:txBody>
      </p:sp>
      <p:sp>
        <p:nvSpPr>
          <p:cNvPr id="273" name="ANUARIO_ANEXO_P124_L049"/>
          <p:cNvSpPr txBox="1"/>
          <p:nvPr/>
        </p:nvSpPr>
        <p:spPr>
          <a:xfrm>
            <a:off x="4647536" y="4074817"/>
            <a:ext cx="4127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servicio de transporte de voz, a través de equipos terminales que tienen una ubicación geográfica </a:t>
            </a:r>
          </a:p>
        </p:txBody>
      </p:sp>
      <p:sp>
        <p:nvSpPr>
          <p:cNvPr id="274" name="ANUARIO_ANEXO_P124_L050"/>
          <p:cNvSpPr txBox="1"/>
          <p:nvPr/>
        </p:nvSpPr>
        <p:spPr>
          <a:xfrm>
            <a:off x="4647536" y="4181619"/>
            <a:ext cx="41279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permite, además de efectuar y recibir llamadas locales y/o de larga </a:t>
            </a:r>
          </a:p>
        </p:txBody>
      </p:sp>
      <p:sp>
        <p:nvSpPr>
          <p:cNvPr id="275" name="ANUARIO_ANEXO_P124_L051"/>
          <p:cNvSpPr txBox="1"/>
          <p:nvPr/>
        </p:nvSpPr>
        <p:spPr>
          <a:xfrm>
            <a:off x="4647536" y="4288421"/>
            <a:ext cx="41283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hacer uso de una serie de servicios adicionales tales como acceso a servicios </a:t>
            </a:r>
          </a:p>
        </p:txBody>
      </p:sp>
      <p:sp>
        <p:nvSpPr>
          <p:cNvPr id="276" name="ANUARIO_ANEXO_P124_L052"/>
          <p:cNvSpPr txBox="1"/>
          <p:nvPr/>
        </p:nvSpPr>
        <p:spPr>
          <a:xfrm>
            <a:off x="4647536" y="4395223"/>
            <a:ext cx="35891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emergencia o servicios suplementarios, entre otros. Este servicio se mide en líneas.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5"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125</a:t>
            </a:r>
          </a:p>
        </p:txBody>
      </p:sp>
      <p:sp>
        <p:nvSpPr>
          <p:cNvPr id="225" name="ANUARIO_TABLA_REFERENCIA_0"/>
          <p:cNvSpPr/>
          <p:nvPr/>
        </p:nvSpPr>
        <p:spPr>
          <a:xfrm>
            <a:off x="4648234" y="2112387"/>
            <a:ext cx="4129490" cy="2264360"/>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6" name="Connector 225"/>
          <p:cNvCxnSpPr/>
          <p:nvPr/>
        </p:nvCxnSpPr>
        <p:spPr>
          <a:xfrm>
            <a:off x="4648234" y="2265354"/>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648234" y="2960100"/>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648234" y="331708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648234" y="347002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648234" y="3624355"/>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48234" y="384623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48234" y="4068117"/>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648234" y="422244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4" name="ANUARIO_ANEXO_P125_L001"/>
          <p:cNvSpPr txBox="1"/>
          <p:nvPr/>
        </p:nvSpPr>
        <p:spPr>
          <a:xfrm>
            <a:off x="528422" y="656471"/>
            <a:ext cx="412829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a:t>
            </a:r>
            <a:r>
              <a:rPr sz="640" b="0" i="0">
                <a:solidFill>
                  <a:srgbClr val="1F3031"/>
                </a:solidFill>
                <a:latin typeface="Noto Sans"/>
              </a:rPr>
              <a:t> Servicio de telecomunicaciones para usuarios finales, que se puede prestar mientras </a:t>
            </a:r>
          </a:p>
        </p:txBody>
      </p:sp>
      <p:sp>
        <p:nvSpPr>
          <p:cNvPr id="235" name="ANUARIO_ANEXO_P125_L002"/>
          <p:cNvSpPr txBox="1"/>
          <p:nvPr/>
        </p:nvSpPr>
        <p:spPr>
          <a:xfrm>
            <a:off x="528422" y="765026"/>
            <a:ext cx="412832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Equipo Terminal se encuentra sin movilidad, o con movilidad limitada a un área geográfica </a:t>
            </a:r>
          </a:p>
        </p:txBody>
      </p:sp>
      <p:sp>
        <p:nvSpPr>
          <p:cNvPr id="236" name="ANUARIO_ANEXO_P125_L003"/>
          <p:cNvSpPr txBox="1"/>
          <p:nvPr/>
        </p:nvSpPr>
        <p:spPr>
          <a:xfrm>
            <a:off x="528422" y="872896"/>
            <a:ext cx="28959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por el Operador, independientemente de su Cobertura.</a:t>
            </a:r>
          </a:p>
        </p:txBody>
      </p:sp>
      <p:sp>
        <p:nvSpPr>
          <p:cNvPr id="237" name="ANUARIO_ANEXO_P125_L004"/>
          <p:cNvSpPr txBox="1"/>
          <p:nvPr/>
        </p:nvSpPr>
        <p:spPr>
          <a:xfrm>
            <a:off x="528422" y="1070864"/>
            <a:ext cx="412821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acceso a Internet:</a:t>
            </a:r>
            <a:r>
              <a:rPr sz="640" b="0" i="0">
                <a:solidFill>
                  <a:srgbClr val="1F3031"/>
                </a:solidFill>
                <a:latin typeface="Noto Sans"/>
              </a:rPr>
              <a:t> Este servicio permite enviar y recibir datos dentro del territorio </a:t>
            </a:r>
          </a:p>
        </p:txBody>
      </p:sp>
      <p:sp>
        <p:nvSpPr>
          <p:cNvPr id="238" name="ANUARIO_ANEXO_P125_L005"/>
          <p:cNvSpPr txBox="1"/>
          <p:nvPr/>
        </p:nvSpPr>
        <p:spPr>
          <a:xfrm>
            <a:off x="528422" y="1179418"/>
            <a:ext cx="412823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y/o en itinerancia, a través de equipos terminales que no tienen una ubicación geográfica </a:t>
            </a:r>
          </a:p>
        </p:txBody>
      </p:sp>
      <p:sp>
        <p:nvSpPr>
          <p:cNvPr id="239" name="ANUARIO_ANEXO_P125_L006"/>
          <p:cNvSpPr txBox="1"/>
          <p:nvPr/>
        </p:nvSpPr>
        <p:spPr>
          <a:xfrm>
            <a:off x="528422" y="1287288"/>
            <a:ext cx="19167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se mide en líneas.</a:t>
            </a:r>
          </a:p>
        </p:txBody>
      </p:sp>
      <p:sp>
        <p:nvSpPr>
          <p:cNvPr id="240" name="ANUARIO_ANEXO_P125_L007"/>
          <p:cNvSpPr txBox="1"/>
          <p:nvPr/>
        </p:nvSpPr>
        <p:spPr>
          <a:xfrm>
            <a:off x="528422" y="1485257"/>
            <a:ext cx="412794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telefonía:</a:t>
            </a:r>
            <a:r>
              <a:rPr sz="640" b="0" i="0">
                <a:solidFill>
                  <a:srgbClr val="1F3031"/>
                </a:solidFill>
                <a:latin typeface="Noto Sans"/>
              </a:rPr>
              <a:t> Este servicio permite efectuar y recibir llamadas locales, de larga </a:t>
            </a:r>
          </a:p>
        </p:txBody>
      </p:sp>
      <p:sp>
        <p:nvSpPr>
          <p:cNvPr id="241" name="ANUARIO_ANEXO_P125_L008"/>
          <p:cNvSpPr txBox="1"/>
          <p:nvPr/>
        </p:nvSpPr>
        <p:spPr>
          <a:xfrm>
            <a:off x="528422" y="159381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y/o de itinerancia a través de equipos terminales que no tienen una ubicación </a:t>
            </a:r>
          </a:p>
        </p:txBody>
      </p:sp>
      <p:sp>
        <p:nvSpPr>
          <p:cNvPr id="242" name="ANUARIO_ANEXO_P125_L009"/>
          <p:cNvSpPr txBox="1"/>
          <p:nvPr/>
        </p:nvSpPr>
        <p:spPr>
          <a:xfrm>
            <a:off x="528422" y="1701680"/>
            <a:ext cx="41285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además permite hacer uso de una serie de servicios adicionales tales como </a:t>
            </a:r>
          </a:p>
        </p:txBody>
      </p:sp>
      <p:sp>
        <p:nvSpPr>
          <p:cNvPr id="243" name="ANUARIO_ANEXO_P125_L010"/>
          <p:cNvSpPr txBox="1"/>
          <p:nvPr/>
        </p:nvSpPr>
        <p:spPr>
          <a:xfrm>
            <a:off x="528422" y="1809550"/>
            <a:ext cx="41280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 a servicios de emergencia o servicios suplementarios, entre otros. Este servicio se mide en </a:t>
            </a:r>
          </a:p>
        </p:txBody>
      </p:sp>
      <p:sp>
        <p:nvSpPr>
          <p:cNvPr id="244" name="ANUARIO_ANEXO_P125_L011"/>
          <p:cNvSpPr txBox="1"/>
          <p:nvPr/>
        </p:nvSpPr>
        <p:spPr>
          <a:xfrm>
            <a:off x="528422" y="1917420"/>
            <a:ext cx="37469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líneas.</a:t>
            </a:r>
          </a:p>
        </p:txBody>
      </p:sp>
      <p:sp>
        <p:nvSpPr>
          <p:cNvPr id="245" name="ANUARIO_ANEXO_P125_L012"/>
          <p:cNvSpPr txBox="1"/>
          <p:nvPr/>
        </p:nvSpPr>
        <p:spPr>
          <a:xfrm>
            <a:off x="528422" y="2115389"/>
            <a:ext cx="412815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a:t>
            </a:r>
            <a:r>
              <a:rPr sz="640" b="0" i="0">
                <a:solidFill>
                  <a:srgbClr val="1F3031"/>
                </a:solidFill>
                <a:latin typeface="Noto Sans"/>
              </a:rPr>
              <a:t> Servicio de telecomunicaciones para usuarios finales que se puede prestar en </a:t>
            </a:r>
          </a:p>
        </p:txBody>
      </p:sp>
      <p:sp>
        <p:nvSpPr>
          <p:cNvPr id="246" name="ANUARIO_ANEXO_P125_L013"/>
          <p:cNvSpPr txBox="1"/>
          <p:nvPr/>
        </p:nvSpPr>
        <p:spPr>
          <a:xfrm>
            <a:off x="528422" y="2223942"/>
            <a:ext cx="41276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movilidad mientras el Equipo Terminal se encuentre en cualquier área geográfica dentro de la </a:t>
            </a:r>
          </a:p>
        </p:txBody>
      </p:sp>
      <p:sp>
        <p:nvSpPr>
          <p:cNvPr id="247" name="ANUARIO_ANEXO_P125_L014"/>
          <p:cNvSpPr txBox="1"/>
          <p:nvPr/>
        </p:nvSpPr>
        <p:spPr>
          <a:xfrm>
            <a:off x="528422" y="2331813"/>
            <a:ext cx="113751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Cobertura del Operador. </a:t>
            </a:r>
          </a:p>
        </p:txBody>
      </p:sp>
      <p:sp>
        <p:nvSpPr>
          <p:cNvPr id="248" name="ANUARIO_ANEXO_P125_L015"/>
          <p:cNvSpPr txBox="1"/>
          <p:nvPr/>
        </p:nvSpPr>
        <p:spPr>
          <a:xfrm>
            <a:off x="528422" y="2529782"/>
            <a:ext cx="1719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a:t>
            </a:r>
          </a:p>
        </p:txBody>
      </p:sp>
      <p:sp>
        <p:nvSpPr>
          <p:cNvPr id="249" name="ANUARIO_ANEXO_P125_L016"/>
          <p:cNvSpPr txBox="1"/>
          <p:nvPr/>
        </p:nvSpPr>
        <p:spPr>
          <a:xfrm>
            <a:off x="528422" y="2728433"/>
            <a:ext cx="4127895"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Talk show</a:t>
            </a:r>
            <a:r>
              <a:rPr sz="640" b="1" i="0">
                <a:solidFill>
                  <a:srgbClr val="1F3031"/>
                </a:solidFill>
                <a:latin typeface="Noto Sans"/>
              </a:rPr>
              <a:t>:</a:t>
            </a:r>
            <a:r>
              <a:rPr sz="640" b="0" i="0">
                <a:solidFill>
                  <a:srgbClr val="1F3031"/>
                </a:solidFill>
                <a:latin typeface="Noto Sans"/>
              </a:rPr>
              <a:t> Programa de televisión en el que varios invitados hablan sobre un tema de actualidad o </a:t>
            </a:r>
          </a:p>
        </p:txBody>
      </p:sp>
      <p:sp>
        <p:nvSpPr>
          <p:cNvPr id="250" name="ANUARIO_ANEXO_P125_L017"/>
          <p:cNvSpPr txBox="1"/>
          <p:nvPr/>
        </p:nvSpPr>
        <p:spPr>
          <a:xfrm>
            <a:off x="528422" y="2836987"/>
            <a:ext cx="32696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brindan testimonios personales (los invitados no son especialistas en el tema).</a:t>
            </a:r>
          </a:p>
        </p:txBody>
      </p:sp>
      <p:sp>
        <p:nvSpPr>
          <p:cNvPr id="251" name="ANUARIO_ANEXO_P125_L018"/>
          <p:cNvSpPr txBox="1"/>
          <p:nvPr/>
        </p:nvSpPr>
        <p:spPr>
          <a:xfrm>
            <a:off x="528422" y="3034955"/>
            <a:ext cx="412822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Telehogares:</a:t>
            </a:r>
            <a:r>
              <a:rPr sz="640" b="0" i="0">
                <a:solidFill>
                  <a:srgbClr val="1F3031"/>
                </a:solidFill>
                <a:latin typeface="Noto Sans"/>
              </a:rPr>
              <a:t> Hogares en los cuales reside de forma permanente al menos una persona y cuentan </a:t>
            </a:r>
          </a:p>
        </p:txBody>
      </p:sp>
      <p:sp>
        <p:nvSpPr>
          <p:cNvPr id="252" name="ANUARIO_ANEXO_P125_L019"/>
          <p:cNvSpPr txBox="1"/>
          <p:nvPr/>
        </p:nvSpPr>
        <p:spPr>
          <a:xfrm>
            <a:off x="528422" y="3143509"/>
            <a:ext cx="18327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 menos con un aparato de televisión.</a:t>
            </a:r>
          </a:p>
        </p:txBody>
      </p:sp>
      <p:sp>
        <p:nvSpPr>
          <p:cNvPr id="253" name="ANUARIO_ANEXO_P125_L020"/>
          <p:cNvSpPr txBox="1"/>
          <p:nvPr/>
        </p:nvSpPr>
        <p:spPr>
          <a:xfrm>
            <a:off x="528422" y="3341477"/>
            <a:ext cx="412841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Telenovelas:</a:t>
            </a:r>
            <a:r>
              <a:rPr sz="640" b="0" i="0">
                <a:solidFill>
                  <a:srgbClr val="1F3031"/>
                </a:solidFill>
                <a:latin typeface="Noto Sans"/>
              </a:rPr>
              <a:t> Historias o novelas producidas para la televisión, transmitidas en episodios diarios </a:t>
            </a:r>
          </a:p>
        </p:txBody>
      </p:sp>
      <p:sp>
        <p:nvSpPr>
          <p:cNvPr id="254" name="ANUARIO_ANEXO_P125_L021"/>
          <p:cNvSpPr txBox="1"/>
          <p:nvPr/>
        </p:nvSpPr>
        <p:spPr>
          <a:xfrm>
            <a:off x="528422" y="3450031"/>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consecutivos. Narran una historia ficticia –aunque puede estar basada en hechos reales— </a:t>
            </a:r>
          </a:p>
        </p:txBody>
      </p:sp>
      <p:sp>
        <p:nvSpPr>
          <p:cNvPr id="255" name="ANUARIO_ANEXO_P125_L022"/>
          <p:cNvSpPr txBox="1"/>
          <p:nvPr/>
        </p:nvSpPr>
        <p:spPr>
          <a:xfrm>
            <a:off x="528422" y="3557901"/>
            <a:ext cx="412793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contenido melodramático, sin que se excluyan otros géneros, y cada capítulo cuenta con los </a:t>
            </a:r>
          </a:p>
        </p:txBody>
      </p:sp>
      <p:sp>
        <p:nvSpPr>
          <p:cNvPr id="256" name="ANUARIO_ANEXO_P125_L023"/>
          <p:cNvSpPr txBox="1"/>
          <p:nvPr/>
        </p:nvSpPr>
        <p:spPr>
          <a:xfrm>
            <a:off x="528422" y="3665772"/>
            <a:ext cx="41283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elementos inicio, desarrollo, clímax y, al término, una situación de suspenso que puede ser coincidente </a:t>
            </a:r>
          </a:p>
        </p:txBody>
      </p:sp>
      <p:sp>
        <p:nvSpPr>
          <p:cNvPr id="257" name="ANUARIO_ANEXO_P125_L024"/>
          <p:cNvSpPr txBox="1"/>
          <p:nvPr/>
        </p:nvSpPr>
        <p:spPr>
          <a:xfrm>
            <a:off x="528422" y="3773642"/>
            <a:ext cx="66757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el clímax.</a:t>
            </a:r>
          </a:p>
        </p:txBody>
      </p:sp>
      <p:sp>
        <p:nvSpPr>
          <p:cNvPr id="258" name="ANUARIO_ANEXO_P125_L025"/>
          <p:cNvSpPr txBox="1"/>
          <p:nvPr/>
        </p:nvSpPr>
        <p:spPr>
          <a:xfrm>
            <a:off x="528422" y="3971609"/>
            <a:ext cx="41281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Televisión por protocolo de Internet (IPTV, por sus siglas en inglés </a:t>
            </a:r>
            <a:r>
              <a:rPr sz="640" b="1" i="1">
                <a:solidFill>
                  <a:srgbClr val="1F3031"/>
                </a:solidFill>
                <a:latin typeface="Noto Sans"/>
              </a:rPr>
              <a:t>Internet Protocol Television</a:t>
            </a:r>
            <a:r>
              <a:rPr sz="640" b="1" i="0">
                <a:solidFill>
                  <a:srgbClr val="1F3031"/>
                </a:solidFill>
                <a:latin typeface="Noto Sans"/>
              </a:rPr>
              <a:t>):</a:t>
            </a:r>
            <a:r>
              <a:rPr sz="640" b="0" i="0">
                <a:solidFill>
                  <a:srgbClr val="1F3031"/>
                </a:solidFill>
                <a:latin typeface="Noto Sans"/>
              </a:rPr>
              <a:t> La </a:t>
            </a:r>
          </a:p>
        </p:txBody>
      </p:sp>
      <p:sp>
        <p:nvSpPr>
          <p:cNvPr id="259" name="ANUARIO_ANEXO_P125_L026"/>
          <p:cNvSpPr txBox="1"/>
          <p:nvPr/>
        </p:nvSpPr>
        <p:spPr>
          <a:xfrm>
            <a:off x="528422" y="4080164"/>
            <a:ext cx="41276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televisión sobre el protocolo IP o IPTV es una tecnología que permite que los servicios de televisión </a:t>
            </a:r>
          </a:p>
        </p:txBody>
      </p:sp>
      <p:sp>
        <p:nvSpPr>
          <p:cNvPr id="260" name="ANUARIO_ANEXO_P125_L027"/>
          <p:cNvSpPr txBox="1"/>
          <p:nvPr/>
        </p:nvSpPr>
        <p:spPr>
          <a:xfrm>
            <a:off x="528422" y="4188034"/>
            <a:ext cx="41284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sean emitidos a través de la banda ancha de una red de paquete de datos privados mediante el uso </a:t>
            </a:r>
          </a:p>
        </p:txBody>
      </p:sp>
      <p:sp>
        <p:nvSpPr>
          <p:cNvPr id="261" name="ANUARIO_ANEXO_P125_L028"/>
          <p:cNvSpPr txBox="1"/>
          <p:nvPr/>
        </p:nvSpPr>
        <p:spPr>
          <a:xfrm>
            <a:off x="528422" y="4295904"/>
            <a:ext cx="115845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protocolo de Internet.</a:t>
            </a:r>
          </a:p>
        </p:txBody>
      </p:sp>
      <p:sp>
        <p:nvSpPr>
          <p:cNvPr id="262" name="ANUARIO_ANEXO_P125_L029"/>
          <p:cNvSpPr txBox="1"/>
          <p:nvPr/>
        </p:nvSpPr>
        <p:spPr>
          <a:xfrm>
            <a:off x="4647536" y="656471"/>
            <a:ext cx="18489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a:t>
            </a:r>
          </a:p>
        </p:txBody>
      </p:sp>
      <p:sp>
        <p:nvSpPr>
          <p:cNvPr id="263" name="ANUARIO_ANEXO_P125_L030"/>
          <p:cNvSpPr txBox="1"/>
          <p:nvPr/>
        </p:nvSpPr>
        <p:spPr>
          <a:xfrm>
            <a:off x="4647536" y="877083"/>
            <a:ext cx="41282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Unidades Económicas (UE):</a:t>
            </a:r>
            <a:r>
              <a:rPr sz="640" b="0" i="0">
                <a:solidFill>
                  <a:srgbClr val="1F3031"/>
                </a:solidFill>
                <a:latin typeface="Noto Sans"/>
              </a:rPr>
              <a:t> Son las unidades estadísticas sobre las cuales se recopilan datos, </a:t>
            </a:r>
          </a:p>
        </p:txBody>
      </p:sp>
      <p:sp>
        <p:nvSpPr>
          <p:cNvPr id="264" name="ANUARIO_ANEXO_P125_L031"/>
          <p:cNvSpPr txBox="1"/>
          <p:nvPr/>
        </p:nvSpPr>
        <p:spPr>
          <a:xfrm>
            <a:off x="4647536" y="991575"/>
            <a:ext cx="412796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dedican principalmente a un tipo de actividad de manera permanente en construcciones e </a:t>
            </a:r>
          </a:p>
        </p:txBody>
      </p:sp>
      <p:sp>
        <p:nvSpPr>
          <p:cNvPr id="265" name="ANUARIO_ANEXO_P125_L032"/>
          <p:cNvSpPr txBox="1"/>
          <p:nvPr/>
        </p:nvSpPr>
        <p:spPr>
          <a:xfrm>
            <a:off x="4647536" y="1105384"/>
            <a:ext cx="41277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instalaciones fijas, combinando acciones y recursos bajo el control de una sola entidad propietaria o </a:t>
            </a:r>
          </a:p>
        </p:txBody>
      </p:sp>
      <p:sp>
        <p:nvSpPr>
          <p:cNvPr id="266" name="ANUARIO_ANEXO_P125_L033"/>
          <p:cNvSpPr txBox="1"/>
          <p:nvPr/>
        </p:nvSpPr>
        <p:spPr>
          <a:xfrm>
            <a:off x="4647536" y="1219193"/>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controladora, para llevar a cabo producción de bienes y servicios, sea con fines mercantiles o no. Se </a:t>
            </a:r>
          </a:p>
        </p:txBody>
      </p:sp>
      <p:sp>
        <p:nvSpPr>
          <p:cNvPr id="267" name="ANUARIO_ANEXO_P125_L034"/>
          <p:cNvSpPr txBox="1"/>
          <p:nvPr/>
        </p:nvSpPr>
        <p:spPr>
          <a:xfrm>
            <a:off x="4647536" y="1333002"/>
            <a:ext cx="412842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definen por sector de acuerdo con la disponibilidad de registros contables y la necesidad de obtener </a:t>
            </a:r>
          </a:p>
        </p:txBody>
      </p:sp>
      <p:sp>
        <p:nvSpPr>
          <p:cNvPr id="268" name="ANUARIO_ANEXO_P125_L035"/>
          <p:cNvSpPr txBox="1"/>
          <p:nvPr/>
        </p:nvSpPr>
        <p:spPr>
          <a:xfrm>
            <a:off x="4647536" y="1446811"/>
            <a:ext cx="22690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con el mayor nivel de precisión analítica.</a:t>
            </a:r>
          </a:p>
        </p:txBody>
      </p:sp>
      <p:sp>
        <p:nvSpPr>
          <p:cNvPr id="269" name="ANUARIO_ANEXO_P125_L036"/>
          <p:cNvSpPr txBox="1"/>
          <p:nvPr/>
        </p:nvSpPr>
        <p:spPr>
          <a:xfrm>
            <a:off x="4647536" y="1666738"/>
            <a:ext cx="412833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Universo:</a:t>
            </a:r>
            <a:r>
              <a:rPr sz="640" b="0" i="0">
                <a:solidFill>
                  <a:srgbClr val="1F3031"/>
                </a:solidFill>
                <a:latin typeface="Noto Sans"/>
              </a:rPr>
              <a:t> Conjunto de individuos o elementos que tienen una o más características en común y que </a:t>
            </a:r>
          </a:p>
        </p:txBody>
      </p:sp>
      <p:sp>
        <p:nvSpPr>
          <p:cNvPr id="270" name="ANUARIO_ANEXO_P125_L037"/>
          <p:cNvSpPr txBox="1"/>
          <p:nvPr/>
        </p:nvSpPr>
        <p:spPr>
          <a:xfrm>
            <a:off x="4647536" y="1781231"/>
            <a:ext cx="412778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someten a un estudio estadístico. En este caso conformado por los individuos capaces de recibir </a:t>
            </a:r>
          </a:p>
        </p:txBody>
      </p:sp>
      <p:sp>
        <p:nvSpPr>
          <p:cNvPr id="271" name="ANUARIO_ANEXO_P125_L038"/>
          <p:cNvSpPr txBox="1"/>
          <p:nvPr/>
        </p:nvSpPr>
        <p:spPr>
          <a:xfrm>
            <a:off x="4647536" y="1895040"/>
            <a:ext cx="22653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señales de audio y video asociado (televisión) o radio.</a:t>
            </a:r>
          </a:p>
        </p:txBody>
      </p:sp>
      <p:sp>
        <p:nvSpPr>
          <p:cNvPr id="272" name="ANUARIO_ANEXO_P125_L039"/>
          <p:cNvSpPr txBox="1"/>
          <p:nvPr/>
        </p:nvSpPr>
        <p:spPr>
          <a:xfrm>
            <a:off x="5502008" y="2145346"/>
            <a:ext cx="477989"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Televisión</a:t>
            </a:r>
          </a:p>
        </p:txBody>
      </p:sp>
      <p:sp>
        <p:nvSpPr>
          <p:cNvPr id="273" name="ANUARIO_ANEXO_P125_L040"/>
          <p:cNvSpPr txBox="1"/>
          <p:nvPr/>
        </p:nvSpPr>
        <p:spPr>
          <a:xfrm>
            <a:off x="7642940" y="2145346"/>
            <a:ext cx="326966"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Radio</a:t>
            </a:r>
          </a:p>
        </p:txBody>
      </p:sp>
      <p:sp>
        <p:nvSpPr>
          <p:cNvPr id="274" name="ANUARIO_ANEXO_P125_L041"/>
          <p:cNvSpPr txBox="1"/>
          <p:nvPr/>
        </p:nvSpPr>
        <p:spPr>
          <a:xfrm>
            <a:off x="4742180"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75" name="ANUARIO_ANEXO_P125_L042"/>
          <p:cNvSpPr txBox="1"/>
          <p:nvPr/>
        </p:nvSpPr>
        <p:spPr>
          <a:xfrm>
            <a:off x="5587522" y="2406381"/>
            <a:ext cx="111027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4 o más años que </a:t>
            </a:r>
          </a:p>
        </p:txBody>
      </p:sp>
      <p:sp>
        <p:nvSpPr>
          <p:cNvPr id="276" name="ANUARIO_ANEXO_P125_L043"/>
          <p:cNvSpPr txBox="1"/>
          <p:nvPr/>
        </p:nvSpPr>
        <p:spPr>
          <a:xfrm>
            <a:off x="5508681" y="2489686"/>
            <a:ext cx="126796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cuenten con un televisor funcional </a:t>
            </a:r>
          </a:p>
        </p:txBody>
      </p:sp>
      <p:sp>
        <p:nvSpPr>
          <p:cNvPr id="277" name="ANUARIO_ANEXO_P125_L044"/>
          <p:cNvSpPr txBox="1"/>
          <p:nvPr/>
        </p:nvSpPr>
        <p:spPr>
          <a:xfrm>
            <a:off x="5605982" y="2572992"/>
            <a:ext cx="107335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en el hogar. Se incluyen a los </a:t>
            </a:r>
          </a:p>
        </p:txBody>
      </p:sp>
      <p:sp>
        <p:nvSpPr>
          <p:cNvPr id="278" name="ANUARIO_ANEXO_P125_L045"/>
          <p:cNvSpPr txBox="1"/>
          <p:nvPr/>
        </p:nvSpPr>
        <p:spPr>
          <a:xfrm>
            <a:off x="5463182" y="2656159"/>
            <a:ext cx="1358952" cy="125078"/>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usuarios visitantes en el hogar (</a:t>
            </a:r>
            <a:r>
              <a:rPr sz="520" b="0" i="1">
                <a:solidFill>
                  <a:srgbClr val="1F3031"/>
                </a:solidFill>
                <a:latin typeface="Noto Sans"/>
              </a:rPr>
              <a:t>Guest </a:t>
            </a:r>
          </a:p>
        </p:txBody>
      </p:sp>
      <p:sp>
        <p:nvSpPr>
          <p:cNvPr id="279" name="ANUARIO_ANEXO_P125_L046"/>
          <p:cNvSpPr txBox="1"/>
          <p:nvPr/>
        </p:nvSpPr>
        <p:spPr>
          <a:xfrm>
            <a:off x="5910162" y="2739464"/>
            <a:ext cx="448346" cy="125078"/>
          </a:xfrm>
          <a:prstGeom prst="rect">
            <a:avLst/>
          </a:prstGeom>
          <a:noFill/>
        </p:spPr>
        <p:txBody>
          <a:bodyPr wrap="none" lIns="0" rIns="0" tIns="0" bIns="0">
            <a:noAutofit/>
          </a:bodyPr>
          <a:lstStyle/>
          <a:p>
            <a:pPr>
              <a:spcBef>
                <a:spcPts val="0"/>
              </a:spcBef>
              <a:spcAft>
                <a:spcPts val="0"/>
              </a:spcAft>
            </a:pPr>
            <a:r>
              <a:rPr sz="520" b="0" i="1">
                <a:solidFill>
                  <a:srgbClr val="1F3031"/>
                </a:solidFill>
                <a:latin typeface="Noto Sans"/>
              </a:rPr>
              <a:t>Viewers</a:t>
            </a:r>
            <a:r>
              <a:rPr sz="520" b="0" i="0">
                <a:solidFill>
                  <a:srgbClr val="1F3031"/>
                </a:solidFill>
                <a:latin typeface="Noto Sans"/>
              </a:rPr>
              <a:t>).</a:t>
            </a:r>
            <a:r>
              <a:rPr sz="303" b="0" i="0">
                <a:solidFill>
                  <a:srgbClr val="1F3031"/>
                </a:solidFill>
                <a:latin typeface="Noto Sans"/>
              </a:rPr>
              <a:t>12</a:t>
            </a:r>
          </a:p>
        </p:txBody>
      </p:sp>
      <p:sp>
        <p:nvSpPr>
          <p:cNvPr id="280" name="ANUARIO_ANEXO_P125_L047"/>
          <p:cNvSpPr txBox="1"/>
          <p:nvPr/>
        </p:nvSpPr>
        <p:spPr>
          <a:xfrm>
            <a:off x="6816691"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81" name="ANUARIO_ANEXO_P125_L048"/>
          <p:cNvSpPr txBox="1"/>
          <p:nvPr/>
        </p:nvSpPr>
        <p:spPr>
          <a:xfrm>
            <a:off x="7627455" y="2572992"/>
            <a:ext cx="1160303"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8 años en adelante.</a:t>
            </a:r>
          </a:p>
        </p:txBody>
      </p:sp>
      <p:sp>
        <p:nvSpPr>
          <p:cNvPr id="282" name="ANUARIO_ANEXO_P125_L049"/>
          <p:cNvSpPr txBox="1"/>
          <p:nvPr/>
        </p:nvSpPr>
        <p:spPr>
          <a:xfrm>
            <a:off x="4854878" y="3095056"/>
            <a:ext cx="492249"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3" name="ANUARIO_ANEXO_P125_L050"/>
          <p:cNvSpPr txBox="1"/>
          <p:nvPr/>
        </p:nvSpPr>
        <p:spPr>
          <a:xfrm>
            <a:off x="5575104" y="3057205"/>
            <a:ext cx="113511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 ciudades que comprende el </a:t>
            </a:r>
          </a:p>
        </p:txBody>
      </p:sp>
      <p:sp>
        <p:nvSpPr>
          <p:cNvPr id="284" name="ANUARIO_ANEXO_P125_L051"/>
          <p:cNvSpPr txBox="1"/>
          <p:nvPr/>
        </p:nvSpPr>
        <p:spPr>
          <a:xfrm>
            <a:off x="5529385" y="3140511"/>
            <a:ext cx="120989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estudio de Nielsen IBOPE México</a:t>
            </a:r>
          </a:p>
        </p:txBody>
      </p:sp>
      <p:sp>
        <p:nvSpPr>
          <p:cNvPr id="285" name="ANUARIO_ANEXO_P125_L052"/>
          <p:cNvSpPr txBox="1"/>
          <p:nvPr/>
        </p:nvSpPr>
        <p:spPr>
          <a:xfrm>
            <a:off x="6929390" y="3095056"/>
            <a:ext cx="492250"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6" name="ANUARIO_ANEXO_P125_L053"/>
          <p:cNvSpPr txBox="1"/>
          <p:nvPr/>
        </p:nvSpPr>
        <p:spPr>
          <a:xfrm>
            <a:off x="7612033" y="3057205"/>
            <a:ext cx="12077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Ciudad de México, Guadalajara y </a:t>
            </a:r>
          </a:p>
        </p:txBody>
      </p:sp>
      <p:sp>
        <p:nvSpPr>
          <p:cNvPr id="287" name="ANUARIO_ANEXO_P125_L054"/>
          <p:cNvSpPr txBox="1"/>
          <p:nvPr/>
        </p:nvSpPr>
        <p:spPr>
          <a:xfrm>
            <a:off x="7974705" y="3140511"/>
            <a:ext cx="46580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Monterrey</a:t>
            </a:r>
          </a:p>
        </p:txBody>
      </p:sp>
      <p:sp>
        <p:nvSpPr>
          <p:cNvPr id="288" name="ANUARIO_ANEXO_P125_L055"/>
          <p:cNvSpPr txBox="1"/>
          <p:nvPr/>
        </p:nvSpPr>
        <p:spPr>
          <a:xfrm>
            <a:off x="5520290" y="3350018"/>
            <a:ext cx="441422"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a:t>
            </a:r>
          </a:p>
        </p:txBody>
      </p:sp>
      <p:sp>
        <p:nvSpPr>
          <p:cNvPr id="289" name="ANUARIO_ANEXO_P125_L056"/>
          <p:cNvSpPr txBox="1"/>
          <p:nvPr/>
        </p:nvSpPr>
        <p:spPr>
          <a:xfrm>
            <a:off x="7568092" y="3427183"/>
            <a:ext cx="47666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Universos</a:t>
            </a:r>
          </a:p>
        </p:txBody>
      </p:sp>
      <p:sp>
        <p:nvSpPr>
          <p:cNvPr id="290" name="ANUARIO_ANEXO_P125_L057"/>
          <p:cNvSpPr txBox="1"/>
          <p:nvPr/>
        </p:nvSpPr>
        <p:spPr>
          <a:xfrm>
            <a:off x="4818937" y="3503652"/>
            <a:ext cx="564134"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28 Ciudades</a:t>
            </a:r>
          </a:p>
        </p:txBody>
      </p:sp>
      <p:sp>
        <p:nvSpPr>
          <p:cNvPr id="291" name="ANUARIO_ANEXO_P125_L058"/>
          <p:cNvSpPr txBox="1"/>
          <p:nvPr/>
        </p:nvSpPr>
        <p:spPr>
          <a:xfrm>
            <a:off x="5910449" y="3507455"/>
            <a:ext cx="44776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58,151,356</a:t>
            </a:r>
          </a:p>
        </p:txBody>
      </p:sp>
      <p:sp>
        <p:nvSpPr>
          <p:cNvPr id="292" name="ANUARIO_ANEXO_P125_L059"/>
          <p:cNvSpPr txBox="1"/>
          <p:nvPr/>
        </p:nvSpPr>
        <p:spPr>
          <a:xfrm>
            <a:off x="4717851" y="3691757"/>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3" name="ANUARIO_ANEXO_P125_L060"/>
          <p:cNvSpPr txBox="1"/>
          <p:nvPr/>
        </p:nvSpPr>
        <p:spPr>
          <a:xfrm>
            <a:off x="5899156" y="3695560"/>
            <a:ext cx="47035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20,258,180</a:t>
            </a:r>
          </a:p>
        </p:txBody>
      </p:sp>
      <p:sp>
        <p:nvSpPr>
          <p:cNvPr id="294" name="ANUARIO_ANEXO_P125_L061"/>
          <p:cNvSpPr txBox="1"/>
          <p:nvPr/>
        </p:nvSpPr>
        <p:spPr>
          <a:xfrm>
            <a:off x="6826865" y="3691757"/>
            <a:ext cx="697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Total 3 ciudades</a:t>
            </a:r>
          </a:p>
        </p:txBody>
      </p:sp>
      <p:sp>
        <p:nvSpPr>
          <p:cNvPr id="295" name="ANUARIO_ANEXO_P125_L062"/>
          <p:cNvSpPr txBox="1"/>
          <p:nvPr/>
        </p:nvSpPr>
        <p:spPr>
          <a:xfrm>
            <a:off x="7977713" y="3695560"/>
            <a:ext cx="45978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27,325,688</a:t>
            </a:r>
          </a:p>
        </p:txBody>
      </p:sp>
      <p:sp>
        <p:nvSpPr>
          <p:cNvPr id="296" name="ANUARIO_ANEXO_P125_L063"/>
          <p:cNvSpPr txBox="1"/>
          <p:nvPr/>
        </p:nvSpPr>
        <p:spPr>
          <a:xfrm>
            <a:off x="4825096" y="3913638"/>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297" name="ANUARIO_ANEXO_P125_L064"/>
          <p:cNvSpPr txBox="1"/>
          <p:nvPr/>
        </p:nvSpPr>
        <p:spPr>
          <a:xfrm>
            <a:off x="5931735" y="3917441"/>
            <a:ext cx="4051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4,840,117</a:t>
            </a:r>
          </a:p>
        </p:txBody>
      </p:sp>
      <p:sp>
        <p:nvSpPr>
          <p:cNvPr id="298" name="ANUARIO_ANEXO_P125_L065"/>
          <p:cNvSpPr txBox="1"/>
          <p:nvPr/>
        </p:nvSpPr>
        <p:spPr>
          <a:xfrm>
            <a:off x="6792363" y="3913638"/>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9" name="ANUARIO_ANEXO_P125_L066"/>
          <p:cNvSpPr txBox="1"/>
          <p:nvPr/>
        </p:nvSpPr>
        <p:spPr>
          <a:xfrm>
            <a:off x="7977675" y="3917441"/>
            <a:ext cx="45985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18,224,996</a:t>
            </a:r>
          </a:p>
        </p:txBody>
      </p:sp>
      <p:sp>
        <p:nvSpPr>
          <p:cNvPr id="300" name="ANUARIO_ANEXO_P125_L067"/>
          <p:cNvSpPr txBox="1"/>
          <p:nvPr/>
        </p:nvSpPr>
        <p:spPr>
          <a:xfrm>
            <a:off x="4849497" y="4101743"/>
            <a:ext cx="5030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1" name="ANUARIO_ANEXO_P125_L068"/>
          <p:cNvSpPr txBox="1"/>
          <p:nvPr/>
        </p:nvSpPr>
        <p:spPr>
          <a:xfrm>
            <a:off x="5925797" y="4105545"/>
            <a:ext cx="417072"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4,819,593</a:t>
            </a:r>
          </a:p>
        </p:txBody>
      </p:sp>
      <p:sp>
        <p:nvSpPr>
          <p:cNvPr id="302" name="ANUARIO_ANEXO_P125_L069"/>
          <p:cNvSpPr txBox="1"/>
          <p:nvPr/>
        </p:nvSpPr>
        <p:spPr>
          <a:xfrm>
            <a:off x="6899608" y="4101743"/>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303" name="ANUARIO_ANEXO_P125_L070"/>
          <p:cNvSpPr txBox="1"/>
          <p:nvPr/>
        </p:nvSpPr>
        <p:spPr>
          <a:xfrm>
            <a:off x="7989260" y="4105545"/>
            <a:ext cx="43669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4,640,377</a:t>
            </a:r>
          </a:p>
        </p:txBody>
      </p:sp>
      <p:sp>
        <p:nvSpPr>
          <p:cNvPr id="304" name="ANUARIO_ANEXO_P125_L071"/>
          <p:cNvSpPr txBox="1"/>
          <p:nvPr/>
        </p:nvSpPr>
        <p:spPr>
          <a:xfrm>
            <a:off x="4820067" y="4256072"/>
            <a:ext cx="56187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25 Ciudades</a:t>
            </a:r>
          </a:p>
        </p:txBody>
      </p:sp>
      <p:sp>
        <p:nvSpPr>
          <p:cNvPr id="305" name="ANUARIO_ANEXO_P125_L072"/>
          <p:cNvSpPr txBox="1"/>
          <p:nvPr/>
        </p:nvSpPr>
        <p:spPr>
          <a:xfrm>
            <a:off x="5897564" y="4259874"/>
            <a:ext cx="47354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28,233,465</a:t>
            </a:r>
          </a:p>
        </p:txBody>
      </p:sp>
      <p:sp>
        <p:nvSpPr>
          <p:cNvPr id="306" name="ANUARIO_ANEXO_P125_L073"/>
          <p:cNvSpPr txBox="1"/>
          <p:nvPr/>
        </p:nvSpPr>
        <p:spPr>
          <a:xfrm>
            <a:off x="6924009" y="4256072"/>
            <a:ext cx="503017"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7" name="ANUARIO_ANEXO_P125_L074"/>
          <p:cNvSpPr txBox="1"/>
          <p:nvPr/>
        </p:nvSpPr>
        <p:spPr>
          <a:xfrm>
            <a:off x="7991867" y="4259874"/>
            <a:ext cx="43147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4,460,315</a:t>
            </a:r>
          </a:p>
        </p:txBody>
      </p:sp>
      <p:sp>
        <p:nvSpPr>
          <p:cNvPr id="308" name="ANUARIO_ANEXO_P125_L075"/>
          <p:cNvSpPr txBox="1"/>
          <p:nvPr/>
        </p:nvSpPr>
        <p:spPr>
          <a:xfrm>
            <a:off x="383625" y="4527909"/>
            <a:ext cx="6321051"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12</a:t>
            </a:r>
            <a:r>
              <a:rPr sz="480" b="0" i="0">
                <a:solidFill>
                  <a:srgbClr val="1F3031"/>
                </a:solidFill>
                <a:latin typeface="Noto Sans"/>
              </a:rPr>
              <a:t> El Universo de TV corresponde al promedio de los universos del estudio de Nielsen IBOPE México para el periodo de julio de 2023 a junio de 2024, obtenido a través de la evaluación del </a:t>
            </a:r>
            <a:r>
              <a:rPr sz="480" b="0" i="1">
                <a:solidFill>
                  <a:srgbClr val="1F3031"/>
                </a:solidFill>
                <a:latin typeface="Noto Sans"/>
              </a:rPr>
              <a:t>target</a:t>
            </a:r>
            <a:r>
              <a:rPr sz="480" b="0" i="0">
                <a:solidFill>
                  <a:srgbClr val="1F3031"/>
                </a:solidFill>
                <a:latin typeface="Noto Sans"/>
              </a:rPr>
              <a:t> en el periodo.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126</a:t>
            </a:r>
          </a:p>
        </p:txBody>
      </p:sp>
      <p:sp>
        <p:nvSpPr>
          <p:cNvPr id="222" name="ANUARIO_ANEXO_P126_L001"/>
          <p:cNvSpPr txBox="1"/>
          <p:nvPr/>
        </p:nvSpPr>
        <p:spPr>
          <a:xfrm>
            <a:off x="589682" y="653802"/>
            <a:ext cx="2064194"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III. METODOLOGÍAS</a:t>
            </a:r>
          </a:p>
        </p:txBody>
      </p:sp>
      <p:sp>
        <p:nvSpPr>
          <p:cNvPr id="223" name="ANUARIO_ANEXO_P126_L002"/>
          <p:cNvSpPr txBox="1"/>
          <p:nvPr/>
        </p:nvSpPr>
        <p:spPr>
          <a:xfrm>
            <a:off x="383625" y="1066161"/>
            <a:ext cx="3990354"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SOBRE INFORMACIÓN DE SERVICIOS DE TELECOMUNICACIONES</a:t>
            </a:r>
          </a:p>
        </p:txBody>
      </p:sp>
      <p:sp>
        <p:nvSpPr>
          <p:cNvPr id="224" name="ANUARIO_ANEXO_P126_L003"/>
          <p:cNvSpPr txBox="1"/>
          <p:nvPr/>
        </p:nvSpPr>
        <p:spPr>
          <a:xfrm>
            <a:off x="528422" y="1397086"/>
            <a:ext cx="824724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Los indicadores mostrados en el presente Anuario Estadístico fueron elaborados con la información trimestral proporcionada por los operadores de telecomunicaciones a la CRT, la cual es revisada, procesada </a:t>
            </a:r>
          </a:p>
        </p:txBody>
      </p:sp>
      <p:sp>
        <p:nvSpPr>
          <p:cNvPr id="225" name="ANUARIO_ANEXO_P126_L004"/>
          <p:cNvSpPr txBox="1"/>
          <p:nvPr/>
        </p:nvSpPr>
        <p:spPr>
          <a:xfrm>
            <a:off x="528422" y="1503888"/>
            <a:ext cx="593549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analizada por la Coordinación General de Planeación Estratégica para su publicación en el Banco de Información de Telecomunicaciones (BIT).</a:t>
            </a:r>
          </a:p>
        </p:txBody>
      </p:sp>
      <p:sp>
        <p:nvSpPr>
          <p:cNvPr id="226" name="ANUARIO_ANEXO_P126_L005"/>
          <p:cNvSpPr txBox="1"/>
          <p:nvPr/>
        </p:nvSpPr>
        <p:spPr>
          <a:xfrm>
            <a:off x="528422" y="1717491"/>
            <a:ext cx="82479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Debido a la naturaleza de los servicios de telecomunicaciones móviles, el número de líneas de los servicios móviles de telefonía y de acceso a Internet no cuentan con desagregación a nivel entidad </a:t>
            </a:r>
          </a:p>
        </p:txBody>
      </p:sp>
      <p:sp>
        <p:nvSpPr>
          <p:cNvPr id="227" name="ANUARIO_ANEXO_P126_L006"/>
          <p:cNvSpPr txBox="1"/>
          <p:nvPr/>
        </p:nvSpPr>
        <p:spPr>
          <a:xfrm>
            <a:off x="528422" y="1824293"/>
            <a:ext cx="82483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federativa, por lo que, para obtener los indicadores del número de líneas por cada 100 habitantes, se obtuvo información de la ENDUTIH 2025 y se tomaron los siguientes supuestos de acuerdo con el tipo </a:t>
            </a:r>
          </a:p>
        </p:txBody>
      </p:sp>
      <p:sp>
        <p:nvSpPr>
          <p:cNvPr id="228" name="ANUARIO_ANEXO_P126_L007"/>
          <p:cNvSpPr txBox="1"/>
          <p:nvPr/>
        </p:nvSpPr>
        <p:spPr>
          <a:xfrm>
            <a:off x="528422" y="1931095"/>
            <a:ext cx="5923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 </a:t>
            </a:r>
          </a:p>
        </p:txBody>
      </p:sp>
      <p:sp>
        <p:nvSpPr>
          <p:cNvPr id="229" name="ANUARIO_ANEXO_P126_L008"/>
          <p:cNvSpPr txBox="1"/>
          <p:nvPr/>
        </p:nvSpPr>
        <p:spPr>
          <a:xfrm>
            <a:off x="662080" y="2144016"/>
            <a:ext cx="8113861"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telefonía.</a:t>
            </a:r>
            <a:r>
              <a:rPr sz="640" b="0" i="0">
                <a:solidFill>
                  <a:srgbClr val="1F3031"/>
                </a:solidFill>
                <a:latin typeface="Noto Sans"/>
              </a:rPr>
              <a:t> Se elaboró una estimación del número de usuarios de este servicio con base en la población de 6 años o más, residente en cada entidad federativa, que respondió contar </a:t>
            </a:r>
          </a:p>
        </p:txBody>
      </p:sp>
      <p:sp>
        <p:nvSpPr>
          <p:cNvPr id="230" name="ANUARIO_ANEXO_P126_L009"/>
          <p:cNvSpPr txBox="1"/>
          <p:nvPr/>
        </p:nvSpPr>
        <p:spPr>
          <a:xfrm>
            <a:off x="717770" y="2251501"/>
            <a:ext cx="44113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un teléfono celular y haberlo usado en los últimos tres meses previos al levantamiento de la encuesta. </a:t>
            </a:r>
          </a:p>
        </p:txBody>
      </p:sp>
      <p:sp>
        <p:nvSpPr>
          <p:cNvPr id="231" name="ANUARIO_ANEXO_P126_L010"/>
          <p:cNvSpPr txBox="1"/>
          <p:nvPr/>
        </p:nvSpPr>
        <p:spPr>
          <a:xfrm>
            <a:off x="662080" y="2464421"/>
            <a:ext cx="8114496"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acceso a Internet.</a:t>
            </a:r>
            <a:r>
              <a:rPr sz="640" b="0" i="0">
                <a:solidFill>
                  <a:srgbClr val="1F3031"/>
                </a:solidFill>
                <a:latin typeface="Noto Sans"/>
              </a:rPr>
              <a:t> Se elaboró una estimación del número de usuarios de este servicio con base en la población de 6 años o más, residente en cada entidad federativa, que respondió </a:t>
            </a:r>
          </a:p>
        </p:txBody>
      </p:sp>
      <p:sp>
        <p:nvSpPr>
          <p:cNvPr id="232" name="ANUARIO_ANEXO_P126_L011"/>
          <p:cNvSpPr txBox="1"/>
          <p:nvPr/>
        </p:nvSpPr>
        <p:spPr>
          <a:xfrm>
            <a:off x="717770" y="2571907"/>
            <a:ext cx="523853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haberse conectado a Internet mediante red celular (conexión de datos) a través de un teléfono móvil inteligente (</a:t>
            </a:r>
            <a:r>
              <a:rPr sz="640" b="0" i="1">
                <a:solidFill>
                  <a:srgbClr val="1F3031"/>
                </a:solidFill>
                <a:latin typeface="Noto Sans"/>
              </a:rPr>
              <a:t>Smartphone</a:t>
            </a:r>
            <a:r>
              <a:rPr sz="640" b="0" i="0">
                <a:solidFill>
                  <a:srgbClr val="1F3031"/>
                </a:solidFill>
                <a:latin typeface="Noto Sans"/>
              </a:rPr>
              <a:t>).</a:t>
            </a:r>
          </a:p>
        </p:txBody>
      </p:sp>
      <p:sp>
        <p:nvSpPr>
          <p:cNvPr id="233" name="ANUARIO_ANEXO_P126_L012"/>
          <p:cNvSpPr txBox="1"/>
          <p:nvPr/>
        </p:nvSpPr>
        <p:spPr>
          <a:xfrm>
            <a:off x="528422" y="2785511"/>
            <a:ext cx="82465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número de hogares y el número de habitantes a nivel entidad federativa se obtienen a partir de estimaciones propias con base en los datos de la ENDUTIH 2025 y el Censo de Población </a:t>
            </a:r>
          </a:p>
        </p:txBody>
      </p:sp>
      <p:sp>
        <p:nvSpPr>
          <p:cNvPr id="234" name="ANUARIO_ANEXO_P126_L013"/>
          <p:cNvSpPr txBox="1"/>
          <p:nvPr/>
        </p:nvSpPr>
        <p:spPr>
          <a:xfrm>
            <a:off x="528422" y="2892313"/>
            <a:ext cx="77646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Vivienda 2020.</a:t>
            </a:r>
          </a:p>
        </p:txBody>
      </p:sp>
      <p:sp>
        <p:nvSpPr>
          <p:cNvPr id="235" name="ANUARIO_ANEXO_P126_L014"/>
          <p:cNvSpPr txBox="1"/>
          <p:nvPr/>
        </p:nvSpPr>
        <p:spPr>
          <a:xfrm>
            <a:off x="528422" y="3105917"/>
            <a:ext cx="75113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 Los accesos/líneas por cada 100 hogares se calculan dividiendo los accesos. Asimismo, el número de unidades económicas a nivel entidad federativa se obtuvo del DENUE del INEGI.</a:t>
            </a:r>
          </a:p>
        </p:txBody>
      </p:sp>
      <p:sp>
        <p:nvSpPr>
          <p:cNvPr id="236" name="ANUARIO_ANEXO_P126_L015"/>
          <p:cNvSpPr txBox="1"/>
          <p:nvPr/>
        </p:nvSpPr>
        <p:spPr>
          <a:xfrm>
            <a:off x="383625" y="3456547"/>
            <a:ext cx="1361211" cy="185415"/>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ÍNDICES DE PRECIOS</a:t>
            </a:r>
          </a:p>
        </p:txBody>
      </p:sp>
      <p:sp>
        <p:nvSpPr>
          <p:cNvPr id="237" name="ANUARIO_ANEXO_P126_L016"/>
          <p:cNvSpPr txBox="1"/>
          <p:nvPr/>
        </p:nvSpPr>
        <p:spPr>
          <a:xfrm>
            <a:off x="528422" y="3768089"/>
            <a:ext cx="824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INEGI construye el INPC utilizando las variaciones en los precios de los bienes y servicios de una canasta representativa del consumo de los hogares mexicanos. Dichos bienes y servicios pueden </a:t>
            </a:r>
          </a:p>
        </p:txBody>
      </p:sp>
      <p:sp>
        <p:nvSpPr>
          <p:cNvPr id="238" name="ANUARIO_ANEXO_P126_L017"/>
          <p:cNvSpPr txBox="1"/>
          <p:nvPr/>
        </p:nvSpPr>
        <p:spPr>
          <a:xfrm>
            <a:off x="528422" y="3874890"/>
            <a:ext cx="82476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representarse por medio de la Clasificación del Consumo Individual por Finalidades (CCIF), el cual consta de doce divisiones que se desagregan en Grupos y Clases, las cuales representan categorías de </a:t>
            </a:r>
          </a:p>
        </p:txBody>
      </p:sp>
      <p:sp>
        <p:nvSpPr>
          <p:cNvPr id="239" name="ANUARIO_ANEXO_P126_L018"/>
          <p:cNvSpPr txBox="1"/>
          <p:nvPr/>
        </p:nvSpPr>
        <p:spPr>
          <a:xfrm>
            <a:off x="528422" y="3981692"/>
            <a:ext cx="25719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finalidad de los bienes y servicios compuestos por genéricos.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127</a:t>
            </a:r>
          </a:p>
        </p:txBody>
      </p:sp>
      <p:sp>
        <p:nvSpPr>
          <p:cNvPr id="222" name="ANUARIO_TABLA_REFERENCIA_0"/>
          <p:cNvSpPr/>
          <p:nvPr/>
        </p:nvSpPr>
        <p:spPr>
          <a:xfrm>
            <a:off x="529117" y="675067"/>
            <a:ext cx="3986900" cy="1737448"/>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3" name="Connector 222"/>
          <p:cNvCxnSpPr/>
          <p:nvPr/>
        </p:nvCxnSpPr>
        <p:spPr>
          <a:xfrm>
            <a:off x="529117" y="8841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29117" y="1037132"/>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29117" y="114863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529117" y="126013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529117" y="137163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529117" y="148313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529117" y="159463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529117" y="170613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529117" y="1817640"/>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529117" y="192914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529117" y="20406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529117" y="215214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529117" y="226364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6" name="ANUARIO_TABLA_REFERENCIA_1"/>
          <p:cNvSpPr/>
          <p:nvPr/>
        </p:nvSpPr>
        <p:spPr>
          <a:xfrm>
            <a:off x="529117" y="3042279"/>
            <a:ext cx="3986900" cy="1179943"/>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7" name="Connector 236"/>
          <p:cNvCxnSpPr/>
          <p:nvPr/>
        </p:nvCxnSpPr>
        <p:spPr>
          <a:xfrm>
            <a:off x="529117" y="325140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29117" y="34043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29117" y="352118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29117" y="363802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9117" y="375486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9117" y="387170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29117" y="398854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29117" y="41053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45" name="ANUARIO_ANEXO_P127_L001"/>
          <p:cNvSpPr txBox="1"/>
          <p:nvPr/>
        </p:nvSpPr>
        <p:spPr>
          <a:xfrm>
            <a:off x="629361" y="753928"/>
            <a:ext cx="387345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1. </a:t>
            </a:r>
            <a:r>
              <a:rPr sz="592" b="0" i="0">
                <a:solidFill>
                  <a:srgbClr val="1F3031"/>
                </a:solidFill>
                <a:latin typeface="Noto Sans"/>
              </a:rPr>
              <a:t>Clasificación del Consumo Individual por Finalidades (CCIF), Ponderador por División</a:t>
            </a:r>
          </a:p>
        </p:txBody>
      </p:sp>
      <p:sp>
        <p:nvSpPr>
          <p:cNvPr id="246" name="ANUARIO_ANEXO_P127_L002"/>
          <p:cNvSpPr txBox="1"/>
          <p:nvPr/>
        </p:nvSpPr>
        <p:spPr>
          <a:xfrm>
            <a:off x="1962028" y="917143"/>
            <a:ext cx="412730"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División</a:t>
            </a:r>
          </a:p>
        </p:txBody>
      </p:sp>
      <p:sp>
        <p:nvSpPr>
          <p:cNvPr id="247" name="ANUARIO_ANEXO_P127_L003"/>
          <p:cNvSpPr txBox="1"/>
          <p:nvPr/>
        </p:nvSpPr>
        <p:spPr>
          <a:xfrm>
            <a:off x="3889474" y="917143"/>
            <a:ext cx="545275"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48" name="ANUARIO_ANEXO_P127_L004"/>
          <p:cNvSpPr txBox="1"/>
          <p:nvPr/>
        </p:nvSpPr>
        <p:spPr>
          <a:xfrm>
            <a:off x="1536400" y="1050495"/>
            <a:ext cx="12639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Alimentos y bebidas no alcohólicas</a:t>
            </a:r>
          </a:p>
        </p:txBody>
      </p:sp>
      <p:sp>
        <p:nvSpPr>
          <p:cNvPr id="249" name="ANUARIO_ANEXO_P127_L005"/>
          <p:cNvSpPr txBox="1"/>
          <p:nvPr/>
        </p:nvSpPr>
        <p:spPr>
          <a:xfrm>
            <a:off x="3983182" y="1050495"/>
            <a:ext cx="35785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25.77%</a:t>
            </a:r>
          </a:p>
        </p:txBody>
      </p:sp>
      <p:sp>
        <p:nvSpPr>
          <p:cNvPr id="250" name="ANUARIO_ANEXO_P127_L006"/>
          <p:cNvSpPr txBox="1"/>
          <p:nvPr/>
        </p:nvSpPr>
        <p:spPr>
          <a:xfrm>
            <a:off x="1641594" y="1161996"/>
            <a:ext cx="105358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Bebidas alcohólicas y tabaco</a:t>
            </a:r>
          </a:p>
        </p:txBody>
      </p:sp>
      <p:sp>
        <p:nvSpPr>
          <p:cNvPr id="251" name="ANUARIO_ANEXO_P127_L007"/>
          <p:cNvSpPr txBox="1"/>
          <p:nvPr/>
        </p:nvSpPr>
        <p:spPr>
          <a:xfrm>
            <a:off x="3998819" y="1161996"/>
            <a:ext cx="32658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2.69%</a:t>
            </a:r>
          </a:p>
        </p:txBody>
      </p:sp>
      <p:sp>
        <p:nvSpPr>
          <p:cNvPr id="252" name="ANUARIO_ANEXO_P127_L008"/>
          <p:cNvSpPr txBox="1"/>
          <p:nvPr/>
        </p:nvSpPr>
        <p:spPr>
          <a:xfrm>
            <a:off x="1670590" y="1273497"/>
            <a:ext cx="99560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Prendas de vestir y calzado</a:t>
            </a:r>
          </a:p>
        </p:txBody>
      </p:sp>
      <p:sp>
        <p:nvSpPr>
          <p:cNvPr id="253" name="ANUARIO_ANEXO_P127_L009"/>
          <p:cNvSpPr txBox="1"/>
          <p:nvPr/>
        </p:nvSpPr>
        <p:spPr>
          <a:xfrm>
            <a:off x="4000992" y="1273497"/>
            <a:ext cx="32223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4.78%</a:t>
            </a:r>
          </a:p>
        </p:txBody>
      </p:sp>
      <p:sp>
        <p:nvSpPr>
          <p:cNvPr id="254" name="ANUARIO_ANEXO_P127_L010"/>
          <p:cNvSpPr txBox="1"/>
          <p:nvPr/>
        </p:nvSpPr>
        <p:spPr>
          <a:xfrm>
            <a:off x="1238307" y="1384998"/>
            <a:ext cx="18601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Vivienda, agua, electricidad, gas y otros combustibles</a:t>
            </a:r>
          </a:p>
        </p:txBody>
      </p:sp>
      <p:sp>
        <p:nvSpPr>
          <p:cNvPr id="255" name="ANUARIO_ANEXO_P127_L011"/>
          <p:cNvSpPr txBox="1"/>
          <p:nvPr/>
        </p:nvSpPr>
        <p:spPr>
          <a:xfrm>
            <a:off x="3988647" y="1384998"/>
            <a:ext cx="3469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19.64%</a:t>
            </a:r>
          </a:p>
        </p:txBody>
      </p:sp>
      <p:sp>
        <p:nvSpPr>
          <p:cNvPr id="256" name="ANUARIO_ANEXO_P127_L012"/>
          <p:cNvSpPr txBox="1"/>
          <p:nvPr/>
        </p:nvSpPr>
        <p:spPr>
          <a:xfrm>
            <a:off x="1207900" y="1496498"/>
            <a:ext cx="192098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Muebles, artículos para el hogar y para su conservación</a:t>
            </a:r>
          </a:p>
        </p:txBody>
      </p:sp>
      <p:sp>
        <p:nvSpPr>
          <p:cNvPr id="257" name="ANUARIO_ANEXO_P127_L013"/>
          <p:cNvSpPr txBox="1"/>
          <p:nvPr/>
        </p:nvSpPr>
        <p:spPr>
          <a:xfrm>
            <a:off x="3999109" y="1496498"/>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4.53%</a:t>
            </a:r>
          </a:p>
        </p:txBody>
      </p:sp>
      <p:sp>
        <p:nvSpPr>
          <p:cNvPr id="258" name="ANUARIO_ANEXO_P127_L014"/>
          <p:cNvSpPr txBox="1"/>
          <p:nvPr/>
        </p:nvSpPr>
        <p:spPr>
          <a:xfrm>
            <a:off x="2017878" y="1607999"/>
            <a:ext cx="3010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Salud</a:t>
            </a:r>
          </a:p>
        </p:txBody>
      </p:sp>
      <p:sp>
        <p:nvSpPr>
          <p:cNvPr id="259" name="ANUARIO_ANEXO_P127_L015"/>
          <p:cNvSpPr txBox="1"/>
          <p:nvPr/>
        </p:nvSpPr>
        <p:spPr>
          <a:xfrm>
            <a:off x="3997625" y="1607999"/>
            <a:ext cx="32897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3.08%</a:t>
            </a:r>
          </a:p>
        </p:txBody>
      </p:sp>
      <p:sp>
        <p:nvSpPr>
          <p:cNvPr id="260" name="ANUARIO_ANEXO_P127_L016"/>
          <p:cNvSpPr txBox="1"/>
          <p:nvPr/>
        </p:nvSpPr>
        <p:spPr>
          <a:xfrm>
            <a:off x="1931725" y="1719500"/>
            <a:ext cx="4733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Transporte</a:t>
            </a:r>
          </a:p>
        </p:txBody>
      </p:sp>
      <p:sp>
        <p:nvSpPr>
          <p:cNvPr id="261" name="ANUARIO_ANEXO_P127_L017"/>
          <p:cNvSpPr txBox="1"/>
          <p:nvPr/>
        </p:nvSpPr>
        <p:spPr>
          <a:xfrm>
            <a:off x="3990603" y="1719500"/>
            <a:ext cx="3430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13.76%</a:t>
            </a:r>
          </a:p>
        </p:txBody>
      </p:sp>
      <p:sp>
        <p:nvSpPr>
          <p:cNvPr id="262" name="ANUARIO_ANEXO_P127_L018"/>
          <p:cNvSpPr txBox="1"/>
          <p:nvPr/>
        </p:nvSpPr>
        <p:spPr>
          <a:xfrm>
            <a:off x="1831274" y="1831001"/>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63" name="ANUARIO_ANEXO_P127_L019"/>
          <p:cNvSpPr txBox="1"/>
          <p:nvPr/>
        </p:nvSpPr>
        <p:spPr>
          <a:xfrm>
            <a:off x="4010367" y="1831001"/>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64" name="ANUARIO_ANEXO_P127_L020"/>
          <p:cNvSpPr txBox="1"/>
          <p:nvPr/>
        </p:nvSpPr>
        <p:spPr>
          <a:xfrm>
            <a:off x="1775528" y="1942502"/>
            <a:ext cx="78572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Recreación y cultura</a:t>
            </a:r>
          </a:p>
        </p:txBody>
      </p:sp>
      <p:sp>
        <p:nvSpPr>
          <p:cNvPr id="265" name="ANUARIO_ANEXO_P127_L021"/>
          <p:cNvSpPr txBox="1"/>
          <p:nvPr/>
        </p:nvSpPr>
        <p:spPr>
          <a:xfrm>
            <a:off x="4001571" y="1942502"/>
            <a:ext cx="32107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4.87%</a:t>
            </a:r>
          </a:p>
        </p:txBody>
      </p:sp>
      <p:sp>
        <p:nvSpPr>
          <p:cNvPr id="266" name="ANUARIO_ANEXO_P127_L022"/>
          <p:cNvSpPr txBox="1"/>
          <p:nvPr/>
        </p:nvSpPr>
        <p:spPr>
          <a:xfrm>
            <a:off x="1937553" y="2054002"/>
            <a:ext cx="4616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Educación</a:t>
            </a:r>
          </a:p>
        </p:txBody>
      </p:sp>
      <p:sp>
        <p:nvSpPr>
          <p:cNvPr id="267" name="ANUARIO_ANEXO_P127_L023"/>
          <p:cNvSpPr txBox="1"/>
          <p:nvPr/>
        </p:nvSpPr>
        <p:spPr>
          <a:xfrm>
            <a:off x="3999109" y="2054002"/>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3.54%</a:t>
            </a:r>
          </a:p>
        </p:txBody>
      </p:sp>
      <p:sp>
        <p:nvSpPr>
          <p:cNvPr id="268" name="ANUARIO_ANEXO_P127_L024"/>
          <p:cNvSpPr txBox="1"/>
          <p:nvPr/>
        </p:nvSpPr>
        <p:spPr>
          <a:xfrm>
            <a:off x="1739404" y="2165504"/>
            <a:ext cx="8579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Restaurantes y hoteles</a:t>
            </a:r>
          </a:p>
        </p:txBody>
      </p:sp>
      <p:sp>
        <p:nvSpPr>
          <p:cNvPr id="269" name="ANUARIO_ANEXO_P127_L025"/>
          <p:cNvSpPr txBox="1"/>
          <p:nvPr/>
        </p:nvSpPr>
        <p:spPr>
          <a:xfrm>
            <a:off x="4003054" y="2165504"/>
            <a:ext cx="3181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9.52%</a:t>
            </a:r>
          </a:p>
        </p:txBody>
      </p:sp>
      <p:sp>
        <p:nvSpPr>
          <p:cNvPr id="270" name="ANUARIO_ANEXO_P127_L026"/>
          <p:cNvSpPr txBox="1"/>
          <p:nvPr/>
        </p:nvSpPr>
        <p:spPr>
          <a:xfrm>
            <a:off x="1681449" y="2295695"/>
            <a:ext cx="9738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Bienes y servicios diversos</a:t>
            </a:r>
          </a:p>
        </p:txBody>
      </p:sp>
      <p:sp>
        <p:nvSpPr>
          <p:cNvPr id="271" name="ANUARIO_ANEXO_P127_L027"/>
          <p:cNvSpPr txBox="1"/>
          <p:nvPr/>
        </p:nvSpPr>
        <p:spPr>
          <a:xfrm>
            <a:off x="3998602" y="2295695"/>
            <a:ext cx="32701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4.69%</a:t>
            </a:r>
          </a:p>
        </p:txBody>
      </p:sp>
      <p:sp>
        <p:nvSpPr>
          <p:cNvPr id="272" name="ANUARIO_ANEXO_P127_L028"/>
          <p:cNvSpPr txBox="1"/>
          <p:nvPr/>
        </p:nvSpPr>
        <p:spPr>
          <a:xfrm>
            <a:off x="551394" y="2447630"/>
            <a:ext cx="3916450"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Índice Nacional de Precios al Consumidor, Documento metodológico. Base segunda quincena de julio de 2018, INEGI.</a:t>
            </a:r>
          </a:p>
        </p:txBody>
      </p:sp>
      <p:sp>
        <p:nvSpPr>
          <p:cNvPr id="273" name="ANUARIO_ANEXO_P127_L029"/>
          <p:cNvSpPr txBox="1"/>
          <p:nvPr/>
        </p:nvSpPr>
        <p:spPr>
          <a:xfrm>
            <a:off x="528422" y="2686869"/>
            <a:ext cx="412822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división de &lt;&lt;Comunicaciones&gt;&gt; representa 3.13% de la ponderación del INPC general. Dicha </a:t>
            </a:r>
          </a:p>
        </p:txBody>
      </p:sp>
      <p:sp>
        <p:nvSpPr>
          <p:cNvPr id="274" name="ANUARIO_ANEXO_P127_L030"/>
          <p:cNvSpPr txBox="1"/>
          <p:nvPr/>
        </p:nvSpPr>
        <p:spPr>
          <a:xfrm>
            <a:off x="528422" y="2812471"/>
            <a:ext cx="38267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división incluye seis conceptos, de los cuales el servicio de telefonía móvil representa 1.28%.</a:t>
            </a:r>
          </a:p>
        </p:txBody>
      </p:sp>
      <p:sp>
        <p:nvSpPr>
          <p:cNvPr id="275" name="ANUARIO_ANEXO_P127_L031"/>
          <p:cNvSpPr txBox="1"/>
          <p:nvPr/>
        </p:nvSpPr>
        <p:spPr>
          <a:xfrm>
            <a:off x="629361" y="3121141"/>
            <a:ext cx="287308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2.</a:t>
            </a:r>
            <a:r>
              <a:rPr sz="592" b="0" i="0">
                <a:solidFill>
                  <a:srgbClr val="1F3031"/>
                </a:solidFill>
                <a:latin typeface="Noto Sans"/>
              </a:rPr>
              <a:t> Ponderadores de la división &lt;&lt;Comunicaciones&gt;&gt; del INPC</a:t>
            </a:r>
          </a:p>
        </p:txBody>
      </p:sp>
      <p:sp>
        <p:nvSpPr>
          <p:cNvPr id="276" name="ANUARIO_ANEXO_P127_L032"/>
          <p:cNvSpPr txBox="1"/>
          <p:nvPr/>
        </p:nvSpPr>
        <p:spPr>
          <a:xfrm>
            <a:off x="1930917" y="3284355"/>
            <a:ext cx="474947"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Concepto</a:t>
            </a:r>
          </a:p>
        </p:txBody>
      </p:sp>
      <p:sp>
        <p:nvSpPr>
          <p:cNvPr id="277" name="ANUARIO_ANEXO_P127_L033"/>
          <p:cNvSpPr txBox="1"/>
          <p:nvPr/>
        </p:nvSpPr>
        <p:spPr>
          <a:xfrm>
            <a:off x="3888778" y="3284355"/>
            <a:ext cx="545275"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78" name="ANUARIO_ANEXO_P127_L034"/>
          <p:cNvSpPr txBox="1"/>
          <p:nvPr/>
        </p:nvSpPr>
        <p:spPr>
          <a:xfrm>
            <a:off x="1831274" y="3423048"/>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79" name="ANUARIO_ANEXO_P127_L035"/>
          <p:cNvSpPr txBox="1"/>
          <p:nvPr/>
        </p:nvSpPr>
        <p:spPr>
          <a:xfrm>
            <a:off x="4009670" y="3423048"/>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80" name="ANUARIO_ANEXO_P127_L036"/>
          <p:cNvSpPr txBox="1"/>
          <p:nvPr/>
        </p:nvSpPr>
        <p:spPr>
          <a:xfrm>
            <a:off x="1676453" y="3539889"/>
            <a:ext cx="9838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móvil</a:t>
            </a:r>
          </a:p>
        </p:txBody>
      </p:sp>
      <p:sp>
        <p:nvSpPr>
          <p:cNvPr id="281" name="ANUARIO_ANEXO_P127_L037"/>
          <p:cNvSpPr txBox="1"/>
          <p:nvPr/>
        </p:nvSpPr>
        <p:spPr>
          <a:xfrm>
            <a:off x="4004242" y="3539889"/>
            <a:ext cx="314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1.28%</a:t>
            </a:r>
          </a:p>
        </p:txBody>
      </p:sp>
      <p:sp>
        <p:nvSpPr>
          <p:cNvPr id="282" name="ANUARIO_ANEXO_P127_L038"/>
          <p:cNvSpPr txBox="1"/>
          <p:nvPr/>
        </p:nvSpPr>
        <p:spPr>
          <a:xfrm>
            <a:off x="1274614" y="3656730"/>
            <a:ext cx="178755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Paquetes de Internet, telefonía y televisión de paga</a:t>
            </a:r>
          </a:p>
        </p:txBody>
      </p:sp>
      <p:sp>
        <p:nvSpPr>
          <p:cNvPr id="283" name="ANUARIO_ANEXO_P127_L039"/>
          <p:cNvSpPr txBox="1"/>
          <p:nvPr/>
        </p:nvSpPr>
        <p:spPr>
          <a:xfrm>
            <a:off x="4002213" y="3656730"/>
            <a:ext cx="31840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1.09%</a:t>
            </a:r>
          </a:p>
        </p:txBody>
      </p:sp>
      <p:sp>
        <p:nvSpPr>
          <p:cNvPr id="284" name="ANUARIO_ANEXO_P127_L040"/>
          <p:cNvSpPr txBox="1"/>
          <p:nvPr/>
        </p:nvSpPr>
        <p:spPr>
          <a:xfrm>
            <a:off x="1556671" y="3773571"/>
            <a:ext cx="1223442"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Equipo terminal de comunicación</a:t>
            </a:r>
          </a:p>
        </p:txBody>
      </p:sp>
      <p:sp>
        <p:nvSpPr>
          <p:cNvPr id="285" name="ANUARIO_ANEXO_P127_L041"/>
          <p:cNvSpPr txBox="1"/>
          <p:nvPr/>
        </p:nvSpPr>
        <p:spPr>
          <a:xfrm>
            <a:off x="3995083" y="3773571"/>
            <a:ext cx="33265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0.35%</a:t>
            </a:r>
          </a:p>
        </p:txBody>
      </p:sp>
      <p:sp>
        <p:nvSpPr>
          <p:cNvPr id="286" name="ANUARIO_ANEXO_P127_L042"/>
          <p:cNvSpPr txBox="1"/>
          <p:nvPr/>
        </p:nvSpPr>
        <p:spPr>
          <a:xfrm>
            <a:off x="1716236" y="3890412"/>
            <a:ext cx="9043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fija</a:t>
            </a:r>
          </a:p>
        </p:txBody>
      </p:sp>
      <p:sp>
        <p:nvSpPr>
          <p:cNvPr id="287" name="ANUARIO_ANEXO_P127_L043"/>
          <p:cNvSpPr txBox="1"/>
          <p:nvPr/>
        </p:nvSpPr>
        <p:spPr>
          <a:xfrm>
            <a:off x="3994938" y="3890412"/>
            <a:ext cx="33294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0.28%</a:t>
            </a:r>
          </a:p>
        </p:txBody>
      </p:sp>
      <p:sp>
        <p:nvSpPr>
          <p:cNvPr id="288" name="ANUARIO_ANEXO_P127_L044"/>
          <p:cNvSpPr txBox="1"/>
          <p:nvPr/>
        </p:nvSpPr>
        <p:spPr>
          <a:xfrm>
            <a:off x="1787837" y="4007253"/>
            <a:ext cx="7611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Internet</a:t>
            </a:r>
          </a:p>
        </p:txBody>
      </p:sp>
      <p:sp>
        <p:nvSpPr>
          <p:cNvPr id="289" name="ANUARIO_ANEXO_P127_L045"/>
          <p:cNvSpPr txBox="1"/>
          <p:nvPr/>
        </p:nvSpPr>
        <p:spPr>
          <a:xfrm>
            <a:off x="4006738" y="4007253"/>
            <a:ext cx="30935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0.12%</a:t>
            </a:r>
          </a:p>
        </p:txBody>
      </p:sp>
      <p:sp>
        <p:nvSpPr>
          <p:cNvPr id="290" name="ANUARIO_ANEXO_P127_L046"/>
          <p:cNvSpPr txBox="1"/>
          <p:nvPr/>
        </p:nvSpPr>
        <p:spPr>
          <a:xfrm>
            <a:off x="1933028" y="4124093"/>
            <a:ext cx="47072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Paquetería</a:t>
            </a:r>
          </a:p>
        </p:txBody>
      </p:sp>
      <p:sp>
        <p:nvSpPr>
          <p:cNvPr id="291" name="ANUARIO_ANEXO_P127_L047"/>
          <p:cNvSpPr txBox="1"/>
          <p:nvPr/>
        </p:nvSpPr>
        <p:spPr>
          <a:xfrm>
            <a:off x="3996241" y="4124093"/>
            <a:ext cx="330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0.02%</a:t>
            </a:r>
          </a:p>
        </p:txBody>
      </p:sp>
      <p:sp>
        <p:nvSpPr>
          <p:cNvPr id="292" name="ANUARIO_ANEXO_P127_L048"/>
          <p:cNvSpPr txBox="1"/>
          <p:nvPr/>
        </p:nvSpPr>
        <p:spPr>
          <a:xfrm>
            <a:off x="551394" y="4262679"/>
            <a:ext cx="4075542"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Ponderadores del INPC, Por Objeto del Gasto Nacional por Genérico. Segunda quincena julio 2018=100, del INEGI. Disponible </a:t>
            </a:r>
          </a:p>
        </p:txBody>
      </p:sp>
      <p:sp>
        <p:nvSpPr>
          <p:cNvPr id="293" name="ANUARIO_ANEXO_P127_L049"/>
          <p:cNvSpPr txBox="1"/>
          <p:nvPr/>
        </p:nvSpPr>
        <p:spPr>
          <a:xfrm>
            <a:off x="551394" y="4340218"/>
            <a:ext cx="1678241" cy="118493"/>
          </a:xfrm>
          <a:prstGeom prst="rect">
            <a:avLst/>
          </a:prstGeom>
          <a:noFill/>
        </p:spPr>
        <p:txBody>
          <a:bodyPr wrap="none" lIns="0" rIns="0" tIns="0" bIns="0">
            <a:noAutofit/>
          </a:bodyPr>
          <a:lstStyle/>
          <a:p>
            <a:pPr>
              <a:spcBef>
                <a:spcPts val="0"/>
              </a:spcBef>
              <a:spcAft>
                <a:spcPts val="0"/>
              </a:spcAft>
            </a:pPr>
            <a:r>
              <a:rPr sz="444" b="0" i="0">
                <a:solidFill>
                  <a:srgbClr val="1F3031"/>
                </a:solidFill>
                <a:latin typeface="Noto Sans"/>
              </a:rPr>
              <a:t>en: </a:t>
            </a:r>
            <a:r>
              <a:rPr sz="444" b="0" i="0">
                <a:solidFill>
                  <a:srgbClr val="0563C1"/>
                </a:solidFill>
                <a:latin typeface="Noto Sans"/>
                <a:hlinkClick r:id="rId2"/>
              </a:rPr>
              <a:t>https://www.inegi.org.mx/programas/inpc/2018/</a:t>
            </a:r>
            <a:r>
              <a:rPr sz="444" b="0" i="0">
                <a:solidFill>
                  <a:srgbClr val="1F3031"/>
                </a:solidFill>
                <a:latin typeface="Noto Sans"/>
              </a:rPr>
              <a:t>.</a:t>
            </a:r>
          </a:p>
        </p:txBody>
      </p:sp>
      <p:sp>
        <p:nvSpPr>
          <p:cNvPr id="294" name="ANUARIO_ANEXO_P127_L050"/>
          <p:cNvSpPr txBox="1"/>
          <p:nvPr/>
        </p:nvSpPr>
        <p:spPr>
          <a:xfrm>
            <a:off x="4647536" y="649999"/>
            <a:ext cx="4098297"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SOBRE INFORMACIÓN DE INGRESO Y GASTO DE LOS HOGARES EN </a:t>
            </a:r>
          </a:p>
        </p:txBody>
      </p:sp>
      <p:sp>
        <p:nvSpPr>
          <p:cNvPr id="295" name="ANUARIO_ANEXO_P127_L051"/>
          <p:cNvSpPr txBox="1"/>
          <p:nvPr/>
        </p:nvSpPr>
        <p:spPr>
          <a:xfrm>
            <a:off x="4647536" y="792395"/>
            <a:ext cx="2578313"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TELECOMUNICACIONES FIJAS Y MÓVILES</a:t>
            </a:r>
          </a:p>
        </p:txBody>
      </p:sp>
      <p:sp>
        <p:nvSpPr>
          <p:cNvPr id="296" name="ANUARIO_ANEXO_P127_L052"/>
          <p:cNvSpPr txBox="1"/>
          <p:nvPr/>
        </p:nvSpPr>
        <p:spPr>
          <a:xfrm>
            <a:off x="4647536" y="1017562"/>
            <a:ext cx="412840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mostrada en el Anuario en lo que se refiere al gasto e ingreso de los hogares en </a:t>
            </a:r>
          </a:p>
        </p:txBody>
      </p:sp>
      <p:sp>
        <p:nvSpPr>
          <p:cNvPr id="297" name="ANUARIO_ANEXO_P127_L053"/>
          <p:cNvSpPr txBox="1"/>
          <p:nvPr/>
        </p:nvSpPr>
        <p:spPr>
          <a:xfrm>
            <a:off x="4647536" y="1125781"/>
            <a:ext cx="41281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se obtuvo con base en la información de la ENIGH 2024 que </a:t>
            </a:r>
          </a:p>
        </p:txBody>
      </p:sp>
      <p:sp>
        <p:nvSpPr>
          <p:cNvPr id="298" name="ANUARIO_ANEXO_P127_L054"/>
          <p:cNvSpPr txBox="1"/>
          <p:nvPr/>
        </p:nvSpPr>
        <p:spPr>
          <a:xfrm>
            <a:off x="4647536" y="1234000"/>
            <a:ext cx="242960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publica el INEGI. La metodología utilizada es la siguiente:</a:t>
            </a:r>
          </a:p>
        </p:txBody>
      </p:sp>
      <p:sp>
        <p:nvSpPr>
          <p:cNvPr id="299" name="ANUARIO_ANEXO_P127_L055"/>
          <p:cNvSpPr txBox="1"/>
          <p:nvPr/>
        </p:nvSpPr>
        <p:spPr>
          <a:xfrm>
            <a:off x="4814609" y="1448337"/>
            <a:ext cx="396070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a:t>
            </a:r>
            <a:r>
              <a:rPr sz="592" b="0" i="0">
                <a:solidFill>
                  <a:srgbClr val="1F3031"/>
                </a:solidFill>
                <a:latin typeface="Noto Sans"/>
              </a:rPr>
              <a:t>En primera instancia, se clasifican los hogares en deciles de acuerdo con su ingreso trimestral. </a:t>
            </a:r>
          </a:p>
        </p:txBody>
      </p:sp>
      <p:sp>
        <p:nvSpPr>
          <p:cNvPr id="300" name="ANUARIO_ANEXO_P127_L056"/>
          <p:cNvSpPr txBox="1"/>
          <p:nvPr/>
        </p:nvSpPr>
        <p:spPr>
          <a:xfrm>
            <a:off x="4925991" y="1557240"/>
            <a:ext cx="384976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esto se utiliza el ingreso corriente que se encuentra en una de las tablas disponibles </a:t>
            </a:r>
          </a:p>
        </p:txBody>
      </p:sp>
      <p:sp>
        <p:nvSpPr>
          <p:cNvPr id="301" name="ANUARIO_ANEXO_P127_L057"/>
          <p:cNvSpPr txBox="1"/>
          <p:nvPr/>
        </p:nvSpPr>
        <p:spPr>
          <a:xfrm>
            <a:off x="4925991" y="1665459"/>
            <a:ext cx="384968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encuesta llamada CONCENTRADOHOGAR. Los deciles se calculan de acuerdo con el </a:t>
            </a:r>
          </a:p>
        </p:txBody>
      </p:sp>
      <p:sp>
        <p:nvSpPr>
          <p:cNvPr id="302" name="ANUARIO_ANEXO_P127_L058"/>
          <p:cNvSpPr txBox="1"/>
          <p:nvPr/>
        </p:nvSpPr>
        <p:spPr>
          <a:xfrm>
            <a:off x="4925991" y="1773678"/>
            <a:ext cx="38498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universo que se esté considerando, ya sea a nivel nacional o para cada una de las entidades </a:t>
            </a:r>
          </a:p>
        </p:txBody>
      </p:sp>
      <p:sp>
        <p:nvSpPr>
          <p:cNvPr id="303" name="ANUARIO_ANEXO_P127_L059"/>
          <p:cNvSpPr txBox="1"/>
          <p:nvPr/>
        </p:nvSpPr>
        <p:spPr>
          <a:xfrm>
            <a:off x="4925991" y="1881897"/>
            <a:ext cx="58604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federativas.</a:t>
            </a:r>
          </a:p>
        </p:txBody>
      </p:sp>
      <p:sp>
        <p:nvSpPr>
          <p:cNvPr id="304" name="ANUARIO_ANEXO_P127_L060"/>
          <p:cNvSpPr txBox="1"/>
          <p:nvPr/>
        </p:nvSpPr>
        <p:spPr>
          <a:xfrm>
            <a:off x="4814609" y="2096234"/>
            <a:ext cx="39611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a:t>
            </a:r>
            <a:r>
              <a:rPr sz="592" b="0" i="0">
                <a:solidFill>
                  <a:srgbClr val="1F3031"/>
                </a:solidFill>
                <a:latin typeface="Noto Sans"/>
              </a:rPr>
              <a:t>  Para las figuras mostradas tanto en la parte nacional como la estatal, se definen dos universos: </a:t>
            </a:r>
          </a:p>
        </p:txBody>
      </p:sp>
      <p:sp>
        <p:nvSpPr>
          <p:cNvPr id="305" name="ANUARIO_ANEXO_P127_L061"/>
          <p:cNvSpPr txBox="1"/>
          <p:nvPr/>
        </p:nvSpPr>
        <p:spPr>
          <a:xfrm>
            <a:off x="4925991" y="2205137"/>
            <a:ext cx="384989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fijas (Universo A) y </a:t>
            </a:r>
          </a:p>
        </p:txBody>
      </p:sp>
      <p:sp>
        <p:nvSpPr>
          <p:cNvPr id="306" name="ANUARIO_ANEXO_P127_L062"/>
          <p:cNvSpPr txBox="1"/>
          <p:nvPr/>
        </p:nvSpPr>
        <p:spPr>
          <a:xfrm>
            <a:off x="4925991" y="2313356"/>
            <a:ext cx="38498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móviles (Universo </a:t>
            </a:r>
          </a:p>
        </p:txBody>
      </p:sp>
      <p:sp>
        <p:nvSpPr>
          <p:cNvPr id="307" name="ANUARIO_ANEXO_P127_L063"/>
          <p:cNvSpPr txBox="1"/>
          <p:nvPr/>
        </p:nvSpPr>
        <p:spPr>
          <a:xfrm>
            <a:off x="4925991" y="2421575"/>
            <a:ext cx="2234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t>
            </a:r>
          </a:p>
        </p:txBody>
      </p:sp>
      <p:sp>
        <p:nvSpPr>
          <p:cNvPr id="308" name="ANUARIO_ANEXO_P127_L064"/>
          <p:cNvSpPr txBox="1"/>
          <p:nvPr/>
        </p:nvSpPr>
        <p:spPr>
          <a:xfrm>
            <a:off x="4814609" y="2635913"/>
            <a:ext cx="396089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3.</a:t>
            </a:r>
            <a:r>
              <a:rPr sz="592" b="0" i="0">
                <a:solidFill>
                  <a:srgbClr val="1F3031"/>
                </a:solidFill>
                <a:latin typeface="Noto Sans"/>
              </a:rPr>
              <a:t>  Para estos universos se estima el gasto trimestral en los servicios de telecomunicaciones fijas </a:t>
            </a:r>
          </a:p>
        </p:txBody>
      </p:sp>
      <p:sp>
        <p:nvSpPr>
          <p:cNvPr id="309" name="ANUARIO_ANEXO_P127_L065"/>
          <p:cNvSpPr txBox="1"/>
          <p:nvPr/>
        </p:nvSpPr>
        <p:spPr>
          <a:xfrm>
            <a:off x="4925991" y="2744815"/>
            <a:ext cx="384998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móviles considerando los siguientes conceptos, utilizando la tabla GASTOSHOGAR de la </a:t>
            </a:r>
          </a:p>
        </p:txBody>
      </p:sp>
      <p:sp>
        <p:nvSpPr>
          <p:cNvPr id="310" name="ANUARIO_ANEXO_P127_L066"/>
          <p:cNvSpPr txBox="1"/>
          <p:nvPr/>
        </p:nvSpPr>
        <p:spPr>
          <a:xfrm>
            <a:off x="4925991" y="2853034"/>
            <a:ext cx="5081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encuesta:</a:t>
            </a:r>
          </a:p>
        </p:txBody>
      </p:sp>
      <p:sp>
        <p:nvSpPr>
          <p:cNvPr id="311" name="ANUARIO_ANEXO_P127_L067"/>
          <p:cNvSpPr txBox="1"/>
          <p:nvPr/>
        </p:nvSpPr>
        <p:spPr>
          <a:xfrm>
            <a:off x="4647536" y="3068055"/>
            <a:ext cx="185703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fijas (Universo A):</a:t>
            </a:r>
          </a:p>
        </p:txBody>
      </p:sp>
      <p:sp>
        <p:nvSpPr>
          <p:cNvPr id="312" name="ANUARIO_ANEXO_P127_L068"/>
          <p:cNvSpPr txBox="1"/>
          <p:nvPr/>
        </p:nvSpPr>
        <p:spPr>
          <a:xfrm>
            <a:off x="4781194" y="3283077"/>
            <a:ext cx="17950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R005: Larga distancia en línea particular</a:t>
            </a:r>
          </a:p>
        </p:txBody>
      </p:sp>
      <p:sp>
        <p:nvSpPr>
          <p:cNvPr id="313" name="ANUARIO_ANEXO_P127_L069"/>
          <p:cNvSpPr txBox="1"/>
          <p:nvPr/>
        </p:nvSpPr>
        <p:spPr>
          <a:xfrm>
            <a:off x="4781194" y="3391295"/>
            <a:ext cx="187163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R006: Llamadas locales de línea particular</a:t>
            </a:r>
          </a:p>
        </p:txBody>
      </p:sp>
      <p:sp>
        <p:nvSpPr>
          <p:cNvPr id="314" name="ANUARIO_ANEXO_P127_L070"/>
          <p:cNvSpPr txBox="1"/>
          <p:nvPr/>
        </p:nvSpPr>
        <p:spPr>
          <a:xfrm>
            <a:off x="4781194" y="3499514"/>
            <a:ext cx="765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R008: Internet</a:t>
            </a:r>
          </a:p>
        </p:txBody>
      </p:sp>
      <p:sp>
        <p:nvSpPr>
          <p:cNvPr id="315" name="ANUARIO_ANEXO_P127_L071"/>
          <p:cNvSpPr txBox="1"/>
          <p:nvPr/>
        </p:nvSpPr>
        <p:spPr>
          <a:xfrm>
            <a:off x="4781194" y="3607733"/>
            <a:ext cx="117778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R009: Televisión de paga</a:t>
            </a:r>
          </a:p>
        </p:txBody>
      </p:sp>
      <p:sp>
        <p:nvSpPr>
          <p:cNvPr id="316" name="ANUARIO_ANEXO_P127_L072"/>
          <p:cNvSpPr txBox="1"/>
          <p:nvPr/>
        </p:nvSpPr>
        <p:spPr>
          <a:xfrm>
            <a:off x="4781194" y="3715952"/>
            <a:ext cx="153029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R010: Paquete Internet y teléfono</a:t>
            </a:r>
          </a:p>
        </p:txBody>
      </p:sp>
      <p:sp>
        <p:nvSpPr>
          <p:cNvPr id="317" name="ANUARIO_ANEXO_P127_L073"/>
          <p:cNvSpPr txBox="1"/>
          <p:nvPr/>
        </p:nvSpPr>
        <p:spPr>
          <a:xfrm>
            <a:off x="4781194" y="3824171"/>
            <a:ext cx="2300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R011: Paquete Internet, teléfono y televisión de paga </a:t>
            </a:r>
          </a:p>
        </p:txBody>
      </p:sp>
      <p:sp>
        <p:nvSpPr>
          <p:cNvPr id="318" name="ANUARIO_ANEXO_P127_L074"/>
          <p:cNvSpPr txBox="1"/>
          <p:nvPr/>
        </p:nvSpPr>
        <p:spPr>
          <a:xfrm>
            <a:off x="4647536" y="4039192"/>
            <a:ext cx="199924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móviles (Universo B):</a:t>
            </a:r>
          </a:p>
        </p:txBody>
      </p:sp>
      <p:sp>
        <p:nvSpPr>
          <p:cNvPr id="319" name="ANUARIO_ANEXO_P127_L075"/>
          <p:cNvSpPr txBox="1"/>
          <p:nvPr/>
        </p:nvSpPr>
        <p:spPr>
          <a:xfrm>
            <a:off x="4781194" y="4254213"/>
            <a:ext cx="28627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F003: Compra de tarjetas y pago por el servicio de teléfono celular</a:t>
            </a:r>
          </a:p>
        </p:txBody>
      </p:sp>
      <p:sp>
        <p:nvSpPr>
          <p:cNvPr id="320" name="ANUARIO_ANEXO_P127_L076"/>
          <p:cNvSpPr txBox="1"/>
          <p:nvPr/>
        </p:nvSpPr>
        <p:spPr>
          <a:xfrm>
            <a:off x="4781194" y="4362433"/>
            <a:ext cx="18172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R007: Teléfonos celulares (plan mensual)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128</a:t>
            </a:r>
          </a:p>
        </p:txBody>
      </p:sp>
      <p:sp>
        <p:nvSpPr>
          <p:cNvPr id="222" name="ANUARIO_ANEXO_P128_L001"/>
          <p:cNvSpPr txBox="1"/>
          <p:nvPr/>
        </p:nvSpPr>
        <p:spPr>
          <a:xfrm>
            <a:off x="695494" y="656471"/>
            <a:ext cx="396126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Para obtener el gasto promedio en servicios fijos o en servicios móviles, según sea el caso, </a:t>
            </a:r>
          </a:p>
        </p:txBody>
      </p:sp>
      <p:sp>
        <p:nvSpPr>
          <p:cNvPr id="223" name="ANUARIO_ANEXO_P128_L002"/>
          <p:cNvSpPr txBox="1"/>
          <p:nvPr/>
        </p:nvSpPr>
        <p:spPr>
          <a:xfrm>
            <a:off x="806876" y="770873"/>
            <a:ext cx="38500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 utilizan los gastos listados en el paso tres y se dividen entre tres para que sean mensuales. </a:t>
            </a:r>
          </a:p>
        </p:txBody>
      </p:sp>
      <p:sp>
        <p:nvSpPr>
          <p:cNvPr id="224" name="ANUARIO_ANEXO_P128_L003"/>
          <p:cNvSpPr txBox="1"/>
          <p:nvPr/>
        </p:nvSpPr>
        <p:spPr>
          <a:xfrm>
            <a:off x="806876" y="884591"/>
            <a:ext cx="384969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Posteriormente, el gasto se divide entre el número de hogares que disponen y gastan en los </a:t>
            </a:r>
          </a:p>
        </p:txBody>
      </p:sp>
      <p:sp>
        <p:nvSpPr>
          <p:cNvPr id="225" name="ANUARIO_ANEXO_P128_L004"/>
          <p:cNvSpPr txBox="1"/>
          <p:nvPr/>
        </p:nvSpPr>
        <p:spPr>
          <a:xfrm>
            <a:off x="806876" y="998309"/>
            <a:ext cx="384940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analizados. De esta manera, el gasto mostrado en las figuras del Anuario representa </a:t>
            </a:r>
          </a:p>
        </p:txBody>
      </p:sp>
      <p:sp>
        <p:nvSpPr>
          <p:cNvPr id="226" name="ANUARIO_ANEXO_P128_L005"/>
          <p:cNvSpPr txBox="1"/>
          <p:nvPr/>
        </p:nvSpPr>
        <p:spPr>
          <a:xfrm>
            <a:off x="806876" y="1112027"/>
            <a:ext cx="385004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gasto promedio mensual en telecomunicaciones fijas o en telecomunicaciones móviles </a:t>
            </a:r>
          </a:p>
        </p:txBody>
      </p:sp>
      <p:sp>
        <p:nvSpPr>
          <p:cNvPr id="227" name="ANUARIO_ANEXO_P128_L006"/>
          <p:cNvSpPr txBox="1"/>
          <p:nvPr/>
        </p:nvSpPr>
        <p:spPr>
          <a:xfrm>
            <a:off x="806876" y="1225745"/>
            <a:ext cx="291584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que tuvieron los hogares que disponían y gastaban en estos servicios.</a:t>
            </a:r>
          </a:p>
        </p:txBody>
      </p:sp>
      <p:sp>
        <p:nvSpPr>
          <p:cNvPr id="228" name="ANUARIO_ANEXO_P128_L007"/>
          <p:cNvSpPr txBox="1"/>
          <p:nvPr/>
        </p:nvSpPr>
        <p:spPr>
          <a:xfrm>
            <a:off x="695494" y="1445582"/>
            <a:ext cx="396054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a:t>
            </a:r>
            <a:r>
              <a:rPr sz="592" b="0" i="0">
                <a:solidFill>
                  <a:srgbClr val="1F3031"/>
                </a:solidFill>
                <a:latin typeface="Noto Sans"/>
              </a:rPr>
              <a:t>  Para el porcentaje del gasto con respecto al ingreso, para cada decil de ingreso se toman los </a:t>
            </a:r>
          </a:p>
        </p:txBody>
      </p:sp>
      <p:sp>
        <p:nvSpPr>
          <p:cNvPr id="229" name="ANUARIO_ANEXO_P128_L008"/>
          <p:cNvSpPr txBox="1"/>
          <p:nvPr/>
        </p:nvSpPr>
        <p:spPr>
          <a:xfrm>
            <a:off x="806876" y="1559984"/>
            <a:ext cx="38500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gastos en telecomunicaciones fijas y móviles que se explican en el paso dos y se dividen entre </a:t>
            </a:r>
          </a:p>
        </p:txBody>
      </p:sp>
      <p:sp>
        <p:nvSpPr>
          <p:cNvPr id="230" name="ANUARIO_ANEXO_P128_L009"/>
          <p:cNvSpPr txBox="1"/>
          <p:nvPr/>
        </p:nvSpPr>
        <p:spPr>
          <a:xfrm>
            <a:off x="806876" y="1673702"/>
            <a:ext cx="324312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ingreso total de los hogares que dispusieron y gastaron en dichos servicios.</a:t>
            </a:r>
          </a:p>
        </p:txBody>
      </p:sp>
      <p:sp>
        <p:nvSpPr>
          <p:cNvPr id="231" name="ANUARIO_ANEXO_P128_L010"/>
          <p:cNvSpPr txBox="1"/>
          <p:nvPr/>
        </p:nvSpPr>
        <p:spPr>
          <a:xfrm>
            <a:off x="528422" y="1896891"/>
            <a:ext cx="3547076"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CONSUMO DE RADIO Y TELEVISIÓN, PARTICULARIDADES </a:t>
            </a:r>
          </a:p>
        </p:txBody>
      </p:sp>
      <p:sp>
        <p:nvSpPr>
          <p:cNvPr id="232" name="ANUARIO_ANEXO_P128_L011"/>
          <p:cNvSpPr txBox="1"/>
          <p:nvPr/>
        </p:nvSpPr>
        <p:spPr>
          <a:xfrm>
            <a:off x="528422" y="2044786"/>
            <a:ext cx="1217495"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METODOLÓGICAS</a:t>
            </a:r>
          </a:p>
        </p:txBody>
      </p:sp>
      <p:sp>
        <p:nvSpPr>
          <p:cNvPr id="233" name="ANUARIO_ANEXO_P128_L012"/>
          <p:cNvSpPr txBox="1"/>
          <p:nvPr/>
        </p:nvSpPr>
        <p:spPr>
          <a:xfrm>
            <a:off x="528422" y="2275452"/>
            <a:ext cx="41281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presentada toma como base los datos compilados por Nielsen IBOPE (Nielsen </a:t>
            </a:r>
          </a:p>
        </p:txBody>
      </p:sp>
      <p:sp>
        <p:nvSpPr>
          <p:cNvPr id="234" name="ANUARIO_ANEXO_P128_L013"/>
          <p:cNvSpPr txBox="1"/>
          <p:nvPr/>
        </p:nvSpPr>
        <p:spPr>
          <a:xfrm>
            <a:off x="528422" y="2389170"/>
            <a:ext cx="41281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IBOPE México S.A de C.V.), a través dispositivos llamados “people meter”, mismos que permiten la </a:t>
            </a:r>
          </a:p>
        </p:txBody>
      </p:sp>
      <p:sp>
        <p:nvSpPr>
          <p:cNvPr id="235" name="ANUARIO_ANEXO_P128_L014"/>
          <p:cNvSpPr txBox="1"/>
          <p:nvPr/>
        </p:nvSpPr>
        <p:spPr>
          <a:xfrm>
            <a:off x="528422" y="2502889"/>
            <a:ext cx="19280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recopilación de datos por medio electrónico.</a:t>
            </a:r>
          </a:p>
        </p:txBody>
      </p:sp>
      <p:sp>
        <p:nvSpPr>
          <p:cNvPr id="236" name="ANUARIO_ANEXO_P128_L015"/>
          <p:cNvSpPr txBox="1"/>
          <p:nvPr/>
        </p:nvSpPr>
        <p:spPr>
          <a:xfrm>
            <a:off x="528422" y="2723408"/>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Nielsen IBOPE tiene mediciones agrupadas en cinco rubros o dominios en México: AMCM (Área </a:t>
            </a:r>
          </a:p>
        </p:txBody>
      </p:sp>
      <p:sp>
        <p:nvSpPr>
          <p:cNvPr id="237" name="ANUARIO_ANEXO_P128_L016"/>
          <p:cNvSpPr txBox="1"/>
          <p:nvPr/>
        </p:nvSpPr>
        <p:spPr>
          <a:xfrm>
            <a:off x="528422" y="2837126"/>
            <a:ext cx="412780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Metropolitana de la Ciudad de México), Monterrey (Área Metropolitana de la Ciudad de Monterrey), </a:t>
            </a:r>
          </a:p>
        </p:txBody>
      </p:sp>
      <p:sp>
        <p:nvSpPr>
          <p:cNvPr id="238" name="ANUARIO_ANEXO_P128_L017"/>
          <p:cNvSpPr txBox="1"/>
          <p:nvPr/>
        </p:nvSpPr>
        <p:spPr>
          <a:xfrm>
            <a:off x="528422" y="2950845"/>
            <a:ext cx="41279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Guadalajara (Área Metropolitana de la Ciudad de Guadalajara); los dos anteriores considerados </a:t>
            </a:r>
          </a:p>
        </p:txBody>
      </p:sp>
      <p:sp>
        <p:nvSpPr>
          <p:cNvPr id="239" name="ANUARIO_ANEXO_P128_L018"/>
          <p:cNvSpPr txBox="1"/>
          <p:nvPr/>
        </p:nvSpPr>
        <p:spPr>
          <a:xfrm>
            <a:off x="528422" y="3064563"/>
            <a:ext cx="412768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dominios indicativos, además un conglomerado de 25 ciudades del interior de la república y </a:t>
            </a:r>
          </a:p>
        </p:txBody>
      </p:sp>
      <p:sp>
        <p:nvSpPr>
          <p:cNvPr id="240" name="ANUARIO_ANEXO_P128_L019"/>
          <p:cNvSpPr txBox="1"/>
          <p:nvPr/>
        </p:nvSpPr>
        <p:spPr>
          <a:xfrm>
            <a:off x="528422" y="3178281"/>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conjunto de las 28 ciudades del estudio. Los datos que se presentan a nivel país (28 ciudades) son </a:t>
            </a:r>
          </a:p>
        </p:txBody>
      </p:sp>
      <p:sp>
        <p:nvSpPr>
          <p:cNvPr id="241" name="ANUARIO_ANEXO_P128_L020"/>
          <p:cNvSpPr txBox="1"/>
          <p:nvPr/>
        </p:nvSpPr>
        <p:spPr>
          <a:xfrm>
            <a:off x="528422" y="3291999"/>
            <a:ext cx="23476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del total de los dominios evaluados por Nielsen IBOPE. </a:t>
            </a:r>
          </a:p>
        </p:txBody>
      </p:sp>
      <p:sp>
        <p:nvSpPr>
          <p:cNvPr id="242" name="ANUARIO_ANEXO_P128_L021"/>
          <p:cNvSpPr txBox="1"/>
          <p:nvPr/>
        </p:nvSpPr>
        <p:spPr>
          <a:xfrm>
            <a:off x="528422" y="3512519"/>
            <a:ext cx="412807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referirse al Universo de Personas se consideran las personas mayores de 4 años que tengan acceso </a:t>
            </a:r>
          </a:p>
        </p:txBody>
      </p:sp>
      <p:sp>
        <p:nvSpPr>
          <p:cNvPr id="243" name="ANUARIO_ANEXO_P128_L022"/>
          <p:cNvSpPr txBox="1"/>
          <p:nvPr/>
        </p:nvSpPr>
        <p:spPr>
          <a:xfrm>
            <a:off x="528422" y="3626237"/>
            <a:ext cx="179652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 una televisión funcionando en su hogar.</a:t>
            </a:r>
          </a:p>
        </p:txBody>
      </p:sp>
      <p:sp>
        <p:nvSpPr>
          <p:cNvPr id="244" name="ANUARIO_ANEXO_P128_L023"/>
          <p:cNvSpPr txBox="1"/>
          <p:nvPr/>
        </p:nvSpPr>
        <p:spPr>
          <a:xfrm>
            <a:off x="4647536" y="657155"/>
            <a:ext cx="41282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niveles de audiencia reportados son de las personas que cuentan con un televisor que funciona y </a:t>
            </a:r>
          </a:p>
        </p:txBody>
      </p:sp>
      <p:sp>
        <p:nvSpPr>
          <p:cNvPr id="245" name="ANUARIO_ANEXO_P128_L024"/>
          <p:cNvSpPr txBox="1"/>
          <p:nvPr/>
        </p:nvSpPr>
        <p:spPr>
          <a:xfrm>
            <a:off x="4647536" y="764151"/>
            <a:ext cx="41277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tiene acceso a ver algún tipo de contenido en canales de TV a través de del mismo, independientemente </a:t>
            </a:r>
          </a:p>
        </p:txBody>
      </p:sp>
      <p:sp>
        <p:nvSpPr>
          <p:cNvPr id="246" name="ANUARIO_ANEXO_P128_L025"/>
          <p:cNvSpPr txBox="1"/>
          <p:nvPr/>
        </p:nvSpPr>
        <p:spPr>
          <a:xfrm>
            <a:off x="4647536" y="871146"/>
            <a:ext cx="412842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forma en que reciban la señal (señal abierta, o restringida u otros dispositivos conectados a la </a:t>
            </a:r>
          </a:p>
        </p:txBody>
      </p:sp>
      <p:sp>
        <p:nvSpPr>
          <p:cNvPr id="247" name="ANUARIO_ANEXO_P128_L026"/>
          <p:cNvSpPr txBox="1"/>
          <p:nvPr/>
        </p:nvSpPr>
        <p:spPr>
          <a:xfrm>
            <a:off x="4647536" y="978142"/>
            <a:ext cx="240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TV) y se incluyen invitados en el hogar (Guests Viewers). </a:t>
            </a:r>
          </a:p>
        </p:txBody>
      </p:sp>
      <p:sp>
        <p:nvSpPr>
          <p:cNvPr id="248" name="ANUARIO_ANEXO_P128_L027"/>
          <p:cNvSpPr txBox="1"/>
          <p:nvPr/>
        </p:nvSpPr>
        <p:spPr>
          <a:xfrm>
            <a:off x="4647536" y="1191940"/>
            <a:ext cx="41284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Cuando se habla de canales nacionales de acuerdo al análisis definido por el IFT se consideran: </a:t>
            </a:r>
          </a:p>
        </p:txBody>
      </p:sp>
      <p:sp>
        <p:nvSpPr>
          <p:cNvPr id="249" name="ANUARIO_ANEXO_P128_L028"/>
          <p:cNvSpPr txBox="1"/>
          <p:nvPr/>
        </p:nvSpPr>
        <p:spPr>
          <a:xfrm>
            <a:off x="4647536" y="1298935"/>
            <a:ext cx="346571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Azteca Uno, Las Estrellas, Imagen TV, Canal 5, Azteca 7, NU9VE, A MAS + y ADN40.</a:t>
            </a:r>
          </a:p>
        </p:txBody>
      </p:sp>
      <p:sp>
        <p:nvSpPr>
          <p:cNvPr id="250" name="ANUARIO_ANEXO_P128_L029"/>
          <p:cNvSpPr txBox="1"/>
          <p:nvPr/>
        </p:nvSpPr>
        <p:spPr>
          <a:xfrm>
            <a:off x="4647536" y="1512733"/>
            <a:ext cx="412816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análisis e interpretación fue realizado bajo la responsabilidad del IFT, con información de </a:t>
            </a:r>
          </a:p>
        </p:txBody>
      </p:sp>
      <p:sp>
        <p:nvSpPr>
          <p:cNvPr id="251" name="ANUARIO_ANEXO_P128_L030"/>
          <p:cNvSpPr txBox="1"/>
          <p:nvPr/>
        </p:nvSpPr>
        <p:spPr>
          <a:xfrm>
            <a:off x="4647536" y="1619728"/>
            <a:ext cx="41279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audiencias de Nielsen IBOPE México bajo los términos contractuales de licenciamiento de las bases </a:t>
            </a:r>
          </a:p>
        </p:txBody>
      </p:sp>
      <p:sp>
        <p:nvSpPr>
          <p:cNvPr id="252" name="ANUARIO_ANEXO_P128_L031"/>
          <p:cNvSpPr txBox="1"/>
          <p:nvPr/>
        </p:nvSpPr>
        <p:spPr>
          <a:xfrm>
            <a:off x="4647536" y="1726723"/>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datos de audiencias de televisión, Nielsen IBOPE ha validado al IFT que la información estadística </a:t>
            </a:r>
          </a:p>
        </p:txBody>
      </p:sp>
      <p:sp>
        <p:nvSpPr>
          <p:cNvPr id="253" name="ANUARIO_ANEXO_P128_L032"/>
          <p:cNvSpPr txBox="1"/>
          <p:nvPr/>
        </p:nvSpPr>
        <p:spPr>
          <a:xfrm>
            <a:off x="4647536" y="1833719"/>
            <a:ext cx="412822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audiencias de televisión contenida en el mencionado reporte concuerda con aquellas licenciadas </a:t>
            </a:r>
          </a:p>
        </p:txBody>
      </p:sp>
      <p:sp>
        <p:nvSpPr>
          <p:cNvPr id="254" name="ANUARIO_ANEXO_P128_L033"/>
          <p:cNvSpPr txBox="1"/>
          <p:nvPr/>
        </p:nvSpPr>
        <p:spPr>
          <a:xfrm>
            <a:off x="4647536" y="1940714"/>
            <a:ext cx="11266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IFT por Nielsen IBOPE.</a:t>
            </a:r>
          </a:p>
        </p:txBody>
      </p:sp>
      <p:sp>
        <p:nvSpPr>
          <p:cNvPr id="255" name="ANUARIO_ANEXO_P128_L034"/>
          <p:cNvSpPr txBox="1"/>
          <p:nvPr/>
        </p:nvSpPr>
        <p:spPr>
          <a:xfrm>
            <a:off x="4647536" y="2157182"/>
            <a:ext cx="3526619"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ENCUESTA NACIONAL SOBRE DISPONIBILIDAD Y USO DE </a:t>
            </a:r>
          </a:p>
        </p:txBody>
      </p:sp>
      <p:sp>
        <p:nvSpPr>
          <p:cNvPr id="256" name="ANUARIO_ANEXO_P128_L035"/>
          <p:cNvSpPr txBox="1"/>
          <p:nvPr/>
        </p:nvSpPr>
        <p:spPr>
          <a:xfrm>
            <a:off x="4647536" y="2298355"/>
            <a:ext cx="4106260"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TECNOLOGÍAS DE LA INFORMACIÓN EN LOS HOGARES (ENDUTIH) </a:t>
            </a:r>
          </a:p>
        </p:txBody>
      </p:sp>
      <p:sp>
        <p:nvSpPr>
          <p:cNvPr id="257" name="ANUARIO_ANEXO_P128_L036"/>
          <p:cNvSpPr txBox="1"/>
          <p:nvPr/>
        </p:nvSpPr>
        <p:spPr>
          <a:xfrm>
            <a:off x="4647536" y="2439527"/>
            <a:ext cx="2852194"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2025, PARTICULARIDADES METODOLÓGICAS</a:t>
            </a:r>
            <a:r>
              <a:rPr sz="475" b="1" i="0">
                <a:solidFill>
                  <a:srgbClr val="484979"/>
                </a:solidFill>
                <a:latin typeface="Noto Sans"/>
              </a:rPr>
              <a:t>13</a:t>
            </a:r>
          </a:p>
        </p:txBody>
      </p:sp>
      <p:sp>
        <p:nvSpPr>
          <p:cNvPr id="258" name="ANUARIO_ANEXO_P128_L037"/>
          <p:cNvSpPr txBox="1"/>
          <p:nvPr/>
        </p:nvSpPr>
        <p:spPr>
          <a:xfrm>
            <a:off x="4647536" y="2663470"/>
            <a:ext cx="412838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ENDUTIH tiene como finalidad obtener información sobre la disponibilidad y el uso de las </a:t>
            </a:r>
          </a:p>
        </p:txBody>
      </p:sp>
      <p:sp>
        <p:nvSpPr>
          <p:cNvPr id="259" name="ANUARIO_ANEXO_P128_L038"/>
          <p:cNvSpPr txBox="1"/>
          <p:nvPr/>
        </p:nvSpPr>
        <p:spPr>
          <a:xfrm>
            <a:off x="4647536" y="2770466"/>
            <a:ext cx="412816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tecnologías de información y comunicaciones en los hogares y su utilización por los individuos de </a:t>
            </a:r>
          </a:p>
        </p:txBody>
      </p:sp>
      <p:sp>
        <p:nvSpPr>
          <p:cNvPr id="260" name="ANUARIO_ANEXO_P128_L039"/>
          <p:cNvSpPr txBox="1"/>
          <p:nvPr/>
        </p:nvSpPr>
        <p:spPr>
          <a:xfrm>
            <a:off x="4647536" y="2877461"/>
            <a:ext cx="41275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seis años o más en México. A partir de la publicación de los resultados del año 2021 de la ENDUTIH, </a:t>
            </a:r>
          </a:p>
        </p:txBody>
      </p:sp>
      <p:sp>
        <p:nvSpPr>
          <p:cNvPr id="261" name="ANUARIO_ANEXO_P128_L040"/>
          <p:cNvSpPr txBox="1"/>
          <p:nvPr/>
        </p:nvSpPr>
        <p:spPr>
          <a:xfrm>
            <a:off x="4647536" y="2984457"/>
            <a:ext cx="412772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factores de expansión responden a la nueva estimación de población, en lugar de las cifras de las </a:t>
            </a:r>
          </a:p>
        </p:txBody>
      </p:sp>
      <p:sp>
        <p:nvSpPr>
          <p:cNvPr id="262" name="ANUARIO_ANEXO_P128_L041"/>
          <p:cNvSpPr txBox="1"/>
          <p:nvPr/>
        </p:nvSpPr>
        <p:spPr>
          <a:xfrm>
            <a:off x="4647536" y="3091453"/>
            <a:ext cx="41284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proyecciones poblacionales que se venían utilizando desde 2013. Ahora, el INEGI estará generando </a:t>
            </a:r>
          </a:p>
        </p:txBody>
      </p:sp>
      <p:sp>
        <p:nvSpPr>
          <p:cNvPr id="263" name="ANUARIO_ANEXO_P128_L042"/>
          <p:cNvSpPr txBox="1"/>
          <p:nvPr/>
        </p:nvSpPr>
        <p:spPr>
          <a:xfrm>
            <a:off x="4647536" y="3198448"/>
            <a:ext cx="367813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una estimación de población, con base en la propia actualización de la Muestra Maestra.</a:t>
            </a:r>
          </a:p>
        </p:txBody>
      </p:sp>
      <p:sp>
        <p:nvSpPr>
          <p:cNvPr id="264" name="ANUARIO_ANEXO_P128_L043"/>
          <p:cNvSpPr txBox="1"/>
          <p:nvPr/>
        </p:nvSpPr>
        <p:spPr>
          <a:xfrm>
            <a:off x="4647536" y="3412246"/>
            <a:ext cx="41285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eventos de los años 2017 a 2020 fueron actualizados con estimación de la población el 4 de julio </a:t>
            </a:r>
          </a:p>
        </p:txBody>
      </p:sp>
      <p:sp>
        <p:nvSpPr>
          <p:cNvPr id="265" name="ANUARIO_ANEXO_P128_L044"/>
          <p:cNvSpPr txBox="1"/>
          <p:nvPr/>
        </p:nvSpPr>
        <p:spPr>
          <a:xfrm>
            <a:off x="4647536" y="3519241"/>
            <a:ext cx="4128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2022, a la par de la publicación de 2021. Los eventos del año 2015-2016 se actualizaron el 30 de </a:t>
            </a:r>
          </a:p>
        </p:txBody>
      </p:sp>
      <p:sp>
        <p:nvSpPr>
          <p:cNvPr id="266" name="ANUARIO_ANEXO_P128_L045"/>
          <p:cNvSpPr txBox="1"/>
          <p:nvPr/>
        </p:nvSpPr>
        <p:spPr>
          <a:xfrm>
            <a:off x="4647536" y="3626237"/>
            <a:ext cx="9354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noviembre de 2022. </a:t>
            </a:r>
          </a:p>
        </p:txBody>
      </p:sp>
      <p:sp>
        <p:nvSpPr>
          <p:cNvPr id="267" name="ANUARIO_ANEXO_P128_L046"/>
          <p:cNvSpPr txBox="1"/>
          <p:nvPr/>
        </p:nvSpPr>
        <p:spPr>
          <a:xfrm>
            <a:off x="383625" y="4429651"/>
            <a:ext cx="3840370" cy="118622"/>
          </a:xfrm>
          <a:prstGeom prst="rect">
            <a:avLst/>
          </a:prstGeom>
          <a:noFill/>
        </p:spPr>
        <p:txBody>
          <a:bodyPr wrap="none" lIns="0" rIns="0" tIns="0" bIns="0">
            <a:noAutofit/>
          </a:bodyPr>
          <a:lstStyle/>
          <a:p>
            <a:pPr>
              <a:spcBef>
                <a:spcPts val="0"/>
              </a:spcBef>
              <a:spcAft>
                <a:spcPts val="0"/>
              </a:spcAft>
            </a:pPr>
            <a:r>
              <a:rPr sz="259" b="0" i="0">
                <a:solidFill>
                  <a:srgbClr val="1F3031"/>
                </a:solidFill>
                <a:latin typeface="Noto Sans"/>
              </a:rPr>
              <a:t>13</a:t>
            </a:r>
            <a:r>
              <a:rPr sz="444" b="0" i="0">
                <a:solidFill>
                  <a:srgbClr val="1F3031"/>
                </a:solidFill>
                <a:latin typeface="Noto Sans"/>
              </a:rPr>
              <a:t> Fuente: IFT con información del INEGI. Para más información consultar: </a:t>
            </a:r>
            <a:r>
              <a:rPr sz="444" b="0" i="0">
                <a:solidFill>
                  <a:srgbClr val="0563C1"/>
                </a:solidFill>
                <a:latin typeface="Noto Sans"/>
                <a:hlinkClick r:id="rId2"/>
              </a:rPr>
              <a:t>https://www.inegi.org.mx/programas/endutih/2025/</a:t>
            </a:r>
            <a:r>
              <a:rPr sz="444" b="0" i="0">
                <a:solidFill>
                  <a:srgbClr val="1F3031"/>
                </a:solidFill>
                <a:latin typeface="Noto Sans"/>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129</a:t>
            </a:r>
          </a:p>
        </p:txBody>
      </p:sp>
      <p:sp>
        <p:nvSpPr>
          <p:cNvPr id="222" name="ANUARIO_ANEXO_P129_L001"/>
          <p:cNvSpPr txBox="1"/>
          <p:nvPr/>
        </p:nvSpPr>
        <p:spPr>
          <a:xfrm>
            <a:off x="528422" y="1048163"/>
            <a:ext cx="3580401"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ENCUESTA NACIONAL DE OCUPACIÓN Y EMPLEO (ENOE), </a:t>
            </a:r>
          </a:p>
        </p:txBody>
      </p:sp>
      <p:sp>
        <p:nvSpPr>
          <p:cNvPr id="223" name="ANUARIO_ANEXO_P129_L002"/>
          <p:cNvSpPr txBox="1"/>
          <p:nvPr/>
        </p:nvSpPr>
        <p:spPr>
          <a:xfrm>
            <a:off x="528422" y="1189142"/>
            <a:ext cx="383192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POBLACIÓN DE 15 AÑOS Y MÁS DE EDAD, PARTICULARIDADES </a:t>
            </a:r>
          </a:p>
        </p:txBody>
      </p:sp>
      <p:sp>
        <p:nvSpPr>
          <p:cNvPr id="224" name="ANUARIO_ANEXO_P129_L003"/>
          <p:cNvSpPr txBox="1"/>
          <p:nvPr/>
        </p:nvSpPr>
        <p:spPr>
          <a:xfrm>
            <a:off x="528422" y="1330121"/>
            <a:ext cx="1285996"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14</a:t>
            </a:r>
          </a:p>
        </p:txBody>
      </p:sp>
      <p:sp>
        <p:nvSpPr>
          <p:cNvPr id="225" name="ANUARIO_ANEXO_P129_L004"/>
          <p:cNvSpPr txBox="1"/>
          <p:nvPr/>
        </p:nvSpPr>
        <p:spPr>
          <a:xfrm>
            <a:off x="528422" y="1553871"/>
            <a:ext cx="41281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ENOE es la principal fuente de información sobre el mercado laboral mexicano al ofrecer datos </a:t>
            </a:r>
          </a:p>
        </p:txBody>
      </p:sp>
      <p:sp>
        <p:nvSpPr>
          <p:cNvPr id="226" name="ANUARIO_ANEXO_P129_L005"/>
          <p:cNvSpPr txBox="1"/>
          <p:nvPr/>
        </p:nvSpPr>
        <p:spPr>
          <a:xfrm>
            <a:off x="528422" y="1660673"/>
            <a:ext cx="41284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mensuales y trimestrales de la fuerza de trabajo, la ocupación, la informalidad laboral, la subocupación </a:t>
            </a:r>
          </a:p>
        </p:txBody>
      </p:sp>
      <p:sp>
        <p:nvSpPr>
          <p:cNvPr id="227" name="ANUARIO_ANEXO_P129_L006"/>
          <p:cNvSpPr txBox="1"/>
          <p:nvPr/>
        </p:nvSpPr>
        <p:spPr>
          <a:xfrm>
            <a:off x="528422" y="1767475"/>
            <a:ext cx="8825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la desocupación. </a:t>
            </a:r>
          </a:p>
        </p:txBody>
      </p:sp>
      <p:sp>
        <p:nvSpPr>
          <p:cNvPr id="228" name="ANUARIO_ANEXO_P129_L007"/>
          <p:cNvSpPr txBox="1"/>
          <p:nvPr/>
        </p:nvSpPr>
        <p:spPr>
          <a:xfrm>
            <a:off x="528422" y="1981079"/>
            <a:ext cx="412796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enero de 2023, se retoma el levantamiento de la ENOE como Información de Interés </a:t>
            </a:r>
          </a:p>
        </p:txBody>
      </p:sp>
      <p:sp>
        <p:nvSpPr>
          <p:cNvPr id="229" name="ANUARIO_ANEXO_P129_L008"/>
          <p:cNvSpPr txBox="1"/>
          <p:nvPr/>
        </p:nvSpPr>
        <p:spPr>
          <a:xfrm>
            <a:off x="528422" y="2087880"/>
            <a:ext cx="41284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e incorporando las preguntas de migración y lugar de trabajo y la aplicación de entrevistas </a:t>
            </a:r>
          </a:p>
        </p:txBody>
      </p:sp>
      <p:sp>
        <p:nvSpPr>
          <p:cNvPr id="230" name="ANUARIO_ANEXO_P129_L009"/>
          <p:cNvSpPr txBox="1"/>
          <p:nvPr/>
        </p:nvSpPr>
        <p:spPr>
          <a:xfrm>
            <a:off x="528422" y="2194682"/>
            <a:ext cx="109973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 a cara y telefónicas.</a:t>
            </a:r>
          </a:p>
        </p:txBody>
      </p:sp>
      <p:sp>
        <p:nvSpPr>
          <p:cNvPr id="231" name="ANUARIO_ANEXO_P129_L010"/>
          <p:cNvSpPr txBox="1"/>
          <p:nvPr/>
        </p:nvSpPr>
        <p:spPr>
          <a:xfrm>
            <a:off x="528422" y="2408286"/>
            <a:ext cx="41278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periodo de suspensión del levantamiento de la ENOE en abril de 2020, debido </a:t>
            </a:r>
          </a:p>
        </p:txBody>
      </p:sp>
      <p:sp>
        <p:nvSpPr>
          <p:cNvPr id="232" name="ANUARIO_ANEXO_P129_L011"/>
          <p:cNvSpPr txBox="1"/>
          <p:nvPr/>
        </p:nvSpPr>
        <p:spPr>
          <a:xfrm>
            <a:off x="528422" y="2515088"/>
            <a:ext cx="41277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la contingencia sanitaria, consultar la publicación de la ETOE de abril a junio de 2020, así como los </a:t>
            </a:r>
          </a:p>
        </p:txBody>
      </p:sp>
      <p:sp>
        <p:nvSpPr>
          <p:cNvPr id="233" name="ANUARIO_ANEXO_P129_L012"/>
          <p:cNvSpPr txBox="1"/>
          <p:nvPr/>
        </p:nvSpPr>
        <p:spPr>
          <a:xfrm>
            <a:off x="528422" y="2621890"/>
            <a:ext cx="4107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resultados de la ENOE Nueva Edición (ENOEN) para el periodo de julio de 2020 a diciembre de 2022.</a:t>
            </a:r>
          </a:p>
        </p:txBody>
      </p:sp>
      <p:sp>
        <p:nvSpPr>
          <p:cNvPr id="234" name="ANUARIO_ANEXO_P129_L013"/>
          <p:cNvSpPr txBox="1"/>
          <p:nvPr/>
        </p:nvSpPr>
        <p:spPr>
          <a:xfrm>
            <a:off x="528422" y="2835494"/>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la publicación del primer trimestre de 2021 de la ENOE</a:t>
            </a:r>
            <a:r>
              <a:rPr sz="373" b="0" i="0">
                <a:solidFill>
                  <a:srgbClr val="1F3031"/>
                </a:solidFill>
                <a:latin typeface="Noto Sans"/>
              </a:rPr>
              <a:t>N</a:t>
            </a:r>
            <a:r>
              <a:rPr sz="640" b="0" i="0">
                <a:solidFill>
                  <a:srgbClr val="1F3031"/>
                </a:solidFill>
                <a:latin typeface="Noto Sans"/>
              </a:rPr>
              <a:t> (17 de mayo de 2021), los factores </a:t>
            </a:r>
          </a:p>
        </p:txBody>
      </p:sp>
      <p:sp>
        <p:nvSpPr>
          <p:cNvPr id="235" name="ANUARIO_ANEXO_P129_L014"/>
          <p:cNvSpPr txBox="1"/>
          <p:nvPr/>
        </p:nvSpPr>
        <p:spPr>
          <a:xfrm>
            <a:off x="528422" y="2942296"/>
            <a:ext cx="412788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expansión responden a la nueva estimación de población, en lugar de las cifras de las proyecciones </a:t>
            </a:r>
          </a:p>
        </p:txBody>
      </p:sp>
      <p:sp>
        <p:nvSpPr>
          <p:cNvPr id="236" name="ANUARIO_ANEXO_P129_L015"/>
          <p:cNvSpPr txBox="1"/>
          <p:nvPr/>
        </p:nvSpPr>
        <p:spPr>
          <a:xfrm>
            <a:off x="528422" y="3049098"/>
            <a:ext cx="41282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poblacionales que se venían utilizando desde 2013. Ahora, el INEGI estará generando una estimación </a:t>
            </a:r>
          </a:p>
        </p:txBody>
      </p:sp>
      <p:sp>
        <p:nvSpPr>
          <p:cNvPr id="237" name="ANUARIO_ANEXO_P129_L016"/>
          <p:cNvSpPr txBox="1"/>
          <p:nvPr/>
        </p:nvSpPr>
        <p:spPr>
          <a:xfrm>
            <a:off x="528422" y="3155900"/>
            <a:ext cx="399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población por entidad federativa, con base en la propia actualización del Marco de Muestreo.</a:t>
            </a:r>
          </a:p>
        </p:txBody>
      </p:sp>
      <p:sp>
        <p:nvSpPr>
          <p:cNvPr id="238" name="ANUARIO_ANEXO_P129_L017"/>
          <p:cNvSpPr txBox="1"/>
          <p:nvPr/>
        </p:nvSpPr>
        <p:spPr>
          <a:xfrm>
            <a:off x="528422" y="3369504"/>
            <a:ext cx="41283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la finalidad de actualizar totalmente la serie histórica para la ENOE y ENOE</a:t>
            </a:r>
            <a:r>
              <a:rPr sz="373" b="0" i="0">
                <a:solidFill>
                  <a:srgbClr val="1F3031"/>
                </a:solidFill>
                <a:latin typeface="Noto Sans"/>
              </a:rPr>
              <a:t>N</a:t>
            </a:r>
            <a:r>
              <a:rPr sz="640" b="0" i="0">
                <a:solidFill>
                  <a:srgbClr val="1F3031"/>
                </a:solidFill>
                <a:latin typeface="Noto Sans"/>
              </a:rPr>
              <a:t> con la nueva </a:t>
            </a:r>
          </a:p>
        </p:txBody>
      </p:sp>
      <p:sp>
        <p:nvSpPr>
          <p:cNvPr id="239" name="ANUARIO_ANEXO_P129_L018"/>
          <p:cNvSpPr txBox="1"/>
          <p:nvPr/>
        </p:nvSpPr>
        <p:spPr>
          <a:xfrm>
            <a:off x="528422" y="3476306"/>
            <a:ext cx="41286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estimación de población, que será de 2005 hasta 2020, se llevará a cabo un esquema de divulgación </a:t>
            </a:r>
          </a:p>
        </p:txBody>
      </p:sp>
      <p:sp>
        <p:nvSpPr>
          <p:cNvPr id="240" name="ANUARIO_ANEXO_P129_L019"/>
          <p:cNvSpPr txBox="1"/>
          <p:nvPr/>
        </p:nvSpPr>
        <p:spPr>
          <a:xfrm>
            <a:off x="528422" y="3583108"/>
            <a:ext cx="30067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permitirá reemplazar de forma paulatina los productos publicados. </a:t>
            </a:r>
          </a:p>
        </p:txBody>
      </p:sp>
      <p:sp>
        <p:nvSpPr>
          <p:cNvPr id="241" name="ANUARIO_ANEXO_P129_L020"/>
          <p:cNvSpPr txBox="1"/>
          <p:nvPr/>
        </p:nvSpPr>
        <p:spPr>
          <a:xfrm>
            <a:off x="4647536" y="1048163"/>
            <a:ext cx="3452983"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PRODUCTO INTERNO BRUTO (PIB), PARTICULARIDADES </a:t>
            </a:r>
          </a:p>
        </p:txBody>
      </p:sp>
      <p:sp>
        <p:nvSpPr>
          <p:cNvPr id="242" name="ANUARIO_ANEXO_P129_L021"/>
          <p:cNvSpPr txBox="1"/>
          <p:nvPr/>
        </p:nvSpPr>
        <p:spPr>
          <a:xfrm>
            <a:off x="4647536" y="1197036"/>
            <a:ext cx="128585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15</a:t>
            </a:r>
          </a:p>
        </p:txBody>
      </p:sp>
      <p:sp>
        <p:nvSpPr>
          <p:cNvPr id="243" name="ANUARIO_ANEXO_P129_L022"/>
          <p:cNvSpPr txBox="1"/>
          <p:nvPr/>
        </p:nvSpPr>
        <p:spPr>
          <a:xfrm>
            <a:off x="4647536" y="1428681"/>
            <a:ext cx="412842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Producto Interno Bruto (PIB) es el principal indicador de la actividad económica en el país. Se </a:t>
            </a:r>
          </a:p>
        </p:txBody>
      </p:sp>
      <p:sp>
        <p:nvSpPr>
          <p:cNvPr id="244" name="ANUARIO_ANEXO_P129_L023"/>
          <p:cNvSpPr txBox="1"/>
          <p:nvPr/>
        </p:nvSpPr>
        <p:spPr>
          <a:xfrm>
            <a:off x="4647536" y="1543376"/>
            <a:ext cx="412833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 estimar en términos reales (eliminando los efectos de los precios) o en términos corrientes. </a:t>
            </a:r>
          </a:p>
        </p:txBody>
      </p:sp>
      <p:sp>
        <p:nvSpPr>
          <p:cNvPr id="245" name="ANUARIO_ANEXO_P129_L024"/>
          <p:cNvSpPr txBox="1"/>
          <p:nvPr/>
        </p:nvSpPr>
        <p:spPr>
          <a:xfrm>
            <a:off x="4647536" y="1658073"/>
            <a:ext cx="3605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Este indicador se puede calcular por tres métodos: 1) producción, 2) gasto y 3) ingreso. </a:t>
            </a:r>
          </a:p>
        </p:txBody>
      </p:sp>
      <p:sp>
        <p:nvSpPr>
          <p:cNvPr id="246" name="ANUARIO_ANEXO_P129_L025"/>
          <p:cNvSpPr txBox="1"/>
          <p:nvPr/>
        </p:nvSpPr>
        <p:spPr>
          <a:xfrm>
            <a:off x="4647536" y="1879571"/>
            <a:ext cx="412842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PIB trimestral ofrece en el corto plazo una visión oportuna, completa y coherente de la evolución </a:t>
            </a:r>
          </a:p>
        </p:txBody>
      </p:sp>
      <p:sp>
        <p:nvSpPr>
          <p:cNvPr id="247" name="ANUARIO_ANEXO_P129_L026"/>
          <p:cNvSpPr txBox="1"/>
          <p:nvPr/>
        </p:nvSpPr>
        <p:spPr>
          <a:xfrm>
            <a:off x="4647536" y="1994267"/>
            <a:ext cx="412797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las actividades económicas del país, proporcionando información actualizada para apoyar la </a:t>
            </a:r>
          </a:p>
        </p:txBody>
      </p:sp>
      <p:sp>
        <p:nvSpPr>
          <p:cNvPr id="248" name="ANUARIO_ANEXO_P129_L027"/>
          <p:cNvSpPr txBox="1"/>
          <p:nvPr/>
        </p:nvSpPr>
        <p:spPr>
          <a:xfrm>
            <a:off x="4647536" y="2108964"/>
            <a:ext cx="9234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toma de decisiones.</a:t>
            </a:r>
          </a:p>
        </p:txBody>
      </p:sp>
      <p:sp>
        <p:nvSpPr>
          <p:cNvPr id="249" name="ANUARIO_ANEXO_P129_L028"/>
          <p:cNvSpPr txBox="1"/>
          <p:nvPr/>
        </p:nvSpPr>
        <p:spPr>
          <a:xfrm>
            <a:off x="4647536" y="2330461"/>
            <a:ext cx="41283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29 de agosto de 2023 el Instituto Nacional de Estadística y Geografía (INEGI) presentó la </a:t>
            </a:r>
          </a:p>
        </p:txBody>
      </p:sp>
      <p:sp>
        <p:nvSpPr>
          <p:cNvPr id="250" name="ANUARIO_ANEXO_P129_L029"/>
          <p:cNvSpPr txBox="1"/>
          <p:nvPr/>
        </p:nvSpPr>
        <p:spPr>
          <a:xfrm>
            <a:off x="4647536" y="2445157"/>
            <a:ext cx="412806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del Sistema de Cuentas Nacionales de México (SCNM), Base 2018 (CAB 2018), con </a:t>
            </a:r>
          </a:p>
        </p:txBody>
      </p:sp>
      <p:sp>
        <p:nvSpPr>
          <p:cNvPr id="251" name="ANUARIO_ANEXO_P129_L030"/>
          <p:cNvSpPr txBox="1"/>
          <p:nvPr/>
        </p:nvSpPr>
        <p:spPr>
          <a:xfrm>
            <a:off x="4647536" y="2559854"/>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que el PIB tendría modificaciones. Lo anterior, en función de los Lineamientos para el Ciclo de </a:t>
            </a:r>
          </a:p>
        </p:txBody>
      </p:sp>
      <p:sp>
        <p:nvSpPr>
          <p:cNvPr id="252" name="ANUARIO_ANEXO_P129_L031"/>
          <p:cNvSpPr txBox="1"/>
          <p:nvPr/>
        </p:nvSpPr>
        <p:spPr>
          <a:xfrm>
            <a:off x="4647536" y="2674550"/>
            <a:ext cx="412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 la Información Económica, publicados en julio de 2015. La clave para la integración </a:t>
            </a:r>
          </a:p>
        </p:txBody>
      </p:sp>
      <p:sp>
        <p:nvSpPr>
          <p:cNvPr id="253" name="ANUARIO_ANEXO_P129_L032"/>
          <p:cNvSpPr txBox="1"/>
          <p:nvPr/>
        </p:nvSpPr>
        <p:spPr>
          <a:xfrm>
            <a:off x="4647536" y="2789246"/>
            <a:ext cx="41280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conceptual fue la adopción y adaptación del marco teórico-contable que han ofrecido las versiones </a:t>
            </a:r>
          </a:p>
        </p:txBody>
      </p:sp>
      <p:sp>
        <p:nvSpPr>
          <p:cNvPr id="254" name="ANUARIO_ANEXO_P129_L033"/>
          <p:cNvSpPr txBox="1"/>
          <p:nvPr/>
        </p:nvSpPr>
        <p:spPr>
          <a:xfrm>
            <a:off x="4647536" y="2903942"/>
            <a:ext cx="41285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Sistema de Cuentas Nacionales (SCN) aprobado por la Comisión de Estadística de las Naciones </a:t>
            </a:r>
          </a:p>
        </p:txBody>
      </p:sp>
      <p:sp>
        <p:nvSpPr>
          <p:cNvPr id="255" name="ANUARIO_ANEXO_P129_L034"/>
          <p:cNvSpPr txBox="1"/>
          <p:nvPr/>
        </p:nvSpPr>
        <p:spPr>
          <a:xfrm>
            <a:off x="4647536" y="3018639"/>
            <a:ext cx="41286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Unidas para 1968, 1993 y 2008, y algunos aspectos de la revisión del SCN hacia el nuevo marco del </a:t>
            </a:r>
          </a:p>
        </p:txBody>
      </p:sp>
      <p:sp>
        <p:nvSpPr>
          <p:cNvPr id="256" name="ANUARIO_ANEXO_P129_L035"/>
          <p:cNvSpPr txBox="1"/>
          <p:nvPr/>
        </p:nvSpPr>
        <p:spPr>
          <a:xfrm>
            <a:off x="4647536" y="3133335"/>
            <a:ext cx="33646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2025.</a:t>
            </a:r>
          </a:p>
        </p:txBody>
      </p:sp>
      <p:sp>
        <p:nvSpPr>
          <p:cNvPr id="257" name="ANUARIO_ANEXO_P129_L036"/>
          <p:cNvSpPr txBox="1"/>
          <p:nvPr/>
        </p:nvSpPr>
        <p:spPr>
          <a:xfrm>
            <a:off x="4647536" y="3354833"/>
            <a:ext cx="412778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cobertura geográfica del PIB es nacional y alcanza una representatividad de 97.7% del valor </a:t>
            </a:r>
          </a:p>
        </p:txBody>
      </p:sp>
      <p:sp>
        <p:nvSpPr>
          <p:cNvPr id="258" name="ANUARIO_ANEXO_P129_L037"/>
          <p:cNvSpPr txBox="1"/>
          <p:nvPr/>
        </p:nvSpPr>
        <p:spPr>
          <a:xfrm>
            <a:off x="4647536" y="3469529"/>
            <a:ext cx="41281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agregado bruto del año base 2018. Se presenta por actividad económica, sectores, subsectores y las </a:t>
            </a:r>
          </a:p>
        </p:txBody>
      </p:sp>
      <p:sp>
        <p:nvSpPr>
          <p:cNvPr id="259" name="ANUARIO_ANEXO_P129_L038"/>
          <p:cNvSpPr txBox="1"/>
          <p:nvPr/>
        </p:nvSpPr>
        <p:spPr>
          <a:xfrm>
            <a:off x="4647536" y="3584225"/>
            <a:ext cx="224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ramas de actividad de las industrias manufactureras. </a:t>
            </a:r>
          </a:p>
        </p:txBody>
      </p:sp>
      <p:sp>
        <p:nvSpPr>
          <p:cNvPr id="260" name="ANUARIO_ANEXO_P129_L039"/>
          <p:cNvSpPr txBox="1"/>
          <p:nvPr/>
        </p:nvSpPr>
        <p:spPr>
          <a:xfrm>
            <a:off x="383625" y="4429651"/>
            <a:ext cx="3909100"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14</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2"/>
              </a:rPr>
              <a:t>https://www.inegi.org.mx/programas/enoe/15ymas/</a:t>
            </a:r>
            <a:r>
              <a:rPr sz="480" b="0" i="0">
                <a:solidFill>
                  <a:srgbClr val="1F3031"/>
                </a:solidFill>
                <a:latin typeface="Noto Sans"/>
              </a:rPr>
              <a:t>.</a:t>
            </a:r>
          </a:p>
        </p:txBody>
      </p:sp>
      <p:sp>
        <p:nvSpPr>
          <p:cNvPr id="261" name="ANUARIO_ANEXO_P129_L040"/>
          <p:cNvSpPr txBox="1"/>
          <p:nvPr/>
        </p:nvSpPr>
        <p:spPr>
          <a:xfrm>
            <a:off x="383625" y="4527909"/>
            <a:ext cx="4803382"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15</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3"/>
              </a:rPr>
              <a:t>https://www.inegi.org.mx/contenidos/programas/pib/2018/doc/guia_cab2018.pdf</a:t>
            </a:r>
            <a:r>
              <a:rPr sz="480" b="0" i="0">
                <a:solidFill>
                  <a:srgbClr val="1F3031"/>
                </a:solidFill>
                <a:latin typeface="Noto Sans"/>
              </a:rPr>
              <a: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V"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IV. MÉTODOS DE CÁLCULO DE INDICADORES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130</a:t>
            </a:r>
          </a:p>
        </p:txBody>
      </p:sp>
      <p:sp>
        <p:nvSpPr>
          <p:cNvPr id="222" name="ANUARIO_ANEXO_IV_TITLE"/>
          <p:cNvSpPr txBox="1"/>
          <p:nvPr/>
        </p:nvSpPr>
        <p:spPr>
          <a:xfrm>
            <a:off x="384048" y="667512"/>
            <a:ext cx="8321040" cy="265176"/>
          </a:xfrm>
          <a:prstGeom prst="rect">
            <a:avLst/>
          </a:prstGeom>
          <a:noFill/>
        </p:spPr>
        <p:txBody>
          <a:bodyPr wrap="square" lIns="0" rIns="0" tIns="0" bIns="0">
            <a:noAutofit/>
          </a:bodyPr>
          <a:lstStyle/>
          <a:p>
            <a:pPr algn="l">
              <a:lnSpc>
                <a:spcPct val="100000"/>
              </a:lnSpc>
              <a:spcBef>
                <a:spcPts val="0"/>
              </a:spcBef>
              <a:spcAft>
                <a:spcPts val="0"/>
              </a:spcAft>
            </a:pPr>
            <a:r>
              <a:rPr sz="1200" b="1">
                <a:solidFill>
                  <a:srgbClr val="1F4544"/>
                </a:solidFill>
                <a:latin typeface="Noto Sans"/>
              </a:rPr>
              <a:t>ANEXO IV. MÉTODOS DE CÁLCULO DE INDICADORES</a:t>
            </a:r>
          </a:p>
        </p:txBody>
      </p:sp>
      <p:sp>
        <p:nvSpPr>
          <p:cNvPr id="223" name="ANUARIO_ANEXO_IV_INTRO"/>
          <p:cNvSpPr txBox="1"/>
          <p:nvPr/>
        </p:nvSpPr>
        <p:spPr>
          <a:xfrm>
            <a:off x="384048" y="978408"/>
            <a:ext cx="8321040" cy="155448"/>
          </a:xfrm>
          <a:prstGeom prst="rect">
            <a:avLst/>
          </a:prstGeom>
          <a:noFill/>
        </p:spPr>
        <p:txBody>
          <a:bodyPr wrap="square" lIns="0" rIns="0" tIns="0" bIns="0">
            <a:noAutofit/>
          </a:bodyPr>
          <a:lstStyle/>
          <a:p>
            <a:pPr algn="l">
              <a:lnSpc>
                <a:spcPct val="100000"/>
              </a:lnSpc>
              <a:spcBef>
                <a:spcPts val="0"/>
              </a:spcBef>
              <a:spcAft>
                <a:spcPts val="0"/>
              </a:spcAft>
            </a:pPr>
            <a:r>
              <a:rPr sz="750" b="0">
                <a:solidFill>
                  <a:srgbClr val="1F3031"/>
                </a:solidFill>
                <a:latin typeface="Noto Sans"/>
              </a:rPr>
              <a:t>Para obtener los indicadores mostrados en el documento se utilizaron los siguientes métodos de cálculo:</a:t>
            </a:r>
          </a:p>
        </p:txBody>
      </p:sp>
      <p:graphicFrame>
        <p:nvGraphicFramePr>
          <p:cNvPr id="224" name="ANUARIO_ANEXO_IV_TABLA_IZQUIERDA"/>
          <p:cNvGraphicFramePr>
            <a:graphicFrameLocks noGrp="1"/>
          </p:cNvGraphicFramePr>
          <p:nvPr/>
        </p:nvGraphicFramePr>
        <p:xfrm>
          <a:off x="384048"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621792">
                <a:tc>
                  <a:txBody>
                    <a:bodyPr/>
                    <a:lstStyle/>
                    <a:p>
                      <a:pPr algn="ctr">
                        <a:spcBef>
                          <a:spcPts val="0"/>
                        </a:spcBef>
                        <a:spcAft>
                          <a:spcPts val="0"/>
                        </a:spcAft>
                      </a:pPr>
                      <a:r>
                        <a:rPr sz="655" b="0">
                          <a:solidFill>
                            <a:srgbClr val="1F3031"/>
                          </a:solidFill>
                          <a:latin typeface="Noto Sans"/>
                        </a:rPr>
                        <a:t>Índice de Herfindahl-Hirschman (IHH)</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(participación de mercado de cada grupo económico × 100)²</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o accesos residenciales por cada 100 hogares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Accesos o líneas residenciales ÷ hogares de ENDUTIH del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o accesos no residenciales por cada 100 UE</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Accesos o líneas no residenciales ÷ unidades económicas de DENUE × 100</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móviles de telefonía por cada 100 habitantes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Líneas del servicio móvil de telefonía ÷ población compatible con 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de Internet móvil por cada 100 habitantes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Líneas del servicio móvil de Internet ÷ población compatible con el corte × 100</a:t>
                      </a:r>
                    </a:p>
                  </a:txBody>
                  <a:tcPr anchor="ctr" marL="54864" marR="54864" marT="18288" marB="18288">
                    <a:solidFill>
                      <a:srgbClr val="FFFFFF"/>
                    </a:solidFill>
                  </a:tcPr>
                </a:tc>
              </a:tr>
            </a:tbl>
          </a:graphicData>
        </a:graphic>
      </p:graphicFrame>
      <p:graphicFrame>
        <p:nvGraphicFramePr>
          <p:cNvPr id="225" name="ANUARIO_ANEXO_IV_TABLA_DERECHA"/>
          <p:cNvGraphicFramePr>
            <a:graphicFrameLocks noGrp="1"/>
          </p:cNvGraphicFramePr>
          <p:nvPr/>
        </p:nvGraphicFramePr>
        <p:xfrm>
          <a:off x="4645152"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777240">
                <a:tc>
                  <a:txBody>
                    <a:bodyPr/>
                    <a:lstStyle/>
                    <a:p>
                      <a:pPr algn="ctr">
                        <a:spcBef>
                          <a:spcPts val="0"/>
                        </a:spcBef>
                        <a:spcAft>
                          <a:spcPts val="0"/>
                        </a:spcAft>
                      </a:pPr>
                      <a:r>
                        <a:rPr sz="655" b="0">
                          <a:solidFill>
                            <a:srgbClr val="1F3031"/>
                          </a:solidFill>
                          <a:latin typeface="Noto Sans"/>
                        </a:rPr>
                        <a:t>Minutos de uso promedio mensual (MOU)</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(minutos mensuales ÷ líneas del servicio de telefonía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Tráfico mensual promedio de Internet móvil</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Σ (GB mensuales ÷ líneas de Internet móvil de cada mes) ÷ 12</a:t>
                      </a:r>
                    </a:p>
                  </a:txBody>
                  <a:tcPr anchor="ctr" marL="54864" marR="54864" marT="18288" marB="18288">
                    <a:solidFill>
                      <a:srgbClr val="F2F7F6"/>
                    </a:solidFill>
                  </a:tcPr>
                </a:tc>
              </a:tr>
              <a:tr h="777240">
                <a:tc>
                  <a:txBody>
                    <a:bodyPr/>
                    <a:lstStyle/>
                    <a:p>
                      <a:pPr algn="ctr">
                        <a:spcBef>
                          <a:spcPts val="0"/>
                        </a:spcBef>
                        <a:spcAft>
                          <a:spcPts val="0"/>
                        </a:spcAft>
                      </a:pPr>
                      <a:r>
                        <a:rPr sz="655" b="0">
                          <a:solidFill>
                            <a:srgbClr val="1F3031"/>
                          </a:solidFill>
                          <a:latin typeface="Noto Sans"/>
                        </a:rPr>
                        <a:t>Mensajes de texto promedio (SMS)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(SMS enviados por mes ÷ líneas móviles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Margen de utilidad</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Ingresos brutos − egresos operativos</a:t>
                      </a:r>
                    </a:p>
                  </a:txBody>
                  <a:tcPr anchor="ctr" marL="54864" marR="54864" marT="18288" marB="18288">
                    <a:solidFill>
                      <a:srgbClr val="F2F7F6"/>
                    </a:solidFill>
                  </a:tcPr>
                </a:tc>
              </a:tr>
            </a:tbl>
          </a:graphicData>
        </a:graphic>
      </p:graphicFrame>
      <p:sp>
        <p:nvSpPr>
          <p:cNvPr id="226" name="ANUARIO_ANEXO_IV_NOTA"/>
          <p:cNvSpPr txBox="1"/>
          <p:nvPr/>
        </p:nvSpPr>
        <p:spPr>
          <a:xfrm>
            <a:off x="393192" y="4553712"/>
            <a:ext cx="8321040" cy="164592"/>
          </a:xfrm>
          <a:prstGeom prst="rect">
            <a:avLst/>
          </a:prstGeom>
          <a:noFill/>
        </p:spPr>
        <p:txBody>
          <a:bodyPr wrap="square" lIns="0" rIns="0" tIns="0" bIns="0">
            <a:noAutofit/>
          </a:bodyPr>
          <a:lstStyle/>
          <a:p>
            <a:pPr algn="l">
              <a:lnSpc>
                <a:spcPct val="100000"/>
              </a:lnSpc>
              <a:spcBef>
                <a:spcPts val="0"/>
              </a:spcBef>
              <a:spcAft>
                <a:spcPts val="0"/>
              </a:spcAft>
            </a:pPr>
            <a:r>
              <a:rPr sz="620" b="0">
                <a:solidFill>
                  <a:srgbClr val="4B5858"/>
                </a:solidFill>
                <a:latin typeface="Noto Sans"/>
              </a:rPr>
              <a:t>Nota: hogares y población corresponden a la ENDUTIH del corte de cada figura; las UE provienen del DENUE. Las figuras identifican fuente y periodo.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