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bin" ContentType="application/vnd.openxmlformats-officedocument.presentationml.printerSettings"/>
  <Default Extension="jpeg" ContentType="image/jpeg"/>
  <Override PartName="/ppt/slideLayouts/s9_slideLayout1.xml" ContentType="application/vnd.openxmlformats-officedocument.presentationml.slideLayout+xml"/>
  <Override PartName="/ppt/slideLayouts/s9_slideLayout10.xml" ContentType="application/vnd.openxmlformats-officedocument.presentationml.slideLayout+xml"/>
  <Override PartName="/ppt/slideLayouts/s9_slideLayout11.xml" ContentType="application/vnd.openxmlformats-officedocument.presentationml.slideLayout+xml"/>
  <Override PartName="/ppt/slideLayouts/s9_slideLayout2.xml" ContentType="application/vnd.openxmlformats-officedocument.presentationml.slideLayout+xml"/>
  <Override PartName="/ppt/slideLayouts/s9_slideLayout3.xml" ContentType="application/vnd.openxmlformats-officedocument.presentationml.slideLayout+xml"/>
  <Override PartName="/ppt/slideLayouts/s9_slideLayout4.xml" ContentType="application/vnd.openxmlformats-officedocument.presentationml.slideLayout+xml"/>
  <Override PartName="/ppt/slideLayouts/s9_slideLayout5.xml" ContentType="application/vnd.openxmlformats-officedocument.presentationml.slideLayout+xml"/>
  <Override PartName="/ppt/slideLayouts/s9_slideLayout6.xml" ContentType="application/vnd.openxmlformats-officedocument.presentationml.slideLayout+xml"/>
  <Override PartName="/ppt/slideLayouts/s9_slideLayout7.xml" ContentType="application/vnd.openxmlformats-officedocument.presentationml.slideLayout+xml"/>
  <Override PartName="/ppt/slideLayouts/s9_slideLayout8.xml" ContentType="application/vnd.openxmlformats-officedocument.presentationml.slideLayout+xml"/>
  <Override PartName="/ppt/slideLayouts/s9_slideLayout9.xml" ContentType="application/vnd.openxmlformats-officedocument.presentationml.slideLayout+xml"/>
  <Override PartName="/ppt/slideMasters/s9_slideMaster1.xml" ContentType="application/vnd.openxmlformats-officedocument.presentationml.slideMaster+xml"/>
  <Override PartName="/ppt/theme/s9_theme1.xml" ContentType="application/vnd.openxmlformats-officedocument.theme+xml"/>
  <Default Extension="jpg" ContentType="image/jpg"/>
  <Default Extension="svg" ContentType="image/svg+xml"/>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slideMasters/s121_slideMaster1.xml" ContentType="application/vnd.openxmlformats-officedocument.presentationml.slideMaster+xml"/>
  <Override PartName="/ppt/theme/s121_theme1.xml" ContentType="application/vnd.openxmlformats-officedocument.theme+xml"/>
  <Override PartName="/ppt/slideLayouts/s121_slideLayout1.xml" ContentType="application/vnd.openxmlformats-officedocument.presentationml.slideLayout+xml"/>
  <Override PartName="/ppt/slideMasters/s125_slideMaster1.xml" ContentType="application/vnd.openxmlformats-officedocument.presentationml.slideMaster+xml"/>
  <Override PartName="/ppt/theme/s125_theme1.xml" ContentType="application/vnd.openxmlformats-officedocument.theme+xml"/>
  <Override PartName="/ppt/slideLayouts/s125_slideLayout1.xml" ContentType="application/vnd.openxmlformats-officedocument.presentationml.slideLayout+xml"/>
  <Override PartName="/ppt/theme/a121_130_theme1.xml" ContentType="application/vnd.openxmlformats-officedocument.theme+xml"/>
  <Override PartName="/ppt/slideMasters/a121_130_slideMaster1.xml" ContentType="application/vnd.openxmlformats-officedocument.presentationml.slideMaster+xml"/>
  <Override PartName="/ppt/slideMasters/theme/a121_130_theme2.xml" ContentType="application/vnd.openxmlformats-officedocument.theme+xml"/>
  <Override PartName="/ppt/slideLayouts/a121_130_slideLayout1.xml" ContentType="application/vnd.openxmlformats-officedocument.presentationml.slideLayout+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 id="2147490000" r:id="rIdSlide9ReferenceMaster"/>
    <p:sldMasterId id="2147500000" r:id="rIdSlide121ReferenceMaster"/>
    <p:sldMasterId id="2147510000" r:id="rIdSlide125ReferenceMaster"/>
    <p:sldMasterId id="2147520000" r:id="rIdAnnexBlockReferenceMaster"/>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 Id="rIdSlide9ReferenceMaster" Type="http://schemas.openxmlformats.org/officeDocument/2006/relationships/slideMaster" Target="slideMasters/s9_slideMaster1.xml"/><Relationship Id="rIdSlide121ReferenceMaster" Type="http://schemas.openxmlformats.org/officeDocument/2006/relationships/slideMaster" Target="slideMasters/s121_slideMaster1.xml"/><Relationship Id="rIdSlide125ReferenceMaster" Type="http://schemas.openxmlformats.org/officeDocument/2006/relationships/slideMaster" Target="slideMasters/s125_slideMaster1.xml"/><Relationship Id="rIdAnnexBlockReferenceMaster" Type="http://schemas.openxmlformats.org/officeDocument/2006/relationships/slideMaster" Target="slideMasters/a121_130_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a121_130_slideLayout1.xml.rels><?xml version='1.0' encoding='UTF-8' standalone='yes'?>
<Relationships xmlns="http://schemas.openxmlformats.org/package/2006/relationships"><Relationship Type="http://schemas.openxmlformats.org/officeDocument/2006/relationships/slideMaster" Target="../slideMasters/a121_130_slideMaster1.xml" Id="R2815022223364e29"/></Relationships>
</file>

<file path=ppt/slideLayouts/_rels/s9_slideLayout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2.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3.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4.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5.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6.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7.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8.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9.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0.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121_slideLayout1.xml.rels><?xml version='1.0' encoding='UTF-8' standalone='yes'?>
<Relationships xmlns="http://schemas.openxmlformats.org/package/2006/relationships"><Relationship Id="rId1" Type="http://schemas.openxmlformats.org/officeDocument/2006/relationships/slideMaster" Target="../slideMasters/s121_slideMaster1.xml"/></Relationships>
</file>

<file path=ppt/slideLayouts/_rels/s125_slideLayout1.xml.rels><?xml version='1.0' encoding='UTF-8' standalone='yes'?>
<Relationships xmlns="http://schemas.openxmlformats.org/package/2006/relationships"><Relationship Id="rId1" Type="http://schemas.openxmlformats.org/officeDocument/2006/relationships/slideMaster" Target="../slideMasters/s125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a121_130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9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9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9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9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9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9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9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9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9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9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9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121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125_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a121_130_slideMaster1.xml.rels><?xml version='1.0' encoding='UTF-8' standalone='yes'?>
<Relationships xmlns="http://schemas.openxmlformats.org/package/2006/relationships"><Relationship Type="http://schemas.openxmlformats.org/officeDocument/2006/relationships/theme" Target="theme/a121_130_theme2.xml" Id="R0d97e60dc76c4f3e"/><Relationship Type="http://schemas.openxmlformats.org/officeDocument/2006/relationships/slideLayout" Target="../slideLayouts/a121_130_slideLayout1.xml" Id="R8cbbc4ddcf3345d8"/></Relationships>
</file>

<file path=ppt/slideMasters/_rels/s9_slideMaster1.xml.rels><?xml version='1.0' encoding='UTF-8' standalone='yes'?>
<Relationships xmlns="http://schemas.openxmlformats.org/package/2006/relationships"><Relationship Id="rId1" Type="http://schemas.openxmlformats.org/officeDocument/2006/relationships/slideLayout" Target="../slideLayouts/s9_slideLayout1.xml"/><Relationship Id="rId2" Type="http://schemas.openxmlformats.org/officeDocument/2006/relationships/slideLayout" Target="../slideLayouts/s9_slideLayout2.xml"/><Relationship Id="rId3" Type="http://schemas.openxmlformats.org/officeDocument/2006/relationships/slideLayout" Target="../slideLayouts/s9_slideLayout3.xml"/><Relationship Id="rId4" Type="http://schemas.openxmlformats.org/officeDocument/2006/relationships/slideLayout" Target="../slideLayouts/s9_slideLayout4.xml"/><Relationship Id="rId5" Type="http://schemas.openxmlformats.org/officeDocument/2006/relationships/slideLayout" Target="../slideLayouts/s9_slideLayout5.xml"/><Relationship Id="rId6" Type="http://schemas.openxmlformats.org/officeDocument/2006/relationships/slideLayout" Target="../slideLayouts/s9_slideLayout6.xml"/><Relationship Id="rId7" Type="http://schemas.openxmlformats.org/officeDocument/2006/relationships/slideLayout" Target="../slideLayouts/s9_slideLayout7.xml"/><Relationship Id="rId8" Type="http://schemas.openxmlformats.org/officeDocument/2006/relationships/slideLayout" Target="../slideLayouts/s9_slideLayout8.xml"/><Relationship Id="rId9" Type="http://schemas.openxmlformats.org/officeDocument/2006/relationships/slideLayout" Target="../slideLayouts/s9_slideLayout9.xml"/><Relationship Id="rId10" Type="http://schemas.openxmlformats.org/officeDocument/2006/relationships/slideLayout" Target="../slideLayouts/s9_slideLayout10.xml"/><Relationship Id="rId11" Type="http://schemas.openxmlformats.org/officeDocument/2006/relationships/slideLayout" Target="../slideLayouts/s9_slideLayout11.xml"/><Relationship Id="rId12" Type="http://schemas.openxmlformats.org/officeDocument/2006/relationships/theme" Target="../theme/s9_theme1.xml"/></Relationships>
</file>

<file path=ppt/slideMasters/_rels/s121_slideMaster1.xml.rels><?xml version='1.0' encoding='UTF-8' standalone='yes'?>
<Relationships xmlns="http://schemas.openxmlformats.org/package/2006/relationships"><Relationship Id="rId1" Type="http://schemas.openxmlformats.org/officeDocument/2006/relationships/slideLayout" Target="../slideLayouts/s121_slideLayout1.xml"/><Relationship Id="rId2" Type="http://schemas.openxmlformats.org/officeDocument/2006/relationships/theme" Target="../theme/s121_theme1.xml"/></Relationships>
</file>

<file path=ppt/slideMasters/_rels/s125_slideMaster1.xml.rels><?xml version='1.0' encoding='UTF-8' standalone='yes'?>
<Relationships xmlns="http://schemas.openxmlformats.org/package/2006/relationships"><Relationship Id="rId1" Type="http://schemas.openxmlformats.org/officeDocument/2006/relationships/slideLayout" Target="../slideLayouts/s125_slideLayout1.xml"/><Relationship Id="rId2" Type="http://schemas.openxmlformats.org/officeDocument/2006/relationships/theme" Target="../theme/s125_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a121_130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520001" r:id="R8cbbc4ddcf3345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9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90001" r:id="rId1"/>
    <p:sldLayoutId id="2147490002" r:id="rId2"/>
    <p:sldLayoutId id="2147490003" r:id="rId3"/>
    <p:sldLayoutId id="2147490004" r:id="rId4"/>
    <p:sldLayoutId id="2147490005" r:id="rId5"/>
    <p:sldLayoutId id="2147490006" r:id="rId6"/>
    <p:sldLayoutId id="2147490007" r:id="rId7"/>
    <p:sldLayoutId id="2147490008" r:id="rId8"/>
    <p:sldLayoutId id="2147490009" r:id="rId9"/>
    <p:sldLayoutId id="2147490010" r:id="rId10"/>
    <p:sldLayoutId id="21474900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121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0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125_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51000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theme/a121_130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Type="http://schemas.openxmlformats.org/officeDocument/2006/relationships/slideLayout" Target="../slideLayouts/slideLayout5.xml" Id="Rbe9c7cf808de4e9d"/><Relationship Type="http://schemas.openxmlformats.org/officeDocument/2006/relationships/image" Target="../media/slide4_diseno_image.png" Id="Re9d5d72c38924a16"/><Relationship Type="http://schemas.openxmlformats.org/officeDocument/2006/relationships/image" Target="../media/slide4_diseno_image2.png" Id="Rb5c444f1c6cb476e"/><Relationship Type="http://schemas.openxmlformats.org/officeDocument/2006/relationships/image" Target="../media/slide4_diseno_image3.png" Id="R45279ff6ee7f4af1"/><Relationship Type="http://schemas.openxmlformats.org/officeDocument/2006/relationships/image" Target="../media/slide4_diseno_image4.png" Id="R30298c0e75084c3d"/><Relationship Type="http://schemas.openxmlformats.org/officeDocument/2006/relationships/hyperlink" Target="https://bit.crt.gob.mx/BitWebApp/" TargetMode="External" Id="R44a62cbf7b934b2e"/></Relationships>
</file>

<file path=ppt/slides/_rels/slide5.xml.rels><?xml version='1.0' encoding='UTF-8' standalone='yes'?>
<Relationships xmlns="http://schemas.openxmlformats.org/package/2006/relationships"><Relationship Type="http://schemas.openxmlformats.org/officeDocument/2006/relationships/slideLayout" Target="../slideLayouts/slideLayout5.xml" Id="R46abcff555714d09"/><Relationship Type="http://schemas.openxmlformats.org/officeDocument/2006/relationships/image" Target="../media/slide5_diseno_image5.png" Id="Rd0c2a94fb7504565"/><Relationship Type="http://schemas.openxmlformats.org/officeDocument/2006/relationships/image" Target="../media/slide5_diseno_image6.png" Id="R053ec0800dab470a"/><Relationship Type="http://schemas.openxmlformats.org/officeDocument/2006/relationships/image" Target="../media/slide5_diseno_image7.png" Id="R9b21366084f1421c"/><Relationship Type="http://schemas.openxmlformats.org/officeDocument/2006/relationships/image" Target="../media/slide5_diseno_image8.png" Id="R30bbdc5925644f1f"/><Relationship Type="http://schemas.openxmlformats.org/officeDocument/2006/relationships/hyperlink" Target="https://bit.crt.gob.mx/BitWebApp/" TargetMode="External" Id="R063e77096b704b59"/><Relationship Type="http://schemas.openxmlformats.org/officeDocument/2006/relationships/image" Target="../media/slide5_diseno_image9.png" Id="R5f7ecf3039b54788"/><Relationship Type="http://schemas.openxmlformats.org/officeDocument/2006/relationships/image" Target="../media/slide5_diseno_image10.png" Id="Rca2af74a4db24cd7"/><Relationship Type="http://schemas.openxmlformats.org/officeDocument/2006/relationships/image" Target="../media/slide5_diseno_image11.png" Id="R17eda56c66264122"/><Relationship Type="http://schemas.openxmlformats.org/officeDocument/2006/relationships/image" Target="../media/slide5_diseno_image12.png" Id="R0598c2e78d6345bf"/></Relationships>
</file>

<file path=ppt/slides/_rels/slide6.xml.rels><?xml version='1.0' encoding='UTF-8' standalone='yes'?>
<Relationships xmlns="http://schemas.openxmlformats.org/package/2006/relationships"><Relationship Type="http://schemas.openxmlformats.org/officeDocument/2006/relationships/slideLayout" Target="../slideLayouts/slideLayout5.xml" Id="R66974e7e788647ff"/><Relationship Type="http://schemas.openxmlformats.org/officeDocument/2006/relationships/image" Target="../media/slide6_diseno_image13.png" Id="Ra85e1c9945e94a7e"/><Relationship Type="http://schemas.openxmlformats.org/officeDocument/2006/relationships/image" Target="../media/slide6_diseno_image14.png" Id="R5101691e18134900"/><Relationship Type="http://schemas.openxmlformats.org/officeDocument/2006/relationships/image" Target="../media/slide6_diseno_image15.png" Id="Rcd1fc5a8caa9402d"/><Relationship Type="http://schemas.openxmlformats.org/officeDocument/2006/relationships/image" Target="../media/slide6_diseno_image16.png" Id="Ra902198852794fa7"/><Relationship Type="http://schemas.openxmlformats.org/officeDocument/2006/relationships/hyperlink" Target="https://bit.crt.gob.mx/BitWebApp/" TargetMode="External" Id="Rbf38f4683d754baf"/><Relationship Type="http://schemas.openxmlformats.org/officeDocument/2006/relationships/image" Target="../media/slide6_diseno_image17.png" Id="Rc151f4e85cd14391"/><Relationship Type="http://schemas.openxmlformats.org/officeDocument/2006/relationships/image" Target="../media/slide6_diseno_image18.png" Id="R8e1ef3adc9d843cd"/><Relationship Type="http://schemas.openxmlformats.org/officeDocument/2006/relationships/image" Target="../media/slide6_diseno_image19.png" Id="R8f9341f9b5c94c17"/><Relationship Type="http://schemas.openxmlformats.org/officeDocument/2006/relationships/image" Target="../media/slide6_diseno_image20.png" Id="R18bf096c142f478e"/></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Type="http://schemas.openxmlformats.org/officeDocument/2006/relationships/slideLayout" Target="../slideLayouts/slideLayout5.xml" Id="R0f556a324a294929"/><Relationship Type="http://schemas.openxmlformats.org/officeDocument/2006/relationships/image" Target="../media/slide8_diseno_image.png" Id="Rab0adeb70d7b4625"/><Relationship Type="http://schemas.openxmlformats.org/officeDocument/2006/relationships/image" Target="../media/slide8_diseno_image2.png" Id="Rea391cf12914453e"/><Relationship Type="http://schemas.openxmlformats.org/officeDocument/2006/relationships/image" Target="../media/slide8_diseno_image3.png" Id="R4f2cbbb30dda4051"/><Relationship Type="http://schemas.openxmlformats.org/officeDocument/2006/relationships/image" Target="../media/slide8_diseno_image4.png" Id="R4d12f4a07a004500"/><Relationship Type="http://schemas.openxmlformats.org/officeDocument/2006/relationships/hyperlink" Target="https://bit.crt.gob.mx/BitWebApp/" TargetMode="External" Id="R4e3103bf1d6a40b8"/></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9_slideLayout7.xml"/><Relationship Id="rId2" Type="http://schemas.openxmlformats.org/officeDocument/2006/relationships/image" Target="../media/s9_image1.png"/><Relationship Id="rId3" Type="http://schemas.openxmlformats.org/officeDocument/2006/relationships/image" Target="../media/s9_image2.png"/><Relationship Id="rId4" Type="http://schemas.openxmlformats.org/officeDocument/2006/relationships/image" Target="../media/s9_image3.png"/><Relationship Id="rId5" Type="http://schemas.openxmlformats.org/officeDocument/2006/relationships/image" Target="../media/s9_image4.png"/><Relationship Id="rId6" Type="http://schemas.openxmlformats.org/officeDocument/2006/relationships/image" Target="../media/s9_image5.png"/><Relationship Id="rId7" Type="http://schemas.openxmlformats.org/officeDocument/2006/relationships/image" Target="../media/s9_image6.png"/><Relationship Id="rId8" Type="http://schemas.openxmlformats.org/officeDocument/2006/relationships/image" Target="../media/s9_image7.png"/><Relationship Id="rId9" Type="http://schemas.openxmlformats.org/officeDocument/2006/relationships/image" Target="../media/s9_image8.png"/><Relationship Id="rId10" Type="http://schemas.openxmlformats.org/officeDocument/2006/relationships/image" Target="../media/s9_image9.png"/><Relationship Id="rId11" Type="http://schemas.openxmlformats.org/officeDocument/2006/relationships/image" Target="../media/s9_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121_slideLayout1.xml"/></Relationships>
</file>

<file path=ppt/slides/_rels/slide122.xml.rels><?xml version='1.0' encoding='UTF-8' standalone='yes'?>
<Relationships xmlns="http://schemas.openxmlformats.org/package/2006/relationships"><Relationship Type="http://schemas.openxmlformats.org/officeDocument/2006/relationships/slideLayout" Target="../slideLayouts/a121_130_slideLayout1.xml" Id="R2811c67ff0114818"/></Relationships>
</file>

<file path=ppt/slides/_rels/slide123.xml.rels><?xml version='1.0' encoding='UTF-8' standalone='yes'?>
<Relationships xmlns="http://schemas.openxmlformats.org/package/2006/relationships"><Relationship Type="http://schemas.openxmlformats.org/officeDocument/2006/relationships/slideLayout" Target="../slideLayouts/a121_130_slideLayout1.xml" Id="R5d742b8616a745cf"/></Relationships>
</file>

<file path=ppt/slides/_rels/slide124.xml.rels><?xml version='1.0' encoding='UTF-8' standalone='yes'?>
<Relationships xmlns="http://schemas.openxmlformats.org/package/2006/relationships"><Relationship Type="http://schemas.openxmlformats.org/officeDocument/2006/relationships/slideLayout" Target="../slideLayouts/a121_130_slideLayout1.xml" Id="R453b3cd00aaf4b5e"/></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125_slideLayout1.xml"/></Relationships>
</file>

<file path=ppt/slides/_rels/slide126.xml.rels><?xml version='1.0' encoding='UTF-8' standalone='yes'?>
<Relationships xmlns="http://schemas.openxmlformats.org/package/2006/relationships"><Relationship Type="http://schemas.openxmlformats.org/officeDocument/2006/relationships/slideLayout" Target="../slideLayouts/a121_130_slideLayout1.xml" Id="R631a4a7c6fa14d7d"/></Relationships>
</file>

<file path=ppt/slides/_rels/slide127.xml.rels><?xml version='1.0' encoding='UTF-8' standalone='yes'?>
<Relationships xmlns="http://schemas.openxmlformats.org/package/2006/relationships"><Relationship Type="http://schemas.openxmlformats.org/officeDocument/2006/relationships/slideLayout" Target="../slideLayouts/a121_130_slideLayout1.xml" Id="R7a3265c2c80e42cc"/></Relationships>
</file>

<file path=ppt/slides/_rels/slide128.xml.rels><?xml version='1.0' encoding='UTF-8' standalone='yes'?>
<Relationships xmlns="http://schemas.openxmlformats.org/package/2006/relationships"><Relationship Type="http://schemas.openxmlformats.org/officeDocument/2006/relationships/slideLayout" Target="../slideLayouts/a121_130_slideLayout1.xml" Id="R3e924c45b0ed45f3"/></Relationships>
</file>

<file path=ppt/slides/_rels/slide129.xml.rels><?xml version='1.0' encoding='UTF-8' standalone='yes'?>
<Relationships xmlns="http://schemas.openxmlformats.org/package/2006/relationships"><Relationship Type="http://schemas.openxmlformats.org/officeDocument/2006/relationships/slideLayout" Target="../slideLayouts/a121_130_slideLayout1.xml" Id="Rc8e4db0dd9244e49"/></Relationships>
</file>

<file path=ppt/slides/_rels/slide130.xml.rels><?xml version='1.0' encoding='UTF-8' standalone='yes'?>
<Relationships xmlns="http://schemas.openxmlformats.org/package/2006/relationships"><Relationship Type="http://schemas.openxmlformats.org/officeDocument/2006/relationships/slideLayout" Target="../slideLayouts/a121_130_slideLayout1.xml" Id="Rac96220c17124d95"/></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cxnSp>
        <p:nvCxnSpPr>
          <p:cNvPr id="155" name="Google Shape;155;p14"/>
          <p:cNvCxnSpPr/>
          <p:nvPr/>
        </p:nvCxnSpPr>
        <p:spPr>
          <a:xfrm>
            <a:off x="1651800" y="1326910"/>
            <a:ext cx="5840400" cy="0"/>
          </a:xfrm>
          <a:prstGeom prst="straightConnector1">
            <a:avLst/>
          </a:prstGeom>
          <a:noFill/>
          <a:ln w="21450" cap="flat" cmpd="sng">
            <a:solidFill>
              <a:srgbClr val="E6D195"/>
            </a:solidFill>
            <a:prstDash val="solid"/>
            <a:round/>
            <a:headEnd type="none" w="sm" len="sm"/>
            <a:tailEnd type="none" w="sm" len="sm"/>
          </a:ln>
        </p:spPr>
      </p:cxnSp>
      <p:sp>
        <p:nvSpPr>
          <p:cNvPr id="156" name="ANUARIO_INDEX_LEFT"/>
          <p:cNvSpPr txBox="1"/>
          <p:nvPr/>
        </p:nvSpPr>
        <p:spPr>
          <a:xfrm>
            <a:off x="384048" y="1307592"/>
            <a:ext cx="4050791" cy="3182112"/>
          </a:xfrm>
          <a:prstGeom prst="rect">
            <a:avLst/>
          </a:prstGeom>
          <a:noFill/>
        </p:spPr>
        <p:txBody>
          <a:bodyPr wrap="square" anchor="t" lIns="18288" rIns="18288" tIns="0" bIns="0">
            <a:noAutofit/>
          </a:bodyPr>
          <a:lstStyle/>
          <a:p>
            <a:pPr>
              <a:lnSpc>
                <a:spcPct val="80000"/>
              </a:lnSpc>
              <a:spcBef>
                <a:spcPts val="0"/>
              </a:spcBef>
              <a:spcAft>
                <a:spcPts val="0"/>
              </a:spcAft>
            </a:pPr>
            <a:r>
              <a:rPr sz="484" b="0">
                <a:solidFill>
                  <a:srgbClr val="F3F3F3"/>
                </a:solidFill>
                <a:latin typeface="Noto Sans"/>
              </a:rPr>
              <a:t>LEGALES  ·  3</a:t>
            </a:r>
          </a:p>
          <a:p>
            <a:pPr>
              <a:lnSpc>
                <a:spcPct val="80000"/>
              </a:lnSpc>
              <a:spcBef>
                <a:spcPts val="0"/>
              </a:spcBef>
              <a:spcAft>
                <a:spcPts val="0"/>
              </a:spcAft>
            </a:pPr>
            <a:r>
              <a:rPr sz="484" b="0">
                <a:solidFill>
                  <a:srgbClr val="F3F3F3"/>
                </a:solidFill>
                <a:latin typeface="Noto Sans"/>
              </a:rPr>
              <a:t>GLOSARIO  ·  5</a:t>
            </a:r>
          </a:p>
          <a:p>
            <a:pPr>
              <a:lnSpc>
                <a:spcPct val="80000"/>
              </a:lnSpc>
              <a:spcBef>
                <a:spcPts val="0"/>
              </a:spcBef>
              <a:spcAft>
                <a:spcPts val="0"/>
              </a:spcAft>
            </a:pPr>
            <a:r>
              <a:rPr sz="484" b="0">
                <a:solidFill>
                  <a:srgbClr val="F3F3F3"/>
                </a:solidFill>
                <a:latin typeface="Noto Sans"/>
              </a:rPr>
              <a:t>INTRODUCCIÓN  ·  7</a:t>
            </a:r>
          </a:p>
          <a:p>
            <a:pPr>
              <a:lnSpc>
                <a:spcPct val="80000"/>
              </a:lnSpc>
              <a:spcBef>
                <a:spcPts val="0"/>
              </a:spcBef>
              <a:spcAft>
                <a:spcPts val="0"/>
              </a:spcAft>
            </a:pPr>
            <a:r>
              <a:rPr sz="484" b="0">
                <a:solidFill>
                  <a:srgbClr val="F3F3F3"/>
                </a:solidFill>
                <a:latin typeface="Noto Sans"/>
              </a:rPr>
              <a:t>PUNTOS CLAVE  ·  9</a:t>
            </a:r>
          </a:p>
          <a:p>
            <a:pPr>
              <a:lnSpc>
                <a:spcPct val="80000"/>
              </a:lnSpc>
              <a:spcBef>
                <a:spcPts val="0"/>
              </a:spcBef>
              <a:spcAft>
                <a:spcPts val="0"/>
              </a:spcAft>
            </a:pPr>
            <a:r>
              <a:rPr sz="484" b="0">
                <a:solidFill>
                  <a:srgbClr val="F3F3F3"/>
                </a:solidFill>
                <a:latin typeface="Noto Sans"/>
              </a:rPr>
              <a:t>INDICADORES DE TELECOMUNICACIONES Y RADIODIFUSIÓN A NIVEL NACIONAL  ·  11</a:t>
            </a:r>
          </a:p>
          <a:p>
            <a:pPr>
              <a:lnSpc>
                <a:spcPct val="80000"/>
              </a:lnSpc>
              <a:spcBef>
                <a:spcPts val="0"/>
              </a:spcBef>
              <a:spcAft>
                <a:spcPts val="0"/>
              </a:spcAft>
            </a:pPr>
            <a:r>
              <a:rPr sz="484" b="0">
                <a:solidFill>
                  <a:srgbClr val="F3F3F3"/>
                </a:solidFill>
                <a:latin typeface="Noto Sans"/>
              </a:rPr>
              <a:t>A. INDICADORES ECONÓMICOS  ·  11</a:t>
            </a:r>
          </a:p>
          <a:p>
            <a:pPr>
              <a:lnSpc>
                <a:spcPct val="80000"/>
              </a:lnSpc>
              <a:spcBef>
                <a:spcPts val="0"/>
              </a:spcBef>
              <a:spcAft>
                <a:spcPts val="0"/>
              </a:spcAft>
            </a:pPr>
            <a:r>
              <a:rPr sz="484" b="0">
                <a:solidFill>
                  <a:srgbClr val="F3F3F3"/>
                </a:solidFill>
                <a:latin typeface="Noto Sans"/>
              </a:rPr>
              <a:t>  PRODUCTO INTERNO BRUTO (PIB) Y CONTRIBUCIÓN DE LOS SECTORES DE TyR  ·  11</a:t>
            </a:r>
          </a:p>
          <a:p>
            <a:pPr>
              <a:lnSpc>
                <a:spcPct val="80000"/>
              </a:lnSpc>
              <a:spcBef>
                <a:spcPts val="0"/>
              </a:spcBef>
              <a:spcAft>
                <a:spcPts val="0"/>
              </a:spcAft>
            </a:pPr>
            <a:r>
              <a:rPr sz="484" b="0">
                <a:solidFill>
                  <a:srgbClr val="F3F3F3"/>
                </a:solidFill>
                <a:latin typeface="Noto Sans"/>
              </a:rPr>
              <a:t>  EMPLEO EN LOS SECTORES DE TyR  ·  12</a:t>
            </a:r>
          </a:p>
          <a:p>
            <a:pPr>
              <a:lnSpc>
                <a:spcPct val="80000"/>
              </a:lnSpc>
              <a:spcBef>
                <a:spcPts val="0"/>
              </a:spcBef>
              <a:spcAft>
                <a:spcPts val="0"/>
              </a:spcAft>
            </a:pPr>
            <a:r>
              <a:rPr sz="484" b="0">
                <a:solidFill>
                  <a:srgbClr val="F3F3F3"/>
                </a:solidFill>
                <a:latin typeface="Noto Sans"/>
              </a:rPr>
              <a:t>  ÍNDICES DE PRECIOS  ·  13</a:t>
            </a:r>
          </a:p>
          <a:p>
            <a:pPr>
              <a:lnSpc>
                <a:spcPct val="80000"/>
              </a:lnSpc>
              <a:spcBef>
                <a:spcPts val="0"/>
              </a:spcBef>
              <a:spcAft>
                <a:spcPts val="0"/>
              </a:spcAft>
            </a:pPr>
            <a:r>
              <a:rPr sz="484" b="0">
                <a:solidFill>
                  <a:srgbClr val="F3F3F3"/>
                </a:solidFill>
                <a:latin typeface="Noto Sans"/>
              </a:rPr>
              <a:t>  INVERSIÓN PRIVADA EN TELECOMUNICACIONES  ·  14</a:t>
            </a:r>
          </a:p>
          <a:p>
            <a:pPr>
              <a:lnSpc>
                <a:spcPct val="80000"/>
              </a:lnSpc>
              <a:spcBef>
                <a:spcPts val="0"/>
              </a:spcBef>
              <a:spcAft>
                <a:spcPts val="0"/>
              </a:spcAft>
            </a:pPr>
            <a:r>
              <a:rPr sz="484" b="0">
                <a:solidFill>
                  <a:srgbClr val="F3F3F3"/>
                </a:solidFill>
                <a:latin typeface="Noto Sans"/>
              </a:rPr>
              <a:t>  FLUJOS DE INVERSIÓN EXTRANJERA DIRECTA  ·  15</a:t>
            </a:r>
          </a:p>
          <a:p>
            <a:pPr>
              <a:lnSpc>
                <a:spcPct val="80000"/>
              </a:lnSpc>
              <a:spcBef>
                <a:spcPts val="0"/>
              </a:spcBef>
              <a:spcAft>
                <a:spcPts val="0"/>
              </a:spcAft>
            </a:pPr>
            <a:r>
              <a:rPr sz="484" b="0">
                <a:solidFill>
                  <a:srgbClr val="F3F3F3"/>
                </a:solidFill>
                <a:latin typeface="Noto Sans"/>
              </a:rPr>
              <a:t>  INGRESOS, EGRESOS Y MARGEN DEL SECTOR DE TELECOMUNICACIONES  ·  16</a:t>
            </a:r>
          </a:p>
          <a:p>
            <a:pPr>
              <a:lnSpc>
                <a:spcPct val="80000"/>
              </a:lnSpc>
              <a:spcBef>
                <a:spcPts val="0"/>
              </a:spcBef>
              <a:spcAft>
                <a:spcPts val="0"/>
              </a:spcAft>
            </a:pPr>
            <a:r>
              <a:rPr sz="484" b="0">
                <a:solidFill>
                  <a:srgbClr val="F3F3F3"/>
                </a:solidFill>
                <a:latin typeface="Noto Sans"/>
              </a:rPr>
              <a:t>  INGRESO Y GASTO DE LOS HOGARES EN TELECOMUNICACIONES FIJAS  ·  17</a:t>
            </a:r>
          </a:p>
          <a:p>
            <a:pPr>
              <a:lnSpc>
                <a:spcPct val="80000"/>
              </a:lnSpc>
              <a:spcBef>
                <a:spcPts val="0"/>
              </a:spcBef>
              <a:spcAft>
                <a:spcPts val="0"/>
              </a:spcAft>
            </a:pPr>
            <a:r>
              <a:rPr sz="484" b="0">
                <a:solidFill>
                  <a:srgbClr val="F3F3F3"/>
                </a:solidFill>
                <a:latin typeface="Noto Sans"/>
              </a:rPr>
              <a:t>  INGRESO Y GASTO DE LOS HOGARES EN TELECOMUNICACIONES MÓVILES  ·  19</a:t>
            </a:r>
          </a:p>
          <a:p>
            <a:pPr>
              <a:lnSpc>
                <a:spcPct val="80000"/>
              </a:lnSpc>
              <a:spcBef>
                <a:spcPts val="0"/>
              </a:spcBef>
              <a:spcAft>
                <a:spcPts val="0"/>
              </a:spcAft>
            </a:pPr>
            <a:r>
              <a:rPr sz="484" b="0">
                <a:solidFill>
                  <a:srgbClr val="F3F3F3"/>
                </a:solidFill>
                <a:latin typeface="Noto Sans"/>
              </a:rPr>
              <a:t>B. SERVICIOS FIJOS DE TELECOMUNICACIONES  ·  21</a:t>
            </a:r>
          </a:p>
          <a:p>
            <a:pPr>
              <a:lnSpc>
                <a:spcPct val="80000"/>
              </a:lnSpc>
              <a:spcBef>
                <a:spcPts val="0"/>
              </a:spcBef>
              <a:spcAft>
                <a:spcPts val="0"/>
              </a:spcAft>
            </a:pPr>
            <a:r>
              <a:rPr sz="484" b="0">
                <a:solidFill>
                  <a:srgbClr val="F3F3F3"/>
                </a:solidFill>
                <a:latin typeface="Noto Sans"/>
              </a:rPr>
              <a:t>  SERVICIOS FIJOS DE TELECOMUNICACIONES EN LOS HOGARES  ·  21</a:t>
            </a:r>
          </a:p>
          <a:p>
            <a:pPr>
              <a:lnSpc>
                <a:spcPct val="80000"/>
              </a:lnSpc>
              <a:spcBef>
                <a:spcPts val="0"/>
              </a:spcBef>
              <a:spcAft>
                <a:spcPts val="0"/>
              </a:spcAft>
            </a:pPr>
            <a:r>
              <a:rPr sz="484" b="0">
                <a:solidFill>
                  <a:srgbClr val="F3F3F3"/>
                </a:solidFill>
                <a:latin typeface="Noto Sans"/>
              </a:rPr>
              <a:t>  SERVICIO FIJO DE TELEFONÍA  ·  24</a:t>
            </a:r>
          </a:p>
          <a:p>
            <a:pPr>
              <a:lnSpc>
                <a:spcPct val="80000"/>
              </a:lnSpc>
              <a:spcBef>
                <a:spcPts val="0"/>
              </a:spcBef>
              <a:spcAft>
                <a:spcPts val="0"/>
              </a:spcAft>
            </a:pPr>
            <a:r>
              <a:rPr sz="484" b="0">
                <a:solidFill>
                  <a:srgbClr val="F3F3F3"/>
                </a:solidFill>
                <a:latin typeface="Noto Sans"/>
              </a:rPr>
              <a:t>  SERVICIO FIJO DE ACCESO A INTERNET  ·  31</a:t>
            </a:r>
          </a:p>
          <a:p>
            <a:pPr>
              <a:lnSpc>
                <a:spcPct val="80000"/>
              </a:lnSpc>
              <a:spcBef>
                <a:spcPts val="0"/>
              </a:spcBef>
              <a:spcAft>
                <a:spcPts val="0"/>
              </a:spcAft>
            </a:pPr>
            <a:r>
              <a:rPr sz="484" b="0">
                <a:solidFill>
                  <a:srgbClr val="F3F3F3"/>
                </a:solidFill>
                <a:latin typeface="Noto Sans"/>
              </a:rPr>
              <a:t>  SERVICIO DE TELEVISIÓN RESTRINGIDA  ·  39</a:t>
            </a:r>
          </a:p>
          <a:p>
            <a:pPr>
              <a:lnSpc>
                <a:spcPct val="80000"/>
              </a:lnSpc>
              <a:spcBef>
                <a:spcPts val="0"/>
              </a:spcBef>
              <a:spcAft>
                <a:spcPts val="0"/>
              </a:spcAft>
            </a:pPr>
            <a:r>
              <a:rPr sz="484" b="0">
                <a:solidFill>
                  <a:srgbClr val="F3F3F3"/>
                </a:solidFill>
                <a:latin typeface="Noto Sans"/>
              </a:rPr>
              <a:t>C. SERVICIOS MÓVILES DE TELECOMUNICACIONES  ·  46</a:t>
            </a:r>
          </a:p>
          <a:p>
            <a:pPr>
              <a:lnSpc>
                <a:spcPct val="80000"/>
              </a:lnSpc>
              <a:spcBef>
                <a:spcPts val="0"/>
              </a:spcBef>
              <a:spcAft>
                <a:spcPts val="0"/>
              </a:spcAft>
            </a:pPr>
            <a:r>
              <a:rPr sz="484" b="0">
                <a:solidFill>
                  <a:srgbClr val="F3F3F3"/>
                </a:solidFill>
                <a:latin typeface="Noto Sans"/>
              </a:rPr>
              <a:t>  DISTRIBUCIÓN DEL ESPECTRO RADIOELÉCTRICO POR BANDA DE FRECUENCIA  ·  46</a:t>
            </a:r>
          </a:p>
          <a:p>
            <a:pPr>
              <a:lnSpc>
                <a:spcPct val="80000"/>
              </a:lnSpc>
              <a:spcBef>
                <a:spcPts val="0"/>
              </a:spcBef>
              <a:spcAft>
                <a:spcPts val="0"/>
              </a:spcAft>
            </a:pPr>
            <a:r>
              <a:rPr sz="484" b="0">
                <a:solidFill>
                  <a:srgbClr val="F3F3F3"/>
                </a:solidFill>
                <a:latin typeface="Noto Sans"/>
              </a:rPr>
              <a:t>  DISTRIBUCIÓN DEL ESPECTRO RADIOELÉCTRICO POR OPERADOR  ·  47</a:t>
            </a:r>
          </a:p>
          <a:p>
            <a:pPr>
              <a:lnSpc>
                <a:spcPct val="80000"/>
              </a:lnSpc>
              <a:spcBef>
                <a:spcPts val="0"/>
              </a:spcBef>
              <a:spcAft>
                <a:spcPts val="0"/>
              </a:spcAft>
            </a:pPr>
            <a:r>
              <a:rPr sz="484" b="0">
                <a:solidFill>
                  <a:srgbClr val="F3F3F3"/>
                </a:solidFill>
                <a:latin typeface="Noto Sans"/>
              </a:rPr>
              <a:t>  USO DE LOS SERVICIOS MÓVILES DE TELECOMUNICACIONES POR LA POBLACIÓN  ·  48</a:t>
            </a:r>
          </a:p>
          <a:p>
            <a:pPr>
              <a:lnSpc>
                <a:spcPct val="80000"/>
              </a:lnSpc>
              <a:spcBef>
                <a:spcPts val="0"/>
              </a:spcBef>
              <a:spcAft>
                <a:spcPts val="0"/>
              </a:spcAft>
            </a:pPr>
            <a:r>
              <a:rPr sz="484" b="0">
                <a:solidFill>
                  <a:srgbClr val="F3F3F3"/>
                </a:solidFill>
                <a:latin typeface="Noto Sans"/>
              </a:rPr>
              <a:t>  SERVICIO MÓVIL DE TELEFONÍA  ·  49</a:t>
            </a:r>
          </a:p>
          <a:p>
            <a:pPr>
              <a:lnSpc>
                <a:spcPct val="80000"/>
              </a:lnSpc>
              <a:spcBef>
                <a:spcPts val="0"/>
              </a:spcBef>
              <a:spcAft>
                <a:spcPts val="0"/>
              </a:spcAft>
            </a:pPr>
            <a:r>
              <a:rPr sz="484" b="0">
                <a:solidFill>
                  <a:srgbClr val="F3F3F3"/>
                </a:solidFill>
                <a:latin typeface="Noto Sans"/>
              </a:rPr>
              <a:t>  SERVICIO MÓVIL DE ACCESO A INTERNET  ·  55</a:t>
            </a:r>
          </a:p>
          <a:p>
            <a:pPr>
              <a:lnSpc>
                <a:spcPct val="80000"/>
              </a:lnSpc>
              <a:spcBef>
                <a:spcPts val="0"/>
              </a:spcBef>
              <a:spcAft>
                <a:spcPts val="0"/>
              </a:spcAft>
            </a:pPr>
            <a:r>
              <a:rPr sz="484" b="0">
                <a:solidFill>
                  <a:srgbClr val="F3F3F3"/>
                </a:solidFill>
                <a:latin typeface="Noto Sans"/>
              </a:rPr>
              <a:t>D. TECNOLOGÍAS DE LA INFORMACIÓN Y COMUNICACIÓN (TIC)  ·  61</a:t>
            </a:r>
          </a:p>
          <a:p>
            <a:pPr>
              <a:lnSpc>
                <a:spcPct val="80000"/>
              </a:lnSpc>
              <a:spcBef>
                <a:spcPts val="0"/>
              </a:spcBef>
              <a:spcAft>
                <a:spcPts val="0"/>
              </a:spcAft>
            </a:pPr>
            <a:r>
              <a:rPr sz="484" b="0">
                <a:solidFill>
                  <a:srgbClr val="F3F3F3"/>
                </a:solidFill>
                <a:latin typeface="Noto Sans"/>
              </a:rPr>
              <a:t>  DISPONIBILIDAD DE LAS TECNOLOGÍAS DE LA INFORMACIÓN Y COMUNICACIÓN (TIC) EN LOS HOGARES  ·  61</a:t>
            </a:r>
          </a:p>
          <a:p>
            <a:pPr>
              <a:lnSpc>
                <a:spcPct val="80000"/>
              </a:lnSpc>
              <a:spcBef>
                <a:spcPts val="0"/>
              </a:spcBef>
              <a:spcAft>
                <a:spcPts val="0"/>
              </a:spcAft>
            </a:pPr>
            <a:r>
              <a:rPr sz="484" b="0">
                <a:solidFill>
                  <a:srgbClr val="F3F3F3"/>
                </a:solidFill>
                <a:latin typeface="Noto Sans"/>
              </a:rPr>
              <a:t>  USO DE SMARTPHONE E INTERNET POR GRUPOS DE EDAD  ·  62</a:t>
            </a:r>
          </a:p>
          <a:p>
            <a:pPr>
              <a:lnSpc>
                <a:spcPct val="80000"/>
              </a:lnSpc>
              <a:spcBef>
                <a:spcPts val="0"/>
              </a:spcBef>
              <a:spcAft>
                <a:spcPts val="0"/>
              </a:spcAft>
            </a:pPr>
            <a:r>
              <a:rPr sz="484" b="0">
                <a:solidFill>
                  <a:srgbClr val="F3F3F3"/>
                </a:solidFill>
                <a:latin typeface="Noto Sans"/>
              </a:rPr>
              <a:t>  PORCENTAJE DE HORAS PROMEDIO DE USO DE INTERNET POR GRUPOS DE EDAD  ·  63</a:t>
            </a:r>
          </a:p>
          <a:p>
            <a:pPr>
              <a:lnSpc>
                <a:spcPct val="80000"/>
              </a:lnSpc>
              <a:spcBef>
                <a:spcPts val="0"/>
              </a:spcBef>
              <a:spcAft>
                <a:spcPts val="0"/>
              </a:spcAft>
            </a:pPr>
            <a:r>
              <a:rPr sz="484" b="0">
                <a:solidFill>
                  <a:srgbClr val="F3F3F3"/>
                </a:solidFill>
                <a:latin typeface="Noto Sans"/>
              </a:rPr>
              <a:t>  USO DE DISPOSITIVOS INTELIGENTES CONECTADOS A INTERNET  ·  64</a:t>
            </a:r>
          </a:p>
          <a:p>
            <a:pPr>
              <a:lnSpc>
                <a:spcPct val="80000"/>
              </a:lnSpc>
              <a:spcBef>
                <a:spcPts val="0"/>
              </a:spcBef>
              <a:spcAft>
                <a:spcPts val="0"/>
              </a:spcAft>
            </a:pPr>
            <a:r>
              <a:rPr sz="484" b="0">
                <a:solidFill>
                  <a:srgbClr val="F3F3F3"/>
                </a:solidFill>
                <a:latin typeface="Noto Sans"/>
              </a:rPr>
              <a:t>  EFECTOS DE LA DESCONFIANZA EN INTERNET SOBRE LAS ACTIVIDADES EN LÍNEA DE LOS USUARIOS  ·  65</a:t>
            </a:r>
          </a:p>
          <a:p>
            <a:pPr>
              <a:lnSpc>
                <a:spcPct val="80000"/>
              </a:lnSpc>
              <a:spcBef>
                <a:spcPts val="0"/>
              </a:spcBef>
              <a:spcAft>
                <a:spcPts val="0"/>
              </a:spcAft>
            </a:pPr>
            <a:r>
              <a:rPr sz="484" b="0">
                <a:solidFill>
                  <a:srgbClr val="F3F3F3"/>
                </a:solidFill>
                <a:latin typeface="Noto Sans"/>
              </a:rPr>
              <a:t>  PERCEPCIÓN O GRADO DE CONFIANZA QUE TIENEN LAS PERSONAS AL HACER USO DEL INTERNET  ·  68</a:t>
            </a:r>
          </a:p>
          <a:p>
            <a:pPr>
              <a:lnSpc>
                <a:spcPct val="80000"/>
              </a:lnSpc>
              <a:spcBef>
                <a:spcPts val="0"/>
              </a:spcBef>
              <a:spcAft>
                <a:spcPts val="0"/>
              </a:spcAft>
            </a:pPr>
            <a:r>
              <a:rPr sz="484" b="0">
                <a:solidFill>
                  <a:srgbClr val="F3F3F3"/>
                </a:solidFill>
                <a:latin typeface="Noto Sans"/>
              </a:rPr>
              <a:t>  PERCEPCIÓN SEGÚN NIVEL DE SEGURIDAD QUE TIENEN LAS PERSONAS USUARIAS DE INTERNET AL REALIZAR DIFERENTES ACTIVIDADES EN INTERNET  ·  69</a:t>
            </a:r>
          </a:p>
          <a:p>
            <a:pPr>
              <a:lnSpc>
                <a:spcPct val="80000"/>
              </a:lnSpc>
              <a:spcBef>
                <a:spcPts val="0"/>
              </a:spcBef>
              <a:spcAft>
                <a:spcPts val="0"/>
              </a:spcAft>
            </a:pPr>
            <a:r>
              <a:rPr sz="484" b="0">
                <a:solidFill>
                  <a:srgbClr val="F3F3F3"/>
                </a:solidFill>
                <a:latin typeface="Noto Sans"/>
              </a:rPr>
              <a:t>  POBLACIÓN USUARIA DE INTERNET SEGÚN NIVEL DE SEGURIDAD QUE CONSIDERAN, TIENE REALIZAR DIFERENTES ACTIVIDADES EN INTERNET (POR SEXO)  ·  71</a:t>
            </a:r>
          </a:p>
          <a:p>
            <a:pPr>
              <a:lnSpc>
                <a:spcPct val="80000"/>
              </a:lnSpc>
              <a:spcBef>
                <a:spcPts val="0"/>
              </a:spcBef>
              <a:spcAft>
                <a:spcPts val="0"/>
              </a:spcAft>
            </a:pPr>
            <a:r>
              <a:rPr sz="484" b="0">
                <a:solidFill>
                  <a:srgbClr val="F3F3F3"/>
                </a:solidFill>
                <a:latin typeface="Noto Sans"/>
              </a:rPr>
              <a:t>E. PERSONAS USUARIAS DE SERVICIOS DE TELECOMUNICACIONES  ·  72</a:t>
            </a:r>
          </a:p>
          <a:p>
            <a:pPr>
              <a:lnSpc>
                <a:spcPct val="80000"/>
              </a:lnSpc>
              <a:spcBef>
                <a:spcPts val="0"/>
              </a:spcBef>
              <a:spcAft>
                <a:spcPts val="0"/>
              </a:spcAft>
            </a:pPr>
            <a:r>
              <a:rPr sz="484" b="0">
                <a:solidFill>
                  <a:srgbClr val="F3F3F3"/>
                </a:solidFill>
                <a:latin typeface="Noto Sans"/>
              </a:rPr>
              <a:t>  ÍNDICE GENERAL DE SATISFACIÓN DE LOS SERVICIOS DE TELECOMUNICACIONES EN PERSONAS USUARIAS  ·  72</a:t>
            </a:r>
          </a:p>
          <a:p>
            <a:pPr>
              <a:lnSpc>
                <a:spcPct val="80000"/>
              </a:lnSpc>
              <a:spcBef>
                <a:spcPts val="0"/>
              </a:spcBef>
              <a:spcAft>
                <a:spcPts val="0"/>
              </a:spcAft>
            </a:pPr>
            <a:r>
              <a:rPr sz="484" b="0">
                <a:solidFill>
                  <a:srgbClr val="F3F3F3"/>
                </a:solidFill>
                <a:latin typeface="Noto Sans"/>
              </a:rPr>
              <a:t>  USO, CONOCIMIENTO Y PERCEPCIÓN DE LA INTELIGENCIA ARTIFICIAL (IA) Y CHAT GPT  ·  73</a:t>
            </a:r>
          </a:p>
          <a:p>
            <a:pPr>
              <a:lnSpc>
                <a:spcPct val="80000"/>
              </a:lnSpc>
              <a:spcBef>
                <a:spcPts val="0"/>
              </a:spcBef>
              <a:spcAft>
                <a:spcPts val="0"/>
              </a:spcAft>
            </a:pPr>
            <a:r>
              <a:rPr sz="484" b="0">
                <a:solidFill>
                  <a:srgbClr val="F3F3F3"/>
                </a:solidFill>
                <a:latin typeface="Noto Sans"/>
              </a:rPr>
              <a:t>  ÍNDICE GENERAL DE SATISFACIÓN DE LOS SERVICIOS DE TELECOMUNICACIONES EN EMPRESAS  ·  74</a:t>
            </a:r>
          </a:p>
          <a:p>
            <a:pPr>
              <a:lnSpc>
                <a:spcPct val="80000"/>
              </a:lnSpc>
              <a:spcBef>
                <a:spcPts val="0"/>
              </a:spcBef>
              <a:spcAft>
                <a:spcPts val="0"/>
              </a:spcAft>
            </a:pPr>
            <a:r>
              <a:rPr sz="484" b="0">
                <a:solidFill>
                  <a:srgbClr val="F3F3F3"/>
                </a:solidFill>
                <a:latin typeface="Noto Sans"/>
              </a:rPr>
              <a:t>  SERVICIOS CONTRATADOS POR LAS MICRO, PEQUEÑAS Y MEDIANAS EMPRESAS  ·  75</a:t>
            </a:r>
          </a:p>
          <a:p>
            <a:pPr>
              <a:lnSpc>
                <a:spcPct val="80000"/>
              </a:lnSpc>
              <a:spcBef>
                <a:spcPts val="0"/>
              </a:spcBef>
              <a:spcAft>
                <a:spcPts val="0"/>
              </a:spcAft>
            </a:pPr>
            <a:r>
              <a:rPr sz="484" b="0">
                <a:solidFill>
                  <a:srgbClr val="F3F3F3"/>
                </a:solidFill>
                <a:latin typeface="Noto Sans"/>
              </a:rPr>
              <a:t>  USO DE LOS SERVICIOS DE TELECOMUNICACIONES PARA REALIZAR ACTIVIDADES DE IMPORTACIÓN Y/O EXPORTACIÓN  ·  80</a:t>
            </a:r>
          </a:p>
        </p:txBody>
      </p:sp>
      <p:sp>
        <p:nvSpPr>
          <p:cNvPr id="157" name="ANUARIO_INDEX_RIGHT"/>
          <p:cNvSpPr txBox="1"/>
          <p:nvPr/>
        </p:nvSpPr>
        <p:spPr>
          <a:xfrm>
            <a:off x="4681728" y="1307592"/>
            <a:ext cx="4050791" cy="3182112"/>
          </a:xfrm>
          <a:prstGeom prst="rect">
            <a:avLst/>
          </a:prstGeom>
          <a:noFill/>
        </p:spPr>
        <p:txBody>
          <a:bodyPr wrap="square" anchor="t" lIns="18288" rIns="18288" tIns="0" bIns="0">
            <a:noAutofit/>
          </a:bodyPr>
          <a:lstStyle/>
          <a:p>
            <a:pPr>
              <a:lnSpc>
                <a:spcPct val="80000"/>
              </a:lnSpc>
              <a:spcBef>
                <a:spcPts val="0"/>
              </a:spcBef>
              <a:spcAft>
                <a:spcPts val="0"/>
              </a:spcAft>
            </a:pPr>
            <a:r>
              <a:rPr sz="484" b="0">
                <a:solidFill>
                  <a:srgbClr val="F3F3F3"/>
                </a:solidFill>
                <a:latin typeface="Noto Sans"/>
              </a:rPr>
              <a:t>F. INDICADORES CON PERSPECTIVA DE GÉNERO  ·  81</a:t>
            </a:r>
          </a:p>
          <a:p>
            <a:pPr>
              <a:lnSpc>
                <a:spcPct val="80000"/>
              </a:lnSpc>
              <a:spcBef>
                <a:spcPts val="0"/>
              </a:spcBef>
              <a:spcAft>
                <a:spcPts val="0"/>
              </a:spcAft>
            </a:pPr>
            <a:r>
              <a:rPr sz="484" b="0">
                <a:solidFill>
                  <a:srgbClr val="F3F3F3"/>
                </a:solidFill>
                <a:latin typeface="Noto Sans"/>
              </a:rPr>
              <a:t>  ACTIVIDADES EN EL TELÉFONO CELULAR INTELIGENTE  ·  81</a:t>
            </a:r>
          </a:p>
          <a:p>
            <a:pPr>
              <a:lnSpc>
                <a:spcPct val="80000"/>
              </a:lnSpc>
              <a:spcBef>
                <a:spcPts val="0"/>
              </a:spcBef>
              <a:spcAft>
                <a:spcPts val="0"/>
              </a:spcAft>
            </a:pPr>
            <a:r>
              <a:rPr sz="484" b="0">
                <a:solidFill>
                  <a:srgbClr val="F3F3F3"/>
                </a:solidFill>
                <a:latin typeface="Noto Sans"/>
              </a:rPr>
              <a:t>  ACTIVIDADES REALIZADAS EN INTERNET  ·  81</a:t>
            </a:r>
          </a:p>
          <a:p>
            <a:pPr>
              <a:lnSpc>
                <a:spcPct val="80000"/>
              </a:lnSpc>
              <a:spcBef>
                <a:spcPts val="0"/>
              </a:spcBef>
              <a:spcAft>
                <a:spcPts val="0"/>
              </a:spcAft>
            </a:pPr>
            <a:r>
              <a:rPr sz="484" b="0">
                <a:solidFill>
                  <a:srgbClr val="F3F3F3"/>
                </a:solidFill>
                <a:latin typeface="Noto Sans"/>
              </a:rPr>
              <a:t>  PERSONAS EMPLEADAS EN TELECOMUNICACIONES Y RADIODIFUSIÓN  ·  86</a:t>
            </a:r>
          </a:p>
          <a:p>
            <a:pPr>
              <a:lnSpc>
                <a:spcPct val="80000"/>
              </a:lnSpc>
              <a:spcBef>
                <a:spcPts val="0"/>
              </a:spcBef>
              <a:spcAft>
                <a:spcPts val="0"/>
              </a:spcAft>
            </a:pPr>
            <a:r>
              <a:rPr sz="484" b="0">
                <a:solidFill>
                  <a:srgbClr val="F3F3F3"/>
                </a:solidFill>
                <a:latin typeface="Noto Sans"/>
              </a:rPr>
              <a:t>  CIBERACOSO  ·  87</a:t>
            </a:r>
          </a:p>
          <a:p>
            <a:pPr>
              <a:lnSpc>
                <a:spcPct val="80000"/>
              </a:lnSpc>
              <a:spcBef>
                <a:spcPts val="0"/>
              </a:spcBef>
              <a:spcAft>
                <a:spcPts val="0"/>
              </a:spcAft>
            </a:pPr>
            <a:r>
              <a:rPr sz="484" b="0">
                <a:solidFill>
                  <a:srgbClr val="F3F3F3"/>
                </a:solidFill>
                <a:latin typeface="Noto Sans"/>
              </a:rPr>
              <a:t>  MEDIDAS DE PROTECCIÓN QUE TOMAN LAS PERSONAS USUARIAS ANTE LA VIOLENCIA DIGITAL.  ·  98</a:t>
            </a:r>
          </a:p>
          <a:p>
            <a:pPr>
              <a:lnSpc>
                <a:spcPct val="80000"/>
              </a:lnSpc>
              <a:spcBef>
                <a:spcPts val="0"/>
              </a:spcBef>
              <a:spcAft>
                <a:spcPts val="0"/>
              </a:spcAft>
            </a:pPr>
            <a:r>
              <a:rPr sz="484" b="0">
                <a:solidFill>
                  <a:srgbClr val="F3F3F3"/>
                </a:solidFill>
                <a:latin typeface="Noto Sans"/>
              </a:rPr>
              <a:t>  ACCIONES REALIZADAS POR LAS PERSONAS USUARIAS PARA PROTEGERSE O PREVENIR LA VIOLENCIA DIGITAL A TRAVÉS DE INTERNET (POR SEXO).  ·  99</a:t>
            </a:r>
          </a:p>
          <a:p>
            <a:pPr>
              <a:lnSpc>
                <a:spcPct val="80000"/>
              </a:lnSpc>
              <a:spcBef>
                <a:spcPts val="0"/>
              </a:spcBef>
              <a:spcAft>
                <a:spcPts val="0"/>
              </a:spcAft>
            </a:pPr>
            <a:r>
              <a:rPr sz="484" b="0">
                <a:solidFill>
                  <a:srgbClr val="F3F3F3"/>
                </a:solidFill>
                <a:latin typeface="Noto Sans"/>
              </a:rPr>
              <a:t>  ACCIONES QUE REALIZARÍAN LAS PERSONAS USUARIAS EN CASO DE EXPERIMENTAR VIOLENCIA DIGITAL A TRAVÉS DE INTERNET (POR SEXO).  ·  100</a:t>
            </a:r>
          </a:p>
          <a:p>
            <a:pPr>
              <a:lnSpc>
                <a:spcPct val="80000"/>
              </a:lnSpc>
              <a:spcBef>
                <a:spcPts val="0"/>
              </a:spcBef>
              <a:spcAft>
                <a:spcPts val="0"/>
              </a:spcAft>
            </a:pPr>
            <a:r>
              <a:rPr sz="484" b="0">
                <a:solidFill>
                  <a:srgbClr val="F3F3F3"/>
                </a:solidFill>
                <a:latin typeface="Noto Sans"/>
              </a:rPr>
              <a:t>G. INDICADORES DE RADIODIFUSIÓN  ·  101</a:t>
            </a:r>
          </a:p>
          <a:p>
            <a:pPr>
              <a:lnSpc>
                <a:spcPct val="80000"/>
              </a:lnSpc>
              <a:spcBef>
                <a:spcPts val="0"/>
              </a:spcBef>
              <a:spcAft>
                <a:spcPts val="0"/>
              </a:spcAft>
            </a:pPr>
            <a:r>
              <a:rPr sz="484" b="0">
                <a:solidFill>
                  <a:srgbClr val="F3F3F3"/>
                </a:solidFill>
                <a:latin typeface="Noto Sans"/>
              </a:rPr>
              <a:t>H. CONSUMO DE RADIO Y TELEVISIÓN  ·  102</a:t>
            </a:r>
          </a:p>
          <a:p>
            <a:pPr>
              <a:lnSpc>
                <a:spcPct val="80000"/>
              </a:lnSpc>
              <a:spcBef>
                <a:spcPts val="0"/>
              </a:spcBef>
              <a:spcAft>
                <a:spcPts val="0"/>
              </a:spcAft>
            </a:pPr>
            <a:r>
              <a:rPr sz="484" b="0">
                <a:solidFill>
                  <a:srgbClr val="F3F3F3"/>
                </a:solidFill>
                <a:latin typeface="Noto Sans"/>
              </a:rPr>
              <a:t>  NIVEL DE EXPOSICIÓN A LA TELEVISIÓN A NIVEL NACIONAL (28 CIUDADES)  ·  102</a:t>
            </a:r>
          </a:p>
          <a:p>
            <a:pPr>
              <a:lnSpc>
                <a:spcPct val="80000"/>
              </a:lnSpc>
              <a:spcBef>
                <a:spcPts val="0"/>
              </a:spcBef>
              <a:spcAft>
                <a:spcPts val="0"/>
              </a:spcAft>
            </a:pPr>
            <a:r>
              <a:rPr sz="484" b="0">
                <a:solidFill>
                  <a:srgbClr val="F3F3F3"/>
                </a:solidFill>
                <a:latin typeface="Noto Sans"/>
              </a:rPr>
              <a:t>  HORAS DEDICADAS Y NIVELES DE AUDIENCIA POR GÉNERO DE PROGRAMACIÓN A NIVEL NACIONAL (28 CIUDADES)  ·  103</a:t>
            </a:r>
          </a:p>
          <a:p>
            <a:pPr>
              <a:lnSpc>
                <a:spcPct val="80000"/>
              </a:lnSpc>
              <a:spcBef>
                <a:spcPts val="0"/>
              </a:spcBef>
              <a:spcAft>
                <a:spcPts val="0"/>
              </a:spcAft>
            </a:pPr>
            <a:r>
              <a:rPr sz="484" b="0">
                <a:solidFill>
                  <a:srgbClr val="F3F3F3"/>
                </a:solidFill>
                <a:latin typeface="Noto Sans"/>
              </a:rPr>
              <a:t>  NIVEL DE EXPOSICIÓN A LA TELEVISIÓN EN CIUDAD DE MÉXICO  ·  104</a:t>
            </a:r>
          </a:p>
          <a:p>
            <a:pPr>
              <a:lnSpc>
                <a:spcPct val="80000"/>
              </a:lnSpc>
              <a:spcBef>
                <a:spcPts val="0"/>
              </a:spcBef>
              <a:spcAft>
                <a:spcPts val="0"/>
              </a:spcAft>
            </a:pPr>
            <a:r>
              <a:rPr sz="484" b="0">
                <a:solidFill>
                  <a:srgbClr val="F3F3F3"/>
                </a:solidFill>
                <a:latin typeface="Noto Sans"/>
              </a:rPr>
              <a:t>  HORAS DEDICADAS Y NIVELES DE AUDIENCIA POR GÉNERO DE PROGRAMACIÓN EN LA CIUDAD DE MÉXICO  ·  105</a:t>
            </a:r>
          </a:p>
          <a:p>
            <a:pPr>
              <a:lnSpc>
                <a:spcPct val="80000"/>
              </a:lnSpc>
              <a:spcBef>
                <a:spcPts val="0"/>
              </a:spcBef>
              <a:spcAft>
                <a:spcPts val="0"/>
              </a:spcAft>
            </a:pPr>
            <a:r>
              <a:rPr sz="484" b="0">
                <a:solidFill>
                  <a:srgbClr val="F3F3F3"/>
                </a:solidFill>
                <a:latin typeface="Noto Sans"/>
              </a:rPr>
              <a:t>  NIVEL DE EXPOSICIÓN A LA TELEVISIÓN EN GUADALAJARA  ·  106</a:t>
            </a:r>
          </a:p>
          <a:p>
            <a:pPr>
              <a:lnSpc>
                <a:spcPct val="80000"/>
              </a:lnSpc>
              <a:spcBef>
                <a:spcPts val="0"/>
              </a:spcBef>
              <a:spcAft>
                <a:spcPts val="0"/>
              </a:spcAft>
            </a:pPr>
            <a:r>
              <a:rPr sz="484" b="0">
                <a:solidFill>
                  <a:srgbClr val="F3F3F3"/>
                </a:solidFill>
                <a:latin typeface="Noto Sans"/>
              </a:rPr>
              <a:t>  HORAS DEDICADAS Y NIVELES DE AUDIENCIA POR GÉNERO DE PROGRAMACIÓN EN GUADALAJARA  ·  107</a:t>
            </a:r>
          </a:p>
          <a:p>
            <a:pPr>
              <a:lnSpc>
                <a:spcPct val="80000"/>
              </a:lnSpc>
              <a:spcBef>
                <a:spcPts val="0"/>
              </a:spcBef>
              <a:spcAft>
                <a:spcPts val="0"/>
              </a:spcAft>
            </a:pPr>
            <a:r>
              <a:rPr sz="484" b="0">
                <a:solidFill>
                  <a:srgbClr val="F3F3F3"/>
                </a:solidFill>
                <a:latin typeface="Noto Sans"/>
              </a:rPr>
              <a:t>  NIVEL DE EXPOSICIÓN A LA TELEVISIÓN EN MONTERREY  ·  108</a:t>
            </a:r>
          </a:p>
          <a:p>
            <a:pPr>
              <a:lnSpc>
                <a:spcPct val="80000"/>
              </a:lnSpc>
              <a:spcBef>
                <a:spcPts val="0"/>
              </a:spcBef>
              <a:spcAft>
                <a:spcPts val="0"/>
              </a:spcAft>
            </a:pPr>
            <a:r>
              <a:rPr sz="484" b="0">
                <a:solidFill>
                  <a:srgbClr val="F3F3F3"/>
                </a:solidFill>
                <a:latin typeface="Noto Sans"/>
              </a:rPr>
              <a:t>  HORAS DEDICADAS Y NIVELES DE AUDIENCIA POR GÉNERO DE PROGRAMACIÓN EN MONTERREY  ·  109</a:t>
            </a:r>
          </a:p>
          <a:p>
            <a:pPr>
              <a:lnSpc>
                <a:spcPct val="80000"/>
              </a:lnSpc>
              <a:spcBef>
                <a:spcPts val="0"/>
              </a:spcBef>
              <a:spcAft>
                <a:spcPts val="0"/>
              </a:spcAft>
            </a:pPr>
            <a:r>
              <a:rPr sz="484" b="0">
                <a:solidFill>
                  <a:srgbClr val="F3F3F3"/>
                </a:solidFill>
                <a:latin typeface="Noto Sans"/>
              </a:rPr>
              <a:t>  NIVEL DE EXPOSICIÓN A LA TELEVISIÓN EN 25 CIUDADES  ·  110</a:t>
            </a:r>
          </a:p>
          <a:p>
            <a:pPr>
              <a:lnSpc>
                <a:spcPct val="80000"/>
              </a:lnSpc>
              <a:spcBef>
                <a:spcPts val="0"/>
              </a:spcBef>
              <a:spcAft>
                <a:spcPts val="0"/>
              </a:spcAft>
            </a:pPr>
            <a:r>
              <a:rPr sz="484" b="0">
                <a:solidFill>
                  <a:srgbClr val="F3F3F3"/>
                </a:solidFill>
                <a:latin typeface="Noto Sans"/>
              </a:rPr>
              <a:t>  HORAS DEDICADAS Y NIVELES DE AUDIENCIA POR GÉNERO DE PROGRAMACIÓN EN 25 CIUDADES  ·  111</a:t>
            </a:r>
          </a:p>
          <a:p>
            <a:pPr>
              <a:lnSpc>
                <a:spcPct val="80000"/>
              </a:lnSpc>
              <a:spcBef>
                <a:spcPts val="0"/>
              </a:spcBef>
              <a:spcAft>
                <a:spcPts val="0"/>
              </a:spcAft>
            </a:pPr>
            <a:r>
              <a:rPr sz="484" b="0">
                <a:solidFill>
                  <a:srgbClr val="F3F3F3"/>
                </a:solidFill>
                <a:latin typeface="Noto Sans"/>
              </a:rPr>
              <a:t>  NIVEL DE EXPOSICIÓN A LA RADIO EN PRINCIPALES CIUDADES DEL PAÍS (CIUDAD DE MÉXICO, GUADALAJARA Y MONTERREY)  ·  112</a:t>
            </a:r>
          </a:p>
          <a:p>
            <a:pPr>
              <a:lnSpc>
                <a:spcPct val="80000"/>
              </a:lnSpc>
              <a:spcBef>
                <a:spcPts val="0"/>
              </a:spcBef>
              <a:spcAft>
                <a:spcPts val="0"/>
              </a:spcAft>
            </a:pPr>
            <a:r>
              <a:rPr sz="484" b="0">
                <a:solidFill>
                  <a:srgbClr val="F3F3F3"/>
                </a:solidFill>
                <a:latin typeface="Noto Sans"/>
              </a:rPr>
              <a:t>  NIVEL DE EXPOSICIÓN A LA RADIO EN CIUDAD DE MÉXICO  ·  113</a:t>
            </a:r>
          </a:p>
          <a:p>
            <a:pPr>
              <a:lnSpc>
                <a:spcPct val="80000"/>
              </a:lnSpc>
              <a:spcBef>
                <a:spcPts val="0"/>
              </a:spcBef>
              <a:spcAft>
                <a:spcPts val="0"/>
              </a:spcAft>
            </a:pPr>
            <a:r>
              <a:rPr sz="484" b="0">
                <a:solidFill>
                  <a:srgbClr val="F3F3F3"/>
                </a:solidFill>
                <a:latin typeface="Noto Sans"/>
              </a:rPr>
              <a:t>  NIVEL DE EXPOSICIÓN A LA RADIO EN GUADALAJARA  ·  114</a:t>
            </a:r>
          </a:p>
          <a:p>
            <a:pPr>
              <a:lnSpc>
                <a:spcPct val="80000"/>
              </a:lnSpc>
              <a:spcBef>
                <a:spcPts val="0"/>
              </a:spcBef>
              <a:spcAft>
                <a:spcPts val="0"/>
              </a:spcAft>
            </a:pPr>
            <a:r>
              <a:rPr sz="484" b="0">
                <a:solidFill>
                  <a:srgbClr val="F3F3F3"/>
                </a:solidFill>
                <a:latin typeface="Noto Sans"/>
              </a:rPr>
              <a:t>  NIVEL DE EXPOSICIÓN A LA RADIO EN MONTERREY  ·  115</a:t>
            </a:r>
          </a:p>
          <a:p>
            <a:pPr>
              <a:lnSpc>
                <a:spcPct val="80000"/>
              </a:lnSpc>
              <a:spcBef>
                <a:spcPts val="0"/>
              </a:spcBef>
              <a:spcAft>
                <a:spcPts val="0"/>
              </a:spcAft>
            </a:pPr>
            <a:r>
              <a:rPr sz="484" b="0">
                <a:solidFill>
                  <a:srgbClr val="F3F3F3"/>
                </a:solidFill>
                <a:latin typeface="Noto Sans"/>
              </a:rPr>
              <a:t>HERRAMIENTAS IFT  ·  116</a:t>
            </a:r>
          </a:p>
          <a:p>
            <a:pPr>
              <a:lnSpc>
                <a:spcPct val="80000"/>
              </a:lnSpc>
              <a:spcBef>
                <a:spcPts val="0"/>
              </a:spcBef>
              <a:spcAft>
                <a:spcPts val="0"/>
              </a:spcAft>
            </a:pPr>
            <a:r>
              <a:rPr sz="484" b="0">
                <a:solidFill>
                  <a:srgbClr val="F3F3F3"/>
                </a:solidFill>
                <a:latin typeface="Noto Sans"/>
              </a:rPr>
              <a:t>ANEXO I. RESUMEN DE INDICADORES DE TELECOMUNICACIONES Y RADIODIFUSIÓN  ·  117</a:t>
            </a:r>
          </a:p>
          <a:p>
            <a:pPr>
              <a:lnSpc>
                <a:spcPct val="80000"/>
              </a:lnSpc>
              <a:spcBef>
                <a:spcPts val="0"/>
              </a:spcBef>
              <a:spcAft>
                <a:spcPts val="0"/>
              </a:spcAft>
            </a:pPr>
            <a:r>
              <a:rPr sz="484" b="0">
                <a:solidFill>
                  <a:srgbClr val="F3F3F3"/>
                </a:solidFill>
                <a:latin typeface="Noto Sans"/>
              </a:rPr>
              <a:t>ANEXO II. DEFINICIONES  ·  121</a:t>
            </a:r>
          </a:p>
          <a:p>
            <a:pPr>
              <a:lnSpc>
                <a:spcPct val="80000"/>
              </a:lnSpc>
              <a:spcBef>
                <a:spcPts val="0"/>
              </a:spcBef>
              <a:spcAft>
                <a:spcPts val="0"/>
              </a:spcAft>
            </a:pPr>
            <a:r>
              <a:rPr sz="484" b="0">
                <a:solidFill>
                  <a:srgbClr val="F3F3F3"/>
                </a:solidFill>
                <a:latin typeface="Noto Sans"/>
              </a:rPr>
              <a:t>ANEXO III. METODOLOGÍAS  ·  126</a:t>
            </a:r>
          </a:p>
          <a:p>
            <a:pPr>
              <a:lnSpc>
                <a:spcPct val="80000"/>
              </a:lnSpc>
              <a:spcBef>
                <a:spcPts val="0"/>
              </a:spcBef>
              <a:spcAft>
                <a:spcPts val="0"/>
              </a:spcAft>
            </a:pPr>
            <a:r>
              <a:rPr sz="484" b="0">
                <a:solidFill>
                  <a:srgbClr val="F3F3F3"/>
                </a:solidFill>
                <a:latin typeface="Noto Sans"/>
              </a:rPr>
              <a:t>  SOBRE INFORMACIÓN DE SERVICIOS DE TELECOMUNICACIONES  ·  126</a:t>
            </a:r>
          </a:p>
          <a:p>
            <a:pPr>
              <a:lnSpc>
                <a:spcPct val="80000"/>
              </a:lnSpc>
              <a:spcBef>
                <a:spcPts val="0"/>
              </a:spcBef>
              <a:spcAft>
                <a:spcPts val="0"/>
              </a:spcAft>
            </a:pPr>
            <a:r>
              <a:rPr sz="484" b="0">
                <a:solidFill>
                  <a:srgbClr val="F3F3F3"/>
                </a:solidFill>
                <a:latin typeface="Noto Sans"/>
              </a:rPr>
              <a:t>  ÍNDICES DE PRECIOS  ·  126</a:t>
            </a:r>
          </a:p>
          <a:p>
            <a:pPr>
              <a:lnSpc>
                <a:spcPct val="80000"/>
              </a:lnSpc>
              <a:spcBef>
                <a:spcPts val="0"/>
              </a:spcBef>
              <a:spcAft>
                <a:spcPts val="0"/>
              </a:spcAft>
            </a:pPr>
            <a:r>
              <a:rPr sz="484" b="0">
                <a:solidFill>
                  <a:srgbClr val="F3F3F3"/>
                </a:solidFill>
                <a:latin typeface="Noto Sans"/>
              </a:rPr>
              <a:t>  SOBRE INFORMACIÓN DE INGRESO Y GASTO DE LOS HOGARES EN TELECOMUNICACIONES FIJAS Y MÓVILES  ·  127</a:t>
            </a:r>
          </a:p>
          <a:p>
            <a:pPr>
              <a:lnSpc>
                <a:spcPct val="80000"/>
              </a:lnSpc>
              <a:spcBef>
                <a:spcPts val="0"/>
              </a:spcBef>
              <a:spcAft>
                <a:spcPts val="0"/>
              </a:spcAft>
            </a:pPr>
            <a:r>
              <a:rPr sz="484" b="0">
                <a:solidFill>
                  <a:srgbClr val="F3F3F3"/>
                </a:solidFill>
                <a:latin typeface="Noto Sans"/>
              </a:rPr>
              <a:t>  CONSUMO DE RADIO Y TELEVISIÓN, PARTICULARIDADES METODOLÓGICAS  ·  128</a:t>
            </a:r>
          </a:p>
          <a:p>
            <a:pPr>
              <a:lnSpc>
                <a:spcPct val="80000"/>
              </a:lnSpc>
              <a:spcBef>
                <a:spcPts val="0"/>
              </a:spcBef>
              <a:spcAft>
                <a:spcPts val="0"/>
              </a:spcAft>
            </a:pPr>
            <a:r>
              <a:rPr sz="484" b="0">
                <a:solidFill>
                  <a:srgbClr val="F3F3F3"/>
                </a:solidFill>
                <a:latin typeface="Noto Sans"/>
              </a:rPr>
              <a:t>  ENCUESTA NACIONAL SOBRE DISPONIBILIDAD Y USO DE TECNOLOGÍAS DE LA INFORMACIÓN EN LOS HOGARES (ENDUTIH) 2023, PARTICULARIDADES METODOLÓGICAS  ·  128</a:t>
            </a:r>
          </a:p>
          <a:p>
            <a:pPr>
              <a:lnSpc>
                <a:spcPct val="80000"/>
              </a:lnSpc>
              <a:spcBef>
                <a:spcPts val="0"/>
              </a:spcBef>
              <a:spcAft>
                <a:spcPts val="0"/>
              </a:spcAft>
            </a:pPr>
            <a:r>
              <a:rPr sz="484" b="0">
                <a:solidFill>
                  <a:srgbClr val="F3F3F3"/>
                </a:solidFill>
                <a:latin typeface="Noto Sans"/>
              </a:rPr>
              <a:t>  ENCUESTA NACIONAL DE OCUPACIÓN Y EMPLEO (ENOE), POBLACIÓN DE 15 AÑOS Y MÁS DE EDAD, PARTICULARIDADES METODOLÓGICAS  ·  129</a:t>
            </a:r>
          </a:p>
          <a:p>
            <a:pPr>
              <a:lnSpc>
                <a:spcPct val="80000"/>
              </a:lnSpc>
              <a:spcBef>
                <a:spcPts val="0"/>
              </a:spcBef>
              <a:spcAft>
                <a:spcPts val="0"/>
              </a:spcAft>
            </a:pPr>
            <a:r>
              <a:rPr sz="484" b="0">
                <a:solidFill>
                  <a:srgbClr val="F3F3F3"/>
                </a:solidFill>
                <a:latin typeface="Noto Sans"/>
              </a:rPr>
              <a:t>  PRODUCTO INTERNO BRUTO (PIB), PARTICULARIDADES METODOLÓGICAS  ·  129</a:t>
            </a:r>
          </a:p>
          <a:p>
            <a:pPr>
              <a:lnSpc>
                <a:spcPct val="80000"/>
              </a:lnSpc>
              <a:spcBef>
                <a:spcPts val="0"/>
              </a:spcBef>
              <a:spcAft>
                <a:spcPts val="0"/>
              </a:spcAft>
            </a:pPr>
            <a:r>
              <a:rPr sz="484" b="0">
                <a:solidFill>
                  <a:srgbClr val="F3F3F3"/>
                </a:solidFill>
                <a:latin typeface="Noto Sans"/>
              </a:rPr>
              <a:t>ANEXO IV. MÉTODOS DE CÁLCULO DE INDICADORES  ·  130</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9d5d72c38924a16"/>
          <a:srcRect xmlns:a="http://schemas.openxmlformats.org/drawingml/2006/main" l="0" t="37" r="0" b="37"/>
          <a:stretch xmlns:a="http://schemas.openxmlformats.org/drawingml/2006/main">
            <a:fillRect l="0" t="0" r="0" b="0"/>
          </a:stretch>
        </p:blipFill>
        <p:spPr>
          <a:xfrm xmlns:a="http://schemas.openxmlformats.org/drawingml/2006/main">
            <a:off x="0" y="0"/>
            <a:ext cx="9143644" cy="456844"/>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c444f1c6cb476e"/>
          <a:srcRect xmlns:a="http://schemas.openxmlformats.org/drawingml/2006/main" l="0" t="156" r="0" b="156"/>
          <a:stretch xmlns:a="http://schemas.openxmlformats.org/drawingml/2006/main">
            <a:fillRect l="0" t="0" r="0" b="0"/>
          </a:stretch>
        </p:blipFill>
        <p:spPr>
          <a:xfrm xmlns:a="http://schemas.openxmlformats.org/drawingml/2006/main">
            <a:off x="0" y="4990683"/>
            <a:ext cx="9143644" cy="151917"/>
          </a:xfrm>
          <a:prstGeom xmlns:a="http://schemas.openxmlformats.org/drawingml/2006/main" prst="rect">
            <a:avLst/>
          </a:prstGeom>
        </p:spPr>
      </p:pic>
      <p:sp>
        <p:nvSpPr>
          <p:cNvPr id="3" name="ANUARIO_QR_FONDO">
            <a:extLst xmlns:a="http://schemas.openxmlformats.org/drawingml/2006/main">
              <a:ext uri="{FF2B5EF4-FFF2-40B4-BE49-F238E27FC236}">
                <a16:creationId xmlns:a16="http://schemas.microsoft.com/office/drawing/2014/main" id="{EE1B343B-CBB7-4ADB-A4DD-3473AA5B9F8E}"/>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279ff6ee7f4af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298c0e75084c3d"/>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TITULO">
            <a:extLst xmlns:a="http://schemas.openxmlformats.org/drawingml/2006/main">
              <a:ext uri="{FF2B5EF4-FFF2-40B4-BE49-F238E27FC236}">
                <a16:creationId xmlns:a16="http://schemas.microsoft.com/office/drawing/2014/main" id="{E13A28F4-B26D-46B7-A110-4EE4FA2EF88D}"/>
              </a:ext>
            </a:extLst>
          </p:cNvPr>
          <p:cNvSpPr>
            <a:spLocks xmlns:a="http://schemas.openxmlformats.org/drawingml/2006/main" noGrp="1"/>
          </p:cNvSpPr>
          <p:nvPr/>
        </p:nvSpPr>
        <p:spPr>
          <a:xfrm xmlns:a="http://schemas.openxmlformats.org/drawingml/2006/main">
            <a:off x="304800" y="1270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FFFFFF"/>
                </a:solidFill>
                <a:latin typeface="Noto Sans"/>
                <a:ea typeface="Noto Sans"/>
                <a:cs typeface="Noto Sans"/>
              </a:defRPr>
            </a:pPr>
            <a:r>
              <a:rPr sz="1500" b="1">
                <a:solidFill>
                  <a:srgbClr val="FFFFFF"/>
                </a:solidFill>
                <a:latin typeface="Noto Sans"/>
                <a:ea typeface="Noto Sans"/>
                <a:cs typeface="Noto Sans"/>
              </a:rPr>
              <a:t>LEGALES</a:t>
            </a:r>
          </a:p>
        </p:txBody>
      </p:sp>
      <p:sp>
        <p:nvSpPr>
          <p:cNvPr id="7" name="ANUARIO_ENCABEZADO_1">
            <a:extLst xmlns:a="http://schemas.openxmlformats.org/drawingml/2006/main">
              <a:ext uri="{FF2B5EF4-FFF2-40B4-BE49-F238E27FC236}">
                <a16:creationId xmlns:a16="http://schemas.microsoft.com/office/drawing/2014/main" id="{C4F4D267-61DF-4126-BBDD-0A466628648D}"/>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8" name="ANUARIO_ENCABEZADO_2">
            <a:extLst xmlns:a="http://schemas.openxmlformats.org/drawingml/2006/main">
              <a:ext uri="{FF2B5EF4-FFF2-40B4-BE49-F238E27FC236}">
                <a16:creationId xmlns:a16="http://schemas.microsoft.com/office/drawing/2014/main" id="{5B40B105-5F7E-4F78-8C44-8648894E5734}"/>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44a62cbf7b934b2e"/>
              </a:rPr>
              <a:t>BIT CRT · bit.crt.gob.mx/BitWebApp</a:t>
            </a:r>
          </a:p>
        </p:txBody>
      </p:sp>
      <p:sp>
        <p:nvSpPr>
          <p:cNvPr id="9" name="ANUARIO_PAGE_NUMBER">
            <a:extLst xmlns:a="http://schemas.openxmlformats.org/drawingml/2006/main">
              <a:ext uri="{FF2B5EF4-FFF2-40B4-BE49-F238E27FC236}">
                <a16:creationId xmlns:a16="http://schemas.microsoft.com/office/drawing/2014/main" id="{33691248-A250-49AD-A4F7-917A83E6C27F}"/>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rPr>
              <a:t>4</a:t>
            </a:r>
          </a:p>
        </p:txBody>
      </p:sp>
      <p:sp>
        <p:nvSpPr>
          <p:cNvPr id="10" name="ANUARIO_EDICION_PIE">
            <a:extLst xmlns:a="http://schemas.openxmlformats.org/drawingml/2006/main">
              <a:ext uri="{FF2B5EF4-FFF2-40B4-BE49-F238E27FC236}">
                <a16:creationId xmlns:a16="http://schemas.microsoft.com/office/drawing/2014/main" id="{A167F292-1B2D-4E85-8DB7-8EFF6FC0870E}"/>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FFFFFF"/>
                </a:solidFill>
                <a:latin typeface="Noto Sans"/>
                <a:ea typeface="Noto Sans"/>
                <a:cs typeface="Noto Sans"/>
              </a:defRPr>
            </a:pPr>
            <a:r>
              <a:rPr sz="565">
                <a:solidFill>
                  <a:srgbClr val="FFFFFF"/>
                </a:solidFill>
                <a:latin typeface="Noto Sans"/>
                <a:ea typeface="Noto Sans"/>
                <a:cs typeface="Noto Sans"/>
              </a:rPr>
              <a:t>A N U A R I O   E S T A D Í S T I C O   2 0 2 6</a:t>
            </a:r>
          </a:p>
        </p:txBody>
      </p:sp>
      <p:sp xmlns:a="http://schemas.openxmlformats.org/drawingml/2006/main">
        <p:nvSpPr>
          <p:cNvPr id="16" name="ANUARIO_LEGALES_CONT_DESIGN_2026"/>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xmlns:a="http://schemas.openxmlformats.org/drawingml/2006/main">
        <p:nvSpPr>
          <p:cNvPr id="17"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xmlns:a="http://schemas.openxmlformats.org/drawingml/2006/main">
        <p:nvSpPr>
          <p:cNvPr id="18"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xmlns:a="http://schemas.openxmlformats.org/drawingml/2006/main">
        <p:nvSpPr>
          <p:cNvPr id="19"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xmlns:a="http://schemas.openxmlformats.org/drawingml/2006/main">
        <p:nvSpPr>
          <p:cNvPr id="20"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xmlns:a="http://schemas.openxmlformats.org/drawingml/2006/main">
        <p:nvSpPr>
          <p:cNvPr id="21"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xmlns:a="http://schemas.openxmlformats.org/drawingml/2006/main">
        <p:nvSpPr>
          <p:cNvPr id="22"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xmlns:a="http://schemas.openxmlformats.org/drawingml/2006/main">
        <p:nvSpPr>
          <p:cNvPr id="23"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xmlns:a="http://schemas.openxmlformats.org/drawingml/2006/main">
        <p:nvSpPr>
          <p:cNvPr id="24"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xmlns:a="http://schemas.openxmlformats.org/drawingml/2006/main">
        <p:nvSpPr>
          <p:cNvPr id="25"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xmlns:a="http://schemas.openxmlformats.org/drawingml/2006/main">
        <p:nvSpPr>
          <p:cNvPr id="26"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Tree>
    <p:extLst>
      <p:ext uri="{BB962C8B-B14F-4D97-AF65-F5344CB8AC3E}">
        <p14:creationId xmlns:p14="http://schemas.microsoft.com/office/powerpoint/2010/main" val="323097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d0c2a94fb7504565"/>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b21366084f1421c"/>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30bbdc5925644f1f"/>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A52027BC-6A47-44A1-AAA5-072193A5651E}"/>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ECE57C74-B73B-4552-96C1-368EF002ADA5}"/>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CD640ADB-FF74-4F25-BE94-FCCC658AC292}"/>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063e77096b704b59"/>
              </a:rPr>
              <a:t>BIT CRT · bit.crt.gob.mx/BitWebApp</a:t>
            </a:r>
          </a:p>
        </p:txBody>
      </p:sp>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BARD</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DE</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GOOGLE: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23" name="GLOSARIO_left_2_2">
            <a:extLst xmlns:a="http://schemas.openxmlformats.org/drawingml/2006/main">
              <a:ext uri="{FF2B5EF4-FFF2-40B4-BE49-F238E27FC236}">
                <a16:creationId xmlns:a16="http://schemas.microsoft.com/office/drawing/2014/main" id="{EEC876AC-76F1-4063-9597-B1F5984C4BEC}"/>
              </a:ext>
            </a:extLst>
          </p:cNvPr>
          <p:cNvSpPr>
            <a:spLocks xmlns:a="http://schemas.openxmlformats.org/drawingml/2006/main" noGrp="1"/>
          </p:cNvSpPr>
          <p:nvPr/>
        </p:nvSpPr>
        <p:spPr>
          <a:xfrm xmlns:a="http://schemas.openxmlformats.org/drawingml/2006/main">
            <a:off x="2742844" y="18465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Google</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Planeación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Estratégica</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85e1c9945e94a7e"/>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d1fc5a8caa9402d"/>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902198852794fa7"/>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F883BFF5-67ED-47FC-8BA7-E4E07EBD6368}"/>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14057280-D4CF-4514-A2FF-CEDF5C793794}"/>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B8EF6B10-EFC3-4432-AAE9-52BE2B4C4B0B}"/>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bf38f4683d754baf"/>
              </a:rPr>
              <a:t>BIT CRT · bit.crt.gob.mx/BitWebApp</a:t>
            </a:r>
          </a:p>
        </p:txBody>
      </p:sp>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6</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b0adeb70d7b4625"/>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8_QR_FONDO">
            <a:extLst xmlns:a="http://schemas.openxmlformats.org/drawingml/2006/main">
              <a:ext uri="{FF2B5EF4-FFF2-40B4-BE49-F238E27FC236}">
                <a16:creationId xmlns:a16="http://schemas.microsoft.com/office/drawing/2014/main" id="{6C171A84-A6B9-4E34-849A-B13DB2FC9A31}"/>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f2cbbb30dda405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4d12f4a07a004500"/>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INTRO8_ENCABEZADO_0">
            <a:extLst xmlns:a="http://schemas.openxmlformats.org/drawingml/2006/main">
              <a:ext uri="{FF2B5EF4-FFF2-40B4-BE49-F238E27FC236}">
                <a16:creationId xmlns:a16="http://schemas.microsoft.com/office/drawing/2014/main" id="{2086B35C-CC9A-4539-9BE8-B6BF92A7A8A8}"/>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7" name="INTRO8_ENCABEZADO_1">
            <a:extLst xmlns:a="http://schemas.openxmlformats.org/drawingml/2006/main">
              <a:ext uri="{FF2B5EF4-FFF2-40B4-BE49-F238E27FC236}">
                <a16:creationId xmlns:a16="http://schemas.microsoft.com/office/drawing/2014/main" id="{35EB97AC-FD4D-4190-A884-228E8ADF1338}"/>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 name="INTRO8_ENCABEZADO_2">
            <a:extLst xmlns:a="http://schemas.openxmlformats.org/drawingml/2006/main">
              <a:ext uri="{FF2B5EF4-FFF2-40B4-BE49-F238E27FC236}">
                <a16:creationId xmlns:a16="http://schemas.microsoft.com/office/drawing/2014/main" id="{D3387CBA-FF9E-4760-86D9-A567A5A929A8}"/>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e3103bf1d6a40b8"/>
              </a:rPr>
              <a:t>BIT CRT · bit.crt.gob.mx/BitWebApp</a:t>
            </a:r>
          </a:p>
        </p:txBody>
      </p:sp>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pic>
        <p:nvPicPr>
          <p:cNvPr id="2" name="ANUARIO_PUNTOS_CLAVE_DESIGN_2026" descr="header.png"/>
          <p:cNvPicPr>
            <a:picLocks noChangeAspect="1"/>
          </p:cNvPicPr>
          <p:nvPr/>
        </p:nvPicPr>
        <p:blipFill>
          <a:blip r:embed="rId2"/>
          <a:stretch>
            <a:fillRect/>
          </a:stretch>
        </p:blipFill>
        <p:spPr>
          <a:xfrm>
            <a:off x="0" y="0"/>
            <a:ext cx="9144000" cy="457200"/>
          </a:xfrm>
          <a:prstGeom prst="rect">
            <a:avLst/>
          </a:prstGeom>
        </p:spPr>
      </p:pic>
      <p:pic>
        <p:nvPicPr>
          <p:cNvPr id="3" name="Picture 2" descr="footer.png"/>
          <p:cNvPicPr>
            <a:picLocks noChangeAspect="1"/>
          </p:cNvPicPr>
          <p:nvPr/>
        </p:nvPicPr>
        <p:blipFill>
          <a:blip r:embed="rId3"/>
          <a:stretch>
            <a:fillRect/>
          </a:stretch>
        </p:blipFill>
        <p:spPr>
          <a:xfrm>
            <a:off x="0" y="4991069"/>
            <a:ext cx="9144000" cy="152430"/>
          </a:xfrm>
          <a:prstGeom prst="rect">
            <a:avLst/>
          </a:prstGeom>
        </p:spPr>
      </p:pic>
      <p:sp>
        <p:nvSpPr>
          <p:cNvPr id="4" name="TextBox 3"/>
          <p:cNvSpPr txBox="1"/>
          <p:nvPr/>
        </p:nvSpPr>
        <p:spPr>
          <a:xfrm>
            <a:off x="310896" y="45720"/>
            <a:ext cx="3657600" cy="365760"/>
          </a:xfrm>
          <a:prstGeom prst="rect">
            <a:avLst/>
          </a:prstGeom>
          <a:noFill/>
        </p:spPr>
        <p:txBody>
          <a:bodyPr wrap="square" anchor="ctr" lIns="0" rIns="0" tIns="0" bIns="0">
            <a:spAutoFit/>
          </a:bodyPr>
          <a:lstStyle/>
          <a:p>
            <a:r>
              <a:rPr sz="1600" b="1">
                <a:solidFill>
                  <a:srgbClr val="FFFFFF"/>
                </a:solidFill>
                <a:latin typeface="DejaVu Sans"/>
              </a:rPr>
              <a:t>PUNTOS CLAVE</a:t>
            </a:r>
          </a:p>
        </p:txBody>
      </p:sp>
      <p:sp>
        <p:nvSpPr>
          <p:cNvPr id="5" name="TextBox 4"/>
          <p:cNvSpPr txBox="1"/>
          <p:nvPr/>
        </p:nvSpPr>
        <p:spPr>
          <a:xfrm>
            <a:off x="4572000" y="91440"/>
            <a:ext cx="3108960" cy="274320"/>
          </a:xfrm>
          <a:prstGeom prst="rect">
            <a:avLst/>
          </a:prstGeom>
          <a:noFill/>
        </p:spPr>
        <p:txBody>
          <a:bodyPr wrap="square" anchor="ctr" lIns="0" rIns="0" tIns="0" bIns="0">
            <a:spAutoFit/>
          </a:bodyPr>
          <a:lstStyle/>
          <a:p>
            <a:pPr algn="r"/>
            <a:r>
              <a:rPr sz="550" b="0">
                <a:solidFill>
                  <a:srgbClr val="D9E8E5"/>
                </a:solidFill>
                <a:latin typeface="DejaVu Sans"/>
              </a:rPr>
              <a:t>Para consultar información con mayor desagregación, visita</a:t>
            </a:r>
          </a:p>
          <a:p>
            <a:pPr algn="r"/>
            <a:r>
              <a:rPr sz="700" b="1">
                <a:solidFill>
                  <a:srgbClr val="FFFFFF"/>
                </a:solidFill>
                <a:latin typeface="DejaVu Sans"/>
              </a:rPr>
              <a:t>BIT CRT · bit.crt.gob.mx/BitWebApp</a:t>
            </a:r>
          </a:p>
        </p:txBody>
      </p:sp>
      <p:sp>
        <p:nvSpPr>
          <p:cNvPr id="6" name="Rounded Rectangle 5"/>
          <p:cNvSpPr/>
          <p:nvPr/>
        </p:nvSpPr>
        <p:spPr>
          <a:xfrm>
            <a:off x="7790688" y="45720"/>
            <a:ext cx="365760" cy="365760"/>
          </a:xfrm>
          <a:prstGeom prst="roundRect">
            <a:avLst>
              <a:gd name="adj" fmla="val 10000"/>
            </a:avLst>
          </a:prstGeom>
          <a:solidFill>
            <a:srgbClr val="FFFFFF"/>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png"/>
          <p:cNvPicPr>
            <a:picLocks noChangeAspect="1"/>
          </p:cNvPicPr>
          <p:nvPr/>
        </p:nvPicPr>
        <p:blipFill>
          <a:blip r:embed="rId4"/>
          <a:stretch>
            <a:fillRect/>
          </a:stretch>
        </p:blipFill>
        <p:spPr>
          <a:xfrm>
            <a:off x="7813548" y="68580"/>
            <a:ext cx="320040" cy="320040"/>
          </a:xfrm>
          <a:prstGeom prst="rect">
            <a:avLst/>
          </a:prstGeom>
        </p:spPr>
      </p:pic>
      <p:pic>
        <p:nvPicPr>
          <p:cNvPr id="8" name="Picture 7" descr="logo.png"/>
          <p:cNvPicPr>
            <a:picLocks noChangeAspect="1"/>
          </p:cNvPicPr>
          <p:nvPr/>
        </p:nvPicPr>
        <p:blipFill>
          <a:blip r:embed="rId5"/>
          <a:stretch>
            <a:fillRect/>
          </a:stretch>
        </p:blipFill>
        <p:spPr>
          <a:xfrm>
            <a:off x="8293608" y="64008"/>
            <a:ext cx="566928" cy="318211"/>
          </a:xfrm>
          <a:prstGeom prst="rect">
            <a:avLst/>
          </a:prstGeom>
        </p:spPr>
      </p:pic>
      <p:sp>
        <p:nvSpPr>
          <p:cNvPr id="9" name="TextBox 8"/>
          <p:cNvSpPr txBox="1"/>
          <p:nvPr/>
        </p:nvSpPr>
        <p:spPr>
          <a:xfrm>
            <a:off x="274320" y="4997196"/>
            <a:ext cx="457200" cy="137160"/>
          </a:xfrm>
          <a:prstGeom prst="rect">
            <a:avLst/>
          </a:prstGeom>
          <a:noFill/>
        </p:spPr>
        <p:txBody>
          <a:bodyPr wrap="square" anchor="ctr" lIns="0" rIns="0" tIns="0" bIns="0">
            <a:spAutoFit/>
          </a:bodyPr>
          <a:lstStyle/>
          <a:p>
            <a:r>
              <a:rPr sz="700" b="1">
                <a:solidFill>
                  <a:srgbClr val="FFFFFF"/>
                </a:solidFill>
                <a:latin typeface="DejaVu Sans"/>
              </a:rPr>
              <a:t>9</a:t>
            </a:r>
          </a:p>
        </p:txBody>
      </p:sp>
      <p:sp>
        <p:nvSpPr>
          <p:cNvPr id="10" name="TextBox 9"/>
          <p:cNvSpPr txBox="1"/>
          <p:nvPr/>
        </p:nvSpPr>
        <p:spPr>
          <a:xfrm>
            <a:off x="5486400" y="4997196"/>
            <a:ext cx="3383280" cy="137160"/>
          </a:xfrm>
          <a:prstGeom prst="rect">
            <a:avLst/>
          </a:prstGeom>
          <a:noFill/>
        </p:spPr>
        <p:txBody>
          <a:bodyPr wrap="square" anchor="ctr" lIns="0" rIns="0" tIns="0" bIns="0">
            <a:spAutoFit/>
          </a:bodyPr>
          <a:lstStyle/>
          <a:p>
            <a:pPr algn="r"/>
            <a:r>
              <a:rPr sz="550" b="0">
                <a:solidFill>
                  <a:srgbClr val="E6F0EE"/>
                </a:solidFill>
                <a:latin typeface="DejaVu Sans"/>
              </a:rPr>
              <a:t>A N U A R I O   E S T A D Í S T I C O   2 0 2 6</a:t>
            </a:r>
          </a:p>
        </p:txBody>
      </p:sp>
      <p:sp>
        <p:nvSpPr>
          <p:cNvPr id="11" name="TextBox 10"/>
          <p:cNvSpPr txBox="1"/>
          <p:nvPr/>
        </p:nvSpPr>
        <p:spPr>
          <a:xfrm>
            <a:off x="274320" y="548640"/>
            <a:ext cx="4160520" cy="182880"/>
          </a:xfrm>
          <a:prstGeom prst="rect">
            <a:avLst/>
          </a:prstGeom>
          <a:noFill/>
        </p:spPr>
        <p:txBody>
          <a:bodyPr wrap="square" anchor="ctr" lIns="0" rIns="0" tIns="0" bIns="0">
            <a:spAutoFit/>
          </a:bodyPr>
          <a:lstStyle/>
          <a:p>
            <a:r>
              <a:rPr sz="850" b="1">
                <a:solidFill>
                  <a:srgbClr val="1A4043"/>
                </a:solidFill>
                <a:latin typeface="DejaVu Sans"/>
              </a:rPr>
              <a:t>INDICADORES ECONÓMICOS</a:t>
            </a:r>
          </a:p>
        </p:txBody>
      </p:sp>
      <p:sp>
        <p:nvSpPr>
          <p:cNvPr id="12" name="Rectangle 11"/>
          <p:cNvSpPr/>
          <p:nvPr/>
        </p:nvSpPr>
        <p:spPr>
          <a:xfrm>
            <a:off x="27432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2023, los ingresos de las empresas del sector de telecomunicaciones sumaron </a:t>
            </a:r>
            <a:r>
              <a:rPr sz="680" b="1">
                <a:solidFill>
                  <a:srgbClr val="1A4043"/>
                </a:solidFill>
                <a:latin typeface="DejaVu Sans"/>
              </a:rPr>
              <a:t>$603 mil millones de pesos</a:t>
            </a:r>
            <a:r>
              <a:rPr sz="680" b="0">
                <a:solidFill>
                  <a:srgbClr val="23373A"/>
                </a:solidFill>
                <a:latin typeface="DejaVu Sans"/>
              </a:rPr>
              <a:t>. Lo que representó un crecimiento anual del </a:t>
            </a:r>
            <a:r>
              <a:rPr sz="680" b="1">
                <a:solidFill>
                  <a:srgbClr val="1A4043"/>
                </a:solidFill>
                <a:latin typeface="DejaVu Sans"/>
              </a:rPr>
              <a:t>6.8%</a:t>
            </a:r>
            <a:r>
              <a:rPr sz="680" b="0">
                <a:solidFill>
                  <a:srgbClr val="23373A"/>
                </a:solidFill>
                <a:latin typeface="DejaVu Sans"/>
              </a:rPr>
              <a:t>.</a:t>
            </a:r>
          </a:p>
          <a:p>
            <a:pPr>
              <a:spcBef>
                <a:spcPts val="150"/>
              </a:spcBef>
            </a:pPr>
            <a:r>
              <a:rPr sz="480" b="0">
                <a:solidFill>
                  <a:srgbClr val="5F7476"/>
                </a:solidFill>
                <a:latin typeface="DejaVu Sans"/>
              </a:rPr>
              <a:t>Fuente: IFT con datos de los operadores de telecomunicaciones, 2023.</a:t>
            </a:r>
          </a:p>
        </p:txBody>
      </p:sp>
      <p:sp>
        <p:nvSpPr>
          <p:cNvPr id="16" name="Rounded Rectangle 15"/>
          <p:cNvSpPr/>
          <p:nvPr/>
        </p:nvSpPr>
        <p:spPr>
          <a:xfrm>
            <a:off x="2391156"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1156"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172"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junio de 2024, el PIB de telecomunicaciones y radiodifusión (TyR) fue de </a:t>
            </a:r>
            <a:r>
              <a:rPr sz="680" b="1">
                <a:solidFill>
                  <a:srgbClr val="1A4043"/>
                </a:solidFill>
                <a:latin typeface="DejaVu Sans"/>
              </a:rPr>
              <a:t>$404 mil millones de pesos</a:t>
            </a:r>
            <a:r>
              <a:rPr sz="680" b="0">
                <a:solidFill>
                  <a:srgbClr val="23373A"/>
                </a:solidFill>
                <a:latin typeface="DejaVu Sans"/>
              </a:rPr>
              <a:t>, lo que representó un crecimiento anual de </a:t>
            </a:r>
            <a:r>
              <a:rPr sz="680" b="1">
                <a:solidFill>
                  <a:srgbClr val="1A4043"/>
                </a:solidFill>
                <a:latin typeface="DejaVu Sans"/>
              </a:rPr>
              <a:t>0.4%</a:t>
            </a:r>
            <a:r>
              <a:rPr sz="680" b="0">
                <a:solidFill>
                  <a:srgbClr val="23373A"/>
                </a:solidFill>
                <a:latin typeface="DejaVu Sans"/>
              </a:rPr>
              <a:t>.</a:t>
            </a:r>
          </a:p>
          <a:p>
            <a:pPr>
              <a:spcBef>
                <a:spcPts val="150"/>
              </a:spcBef>
            </a:pPr>
            <a:r>
              <a:rPr sz="480" b="0">
                <a:solidFill>
                  <a:srgbClr val="5F7476"/>
                </a:solidFill>
                <a:latin typeface="DejaVu Sans"/>
              </a:rPr>
              <a:t>Fuente: IFT con datos a junio de 2024, del INEGI.</a:t>
            </a:r>
          </a:p>
        </p:txBody>
      </p:sp>
      <p:sp>
        <p:nvSpPr>
          <p:cNvPr id="19" name="Rounded Rectangle 18"/>
          <p:cNvSpPr/>
          <p:nvPr/>
        </p:nvSpPr>
        <p:spPr>
          <a:xfrm>
            <a:off x="274320"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A junio de 2024, el </a:t>
            </a:r>
            <a:r>
              <a:rPr sz="680" b="1">
                <a:solidFill>
                  <a:srgbClr val="1A4043"/>
                </a:solidFill>
                <a:latin typeface="DejaVu Sans"/>
              </a:rPr>
              <a:t>82%</a:t>
            </a:r>
            <a:r>
              <a:rPr sz="680" b="0">
                <a:solidFill>
                  <a:srgbClr val="23373A"/>
                </a:solidFill>
                <a:latin typeface="DejaVu Sans"/>
              </a:rPr>
              <a:t> de los empleos pertenecieron al sector de telecomunicaciones y el </a:t>
            </a:r>
            <a:r>
              <a:rPr sz="680" b="1">
                <a:solidFill>
                  <a:srgbClr val="1A4043"/>
                </a:solidFill>
                <a:latin typeface="DejaVu Sans"/>
              </a:rPr>
              <a:t>18%</a:t>
            </a:r>
            <a:r>
              <a:rPr sz="680" b="0">
                <a:solidFill>
                  <a:srgbClr val="23373A"/>
                </a:solidFill>
                <a:latin typeface="DejaVu Sans"/>
              </a:rPr>
              <a:t> al de radiodifusión.</a:t>
            </a:r>
          </a:p>
          <a:p>
            <a:pPr>
              <a:spcBef>
                <a:spcPts val="150"/>
              </a:spcBef>
            </a:pPr>
            <a:r>
              <a:rPr sz="480" b="0">
                <a:solidFill>
                  <a:srgbClr val="5F7476"/>
                </a:solidFill>
                <a:latin typeface="DejaVu Sans"/>
              </a:rPr>
              <a:t>Fuente: IFT con datos a junio de 2024 de la ENOE-INEGI.</a:t>
            </a:r>
          </a:p>
        </p:txBody>
      </p:sp>
      <p:sp>
        <p:nvSpPr>
          <p:cNvPr id="22" name="Rounded Rectangle 21"/>
          <p:cNvSpPr/>
          <p:nvPr/>
        </p:nvSpPr>
        <p:spPr>
          <a:xfrm>
            <a:off x="2391156"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1156"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172"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De junio de 2013 a julio de 2024, los precios de comunicaciones en su conjunto disminuyeron </a:t>
            </a:r>
            <a:r>
              <a:rPr sz="680" b="1">
                <a:solidFill>
                  <a:srgbClr val="1A4043"/>
                </a:solidFill>
                <a:latin typeface="DejaVu Sans"/>
              </a:rPr>
              <a:t>49.3%</a:t>
            </a:r>
            <a:r>
              <a:rPr sz="680" b="0">
                <a:solidFill>
                  <a:srgbClr val="23373A"/>
                </a:solidFill>
                <a:latin typeface="DejaVu Sans"/>
              </a:rPr>
              <a:t>, mientras que la inflación general fue de </a:t>
            </a:r>
            <a:r>
              <a:rPr sz="680" b="1">
                <a:solidFill>
                  <a:srgbClr val="1A4043"/>
                </a:solidFill>
                <a:latin typeface="DejaVu Sans"/>
              </a:rPr>
              <a:t>66.6%</a:t>
            </a:r>
            <a:r>
              <a:rPr sz="680" b="0">
                <a:solidFill>
                  <a:srgbClr val="23373A"/>
                </a:solidFill>
                <a:latin typeface="DejaVu Sans"/>
              </a:rPr>
              <a:t>.</a:t>
            </a:r>
          </a:p>
          <a:p>
            <a:pPr>
              <a:spcBef>
                <a:spcPts val="150"/>
              </a:spcBef>
            </a:pPr>
            <a:r>
              <a:rPr sz="480" b="0">
                <a:solidFill>
                  <a:srgbClr val="5F7476"/>
                </a:solidFill>
                <a:latin typeface="DejaVu Sans"/>
              </a:rPr>
              <a:t>Fuente: IFT con datos a julio de 2024, del INEGI.</a:t>
            </a:r>
          </a:p>
        </p:txBody>
      </p:sp>
      <p:sp>
        <p:nvSpPr>
          <p:cNvPr id="25" name="TextBox 24"/>
          <p:cNvSpPr txBox="1"/>
          <p:nvPr/>
        </p:nvSpPr>
        <p:spPr>
          <a:xfrm>
            <a:off x="274320" y="2606040"/>
            <a:ext cx="4160520" cy="182880"/>
          </a:xfrm>
          <a:prstGeom prst="rect">
            <a:avLst/>
          </a:prstGeom>
          <a:noFill/>
        </p:spPr>
        <p:txBody>
          <a:bodyPr wrap="square" anchor="ctr" lIns="0" rIns="0" tIns="0" bIns="0">
            <a:spAutoFit/>
          </a:bodyPr>
          <a:lstStyle/>
          <a:p>
            <a:r>
              <a:rPr sz="850" b="1">
                <a:solidFill>
                  <a:srgbClr val="1A4043"/>
                </a:solidFill>
                <a:latin typeface="DejaVu Sans"/>
              </a:rPr>
              <a:t>ESPECTRO RADIOELÉCTRICO</a:t>
            </a:r>
          </a:p>
        </p:txBody>
      </p:sp>
      <p:sp>
        <p:nvSpPr>
          <p:cNvPr id="26" name="Rectangle 25"/>
          <p:cNvSpPr/>
          <p:nvPr/>
        </p:nvSpPr>
        <p:spPr>
          <a:xfrm>
            <a:off x="274320" y="27934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74320" y="2889504"/>
            <a:ext cx="4160520" cy="914400"/>
          </a:xfrm>
          <a:prstGeom prst="roundRect">
            <a:avLst>
              <a:gd name="adj" fmla="val 6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944368"/>
            <a:ext cx="41148" cy="804672"/>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0Hz</a:t>
            </a:r>
          </a:p>
        </p:txBody>
      </p:sp>
      <p:sp>
        <p:nvSpPr>
          <p:cNvPr id="30" name="TextBox 29"/>
          <p:cNvSpPr txBox="1"/>
          <p:nvPr/>
        </p:nvSpPr>
        <p:spPr>
          <a:xfrm>
            <a:off x="57150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50Hz</a:t>
            </a:r>
          </a:p>
        </p:txBody>
      </p:sp>
      <p:sp>
        <p:nvSpPr>
          <p:cNvPr id="31" name="TextBox 30"/>
          <p:cNvSpPr txBox="1"/>
          <p:nvPr/>
        </p:nvSpPr>
        <p:spPr>
          <a:xfrm>
            <a:off x="978408"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3KHz</a:t>
            </a:r>
          </a:p>
        </p:txBody>
      </p:sp>
      <p:sp>
        <p:nvSpPr>
          <p:cNvPr id="32" name="TextBox 31"/>
          <p:cNvSpPr txBox="1"/>
          <p:nvPr/>
        </p:nvSpPr>
        <p:spPr>
          <a:xfrm>
            <a:off x="1385316"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Radiofrecuencia</a:t>
            </a:r>
          </a:p>
        </p:txBody>
      </p:sp>
      <p:sp>
        <p:nvSpPr>
          <p:cNvPr id="33" name="TextBox 32"/>
          <p:cNvSpPr txBox="1"/>
          <p:nvPr/>
        </p:nvSpPr>
        <p:spPr>
          <a:xfrm>
            <a:off x="1792223"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300GHz</a:t>
            </a:r>
          </a:p>
        </p:txBody>
      </p:sp>
      <p:sp>
        <p:nvSpPr>
          <p:cNvPr id="34" name="TextBox 33"/>
          <p:cNvSpPr txBox="1"/>
          <p:nvPr/>
        </p:nvSpPr>
        <p:spPr>
          <a:xfrm>
            <a:off x="219913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3,000THz</a:t>
            </a:r>
          </a:p>
        </p:txBody>
      </p:sp>
      <p:sp>
        <p:nvSpPr>
          <p:cNvPr id="35" name="TextBox 34"/>
          <p:cNvSpPr txBox="1"/>
          <p:nvPr/>
        </p:nvSpPr>
        <p:spPr>
          <a:xfrm>
            <a:off x="260604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30EHz</a:t>
            </a:r>
          </a:p>
        </p:txBody>
      </p:sp>
      <p:sp>
        <p:nvSpPr>
          <p:cNvPr id="36" name="Freeform 35"/>
          <p:cNvSpPr/>
          <p:nvPr/>
        </p:nvSpPr>
        <p:spPr>
          <a:xfrm>
            <a:off x="438912" y="3157111"/>
            <a:ext cx="2441448" cy="302030"/>
          </a:xfrm>
          <a:custGeom>
            <a:avLst/>
            <a:gdLst/>
            <a:ahLst/>
            <a:cxnLst/>
            <a:rect l="l" t="t" r="r" b="b"/>
            <a:pathLst>
              <a:path w="2441448" h="302030">
                <a:moveTo>
                  <a:pt x="0" y="155330"/>
                </a:moveTo>
                <a:lnTo>
                  <a:pt x="9390" y="157657"/>
                </a:lnTo>
                <a:lnTo>
                  <a:pt x="18780" y="159996"/>
                </a:lnTo>
                <a:lnTo>
                  <a:pt x="28170" y="162347"/>
                </a:lnTo>
                <a:lnTo>
                  <a:pt x="37560" y="164708"/>
                </a:lnTo>
                <a:lnTo>
                  <a:pt x="46950" y="167080"/>
                </a:lnTo>
                <a:lnTo>
                  <a:pt x="56341" y="169460"/>
                </a:lnTo>
                <a:lnTo>
                  <a:pt x="65731" y="171849"/>
                </a:lnTo>
                <a:lnTo>
                  <a:pt x="75121" y="174246"/>
                </a:lnTo>
                <a:lnTo>
                  <a:pt x="84511" y="176650"/>
                </a:lnTo>
                <a:lnTo>
                  <a:pt x="93901" y="179060"/>
                </a:lnTo>
                <a:lnTo>
                  <a:pt x="103292" y="181475"/>
                </a:lnTo>
                <a:lnTo>
                  <a:pt x="112682" y="183895"/>
                </a:lnTo>
                <a:lnTo>
                  <a:pt x="122072" y="186319"/>
                </a:lnTo>
                <a:lnTo>
                  <a:pt x="131462" y="188744"/>
                </a:lnTo>
                <a:lnTo>
                  <a:pt x="140852" y="191171"/>
                </a:lnTo>
                <a:lnTo>
                  <a:pt x="150242" y="193598"/>
                </a:lnTo>
                <a:lnTo>
                  <a:pt x="159633" y="196024"/>
                </a:lnTo>
                <a:lnTo>
                  <a:pt x="169023" y="198446"/>
                </a:lnTo>
                <a:lnTo>
                  <a:pt x="178413" y="200863"/>
                </a:lnTo>
                <a:lnTo>
                  <a:pt x="187803" y="203273"/>
                </a:lnTo>
                <a:lnTo>
                  <a:pt x="197193" y="205674"/>
                </a:lnTo>
                <a:lnTo>
                  <a:pt x="206584" y="208064"/>
                </a:lnTo>
                <a:lnTo>
                  <a:pt x="215974" y="210440"/>
                </a:lnTo>
                <a:lnTo>
                  <a:pt x="225364" y="212800"/>
                </a:lnTo>
                <a:lnTo>
                  <a:pt x="234754" y="215139"/>
                </a:lnTo>
                <a:lnTo>
                  <a:pt x="244144" y="217456"/>
                </a:lnTo>
                <a:lnTo>
                  <a:pt x="253534" y="219746"/>
                </a:lnTo>
                <a:lnTo>
                  <a:pt x="262925" y="222005"/>
                </a:lnTo>
                <a:lnTo>
                  <a:pt x="272315" y="224230"/>
                </a:lnTo>
                <a:lnTo>
                  <a:pt x="281705" y="226415"/>
                </a:lnTo>
                <a:lnTo>
                  <a:pt x="291095" y="228556"/>
                </a:lnTo>
                <a:lnTo>
                  <a:pt x="300485" y="230647"/>
                </a:lnTo>
                <a:lnTo>
                  <a:pt x="309876" y="232683"/>
                </a:lnTo>
                <a:lnTo>
                  <a:pt x="319266" y="234657"/>
                </a:lnTo>
                <a:lnTo>
                  <a:pt x="328656" y="236563"/>
                </a:lnTo>
                <a:lnTo>
                  <a:pt x="338046" y="238395"/>
                </a:lnTo>
                <a:lnTo>
                  <a:pt x="347436" y="240144"/>
                </a:lnTo>
                <a:lnTo>
                  <a:pt x="356827" y="241802"/>
                </a:lnTo>
                <a:lnTo>
                  <a:pt x="366217" y="243362"/>
                </a:lnTo>
                <a:lnTo>
                  <a:pt x="375607" y="244815"/>
                </a:lnTo>
                <a:lnTo>
                  <a:pt x="384997" y="246152"/>
                </a:lnTo>
                <a:lnTo>
                  <a:pt x="394387" y="247362"/>
                </a:lnTo>
                <a:lnTo>
                  <a:pt x="403777" y="248436"/>
                </a:lnTo>
                <a:lnTo>
                  <a:pt x="413168" y="249363"/>
                </a:lnTo>
                <a:lnTo>
                  <a:pt x="422558" y="250132"/>
                </a:lnTo>
                <a:lnTo>
                  <a:pt x="431948" y="250732"/>
                </a:lnTo>
                <a:lnTo>
                  <a:pt x="441338" y="251150"/>
                </a:lnTo>
                <a:lnTo>
                  <a:pt x="450728" y="251376"/>
                </a:lnTo>
                <a:lnTo>
                  <a:pt x="460119" y="251395"/>
                </a:lnTo>
                <a:lnTo>
                  <a:pt x="469509" y="251197"/>
                </a:lnTo>
                <a:lnTo>
                  <a:pt x="478899" y="250767"/>
                </a:lnTo>
                <a:lnTo>
                  <a:pt x="488289" y="250094"/>
                </a:lnTo>
                <a:lnTo>
                  <a:pt x="497679" y="249163"/>
                </a:lnTo>
                <a:lnTo>
                  <a:pt x="507069" y="247963"/>
                </a:lnTo>
                <a:lnTo>
                  <a:pt x="516460" y="246481"/>
                </a:lnTo>
                <a:lnTo>
                  <a:pt x="525850" y="244703"/>
                </a:lnTo>
                <a:lnTo>
                  <a:pt x="535240" y="242619"/>
                </a:lnTo>
                <a:lnTo>
                  <a:pt x="544630" y="240217"/>
                </a:lnTo>
                <a:lnTo>
                  <a:pt x="554020" y="237487"/>
                </a:lnTo>
                <a:lnTo>
                  <a:pt x="563411" y="234418"/>
                </a:lnTo>
                <a:lnTo>
                  <a:pt x="572801" y="231003"/>
                </a:lnTo>
                <a:lnTo>
                  <a:pt x="582191" y="227235"/>
                </a:lnTo>
                <a:lnTo>
                  <a:pt x="591581" y="223108"/>
                </a:lnTo>
                <a:lnTo>
                  <a:pt x="600971" y="218618"/>
                </a:lnTo>
                <a:lnTo>
                  <a:pt x="610362" y="213765"/>
                </a:lnTo>
                <a:lnTo>
                  <a:pt x="619752" y="208549"/>
                </a:lnTo>
                <a:lnTo>
                  <a:pt x="629142" y="202974"/>
                </a:lnTo>
                <a:lnTo>
                  <a:pt x="638532" y="197047"/>
                </a:lnTo>
                <a:lnTo>
                  <a:pt x="647922" y="190778"/>
                </a:lnTo>
                <a:lnTo>
                  <a:pt x="657312" y="184180"/>
                </a:lnTo>
                <a:lnTo>
                  <a:pt x="666703" y="177270"/>
                </a:lnTo>
                <a:lnTo>
                  <a:pt x="676093" y="170072"/>
                </a:lnTo>
                <a:lnTo>
                  <a:pt x="685483" y="162610"/>
                </a:lnTo>
                <a:lnTo>
                  <a:pt x="694873" y="154916"/>
                </a:lnTo>
                <a:lnTo>
                  <a:pt x="704263" y="147026"/>
                </a:lnTo>
                <a:lnTo>
                  <a:pt x="713654" y="138982"/>
                </a:lnTo>
                <a:lnTo>
                  <a:pt x="723044" y="130829"/>
                </a:lnTo>
                <a:lnTo>
                  <a:pt x="732434" y="122621"/>
                </a:lnTo>
                <a:lnTo>
                  <a:pt x="741824" y="114414"/>
                </a:lnTo>
                <a:lnTo>
                  <a:pt x="751214" y="106273"/>
                </a:lnTo>
                <a:lnTo>
                  <a:pt x="760604" y="98266"/>
                </a:lnTo>
                <a:lnTo>
                  <a:pt x="769995" y="90467"/>
                </a:lnTo>
                <a:lnTo>
                  <a:pt x="779385" y="82955"/>
                </a:lnTo>
                <a:lnTo>
                  <a:pt x="788775" y="75812"/>
                </a:lnTo>
                <a:lnTo>
                  <a:pt x="798165" y="69127"/>
                </a:lnTo>
                <a:lnTo>
                  <a:pt x="807555" y="62987"/>
                </a:lnTo>
                <a:lnTo>
                  <a:pt x="816946" y="57487"/>
                </a:lnTo>
                <a:lnTo>
                  <a:pt x="826336" y="52718"/>
                </a:lnTo>
                <a:lnTo>
                  <a:pt x="835726" y="48773"/>
                </a:lnTo>
                <a:lnTo>
                  <a:pt x="845116" y="45743"/>
                </a:lnTo>
                <a:lnTo>
                  <a:pt x="854506" y="43716"/>
                </a:lnTo>
                <a:lnTo>
                  <a:pt x="863896" y="42773"/>
                </a:lnTo>
                <a:lnTo>
                  <a:pt x="873287" y="42989"/>
                </a:lnTo>
                <a:lnTo>
                  <a:pt x="882677" y="44430"/>
                </a:lnTo>
                <a:lnTo>
                  <a:pt x="892067" y="47150"/>
                </a:lnTo>
                <a:lnTo>
                  <a:pt x="901457" y="51188"/>
                </a:lnTo>
                <a:lnTo>
                  <a:pt x="910847" y="56566"/>
                </a:lnTo>
                <a:lnTo>
                  <a:pt x="920238" y="63290"/>
                </a:lnTo>
                <a:lnTo>
                  <a:pt x="929628" y="71343"/>
                </a:lnTo>
                <a:lnTo>
                  <a:pt x="939018" y="80683"/>
                </a:lnTo>
                <a:lnTo>
                  <a:pt x="948408" y="91244"/>
                </a:lnTo>
                <a:lnTo>
                  <a:pt x="957798" y="102934"/>
                </a:lnTo>
                <a:lnTo>
                  <a:pt x="967189" y="115629"/>
                </a:lnTo>
                <a:lnTo>
                  <a:pt x="976579" y="129178"/>
                </a:lnTo>
                <a:lnTo>
                  <a:pt x="985969" y="143401"/>
                </a:lnTo>
                <a:lnTo>
                  <a:pt x="995359" y="158086"/>
                </a:lnTo>
                <a:lnTo>
                  <a:pt x="1004749" y="172996"/>
                </a:lnTo>
                <a:lnTo>
                  <a:pt x="1014139" y="187866"/>
                </a:lnTo>
                <a:lnTo>
                  <a:pt x="1023530" y="202412"/>
                </a:lnTo>
                <a:lnTo>
                  <a:pt x="1032920" y="216328"/>
                </a:lnTo>
                <a:lnTo>
                  <a:pt x="1042310" y="229299"/>
                </a:lnTo>
                <a:lnTo>
                  <a:pt x="1051700" y="241002"/>
                </a:lnTo>
                <a:lnTo>
                  <a:pt x="1061090" y="251118"/>
                </a:lnTo>
                <a:lnTo>
                  <a:pt x="1070481" y="259338"/>
                </a:lnTo>
                <a:lnTo>
                  <a:pt x="1079871" y="265372"/>
                </a:lnTo>
                <a:lnTo>
                  <a:pt x="1089261" y="268964"/>
                </a:lnTo>
                <a:lnTo>
                  <a:pt x="1098651" y="269898"/>
                </a:lnTo>
                <a:lnTo>
                  <a:pt x="1108041" y="268013"/>
                </a:lnTo>
                <a:lnTo>
                  <a:pt x="1117431" y="263210"/>
                </a:lnTo>
                <a:lnTo>
                  <a:pt x="1126822" y="255466"/>
                </a:lnTo>
                <a:lnTo>
                  <a:pt x="1136212" y="244843"/>
                </a:lnTo>
                <a:lnTo>
                  <a:pt x="1145602" y="231491"/>
                </a:lnTo>
                <a:lnTo>
                  <a:pt x="1154992" y="215659"/>
                </a:lnTo>
                <a:lnTo>
                  <a:pt x="1164382" y="197694"/>
                </a:lnTo>
                <a:lnTo>
                  <a:pt x="1173773" y="178038"/>
                </a:lnTo>
                <a:lnTo>
                  <a:pt x="1183163" y="157229"/>
                </a:lnTo>
                <a:lnTo>
                  <a:pt x="1192553" y="135885"/>
                </a:lnTo>
                <a:lnTo>
                  <a:pt x="1201943" y="114692"/>
                </a:lnTo>
                <a:lnTo>
                  <a:pt x="1211333" y="94387"/>
                </a:lnTo>
                <a:lnTo>
                  <a:pt x="1220724" y="75732"/>
                </a:lnTo>
                <a:lnTo>
                  <a:pt x="1230114" y="59486"/>
                </a:lnTo>
                <a:lnTo>
                  <a:pt x="1239504" y="46373"/>
                </a:lnTo>
                <a:lnTo>
                  <a:pt x="1248894" y="37049"/>
                </a:lnTo>
                <a:lnTo>
                  <a:pt x="1258284" y="32064"/>
                </a:lnTo>
                <a:lnTo>
                  <a:pt x="1267674" y="31829"/>
                </a:lnTo>
                <a:lnTo>
                  <a:pt x="1277065" y="36578"/>
                </a:lnTo>
                <a:lnTo>
                  <a:pt x="1286455" y="46343"/>
                </a:lnTo>
                <a:lnTo>
                  <a:pt x="1295845" y="60929"/>
                </a:lnTo>
                <a:lnTo>
                  <a:pt x="1305235" y="79900"/>
                </a:lnTo>
                <a:lnTo>
                  <a:pt x="1314625" y="102577"/>
                </a:lnTo>
                <a:lnTo>
                  <a:pt x="1324016" y="128046"/>
                </a:lnTo>
                <a:lnTo>
                  <a:pt x="1333406" y="155184"/>
                </a:lnTo>
                <a:lnTo>
                  <a:pt x="1342796" y="182698"/>
                </a:lnTo>
                <a:lnTo>
                  <a:pt x="1352186" y="209180"/>
                </a:lnTo>
                <a:lnTo>
                  <a:pt x="1361576" y="233174"/>
                </a:lnTo>
                <a:lnTo>
                  <a:pt x="1370966" y="253257"/>
                </a:lnTo>
                <a:lnTo>
                  <a:pt x="1380357" y="268128"/>
                </a:lnTo>
                <a:lnTo>
                  <a:pt x="1389747" y="276700"/>
                </a:lnTo>
                <a:lnTo>
                  <a:pt x="1399137" y="278185"/>
                </a:lnTo>
                <a:lnTo>
                  <a:pt x="1408527" y="272181"/>
                </a:lnTo>
                <a:lnTo>
                  <a:pt x="1417917" y="258733"/>
                </a:lnTo>
                <a:lnTo>
                  <a:pt x="1427308" y="238370"/>
                </a:lnTo>
                <a:lnTo>
                  <a:pt x="1436698" y="212125"/>
                </a:lnTo>
                <a:lnTo>
                  <a:pt x="1446088" y="181502"/>
                </a:lnTo>
                <a:lnTo>
                  <a:pt x="1455478" y="148419"/>
                </a:lnTo>
                <a:lnTo>
                  <a:pt x="1464868" y="115104"/>
                </a:lnTo>
                <a:lnTo>
                  <a:pt x="1474258" y="83953"/>
                </a:lnTo>
                <a:lnTo>
                  <a:pt x="1483649" y="57367"/>
                </a:lnTo>
                <a:lnTo>
                  <a:pt x="1493039" y="37559"/>
                </a:lnTo>
                <a:lnTo>
                  <a:pt x="1502429" y="26355"/>
                </a:lnTo>
                <a:lnTo>
                  <a:pt x="1511819" y="25007"/>
                </a:lnTo>
                <a:lnTo>
                  <a:pt x="1521209" y="34036"/>
                </a:lnTo>
                <a:lnTo>
                  <a:pt x="1530600" y="53115"/>
                </a:lnTo>
                <a:lnTo>
                  <a:pt x="1539990" y="81022"/>
                </a:lnTo>
                <a:lnTo>
                  <a:pt x="1549380" y="115668"/>
                </a:lnTo>
                <a:lnTo>
                  <a:pt x="1558770" y="154210"/>
                </a:lnTo>
                <a:lnTo>
                  <a:pt x="1568160" y="193256"/>
                </a:lnTo>
                <a:lnTo>
                  <a:pt x="1577551" y="229145"/>
                </a:lnTo>
                <a:lnTo>
                  <a:pt x="1586941" y="258283"/>
                </a:lnTo>
                <a:lnTo>
                  <a:pt x="1596331" y="277521"/>
                </a:lnTo>
                <a:lnTo>
                  <a:pt x="1605721" y="284519"/>
                </a:lnTo>
                <a:lnTo>
                  <a:pt x="1615111" y="278068"/>
                </a:lnTo>
                <a:lnTo>
                  <a:pt x="1624501" y="258323"/>
                </a:lnTo>
                <a:lnTo>
                  <a:pt x="1633892" y="226902"/>
                </a:lnTo>
                <a:lnTo>
                  <a:pt x="1643282" y="186835"/>
                </a:lnTo>
                <a:lnTo>
                  <a:pt x="1652672" y="142335"/>
                </a:lnTo>
                <a:lnTo>
                  <a:pt x="1662062" y="98393"/>
                </a:lnTo>
                <a:lnTo>
                  <a:pt x="1671452" y="60248"/>
                </a:lnTo>
                <a:lnTo>
                  <a:pt x="1680843" y="32753"/>
                </a:lnTo>
                <a:lnTo>
                  <a:pt x="1690233" y="19725"/>
                </a:lnTo>
                <a:lnTo>
                  <a:pt x="1699623" y="23366"/>
                </a:lnTo>
                <a:lnTo>
                  <a:pt x="1709013" y="43832"/>
                </a:lnTo>
                <a:lnTo>
                  <a:pt x="1718403" y="79039"/>
                </a:lnTo>
                <a:lnTo>
                  <a:pt x="1727793" y="124763"/>
                </a:lnTo>
                <a:lnTo>
                  <a:pt x="1737184" y="175060"/>
                </a:lnTo>
                <a:lnTo>
                  <a:pt x="1746574" y="222978"/>
                </a:lnTo>
                <a:lnTo>
                  <a:pt x="1755964" y="261494"/>
                </a:lnTo>
                <a:lnTo>
                  <a:pt x="1765354" y="284571"/>
                </a:lnTo>
                <a:lnTo>
                  <a:pt x="1774744" y="288163"/>
                </a:lnTo>
                <a:lnTo>
                  <a:pt x="1784135" y="271007"/>
                </a:lnTo>
                <a:lnTo>
                  <a:pt x="1793525" y="235058"/>
                </a:lnTo>
                <a:lnTo>
                  <a:pt x="1802915" y="185428"/>
                </a:lnTo>
                <a:lnTo>
                  <a:pt x="1812305" y="129784"/>
                </a:lnTo>
                <a:lnTo>
                  <a:pt x="1821695" y="77249"/>
                </a:lnTo>
                <a:lnTo>
                  <a:pt x="1831086" y="36935"/>
                </a:lnTo>
                <a:lnTo>
                  <a:pt x="1840476" y="16325"/>
                </a:lnTo>
                <a:lnTo>
                  <a:pt x="1849866" y="19789"/>
                </a:lnTo>
                <a:lnTo>
                  <a:pt x="1859256" y="47537"/>
                </a:lnTo>
                <a:lnTo>
                  <a:pt x="1868646" y="95249"/>
                </a:lnTo>
                <a:lnTo>
                  <a:pt x="1878036" y="154559"/>
                </a:lnTo>
                <a:lnTo>
                  <a:pt x="1887427" y="214376"/>
                </a:lnTo>
                <a:lnTo>
                  <a:pt x="1896817" y="262893"/>
                </a:lnTo>
                <a:lnTo>
                  <a:pt x="1906207" y="289943"/>
                </a:lnTo>
                <a:lnTo>
                  <a:pt x="1915597" y="289231"/>
                </a:lnTo>
                <a:lnTo>
                  <a:pt x="1924987" y="259971"/>
                </a:lnTo>
                <a:lnTo>
                  <a:pt x="1934378" y="207466"/>
                </a:lnTo>
                <a:lnTo>
                  <a:pt x="1943768" y="142399"/>
                </a:lnTo>
                <a:lnTo>
                  <a:pt x="1953158" y="78839"/>
                </a:lnTo>
                <a:lnTo>
                  <a:pt x="1962548" y="31261"/>
                </a:lnTo>
                <a:lnTo>
                  <a:pt x="1971938" y="11206"/>
                </a:lnTo>
                <a:lnTo>
                  <a:pt x="1981328" y="24307"/>
                </a:lnTo>
                <a:lnTo>
                  <a:pt x="1990719" y="68497"/>
                </a:lnTo>
                <a:lnTo>
                  <a:pt x="2000109" y="133951"/>
                </a:lnTo>
                <a:lnTo>
                  <a:pt x="2009499" y="204999"/>
                </a:lnTo>
                <a:lnTo>
                  <a:pt x="2018889" y="263725"/>
                </a:lnTo>
                <a:lnTo>
                  <a:pt x="2028279" y="294492"/>
                </a:lnTo>
                <a:lnTo>
                  <a:pt x="2037670" y="288270"/>
                </a:lnTo>
                <a:lnTo>
                  <a:pt x="2047060" y="245562"/>
                </a:lnTo>
                <a:lnTo>
                  <a:pt x="2056450" y="176941"/>
                </a:lnTo>
                <a:lnTo>
                  <a:pt x="2065840" y="100784"/>
                </a:lnTo>
                <a:lnTo>
                  <a:pt x="2075230" y="38554"/>
                </a:lnTo>
                <a:lnTo>
                  <a:pt x="2084620" y="8744"/>
                </a:lnTo>
                <a:lnTo>
                  <a:pt x="2094011" y="21171"/>
                </a:lnTo>
                <a:lnTo>
                  <a:pt x="2103401" y="73396"/>
                </a:lnTo>
                <a:lnTo>
                  <a:pt x="2112791" y="150635"/>
                </a:lnTo>
                <a:lnTo>
                  <a:pt x="2122181" y="229547"/>
                </a:lnTo>
                <a:lnTo>
                  <a:pt x="2131571" y="285107"/>
                </a:lnTo>
                <a:lnTo>
                  <a:pt x="2140962" y="298633"/>
                </a:lnTo>
                <a:lnTo>
                  <a:pt x="2150352" y="264404"/>
                </a:lnTo>
                <a:lnTo>
                  <a:pt x="2159742" y="192462"/>
                </a:lnTo>
                <a:lnTo>
                  <a:pt x="2169132" y="106227"/>
                </a:lnTo>
                <a:lnTo>
                  <a:pt x="2178522" y="35220"/>
                </a:lnTo>
                <a:lnTo>
                  <a:pt x="2187913" y="4984"/>
                </a:lnTo>
                <a:lnTo>
                  <a:pt x="2197303" y="27593"/>
                </a:lnTo>
                <a:lnTo>
                  <a:pt x="2206693" y="96322"/>
                </a:lnTo>
                <a:lnTo>
                  <a:pt x="2216083" y="186929"/>
                </a:lnTo>
                <a:lnTo>
                  <a:pt x="2225473" y="265733"/>
                </a:lnTo>
                <a:lnTo>
                  <a:pt x="2234863" y="302030"/>
                </a:lnTo>
                <a:lnTo>
                  <a:pt x="2244254" y="280374"/>
                </a:lnTo>
                <a:lnTo>
                  <a:pt x="2253644" y="207738"/>
                </a:lnTo>
                <a:lnTo>
                  <a:pt x="2263034" y="112120"/>
                </a:lnTo>
                <a:lnTo>
                  <a:pt x="2272424" y="32293"/>
                </a:lnTo>
                <a:lnTo>
                  <a:pt x="2281814" y="2170"/>
                </a:lnTo>
                <a:lnTo>
                  <a:pt x="2291205" y="35991"/>
                </a:lnTo>
                <a:lnTo>
                  <a:pt x="2300595" y="120880"/>
                </a:lnTo>
                <a:lnTo>
                  <a:pt x="2309985" y="220846"/>
                </a:lnTo>
                <a:lnTo>
                  <a:pt x="2319375" y="291521"/>
                </a:lnTo>
                <a:lnTo>
                  <a:pt x="2328765" y="299910"/>
                </a:lnTo>
                <a:lnTo>
                  <a:pt x="2338155" y="240423"/>
                </a:lnTo>
                <a:lnTo>
                  <a:pt x="2347546" y="139200"/>
                </a:lnTo>
                <a:lnTo>
                  <a:pt x="2356936" y="43509"/>
                </a:lnTo>
                <a:lnTo>
                  <a:pt x="2366326" y="0"/>
                </a:lnTo>
                <a:lnTo>
                  <a:pt x="2375716" y="31561"/>
                </a:lnTo>
                <a:lnTo>
                  <a:pt x="2385106" y="124364"/>
                </a:lnTo>
                <a:lnTo>
                  <a:pt x="2394497" y="232727"/>
                </a:lnTo>
                <a:lnTo>
                  <a:pt x="2403887" y="300939"/>
                </a:lnTo>
                <a:lnTo>
                  <a:pt x="2413277" y="292052"/>
                </a:lnTo>
                <a:lnTo>
                  <a:pt x="2422667" y="208794"/>
                </a:lnTo>
                <a:lnTo>
                  <a:pt x="2432057" y="94425"/>
                </a:lnTo>
                <a:lnTo>
                  <a:pt x="2441448" y="11200"/>
                </a:lnTo>
              </a:path>
            </a:pathLst>
          </a:custGeom>
          <a:noFill/>
          <a:ln w="17780">
            <a:solidFill>
              <a:srgbClr val="4A7D76"/>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621024"/>
            <a:ext cx="2560320" cy="128016"/>
          </a:xfrm>
          <a:prstGeom prst="rect">
            <a:avLst/>
          </a:prstGeom>
          <a:noFill/>
        </p:spPr>
        <p:txBody>
          <a:bodyPr wrap="square" anchor="ctr" lIns="0" rIns="0" tIns="0" bIns="0">
            <a:spAutoFit/>
          </a:bodyPr>
          <a:lstStyle/>
          <a:p>
            <a:pPr>
              <a:spcBef>
                <a:spcPts val="150"/>
              </a:spcBef>
            </a:pPr>
            <a:r>
              <a:rPr sz="480" b="0">
                <a:solidFill>
                  <a:srgbClr val="5F7476"/>
                </a:solidFill>
                <a:latin typeface="DejaVu Sans"/>
              </a:rPr>
              <a:t>Fuente: IFT con datos a diciembre de 2023.</a:t>
            </a:r>
          </a:p>
        </p:txBody>
      </p:sp>
      <p:sp>
        <p:nvSpPr>
          <p:cNvPr id="38" name="Rounded Rectangle 37"/>
          <p:cNvSpPr/>
          <p:nvPr/>
        </p:nvSpPr>
        <p:spPr>
          <a:xfrm>
            <a:off x="3063239" y="3017520"/>
            <a:ext cx="1243584" cy="658368"/>
          </a:xfrm>
          <a:prstGeom prst="roundRect">
            <a:avLst>
              <a:gd name="adj" fmla="val 11111"/>
            </a:avLst>
          </a:prstGeom>
          <a:solidFill>
            <a:srgbClr val="E3F0ED"/>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79" y="3017520"/>
            <a:ext cx="1060704" cy="658368"/>
          </a:xfrm>
          <a:prstGeom prst="rect">
            <a:avLst/>
          </a:prstGeom>
          <a:noFill/>
        </p:spPr>
        <p:txBody>
          <a:bodyPr wrap="square" anchor="ctr" lIns="0" rIns="0" tIns="0" bIns="0">
            <a:spAutoFit/>
          </a:bodyPr>
          <a:lstStyle/>
          <a:p>
            <a:pPr>
              <a:lnSpc>
                <a:spcPct val="110000"/>
              </a:lnSpc>
            </a:pPr>
            <a:r>
              <a:rPr sz="700" b="0">
                <a:solidFill>
                  <a:srgbClr val="23373A"/>
                </a:solidFill>
                <a:latin typeface="DejaVu Sans"/>
              </a:rPr>
              <a:t>El </a:t>
            </a:r>
            <a:r>
              <a:rPr sz="700" b="1">
                <a:solidFill>
                  <a:srgbClr val="1A4043"/>
                </a:solidFill>
                <a:latin typeface="DejaVu Sans"/>
              </a:rPr>
              <a:t>21.7%</a:t>
            </a:r>
            <a:r>
              <a:rPr sz="700" b="0">
                <a:solidFill>
                  <a:srgbClr val="23373A"/>
                </a:solidFill>
                <a:latin typeface="DejaVu Sans"/>
              </a:rPr>
              <a:t> del espectro radioeléctrico es asignado a la banda de </a:t>
            </a:r>
            <a:r>
              <a:rPr sz="700" b="1">
                <a:solidFill>
                  <a:srgbClr val="1A4043"/>
                </a:solidFill>
                <a:latin typeface="DejaVu Sans"/>
              </a:rPr>
              <a:t>2,500 MHz</a:t>
            </a:r>
            <a:r>
              <a:rPr sz="700" b="0">
                <a:solidFill>
                  <a:srgbClr val="23373A"/>
                </a:solidFill>
                <a:latin typeface="DejaVu Sans"/>
              </a:rPr>
              <a:t>.</a:t>
            </a:r>
          </a:p>
        </p:txBody>
      </p:sp>
      <p:sp>
        <p:nvSpPr>
          <p:cNvPr id="40" name="TextBox 39"/>
          <p:cNvSpPr txBox="1"/>
          <p:nvPr/>
        </p:nvSpPr>
        <p:spPr>
          <a:xfrm>
            <a:off x="4572000" y="548640"/>
            <a:ext cx="4297680" cy="182880"/>
          </a:xfrm>
          <a:prstGeom prst="rect">
            <a:avLst/>
          </a:prstGeom>
          <a:noFill/>
        </p:spPr>
        <p:txBody>
          <a:bodyPr wrap="square" anchor="ctr" lIns="0" rIns="0" tIns="0" bIns="0">
            <a:spAutoFit/>
          </a:bodyPr>
          <a:lstStyle/>
          <a:p>
            <a:r>
              <a:rPr sz="850" b="1">
                <a:solidFill>
                  <a:srgbClr val="1A4043"/>
                </a:solidFill>
                <a:latin typeface="DejaVu Sans"/>
              </a:rPr>
              <a:t>SERVICIOS MÓVILES DE TELECOMUNICACIONES</a:t>
            </a:r>
          </a:p>
        </p:txBody>
      </p:sp>
      <p:sp>
        <p:nvSpPr>
          <p:cNvPr id="41" name="Rectangle 40"/>
          <p:cNvSpPr/>
          <p:nvPr/>
        </p:nvSpPr>
        <p:spPr>
          <a:xfrm>
            <a:off x="457200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0" y="83210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54296" y="89154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phone_w.png"/>
          <p:cNvPicPr>
            <a:picLocks noChangeAspect="1"/>
          </p:cNvPicPr>
          <p:nvPr/>
        </p:nvPicPr>
        <p:blipFill>
          <a:blip r:embed="rId6"/>
          <a:stretch>
            <a:fillRect/>
          </a:stretch>
        </p:blipFill>
        <p:spPr>
          <a:xfrm>
            <a:off x="4709159" y="946403"/>
            <a:ext cx="164592" cy="164592"/>
          </a:xfrm>
          <a:prstGeom prst="rect">
            <a:avLst/>
          </a:prstGeom>
        </p:spPr>
      </p:pic>
      <p:sp>
        <p:nvSpPr>
          <p:cNvPr id="45" name="TextBox 44"/>
          <p:cNvSpPr txBox="1"/>
          <p:nvPr/>
        </p:nvSpPr>
        <p:spPr>
          <a:xfrm>
            <a:off x="5029200" y="85953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diciembre de 2023, se tuvieron </a:t>
            </a:r>
            <a:r>
              <a:rPr sz="660" b="1">
                <a:solidFill>
                  <a:srgbClr val="1A4043"/>
                </a:solidFill>
                <a:latin typeface="DejaVu Sans"/>
              </a:rPr>
              <a:t>110 líneas</a:t>
            </a:r>
            <a:r>
              <a:rPr sz="660" b="0">
                <a:solidFill>
                  <a:srgbClr val="23373A"/>
                </a:solidFill>
                <a:latin typeface="DejaVu Sans"/>
              </a:rPr>
              <a:t> del servicio móvil de telefonía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46" name="Rounded Rectangle 45"/>
          <p:cNvSpPr/>
          <p:nvPr/>
        </p:nvSpPr>
        <p:spPr>
          <a:xfrm>
            <a:off x="4572000" y="1266443"/>
            <a:ext cx="4297680" cy="530352"/>
          </a:xfrm>
          <a:prstGeom prst="roundRect">
            <a:avLst>
              <a:gd name="adj" fmla="val 10344"/>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54296" y="13944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_call_w.png"/>
          <p:cNvPicPr>
            <a:picLocks noChangeAspect="1"/>
          </p:cNvPicPr>
          <p:nvPr/>
        </p:nvPicPr>
        <p:blipFill>
          <a:blip r:embed="rId7"/>
          <a:stretch>
            <a:fillRect/>
          </a:stretch>
        </p:blipFill>
        <p:spPr>
          <a:xfrm>
            <a:off x="4709159" y="1449323"/>
            <a:ext cx="164592" cy="164592"/>
          </a:xfrm>
          <a:prstGeom prst="rect">
            <a:avLst/>
          </a:prstGeom>
        </p:spPr>
      </p:pic>
      <p:sp>
        <p:nvSpPr>
          <p:cNvPr id="49" name="TextBox 48"/>
          <p:cNvSpPr txBox="1"/>
          <p:nvPr/>
        </p:nvSpPr>
        <p:spPr>
          <a:xfrm>
            <a:off x="5029200" y="1293875"/>
            <a:ext cx="3749040" cy="47548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2023, el </a:t>
            </a:r>
            <a:r>
              <a:rPr sz="660" b="1">
                <a:solidFill>
                  <a:srgbClr val="1A4043"/>
                </a:solidFill>
                <a:latin typeface="DejaVu Sans"/>
              </a:rPr>
              <a:t>29.6%</a:t>
            </a:r>
            <a:r>
              <a:rPr sz="660" b="0">
                <a:solidFill>
                  <a:srgbClr val="23373A"/>
                </a:solidFill>
                <a:latin typeface="DejaVu Sans"/>
              </a:rPr>
              <a:t> de las MiPymes contrató el servicio de telefonía móvil y el </a:t>
            </a:r>
            <a:r>
              <a:rPr sz="660" b="1">
                <a:solidFill>
                  <a:srgbClr val="1A4043"/>
                </a:solidFill>
                <a:latin typeface="DejaVu Sans"/>
              </a:rPr>
              <a:t>19.6%</a:t>
            </a:r>
            <a:r>
              <a:rPr sz="660" b="0">
                <a:solidFill>
                  <a:srgbClr val="23373A"/>
                </a:solidFill>
                <a:latin typeface="DejaVu Sans"/>
              </a:rPr>
              <a:t> contrató conexión a Internet por datos móviles (telefonía móvil). Ambos servicios les permiten tener diferentes beneficios para sus negocios.</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p:txBody>
      </p:sp>
      <p:sp>
        <p:nvSpPr>
          <p:cNvPr id="50" name="Rounded Rectangle 49"/>
          <p:cNvSpPr/>
          <p:nvPr/>
        </p:nvSpPr>
        <p:spPr>
          <a:xfrm>
            <a:off x="4572000" y="183794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54296" y="1897379"/>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_pin_w.png"/>
          <p:cNvPicPr>
            <a:picLocks noChangeAspect="1"/>
          </p:cNvPicPr>
          <p:nvPr/>
        </p:nvPicPr>
        <p:blipFill>
          <a:blip r:embed="rId8"/>
          <a:stretch>
            <a:fillRect/>
          </a:stretch>
        </p:blipFill>
        <p:spPr>
          <a:xfrm>
            <a:off x="4709159" y="1952243"/>
            <a:ext cx="164592" cy="164592"/>
          </a:xfrm>
          <a:prstGeom prst="rect">
            <a:avLst/>
          </a:prstGeom>
        </p:spPr>
      </p:pic>
      <p:sp>
        <p:nvSpPr>
          <p:cNvPr id="53" name="TextBox 52"/>
          <p:cNvSpPr txBox="1"/>
          <p:nvPr/>
        </p:nvSpPr>
        <p:spPr>
          <a:xfrm>
            <a:off x="5029200" y="186537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La Ciudad de México fue la entidad federativa con el </a:t>
            </a:r>
            <a:r>
              <a:rPr sz="660" b="1">
                <a:solidFill>
                  <a:srgbClr val="1A4043"/>
                </a:solidFill>
                <a:latin typeface="DejaVu Sans"/>
              </a:rPr>
              <a:t>mayor número de líneas del servicio móvil</a:t>
            </a:r>
            <a:r>
              <a:rPr sz="660" b="0">
                <a:solidFill>
                  <a:srgbClr val="23373A"/>
                </a:solidFill>
                <a:latin typeface="DejaVu Sans"/>
              </a:rPr>
              <a:t> de telefonía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54" name="Rounded Rectangle 53"/>
          <p:cNvSpPr/>
          <p:nvPr/>
        </p:nvSpPr>
        <p:spPr>
          <a:xfrm>
            <a:off x="4572000" y="227228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4296" y="233172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c_wifi_w.png"/>
          <p:cNvPicPr>
            <a:picLocks noChangeAspect="1"/>
          </p:cNvPicPr>
          <p:nvPr/>
        </p:nvPicPr>
        <p:blipFill>
          <a:blip r:embed="rId9"/>
          <a:stretch>
            <a:fillRect/>
          </a:stretch>
        </p:blipFill>
        <p:spPr>
          <a:xfrm>
            <a:off x="4709159" y="2386584"/>
            <a:ext cx="164592" cy="164592"/>
          </a:xfrm>
          <a:prstGeom prst="rect">
            <a:avLst/>
          </a:prstGeom>
        </p:spPr>
      </p:pic>
      <p:sp>
        <p:nvSpPr>
          <p:cNvPr id="57" name="TextBox 56"/>
          <p:cNvSpPr txBox="1"/>
          <p:nvPr/>
        </p:nvSpPr>
        <p:spPr>
          <a:xfrm>
            <a:off x="5029200" y="229971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el servicio móvil de acceso a Internet se tuvieron </a:t>
            </a:r>
            <a:r>
              <a:rPr sz="660" b="1">
                <a:solidFill>
                  <a:srgbClr val="1A4043"/>
                </a:solidFill>
                <a:latin typeface="DejaVu Sans"/>
              </a:rPr>
              <a:t>96 líneas</a:t>
            </a:r>
            <a:r>
              <a:rPr sz="660" b="0">
                <a:solidFill>
                  <a:srgbClr val="23373A"/>
                </a:solidFill>
                <a:latin typeface="DejaVu Sans"/>
              </a:rPr>
              <a:t>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58" name="Rounded Rectangle 57"/>
          <p:cNvSpPr/>
          <p:nvPr/>
        </p:nvSpPr>
        <p:spPr>
          <a:xfrm>
            <a:off x="4572000" y="270662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54296" y="27660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c_pin_w.png"/>
          <p:cNvPicPr>
            <a:picLocks noChangeAspect="1"/>
          </p:cNvPicPr>
          <p:nvPr/>
        </p:nvPicPr>
        <p:blipFill>
          <a:blip r:embed="rId8"/>
          <a:stretch>
            <a:fillRect/>
          </a:stretch>
        </p:blipFill>
        <p:spPr>
          <a:xfrm>
            <a:off x="4709159" y="2820924"/>
            <a:ext cx="164592" cy="164592"/>
          </a:xfrm>
          <a:prstGeom prst="rect">
            <a:avLst/>
          </a:prstGeom>
        </p:spPr>
      </p:pic>
      <p:sp>
        <p:nvSpPr>
          <p:cNvPr id="61" name="TextBox 60"/>
          <p:cNvSpPr txBox="1"/>
          <p:nvPr/>
        </p:nvSpPr>
        <p:spPr>
          <a:xfrm>
            <a:off x="5029200" y="273405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Chiapas fue la entidad federativa con el </a:t>
            </a:r>
            <a:r>
              <a:rPr sz="660" b="1">
                <a:solidFill>
                  <a:srgbClr val="1A4043"/>
                </a:solidFill>
                <a:latin typeface="DejaVu Sans"/>
              </a:rPr>
              <a:t>menor número de líneas del servicio móvil</a:t>
            </a:r>
            <a:r>
              <a:rPr sz="660" b="0">
                <a:solidFill>
                  <a:srgbClr val="23373A"/>
                </a:solidFill>
                <a:latin typeface="DejaVu Sans"/>
              </a:rPr>
              <a:t> de acceso a Internet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62" name="Rounded Rectangle 61"/>
          <p:cNvSpPr/>
          <p:nvPr/>
        </p:nvSpPr>
        <p:spPr>
          <a:xfrm>
            <a:off x="4572000" y="3140964"/>
            <a:ext cx="4297680" cy="548640"/>
          </a:xfrm>
          <a:prstGeom prst="roundRect">
            <a:avLst>
              <a:gd name="adj" fmla="val 10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54296" y="3278124"/>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c_app_w.png"/>
          <p:cNvPicPr>
            <a:picLocks noChangeAspect="1"/>
          </p:cNvPicPr>
          <p:nvPr/>
        </p:nvPicPr>
        <p:blipFill>
          <a:blip r:embed="rId10"/>
          <a:stretch>
            <a:fillRect/>
          </a:stretch>
        </p:blipFill>
        <p:spPr>
          <a:xfrm>
            <a:off x="4709159" y="3332988"/>
            <a:ext cx="164592" cy="164592"/>
          </a:xfrm>
          <a:prstGeom prst="rect">
            <a:avLst/>
          </a:prstGeom>
        </p:spPr>
      </p:pic>
      <p:sp>
        <p:nvSpPr>
          <p:cNvPr id="65" name="TextBox 64"/>
          <p:cNvSpPr txBox="1"/>
          <p:nvPr/>
        </p:nvSpPr>
        <p:spPr>
          <a:xfrm>
            <a:off x="5029200" y="3168396"/>
            <a:ext cx="3749040" cy="493776"/>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El </a:t>
            </a:r>
            <a:r>
              <a:rPr sz="660" b="1">
                <a:solidFill>
                  <a:srgbClr val="1A4043"/>
                </a:solidFill>
                <a:latin typeface="DejaVu Sans"/>
              </a:rPr>
              <a:t>62.7%</a:t>
            </a:r>
            <a:r>
              <a:rPr sz="660" b="0">
                <a:solidFill>
                  <a:srgbClr val="23373A"/>
                </a:solidFill>
                <a:latin typeface="DejaVu Sans"/>
              </a:rPr>
              <a:t> de las MiPymes señaló que contar con una aplicación móvil para su empresa o negocio tiene como beneficio que el contacto con los clientes es más rápido.</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a:p>
            <a:pPr>
              <a:spcBef>
                <a:spcPts val="0"/>
              </a:spcBef>
            </a:pPr>
            <a:r>
              <a:rPr sz="450" b="0">
                <a:solidFill>
                  <a:srgbClr val="5F7476"/>
                </a:solidFill>
                <a:latin typeface="DejaVu Sans"/>
              </a:rPr>
              <a:t>Nota: Indicadores medidos en una escala de 0 a 100.</a:t>
            </a:r>
          </a:p>
        </p:txBody>
      </p:sp>
      <p:sp>
        <p:nvSpPr>
          <p:cNvPr id="66" name="TextBox 65"/>
          <p:cNvSpPr txBox="1"/>
          <p:nvPr/>
        </p:nvSpPr>
        <p:spPr>
          <a:xfrm>
            <a:off x="274320" y="3886200"/>
            <a:ext cx="5486400" cy="182880"/>
          </a:xfrm>
          <a:prstGeom prst="rect">
            <a:avLst/>
          </a:prstGeom>
          <a:noFill/>
        </p:spPr>
        <p:txBody>
          <a:bodyPr wrap="square" anchor="ctr" lIns="0" rIns="0" tIns="0" bIns="0">
            <a:spAutoFit/>
          </a:bodyPr>
          <a:lstStyle/>
          <a:p>
            <a:r>
              <a:rPr sz="850" b="1">
                <a:solidFill>
                  <a:srgbClr val="1A4043"/>
                </a:solidFill>
                <a:latin typeface="DejaVu Sans"/>
              </a:rPr>
              <a:t>CONSUMO DE RADIO Y TELEVISIÓN</a:t>
            </a:r>
          </a:p>
        </p:txBody>
      </p:sp>
      <p:sp>
        <p:nvSpPr>
          <p:cNvPr id="67" name="Rectangle 66"/>
          <p:cNvSpPr/>
          <p:nvPr/>
        </p:nvSpPr>
        <p:spPr>
          <a:xfrm>
            <a:off x="274320" y="407365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 y="4169663"/>
            <a:ext cx="416052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02336" y="4224527"/>
            <a:ext cx="2468879"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Escucharon la radio</a:t>
            </a:r>
          </a:p>
          <a:p>
            <a:pPr>
              <a:lnSpc>
                <a:spcPct val="103000"/>
              </a:lnSpc>
            </a:pPr>
            <a:r>
              <a:rPr sz="660" b="0">
                <a:solidFill>
                  <a:srgbClr val="23373A"/>
                </a:solidFill>
                <a:latin typeface="DejaVu Sans"/>
              </a:rPr>
              <a:t>La proporción de personas que escucharon la radio alcanzó su máximo entre las </a:t>
            </a:r>
            <a:r>
              <a:rPr sz="660" b="1">
                <a:solidFill>
                  <a:srgbClr val="1A4043"/>
                </a:solidFill>
                <a:latin typeface="DejaVu Sans"/>
              </a:rPr>
              <a:t>9 y 10 de la mañana</a:t>
            </a:r>
            <a:r>
              <a:rPr sz="660" b="0">
                <a:solidFill>
                  <a:srgbClr val="23373A"/>
                </a:solidFill>
                <a:latin typeface="DejaVu Sans"/>
              </a:rPr>
              <a:t>.</a:t>
            </a:r>
          </a:p>
        </p:txBody>
      </p:sp>
      <p:sp>
        <p:nvSpPr>
          <p:cNvPr id="71" name="Oval 70"/>
          <p:cNvSpPr/>
          <p:nvPr/>
        </p:nvSpPr>
        <p:spPr>
          <a:xfrm>
            <a:off x="300837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_user_w.png"/>
          <p:cNvPicPr>
            <a:picLocks noChangeAspect="1"/>
          </p:cNvPicPr>
          <p:nvPr/>
        </p:nvPicPr>
        <p:blipFill>
          <a:blip r:embed="rId11"/>
          <a:stretch>
            <a:fillRect/>
          </a:stretch>
        </p:blipFill>
        <p:spPr>
          <a:xfrm>
            <a:off x="3040379" y="4256531"/>
            <a:ext cx="118872" cy="118872"/>
          </a:xfrm>
          <a:prstGeom prst="rect">
            <a:avLst/>
          </a:prstGeom>
        </p:spPr>
      </p:pic>
      <p:sp>
        <p:nvSpPr>
          <p:cNvPr id="73" name="TextBox 72"/>
          <p:cNvSpPr txBox="1"/>
          <p:nvPr/>
        </p:nvSpPr>
        <p:spPr>
          <a:xfrm>
            <a:off x="321868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74" name="TextBox 73"/>
          <p:cNvSpPr txBox="1"/>
          <p:nvPr/>
        </p:nvSpPr>
        <p:spPr>
          <a:xfrm>
            <a:off x="295351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8.5%</a:t>
            </a:r>
          </a:p>
        </p:txBody>
      </p:sp>
      <p:sp>
        <p:nvSpPr>
          <p:cNvPr id="75" name="Oval 74"/>
          <p:cNvSpPr/>
          <p:nvPr/>
        </p:nvSpPr>
        <p:spPr>
          <a:xfrm>
            <a:off x="3739895"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c_user_w.png"/>
          <p:cNvPicPr>
            <a:picLocks noChangeAspect="1"/>
          </p:cNvPicPr>
          <p:nvPr/>
        </p:nvPicPr>
        <p:blipFill>
          <a:blip r:embed="rId11"/>
          <a:stretch>
            <a:fillRect/>
          </a:stretch>
        </p:blipFill>
        <p:spPr>
          <a:xfrm>
            <a:off x="3771899" y="4256531"/>
            <a:ext cx="118872" cy="118872"/>
          </a:xfrm>
          <a:prstGeom prst="rect">
            <a:avLst/>
          </a:prstGeom>
        </p:spPr>
      </p:pic>
      <p:sp>
        <p:nvSpPr>
          <p:cNvPr id="77" name="TextBox 76"/>
          <p:cNvSpPr txBox="1"/>
          <p:nvPr/>
        </p:nvSpPr>
        <p:spPr>
          <a:xfrm>
            <a:off x="395020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78" name="TextBox 77"/>
          <p:cNvSpPr txBox="1"/>
          <p:nvPr/>
        </p:nvSpPr>
        <p:spPr>
          <a:xfrm>
            <a:off x="368503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11.09%</a:t>
            </a:r>
          </a:p>
        </p:txBody>
      </p:sp>
      <p:sp>
        <p:nvSpPr>
          <p:cNvPr id="79" name="Rounded Rectangle 78"/>
          <p:cNvSpPr/>
          <p:nvPr/>
        </p:nvSpPr>
        <p:spPr>
          <a:xfrm>
            <a:off x="4572000" y="4169663"/>
            <a:ext cx="429768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00016" y="4224527"/>
            <a:ext cx="2606040"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Vieron la televisión</a:t>
            </a:r>
          </a:p>
          <a:p>
            <a:pPr>
              <a:lnSpc>
                <a:spcPct val="103000"/>
              </a:lnSpc>
            </a:pPr>
            <a:r>
              <a:rPr sz="660" b="0">
                <a:solidFill>
                  <a:srgbClr val="23373A"/>
                </a:solidFill>
                <a:latin typeface="DejaVu Sans"/>
              </a:rPr>
              <a:t>Por su parte, el mayor porcentaje de personas viendo la televisión se alcanzó entre las </a:t>
            </a:r>
            <a:r>
              <a:rPr sz="660" b="1">
                <a:solidFill>
                  <a:srgbClr val="1A4043"/>
                </a:solidFill>
                <a:latin typeface="DejaVu Sans"/>
              </a:rPr>
              <a:t>9 y 10 de la noche</a:t>
            </a:r>
            <a:r>
              <a:rPr sz="660" b="0">
                <a:solidFill>
                  <a:srgbClr val="23373A"/>
                </a:solidFill>
                <a:latin typeface="DejaVu Sans"/>
              </a:rPr>
              <a:t>.</a:t>
            </a:r>
          </a:p>
        </p:txBody>
      </p:sp>
      <p:sp>
        <p:nvSpPr>
          <p:cNvPr id="82" name="Oval 81"/>
          <p:cNvSpPr/>
          <p:nvPr/>
        </p:nvSpPr>
        <p:spPr>
          <a:xfrm>
            <a:off x="744321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c_user_w.png"/>
          <p:cNvPicPr>
            <a:picLocks noChangeAspect="1"/>
          </p:cNvPicPr>
          <p:nvPr/>
        </p:nvPicPr>
        <p:blipFill>
          <a:blip r:embed="rId11"/>
          <a:stretch>
            <a:fillRect/>
          </a:stretch>
        </p:blipFill>
        <p:spPr>
          <a:xfrm>
            <a:off x="7475219" y="4256531"/>
            <a:ext cx="118872" cy="118872"/>
          </a:xfrm>
          <a:prstGeom prst="rect">
            <a:avLst/>
          </a:prstGeom>
        </p:spPr>
      </p:pic>
      <p:sp>
        <p:nvSpPr>
          <p:cNvPr id="84" name="TextBox 83"/>
          <p:cNvSpPr txBox="1"/>
          <p:nvPr/>
        </p:nvSpPr>
        <p:spPr>
          <a:xfrm>
            <a:off x="765352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85" name="TextBox 84"/>
          <p:cNvSpPr txBox="1"/>
          <p:nvPr/>
        </p:nvSpPr>
        <p:spPr>
          <a:xfrm>
            <a:off x="738835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16.46%</a:t>
            </a:r>
          </a:p>
        </p:txBody>
      </p:sp>
      <p:sp>
        <p:nvSpPr>
          <p:cNvPr id="86" name="Oval 85"/>
          <p:cNvSpPr/>
          <p:nvPr/>
        </p:nvSpPr>
        <p:spPr>
          <a:xfrm>
            <a:off x="8174736"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c_user_w.png"/>
          <p:cNvPicPr>
            <a:picLocks noChangeAspect="1"/>
          </p:cNvPicPr>
          <p:nvPr/>
        </p:nvPicPr>
        <p:blipFill>
          <a:blip r:embed="rId11"/>
          <a:stretch>
            <a:fillRect/>
          </a:stretch>
        </p:blipFill>
        <p:spPr>
          <a:xfrm>
            <a:off x="8206740" y="4256531"/>
            <a:ext cx="118872" cy="118872"/>
          </a:xfrm>
          <a:prstGeom prst="rect">
            <a:avLst/>
          </a:prstGeom>
        </p:spPr>
      </p:pic>
      <p:sp>
        <p:nvSpPr>
          <p:cNvPr id="88" name="TextBox 87"/>
          <p:cNvSpPr txBox="1"/>
          <p:nvPr/>
        </p:nvSpPr>
        <p:spPr>
          <a:xfrm>
            <a:off x="838504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89" name="TextBox 88"/>
          <p:cNvSpPr txBox="1"/>
          <p:nvPr/>
        </p:nvSpPr>
        <p:spPr>
          <a:xfrm>
            <a:off x="811987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14.95%</a:t>
            </a:r>
          </a:p>
        </p:txBody>
      </p:sp>
      <p:sp>
        <p:nvSpPr>
          <p:cNvPr id="90" name="TextBox 89"/>
          <p:cNvSpPr txBox="1"/>
          <p:nvPr/>
        </p:nvSpPr>
        <p:spPr>
          <a:xfrm>
            <a:off x="274320" y="4773168"/>
            <a:ext cx="8595360" cy="128016"/>
          </a:xfrm>
          <a:prstGeom prst="rect">
            <a:avLst/>
          </a:prstGeom>
          <a:noFill/>
        </p:spPr>
        <p:txBody>
          <a:bodyPr wrap="square" anchor="t" lIns="0" rIns="0" tIns="0" bIns="0">
            <a:spAutoFit/>
          </a:bodyPr>
          <a:lstStyle/>
          <a:p>
            <a:pPr>
              <a:spcBef>
                <a:spcPts val="150"/>
              </a:spcBef>
            </a:pPr>
            <a:r>
              <a:rPr sz="459" b="0">
                <a:solidFill>
                  <a:srgbClr val="5F7476"/>
                </a:solidFill>
                <a:latin typeface="DejaVu Sans"/>
              </a:rPr>
              <a:t>Fuente: El consumo de radio se obtuvo de la base de datos de INRA a través de software INRAM. El consumo de televisión se obtuvo de la base de datos de Audiencias-Ratings TV de Nielsen IBOPE, software de explotación MSS TV. Datos de julio 2023 a junio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 name="ANUARIO_KEY_FIJOS"/>
          <p:cNvSpPr/>
          <p:nvPr/>
        </p:nvSpPr>
        <p:spPr>
          <a:xfrm>
            <a:off x="450900" y="943525"/>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SERVICIOS FIJOS DE TELECOMUNICACIONES</a:t>
            </a:r>
          </a:p>
          <a:p>
            <a:pPr algn="l">
              <a:spcBef>
                <a:spcPts val="0"/>
              </a:spcBef>
              <a:spcAft>
                <a:spcPts val="0"/>
              </a:spcAft>
            </a:pPr>
            <a:r>
              <a:rPr sz="780" b="0">
                <a:solidFill>
                  <a:srgbClr val="434343"/>
                </a:solidFill>
                <a:latin typeface="Noto Sans"/>
              </a:rPr>
              <a:t>{{TEXTO:PUNTOS_CLAVE_FIJOS}}</a:t>
            </a:r>
          </a:p>
        </p:txBody>
      </p:sp>
      <p:sp>
        <p:nvSpPr>
          <p:cNvPr id="223" name="ANUARIO_KEY_GENERO"/>
          <p:cNvSpPr/>
          <p:nvPr/>
        </p:nvSpPr>
        <p:spPr>
          <a:xfrm>
            <a:off x="4650827" y="943525"/>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INDICADORES CON PERSPECTIVA DE GÉNERO</a:t>
            </a:r>
          </a:p>
          <a:p>
            <a:pPr algn="l">
              <a:spcBef>
                <a:spcPts val="0"/>
              </a:spcBef>
              <a:spcAft>
                <a:spcPts val="0"/>
              </a:spcAft>
            </a:pPr>
            <a:r>
              <a:rPr sz="780" b="0">
                <a:solidFill>
                  <a:srgbClr val="434343"/>
                </a:solidFill>
                <a:latin typeface="Noto Sans"/>
              </a:rPr>
              <a:t>{{TEXTO:PUNTOS_CLAVE_GENERO}}</a:t>
            </a:r>
          </a:p>
        </p:txBody>
      </p:sp>
      <p:sp>
        <p:nvSpPr>
          <p:cNvPr id="224" name="ANUARIO_KEY_TIC"/>
          <p:cNvSpPr/>
          <p:nvPr/>
        </p:nvSpPr>
        <p:spPr>
          <a:xfrm>
            <a:off x="450900" y="2802733"/>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TECNOLOGÍAS DE LA INFORMACIÓN Y COMUNICACIÓN</a:t>
            </a:r>
          </a:p>
          <a:p>
            <a:pPr algn="l">
              <a:spcBef>
                <a:spcPts val="0"/>
              </a:spcBef>
              <a:spcAft>
                <a:spcPts val="0"/>
              </a:spcAft>
            </a:pPr>
            <a:r>
              <a:rPr sz="780" b="0">
                <a:solidFill>
                  <a:srgbClr val="434343"/>
                </a:solidFill>
                <a:latin typeface="Noto Sans"/>
              </a:rPr>
              <a:t>{{TEXTO:PUNTOS_CLAVE_TIC}}</a:t>
            </a:r>
          </a:p>
        </p:txBody>
      </p:sp>
      <p:sp>
        <p:nvSpPr>
          <p:cNvPr id="225" name="ANUARIO_KEY_USUARIOS"/>
          <p:cNvSpPr/>
          <p:nvPr/>
        </p:nvSpPr>
        <p:spPr>
          <a:xfrm>
            <a:off x="4650827" y="2802733"/>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PERSONAS USUARIAS</a:t>
            </a:r>
          </a:p>
          <a:p>
            <a:pPr algn="l">
              <a:spcBef>
                <a:spcPts val="0"/>
              </a:spcBef>
              <a:spcAft>
                <a:spcPts val="0"/>
              </a:spcAft>
            </a:pPr>
            <a:r>
              <a:rPr sz="780" b="0">
                <a:solidFill>
                  <a:srgbClr val="434343"/>
                </a:solidFill>
                <a:latin typeface="Noto Sans"/>
              </a:rPr>
              <a:t>{{TEXTO:PUNTOS_CLAVE_USUARIOS}}</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A.1</a:t>
            </a:r>
          </a:p>
          <a:p>
            <a:pPr algn="l"/>
            <a:r>
              <a:rPr sz="950" b="1">
                <a:solidFill>
                  <a:srgbClr val="203634"/>
                </a:solidFill>
                <a:latin typeface="Noto Sans"/>
              </a:rPr>
              <a:t>PRODUCTO INTERNO BRUTO Y CONTRIBUCIÓN DE TELECOMUNICACIONES Y RADIODIFUSIÓN</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A.2</a:t>
            </a:r>
          </a:p>
          <a:p>
            <a:pPr algn="l"/>
            <a:r>
              <a:rPr sz="1050" b="1">
                <a:solidFill>
                  <a:srgbClr val="203634"/>
                </a:solidFill>
                <a:latin typeface="Noto Sans"/>
              </a:rPr>
              <a:t>EMPLEO EN LOS SECTORES DE TELECOMUNICACIONES Y RADIODIFUSIÓN</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A.3</a:t>
            </a:r>
          </a:p>
          <a:p>
            <a:pPr algn="l"/>
            <a:r>
              <a:rPr sz="1050" b="1">
                <a:solidFill>
                  <a:srgbClr val="203634"/>
                </a:solidFill>
                <a:latin typeface="Noto Sans"/>
              </a:rPr>
              <a:t>ÍNDICES DE PRECIOS (INPC E IPCOM)</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A.4</a:t>
            </a:r>
          </a:p>
          <a:p>
            <a:pPr algn="l"/>
            <a:r>
              <a:rPr sz="1050" b="1">
                <a:solidFill>
                  <a:srgbClr val="203634"/>
                </a:solidFill>
                <a:latin typeface="Noto Sans"/>
              </a:rPr>
              <a:t>INVERSIÓN PRIVADA EN TELECOMUNICACIONES POR TIPO DE INVERSIÓN</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A.5</a:t>
            </a:r>
          </a:p>
          <a:p>
            <a:pPr algn="l"/>
            <a:r>
              <a:rPr sz="1050" b="1">
                <a:solidFill>
                  <a:srgbClr val="203634"/>
                </a:solidFill>
                <a:latin typeface="Noto Sans"/>
              </a:rPr>
              <a:t>INVERSIÓN EXTRANJERA DIRECTA (IED) EN TELECOMUNICACIONES</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A.6</a:t>
            </a:r>
          </a:p>
          <a:p>
            <a:pPr algn="l"/>
            <a:r>
              <a:rPr sz="1050" b="1">
                <a:solidFill>
                  <a:srgbClr val="203634"/>
                </a:solidFill>
                <a:latin typeface="Noto Sans"/>
              </a:rPr>
              <a:t>INGRESOS, EGRESOS Y MARGEN EN EL SECTOR DE TELECOMUNICACIONES</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A.7</a:t>
            </a:r>
          </a:p>
          <a:p>
            <a:pPr algn="l"/>
            <a:r>
              <a:rPr sz="950" b="1">
                <a:solidFill>
                  <a:srgbClr val="203634"/>
                </a:solidFill>
                <a:latin typeface="Noto Sans"/>
              </a:rPr>
              <a:t>PORCENTAJE DE HOGARES CON SERVICIOS DE TELECOMUNICACIONES FIJAS POR DECIL DE INGRESO</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{{FIGURA:A.7}}</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A.8</a:t>
            </a:r>
          </a:p>
          <a:p>
            <a:pPr algn="l"/>
            <a:r>
              <a:rPr sz="850" b="1">
                <a:solidFill>
                  <a:srgbClr val="203634"/>
                </a:solidFill>
                <a:latin typeface="Noto Sans"/>
              </a:rPr>
              <a:t>GASTO PROMEDIO Y PORCENTAJE DE GASTO EN SERVICIOS DE TELECOMUNICACIONES FIJAS DE LOS HOGARES POR DECIL DE INGRESO</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{{FIGURA:A.8}}</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A.9</a:t>
            </a:r>
          </a:p>
          <a:p>
            <a:pPr algn="l"/>
            <a:r>
              <a:rPr sz="950" b="1">
                <a:solidFill>
                  <a:srgbClr val="203634"/>
                </a:solidFill>
                <a:latin typeface="Noto Sans"/>
              </a:rPr>
              <a:t>PORCENTAJE DE HOGARES CON SERVICIOS DE TELECOMUNICACIONES MÓVILES POR DECIL DE INGRESO</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{{FIGURA:A.9}}</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A.10</a:t>
            </a:r>
          </a:p>
          <a:p>
            <a:pPr algn="l"/>
            <a:r>
              <a:rPr sz="850" b="1">
                <a:solidFill>
                  <a:srgbClr val="203634"/>
                </a:solidFill>
                <a:latin typeface="Noto Sans"/>
              </a:rPr>
              <a:t>GASTO PROMEDIO Y PORCENTAJE DE GASTO EN SERVICIOS DE TELECOMUNICACIONES MÓVILES DE LOS HOGARES POR DECIL DE INGRESO</a:t>
            </a:r>
          </a:p>
          <a:p/>
          <a:p>
            <a:pPr algn="l"/>
            <a:r>
              <a:rPr sz="819">
                <a:solidFill>
                  <a:srgbClr val="434343"/>
                </a:solidFill>
                <a:latin typeface="Noto Sans"/>
              </a:rPr>
              <a:t>Anuario Estadístico 2026 · espacio preparado para inserción automática.</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{{FIGURA:A.10}}</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a:t>
            </a:r>
          </a:p>
          <a:p>
            <a:pPr algn="l"/>
            <a:r>
              <a:rPr sz="950" b="1">
                <a:solidFill>
                  <a:srgbClr val="203634"/>
                </a:solidFill>
                <a:latin typeface="Noto Sans"/>
              </a:rPr>
              <a:t>DISTRIBUCIÓN DE LOS SERVICIOS FIJOS CON RESPECTO DEL TOTAL DE HOGARES A NIVEL NACIONAL</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B.2</a:t>
            </a:r>
          </a:p>
          <a:p>
            <a:pPr algn="l"/>
            <a:r>
              <a:rPr sz="950" b="1">
                <a:solidFill>
                  <a:srgbClr val="203634"/>
                </a:solidFill>
                <a:latin typeface="Noto Sans"/>
              </a:rPr>
              <a:t>DISTRIBUCIÓN DE LOS SERVICIOS FIJOS CON RESPECTO DEL TOTAL DE HOGARES EN LAS ZONAS RURALES</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B.3</a:t>
            </a:r>
          </a:p>
          <a:p>
            <a:pPr algn="l"/>
            <a:r>
              <a:rPr sz="950" b="1">
                <a:solidFill>
                  <a:srgbClr val="203634"/>
                </a:solidFill>
                <a:latin typeface="Noto Sans"/>
              </a:rPr>
              <a:t>DISTRIBUCIÓN DE LOS SERVICIOS FIJOS CON RESPECTO DEL TOTAL DE HOGARES EN LAS ZONAS URBANAS</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B.4</a:t>
            </a:r>
          </a:p>
          <a:p>
            <a:pPr algn="l"/>
            <a:r>
              <a:rPr sz="1050" b="1">
                <a:solidFill>
                  <a:srgbClr val="203634"/>
                </a:solidFill>
                <a:latin typeface="Noto Sans"/>
              </a:rPr>
              <a:t>LÍNEAS DEL SERVICIO FIJO DE TELEFONÍA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B.5</a:t>
            </a:r>
          </a:p>
          <a:p>
            <a:pPr algn="l"/>
            <a:r>
              <a:rPr sz="1050" b="1">
                <a:solidFill>
                  <a:srgbClr val="203634"/>
                </a:solidFill>
                <a:latin typeface="Noto Sans"/>
              </a:rPr>
              <a:t>LÍNEAS DEL SERVICIO FIJO DE TELEFONÍA POR CADA 100 HOGARES</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B.6</a:t>
            </a:r>
          </a:p>
          <a:p>
            <a:pPr algn="l"/>
            <a:r>
              <a:rPr sz="950" b="1">
                <a:solidFill>
                  <a:srgbClr val="203634"/>
                </a:solidFill>
                <a:latin typeface="Noto Sans"/>
              </a:rPr>
              <a:t>LÍNEAS DEL SERVICIO FIJO DE TELEFONÍA RESIDENCIAL POR CADA 100 HOGARES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B.7</a:t>
            </a:r>
          </a:p>
          <a:p>
            <a:pPr algn="l"/>
            <a:r>
              <a:rPr sz="850" b="1">
                <a:solidFill>
                  <a:srgbClr val="203634"/>
                </a:solidFill>
                <a:latin typeface="Noto Sans"/>
              </a:rPr>
              <a:t>LÍNEAS DEL SERVICIO FIJO DE TELEFONÍA NO RESIDENCIAL POR CADA 100 UNIDADES ECONÓMICAS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{{FIGURA:B.7}}</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B.8</a:t>
            </a:r>
          </a:p>
          <a:p>
            <a:pPr algn="l"/>
            <a:r>
              <a:rPr sz="1050" b="1">
                <a:solidFill>
                  <a:srgbClr val="203634"/>
                </a:solidFill>
                <a:latin typeface="Noto Sans"/>
              </a:rPr>
              <a:t>TRÁFICO DE MINUTOS DEL SERVICIO FIJO DE TELEFONÍA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{{FIGURA:B.8}}</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B.9</a:t>
            </a:r>
          </a:p>
          <a:p>
            <a:pPr algn="l"/>
            <a:r>
              <a:rPr sz="1050" b="1">
                <a:solidFill>
                  <a:srgbClr val="203634"/>
                </a:solidFill>
                <a:latin typeface="Noto Sans"/>
              </a:rPr>
              <a:t>PARTICIPACIÓN DE MERCADO DEL SERVICIO FIJO DE TELEFONÍA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{{FIGURA:B.9}}</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B.10</a:t>
            </a:r>
          </a:p>
          <a:p>
            <a:pPr algn="l"/>
            <a:r>
              <a:rPr sz="1050" b="1">
                <a:solidFill>
                  <a:srgbClr val="203634"/>
                </a:solidFill>
                <a:latin typeface="Noto Sans"/>
              </a:rPr>
              <a:t>HERFINDAHL-HIRSCHMAN (IHH) DEL SERVICIO FIJO DE TELEFONÍA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{{FIGURA:B.10}}</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B.11</a:t>
            </a:r>
          </a:p>
          <a:p>
            <a:pPr algn="l"/>
            <a:r>
              <a:rPr sz="1050" b="1">
                <a:solidFill>
                  <a:srgbClr val="203634"/>
                </a:solidFill>
                <a:latin typeface="Noto Sans"/>
              </a:rPr>
              <a:t>ACCESOS DEL SERVICIO FIJO DE INTERNET</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B.12</a:t>
            </a:r>
          </a:p>
          <a:p>
            <a:pPr algn="l"/>
            <a:r>
              <a:rPr sz="1050" b="1">
                <a:solidFill>
                  <a:srgbClr val="203634"/>
                </a:solidFill>
                <a:latin typeface="Noto Sans"/>
              </a:rPr>
              <a:t>ACCESOS DEL SERVICIO FIJO DE INTERNET POR CADA 100 HOGARES</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B.13</a:t>
            </a:r>
          </a:p>
          <a:p>
            <a:pPr algn="l"/>
            <a:r>
              <a:rPr sz="950" b="1">
                <a:solidFill>
                  <a:srgbClr val="203634"/>
                </a:solidFill>
                <a:latin typeface="Noto Sans"/>
              </a:rPr>
              <a:t>ACCESOS DEL SERVICIO FIJO DE INTERNET RESIDENCIAL POR CADA 100 HOGARES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B.14</a:t>
            </a:r>
          </a:p>
          <a:p>
            <a:pPr algn="l"/>
            <a:r>
              <a:rPr sz="850" b="1">
                <a:solidFill>
                  <a:srgbClr val="203634"/>
                </a:solidFill>
                <a:latin typeface="Noto Sans"/>
              </a:rPr>
              <a:t>ACCESOS DEL SERVICIO FIJO DE INTERNET NO RESIDENCIAL POR CADA 100 UNIDADES ECONÓMICAS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B.15</a:t>
            </a:r>
          </a:p>
          <a:p>
            <a:pPr algn="l"/>
            <a:r>
              <a:rPr sz="950" b="1">
                <a:solidFill>
                  <a:srgbClr val="203634"/>
                </a:solidFill>
                <a:latin typeface="Noto Sans"/>
              </a:rPr>
              <a:t>DISTRIBUCIÓN DE ACCESOS DEL SERVICIO FIJO DE INTERNET POR RANGOS DE VELOCIDAD</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B.16</a:t>
            </a:r>
          </a:p>
          <a:p>
            <a:pPr algn="l"/>
            <a:r>
              <a:rPr sz="950" b="1">
                <a:solidFill>
                  <a:srgbClr val="203634"/>
                </a:solidFill>
                <a:latin typeface="Noto Sans"/>
              </a:rPr>
              <a:t>DISTRIBUCIÓN DE ACCESOS DEL SERVICIO FIJO DE INTERNET POR TECNOLOGÍA Y SEGMENTO</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B.17</a:t>
            </a:r>
          </a:p>
          <a:p>
            <a:pPr algn="l"/>
            <a:r>
              <a:rPr sz="1050" b="1">
                <a:solidFill>
                  <a:srgbClr val="203634"/>
                </a:solidFill>
                <a:latin typeface="Noto Sans"/>
              </a:rPr>
              <a:t>PARTICIPACIÓN DE MERCADO DEL SERVICIO FIJO DE INTERNET</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{{FIGURA:B.17}}</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B.18</a:t>
            </a:r>
          </a:p>
          <a:p>
            <a:pPr algn="l"/>
            <a:r>
              <a:rPr sz="1050" b="1">
                <a:solidFill>
                  <a:srgbClr val="203634"/>
                </a:solidFill>
                <a:latin typeface="Noto Sans"/>
              </a:rPr>
              <a:t>HERFINDAHL-HIRSCHMAN (IHH) DEL SERVICIO FIJO DE INTERNET</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{{FIGURA:B.18}}</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B.19</a:t>
            </a:r>
          </a:p>
          <a:p>
            <a:pPr algn="l"/>
            <a:r>
              <a:rPr sz="1050" b="1">
                <a:solidFill>
                  <a:srgbClr val="203634"/>
                </a:solidFill>
                <a:latin typeface="Noto Sans"/>
              </a:rPr>
              <a:t>ACCESOS DEL SERVICIO DE TELEVISIÓN RESTRINGIDA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{{FIGURA:B.19}}</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B.20</a:t>
            </a:r>
          </a:p>
          <a:p>
            <a:pPr algn="l"/>
            <a:r>
              <a:rPr sz="1050" b="1">
                <a:solidFill>
                  <a:srgbClr val="203634"/>
                </a:solidFill>
                <a:latin typeface="Noto Sans"/>
              </a:rPr>
              <a:t>ACCESOS DEL SERVICIO DE TELEVISIÓN RESTRINGIDA POR CADA 100 HOGARES</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{{FIGURA:B.20}}</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B.21</a:t>
            </a:r>
          </a:p>
          <a:p>
            <a:pPr algn="l"/>
            <a:r>
              <a:rPr sz="950" b="1">
                <a:solidFill>
                  <a:srgbClr val="203634"/>
                </a:solidFill>
                <a:latin typeface="Noto Sans"/>
              </a:rPr>
              <a:t>ACCESOS DEL SERVICIO DE TELEVISIÓN RESTRINGIDA RESIDENCIAL POR CADA 100 HOGARES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{{FIGURA:B.21}}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B.22</a:t>
            </a:r>
          </a:p>
          <a:p>
            <a:pPr algn="l"/>
            <a:r>
              <a:rPr sz="850" b="1">
                <a:solidFill>
                  <a:srgbClr val="203634"/>
                </a:solidFill>
                <a:latin typeface="Noto Sans"/>
              </a:rPr>
              <a:t>ACCESOS DEL SERVICIO DE TELEVISIÓN RESTRINGIDA NO RESIDENCIAL POR CADA 100 UNIDADES ECONÓMICAS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{{FIGURA:B.22}}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B.23</a:t>
            </a:r>
          </a:p>
          <a:p>
            <a:pPr algn="l"/>
            <a:r>
              <a:rPr sz="950" b="1">
                <a:solidFill>
                  <a:srgbClr val="203634"/>
                </a:solidFill>
                <a:latin typeface="Noto Sans"/>
              </a:rPr>
              <a:t>TECNOLOGÍAS DE CONEXIÓN DEL SERVICIO DE TELEVISIÓN RESTRINGIDA POR SEGMENTO</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{{FIGURA:B.23}}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B.24</a:t>
            </a:r>
          </a:p>
          <a:p>
            <a:pPr algn="l"/>
            <a:r>
              <a:rPr sz="1050" b="1">
                <a:solidFill>
                  <a:srgbClr val="203634"/>
                </a:solidFill>
                <a:latin typeface="Noto Sans"/>
              </a:rPr>
              <a:t>PARTICIPACIÓN DE MERCADO DEL SERVICIO DE TELEVISIÓN RESTRINGIDA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{{FIGURA:B.24}}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B.25</a:t>
            </a:r>
          </a:p>
          <a:p>
            <a:pPr algn="l"/>
            <a:r>
              <a:rPr sz="1050" b="1">
                <a:solidFill>
                  <a:srgbClr val="203634"/>
                </a:solidFill>
                <a:latin typeface="Noto Sans"/>
              </a:rPr>
              <a:t>ÍNDICE DE CONCENTRACIÓN DEL SERVICIO DE TELEVISIÓN RESTRINGIDA</a:t>
            </a:r>
          </a:p>
          <a:p/>
          <a:p>
            <a:pPr algn="l"/>
            <a:r>
              <a:rPr sz="819">
                <a:solidFill>
                  <a:srgbClr val="434343"/>
                </a:solidFill>
                <a:latin typeface="Noto Sans"/>
              </a:rPr>
              <a:t>Anuario Estadístico 2026 · espacio preparado para inserción automática.</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{{FIGURA:B.25}}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C.1</a:t>
            </a:r>
          </a:p>
          <a:p>
            <a:pPr algn="l"/>
            <a:r>
              <a:rPr sz="1050" b="1">
                <a:solidFill>
                  <a:srgbClr val="203634"/>
                </a:solidFill>
                <a:latin typeface="Noto Sans"/>
              </a:rPr>
              <a:t>ESPECTRO RADIOELÉCTRICO ASIGNADO POR BANDA DE FRECUENCIA</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C.2</a:t>
            </a:r>
          </a:p>
          <a:p>
            <a:pPr algn="l"/>
            <a:r>
              <a:rPr sz="950" b="1">
                <a:solidFill>
                  <a:srgbClr val="203634"/>
                </a:solidFill>
                <a:latin typeface="Noto Sans"/>
              </a:rPr>
              <a:t>DISTRIBUCIÓN DEL ESPECTRO RADIOELÉCTRICO POR OPERADOR Y POR BANDA DE FRECUENCIA</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500"/>
              </a:spcAft>
              <a:buNone/>
            </a:pPr>
            <a:r>
              <a:rPr sz="819" b="1">
                <a:solidFill>
                  <a:srgbClr val="203634"/>
                </a:solidFill>
                <a:latin typeface="Noto Sans"/>
              </a:rPr>
              <a:t>FIGURA C.3 · USO DE LOS SERVICIOS MÓVILES</a:t>
            </a:r>
          </a:p>
          <a:p>
            <a:pPr algn="l">
              <a:spcBef>
                <a:spcPts val="0"/>
              </a:spcBef>
              <a:spcAft>
                <a:spcPts val="0"/>
              </a:spcAft>
            </a:pPr>
            <a:r>
              <a:rPr sz="720" b="0">
                <a:solidFill>
                  <a:srgbClr val="434343"/>
                </a:solidFill>
                <a:latin typeface="Noto Sans"/>
              </a:rPr>
              <a:t>{{TEXTO:C.3}}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r>
              <a:rPr sz="800" b="1">
                <a:solidFill>
                  <a:srgbClr val="203634"/>
                </a:solidFill>
                <a:latin typeface="Noto Sans"/>
              </a:rPr>
              <a:t>FIGURA C.3</a:t>
            </a:r>
          </a:p>
          <a:p>
            <a:pPr algn="ctr">
              <a:spcBef>
                <a:spcPts val="0"/>
              </a:spcBef>
              <a:spcAft>
                <a:spcPts val="0"/>
              </a:spcAft>
            </a:pPr>
            <a:r>
              <a:rPr sz="1700" b="0">
                <a:solidFill>
                  <a:srgbClr val="434343"/>
                </a:solidFill>
                <a:latin typeface="Noto Sans"/>
              </a:rPr>
              <a:t>{{FIGURA:C.3}}</a:t>
            </a:r>
          </a:p>
        </p:txBody>
      </p:sp>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500"/>
              </a:spcAft>
              <a:buNone/>
            </a:pPr>
            <a:r>
              <a:rPr sz="819" b="1">
                <a:solidFill>
                  <a:srgbClr val="203634"/>
                </a:solidFill>
                <a:latin typeface="Noto Sans"/>
              </a:rPr>
              <a:t>FIGURA C.4 · USO POR ZONA GEOGRÁFICA</a:t>
            </a:r>
          </a:p>
          <a:p>
            <a:pPr algn="l">
              <a:spcBef>
                <a:spcPts val="0"/>
              </a:spcBef>
              <a:spcAft>
                <a:spcPts val="0"/>
              </a:spcAft>
            </a:pPr>
            <a:r>
              <a:rPr sz="720" b="0">
                <a:solidFill>
                  <a:srgbClr val="434343"/>
                </a:solidFill>
                <a:latin typeface="Noto Sans"/>
              </a:rPr>
              <a:t>{{TEXTO:C.4}}</a:t>
            </a:r>
          </a:p>
        </p:txBody>
      </p:sp>
      <p:sp>
        <p:nvSpPr>
          <p:cNvPr id="3" name="ANUARIO_FIGURE_C_4" descr="ANUARIO_FIGURE_ID=C.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r>
              <a:rPr sz="800" b="1">
                <a:solidFill>
                  <a:srgbClr val="203634"/>
                </a:solidFill>
                <a:latin typeface="Noto Sans"/>
              </a:rPr>
              <a:t>FIGURA C.4</a:t>
            </a:r>
          </a:p>
          <a:p>
            <a:pPr algn="ctr">
              <a:spcBef>
                <a:spcPts val="0"/>
              </a:spcBef>
              <a:spcAft>
                <a:spcPts val="0"/>
              </a:spcAft>
            </a:pPr>
            <a:r>
              <a:rPr sz="1700" b="0">
                <a:solidFill>
                  <a:srgbClr val="434343"/>
                </a:solidFill>
                <a:latin typeface="Noto Sans"/>
              </a:rPr>
              <a:t>{{FIGURA:C.4}}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C.5</a:t>
            </a:r>
          </a:p>
          <a:p>
            <a:pPr algn="l"/>
            <a:r>
              <a:rPr sz="1050" b="1">
                <a:solidFill>
                  <a:srgbClr val="203634"/>
                </a:solidFill>
                <a:latin typeface="Noto Sans"/>
              </a:rPr>
              <a:t>LÍNEAS DEL SERVICIO MÓVIL DE TELEFONÍA POR MODALIDAD</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C.6</a:t>
            </a:r>
          </a:p>
          <a:p>
            <a:pPr algn="l"/>
            <a:r>
              <a:rPr sz="1050" b="1">
                <a:solidFill>
                  <a:srgbClr val="203634"/>
                </a:solidFill>
                <a:latin typeface="Noto Sans"/>
              </a:rPr>
              <a:t>LÍNEAS DEL SERVICIO MÓVIL DE TELEFONÍA POR CADA 100 HABITANTES</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C.7</a:t>
            </a:r>
          </a:p>
          <a:p>
            <a:pPr algn="l"/>
            <a:r>
              <a:rPr sz="950" b="1">
                <a:solidFill>
                  <a:srgbClr val="203634"/>
                </a:solidFill>
                <a:latin typeface="Noto Sans"/>
              </a:rPr>
              <a:t>LÍNEAS DEL SERVICIO MÓVIL DE TELEFONÍA POR CADA 100 HABITANTES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{{FIGURA:C.7}}</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C.8</a:t>
            </a:r>
          </a:p>
          <a:p>
            <a:pPr algn="l"/>
            <a:r>
              <a:rPr sz="1050" b="1">
                <a:solidFill>
                  <a:srgbClr val="203634"/>
                </a:solidFill>
                <a:latin typeface="Noto Sans"/>
              </a:rPr>
              <a:t>TRÁFICO DE MINUTOS DEL SERVICIO MÓVIL DE TELEFONÍA</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{{FIGURA:C.8}}</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C.9</a:t>
            </a:r>
          </a:p>
          <a:p>
            <a:pPr algn="l"/>
            <a:r>
              <a:rPr sz="1050" b="1">
                <a:solidFill>
                  <a:srgbClr val="203634"/>
                </a:solidFill>
                <a:latin typeface="Noto Sans"/>
              </a:rPr>
              <a:t>PARTICIPACIÓN DE MERCADO DEL SERVICIO MÓVIL DE TELEFONÍA</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{{FIGURA:C.9}}</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C.10</a:t>
            </a:r>
          </a:p>
          <a:p>
            <a:pPr algn="l"/>
            <a:r>
              <a:rPr sz="1050" b="1">
                <a:solidFill>
                  <a:srgbClr val="203634"/>
                </a:solidFill>
                <a:latin typeface="Noto Sans"/>
              </a:rPr>
              <a:t>ÍNDICE DE CONCENTRACIÓN DEL SERVICIO MÓVIL DE TELEFONÍA</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{{FIGURA:C.10}}</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C.11</a:t>
            </a:r>
          </a:p>
          <a:p>
            <a:pPr algn="l"/>
            <a:r>
              <a:rPr sz="1050" b="1">
                <a:solidFill>
                  <a:srgbClr val="203634"/>
                </a:solidFill>
                <a:latin typeface="Noto Sans"/>
              </a:rPr>
              <a:t>LÍNEAS DEL SERVICIO MÓVIL DE ACCESO A INTERNET POR MODALIDAD</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{{FIGURA:C.11}}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C.12</a:t>
            </a:r>
          </a:p>
          <a:p>
            <a:pPr algn="l"/>
            <a:r>
              <a:rPr sz="1050" b="1">
                <a:solidFill>
                  <a:srgbClr val="203634"/>
                </a:solidFill>
                <a:latin typeface="Noto Sans"/>
              </a:rPr>
              <a:t>LÍNEAS DEL SERVICIO MÓVIL DE ACCESO A INTERNET POR CADA 100 HABITANTES</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{{FIGURA:C.12}}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C.13</a:t>
            </a:r>
          </a:p>
          <a:p>
            <a:pPr algn="l"/>
            <a:r>
              <a:rPr sz="950" b="1">
                <a:solidFill>
                  <a:srgbClr val="203634"/>
                </a:solidFill>
                <a:latin typeface="Noto Sans"/>
              </a:rPr>
              <a:t>LÍNEAS DEL SERVICIO MÓVIL DE ACCESO A INTERNET POR CADA 100 HABITANTES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{{FIGURA:C.13}}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C.14</a:t>
            </a:r>
          </a:p>
          <a:p>
            <a:pPr algn="l"/>
            <a:r>
              <a:rPr sz="1050" b="1">
                <a:solidFill>
                  <a:srgbClr val="203634"/>
                </a:solidFill>
                <a:latin typeface="Noto Sans"/>
              </a:rPr>
              <a:t>TRÁFICO DEL SERVICIO MÓVIL DE ACCESO A INTERNET POR TECNOLOGÍA</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{{FIGURA:C.14}}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C.15</a:t>
            </a:r>
          </a:p>
          <a:p>
            <a:pPr algn="l"/>
            <a:r>
              <a:rPr sz="1050" b="1">
                <a:solidFill>
                  <a:srgbClr val="203634"/>
                </a:solidFill>
                <a:latin typeface="Noto Sans"/>
              </a:rPr>
              <a:t>PARTICIPACIÓN DE MERCADO DEL SERVICIO MÓVIL DE ACCESO A INTERNET</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{{FIGURA:C.15}}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C.16</a:t>
            </a:r>
          </a:p>
          <a:p>
            <a:pPr algn="l"/>
            <a:r>
              <a:rPr sz="1050" b="1">
                <a:solidFill>
                  <a:srgbClr val="203634"/>
                </a:solidFill>
                <a:latin typeface="Noto Sans"/>
              </a:rPr>
              <a:t>ÍNDICE DE CONCENTRACIÓN DEL SERVICIO MÓVIL DE ACCESO A INTERNET</a:t>
            </a:r>
          </a:p>
          <a:p/>
          <a:p>
            <a:pPr algn="l"/>
            <a:r>
              <a:rPr sz="819">
                <a:solidFill>
                  <a:srgbClr val="434343"/>
                </a:solidFill>
                <a:latin typeface="Noto Sans"/>
              </a:rPr>
              <a:t>Anuario Estadístico 2026 · espacio preparado para inserción automática.</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{{FIGURA:C.16}}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D.1</a:t>
            </a:r>
          </a:p>
          <a:p>
            <a:pPr algn="l"/>
            <a:r>
              <a:rPr sz="1050" b="1">
                <a:solidFill>
                  <a:srgbClr val="203634"/>
                </a:solidFill>
                <a:latin typeface="Noto Sans"/>
              </a:rPr>
              <a:t>DISPONIBILIDAD DE LAS TIC EN LOS HOGARES</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D.2</a:t>
            </a:r>
          </a:p>
          <a:p>
            <a:pPr algn="l"/>
            <a:r>
              <a:rPr sz="1050" b="1">
                <a:solidFill>
                  <a:srgbClr val="203634"/>
                </a:solidFill>
                <a:latin typeface="Noto Sans"/>
              </a:rPr>
              <a:t>USO DE SMARTPHONE E INTERNET POR GRUPOS DE EDAD</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D.3</a:t>
            </a:r>
          </a:p>
          <a:p>
            <a:pPr algn="l"/>
            <a:r>
              <a:rPr sz="1050" b="1">
                <a:solidFill>
                  <a:srgbClr val="203634"/>
                </a:solidFill>
                <a:latin typeface="Noto Sans"/>
              </a:rPr>
              <a:t>HORAS PROMEDIO DE USO DE INTERNET POR GRUPOS DE EDAD</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D.4</a:t>
            </a:r>
          </a:p>
          <a:p>
            <a:pPr algn="l"/>
            <a:r>
              <a:rPr sz="1050" b="1">
                <a:solidFill>
                  <a:srgbClr val="203634"/>
                </a:solidFill>
                <a:latin typeface="Noto Sans"/>
              </a:rPr>
              <a:t>USO DE DISPOSITIVOS INTELIGENTES CONECTADOS A INTERNET</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D.5</a:t>
            </a:r>
          </a:p>
          <a:p>
            <a:pPr algn="l"/>
            <a:r>
              <a:rPr sz="950" b="1">
                <a:solidFill>
                  <a:srgbClr val="203634"/>
                </a:solidFill>
                <a:latin typeface="Noto Sans"/>
              </a:rPr>
              <a:t>FORMA EN QUE LAS PERSONAS APRENDIERON A BUSCAR INFORMACIÓN O USAR INTERNET</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D.6</a:t>
            </a:r>
          </a:p>
          <a:p>
            <a:pPr algn="l"/>
            <a:r>
              <a:rPr sz="1050" b="1">
                <a:solidFill>
                  <a:srgbClr val="203634"/>
                </a:solidFill>
                <a:latin typeface="Noto Sans"/>
              </a:rPr>
              <a:t>EXPERIENCIAS NEGATIVAS EN INTERNET POR SEXO</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D.7</a:t>
            </a:r>
          </a:p>
          <a:p>
            <a:pPr algn="l"/>
            <a:r>
              <a:rPr sz="1050" b="1">
                <a:solidFill>
                  <a:srgbClr val="203634"/>
                </a:solidFill>
                <a:latin typeface="Noto Sans"/>
              </a:rPr>
              <a:t>EXPERIENCIAS NEGATIVAS EN INTERNET POR GRUPO DE EDAD</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{{FIGURA:D.7}}</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D.8</a:t>
            </a:r>
          </a:p>
          <a:p>
            <a:pPr algn="l"/>
            <a:r>
              <a:rPr sz="1050" b="1">
                <a:solidFill>
                  <a:srgbClr val="203634"/>
                </a:solidFill>
                <a:latin typeface="Noto Sans"/>
              </a:rPr>
              <a:t>INFLUENCIA DE LA CONFIANZA EN INTERNET SOBRE SU USO</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{{FIGURA:D.8}}</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D.9</a:t>
            </a:r>
          </a:p>
          <a:p>
            <a:pPr algn="l"/>
            <a:r>
              <a:rPr sz="950" b="1">
                <a:solidFill>
                  <a:srgbClr val="203634"/>
                </a:solidFill>
                <a:latin typeface="Noto Sans"/>
              </a:rPr>
              <a:t>PERCEPCIÓN DE SEGURIDAD AL REALIZAR COMPRAS POR INTERNET POR GRUPO DE EDAD</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{{FIGURA:D.9}}</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D.10</a:t>
            </a:r>
          </a:p>
          <a:p>
            <a:pPr algn="l"/>
            <a:r>
              <a:rPr sz="1050" b="1">
                <a:solidFill>
                  <a:srgbClr val="203634"/>
                </a:solidFill>
                <a:latin typeface="Noto Sans"/>
              </a:rPr>
              <a:t>PERCEPCIÓN DE SEGURIDAD AL USAR BANCA POR INTERNET POR GRUPO DE EDAD</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{{FIGURA:D.10}}</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D.11</a:t>
            </a:r>
          </a:p>
          <a:p>
            <a:pPr algn="l"/>
            <a:r>
              <a:rPr sz="950" b="1">
                <a:solidFill>
                  <a:srgbClr val="203634"/>
                </a:solidFill>
                <a:latin typeface="Noto Sans"/>
              </a:rPr>
              <a:t>PERCEPCIÓN DE SEGURIDAD AL COMPARTIR INFORMACIÓN EN REDES SOCIALES POR SEXO</a:t>
            </a:r>
          </a:p>
          <a:p/>
          <a:p>
            <a:pPr algn="l"/>
            <a:r>
              <a:rPr sz="819">
                <a:solidFill>
                  <a:srgbClr val="434343"/>
                </a:solidFill>
                <a:latin typeface="Noto Sans"/>
              </a:rPr>
              <a:t>Anuario Estadístico 2026 · espacio preparado para inserción automática.</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{{FIGURA:D.11}}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E.1</a:t>
            </a:r>
          </a:p>
          <a:p>
            <a:pPr algn="l"/>
            <a:r>
              <a:rPr sz="1050" b="1">
                <a:solidFill>
                  <a:srgbClr val="203634"/>
                </a:solidFill>
                <a:latin typeface="Noto Sans"/>
              </a:rPr>
              <a:t>ÍNDICE GENERAL DE SATISFACCIÓN POR SERVICIO DE TELECOMUNICACIONES</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E.2</a:t>
            </a:r>
          </a:p>
          <a:p>
            <a:pPr algn="l"/>
            <a:r>
              <a:rPr sz="1050" b="1">
                <a:solidFill>
                  <a:srgbClr val="203634"/>
                </a:solidFill>
                <a:latin typeface="Noto Sans"/>
              </a:rPr>
              <a:t>PRINCIPALES HALLAZGOS DE LA INTELIGENCIA ARTIFICIAL Y CHATGPT</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E.3</a:t>
            </a:r>
          </a:p>
          <a:p>
            <a:pPr algn="l"/>
            <a:r>
              <a:rPr sz="1050" b="1">
                <a:solidFill>
                  <a:srgbClr val="203634"/>
                </a:solidFill>
                <a:latin typeface="Noto Sans"/>
              </a:rPr>
              <a:t>ÍNDICE GENERAL DE SATISFACCIÓN POR SERVICIO Y TAMAÑO DE EMPRESA</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E.4</a:t>
            </a:r>
          </a:p>
          <a:p>
            <a:pPr algn="l"/>
            <a:r>
              <a:rPr sz="1050" b="1">
                <a:solidFill>
                  <a:srgbClr val="203634"/>
                </a:solidFill>
                <a:latin typeface="Noto Sans"/>
              </a:rPr>
              <a:t>SERVICIOS DE TELECOMUNICACIONES CONTRATADOS POR LAS MIPYMES</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E.5</a:t>
            </a:r>
          </a:p>
          <a:p>
            <a:pPr algn="l"/>
            <a:r>
              <a:rPr sz="1050" b="1">
                <a:solidFill>
                  <a:srgbClr val="203634"/>
                </a:solidFill>
                <a:latin typeface="Noto Sans"/>
              </a:rPr>
              <a:t>PERCEPCIÓN DE BENEFICIOS DE INTERNET FIJO Y TELEFONÍA FIJA</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E.6</a:t>
            </a:r>
          </a:p>
          <a:p>
            <a:pPr algn="l"/>
            <a:r>
              <a:rPr sz="1050" b="1">
                <a:solidFill>
                  <a:srgbClr val="203634"/>
                </a:solidFill>
                <a:latin typeface="Noto Sans"/>
              </a:rPr>
              <a:t>BENEFICIOS DE VENDER MEDIANTE INTERNET FIJO</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E.7</a:t>
            </a:r>
          </a:p>
          <a:p>
            <a:pPr algn="l"/>
            <a:r>
              <a:rPr sz="1050" b="1">
                <a:solidFill>
                  <a:srgbClr val="203634"/>
                </a:solidFill>
                <a:latin typeface="Noto Sans"/>
              </a:rPr>
              <a:t>DISPOSITIVOS UTILIZADOS POR LAS MIPYMES</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{{FIGURA:E.7}}</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E.8</a:t>
            </a:r>
          </a:p>
          <a:p>
            <a:pPr algn="l"/>
            <a:r>
              <a:rPr sz="1050" b="1">
                <a:solidFill>
                  <a:srgbClr val="203634"/>
                </a:solidFill>
                <a:latin typeface="Noto Sans"/>
              </a:rPr>
              <a:t>BENEFICIOS DE CONTAR CON UNA APLICACIÓN MÓVIL</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{{FIGURA:E.8}}</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E.9</a:t>
            </a:r>
          </a:p>
          <a:p>
            <a:pPr algn="l"/>
            <a:r>
              <a:rPr sz="950" b="1">
                <a:solidFill>
                  <a:srgbClr val="203634"/>
                </a:solidFill>
                <a:latin typeface="Noto Sans"/>
              </a:rPr>
              <a:t>SERVICIOS DE TELECOMUNICACIONES MÁS IMPORTANTES PARA MIPYMES IMPORTADORAS Y EXPORTADORAS</a:t>
            </a:r>
          </a:p>
          <a:p/>
          <a:p>
            <a:pPr algn="l"/>
            <a:r>
              <a:rPr sz="819">
                <a:solidFill>
                  <a:srgbClr val="434343"/>
                </a:solidFill>
                <a:latin typeface="Noto Sans"/>
              </a:rPr>
              <a:t>Anuario Estadístico 2026 · espacio preparado para inserción automática.</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{{FIGURA:E.9}}</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 name="ANUARIO_F_OVERVIEW_SMARTPHONE"/>
          <p:cNvSpPr/>
          <p:nvPr/>
        </p:nvSpPr>
        <p:spPr>
          <a:xfrm>
            <a:off x="450900" y="943525"/>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ACTIVIDADES EN EL TELÉFONO CELULAR INTELIGENTE</a:t>
            </a:r>
          </a:p>
          <a:p>
            <a:pPr algn="l">
              <a:spcBef>
                <a:spcPts val="0"/>
              </a:spcBef>
              <a:spcAft>
                <a:spcPts val="0"/>
              </a:spcAft>
            </a:pPr>
            <a:r>
              <a:rPr sz="780" b="0">
                <a:solidFill>
                  <a:srgbClr val="434343"/>
                </a:solidFill>
                <a:latin typeface="Noto Sans"/>
              </a:rPr>
              <a:t>{{TEXTO:F_OVERVIEW_SMARTPHONE}}</a:t>
            </a:r>
          </a:p>
        </p:txBody>
      </p:sp>
      <p:sp>
        <p:nvSpPr>
          <p:cNvPr id="223" name="ANUARIO_F_OVERVIEW_INTERNET"/>
          <p:cNvSpPr/>
          <p:nvPr/>
        </p:nvSpPr>
        <p:spPr>
          <a:xfrm>
            <a:off x="4650827" y="943525"/>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ACTIVIDADES REALIZADAS EN INTERNET</a:t>
            </a:r>
          </a:p>
          <a:p>
            <a:pPr algn="l">
              <a:spcBef>
                <a:spcPts val="0"/>
              </a:spcBef>
              <a:spcAft>
                <a:spcPts val="0"/>
              </a:spcAft>
            </a:pPr>
            <a:r>
              <a:rPr sz="780" b="0">
                <a:solidFill>
                  <a:srgbClr val="434343"/>
                </a:solidFill>
                <a:latin typeface="Noto Sans"/>
              </a:rPr>
              <a:t>{{TEXTO:F_OVERVIEW_INTERNET}}</a:t>
            </a:r>
          </a:p>
        </p:txBody>
      </p:sp>
      <p:sp>
        <p:nvSpPr>
          <p:cNvPr id="224" name="ANUARIO_F_OVERVIEW_COMPUTADORA"/>
          <p:cNvSpPr/>
          <p:nvPr/>
        </p:nvSpPr>
        <p:spPr>
          <a:xfrm>
            <a:off x="450900" y="2802733"/>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ACTIVIDADES EN LA COMPUTADORA</a:t>
            </a:r>
          </a:p>
          <a:p>
            <a:pPr algn="l">
              <a:spcBef>
                <a:spcPts val="0"/>
              </a:spcBef>
              <a:spcAft>
                <a:spcPts val="0"/>
              </a:spcAft>
            </a:pPr>
            <a:r>
              <a:rPr sz="780" b="0">
                <a:solidFill>
                  <a:srgbClr val="434343"/>
                </a:solidFill>
                <a:latin typeface="Noto Sans"/>
              </a:rPr>
              <a:t>{{TEXTO:F_OVERVIEW_COMPUTADORA}}</a:t>
            </a:r>
          </a:p>
        </p:txBody>
      </p:sp>
      <p:sp>
        <p:nvSpPr>
          <p:cNvPr id="225" name="ANUARIO_F_OVERVIEW_REDES"/>
          <p:cNvSpPr/>
          <p:nvPr/>
        </p:nvSpPr>
        <p:spPr>
          <a:xfrm>
            <a:off x="4650827" y="2802733"/>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USO DE LAS REDES SOCIALES</a:t>
            </a:r>
          </a:p>
          <a:p>
            <a:pPr algn="l">
              <a:spcBef>
                <a:spcPts val="0"/>
              </a:spcBef>
              <a:spcAft>
                <a:spcPts val="0"/>
              </a:spcAft>
            </a:pPr>
            <a:r>
              <a:rPr sz="780" b="0">
                <a:solidFill>
                  <a:srgbClr val="434343"/>
                </a:solidFill>
                <a:latin typeface="Noto Sans"/>
              </a:rPr>
              <a:t>{{TEXTO:F_OVERVIEW_REDES}}</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F.1.1</a:t>
            </a:r>
          </a:p>
          <a:p>
            <a:pPr algn="l"/>
            <a:r>
              <a:rPr sz="1050" b="1">
                <a:solidFill>
                  <a:srgbClr val="203634"/>
                </a:solidFill>
                <a:latin typeface="Noto Sans"/>
              </a:rPr>
              <a:t>APLICACIONES INSTALADAS MEDIANTE SMARTPHONE</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F.1.2</a:t>
            </a:r>
          </a:p>
          <a:p>
            <a:pPr algn="l"/>
            <a:r>
              <a:rPr sz="1050" b="1">
                <a:solidFill>
                  <a:srgbClr val="203634"/>
                </a:solidFill>
                <a:latin typeface="Noto Sans"/>
              </a:rPr>
              <a:t>ACTIVIDADES REALIZADAS EN INTERNET</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F.1.3</a:t>
            </a:r>
          </a:p>
          <a:p>
            <a:pPr algn="l"/>
            <a:r>
              <a:rPr sz="1050" b="1">
                <a:solidFill>
                  <a:srgbClr val="203634"/>
                </a:solidFill>
                <a:latin typeface="Noto Sans"/>
              </a:rPr>
              <a:t>HABILIDADES EN LA COMPUTADORA</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F.1.4</a:t>
            </a:r>
          </a:p>
          <a:p>
            <a:pPr algn="l"/>
            <a:r>
              <a:rPr sz="1050" b="1">
                <a:solidFill>
                  <a:srgbClr val="203634"/>
                </a:solidFill>
                <a:latin typeface="Noto Sans"/>
              </a:rPr>
              <a:t>USO DE REDES SOCIALES</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F.2</a:t>
            </a:r>
          </a:p>
          <a:p>
            <a:pPr algn="l"/>
            <a:r>
              <a:rPr sz="1050" b="1">
                <a:solidFill>
                  <a:srgbClr val="203634"/>
                </a:solidFill>
                <a:latin typeface="Noto Sans"/>
              </a:rPr>
              <a:t>PORCENTAJE DE PERSONAS EMPLEADAS EN TELECOMUNICACIONES Y RADIODIFUSIÓN</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F.3</a:t>
            </a:r>
          </a:p>
          <a:p>
            <a:pPr algn="l"/>
            <a:r>
              <a:rPr sz="950" b="1">
                <a:solidFill>
                  <a:srgbClr val="203634"/>
                </a:solidFill>
                <a:latin typeface="Noto Sans"/>
              </a:rPr>
              <a:t>PORCENTAJE DE LA POBLACIÓN DE 12 AÑOS Y MÁS QUE VIVIÓ CIBERACOSO POR ENTIDAD FEDERATIVA</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F.4</a:t>
            </a:r>
          </a:p>
          <a:p>
            <a:pPr algn="l"/>
            <a:r>
              <a:rPr sz="950" b="1">
                <a:solidFill>
                  <a:srgbClr val="203634"/>
                </a:solidFill>
                <a:latin typeface="Noto Sans"/>
              </a:rPr>
              <a:t>PORCENTAJE DE LA POBLACIÓN DE 12 AÑOS Y MÁS QUE VIVIÓ CIBERACOSO POR ENTIDAD FEDERATIVA Y SEXO</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F.5</a:t>
            </a:r>
          </a:p>
          <a:p>
            <a:pPr algn="l"/>
            <a:r>
              <a:rPr sz="1050" b="1">
                <a:solidFill>
                  <a:srgbClr val="203634"/>
                </a:solidFill>
                <a:latin typeface="Noto Sans"/>
              </a:rPr>
              <a:t>PORCENTAJE DE LA POBLACIÓN QUE VIVIÓ CIBERACOSO POR SEXO Y RANGO DE EDAD</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F.6</a:t>
            </a:r>
          </a:p>
          <a:p>
            <a:pPr algn="l"/>
            <a:r>
              <a:rPr sz="1050" b="1">
                <a:solidFill>
                  <a:srgbClr val="203634"/>
                </a:solidFill>
                <a:latin typeface="Noto Sans"/>
              </a:rPr>
              <a:t>DISTRIBUCIÓN DE LAS SITUACIONES DE CIBERACOSO EXPERIMENTADAS POR SEXO</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F.7</a:t>
            </a:r>
          </a:p>
          <a:p>
            <a:pPr algn="l"/>
            <a:r>
              <a:rPr sz="950" b="1">
                <a:solidFill>
                  <a:srgbClr val="203634"/>
                </a:solidFill>
                <a:latin typeface="Noto Sans"/>
              </a:rPr>
              <a:t>MEDIDAS DE SEGURIDAD PARA PROTEGER EQUIPOS O CUENTAS DE INTERNET POR SEXO</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{{FIGURA:F.7}}</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F.8</a:t>
            </a:r>
          </a:p>
          <a:p>
            <a:pPr algn="l"/>
            <a:r>
              <a:rPr sz="1050" b="1">
                <a:solidFill>
                  <a:srgbClr val="203634"/>
                </a:solidFill>
                <a:latin typeface="Noto Sans"/>
              </a:rPr>
              <a:t>PORCENTAJE DE POBLACIÓN QUE VIVIÓ CIBERACOSO POR MEDIOS DIGITALES</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{{FIGURA:F.8}}</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F.9</a:t>
            </a:r>
          </a:p>
          <a:p>
            <a:pPr algn="l"/>
            <a:r>
              <a:rPr sz="1050" b="1">
                <a:solidFill>
                  <a:srgbClr val="203634"/>
                </a:solidFill>
                <a:latin typeface="Noto Sans"/>
              </a:rPr>
              <a:t>MEDIDAS TOMADAS CONTRA EL CIBERACOSO EXPERIMENTADO</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{{FIGURA:F.9}}</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F.10</a:t>
            </a:r>
          </a:p>
          <a:p>
            <a:pPr algn="l"/>
            <a:r>
              <a:rPr sz="1050" b="1">
                <a:solidFill>
                  <a:srgbClr val="203634"/>
                </a:solidFill>
                <a:latin typeface="Noto Sans"/>
              </a:rPr>
              <a:t>PERSONAS CON MAYOR RIESGO DE SER VÍCTIMAS DE VIOLENCIA EN INTERNET</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{{FIGURA:F.10}}</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F.11</a:t>
            </a:r>
          </a:p>
          <a:p>
            <a:pPr algn="l"/>
            <a:r>
              <a:rPr sz="950" b="1">
                <a:solidFill>
                  <a:srgbClr val="203634"/>
                </a:solidFill>
                <a:latin typeface="Noto Sans"/>
              </a:rPr>
              <a:t>PERSONAS CON MAYOR RIESGO DE SER VÍCTIMAS DE VIOLENCIA EN INTERNET POR SEXO</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F.12</a:t>
            </a:r>
          </a:p>
          <a:p>
            <a:pPr algn="l"/>
            <a:r>
              <a:rPr sz="1050" b="1">
                <a:solidFill>
                  <a:srgbClr val="203634"/>
                </a:solidFill>
                <a:latin typeface="Noto Sans"/>
              </a:rPr>
              <a:t>PERSONAS CON MAYOR RIESGO DE VIOLENCIA A TRAVÉS DEL TELÉFONO MÓVIL</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F.13</a:t>
            </a:r>
          </a:p>
          <a:p>
            <a:pPr algn="l"/>
            <a:r>
              <a:rPr sz="1050" b="1">
                <a:solidFill>
                  <a:srgbClr val="203634"/>
                </a:solidFill>
                <a:latin typeface="Noto Sans"/>
              </a:rPr>
              <a:t>PERSONAS CON MAYOR RIESGO DE VIOLENCIA MEDIANTE TELEFONÍA MÓVIL POR SEXO</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F.14</a:t>
            </a:r>
          </a:p>
          <a:p>
            <a:pPr algn="l"/>
            <a:r>
              <a:rPr sz="1050" b="1">
                <a:solidFill>
                  <a:srgbClr val="203634"/>
                </a:solidFill>
                <a:latin typeface="Noto Sans"/>
              </a:rPr>
              <a:t>MEDIDAS PREVENTIVAS Y DE PROTECCIÓN ANTE LA VIOLENCIA DIGITAL</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F.15</a:t>
            </a:r>
          </a:p>
          <a:p>
            <a:pPr algn="l"/>
            <a:r>
              <a:rPr sz="1050" b="1">
                <a:solidFill>
                  <a:srgbClr val="203634"/>
                </a:solidFill>
                <a:latin typeface="Noto Sans"/>
              </a:rPr>
              <a:t>ACCIONES PARA PROTEGERSE O PREVENIR LA VIOLENCIA EN INTERNET POR SEXO</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F.16</a:t>
            </a:r>
          </a:p>
          <a:p>
            <a:pPr algn="l"/>
            <a:r>
              <a:rPr sz="1050" b="1">
                <a:solidFill>
                  <a:srgbClr val="203634"/>
                </a:solidFill>
                <a:latin typeface="Noto Sans"/>
              </a:rPr>
              <a:t>MEDIDAS QUE SE TOMARÍAN ANTE VIOLENCIA EN INTERNET POR SEXO</a:t>
            </a:r>
          </a:p>
          <a:p/>
          <a:p>
            <a:pPr algn="l"/>
            <a:r>
              <a:rPr sz="819">
                <a:solidFill>
                  <a:srgbClr val="434343"/>
                </a:solidFill>
                <a:latin typeface="Noto Sans"/>
              </a:rPr>
              <a:t>Anuario Estadístico 2026 · espacio preparado para inserción automática.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{{FIGURA:F.16}}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G.1</a:t>
            </a:r>
          </a:p>
          <a:p>
            <a:pPr algn="l"/>
            <a:r>
              <a:rPr sz="950" b="1">
                <a:solidFill>
                  <a:srgbClr val="203634"/>
                </a:solidFill>
                <a:latin typeface="Noto Sans"/>
              </a:rPr>
              <a:t>CONCESIONES OTORGADAS DE RADIODIFUSIÓN PARA AM, FM Y TDT, A NIVEL NACIONAL</a:t>
            </a:r>
          </a:p>
          <a:p/>
          <a:p>
            <a:pPr algn="l"/>
            <a:r>
              <a:rPr sz="819">
                <a:solidFill>
                  <a:srgbClr val="434343"/>
                </a:solidFill>
                <a:latin typeface="Noto Sans"/>
              </a:rPr>
              <a:t>Anuario Estadístico 2026 · espacio preparado para inserción automática.</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{{FIGURA:G.1}}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a:t>
            </a:r>
          </a:p>
          <a:p>
            <a:pPr algn="l"/>
            <a:r>
              <a:rPr sz="950" b="1">
                <a:solidFill>
                  <a:srgbClr val="203634"/>
                </a:solidFill>
                <a:latin typeface="Noto Sans"/>
              </a:rPr>
              <a:t>PORCENTAJE DE PERSONAS QUE VIERON LA TELEVISIÓN POR HORA A NIVEL NACIONAL (28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H.2</a:t>
            </a:r>
          </a:p>
          <a:p>
            <a:pPr algn="l"/>
            <a:r>
              <a:rPr sz="950" b="1">
                <a:solidFill>
                  <a:srgbClr val="203634"/>
                </a:solidFill>
                <a:latin typeface="Noto Sans"/>
              </a:rPr>
              <a:t>HORAS DEDICADAS Y RATING PROMEDIO POR GÉNERO EN CANALES NACIONALES (28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H.3</a:t>
            </a:r>
          </a:p>
          <a:p>
            <a:pPr algn="l"/>
            <a:r>
              <a:rPr sz="950" b="1">
                <a:solidFill>
                  <a:srgbClr val="203634"/>
                </a:solidFill>
                <a:latin typeface="Noto Sans"/>
              </a:rPr>
              <a:t>PORCENTAJE DE PERSONAS QUE VIERON LA TELEVISIÓN POR HORA EN CIUDAD DE MÉXICO</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H.4</a:t>
            </a:r>
          </a:p>
          <a:p>
            <a:pPr algn="l"/>
            <a:r>
              <a:rPr sz="950" b="1">
                <a:solidFill>
                  <a:srgbClr val="203634"/>
                </a:solidFill>
                <a:latin typeface="Noto Sans"/>
              </a:rPr>
              <a:t>HORAS DEDICADAS Y RATING PROMEDIO POR GÉNERO EN CANALES NACIONALES (CDMX)</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H.5</a:t>
            </a:r>
          </a:p>
          <a:p>
            <a:pPr algn="l"/>
            <a:r>
              <a:rPr sz="1050" b="1">
                <a:solidFill>
                  <a:srgbClr val="203634"/>
                </a:solidFill>
                <a:latin typeface="Noto Sans"/>
              </a:rPr>
              <a:t>PORCENTAJE DE PERSONAS QUE VIERON LA TELEVISIÓN POR HORA EN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{{FIGURA:H.5}}</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H.6</a:t>
            </a:r>
          </a:p>
          <a:p>
            <a:pPr algn="l"/>
            <a:r>
              <a:rPr sz="950" b="1">
                <a:solidFill>
                  <a:srgbClr val="203634"/>
                </a:solidFill>
                <a:latin typeface="Noto Sans"/>
              </a:rPr>
              <a:t>HORAS DEDICADAS Y RATING PROMEDIO POR GÉNERO EN CANALES NACIONALES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{{FIGURA:H.6}}</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H.7</a:t>
            </a:r>
          </a:p>
          <a:p>
            <a:pPr algn="l"/>
            <a:r>
              <a:rPr sz="1050" b="1">
                <a:solidFill>
                  <a:srgbClr val="203634"/>
                </a:solidFill>
                <a:latin typeface="Noto Sans"/>
              </a:rPr>
              <a:t>PORCENTAJE DE PERSONAS QUE VIERON LA TELEVISIÓN POR HORA EN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{{FIGURA:H.7}}</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H.8</a:t>
            </a:r>
          </a:p>
          <a:p>
            <a:pPr algn="l"/>
            <a:r>
              <a:rPr sz="950" b="1">
                <a:solidFill>
                  <a:srgbClr val="203634"/>
                </a:solidFill>
                <a:latin typeface="Noto Sans"/>
              </a:rPr>
              <a:t>HORAS DEDICADAS Y RATING PROMEDIO POR GÉNERO EN CANALES NACIONALES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{{FIGURA:H.8}}</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H.9</a:t>
            </a:r>
          </a:p>
          <a:p>
            <a:pPr algn="l"/>
            <a:r>
              <a:rPr sz="1050" b="1">
                <a:solidFill>
                  <a:srgbClr val="203634"/>
                </a:solidFill>
                <a:latin typeface="Noto Sans"/>
              </a:rPr>
              <a:t>PORCENTAJE DE PERSONAS QUE VIERON LA TELEVISIÓN POR HORA EN 25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{{FIGURA:H.9}}</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H.10</a:t>
            </a:r>
          </a:p>
          <a:p>
            <a:pPr algn="l"/>
            <a:r>
              <a:rPr sz="950" b="1">
                <a:solidFill>
                  <a:srgbClr val="203634"/>
                </a:solidFill>
                <a:latin typeface="Noto Sans"/>
              </a:rPr>
              <a:t>HORAS DEDICADAS Y RATING PROMEDIO POR GÉNERO EN CANALES NACIONALES (25 CIUDADES)</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{{FIGURA:H.10}}</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H.11</a:t>
            </a:r>
          </a:p>
          <a:p>
            <a:pPr algn="l"/>
            <a:r>
              <a:rPr sz="1050" b="1">
                <a:solidFill>
                  <a:srgbClr val="203634"/>
                </a:solidFill>
                <a:latin typeface="Noto Sans"/>
              </a:rPr>
              <a:t>PROPORCIÓN DE PERSONAS QUE ESCUCHARON LA RADIO POR HORA (%) — NACIONAL</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{{FIGURA:H.11}}</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H.12</a:t>
            </a:r>
          </a:p>
          <a:p>
            <a:pPr algn="l"/>
            <a:r>
              <a:rPr sz="1050" b="1">
                <a:solidFill>
                  <a:srgbClr val="203634"/>
                </a:solidFill>
                <a:latin typeface="Noto Sans"/>
              </a:rPr>
              <a:t>PROPORCIÓN DE PERSONAS QUE ESCUCHARON LA RADIO POR HORA (%) — CDMX</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{{FIGURA:H.12}}</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H.13</a:t>
            </a:r>
          </a:p>
          <a:p>
            <a:pPr algn="l"/>
            <a:r>
              <a:rPr sz="950" b="1">
                <a:solidFill>
                  <a:srgbClr val="203634"/>
                </a:solidFill>
                <a:latin typeface="Noto Sans"/>
              </a:rPr>
              <a:t>PROPORCIÓN DE PERSONAS QUE ESCUCHARON LA RADIO POR HORA (%) — GUADALAJARA</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{{FIGURA:H.13}}</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0"/>
              </a:spcAft>
              <a:buNone/>
            </a:pPr>
            <a:r>
              <a:rPr sz="850" b="1">
                <a:solidFill>
                  <a:srgbClr val="203634"/>
                </a:solidFill>
                <a:latin typeface="Noto Sans"/>
              </a:rPr>
              <a:t>FIGURA H.14</a:t>
            </a:r>
          </a:p>
          <a:p>
            <a:pPr algn="l"/>
            <a:r>
              <a:rPr sz="1050" b="1">
                <a:solidFill>
                  <a:srgbClr val="203634"/>
                </a:solidFill>
                <a:latin typeface="Noto Sans"/>
              </a:rPr>
              <a:t>PROPORCIÓN DE PERSONAS QUE ESCUCHARON LA RADIO POR HORA (%) — MONTERREY</a:t>
            </a:r>
          </a:p>
          <a:p/>
          <a:p>
            <a:pPr algn="l"/>
            <a:r>
              <a:rPr sz="819">
                <a:solidFill>
                  <a:srgbClr val="434343"/>
                </a:solidFill>
                <a:latin typeface="Noto Sans"/>
              </a:rPr>
              <a:t>Anuario Estadístico 2026 · espacio preparado para inserción automática.</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r>
              <a:rPr sz="2500" b="1">
                <a:solidFill>
                  <a:srgbClr val="203634"/>
                </a:solidFill>
                <a:latin typeface="Noto Sans"/>
              </a:rPr>
              <a:t>{{FIGURA:H.14}}</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 name="ANUARIO_TOOL_1"/>
          <p:cNvSpPr/>
          <p:nvPr/>
        </p:nvSpPr>
        <p:spPr>
          <a:xfrm>
            <a:off x="450900" y="943525"/>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BANCO DE INFORMACIÓN DE TELECOMUNICACIONES</a:t>
            </a:r>
          </a:p>
          <a:p>
            <a:pPr algn="l">
              <a:spcBef>
                <a:spcPts val="0"/>
              </a:spcBef>
              <a:spcAft>
                <a:spcPts val="0"/>
              </a:spcAft>
            </a:pPr>
            <a:r>
              <a:rPr sz="780" b="0">
                <a:solidFill>
                  <a:srgbClr val="434343"/>
                </a:solidFill>
                <a:latin typeface="Noto Sans"/>
              </a:rPr>
              <a:t>{{TEXTO:HERRAMIENTA_1}}</a:t>
            </a:r>
          </a:p>
        </p:txBody>
      </p:sp>
      <p:sp>
        <p:nvSpPr>
          <p:cNvPr id="223" name="ANUARIO_TOOL_2"/>
          <p:cNvSpPr/>
          <p:nvPr/>
        </p:nvSpPr>
        <p:spPr>
          <a:xfrm>
            <a:off x="4650827" y="943525"/>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HERRAMIENTA / MICROSITIO 2</a:t>
            </a:r>
          </a:p>
          <a:p>
            <a:pPr algn="l">
              <a:spcBef>
                <a:spcPts val="0"/>
              </a:spcBef>
              <a:spcAft>
                <a:spcPts val="0"/>
              </a:spcAft>
            </a:pPr>
            <a:r>
              <a:rPr sz="780" b="0">
                <a:solidFill>
                  <a:srgbClr val="434343"/>
                </a:solidFill>
                <a:latin typeface="Noto Sans"/>
              </a:rPr>
              <a:t>{{TEXTO:HERRAMIENTA_2}}</a:t>
            </a:r>
          </a:p>
        </p:txBody>
      </p:sp>
      <p:sp>
        <p:nvSpPr>
          <p:cNvPr id="224" name="ANUARIO_TOOL_3"/>
          <p:cNvSpPr/>
          <p:nvPr/>
        </p:nvSpPr>
        <p:spPr>
          <a:xfrm>
            <a:off x="450900" y="2802733"/>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HERRAMIENTA / MICROSITIO 3</a:t>
            </a:r>
          </a:p>
          <a:p>
            <a:pPr algn="l">
              <a:spcBef>
                <a:spcPts val="0"/>
              </a:spcBef>
              <a:spcAft>
                <a:spcPts val="0"/>
              </a:spcAft>
            </a:pPr>
            <a:r>
              <a:rPr sz="780" b="0">
                <a:solidFill>
                  <a:srgbClr val="434343"/>
                </a:solidFill>
                <a:latin typeface="Noto Sans"/>
              </a:rPr>
              <a:t>{{TEXTO:HERRAMIENTA_3}}</a:t>
            </a:r>
          </a:p>
        </p:txBody>
      </p:sp>
      <p:sp>
        <p:nvSpPr>
          <p:cNvPr id="225" name="ANUARIO_TOOL_4"/>
          <p:cNvSpPr/>
          <p:nvPr/>
        </p:nvSpPr>
        <p:spPr>
          <a:xfrm>
            <a:off x="4650827" y="2802733"/>
            <a:ext cx="4053623" cy="1731192"/>
          </a:xfrm>
          <a:prstGeom prst="roundRect">
            <a:avLst/>
          </a:prstGeom>
          <a:solidFill>
            <a:srgbClr val="F7F7F7"/>
          </a:solidFill>
          <a:ln w="8890">
            <a:solidFill>
              <a:srgbClr val="E0E0E0"/>
            </a:solidFill>
          </a:ln>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noAutofit/>
          </a:bodyPr>
          <a:lstStyle/>
          <a:p>
            <a:pPr algn="ctr">
              <a:spcBef>
                <a:spcPts val="0"/>
              </a:spcBef>
              <a:spcAft>
                <a:spcPts val="500"/>
              </a:spcAft>
            </a:pPr>
            <a:r>
              <a:rPr sz="910" b="1">
                <a:solidFill>
                  <a:srgbClr val="203634"/>
                </a:solidFill>
                <a:latin typeface="Noto Sans"/>
              </a:rPr>
              <a:t>HERRAMIENTA / MICROSITIO 4</a:t>
            </a:r>
          </a:p>
          <a:p>
            <a:pPr algn="l">
              <a:spcBef>
                <a:spcPts val="0"/>
              </a:spcBef>
              <a:spcAft>
                <a:spcPts val="0"/>
              </a:spcAft>
            </a:pPr>
            <a:r>
              <a:rPr sz="780" b="0">
                <a:solidFill>
                  <a:srgbClr val="434343"/>
                </a:solidFill>
                <a:latin typeface="Noto Sans"/>
              </a:rPr>
              <a:t>{{TEXTO:HERRAMIENTA_4}}</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ANEXO_I_TABLE_1" descr="ROLE=TEXT_SECTION"/>
          <p:cNvSpPr/>
          <p:nvPr/>
        </p:nvSpPr>
        <p:spPr>
          <a:xfrm>
            <a:off x="450900" y="943525"/>
            <a:ext cx="8253550" cy="359040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500"/>
              </a:spcAft>
              <a:buNone/>
            </a:pPr>
            <a:r>
              <a:rPr sz="1100" b="1">
                <a:solidFill>
                  <a:srgbClr val="203634"/>
                </a:solidFill>
                <a:latin typeface="Noto Sans"/>
              </a:rPr>
              <a:t>RESUMEN DE INDICADORES</a:t>
            </a:r>
          </a:p>
          <a:p>
            <a:pPr algn="l">
              <a:spcBef>
                <a:spcPts val="0"/>
              </a:spcBef>
              <a:spcAft>
                <a:spcPts val="0"/>
              </a:spcAft>
            </a:pPr>
            <a:r>
              <a:rPr sz="850" b="0">
                <a:solidFill>
                  <a:srgbClr val="434343"/>
                </a:solidFill>
                <a:latin typeface="Noto Sans"/>
              </a:rPr>
              <a:t>{{TABLA:ANEXO_I_1}}</a:t>
            </a:r>
          </a:p>
        </p:txBody>
      </p:sp>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ANEXO_I_TABLE_2" descr="ROLE=TEXT_SECTION"/>
          <p:cNvSpPr/>
          <p:nvPr/>
        </p:nvSpPr>
        <p:spPr>
          <a:xfrm>
            <a:off x="450900" y="943525"/>
            <a:ext cx="8253550" cy="359040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500"/>
              </a:spcAft>
              <a:buNone/>
            </a:pPr>
            <a:r>
              <a:rPr sz="1100" b="1">
                <a:solidFill>
                  <a:srgbClr val="203634"/>
                </a:solidFill>
                <a:latin typeface="Noto Sans"/>
              </a:rPr>
              <a:t>RESUMEN DE INDICADORES</a:t>
            </a:r>
          </a:p>
          <a:p>
            <a:pPr algn="l">
              <a:spcBef>
                <a:spcPts val="0"/>
              </a:spcBef>
              <a:spcAft>
                <a:spcPts val="0"/>
              </a:spcAft>
            </a:pPr>
            <a:r>
              <a:rPr sz="850" b="0">
                <a:solidFill>
                  <a:srgbClr val="434343"/>
                </a:solidFill>
                <a:latin typeface="Noto Sans"/>
              </a:rPr>
              <a:t>{{TABLA:ANEXO_I_2}}</a:t>
            </a:r>
          </a:p>
        </p:txBody>
      </p:sp>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ANEXO_I_TABLE_3" descr="ROLE=TEXT_SECTION"/>
          <p:cNvSpPr/>
          <p:nvPr/>
        </p:nvSpPr>
        <p:spPr>
          <a:xfrm>
            <a:off x="450900" y="943525"/>
            <a:ext cx="8253550" cy="359040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500"/>
              </a:spcAft>
              <a:buNone/>
            </a:pPr>
            <a:r>
              <a:rPr sz="1100" b="1">
                <a:solidFill>
                  <a:srgbClr val="203634"/>
                </a:solidFill>
                <a:latin typeface="Noto Sans"/>
              </a:rPr>
              <a:t>RESUMEN DE INDICADORES</a:t>
            </a:r>
          </a:p>
          <a:p>
            <a:pPr algn="l">
              <a:spcBef>
                <a:spcPts val="0"/>
              </a:spcBef>
              <a:spcAft>
                <a:spcPts val="0"/>
              </a:spcAft>
            </a:pPr>
            <a:r>
              <a:rPr sz="850" b="0">
                <a:solidFill>
                  <a:srgbClr val="434343"/>
                </a:solidFill>
                <a:latin typeface="Noto Sans"/>
              </a:rPr>
              <a:t>{{TABLA:ANEXO_I_3}}</a:t>
            </a:r>
          </a:p>
        </p:txBody>
      </p:sp>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ANEXO_I_TABLE_4" descr="ROLE=TEXT_SECTION"/>
          <p:cNvSpPr/>
          <p:nvPr/>
        </p:nvSpPr>
        <p:spPr>
          <a:xfrm>
            <a:off x="450900" y="943525"/>
            <a:ext cx="8253550" cy="359040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500"/>
              </a:spcAft>
              <a:buNone/>
            </a:pPr>
            <a:r>
              <a:rPr sz="1100" b="1">
                <a:solidFill>
                  <a:srgbClr val="203634"/>
                </a:solidFill>
                <a:latin typeface="Noto Sans"/>
              </a:rPr>
              <a:t>RESUMEN DE INDICADORES</a:t>
            </a:r>
          </a:p>
          <a:p>
            <a:pPr algn="l">
              <a:spcBef>
                <a:spcPts val="0"/>
              </a:spcBef>
              <a:spcAft>
                <a:spcPts val="0"/>
              </a:spcAft>
            </a:pPr>
            <a:r>
              <a:rPr sz="850" b="0">
                <a:solidFill>
                  <a:srgbClr val="434343"/>
                </a:solidFill>
                <a:latin typeface="Noto Sans"/>
              </a:rPr>
              <a:t>{{TABLA:ANEXO_I_4}}</a:t>
            </a:r>
          </a:p>
        </p:txBody>
      </p:sp>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2" name="ANUARIO_ANEXO_II_DEFINICIONES_DESIGN_2026"/>
          <p:cNvSpPr/>
          <p:nvPr/>
        </p:nvSpPr>
        <p:spPr>
          <a:xfrm>
            <a:off x="0" y="0"/>
            <a:ext cx="9144000" cy="457200"/>
          </a:xfrm>
          <a:prstGeom prst="rect">
            <a:avLst/>
          </a:prstGeom>
          <a:solidFill>
            <a:srgbClr val="13393A"/>
          </a:solidFill>
          <a:ln w="12700">
            <a:solidFill>
              <a:srgbClr val="13393A"/>
            </a:solidFill>
            <a:prstDash val="solid"/>
          </a:ln>
        </p:spPr>
      </p:sp>
      <p:sp>
        <p:nvSpPr>
          <p:cNvPr id="3" name="Text 1"/>
          <p:cNvSpPr txBox="1"/>
          <p:nvPr/>
        </p:nvSpPr>
        <p:spPr>
          <a:xfrm>
            <a:off x="301752" y="64008"/>
            <a:ext cx="4572000" cy="329184"/>
          </a:xfrm>
          <a:prstGeom prst="rect">
            <a:avLst/>
          </a:prstGeom>
          <a:noFill/>
          <a:ln/>
        </p:spPr>
        <p:txBody>
          <a:bodyPr wrap="square" lIns="0" tIns="0" rIns="0" bIns="0" rtlCol="0" anchor="ctr"/>
          <a:lstStyle/>
          <a:p>
            <a:pPr indent="0" marL="0">
              <a:buNone/>
            </a:pPr>
            <a:r>
              <a:rPr lang="en-US" sz="1700" b="1" dirty="0">
                <a:solidFill>
                  <a:srgbClr val="FFFFFF"/>
                </a:solidFill>
                <a:latin typeface="DejaVu Sans" pitchFamily="34" charset="0"/>
                <a:ea typeface="DejaVu Sans" pitchFamily="34" charset="-122"/>
                <a:cs typeface="DejaVu Sans" pitchFamily="34" charset="-120"/>
              </a:rPr>
              <a:t>ANEXO II. DEFINICIONES</a:t>
            </a:r>
            <a:endParaRPr lang="en-US" sz="1700" dirty="0"/>
          </a:p>
        </p:txBody>
      </p:sp>
      <p:sp>
        <p:nvSpPr>
          <p:cNvPr id="4" name="Text 2"/>
          <p:cNvSpPr txBox="1"/>
          <p:nvPr/>
        </p:nvSpPr>
        <p:spPr>
          <a:xfrm>
            <a:off x="4846320" y="64008"/>
            <a:ext cx="2743200" cy="329184"/>
          </a:xfrm>
          <a:prstGeom prst="rect">
            <a:avLst/>
          </a:prstGeom>
          <a:noFill/>
          <a:ln/>
        </p:spPr>
        <p:txBody>
          <a:bodyPr wrap="square" lIns="0" tIns="0" rIns="0" bIns="0" rtlCol="0" anchor="ctr"/>
          <a:lstStyle/>
          <a:p>
            <a:pPr algn="r" indent="0" marL="0">
              <a:buNone/>
            </a:pPr>
            <a:r>
              <a:rPr lang="en-US" sz="650" dirty="0">
                <a:solidFill>
                  <a:srgbClr val="D5E4E1"/>
                </a:solidFill>
                <a:latin typeface="DejaVu Sans" pitchFamily="34" charset="0"/>
                <a:ea typeface="DejaVu Sans" pitchFamily="34" charset="-122"/>
                <a:cs typeface="DejaVu Sans" pitchFamily="34" charset="-120"/>
              </a:rPr>
              <a:t>Para consultar información con mayor desagregación, visita
</a:t>
            </a:r>
            <a:pPr algn="r" indent="0" marL="0">
              <a:buNone/>
            </a:pPr>
            <a:r>
              <a:rPr lang="en-US" sz="750" b="1" dirty="0">
                <a:solidFill>
                  <a:srgbClr val="FFFFFF"/>
                </a:solidFill>
                <a:latin typeface="DejaVu Sans" pitchFamily="34" charset="0"/>
                <a:ea typeface="DejaVu Sans" pitchFamily="34" charset="-122"/>
                <a:cs typeface="DejaVu Sans" pitchFamily="34" charset="-120"/>
              </a:rPr>
              <a:t>BIT CRT · bit.crt.gob.mx/BitWebApp</a:t>
            </a:r>
            <a:endParaRPr lang="en-US" sz="650" dirty="0"/>
          </a:p>
        </p:txBody>
      </p:sp>
      <p:sp>
        <p:nvSpPr>
          <p:cNvPr id="5" name="Shape 3"/>
          <p:cNvSpPr/>
          <p:nvPr/>
        </p:nvSpPr>
        <p:spPr>
          <a:xfrm>
            <a:off x="7680960" y="45720"/>
            <a:ext cx="365760" cy="365760"/>
          </a:xfrm>
          <a:prstGeom prst="roundRect">
            <a:avLst>
              <a:gd name="adj" fmla="val 10000"/>
            </a:avLst>
          </a:prstGeom>
          <a:solidFill>
            <a:srgbClr val="FFFFFF"/>
          </a:solidFill>
          <a:ln w="12700">
            <a:solidFill>
              <a:srgbClr val="FFFFFF"/>
            </a:solidFill>
            <a:prstDash val="solid"/>
          </a:ln>
        </p:spPr>
      </p:sp>
      <p:sp>
        <p:nvSpPr>
          <p:cNvPr id="6" name="Text 4"/>
          <p:cNvSpPr txBox="1"/>
          <p:nvPr/>
        </p:nvSpPr>
        <p:spPr>
          <a:xfrm>
            <a:off x="8138160" y="64008"/>
            <a:ext cx="731520" cy="329184"/>
          </a:xfrm>
          <a:prstGeom prst="rect">
            <a:avLst/>
          </a:prstGeom>
          <a:noFill/>
          <a:ln/>
        </p:spPr>
        <p:txBody>
          <a:bodyPr wrap="square" lIns="0" tIns="0" rIns="0" bIns="0" rtlCol="0" anchor="ctr"/>
          <a:lstStyle/>
          <a:p>
            <a:pPr algn="r" indent="0" marL="0">
              <a:buNone/>
            </a:pPr>
            <a:r>
              <a:rPr lang="en-US" sz="1500" b="1" dirty="0">
                <a:solidFill>
                  <a:srgbClr val="FFFFFF"/>
                </a:solidFill>
                <a:latin typeface="DejaVu Sans" pitchFamily="34" charset="0"/>
                <a:ea typeface="DejaVu Sans" pitchFamily="34" charset="-122"/>
                <a:cs typeface="DejaVu Sans" pitchFamily="34" charset="-120"/>
              </a:rPr>
              <a:t>CRT</a:t>
            </a:r>
            <a:endParaRPr lang="en-US" sz="1500" dirty="0"/>
          </a:p>
        </p:txBody>
      </p:sp>
      <p:sp>
        <p:nvSpPr>
          <p:cNvPr id="7" name="Shape 5"/>
          <p:cNvSpPr/>
          <p:nvPr/>
        </p:nvSpPr>
        <p:spPr>
          <a:xfrm>
            <a:off x="301752" y="621792"/>
            <a:ext cx="4178808" cy="1115568"/>
          </a:xfrm>
          <a:prstGeom prst="roundRect">
            <a:avLst>
              <a:gd name="adj" fmla="val 4918"/>
            </a:avLst>
          </a:prstGeom>
          <a:solidFill>
            <a:srgbClr val="F6FAF9"/>
          </a:solidFill>
          <a:ln w="9525">
            <a:solidFill>
              <a:srgbClr val="C9DAD6"/>
            </a:solidFill>
            <a:prstDash val="solid"/>
          </a:ln>
        </p:spPr>
      </p:sp>
      <p:sp>
        <p:nvSpPr>
          <p:cNvPr id="8" name="Shape 6"/>
          <p:cNvSpPr/>
          <p:nvPr/>
        </p:nvSpPr>
        <p:spPr>
          <a:xfrm>
            <a:off x="301752" y="694944"/>
            <a:ext cx="64008" cy="969264"/>
          </a:xfrm>
          <a:prstGeom prst="rect">
            <a:avLst/>
          </a:prstGeom>
          <a:solidFill>
            <a:srgbClr val="2F7F6F"/>
          </a:solidFill>
          <a:ln w="12700">
            <a:solidFill>
              <a:srgbClr val="2F7F6F"/>
            </a:solidFill>
            <a:prstDash val="solid"/>
          </a:ln>
        </p:spPr>
      </p:sp>
      <p:sp>
        <p:nvSpPr>
          <p:cNvPr id="9" name="Shape 7"/>
          <p:cNvSpPr/>
          <p:nvPr/>
        </p:nvSpPr>
        <p:spPr>
          <a:xfrm>
            <a:off x="484632" y="713232"/>
            <a:ext cx="237744" cy="237744"/>
          </a:xfrm>
          <a:prstGeom prst="roundRect">
            <a:avLst>
              <a:gd name="adj" fmla="val 19231"/>
            </a:avLst>
          </a:prstGeom>
          <a:solidFill>
            <a:srgbClr val="1A4043"/>
          </a:solidFill>
          <a:ln w="12700">
            <a:solidFill>
              <a:srgbClr val="1A4043"/>
            </a:solidFill>
            <a:prstDash val="solid"/>
          </a:ln>
        </p:spPr>
      </p:sp>
      <p:sp>
        <p:nvSpPr>
          <p:cNvPr id="10" name="Text 8"/>
          <p:cNvSpPr txBox="1"/>
          <p:nvPr/>
        </p:nvSpPr>
        <p:spPr>
          <a:xfrm>
            <a:off x="484632"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A</a:t>
            </a:r>
            <a:endParaRPr lang="en-US" sz="1000" dirty="0"/>
          </a:p>
        </p:txBody>
      </p:sp>
      <p:sp>
        <p:nvSpPr>
          <p:cNvPr id="11" name="Text 9"/>
          <p:cNvSpPr txBox="1"/>
          <p:nvPr/>
        </p:nvSpPr>
        <p:spPr>
          <a:xfrm>
            <a:off x="484632" y="1005840"/>
            <a:ext cx="3813048" cy="658368"/>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Acceso: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El conjunto de canales físicos de una Red Pública de Telecomunicaciones, que conecta el Equipo Terminal en la ubicación del usuario con la instalación del Operador desde la cual se presta el servicio al usuario. En el caso de Redes de Acceso Fijo alámbrico se le suele llamar históricamente bucle local, y en Servicios de Transporte de Voz se le conoce como línea.</a:t>
            </a:r>
            <a:endParaRPr lang="en-US" sz="730" dirty="0"/>
          </a:p>
        </p:txBody>
      </p:sp>
      <p:sp>
        <p:nvSpPr>
          <p:cNvPr id="12" name="Shape 10"/>
          <p:cNvSpPr/>
          <p:nvPr/>
        </p:nvSpPr>
        <p:spPr>
          <a:xfrm>
            <a:off x="301752" y="1828800"/>
            <a:ext cx="4178808" cy="2633472"/>
          </a:xfrm>
          <a:prstGeom prst="roundRect">
            <a:avLst>
              <a:gd name="adj" fmla="val 2083"/>
            </a:avLst>
          </a:prstGeom>
          <a:solidFill>
            <a:srgbClr val="F6FAF9"/>
          </a:solidFill>
          <a:ln w="9525">
            <a:solidFill>
              <a:srgbClr val="C9DAD6"/>
            </a:solidFill>
            <a:prstDash val="solid"/>
          </a:ln>
        </p:spPr>
      </p:sp>
      <p:sp>
        <p:nvSpPr>
          <p:cNvPr id="13" name="Shape 11"/>
          <p:cNvSpPr/>
          <p:nvPr/>
        </p:nvSpPr>
        <p:spPr>
          <a:xfrm>
            <a:off x="301752" y="1901952"/>
            <a:ext cx="64008" cy="2487168"/>
          </a:xfrm>
          <a:prstGeom prst="rect">
            <a:avLst/>
          </a:prstGeom>
          <a:solidFill>
            <a:srgbClr val="2F7F6F"/>
          </a:solidFill>
          <a:ln w="12700">
            <a:solidFill>
              <a:srgbClr val="2F7F6F"/>
            </a:solidFill>
            <a:prstDash val="solid"/>
          </a:ln>
        </p:spPr>
      </p:sp>
      <p:sp>
        <p:nvSpPr>
          <p:cNvPr id="14" name="Shape 12"/>
          <p:cNvSpPr/>
          <p:nvPr/>
        </p:nvSpPr>
        <p:spPr>
          <a:xfrm>
            <a:off x="484632" y="1920240"/>
            <a:ext cx="237744" cy="237744"/>
          </a:xfrm>
          <a:prstGeom prst="roundRect">
            <a:avLst>
              <a:gd name="adj" fmla="val 19231"/>
            </a:avLst>
          </a:prstGeom>
          <a:solidFill>
            <a:srgbClr val="1A4043"/>
          </a:solidFill>
          <a:ln w="12700">
            <a:solidFill>
              <a:srgbClr val="1A4043"/>
            </a:solidFill>
            <a:prstDash val="solid"/>
          </a:ln>
        </p:spPr>
      </p:sp>
      <p:sp>
        <p:nvSpPr>
          <p:cNvPr id="15" name="Text 13"/>
          <p:cNvSpPr txBox="1"/>
          <p:nvPr/>
        </p:nvSpPr>
        <p:spPr>
          <a:xfrm>
            <a:off x="484632" y="19202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C</a:t>
            </a:r>
            <a:endParaRPr lang="en-US" sz="1000" dirty="0"/>
          </a:p>
        </p:txBody>
      </p:sp>
      <p:sp>
        <p:nvSpPr>
          <p:cNvPr id="16" name="Text 14"/>
          <p:cNvSpPr txBox="1"/>
          <p:nvPr/>
        </p:nvSpPr>
        <p:spPr>
          <a:xfrm>
            <a:off x="484632" y="2212848"/>
            <a:ext cx="3813048" cy="2176272"/>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Caricaturas: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Son todos los programas que están hechos con alguna de las siguientes técnicas: dibujos animados, plastilina, arcilla (stop motion), animación vectorial y de tercera dimensión. No deben considerarse dentro de este género los cortometrajes animados.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Cómico: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 cuyo contenido está enfocado al esparcimiento de la audiencia, al manejar cuadros cómicos, chistes, cuentos y cualquier otro elemento que intente provocar la risa.</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Concurso: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Formato de programa en el que los participantes realizan una serie de actividades en busca de superar a sus rivales. Un concurso puede hacer competir tanto a individuos, como a grupos y/o instituciones privadas o públicas, y pueden o no obtenerse premios.</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Cultural: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Programación que presenta las formas y expresiones de una sociedad. Su contenido es referente a los siguientes temas artísticos: arquitectura, danza, escultura, literatura, ópera, pintura, teatro, museos, exposiciones; sociales: académicos, científicos, históricos, gastronómicos, etnográficos, ciencias naturales; y simbólicos: biografías, entrevista de semblanza a personajes involucrados en la cultura, happenings.</a:t>
            </a:r>
            <a:endParaRPr lang="en-US" sz="730" dirty="0"/>
          </a:p>
        </p:txBody>
      </p:sp>
      <p:sp>
        <p:nvSpPr>
          <p:cNvPr id="17" name="Shape 15"/>
          <p:cNvSpPr/>
          <p:nvPr/>
        </p:nvSpPr>
        <p:spPr>
          <a:xfrm>
            <a:off x="4663440" y="621792"/>
            <a:ext cx="4178808" cy="3840480"/>
          </a:xfrm>
          <a:prstGeom prst="roundRect">
            <a:avLst>
              <a:gd name="adj" fmla="val 1429"/>
            </a:avLst>
          </a:prstGeom>
          <a:solidFill>
            <a:srgbClr val="F6FAF9"/>
          </a:solidFill>
          <a:ln w="9525">
            <a:solidFill>
              <a:srgbClr val="C9DAD6"/>
            </a:solidFill>
            <a:prstDash val="solid"/>
          </a:ln>
        </p:spPr>
      </p:sp>
      <p:sp>
        <p:nvSpPr>
          <p:cNvPr id="18" name="Shape 16"/>
          <p:cNvSpPr/>
          <p:nvPr/>
        </p:nvSpPr>
        <p:spPr>
          <a:xfrm>
            <a:off x="4663440" y="694944"/>
            <a:ext cx="64008" cy="3694176"/>
          </a:xfrm>
          <a:prstGeom prst="rect">
            <a:avLst/>
          </a:prstGeom>
          <a:solidFill>
            <a:srgbClr val="2F7F6F"/>
          </a:solidFill>
          <a:ln w="12700">
            <a:solidFill>
              <a:srgbClr val="2F7F6F"/>
            </a:solidFill>
            <a:prstDash val="solid"/>
          </a:ln>
        </p:spPr>
      </p:sp>
      <p:sp>
        <p:nvSpPr>
          <p:cNvPr id="19" name="Shape 17"/>
          <p:cNvSpPr/>
          <p:nvPr/>
        </p:nvSpPr>
        <p:spPr>
          <a:xfrm>
            <a:off x="4846320" y="713232"/>
            <a:ext cx="237744" cy="237744"/>
          </a:xfrm>
          <a:prstGeom prst="roundRect">
            <a:avLst>
              <a:gd name="adj" fmla="val 19231"/>
            </a:avLst>
          </a:prstGeom>
          <a:solidFill>
            <a:srgbClr val="1A4043"/>
          </a:solidFill>
          <a:ln w="12700">
            <a:solidFill>
              <a:srgbClr val="1A4043"/>
            </a:solidFill>
            <a:prstDash val="solid"/>
          </a:ln>
        </p:spPr>
      </p:sp>
      <p:sp>
        <p:nvSpPr>
          <p:cNvPr id="20" name="Text 18"/>
          <p:cNvSpPr txBox="1"/>
          <p:nvPr/>
        </p:nvSpPr>
        <p:spPr>
          <a:xfrm>
            <a:off x="4846320" y="71323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DejaVu Sans" pitchFamily="34" charset="0"/>
                <a:ea typeface="DejaVu Sans" pitchFamily="34" charset="-122"/>
                <a:cs typeface="DejaVu Sans" pitchFamily="34" charset="-120"/>
              </a:rPr>
              <a:t>D</a:t>
            </a:r>
            <a:endParaRPr lang="en-US" sz="1000" dirty="0"/>
          </a:p>
        </p:txBody>
      </p:sp>
      <p:sp>
        <p:nvSpPr>
          <p:cNvPr id="21" name="Text 19"/>
          <p:cNvSpPr txBox="1"/>
          <p:nvPr/>
        </p:nvSpPr>
        <p:spPr>
          <a:xfrm>
            <a:off x="4846320" y="1005840"/>
            <a:ext cx="3813048" cy="3383280"/>
          </a:xfrm>
          <a:prstGeom prst="rect">
            <a:avLst/>
          </a:prstGeom>
          <a:noFill/>
          <a:ln/>
        </p:spPr>
        <p:txBody>
          <a:bodyPr wrap="square" lIns="0" tIns="0" rIns="0" bIns="0" rtlCol="0" anchor="t"/>
          <a:lstStyle/>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Debate: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Espacio argumentativo en el cual se emiten ideas antagónicas sobre un tema o temas específicos. Contempla un panel de especialistas y un moderador, quienes aportan puntos de vista desde su campo de conocimiento.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Decil de ingreso: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Los hogares pueden ser agrupados de acuerdo con los ingresos que perciben. Cuando se forman diez conjuntos del mismo tamaño, se les conoce como “deciles”, por lo que el primer decil está integrado por la décima parte de los hogares que tienen los menores ingresos, y así de manera sucesiva, hasta llegar al último decil, que está compuesto por la décima parte de los hogares con los ingresos más altos¹¹.</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Deportes: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Transmisión de eventos deportivos, cultura física o programas de resumen deportivo, así como resultados y/o comentarios relacionados con el deporte. En este género no se incluyen programas de reportaje que, en un capítulo en específico, aborden un tema deportivo.</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Directorio Estadístico Nacional de Unidades Económicas (DENUE):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Herramienta interactiva del INEGI en la que se ofrecen los datos de identificación, ubicación, actividad económica y tamaño de los negocios activos en el territorio nacional, actualizados, fundamentalmente, en el segmento de los establecimientos grandes. Disponible en: https://www.inegi.org.mx/app/mapa/denue/default.aspx.</a:t>
            </a:r>
            <a:endParaRPr lang="en-US" sz="730" dirty="0"/>
          </a:p>
          <a:p>
            <a:pPr algn="just" indent="0" marL="0">
              <a:lnSpc>
                <a:spcPct val="105000"/>
              </a:lnSpc>
              <a:spcAft>
                <a:spcPts val="400"/>
              </a:spcAft>
              <a:buNone/>
            </a:pPr>
            <a:r>
              <a:rPr lang="en-US" sz="730" b="1" dirty="0">
                <a:solidFill>
                  <a:srgbClr val="2F7F6F"/>
                </a:solidFill>
                <a:latin typeface="DejaVu Sans" pitchFamily="34" charset="0"/>
                <a:ea typeface="DejaVu Sans" pitchFamily="34" charset="-122"/>
                <a:cs typeface="DejaVu Sans" pitchFamily="34" charset="-120"/>
              </a:rPr>
              <a:t>Dramatizado Unitario: </a:t>
            </a:r>
            <a:pPr algn="just" indent="0" marL="0">
              <a:lnSpc>
                <a:spcPct val="105000"/>
              </a:lnSpc>
              <a:spcAft>
                <a:spcPts val="400"/>
              </a:spcAft>
              <a:buNone/>
            </a:pPr>
            <a:r>
              <a:rPr lang="en-US" sz="730" dirty="0">
                <a:solidFill>
                  <a:srgbClr val="24383A"/>
                </a:solidFill>
                <a:latin typeface="DejaVu Sans" pitchFamily="34" charset="0"/>
                <a:ea typeface="DejaVu Sans" pitchFamily="34" charset="-122"/>
                <a:cs typeface="DejaVu Sans" pitchFamily="34" charset="-120"/>
              </a:rPr>
              <a:t>Programas de ficción en los que cada capítulo constituye una unidad narrativa independiente. En su contenido se manifiestan situaciones conflictivas y/o trágicas, y cada episodio tiene inicio, desarrollo y final. En muy pocas ocasiones puede extenderse a más de una emisión.</a:t>
            </a:r>
            <a:endParaRPr lang="en-US" sz="730" dirty="0"/>
          </a:p>
        </p:txBody>
      </p:sp>
      <p:sp>
        <p:nvSpPr>
          <p:cNvPr id="22" name="Text 20"/>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11 </a:t>
            </a:r>
            <a:pPr indent="0" marL="0">
              <a:buNone/>
            </a:pPr>
            <a:r>
              <a:rPr lang="en-US" sz="520" dirty="0">
                <a:solidFill>
                  <a:srgbClr val="24383A"/>
                </a:solidFill>
                <a:latin typeface="DejaVu Sans" pitchFamily="34" charset="0"/>
                <a:ea typeface="DejaVu Sans" pitchFamily="34" charset="-122"/>
                <a:cs typeface="DejaVu Sans" pitchFamily="34" charset="-120"/>
              </a:rPr>
              <a:t>Definición publicada el 26 de julio de 2023 por el Instituto Nacional de Estadística y Geografía (INEGI), pág. 11., en el cual se dan a conocer los resultados de la Encuesta Nacional de Ingresos y Gastos de los Hogares (ENIGH) 2020. Disponible en: Encuesta Nacional de Ingresos y Gastos de los Hogares 2022. Presentación de resultados.</a:t>
            </a:r>
            <a:endParaRPr lang="en-US" sz="520" dirty="0"/>
          </a:p>
        </p:txBody>
      </p:sp>
      <p:sp>
        <p:nvSpPr>
          <p:cNvPr id="23" name="Shape 21"/>
          <p:cNvSpPr/>
          <p:nvPr/>
        </p:nvSpPr>
        <p:spPr>
          <a:xfrm>
            <a:off x="0" y="4937760"/>
            <a:ext cx="9144000" cy="205740"/>
          </a:xfrm>
          <a:prstGeom prst="rect">
            <a:avLst/>
          </a:prstGeom>
          <a:solidFill>
            <a:srgbClr val="1A4043"/>
          </a:solidFill>
          <a:ln w="12700">
            <a:solidFill>
              <a:srgbClr val="1A4043"/>
            </a:solidFill>
            <a:prstDash val="solid"/>
          </a:ln>
        </p:spPr>
      </p:sp>
      <p:sp>
        <p:nvSpPr>
          <p:cNvPr id="24" name="Text 22"/>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121</a:t>
            </a:r>
            <a:endParaRPr lang="en-US" sz="700" dirty="0"/>
          </a:p>
        </p:txBody>
      </p:sp>
      <p:sp>
        <p:nvSpPr>
          <p:cNvPr id="25" name="Text 23"/>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Tree>
  </p:cSld>
  <p:clrMapOvr>
    <a:masterClrMapping/>
  </p:clrMapOvr>
</p:sld>
</file>

<file path=ppt/slides/slide122.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82" name="ANUARIO_ENCABEZADO">
            <a:extLst xmlns:a="http://schemas.openxmlformats.org/drawingml/2006/main">
              <a:ext uri="{FF2B5EF4-FFF2-40B4-BE49-F238E27FC236}">
                <a16:creationId xmlns:a16="http://schemas.microsoft.com/office/drawing/2014/main" id="{C457562E-8449-46B1-A4FA-CAAAFF7B38BA}"/>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67478D00-C6D3-4921-B4BE-5F6A4486248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903887CC-ED29-4FCD-B769-68B012074A1D}"/>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 DEFINICIONES</a:t>
            </a:r>
          </a:p>
        </p:txBody>
      </p:sp>
      <p:sp>
        <p:nvSpPr>
          <p:cNvPr id="4" name="ANUARIO_BIT_TEXTO">
            <a:extLst xmlns:a="http://schemas.openxmlformats.org/drawingml/2006/main">
              <a:ext uri="{FF2B5EF4-FFF2-40B4-BE49-F238E27FC236}">
                <a16:creationId xmlns:a16="http://schemas.microsoft.com/office/drawing/2014/main" id="{5C699AC6-655A-427C-A133-E909FE115C3A}"/>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8F411BC1-1F8D-4D15-914D-1D1EFC4E93C0}"/>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E7271320-24C8-40B7-AC1B-F2A0283C77EC}"/>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48ADD520-087B-4B6C-B2EA-217DE459AB97}"/>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E4AD0882-B201-4115-9F53-DDF5A91B256C}"/>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122</a:t>
            </a:r>
          </a:p>
        </p:txBody>
      </p:sp>
      <p:sp>
        <p:nvSpPr>
          <p:cNvPr id="9" name="ANUARIO_EDICION">
            <a:extLst xmlns:a="http://schemas.openxmlformats.org/drawingml/2006/main">
              <a:ext uri="{FF2B5EF4-FFF2-40B4-BE49-F238E27FC236}">
                <a16:creationId xmlns:a16="http://schemas.microsoft.com/office/drawing/2014/main" id="{C44CD72B-8D17-4039-BDBA-89AB96AE4D3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2_DESIGN_2026">
            <a:extLst xmlns:a="http://schemas.openxmlformats.org/drawingml/2006/main">
              <a:ext uri="{FF2B5EF4-FFF2-40B4-BE49-F238E27FC236}">
                <a16:creationId xmlns:a16="http://schemas.microsoft.com/office/drawing/2014/main" id="{7C2682C7-7E65-45CA-A741-86178EE128CD}"/>
              </a:ext>
            </a:extLst>
          </p:cNvPr>
          <p:cNvSpPr>
            <a:spLocks xmlns:a="http://schemas.openxmlformats.org/drawingml/2006/main" noGrp="1"/>
          </p:cNvSpPr>
          <p:nvPr/>
        </p:nvSpPr>
        <p:spPr>
          <a:xfrm xmlns:a="http://schemas.openxmlformats.org/drawingml/2006/main">
            <a:off x="301752" y="566928"/>
            <a:ext cx="4178808" cy="2549316"/>
          </a:xfrm>
          <a:prstGeom xmlns:a="http://schemas.openxmlformats.org/drawingml/2006/main" prst="roundRect">
            <a:avLst>
              <a:gd name="adj" fmla="val 2152"/>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6432A3D0-66DA-4BD7-BCC7-6CF45147083C}"/>
              </a:ext>
            </a:extLst>
          </p:cNvPr>
          <p:cNvSpPr>
            <a:spLocks xmlns:a="http://schemas.openxmlformats.org/drawingml/2006/main" noGrp="1"/>
          </p:cNvSpPr>
          <p:nvPr/>
        </p:nvSpPr>
        <p:spPr>
          <a:xfrm xmlns:a="http://schemas.openxmlformats.org/drawingml/2006/main">
            <a:off x="301752" y="640080"/>
            <a:ext cx="64008" cy="24030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27D05E98-B7C6-41AD-82E4-F8D3603B021E}"/>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9B4BD0D6-00AD-441F-B6DB-619DA77AB6A3}"/>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E</a:t>
            </a:r>
          </a:p>
        </p:txBody>
      </p:sp>
      <p:sp>
        <p:nvSpPr>
          <p:cNvPr id="14" name="ANUARIO_CONTENIDO_0_0_0">
            <a:extLst xmlns:a="http://schemas.openxmlformats.org/drawingml/2006/main">
              <a:ext uri="{FF2B5EF4-FFF2-40B4-BE49-F238E27FC236}">
                <a16:creationId xmlns:a16="http://schemas.microsoft.com/office/drawing/2014/main" id="{AD5D5187-E3E4-44F8-B991-11C273EFD3EF}"/>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Encendidos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(tvr%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TRr%):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encendida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791C9A0C-C33E-44CF-90CF-EB054240F96A}"/>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escucharon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p>
        </p:txBody>
      </p:sp>
      <p:sp>
        <p:nvSpPr>
          <p:cNvPr id="16" name="ANUARIO_CONTENIDO_0_0_2">
            <a:extLst xmlns:a="http://schemas.openxmlformats.org/drawingml/2006/main">
              <a:ext uri="{FF2B5EF4-FFF2-40B4-BE49-F238E27FC236}">
                <a16:creationId xmlns:a16="http://schemas.microsoft.com/office/drawing/2014/main" id="{9B0F2FBC-37ED-4D96-8FD4-6254DFA3FE46}"/>
              </a:ext>
            </a:extLst>
          </p:cNvPr>
          <p:cNvSpPr>
            <a:spLocks xmlns:a="http://schemas.openxmlformats.org/drawingml/2006/main" noGrp="1"/>
          </p:cNvSpPr>
          <p:nvPr/>
        </p:nvSpPr>
        <p:spPr>
          <a:xfrm xmlns:a="http://schemas.openxmlformats.org/drawingml/2006/main">
            <a:off x="466344"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Disponibilidad</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Uso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Tecnologías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Información</a:t>
            </a:r>
            <a:r>
              <a:rPr sz="650" b="1" i="0">
                <a:solidFill>
                  <a:srgbClr val="2F7F6F"/>
                </a:solidFill>
                <a:latin typeface="DejaVu Sans"/>
                <a:ea typeface="DejaVu Sans"/>
                <a:cs typeface="DejaVu Sans"/>
              </a:rPr>
              <a:t> </a:t>
            </a:r>
          </a:p>
        </p:txBody>
      </p:sp>
      <p:sp>
        <p:nvSpPr>
          <p:cNvPr id="17" name="ANUARIO_CONTENIDO_0_0_3">
            <a:extLst xmlns:a="http://schemas.openxmlformats.org/drawingml/2006/main">
              <a:ext uri="{FF2B5EF4-FFF2-40B4-BE49-F238E27FC236}">
                <a16:creationId xmlns:a16="http://schemas.microsoft.com/office/drawing/2014/main" id="{62371776-BE51-46F6-862D-E4E6D27E80FF}"/>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(ENDUTIH):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E21F4527-B209-47C3-A3ED-CDC2D685666B}"/>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estadística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disponibilidad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Tecnologías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1941C591-2699-4674-8A47-4553610C54EB}"/>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seis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20" name="ANUARIO_CONTENIDO_0_0_6">
            <a:extLst xmlns:a="http://schemas.openxmlformats.org/drawingml/2006/main">
              <a:ext uri="{FF2B5EF4-FFF2-40B4-BE49-F238E27FC236}">
                <a16:creationId xmlns:a16="http://schemas.microsoft.com/office/drawing/2014/main" id="{F46664C2-7D9E-4439-84A5-231865BE69FC}"/>
              </a:ext>
            </a:extLst>
          </p:cNvPr>
          <p:cNvSpPr>
            <a:spLocks xmlns:a="http://schemas.openxmlformats.org/drawingml/2006/main" noGrp="1"/>
          </p:cNvSpPr>
          <p:nvPr/>
        </p:nvSpPr>
        <p:spPr>
          <a:xfrm xmlns:a="http://schemas.openxmlformats.org/drawingml/2006/main">
            <a:off x="466344" y="14579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México.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a:t>
            </a:r>
            <a:r>
              <a:rPr sz="650" b="0" i="0">
                <a:solidFill>
                  <a:srgbClr val="24383A"/>
                </a:solidFill>
                <a:latin typeface="DejaVu Sans"/>
                <a:ea typeface="DejaVu Sans"/>
                <a:cs typeface="DejaVu Sans"/>
              </a:rPr>
              <a:t>endutih/2025/</a:t>
            </a:r>
            <a:r>
              <a:rPr sz="650" b="0" i="0">
                <a:solidFill>
                  <a:srgbClr val="24383A"/>
                </a:solidFill>
                <a:latin typeface="DejaVu Sans"/>
                <a:ea typeface="DejaVu Sans"/>
                <a:cs typeface="DejaVu Sans"/>
              </a:rPr>
              <a:t>.</a:t>
            </a:r>
          </a:p>
        </p:txBody>
      </p:sp>
      <p:sp>
        <p:nvSpPr>
          <p:cNvPr id="21" name="ANUARIO_CONTENIDO_0_0_7">
            <a:extLst xmlns:a="http://schemas.openxmlformats.org/drawingml/2006/main">
              <a:ext uri="{FF2B5EF4-FFF2-40B4-BE49-F238E27FC236}">
                <a16:creationId xmlns:a16="http://schemas.microsoft.com/office/drawing/2014/main" id="{AEB53C02-3D6E-4D12-8588-660451F0D5B9}"/>
              </a:ext>
            </a:extLst>
          </p:cNvPr>
          <p:cNvSpPr>
            <a:spLocks xmlns:a="http://schemas.openxmlformats.org/drawingml/2006/main" noGrp="1"/>
          </p:cNvSpPr>
          <p:nvPr/>
        </p:nvSpPr>
        <p:spPr>
          <a:xfrm xmlns:a="http://schemas.openxmlformats.org/drawingml/2006/main">
            <a:off x="466344"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Ingresos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Gastos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Hogares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(ENIGH):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p>
        </p:txBody>
      </p:sp>
      <p:sp>
        <p:nvSpPr>
          <p:cNvPr id="22" name="ANUARIO_CONTENIDO_0_0_8">
            <a:extLst xmlns:a="http://schemas.openxmlformats.org/drawingml/2006/main">
              <a:ext uri="{FF2B5EF4-FFF2-40B4-BE49-F238E27FC236}">
                <a16:creationId xmlns:a16="http://schemas.microsoft.com/office/drawing/2014/main" id="{B795F4DD-4654-42EA-B5EB-A818683EA7DD}"/>
              </a:ext>
            </a:extLst>
          </p:cNvPr>
          <p:cNvSpPr>
            <a:spLocks xmlns:a="http://schemas.openxmlformats.org/drawingml/2006/main" noGrp="1"/>
          </p:cNvSpPr>
          <p:nvPr/>
        </p:nvSpPr>
        <p:spPr>
          <a:xfrm xmlns:a="http://schemas.openxmlformats.org/drawingml/2006/main">
            <a:off x="466344"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panorama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estadístico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comportamiento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3" name="ANUARIO_CONTENIDO_0_0_9">
            <a:extLst xmlns:a="http://schemas.openxmlformats.org/drawingml/2006/main">
              <a:ext uri="{FF2B5EF4-FFF2-40B4-BE49-F238E27FC236}">
                <a16:creationId xmlns:a16="http://schemas.microsoft.com/office/drawing/2014/main" id="{D54FBBFF-007C-4AEB-BFC5-5B50BAF45818}"/>
              </a:ext>
            </a:extLst>
          </p:cNvPr>
          <p:cNvSpPr>
            <a:spLocks xmlns:a="http://schemas.openxmlformats.org/drawingml/2006/main" noGrp="1"/>
          </p:cNvSpPr>
          <p:nvPr/>
        </p:nvSpPr>
        <p:spPr>
          <a:xfrm xmlns:a="http://schemas.openxmlformats.org/drawingml/2006/main">
            <a:off x="466344" y="17607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gastos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procedencia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distribución;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adicionalmente,</a:t>
            </a:r>
            <a:r>
              <a:rPr sz="650" b="0" i="0">
                <a:solidFill>
                  <a:srgbClr val="24383A"/>
                </a:solidFill>
                <a:latin typeface="DejaVu Sans"/>
                <a:ea typeface="DejaVu Sans"/>
                <a:cs typeface="DejaVu Sans"/>
              </a:rPr>
              <a:t> </a:t>
            </a:r>
          </a:p>
        </p:txBody>
      </p:sp>
      <p:sp>
        <p:nvSpPr>
          <p:cNvPr id="24" name="ANUARIO_CONTENIDO_0_0_10">
            <a:extLst xmlns:a="http://schemas.openxmlformats.org/drawingml/2006/main">
              <a:ext uri="{FF2B5EF4-FFF2-40B4-BE49-F238E27FC236}">
                <a16:creationId xmlns:a16="http://schemas.microsoft.com/office/drawing/2014/main" id="{79968642-7D06-4ECD-BC8B-2AF6B1071EBC}"/>
              </a:ext>
            </a:extLst>
          </p:cNvPr>
          <p:cNvSpPr>
            <a:spLocks xmlns:a="http://schemas.openxmlformats.org/drawingml/2006/main" noGrp="1"/>
          </p:cNvSpPr>
          <p:nvPr/>
        </p:nvSpPr>
        <p:spPr>
          <a:xfrm xmlns:a="http://schemas.openxmlformats.org/drawingml/2006/main">
            <a:off x="466344" y="18531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ofrece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sociodemográficas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0_11">
            <a:extLst xmlns:a="http://schemas.openxmlformats.org/drawingml/2006/main">
              <a:ext uri="{FF2B5EF4-FFF2-40B4-BE49-F238E27FC236}">
                <a16:creationId xmlns:a16="http://schemas.microsoft.com/office/drawing/2014/main" id="{6B6FFB0F-2822-4432-89A5-24546031FC17}"/>
              </a:ext>
            </a:extLst>
          </p:cNvPr>
          <p:cNvSpPr>
            <a:spLocks xmlns:a="http://schemas.openxmlformats.org/drawingml/2006/main" noGrp="1"/>
          </p:cNvSpPr>
          <p:nvPr/>
        </p:nvSpPr>
        <p:spPr>
          <a:xfrm xmlns:a="http://schemas.openxmlformats.org/drawingml/2006/main">
            <a:off x="466344" y="19456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infraestructura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vivienda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26" name="ANUARIO_CONTENIDO_0_0_12">
            <a:extLst xmlns:a="http://schemas.openxmlformats.org/drawingml/2006/main">
              <a:ext uri="{FF2B5EF4-FFF2-40B4-BE49-F238E27FC236}">
                <a16:creationId xmlns:a16="http://schemas.microsoft.com/office/drawing/2014/main" id="{8D812A3E-651E-4762-BEA6-30CC55E3B10E}"/>
              </a:ext>
            </a:extLst>
          </p:cNvPr>
          <p:cNvSpPr>
            <a:spLocks xmlns:a="http://schemas.openxmlformats.org/drawingml/2006/main" noGrp="1"/>
          </p:cNvSpPr>
          <p:nvPr/>
        </p:nvSpPr>
        <p:spPr>
          <a:xfrm xmlns:a="http://schemas.openxmlformats.org/drawingml/2006/main">
            <a:off x="466344" y="20380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equipamiento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a:t>
            </a:r>
          </a:p>
        </p:txBody>
      </p:sp>
      <p:sp>
        <p:nvSpPr>
          <p:cNvPr id="27" name="ANUARIO_CONTENIDO_0_0_13">
            <a:extLst xmlns:a="http://schemas.openxmlformats.org/drawingml/2006/main">
              <a:ext uri="{FF2B5EF4-FFF2-40B4-BE49-F238E27FC236}">
                <a16:creationId xmlns:a16="http://schemas.microsoft.com/office/drawing/2014/main" id="{B1B6B940-89E4-4F28-B12D-FE0C0C11C9D4}"/>
              </a:ext>
            </a:extLst>
          </p:cNvPr>
          <p:cNvSpPr>
            <a:spLocks xmlns:a="http://schemas.openxmlformats.org/drawingml/2006/main" noGrp="1"/>
          </p:cNvSpPr>
          <p:nvPr/>
        </p:nvSpPr>
        <p:spPr>
          <a:xfrm xmlns:a="http://schemas.openxmlformats.org/drawingml/2006/main">
            <a:off x="466344" y="21305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www.inegi.org.mx/programas/enigh/nc/2024/</a:t>
            </a:r>
            <a:r>
              <a:rPr sz="650" b="0" i="0">
                <a:solidFill>
                  <a:srgbClr val="24383A"/>
                </a:solidFill>
                <a:latin typeface="DejaVu Sans"/>
                <a:ea typeface="DejaVu Sans"/>
                <a:cs typeface="DejaVu Sans"/>
              </a:rPr>
              <a:t>.</a:t>
            </a:r>
          </a:p>
        </p:txBody>
      </p:sp>
      <p:sp>
        <p:nvSpPr>
          <p:cNvPr id="28" name="ANUARIO_CONTENIDO_0_0_14">
            <a:extLst xmlns:a="http://schemas.openxmlformats.org/drawingml/2006/main">
              <a:ext uri="{FF2B5EF4-FFF2-40B4-BE49-F238E27FC236}">
                <a16:creationId xmlns:a16="http://schemas.microsoft.com/office/drawing/2014/main" id="{4FC0B02D-CE14-4985-A928-EFC73917C03E}"/>
              </a:ext>
            </a:extLst>
          </p:cNvPr>
          <p:cNvSpPr>
            <a:spLocks xmlns:a="http://schemas.openxmlformats.org/drawingml/2006/main" noGrp="1"/>
          </p:cNvSpPr>
          <p:nvPr/>
        </p:nvSpPr>
        <p:spPr>
          <a:xfrm xmlns:a="http://schemas.openxmlformats.org/drawingml/2006/main">
            <a:off x="466344" y="22484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Encuesta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Ocupación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y</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Empleo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(ENOE):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29" name="ANUARIO_CONTENIDO_0_0_15">
            <a:extLst xmlns:a="http://schemas.openxmlformats.org/drawingml/2006/main">
              <a:ext uri="{FF2B5EF4-FFF2-40B4-BE49-F238E27FC236}">
                <a16:creationId xmlns:a16="http://schemas.microsoft.com/office/drawing/2014/main" id="{9866A27B-9380-49B2-BE91-255BA85AD571}"/>
              </a:ext>
            </a:extLst>
          </p:cNvPr>
          <p:cNvSpPr>
            <a:spLocks xmlns:a="http://schemas.openxmlformats.org/drawingml/2006/main" noGrp="1"/>
          </p:cNvSpPr>
          <p:nvPr/>
        </p:nvSpPr>
        <p:spPr>
          <a:xfrm xmlns:a="http://schemas.openxmlformats.org/drawingml/2006/main">
            <a:off x="466344" y="23408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proporcionar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mexicano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ofrecer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mensuales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30" name="ANUARIO_CONTENIDO_0_0_16">
            <a:extLst xmlns:a="http://schemas.openxmlformats.org/drawingml/2006/main">
              <a:ext uri="{FF2B5EF4-FFF2-40B4-BE49-F238E27FC236}">
                <a16:creationId xmlns:a16="http://schemas.microsoft.com/office/drawing/2014/main" id="{11DB692F-8B07-458A-8081-EFDD900D968E}"/>
              </a:ext>
            </a:extLst>
          </p:cNvPr>
          <p:cNvSpPr>
            <a:spLocks xmlns:a="http://schemas.openxmlformats.org/drawingml/2006/main" noGrp="1"/>
          </p:cNvSpPr>
          <p:nvPr/>
        </p:nvSpPr>
        <p:spPr>
          <a:xfrm xmlns:a="http://schemas.openxmlformats.org/drawingml/2006/main">
            <a:off x="466344" y="24333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trimestrales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fuerza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informalidad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laboral,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subocupación</a:t>
            </a:r>
            <a:r>
              <a:rPr sz="650" b="0" i="0">
                <a:solidFill>
                  <a:srgbClr val="24383A"/>
                </a:solidFill>
                <a:latin typeface="DejaVu Sans"/>
                <a:ea typeface="DejaVu Sans"/>
                <a:cs typeface="DejaVu Sans"/>
              </a:rPr>
              <a:t> </a:t>
            </a:r>
          </a:p>
        </p:txBody>
      </p:sp>
      <p:sp>
        <p:nvSpPr>
          <p:cNvPr id="31" name="ANUARIO_CONTENIDO_0_0_17">
            <a:extLst xmlns:a="http://schemas.openxmlformats.org/drawingml/2006/main">
              <a:ext uri="{FF2B5EF4-FFF2-40B4-BE49-F238E27FC236}">
                <a16:creationId xmlns:a16="http://schemas.microsoft.com/office/drawing/2014/main" id="{EF42B501-1DBF-4365-8B6A-61823333C4BF}"/>
              </a:ext>
            </a:extLst>
          </p:cNvPr>
          <p:cNvSpPr>
            <a:spLocks xmlns:a="http://schemas.openxmlformats.org/drawingml/2006/main" noGrp="1"/>
          </p:cNvSpPr>
          <p:nvPr/>
        </p:nvSpPr>
        <p:spPr>
          <a:xfrm xmlns:a="http://schemas.openxmlformats.org/drawingml/2006/main">
            <a:off x="466344" y="25257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desocupación.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https://www.inegi.org.mx/programas/enoe/15ymas/</a:t>
            </a:r>
            <a:r>
              <a:rPr sz="650" b="0" i="0">
                <a:solidFill>
                  <a:srgbClr val="24383A"/>
                </a:solidFill>
                <a:latin typeface="DejaVu Sans"/>
                <a:ea typeface="DejaVu Sans"/>
                <a:cs typeface="DejaVu Sans"/>
              </a:rPr>
              <a:t>.</a:t>
            </a:r>
            <a:r>
              <a:rPr sz="650" b="0" i="0">
                <a:solidFill>
                  <a:srgbClr val="24383A"/>
                </a:solidFill>
                <a:latin typeface="DejaVu Sans"/>
                <a:ea typeface="DejaVu Sans"/>
                <a:cs typeface="DejaVu Sans"/>
              </a:rPr>
              <a:t> </a:t>
            </a:r>
          </a:p>
        </p:txBody>
      </p:sp>
      <p:sp>
        <p:nvSpPr>
          <p:cNvPr id="32" name="ANUARIO_CONTENIDO_0_0_18">
            <a:extLst xmlns:a="http://schemas.openxmlformats.org/drawingml/2006/main">
              <a:ext uri="{FF2B5EF4-FFF2-40B4-BE49-F238E27FC236}">
                <a16:creationId xmlns:a16="http://schemas.microsoft.com/office/drawing/2014/main" id="{424A8096-1E1B-470A-8F82-C49DB8A4DC0F}"/>
              </a:ext>
            </a:extLst>
          </p:cNvPr>
          <p:cNvSpPr>
            <a:spLocks xmlns:a="http://schemas.openxmlformats.org/drawingml/2006/main" noGrp="1"/>
          </p:cNvSpPr>
          <p:nvPr/>
        </p:nvSpPr>
        <p:spPr>
          <a:xfrm xmlns:a="http://schemas.openxmlformats.org/drawingml/2006/main">
            <a:off x="466344" y="26436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Equipo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terminal: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Dispositivo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usuario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conectarse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a:t>
            </a:r>
            <a:r>
              <a:rPr sz="650" b="0" i="0">
                <a:solidFill>
                  <a:srgbClr val="24383A"/>
                </a:solidFill>
                <a:latin typeface="DejaVu Sans"/>
                <a:ea typeface="DejaVu Sans"/>
                <a:cs typeface="DejaVu Sans"/>
              </a:rPr>
              <a:t> </a:t>
            </a:r>
          </a:p>
        </p:txBody>
      </p:sp>
      <p:sp>
        <p:nvSpPr>
          <p:cNvPr id="33" name="ANUARIO_CONTENIDO_0_0_19">
            <a:extLst xmlns:a="http://schemas.openxmlformats.org/drawingml/2006/main">
              <a:ext uri="{FF2B5EF4-FFF2-40B4-BE49-F238E27FC236}">
                <a16:creationId xmlns:a16="http://schemas.microsoft.com/office/drawing/2014/main" id="{6FC4B380-72B8-4281-B64C-EADE02F7E4FD}"/>
              </a:ext>
            </a:extLst>
          </p:cNvPr>
          <p:cNvSpPr>
            <a:spLocks xmlns:a="http://schemas.openxmlformats.org/drawingml/2006/main" noGrp="1"/>
          </p:cNvSpPr>
          <p:nvPr/>
        </p:nvSpPr>
        <p:spPr>
          <a:xfrm xmlns:a="http://schemas.openxmlformats.org/drawingml/2006/main">
            <a:off x="466344" y="27360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Pública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obtener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34" name="ANUARIO_CONTENIDO_0_0_20">
            <a:extLst xmlns:a="http://schemas.openxmlformats.org/drawingml/2006/main">
              <a:ext uri="{FF2B5EF4-FFF2-40B4-BE49-F238E27FC236}">
                <a16:creationId xmlns:a16="http://schemas.microsoft.com/office/drawing/2014/main" id="{A3DFF438-1435-4B37-B58B-A232CE1E5AF2}"/>
              </a:ext>
            </a:extLst>
          </p:cNvPr>
          <p:cNvSpPr>
            <a:spLocks xmlns:a="http://schemas.openxmlformats.org/drawingml/2006/main" noGrp="1"/>
          </p:cNvSpPr>
          <p:nvPr/>
        </p:nvSpPr>
        <p:spPr>
          <a:xfrm xmlns:a="http://schemas.openxmlformats.org/drawingml/2006/main">
            <a:off x="466344" y="28285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p>
        </p:txBody>
      </p:sp>
      <p:sp>
        <p:nvSpPr>
          <p:cNvPr id="35" name="ANUARIO_ANEXO_P122_DESIGN_2026">
            <a:extLst xmlns:a="http://schemas.openxmlformats.org/drawingml/2006/main">
              <a:ext uri="{FF2B5EF4-FFF2-40B4-BE49-F238E27FC236}">
                <a16:creationId xmlns:a16="http://schemas.microsoft.com/office/drawing/2014/main" id="{993E622E-1C1B-42E9-B4C2-DCF53E450A4C}"/>
              </a:ext>
            </a:extLst>
          </p:cNvPr>
          <p:cNvSpPr>
            <a:spLocks xmlns:a="http://schemas.openxmlformats.org/drawingml/2006/main" noGrp="1"/>
          </p:cNvSpPr>
          <p:nvPr/>
        </p:nvSpPr>
        <p:spPr>
          <a:xfrm xmlns:a="http://schemas.openxmlformats.org/drawingml/2006/main">
            <a:off x="301752" y="3207684"/>
            <a:ext cx="4178808" cy="1254588"/>
          </a:xfrm>
          <a:prstGeom xmlns:a="http://schemas.openxmlformats.org/drawingml/2006/main" prst="roundRect">
            <a:avLst>
              <a:gd name="adj" fmla="val 4373"/>
            </a:avLst>
          </a:prstGeom>
          <a:solidFill xmlns:a="http://schemas.openxmlformats.org/drawingml/2006/main">
            <a:srgbClr val="F6FAF9"/>
          </a:solidFill>
          <a:ln xmlns:a="http://schemas.openxmlformats.org/drawingml/2006/main" w="9525">
            <a:solidFill>
              <a:srgbClr val="C9DAD6"/>
            </a:solidFill>
          </a:ln>
        </p:spPr>
      </p:sp>
      <p:sp>
        <p:nvSpPr>
          <p:cNvPr id="36" name="ANUARIO_ACENTO">
            <a:extLst xmlns:a="http://schemas.openxmlformats.org/drawingml/2006/main">
              <a:ext uri="{FF2B5EF4-FFF2-40B4-BE49-F238E27FC236}">
                <a16:creationId xmlns:a16="http://schemas.microsoft.com/office/drawing/2014/main" id="{0A1E6F72-C0AC-496F-BA08-51F74CAF087F}"/>
              </a:ext>
            </a:extLst>
          </p:cNvPr>
          <p:cNvSpPr>
            <a:spLocks xmlns:a="http://schemas.openxmlformats.org/drawingml/2006/main" noGrp="1"/>
          </p:cNvSpPr>
          <p:nvPr/>
        </p:nvSpPr>
        <p:spPr>
          <a:xfrm xmlns:a="http://schemas.openxmlformats.org/drawingml/2006/main">
            <a:off x="301752" y="3280836"/>
            <a:ext cx="64008" cy="11082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7" name="ANUARIO_LETRA_FONDO">
            <a:extLst xmlns:a="http://schemas.openxmlformats.org/drawingml/2006/main">
              <a:ext uri="{FF2B5EF4-FFF2-40B4-BE49-F238E27FC236}">
                <a16:creationId xmlns:a16="http://schemas.microsoft.com/office/drawing/2014/main" id="{AA6CEB90-E0B5-4BC8-B7C8-B2852A3888F5}"/>
              </a:ext>
            </a:extLst>
          </p:cNvPr>
          <p:cNvSpPr>
            <a:spLocks xmlns:a="http://schemas.openxmlformats.org/drawingml/2006/main" noGrp="1"/>
          </p:cNvSpPr>
          <p:nvPr/>
        </p:nvSpPr>
        <p:spPr>
          <a:xfrm xmlns:a="http://schemas.openxmlformats.org/drawingml/2006/main">
            <a:off x="466344" y="3280836"/>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38" name="ANUARIO_LETRA">
            <a:extLst xmlns:a="http://schemas.openxmlformats.org/drawingml/2006/main">
              <a:ext uri="{FF2B5EF4-FFF2-40B4-BE49-F238E27FC236}">
                <a16:creationId xmlns:a16="http://schemas.microsoft.com/office/drawing/2014/main" id="{FF9745E2-F069-4D59-B774-878B0CA18CF1}"/>
              </a:ext>
            </a:extLst>
          </p:cNvPr>
          <p:cNvSpPr>
            <a:spLocks xmlns:a="http://schemas.openxmlformats.org/drawingml/2006/main" noGrp="1"/>
          </p:cNvSpPr>
          <p:nvPr/>
        </p:nvSpPr>
        <p:spPr>
          <a:xfrm xmlns:a="http://schemas.openxmlformats.org/drawingml/2006/main">
            <a:off x="466344" y="3299124"/>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G</a:t>
            </a:r>
          </a:p>
        </p:txBody>
      </p:sp>
      <p:sp>
        <p:nvSpPr>
          <p:cNvPr id="39" name="ANUARIO_CONTENIDO_0_1_0">
            <a:extLst xmlns:a="http://schemas.openxmlformats.org/drawingml/2006/main">
              <a:ext uri="{FF2B5EF4-FFF2-40B4-BE49-F238E27FC236}">
                <a16:creationId xmlns:a16="http://schemas.microsoft.com/office/drawing/2014/main" id="{DBE4FE9E-3A5A-4743-A3E4-780CF7DDC265}"/>
              </a:ext>
            </a:extLst>
          </p:cNvPr>
          <p:cNvSpPr>
            <a:spLocks xmlns:a="http://schemas.openxmlformats.org/drawingml/2006/main" noGrp="1"/>
          </p:cNvSpPr>
          <p:nvPr/>
        </p:nvSpPr>
        <p:spPr>
          <a:xfrm xmlns:a="http://schemas.openxmlformats.org/drawingml/2006/main">
            <a:off x="466344" y="35185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etiqueta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Nielsen</a:t>
            </a:r>
            <a:r>
              <a:rPr sz="650" b="0" i="0">
                <a:solidFill>
                  <a:srgbClr val="24383A"/>
                </a:solidFill>
                <a:latin typeface="DejaVu Sans"/>
                <a:ea typeface="DejaVu Sans"/>
                <a:cs typeface="DejaVu Sans"/>
              </a:rPr>
              <a:t> </a:t>
            </a:r>
          </a:p>
        </p:txBody>
      </p:sp>
      <p:sp>
        <p:nvSpPr>
          <p:cNvPr id="40" name="ANUARIO_CONTENIDO_0_1_1">
            <a:extLst xmlns:a="http://schemas.openxmlformats.org/drawingml/2006/main">
              <a:ext uri="{FF2B5EF4-FFF2-40B4-BE49-F238E27FC236}">
                <a16:creationId xmlns:a16="http://schemas.microsoft.com/office/drawing/2014/main" id="{AB82C973-348A-48D2-A046-DBDB7498E34D}"/>
              </a:ext>
            </a:extLst>
          </p:cNvPr>
          <p:cNvSpPr>
            <a:spLocks xmlns:a="http://schemas.openxmlformats.org/drawingml/2006/main" noGrp="1"/>
          </p:cNvSpPr>
          <p:nvPr/>
        </p:nvSpPr>
        <p:spPr>
          <a:xfrm xmlns:a="http://schemas.openxmlformats.org/drawingml/2006/main">
            <a:off x="466344" y="36110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IBOPE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propósito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clasificar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p>
        </p:txBody>
      </p:sp>
      <p:sp>
        <p:nvSpPr>
          <p:cNvPr id="41" name="ANUARIO_CONTENIDO_0_1_2">
            <a:extLst xmlns:a="http://schemas.openxmlformats.org/drawingml/2006/main">
              <a:ext uri="{FF2B5EF4-FFF2-40B4-BE49-F238E27FC236}">
                <a16:creationId xmlns:a16="http://schemas.microsoft.com/office/drawing/2014/main" id="{1EFD17B4-35BA-4252-8FD2-4532D2BB49AA}"/>
              </a:ext>
            </a:extLst>
          </p:cNvPr>
          <p:cNvSpPr>
            <a:spLocks xmlns:a="http://schemas.openxmlformats.org/drawingml/2006/main" noGrp="1"/>
          </p:cNvSpPr>
          <p:nvPr/>
        </p:nvSpPr>
        <p:spPr>
          <a:xfrm xmlns:a="http://schemas.openxmlformats.org/drawingml/2006/main">
            <a:off x="466344" y="37288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Gobierno: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LFTR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ordena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electrónicos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transmisión</a:t>
            </a:r>
            <a:r>
              <a:rPr sz="650" b="0" i="0">
                <a:solidFill>
                  <a:srgbClr val="24383A"/>
                </a:solidFill>
                <a:latin typeface="DejaVu Sans"/>
                <a:ea typeface="DejaVu Sans"/>
                <a:cs typeface="DejaVu Sans"/>
              </a:rPr>
              <a:t> </a:t>
            </a:r>
          </a:p>
        </p:txBody>
      </p:sp>
      <p:sp>
        <p:nvSpPr>
          <p:cNvPr id="42" name="ANUARIO_CONTENIDO_0_1_3">
            <a:extLst xmlns:a="http://schemas.openxmlformats.org/drawingml/2006/main">
              <a:ext uri="{FF2B5EF4-FFF2-40B4-BE49-F238E27FC236}">
                <a16:creationId xmlns:a16="http://schemas.microsoft.com/office/drawing/2014/main" id="{9143D28C-86F0-4FF5-A0C6-0BB84F65EB8B}"/>
              </a:ext>
            </a:extLst>
          </p:cNvPr>
          <p:cNvSpPr>
            <a:spLocks xmlns:a="http://schemas.openxmlformats.org/drawingml/2006/main" noGrp="1"/>
          </p:cNvSpPr>
          <p:nvPr/>
        </p:nvSpPr>
        <p:spPr>
          <a:xfrm xmlns:a="http://schemas.openxmlformats.org/drawingml/2006/main">
            <a:off x="466344" y="38213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gratuita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diaria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30</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discontinuos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p>
        </p:txBody>
      </p:sp>
      <p:sp>
        <p:nvSpPr>
          <p:cNvPr id="43" name="ANUARIO_CONTENIDO_0_1_4">
            <a:extLst xmlns:a="http://schemas.openxmlformats.org/drawingml/2006/main">
              <a:ext uri="{FF2B5EF4-FFF2-40B4-BE49-F238E27FC236}">
                <a16:creationId xmlns:a16="http://schemas.microsoft.com/office/drawing/2014/main" id="{A8D772EB-6793-4626-A915-73AA784EF612}"/>
              </a:ext>
            </a:extLst>
          </p:cNvPr>
          <p:cNvSpPr>
            <a:spLocks xmlns:a="http://schemas.openxmlformats.org/drawingml/2006/main" noGrp="1"/>
          </p:cNvSpPr>
          <p:nvPr/>
        </p:nvSpPr>
        <p:spPr>
          <a:xfrm xmlns:a="http://schemas.openxmlformats.org/drawingml/2006/main">
            <a:off x="466344" y="39138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dedicados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difundir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educativos,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culturales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orientación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social.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Todas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44" name="ANUARIO_CONTENIDO_0_1_5">
            <a:extLst xmlns:a="http://schemas.openxmlformats.org/drawingml/2006/main">
              <a:ext uri="{FF2B5EF4-FFF2-40B4-BE49-F238E27FC236}">
                <a16:creationId xmlns:a16="http://schemas.microsoft.com/office/drawing/2014/main" id="{70238828-5B92-4726-9D3C-476AC4C55FD3}"/>
              </a:ext>
            </a:extLst>
          </p:cNvPr>
          <p:cNvSpPr>
            <a:spLocks xmlns:a="http://schemas.openxmlformats.org/drawingml/2006/main" noGrp="1"/>
          </p:cNvSpPr>
          <p:nvPr/>
        </p:nvSpPr>
        <p:spPr>
          <a:xfrm xmlns:a="http://schemas.openxmlformats.org/drawingml/2006/main">
            <a:off x="466344" y="40062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estaciones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obligadas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encadenarse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45" name="ANUARIO_CONTENIDO_0_1_6">
            <a:extLst xmlns:a="http://schemas.openxmlformats.org/drawingml/2006/main">
              <a:ext uri="{FF2B5EF4-FFF2-40B4-BE49-F238E27FC236}">
                <a16:creationId xmlns:a16="http://schemas.microsoft.com/office/drawing/2014/main" id="{8A64043B-7673-41FA-B484-1E55D746EE53}"/>
              </a:ext>
            </a:extLst>
          </p:cNvPr>
          <p:cNvSpPr>
            <a:spLocks xmlns:a="http://schemas.openxmlformats.org/drawingml/2006/main" noGrp="1"/>
          </p:cNvSpPr>
          <p:nvPr/>
        </p:nvSpPr>
        <p:spPr>
          <a:xfrm xmlns:a="http://schemas.openxmlformats.org/drawingml/2006/main">
            <a:off x="466344" y="40987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transmitir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trascendencia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juicio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Secretaría</a:t>
            </a:r>
            <a:r>
              <a:rPr sz="650" b="0" i="0">
                <a:solidFill>
                  <a:srgbClr val="24383A"/>
                </a:solidFill>
                <a:latin typeface="DejaVu Sans"/>
                <a:ea typeface="DejaVu Sans"/>
                <a:cs typeface="DejaVu Sans"/>
              </a:rPr>
              <a:t> </a:t>
            </a:r>
          </a:p>
        </p:txBody>
      </p:sp>
      <p:sp>
        <p:nvSpPr>
          <p:cNvPr id="46" name="ANUARIO_CONTENIDO_0_1_7">
            <a:extLst xmlns:a="http://schemas.openxmlformats.org/drawingml/2006/main">
              <a:ext uri="{FF2B5EF4-FFF2-40B4-BE49-F238E27FC236}">
                <a16:creationId xmlns:a16="http://schemas.microsoft.com/office/drawing/2014/main" id="{B2E0B6D7-DBF9-48DF-A39E-A45FD79F8ED9}"/>
              </a:ext>
            </a:extLst>
          </p:cNvPr>
          <p:cNvSpPr>
            <a:spLocks xmlns:a="http://schemas.openxmlformats.org/drawingml/2006/main" noGrp="1"/>
          </p:cNvSpPr>
          <p:nvPr/>
        </p:nvSpPr>
        <p:spPr>
          <a:xfrm xmlns:a="http://schemas.openxmlformats.org/drawingml/2006/main">
            <a:off x="466344" y="41911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Gobernación.</a:t>
            </a:r>
          </a:p>
        </p:txBody>
      </p:sp>
      <p:sp>
        <p:nvSpPr>
          <p:cNvPr id="47" name="ANUARIO_ANEXO_P122_DESIGN_2026">
            <a:extLst xmlns:a="http://schemas.openxmlformats.org/drawingml/2006/main">
              <a:ext uri="{FF2B5EF4-FFF2-40B4-BE49-F238E27FC236}">
                <a16:creationId xmlns:a16="http://schemas.microsoft.com/office/drawing/2014/main" id="{5EE6CAA8-70B1-4744-9F50-7C2A63A1BE39}"/>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48" name="ANUARIO_ACENTO">
            <a:extLst xmlns:a="http://schemas.openxmlformats.org/drawingml/2006/main">
              <a:ext uri="{FF2B5EF4-FFF2-40B4-BE49-F238E27FC236}">
                <a16:creationId xmlns:a16="http://schemas.microsoft.com/office/drawing/2014/main" id="{D63E11B6-1709-4B24-ABD4-139F10CAECB4}"/>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9" name="ANUARIO_LETRA_FONDO">
            <a:extLst xmlns:a="http://schemas.openxmlformats.org/drawingml/2006/main">
              <a:ext uri="{FF2B5EF4-FFF2-40B4-BE49-F238E27FC236}">
                <a16:creationId xmlns:a16="http://schemas.microsoft.com/office/drawing/2014/main" id="{61F6D5B9-6D0C-447A-9EE6-34154B5716CE}"/>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50" name="ANUARIO_LETRA">
            <a:extLst xmlns:a="http://schemas.openxmlformats.org/drawingml/2006/main">
              <a:ext uri="{FF2B5EF4-FFF2-40B4-BE49-F238E27FC236}">
                <a16:creationId xmlns:a16="http://schemas.microsoft.com/office/drawing/2014/main" id="{64F60DA7-390C-4FDC-880F-E19A9AD0CCFE}"/>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I</a:t>
            </a:r>
          </a:p>
        </p:txBody>
      </p:sp>
      <p:sp>
        <p:nvSpPr>
          <p:cNvPr id="51" name="ANUARIO_CONTENIDO_1_0_0">
            <a:extLst xmlns:a="http://schemas.openxmlformats.org/drawingml/2006/main">
              <a:ext uri="{FF2B5EF4-FFF2-40B4-BE49-F238E27FC236}">
                <a16:creationId xmlns:a16="http://schemas.microsoft.com/office/drawing/2014/main" id="{3D9CF672-B820-473C-946D-5A93D0269685}"/>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Herfindahl-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Hirschman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52" name="ANUARIO_CONTENIDO_1_0_1">
            <a:extLst xmlns:a="http://schemas.openxmlformats.org/drawingml/2006/main">
              <a:ext uri="{FF2B5EF4-FFF2-40B4-BE49-F238E27FC236}">
                <a16:creationId xmlns:a16="http://schemas.microsoft.com/office/drawing/2014/main" id="{1630D686-95DC-4299-A384-2431CD2CF544}"/>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relevantes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relacionados.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53" name="ANUARIO_CONTENIDO_1_0_2">
            <a:extLst xmlns:a="http://schemas.openxmlformats.org/drawingml/2006/main">
              <a:ext uri="{FF2B5EF4-FFF2-40B4-BE49-F238E27FC236}">
                <a16:creationId xmlns:a16="http://schemas.microsoft.com/office/drawing/2014/main" id="{07612933-7F02-4683-943A-44762381F437}"/>
              </a:ext>
            </a:extLst>
          </p:cNvPr>
          <p:cNvSpPr>
            <a:spLocks xmlns:a="http://schemas.openxmlformats.org/drawingml/2006/main" noGrp="1"/>
          </p:cNvSpPr>
          <p:nvPr/>
        </p:nvSpPr>
        <p:spPr>
          <a:xfrm xmlns:a="http://schemas.openxmlformats.org/drawingml/2006/main">
            <a:off x="4828032"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aumenta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disminuye.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característica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implica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54" name="ANUARIO_CONTENIDO_1_0_3">
            <a:extLst xmlns:a="http://schemas.openxmlformats.org/drawingml/2006/main">
              <a:ext uri="{FF2B5EF4-FFF2-40B4-BE49-F238E27FC236}">
                <a16:creationId xmlns:a16="http://schemas.microsoft.com/office/drawing/2014/main" id="{612FCBF9-A788-4969-AAAA-E3DD5F02089F}"/>
              </a:ext>
            </a:extLst>
          </p:cNvPr>
          <p:cNvSpPr>
            <a:spLocks xmlns:a="http://schemas.openxmlformats.org/drawingml/2006/main" noGrp="1"/>
          </p:cNvSpPr>
          <p:nvPr/>
        </p:nvSpPr>
        <p:spPr>
          <a:xfrm xmlns:a="http://schemas.openxmlformats.org/drawingml/2006/main">
            <a:off x="4828032" y="11551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cualquier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adquisición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completa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empresas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reflejada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55" name="ANUARIO_CONTENIDO_1_0_4">
            <a:extLst xmlns:a="http://schemas.openxmlformats.org/drawingml/2006/main">
              <a:ext uri="{FF2B5EF4-FFF2-40B4-BE49-F238E27FC236}">
                <a16:creationId xmlns:a16="http://schemas.microsoft.com/office/drawing/2014/main" id="{13C24D4E-AB01-4CD5-A2CD-D5F00ED0C06A}"/>
              </a:ext>
            </a:extLst>
          </p:cNvPr>
          <p:cNvSpPr>
            <a:spLocks xmlns:a="http://schemas.openxmlformats.org/drawingml/2006/main" noGrp="1"/>
          </p:cNvSpPr>
          <p:nvPr/>
        </p:nvSpPr>
        <p:spPr>
          <a:xfrm xmlns:a="http://schemas.openxmlformats.org/drawingml/2006/main">
            <a:off x="4828032" y="12476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IHH.</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pequeño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p>
        </p:txBody>
      </p:sp>
      <p:sp>
        <p:nvSpPr>
          <p:cNvPr id="56" name="ANUARIO_CONTENIDO_1_0_5">
            <a:extLst xmlns:a="http://schemas.openxmlformats.org/drawingml/2006/main">
              <a:ext uri="{FF2B5EF4-FFF2-40B4-BE49-F238E27FC236}">
                <a16:creationId xmlns:a16="http://schemas.microsoft.com/office/drawing/2014/main" id="{8D8B638B-3BC1-4DEA-9B70-603824FF4C54}"/>
              </a:ext>
            </a:extLst>
          </p:cNvPr>
          <p:cNvSpPr>
            <a:spLocks xmlns:a="http://schemas.openxmlformats.org/drawingml/2006/main" noGrp="1"/>
          </p:cNvSpPr>
          <p:nvPr/>
        </p:nvSpPr>
        <p:spPr>
          <a:xfrm xmlns:a="http://schemas.openxmlformats.org/drawingml/2006/main">
            <a:off x="4828032" y="13401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probable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participaciones,</a:t>
            </a:r>
            <a:r>
              <a:rPr sz="650" b="0" i="0">
                <a:solidFill>
                  <a:srgbClr val="24383A"/>
                </a:solidFill>
                <a:latin typeface="DejaVu Sans"/>
                <a:ea typeface="DejaVu Sans"/>
                <a:cs typeface="DejaVu Sans"/>
              </a:rPr>
              <a:t> </a:t>
            </a:r>
          </a:p>
        </p:txBody>
      </p:sp>
      <p:sp>
        <p:nvSpPr>
          <p:cNvPr id="57" name="ANUARIO_CONTENIDO_1_0_6">
            <a:extLst xmlns:a="http://schemas.openxmlformats.org/drawingml/2006/main">
              <a:ext uri="{FF2B5EF4-FFF2-40B4-BE49-F238E27FC236}">
                <a16:creationId xmlns:a16="http://schemas.microsoft.com/office/drawing/2014/main" id="{3155C03A-4E56-45C3-B1C4-E44466E63232}"/>
              </a:ext>
            </a:extLst>
          </p:cNvPr>
          <p:cNvSpPr>
            <a:spLocks xmlns:a="http://schemas.openxmlformats.org/drawingml/2006/main" noGrp="1"/>
          </p:cNvSpPr>
          <p:nvPr/>
        </p:nvSpPr>
        <p:spPr>
          <a:xfrm xmlns:a="http://schemas.openxmlformats.org/drawingml/2006/main">
            <a:off x="4828032" y="14325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modifiquen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condiciones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competencia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resto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58" name="ANUARIO_CONTENIDO_1_0_7">
            <a:extLst xmlns:a="http://schemas.openxmlformats.org/drawingml/2006/main">
              <a:ext uri="{FF2B5EF4-FFF2-40B4-BE49-F238E27FC236}">
                <a16:creationId xmlns:a16="http://schemas.microsoft.com/office/drawing/2014/main" id="{2EBCCCFC-B509-446C-978A-C58D3309B5C6}"/>
              </a:ext>
            </a:extLst>
          </p:cNvPr>
          <p:cNvSpPr>
            <a:spLocks xmlns:a="http://schemas.openxmlformats.org/drawingml/2006/main" noGrp="1"/>
          </p:cNvSpPr>
          <p:nvPr/>
        </p:nvSpPr>
        <p:spPr>
          <a:xfrm xmlns:a="http://schemas.openxmlformats.org/drawingml/2006/main">
            <a:off x="4828032" y="15250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calculado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conforme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IFT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ACUERDO</a:t>
            </a:r>
            <a:r>
              <a:rPr sz="650" b="0" i="0">
                <a:solidFill>
                  <a:srgbClr val="24383A"/>
                </a:solidFill>
                <a:latin typeface="DejaVu Sans"/>
                <a:ea typeface="DejaVu Sans"/>
                <a:cs typeface="DejaVu Sans"/>
              </a:rPr>
              <a:t> </a:t>
            </a:r>
          </a:p>
        </p:txBody>
      </p:sp>
      <p:sp>
        <p:nvSpPr>
          <p:cNvPr id="59" name="ANUARIO_CONTENIDO_1_0_8">
            <a:extLst xmlns:a="http://schemas.openxmlformats.org/drawingml/2006/main">
              <a:ext uri="{FF2B5EF4-FFF2-40B4-BE49-F238E27FC236}">
                <a16:creationId xmlns:a16="http://schemas.microsoft.com/office/drawing/2014/main" id="{19884A5C-AAFA-4212-AA48-8B53493B38C9}"/>
              </a:ext>
            </a:extLst>
          </p:cNvPr>
          <p:cNvSpPr>
            <a:spLocks xmlns:a="http://schemas.openxmlformats.org/drawingml/2006/main" noGrp="1"/>
          </p:cNvSpPr>
          <p:nvPr/>
        </p:nvSpPr>
        <p:spPr>
          <a:xfrm xmlns:a="http://schemas.openxmlformats.org/drawingml/2006/main">
            <a:off x="4828032" y="16174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PLENO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INSTITUTO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FEDERAL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60" name="ANUARIO_CONTENIDO_1_0_9">
            <a:extLst xmlns:a="http://schemas.openxmlformats.org/drawingml/2006/main">
              <a:ext uri="{FF2B5EF4-FFF2-40B4-BE49-F238E27FC236}">
                <a16:creationId xmlns:a16="http://schemas.microsoft.com/office/drawing/2014/main" id="{14625262-06E7-4629-A8AA-FC473D3FDAA9}"/>
              </a:ext>
            </a:extLst>
          </p:cNvPr>
          <p:cNvSpPr>
            <a:spLocks xmlns:a="http://schemas.openxmlformats.org/drawingml/2006/main" noGrp="1"/>
          </p:cNvSpPr>
          <p:nvPr/>
        </p:nvSpPr>
        <p:spPr>
          <a:xfrm xmlns:a="http://schemas.openxmlformats.org/drawingml/2006/main">
            <a:off x="4828032" y="17099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MODIFICA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CRITERIO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TÉCNICO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CÁLCULO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APLICACIÓN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p>
        </p:txBody>
      </p:sp>
      <p:sp>
        <p:nvSpPr>
          <p:cNvPr id="61" name="ANUARIO_CONTENIDO_1_0_10">
            <a:extLst xmlns:a="http://schemas.openxmlformats.org/drawingml/2006/main">
              <a:ext uri="{FF2B5EF4-FFF2-40B4-BE49-F238E27FC236}">
                <a16:creationId xmlns:a16="http://schemas.microsoft.com/office/drawing/2014/main" id="{4E4E707A-A932-425A-87B0-1D63FCBC90E2}"/>
              </a:ext>
            </a:extLst>
          </p:cNvPr>
          <p:cNvSpPr>
            <a:spLocks xmlns:a="http://schemas.openxmlformats.org/drawingml/2006/main" noGrp="1"/>
          </p:cNvSpPr>
          <p:nvPr/>
        </p:nvSpPr>
        <p:spPr>
          <a:xfrm xmlns:a="http://schemas.openxmlformats.org/drawingml/2006/main">
            <a:off x="4828032" y="18023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CUANTITATIVO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CONCENTRACIÓN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MERCADOS</a:t>
            </a:r>
            <a:r>
              <a:rPr sz="650" b="0" i="0">
                <a:solidFill>
                  <a:srgbClr val="24383A"/>
                </a:solidFill>
                <a:latin typeface="DejaVu Sans"/>
                <a:ea typeface="DejaVu Sans"/>
                <a:cs typeface="DejaVu Sans"/>
              </a:rPr>
              <a:t> </a:t>
            </a:r>
          </a:p>
        </p:txBody>
      </p:sp>
      <p:sp>
        <p:nvSpPr>
          <p:cNvPr id="62" name="ANUARIO_CONTENIDO_1_0_11">
            <a:extLst xmlns:a="http://schemas.openxmlformats.org/drawingml/2006/main">
              <a:ext uri="{FF2B5EF4-FFF2-40B4-BE49-F238E27FC236}">
                <a16:creationId xmlns:a16="http://schemas.microsoft.com/office/drawing/2014/main" id="{C2CE1B92-74A6-48B6-80A2-8974E6FF66CD}"/>
              </a:ext>
            </a:extLst>
          </p:cNvPr>
          <p:cNvSpPr>
            <a:spLocks xmlns:a="http://schemas.openxmlformats.org/drawingml/2006/main" noGrp="1"/>
          </p:cNvSpPr>
          <p:nvPr/>
        </p:nvSpPr>
        <p:spPr>
          <a:xfrm xmlns:a="http://schemas.openxmlformats.org/drawingml/2006/main">
            <a:off x="4828032" y="18948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CORRESPONDIENTES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SECTORES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63" name="ANUARIO_CONTENIDO_1_0_12">
            <a:extLst xmlns:a="http://schemas.openxmlformats.org/drawingml/2006/main">
              <a:ext uri="{FF2B5EF4-FFF2-40B4-BE49-F238E27FC236}">
                <a16:creationId xmlns:a16="http://schemas.microsoft.com/office/drawing/2014/main" id="{107C2D02-172F-4BA1-878F-C9266C95398B}"/>
              </a:ext>
            </a:extLst>
          </p:cNvPr>
          <p:cNvSpPr>
            <a:spLocks xmlns:a="http://schemas.openxmlformats.org/drawingml/2006/main" noGrp="1"/>
          </p:cNvSpPr>
          <p:nvPr/>
        </p:nvSpPr>
        <p:spPr>
          <a:xfrm xmlns:a="http://schemas.openxmlformats.org/drawingml/2006/main">
            <a:off x="4828032" y="19872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RADIODIFUSIÓN.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Disponible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https://www.dof.gob.</a:t>
            </a:r>
            <a:r>
              <a:rPr sz="650" b="0" i="0">
                <a:solidFill>
                  <a:srgbClr val="24383A"/>
                </a:solidFill>
                <a:latin typeface="DejaVu Sans"/>
                <a:ea typeface="DejaVu Sans"/>
                <a:cs typeface="DejaVu Sans"/>
              </a:rPr>
              <a:t> </a:t>
            </a:r>
          </a:p>
        </p:txBody>
      </p:sp>
      <p:sp>
        <p:nvSpPr>
          <p:cNvPr id="64" name="ANUARIO_CONTENIDO_1_0_13">
            <a:extLst xmlns:a="http://schemas.openxmlformats.org/drawingml/2006/main">
              <a:ext uri="{FF2B5EF4-FFF2-40B4-BE49-F238E27FC236}">
                <a16:creationId xmlns:a16="http://schemas.microsoft.com/office/drawing/2014/main" id="{9B540F80-A2F6-41B1-B1C5-BC1B5930E903}"/>
              </a:ext>
            </a:extLst>
          </p:cNvPr>
          <p:cNvSpPr>
            <a:spLocks xmlns:a="http://schemas.openxmlformats.org/drawingml/2006/main" noGrp="1"/>
          </p:cNvSpPr>
          <p:nvPr/>
        </p:nvSpPr>
        <p:spPr>
          <a:xfrm xmlns:a="http://schemas.openxmlformats.org/drawingml/2006/main">
            <a:off x="4828032" y="20797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mx/nota_detalle.php?codigo=5645045&amp;fecha=09/03/2022#gsc.tab=0</a:t>
            </a:r>
            <a:r>
              <a:rPr sz="650" b="0" i="0">
                <a:solidFill>
                  <a:srgbClr val="24383A"/>
                </a:solidFill>
                <a:latin typeface="DejaVu Sans"/>
                <a:ea typeface="DejaVu Sans"/>
                <a:cs typeface="DejaVu Sans"/>
              </a:rPr>
              <a:t>.</a:t>
            </a:r>
          </a:p>
        </p:txBody>
      </p:sp>
      <p:sp>
        <p:nvSpPr>
          <p:cNvPr id="65" name="ANUARIO_CONTENIDO_1_0_14">
            <a:extLst xmlns:a="http://schemas.openxmlformats.org/drawingml/2006/main">
              <a:ext uri="{FF2B5EF4-FFF2-40B4-BE49-F238E27FC236}">
                <a16:creationId xmlns:a16="http://schemas.microsoft.com/office/drawing/2014/main" id="{52554E27-046F-44B1-BB30-5F51F2050E34}"/>
              </a:ext>
            </a:extLst>
          </p:cNvPr>
          <p:cNvSpPr>
            <a:spLocks xmlns:a="http://schemas.openxmlformats.org/drawingml/2006/main" noGrp="1"/>
          </p:cNvSpPr>
          <p:nvPr/>
        </p:nvSpPr>
        <p:spPr>
          <a:xfrm xmlns:a="http://schemas.openxmlformats.org/drawingml/2006/main">
            <a:off x="4828032" y="21976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Índice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Nacional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Precios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al</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Consumidor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económico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finalidad</a:t>
            </a:r>
            <a:r>
              <a:rPr sz="650" b="0" i="0">
                <a:solidFill>
                  <a:srgbClr val="24383A"/>
                </a:solidFill>
                <a:latin typeface="DejaVu Sans"/>
                <a:ea typeface="DejaVu Sans"/>
                <a:cs typeface="DejaVu Sans"/>
              </a:rPr>
              <a:t> </a:t>
            </a:r>
          </a:p>
        </p:txBody>
      </p:sp>
      <p:sp>
        <p:nvSpPr>
          <p:cNvPr id="66" name="ANUARIO_CONTENIDO_1_0_15">
            <a:extLst xmlns:a="http://schemas.openxmlformats.org/drawingml/2006/main">
              <a:ext uri="{FF2B5EF4-FFF2-40B4-BE49-F238E27FC236}">
                <a16:creationId xmlns:a16="http://schemas.microsoft.com/office/drawing/2014/main" id="{89E0B928-2A1C-4090-9534-3FFF7E8D632A}"/>
              </a:ext>
            </a:extLst>
          </p:cNvPr>
          <p:cNvSpPr>
            <a:spLocks xmlns:a="http://schemas.openxmlformats.org/drawingml/2006/main" noGrp="1"/>
          </p:cNvSpPr>
          <p:nvPr/>
        </p:nvSpPr>
        <p:spPr>
          <a:xfrm xmlns:a="http://schemas.openxmlformats.org/drawingml/2006/main">
            <a:off x="4828032" y="22900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fija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p>
        </p:txBody>
      </p:sp>
      <p:sp>
        <p:nvSpPr>
          <p:cNvPr id="67" name="ANUARIO_CONTENIDO_1_0_16">
            <a:extLst xmlns:a="http://schemas.openxmlformats.org/drawingml/2006/main">
              <a:ext uri="{FF2B5EF4-FFF2-40B4-BE49-F238E27FC236}">
                <a16:creationId xmlns:a16="http://schemas.microsoft.com/office/drawing/2014/main" id="{4AF90D88-827D-4600-85DA-DB32C43AE1CA}"/>
              </a:ext>
            </a:extLst>
          </p:cNvPr>
          <p:cNvSpPr>
            <a:spLocks xmlns:a="http://schemas.openxmlformats.org/drawingml/2006/main" noGrp="1"/>
          </p:cNvSpPr>
          <p:nvPr/>
        </p:nvSpPr>
        <p:spPr>
          <a:xfrm xmlns:a="http://schemas.openxmlformats.org/drawingml/2006/main">
            <a:off x="4828032" y="23825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representativa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estudio</a:t>
            </a:r>
            <a:r>
              <a:rPr sz="650" b="0" i="0">
                <a:solidFill>
                  <a:srgbClr val="24383A"/>
                </a:solidFill>
                <a:latin typeface="DejaVu Sans"/>
                <a:ea typeface="DejaVu Sans"/>
                <a:cs typeface="DejaVu Sans"/>
              </a:rPr>
              <a:t> </a:t>
            </a:r>
          </a:p>
        </p:txBody>
      </p:sp>
      <p:sp>
        <p:nvSpPr>
          <p:cNvPr id="68" name="ANUARIO_CONTENIDO_1_0_17">
            <a:extLst xmlns:a="http://schemas.openxmlformats.org/drawingml/2006/main">
              <a:ext uri="{FF2B5EF4-FFF2-40B4-BE49-F238E27FC236}">
                <a16:creationId xmlns:a16="http://schemas.microsoft.com/office/drawing/2014/main" id="{4CCC57CA-DD80-45BB-B3D1-9207A6EB743A}"/>
              </a:ext>
            </a:extLst>
          </p:cNvPr>
          <p:cNvSpPr>
            <a:spLocks xmlns:a="http://schemas.openxmlformats.org/drawingml/2006/main" noGrp="1"/>
          </p:cNvSpPr>
          <p:nvPr/>
        </p:nvSpPr>
        <p:spPr>
          <a:xfrm xmlns:a="http://schemas.openxmlformats.org/drawingml/2006/main">
            <a:off x="4828032" y="24749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diciembre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2013.</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información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ponderadores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0_18">
            <a:extLst xmlns:a="http://schemas.openxmlformats.org/drawingml/2006/main">
              <a:ext uri="{FF2B5EF4-FFF2-40B4-BE49-F238E27FC236}">
                <a16:creationId xmlns:a16="http://schemas.microsoft.com/office/drawing/2014/main" id="{02DAD0A0-2257-402C-84E1-D714B64D8D82}"/>
              </a:ext>
            </a:extLst>
          </p:cNvPr>
          <p:cNvSpPr>
            <a:spLocks xmlns:a="http://schemas.openxmlformats.org/drawingml/2006/main" noGrp="1"/>
          </p:cNvSpPr>
          <p:nvPr/>
        </p:nvSpPr>
        <p:spPr>
          <a:xfrm xmlns:a="http://schemas.openxmlformats.org/drawingml/2006/main">
            <a:off x="4828032" y="25674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dentro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INPC</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0" name="ANUARIO_CONTENIDO_1_0_19">
            <a:extLst xmlns:a="http://schemas.openxmlformats.org/drawingml/2006/main">
              <a:ext uri="{FF2B5EF4-FFF2-40B4-BE49-F238E27FC236}">
                <a16:creationId xmlns:a16="http://schemas.microsoft.com/office/drawing/2014/main" id="{45BFD782-9DCC-4E5F-8132-B87CDB310CF4}"/>
              </a:ext>
            </a:extLst>
          </p:cNvPr>
          <p:cNvSpPr>
            <a:spLocks xmlns:a="http://schemas.openxmlformats.org/drawingml/2006/main" noGrp="1"/>
          </p:cNvSpPr>
          <p:nvPr/>
        </p:nvSpPr>
        <p:spPr>
          <a:xfrm xmlns:a="http://schemas.openxmlformats.org/drawingml/2006/main">
            <a:off x="4828032" y="265988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Índice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consultar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Anexo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III.</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Metodologías.</a:t>
            </a:r>
          </a:p>
        </p:txBody>
      </p:sp>
      <p:sp>
        <p:nvSpPr>
          <p:cNvPr id="71" name="ANUARIO_CONTENIDO_1_0_20">
            <a:extLst xmlns:a="http://schemas.openxmlformats.org/drawingml/2006/main">
              <a:ext uri="{FF2B5EF4-FFF2-40B4-BE49-F238E27FC236}">
                <a16:creationId xmlns:a16="http://schemas.microsoft.com/office/drawing/2014/main" id="{416BC9A8-90FF-40EB-8E79-05566DDFBC65}"/>
              </a:ext>
            </a:extLst>
          </p:cNvPr>
          <p:cNvSpPr>
            <a:spLocks xmlns:a="http://schemas.openxmlformats.org/drawingml/2006/main" noGrp="1"/>
          </p:cNvSpPr>
          <p:nvPr/>
        </p:nvSpPr>
        <p:spPr>
          <a:xfrm xmlns:a="http://schemas.openxmlformats.org/drawingml/2006/main">
            <a:off x="4828032" y="277774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Infantil: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enfocados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directamente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p>
        </p:txBody>
      </p:sp>
      <p:sp>
        <p:nvSpPr>
          <p:cNvPr id="72" name="ANUARIO_CONTENIDO_1_0_21">
            <a:extLst xmlns:a="http://schemas.openxmlformats.org/drawingml/2006/main">
              <a:ext uri="{FF2B5EF4-FFF2-40B4-BE49-F238E27FC236}">
                <a16:creationId xmlns:a16="http://schemas.microsoft.com/office/drawing/2014/main" id="{04A7F47E-F868-4832-94D0-C1079E52A3FE}"/>
              </a:ext>
            </a:extLst>
          </p:cNvPr>
          <p:cNvSpPr>
            <a:spLocks xmlns:a="http://schemas.openxmlformats.org/drawingml/2006/main" noGrp="1"/>
          </p:cNvSpPr>
          <p:nvPr/>
        </p:nvSpPr>
        <p:spPr>
          <a:xfrm xmlns:a="http://schemas.openxmlformats.org/drawingml/2006/main">
            <a:off x="4828032" y="287020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adulto.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caricaturas,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73" name="ANUARIO_CONTENIDO_1_0_22">
            <a:extLst xmlns:a="http://schemas.openxmlformats.org/drawingml/2006/main">
              <a:ext uri="{FF2B5EF4-FFF2-40B4-BE49-F238E27FC236}">
                <a16:creationId xmlns:a16="http://schemas.microsoft.com/office/drawing/2014/main" id="{E7FC2C41-8381-41B2-941E-6EB573D382A4}"/>
              </a:ext>
            </a:extLst>
          </p:cNvPr>
          <p:cNvSpPr>
            <a:spLocks xmlns:a="http://schemas.openxmlformats.org/drawingml/2006/main" noGrp="1"/>
          </p:cNvSpPr>
          <p:nvPr/>
        </p:nvSpPr>
        <p:spPr>
          <a:xfrm xmlns:a="http://schemas.openxmlformats.org/drawingml/2006/main">
            <a:off x="4828032" y="296265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tendencia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estructuran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lenguaje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sencillo,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función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0_23">
            <a:extLst xmlns:a="http://schemas.openxmlformats.org/drawingml/2006/main">
              <a:ext uri="{FF2B5EF4-FFF2-40B4-BE49-F238E27FC236}">
                <a16:creationId xmlns:a16="http://schemas.microsoft.com/office/drawing/2014/main" id="{B9B8DD07-DDB3-4104-BFF9-C00C46D8472B}"/>
              </a:ext>
            </a:extLst>
          </p:cNvPr>
          <p:cNvSpPr>
            <a:spLocks xmlns:a="http://schemas.openxmlformats.org/drawingml/2006/main" noGrp="1"/>
          </p:cNvSpPr>
          <p:nvPr/>
        </p:nvSpPr>
        <p:spPr>
          <a:xfrm xmlns:a="http://schemas.openxmlformats.org/drawingml/2006/main">
            <a:off x="4828032" y="305511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auditorio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objetivo.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ocasiones,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niños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lograr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5" name="ANUARIO_CONTENIDO_1_0_24">
            <a:extLst xmlns:a="http://schemas.openxmlformats.org/drawingml/2006/main">
              <a:ext uri="{FF2B5EF4-FFF2-40B4-BE49-F238E27FC236}">
                <a16:creationId xmlns:a16="http://schemas.microsoft.com/office/drawing/2014/main" id="{39D8CAC0-4387-4F1B-A86E-735C57C06DC6}"/>
              </a:ext>
            </a:extLst>
          </p:cNvPr>
          <p:cNvSpPr>
            <a:spLocks xmlns:a="http://schemas.openxmlformats.org/drawingml/2006/main" noGrp="1"/>
          </p:cNvSpPr>
          <p:nvPr/>
        </p:nvSpPr>
        <p:spPr>
          <a:xfrm xmlns:a="http://schemas.openxmlformats.org/drawingml/2006/main">
            <a:off x="4828032" y="31475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mayor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identificación.</a:t>
            </a:r>
          </a:p>
        </p:txBody>
      </p:sp>
      <p:sp>
        <p:nvSpPr>
          <p:cNvPr id="76" name="ANUARIO_CONTENIDO_1_0_25">
            <a:extLst xmlns:a="http://schemas.openxmlformats.org/drawingml/2006/main">
              <a:ext uri="{FF2B5EF4-FFF2-40B4-BE49-F238E27FC236}">
                <a16:creationId xmlns:a16="http://schemas.microsoft.com/office/drawing/2014/main" id="{373B481E-2D1E-4A77-B412-E4B7390EAEE8}"/>
              </a:ext>
            </a:extLst>
          </p:cNvPr>
          <p:cNvSpPr>
            <a:spLocks xmlns:a="http://schemas.openxmlformats.org/drawingml/2006/main" noGrp="1"/>
          </p:cNvSpPr>
          <p:nvPr/>
        </p:nvSpPr>
        <p:spPr>
          <a:xfrm xmlns:a="http://schemas.openxmlformats.org/drawingml/2006/main">
            <a:off x="4828032" y="32654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corrientes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p>
        </p:txBody>
      </p:sp>
      <p:sp>
        <p:nvSpPr>
          <p:cNvPr id="77" name="ANUARIO_CONTENIDO_1_0_26">
            <a:extLst xmlns:a="http://schemas.openxmlformats.org/drawingml/2006/main">
              <a:ext uri="{FF2B5EF4-FFF2-40B4-BE49-F238E27FC236}">
                <a16:creationId xmlns:a16="http://schemas.microsoft.com/office/drawing/2014/main" id="{3231210D-6EB3-4C63-88E9-D749E9220F76}"/>
              </a:ext>
            </a:extLst>
          </p:cNvPr>
          <p:cNvSpPr>
            <a:spLocks xmlns:a="http://schemas.openxmlformats.org/drawingml/2006/main" noGrp="1"/>
          </p:cNvSpPr>
          <p:nvPr/>
        </p:nvSpPr>
        <p:spPr>
          <a:xfrm xmlns:a="http://schemas.openxmlformats.org/drawingml/2006/main">
            <a:off x="4828032" y="33578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Comprenden:</a:t>
            </a:r>
          </a:p>
        </p:txBody>
      </p:sp>
      <p:sp>
        <p:nvSpPr>
          <p:cNvPr id="78" name="ANUARIO_CONTENIDO_1_0_27">
            <a:extLst xmlns:a="http://schemas.openxmlformats.org/drawingml/2006/main">
              <a:ext uri="{FF2B5EF4-FFF2-40B4-BE49-F238E27FC236}">
                <a16:creationId xmlns:a16="http://schemas.microsoft.com/office/drawing/2014/main" id="{F70F5669-41BB-445E-9449-80112D208755}"/>
              </a:ext>
            </a:extLst>
          </p:cNvPr>
          <p:cNvSpPr>
            <a:spLocks xmlns:a="http://schemas.openxmlformats.org/drawingml/2006/main" noGrp="1"/>
          </p:cNvSpPr>
          <p:nvPr/>
        </p:nvSpPr>
        <p:spPr>
          <a:xfrm xmlns:a="http://schemas.openxmlformats.org/drawingml/2006/main">
            <a:off x="4828032" y="3475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1.</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79" name="ANUARIO_CONTENIDO_1_0_28">
            <a:extLst xmlns:a="http://schemas.openxmlformats.org/drawingml/2006/main">
              <a:ext uri="{FF2B5EF4-FFF2-40B4-BE49-F238E27FC236}">
                <a16:creationId xmlns:a16="http://schemas.microsoft.com/office/drawing/2014/main" id="{8E961128-5436-4DEC-BF03-5A22A7CC17FC}"/>
              </a:ext>
            </a:extLst>
          </p:cNvPr>
          <p:cNvSpPr>
            <a:spLocks xmlns:a="http://schemas.openxmlformats.org/drawingml/2006/main" noGrp="1"/>
          </p:cNvSpPr>
          <p:nvPr/>
        </p:nvSpPr>
        <p:spPr>
          <a:xfrm xmlns:a="http://schemas.openxmlformats.org/drawingml/2006/main">
            <a:off x="4828032" y="3593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2.</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instalación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mantenimiento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80" name="ANUARIO_CONTENIDO_1_0_29">
            <a:extLst xmlns:a="http://schemas.openxmlformats.org/drawingml/2006/main">
              <a:ext uri="{FF2B5EF4-FFF2-40B4-BE49-F238E27FC236}">
                <a16:creationId xmlns:a16="http://schemas.microsoft.com/office/drawing/2014/main" id="{BA3707B8-FD5B-46E7-A6AA-66DAA79B19B5}"/>
              </a:ext>
            </a:extLst>
          </p:cNvPr>
          <p:cNvSpPr>
            <a:spLocks xmlns:a="http://schemas.openxmlformats.org/drawingml/2006/main" noGrp="1"/>
          </p:cNvSpPr>
          <p:nvPr/>
        </p:nvSpPr>
        <p:spPr>
          <a:xfrm xmlns:a="http://schemas.openxmlformats.org/drawingml/2006/main">
            <a:off x="4828032" y="3686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
        <p:nvSpPr>
          <p:cNvPr id="81" name="ANUARIO_CONTENIDO_1_0_30">
            <a:extLst xmlns:a="http://schemas.openxmlformats.org/drawingml/2006/main">
              <a:ext uri="{FF2B5EF4-FFF2-40B4-BE49-F238E27FC236}">
                <a16:creationId xmlns:a16="http://schemas.microsoft.com/office/drawing/2014/main" id="{0F6BF5AC-84BA-4F5A-9AE4-A9F7DDC03632}"/>
              </a:ext>
            </a:extLst>
          </p:cNvPr>
          <p:cNvSpPr>
            <a:spLocks xmlns:a="http://schemas.openxmlformats.org/drawingml/2006/main" noGrp="1"/>
          </p:cNvSpPr>
          <p:nvPr/>
        </p:nvSpPr>
        <p:spPr>
          <a:xfrm xmlns:a="http://schemas.openxmlformats.org/drawingml/2006/main">
            <a:off x="4828032" y="38039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3.</a:t>
            </a:r>
            <a:r>
              <a:rPr sz="650" b="1" i="0">
                <a:solidFill>
                  <a:srgbClr val="2F7F6F"/>
                </a:solidFill>
                <a:latin typeface="DejaVu Sans"/>
                <a:ea typeface="DejaVu Sans"/>
                <a:cs typeface="DejaVu Sans"/>
              </a:rPr>
              <a:t> </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Ingresos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minoristas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p>
        </p:txBody>
      </p:sp>
    </p:spTree>
    <p:extLst>
      <p:ext uri="{BB962C8B-B14F-4D97-AF65-F5344CB8AC3E}">
        <p14:creationId xmlns:p14="http://schemas.microsoft.com/office/powerpoint/2010/main" val="224622623"/>
      </p:ext>
    </p:extLst>
  </p:cSld>
</p:sld>
</file>

<file path=ppt/slides/slide123.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72" name="ANUARIO_ENCABEZADO">
            <a:extLst xmlns:a="http://schemas.openxmlformats.org/drawingml/2006/main">
              <a:ext uri="{FF2B5EF4-FFF2-40B4-BE49-F238E27FC236}">
                <a16:creationId xmlns:a16="http://schemas.microsoft.com/office/drawing/2014/main" id="{DBE6B21C-A008-4556-8CBF-B5887DA699D9}"/>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265122FF-3104-4551-BD31-3552EEE0FF2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7E57356D-C63F-4D88-AAAC-2E5858D2D660}"/>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 DEFINICIONES</a:t>
            </a:r>
          </a:p>
        </p:txBody>
      </p:sp>
      <p:sp>
        <p:nvSpPr>
          <p:cNvPr id="4" name="ANUARIO_BIT_TEXTO">
            <a:extLst xmlns:a="http://schemas.openxmlformats.org/drawingml/2006/main">
              <a:ext uri="{FF2B5EF4-FFF2-40B4-BE49-F238E27FC236}">
                <a16:creationId xmlns:a16="http://schemas.microsoft.com/office/drawing/2014/main" id="{F6079F76-A555-4897-90A6-FA752E9F2DFE}"/>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BA161CC6-7064-4EC7-9EF3-47AABBACE3ED}"/>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97E14EDA-EF8C-4D1F-B671-7C7D5FA4F0F7}"/>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515113A1-98CA-49A9-B380-FEC1A17C89E8}"/>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6A683A15-33D8-46D3-B441-6B85AD5F548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123</a:t>
            </a:r>
          </a:p>
        </p:txBody>
      </p:sp>
      <p:sp>
        <p:nvSpPr>
          <p:cNvPr id="9" name="ANUARIO_EDICION">
            <a:extLst xmlns:a="http://schemas.openxmlformats.org/drawingml/2006/main">
              <a:ext uri="{FF2B5EF4-FFF2-40B4-BE49-F238E27FC236}">
                <a16:creationId xmlns:a16="http://schemas.microsoft.com/office/drawing/2014/main" id="{6625AFAD-CA33-44AD-83A7-84593EB8273E}"/>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3_DESIGN_2026">
            <a:extLst xmlns:a="http://schemas.openxmlformats.org/drawingml/2006/main">
              <a:ext uri="{FF2B5EF4-FFF2-40B4-BE49-F238E27FC236}">
                <a16:creationId xmlns:a16="http://schemas.microsoft.com/office/drawing/2014/main" id="{06263628-945A-45D7-891C-E1EB8717488D}"/>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FBEE744F-0061-45F1-A19E-6D5023E90496}"/>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6239DED-A592-4EFE-A438-28375615E3F5}"/>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 · continuación</a:t>
            </a:r>
          </a:p>
        </p:txBody>
      </p:sp>
      <p:sp>
        <p:nvSpPr>
          <p:cNvPr id="13" name="ANUARIO_CONTENIDO_0_0_0">
            <a:extLst xmlns:a="http://schemas.openxmlformats.org/drawingml/2006/main">
              <a:ext uri="{FF2B5EF4-FFF2-40B4-BE49-F238E27FC236}">
                <a16:creationId xmlns:a16="http://schemas.microsoft.com/office/drawing/2014/main" id="{EC3014CA-B78D-4B52-AE8C-C64A5BF78FB9}"/>
              </a:ext>
            </a:extLst>
          </p:cNvPr>
          <p:cNvSpPr>
            <a:spLocks xmlns:a="http://schemas.openxmlformats.org/drawingml/2006/main" noGrp="1"/>
          </p:cNvSpPr>
          <p:nvPr/>
        </p:nvSpPr>
        <p:spPr>
          <a:xfrm xmlns:a="http://schemas.openxmlformats.org/drawingml/2006/main">
            <a:off x="466344" y="100584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4.</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7CE5043-F7CC-4286-9E57-6AC99E08734D}"/>
              </a:ext>
            </a:extLst>
          </p:cNvPr>
          <p:cNvSpPr>
            <a:spLocks xmlns:a="http://schemas.openxmlformats.org/drawingml/2006/main" noGrp="1"/>
          </p:cNvSpPr>
          <p:nvPr/>
        </p:nvSpPr>
        <p:spPr>
          <a:xfrm xmlns:a="http://schemas.openxmlformats.org/drawingml/2006/main">
            <a:off x="466344" y="113223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5.</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minoristas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1">
                <a:solidFill>
                  <a:srgbClr val="24383A"/>
                </a:solidFill>
                <a:latin typeface="DejaVu Sans"/>
                <a:ea typeface="DejaVu Sans"/>
                <a:cs typeface="DejaVu Sans"/>
              </a:rPr>
              <a:t>Over</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The</a:t>
            </a:r>
            <a:r>
              <a:rPr sz="710" b="0" i="1">
                <a:solidFill>
                  <a:srgbClr val="24383A"/>
                </a:solidFill>
                <a:latin typeface="DejaVu Sans"/>
                <a:ea typeface="DejaVu Sans"/>
                <a:cs typeface="DejaVu Sans"/>
              </a:rPr>
              <a:t> </a:t>
            </a:r>
            <a:r>
              <a:rPr sz="710" b="0" i="1">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r>
              <a:rPr sz="71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C658E482-D11D-4F58-A414-D0657171876F}"/>
              </a:ext>
            </a:extLst>
          </p:cNvPr>
          <p:cNvSpPr>
            <a:spLocks xmlns:a="http://schemas.openxmlformats.org/drawingml/2006/main" noGrp="1"/>
          </p:cNvSpPr>
          <p:nvPr/>
        </p:nvSpPr>
        <p:spPr>
          <a:xfrm xmlns:a="http://schemas.openxmlformats.org/drawingml/2006/main">
            <a:off x="466344" y="125862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6.</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mayoristas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Over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The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Top</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(OTT).</a:t>
            </a:r>
          </a:p>
        </p:txBody>
      </p:sp>
      <p:sp>
        <p:nvSpPr>
          <p:cNvPr id="16" name="ANUARIO_CONTENIDO_0_0_3">
            <a:extLst xmlns:a="http://schemas.openxmlformats.org/drawingml/2006/main">
              <a:ext uri="{FF2B5EF4-FFF2-40B4-BE49-F238E27FC236}">
                <a16:creationId xmlns:a16="http://schemas.microsoft.com/office/drawing/2014/main" id="{1DFF5CDC-EDD5-46D1-9883-9D0CC8795DD1}"/>
              </a:ext>
            </a:extLst>
          </p:cNvPr>
          <p:cNvSpPr>
            <a:spLocks xmlns:a="http://schemas.openxmlformats.org/drawingml/2006/main" noGrp="1"/>
          </p:cNvSpPr>
          <p:nvPr/>
        </p:nvSpPr>
        <p:spPr>
          <a:xfrm xmlns:a="http://schemas.openxmlformats.org/drawingml/2006/main">
            <a:off x="466344" y="138501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7.</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p>
        </p:txBody>
      </p:sp>
      <p:sp>
        <p:nvSpPr>
          <p:cNvPr id="17" name="ANUARIO_CONTENIDO_0_0_4">
            <a:extLst xmlns:a="http://schemas.openxmlformats.org/drawingml/2006/main">
              <a:ext uri="{FF2B5EF4-FFF2-40B4-BE49-F238E27FC236}">
                <a16:creationId xmlns:a16="http://schemas.microsoft.com/office/drawing/2014/main" id="{C7F267CE-892C-464B-B1E7-264D9A039E68}"/>
              </a:ext>
            </a:extLst>
          </p:cNvPr>
          <p:cNvSpPr>
            <a:spLocks xmlns:a="http://schemas.openxmlformats.org/drawingml/2006/main" noGrp="1"/>
          </p:cNvSpPr>
          <p:nvPr/>
        </p:nvSpPr>
        <p:spPr>
          <a:xfrm xmlns:a="http://schemas.openxmlformats.org/drawingml/2006/main">
            <a:off x="466344" y="151140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Todos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valores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ingresos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ningún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impuesto</a:t>
            </a:r>
            <a:r>
              <a:rPr sz="71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4FA6FBA6-98F2-4CFF-A6EF-49E9CC869499}"/>
              </a:ext>
            </a:extLst>
          </p:cNvPr>
          <p:cNvSpPr>
            <a:spLocks xmlns:a="http://schemas.openxmlformats.org/drawingml/2006/main" noGrp="1"/>
          </p:cNvSpPr>
          <p:nvPr/>
        </p:nvSpPr>
        <p:spPr>
          <a:xfrm xmlns:a="http://schemas.openxmlformats.org/drawingml/2006/main">
            <a:off x="466344" y="161239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aplicable,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descuentos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bonificaciones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consideren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sus</a:t>
            </a:r>
            <a:r>
              <a:rPr sz="71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D3C93BC6-C03B-4487-85CE-01885633F7CD}"/>
              </a:ext>
            </a:extLst>
          </p:cNvPr>
          <p:cNvSpPr>
            <a:spLocks xmlns:a="http://schemas.openxmlformats.org/drawingml/2006/main" noGrp="1"/>
          </p:cNvSpPr>
          <p:nvPr/>
        </p:nvSpPr>
        <p:spPr>
          <a:xfrm xmlns:a="http://schemas.openxmlformats.org/drawingml/2006/main">
            <a:off x="466344" y="171338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Planes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Tarifarios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aplicadas.</a:t>
            </a:r>
            <a:r>
              <a:rPr sz="71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69130361-0F30-48A2-9EE2-FD3ACCA3D252}"/>
              </a:ext>
            </a:extLst>
          </p:cNvPr>
          <p:cNvSpPr>
            <a:spLocks xmlns:a="http://schemas.openxmlformats.org/drawingml/2006/main" noGrp="1"/>
          </p:cNvSpPr>
          <p:nvPr/>
        </p:nvSpPr>
        <p:spPr>
          <a:xfrm xmlns:a="http://schemas.openxmlformats.org/drawingml/2006/main">
            <a:off x="466344" y="183977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Ingreso</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corriente: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Máximo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recursos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acceder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manera</a:t>
            </a:r>
            <a:r>
              <a:rPr sz="71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ED29799E-80B4-43A8-B243-9F0A4DADD67F}"/>
              </a:ext>
            </a:extLst>
          </p:cNvPr>
          <p:cNvSpPr>
            <a:spLocks xmlns:a="http://schemas.openxmlformats.org/drawingml/2006/main" noGrp="1"/>
          </p:cNvSpPr>
          <p:nvPr/>
        </p:nvSpPr>
        <p:spPr>
          <a:xfrm xmlns:a="http://schemas.openxmlformats.org/drawingml/2006/main">
            <a:off x="466344" y="194076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regular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disponibles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bienes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lapso</a:t>
            </a:r>
            <a:r>
              <a:rPr sz="71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FD34A22D-BD97-496D-A681-EC315C7BA674}"/>
              </a:ext>
            </a:extLst>
          </p:cNvPr>
          <p:cNvSpPr>
            <a:spLocks xmlns:a="http://schemas.openxmlformats.org/drawingml/2006/main" noGrp="1"/>
          </p:cNvSpPr>
          <p:nvPr/>
        </p:nvSpPr>
        <p:spPr>
          <a:xfrm xmlns:a="http://schemas.openxmlformats.org/drawingml/2006/main">
            <a:off x="466344" y="204175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manteniendo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inalterado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patrimonio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hogar.</a:t>
            </a:r>
          </a:p>
        </p:txBody>
      </p:sp>
      <p:sp>
        <p:nvSpPr>
          <p:cNvPr id="23" name="ANUARIO_CONTENIDO_0_0_10">
            <a:extLst xmlns:a="http://schemas.openxmlformats.org/drawingml/2006/main">
              <a:ext uri="{FF2B5EF4-FFF2-40B4-BE49-F238E27FC236}">
                <a16:creationId xmlns:a16="http://schemas.microsoft.com/office/drawing/2014/main" id="{2ABA1758-0F53-45E3-BF8C-44D616C123DE}"/>
              </a:ext>
            </a:extLst>
          </p:cNvPr>
          <p:cNvSpPr>
            <a:spLocks xmlns:a="http://schemas.openxmlformats.org/drawingml/2006/main" noGrp="1"/>
          </p:cNvSpPr>
          <p:nvPr/>
        </p:nvSpPr>
        <p:spPr>
          <a:xfrm xmlns:a="http://schemas.openxmlformats.org/drawingml/2006/main">
            <a:off x="466344" y="216814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Inversión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privada</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en</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suma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594858E5-1954-4754-A45F-402EAE851240}"/>
              </a:ext>
            </a:extLst>
          </p:cNvPr>
          <p:cNvSpPr>
            <a:spLocks xmlns:a="http://schemas.openxmlformats.org/drawingml/2006/main" noGrp="1"/>
          </p:cNvSpPr>
          <p:nvPr/>
        </p:nvSpPr>
        <p:spPr>
          <a:xfrm xmlns:a="http://schemas.openxmlformats.org/drawingml/2006/main">
            <a:off x="466344" y="226913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corrientes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255022E6-C03F-4B0E-BDC2-4EC9CCC95585}"/>
              </a:ext>
            </a:extLst>
          </p:cNvPr>
          <p:cNvSpPr>
            <a:spLocks xmlns:a="http://schemas.openxmlformats.org/drawingml/2006/main" noGrp="1"/>
          </p:cNvSpPr>
          <p:nvPr/>
        </p:nvSpPr>
        <p:spPr>
          <a:xfrm xmlns:a="http://schemas.openxmlformats.org/drawingml/2006/main">
            <a:off x="466344" y="237012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comprende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siguiente:</a:t>
            </a:r>
            <a:r>
              <a:rPr sz="71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A5DD88A7-CBA3-455E-BFA8-E45ABF6836E4}"/>
              </a:ext>
            </a:extLst>
          </p:cNvPr>
          <p:cNvSpPr>
            <a:spLocks xmlns:a="http://schemas.openxmlformats.org/drawingml/2006/main" noGrp="1"/>
          </p:cNvSpPr>
          <p:nvPr/>
        </p:nvSpPr>
        <p:spPr>
          <a:xfrm xmlns:a="http://schemas.openxmlformats.org/drawingml/2006/main">
            <a:off x="466344" y="249651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1.</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adquisición</a:t>
            </a:r>
            <a:r>
              <a:rPr sz="71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298057B5-0A70-4067-B544-E0CCF203D5CE}"/>
              </a:ext>
            </a:extLst>
          </p:cNvPr>
          <p:cNvSpPr>
            <a:spLocks xmlns:a="http://schemas.openxmlformats.org/drawingml/2006/main" noGrp="1"/>
          </p:cNvSpPr>
          <p:nvPr/>
        </p:nvSpPr>
        <p:spPr>
          <a:xfrm xmlns:a="http://schemas.openxmlformats.org/drawingml/2006/main">
            <a:off x="466344" y="259750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mejora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infraestructura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territorio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Incluye</a:t>
            </a:r>
            <a:r>
              <a:rPr sz="71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E01A137B-6061-4D03-9697-5DAFBBEAB1BD}"/>
              </a:ext>
            </a:extLst>
          </p:cNvPr>
          <p:cNvSpPr>
            <a:spLocks xmlns:a="http://schemas.openxmlformats.org/drawingml/2006/main" noGrp="1"/>
          </p:cNvSpPr>
          <p:nvPr/>
        </p:nvSpPr>
        <p:spPr>
          <a:xfrm xmlns:a="http://schemas.openxmlformats.org/drawingml/2006/main">
            <a:off x="466344" y="269849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operación,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así</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adiciones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29" name="ANUARIO_CONTENIDO_0_0_16">
            <a:extLst xmlns:a="http://schemas.openxmlformats.org/drawingml/2006/main">
              <a:ext uri="{FF2B5EF4-FFF2-40B4-BE49-F238E27FC236}">
                <a16:creationId xmlns:a16="http://schemas.microsoft.com/office/drawing/2014/main" id="{0D39A70E-6B72-4C21-B857-3C5FDDC82E03}"/>
              </a:ext>
            </a:extLst>
          </p:cNvPr>
          <p:cNvSpPr>
            <a:spLocks xmlns:a="http://schemas.openxmlformats.org/drawingml/2006/main" noGrp="1"/>
          </p:cNvSpPr>
          <p:nvPr/>
        </p:nvSpPr>
        <p:spPr>
          <a:xfrm xmlns:a="http://schemas.openxmlformats.org/drawingml/2006/main">
            <a:off x="466344" y="27994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modificaciones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instalaciones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existentes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prevé</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E1CCD793-EE8C-4204-92F1-5FFB7E907B59}"/>
              </a:ext>
            </a:extLst>
          </p:cNvPr>
          <p:cNvSpPr>
            <a:spLocks xmlns:a="http://schemas.openxmlformats.org/drawingml/2006/main" noGrp="1"/>
          </p:cNvSpPr>
          <p:nvPr/>
        </p:nvSpPr>
        <p:spPr>
          <a:xfrm xmlns:a="http://schemas.openxmlformats.org/drawingml/2006/main">
            <a:off x="466344" y="290047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amplio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ejemplo,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conmutación,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señalización,</a:t>
            </a:r>
            <a:r>
              <a:rPr sz="71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A1D82FC4-5D65-4C9D-85E3-BE49B885A52A}"/>
              </a:ext>
            </a:extLst>
          </p:cNvPr>
          <p:cNvSpPr>
            <a:spLocks xmlns:a="http://schemas.openxmlformats.org/drawingml/2006/main" noGrp="1"/>
          </p:cNvSpPr>
          <p:nvPr/>
        </p:nvSpPr>
        <p:spPr>
          <a:xfrm xmlns:a="http://schemas.openxmlformats.org/drawingml/2006/main">
            <a:off x="466344" y="300146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sincronización,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fuerza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eléctrica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clima,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0B6FA691-C3A2-49E2-A597-B899D77403AC}"/>
              </a:ext>
            </a:extLst>
          </p:cNvPr>
          <p:cNvSpPr>
            <a:spLocks xmlns:a="http://schemas.openxmlformats.org/drawingml/2006/main" noGrp="1"/>
          </p:cNvSpPr>
          <p:nvPr/>
        </p:nvSpPr>
        <p:spPr>
          <a:xfrm xmlns:a="http://schemas.openxmlformats.org/drawingml/2006/main">
            <a:off x="466344" y="312785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2.</a:t>
            </a:r>
            <a:r>
              <a:rPr sz="710" b="1" i="0">
                <a:solidFill>
                  <a:srgbClr val="2F7F6F"/>
                </a:solidFill>
                <a:latin typeface="DejaVu Sans"/>
                <a:ea typeface="DejaVu Sans"/>
                <a:cs typeface="DejaVu Sans"/>
              </a:rPr>
              <a:t> </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Inversión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bruta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concepto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compra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terrenos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edificios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asociados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a:t>
            </a:r>
            <a:r>
              <a:rPr sz="710" b="0" i="0">
                <a:solidFill>
                  <a:srgbClr val="24383A"/>
                </a:solidFill>
                <a:latin typeface="DejaVu Sans"/>
                <a:ea typeface="DejaVu Sans"/>
                <a:cs typeface="DejaVu Sans"/>
              </a:rPr>
              <a:t> </a:t>
            </a:r>
          </a:p>
        </p:txBody>
      </p:sp>
      <p:sp>
        <p:nvSpPr>
          <p:cNvPr id="33" name="ANUARIO_CONTENIDO_0_0_20">
            <a:extLst xmlns:a="http://schemas.openxmlformats.org/drawingml/2006/main">
              <a:ext uri="{FF2B5EF4-FFF2-40B4-BE49-F238E27FC236}">
                <a16:creationId xmlns:a16="http://schemas.microsoft.com/office/drawing/2014/main" id="{0961B3D9-7A72-4F16-844F-B9D74C07B063}"/>
              </a:ext>
            </a:extLst>
          </p:cNvPr>
          <p:cNvSpPr>
            <a:spLocks xmlns:a="http://schemas.openxmlformats.org/drawingml/2006/main" noGrp="1"/>
          </p:cNvSpPr>
          <p:nvPr/>
        </p:nvSpPr>
        <p:spPr>
          <a:xfrm xmlns:a="http://schemas.openxmlformats.org/drawingml/2006/main">
            <a:off x="466344" y="322884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servicio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telecomunicaciones.</a:t>
            </a:r>
          </a:p>
        </p:txBody>
      </p:sp>
      <p:sp>
        <p:nvSpPr>
          <p:cNvPr id="34" name="ANUARIO_CONTENIDO_0_0_21">
            <a:extLst xmlns:a="http://schemas.openxmlformats.org/drawingml/2006/main">
              <a:ext uri="{FF2B5EF4-FFF2-40B4-BE49-F238E27FC236}">
                <a16:creationId xmlns:a16="http://schemas.microsoft.com/office/drawing/2014/main" id="{8D4D8566-3F95-4998-95D3-9DE005456072}"/>
              </a:ext>
            </a:extLst>
          </p:cNvPr>
          <p:cNvSpPr>
            <a:spLocks xmlns:a="http://schemas.openxmlformats.org/drawingml/2006/main" noGrp="1"/>
          </p:cNvSpPr>
          <p:nvPr/>
        </p:nvSpPr>
        <p:spPr>
          <a:xfrm xmlns:a="http://schemas.openxmlformats.org/drawingml/2006/main">
            <a:off x="466344" y="33552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Índice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Precios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de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Comunicaciones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(IPCOM):</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integra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índices</a:t>
            </a:r>
            <a:r>
              <a:rPr sz="710" b="0" i="0">
                <a:solidFill>
                  <a:srgbClr val="24383A"/>
                </a:solidFill>
                <a:latin typeface="DejaVu Sans"/>
                <a:ea typeface="DejaVu Sans"/>
                <a:cs typeface="DejaVu Sans"/>
              </a:rPr>
              <a:t> </a:t>
            </a:r>
          </a:p>
        </p:txBody>
      </p:sp>
      <p:sp>
        <p:nvSpPr>
          <p:cNvPr id="35" name="ANUARIO_CONTENIDO_0_0_22">
            <a:extLst xmlns:a="http://schemas.openxmlformats.org/drawingml/2006/main">
              <a:ext uri="{FF2B5EF4-FFF2-40B4-BE49-F238E27FC236}">
                <a16:creationId xmlns:a16="http://schemas.microsoft.com/office/drawing/2014/main" id="{80092B86-56B8-4E06-B327-EFD6B0F36A9E}"/>
              </a:ext>
            </a:extLst>
          </p:cNvPr>
          <p:cNvSpPr>
            <a:spLocks xmlns:a="http://schemas.openxmlformats.org/drawingml/2006/main" noGrp="1"/>
          </p:cNvSpPr>
          <p:nvPr/>
        </p:nvSpPr>
        <p:spPr>
          <a:xfrm xmlns:a="http://schemas.openxmlformats.org/drawingml/2006/main">
            <a:off x="466344" y="345622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móvil,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fija,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paquetes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6" name="ANUARIO_CONTENIDO_0_0_23">
            <a:extLst xmlns:a="http://schemas.openxmlformats.org/drawingml/2006/main">
              <a:ext uri="{FF2B5EF4-FFF2-40B4-BE49-F238E27FC236}">
                <a16:creationId xmlns:a16="http://schemas.microsoft.com/office/drawing/2014/main" id="{30F60BCB-862B-41F7-97BF-4BB913B40AD3}"/>
              </a:ext>
            </a:extLst>
          </p:cNvPr>
          <p:cNvSpPr>
            <a:spLocks xmlns:a="http://schemas.openxmlformats.org/drawingml/2006/main" noGrp="1"/>
          </p:cNvSpPr>
          <p:nvPr/>
        </p:nvSpPr>
        <p:spPr>
          <a:xfrm xmlns:a="http://schemas.openxmlformats.org/drawingml/2006/main">
            <a:off x="466344" y="355721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telefonía,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terminales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comunicación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p>
        </p:txBody>
      </p:sp>
      <p:sp>
        <p:nvSpPr>
          <p:cNvPr id="37" name="ANUARIO_CONTENIDO_0_0_24">
            <a:extLst xmlns:a="http://schemas.openxmlformats.org/drawingml/2006/main">
              <a:ext uri="{FF2B5EF4-FFF2-40B4-BE49-F238E27FC236}">
                <a16:creationId xmlns:a16="http://schemas.microsoft.com/office/drawing/2014/main" id="{07840669-4E9E-4E3A-9C1D-DE5C190B97BC}"/>
              </a:ext>
            </a:extLst>
          </p:cNvPr>
          <p:cNvSpPr>
            <a:spLocks xmlns:a="http://schemas.openxmlformats.org/drawingml/2006/main" noGrp="1"/>
          </p:cNvSpPr>
          <p:nvPr/>
        </p:nvSpPr>
        <p:spPr>
          <a:xfrm xmlns:a="http://schemas.openxmlformats.org/drawingml/2006/main">
            <a:off x="466344" y="365821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paquetería.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más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ponderadores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servicios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38" name="ANUARIO_CONTENIDO_0_0_25">
            <a:extLst xmlns:a="http://schemas.openxmlformats.org/drawingml/2006/main">
              <a:ext uri="{FF2B5EF4-FFF2-40B4-BE49-F238E27FC236}">
                <a16:creationId xmlns:a16="http://schemas.microsoft.com/office/drawing/2014/main" id="{C155BCA3-C914-4BC3-BB42-01A53A2B6670}"/>
              </a:ext>
            </a:extLst>
          </p:cNvPr>
          <p:cNvSpPr>
            <a:spLocks xmlns:a="http://schemas.openxmlformats.org/drawingml/2006/main" noGrp="1"/>
          </p:cNvSpPr>
          <p:nvPr/>
        </p:nvSpPr>
        <p:spPr>
          <a:xfrm xmlns:a="http://schemas.openxmlformats.org/drawingml/2006/main">
            <a:off x="466344" y="375920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telecomunicaciones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INPC</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consultar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Anexo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III.</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Metodologías.</a:t>
            </a:r>
          </a:p>
        </p:txBody>
      </p:sp>
      <p:sp>
        <p:nvSpPr>
          <p:cNvPr id="39" name="ANUARIO_ANEXO_P123_DESIGN_2026">
            <a:extLst xmlns:a="http://schemas.openxmlformats.org/drawingml/2006/main">
              <a:ext uri="{FF2B5EF4-FFF2-40B4-BE49-F238E27FC236}">
                <a16:creationId xmlns:a16="http://schemas.microsoft.com/office/drawing/2014/main" id="{F6B8FC87-DA26-4A8C-96DE-79611622178E}"/>
              </a:ext>
            </a:extLst>
          </p:cNvPr>
          <p:cNvSpPr>
            <a:spLocks xmlns:a="http://schemas.openxmlformats.org/drawingml/2006/main" noGrp="1"/>
          </p:cNvSpPr>
          <p:nvPr/>
        </p:nvSpPr>
        <p:spPr>
          <a:xfrm xmlns:a="http://schemas.openxmlformats.org/drawingml/2006/main">
            <a:off x="4663440" y="566928"/>
            <a:ext cx="4178808" cy="2556198"/>
          </a:xfrm>
          <a:prstGeom xmlns:a="http://schemas.openxmlformats.org/drawingml/2006/main" prst="roundRect">
            <a:avLst>
              <a:gd name="adj" fmla="val 2146"/>
            </a:avLst>
          </a:prstGeom>
          <a:solidFill xmlns:a="http://schemas.openxmlformats.org/drawingml/2006/main">
            <a:srgbClr val="F6FAF9"/>
          </a:solidFill>
          <a:ln xmlns:a="http://schemas.openxmlformats.org/drawingml/2006/main" w="9525">
            <a:solidFill>
              <a:srgbClr val="C9DAD6"/>
            </a:solidFill>
          </a:ln>
        </p:spPr>
      </p:sp>
      <p:sp>
        <p:nvSpPr>
          <p:cNvPr id="40" name="ANUARIO_ACENTO">
            <a:extLst xmlns:a="http://schemas.openxmlformats.org/drawingml/2006/main">
              <a:ext uri="{FF2B5EF4-FFF2-40B4-BE49-F238E27FC236}">
                <a16:creationId xmlns:a16="http://schemas.microsoft.com/office/drawing/2014/main" id="{7C0A87F2-0E63-4B57-87D7-C859E16449F7}"/>
              </a:ext>
            </a:extLst>
          </p:cNvPr>
          <p:cNvSpPr>
            <a:spLocks xmlns:a="http://schemas.openxmlformats.org/drawingml/2006/main" noGrp="1"/>
          </p:cNvSpPr>
          <p:nvPr/>
        </p:nvSpPr>
        <p:spPr>
          <a:xfrm xmlns:a="http://schemas.openxmlformats.org/drawingml/2006/main">
            <a:off x="4663440" y="640080"/>
            <a:ext cx="64008" cy="240989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1" name="ANUARIO_LETRA_FONDO">
            <a:extLst xmlns:a="http://schemas.openxmlformats.org/drawingml/2006/main">
              <a:ext uri="{FF2B5EF4-FFF2-40B4-BE49-F238E27FC236}">
                <a16:creationId xmlns:a16="http://schemas.microsoft.com/office/drawing/2014/main" id="{5B60389B-C4D0-4C71-81F2-18DAE486B3EC}"/>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2" name="ANUARIO_LETRA">
            <a:extLst xmlns:a="http://schemas.openxmlformats.org/drawingml/2006/main">
              <a:ext uri="{FF2B5EF4-FFF2-40B4-BE49-F238E27FC236}">
                <a16:creationId xmlns:a16="http://schemas.microsoft.com/office/drawing/2014/main" id="{EE3B56DD-BA1C-4AF2-A439-279687A71FC0}"/>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M</a:t>
            </a:r>
          </a:p>
        </p:txBody>
      </p:sp>
      <p:sp>
        <p:nvSpPr>
          <p:cNvPr id="43" name="ANUARIO_CONTENIDO_1_0_0">
            <a:extLst xmlns:a="http://schemas.openxmlformats.org/drawingml/2006/main">
              <a:ext uri="{FF2B5EF4-FFF2-40B4-BE49-F238E27FC236}">
                <a16:creationId xmlns:a16="http://schemas.microsoft.com/office/drawing/2014/main" id="{D2F8B5BA-6130-4435-BD1B-D567D44FAC20}"/>
              </a:ext>
            </a:extLst>
          </p:cNvPr>
          <p:cNvSpPr>
            <a:spLocks xmlns:a="http://schemas.openxmlformats.org/drawingml/2006/main" noGrp="1"/>
          </p:cNvSpPr>
          <p:nvPr/>
        </p:nvSpPr>
        <p:spPr>
          <a:xfrm xmlns:a="http://schemas.openxmlformats.org/drawingml/2006/main">
            <a:off x="4828032" y="87782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1">
                <a:solidFill>
                  <a:srgbClr val="2F7F6F"/>
                </a:solidFill>
                <a:latin typeface="DejaVu Sans"/>
                <a:ea typeface="DejaVu Sans"/>
                <a:cs typeface="DejaVu Sans"/>
              </a:rPr>
              <a:t>Magazine</a:t>
            </a:r>
            <a:r>
              <a:rPr sz="710" b="1" i="0">
                <a:solidFill>
                  <a:srgbClr val="2F7F6F"/>
                </a:solidFill>
                <a:latin typeface="DejaVu Sans"/>
                <a:ea typeface="DejaVu Sans"/>
                <a:cs typeface="DejaVu Sans"/>
              </a:rPr>
              <a:t>:</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contiene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diferentes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cuadros,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p>
        </p:txBody>
      </p:sp>
      <p:sp>
        <p:nvSpPr>
          <p:cNvPr id="44" name="ANUARIO_CONTENIDO_1_0_1">
            <a:extLst xmlns:a="http://schemas.openxmlformats.org/drawingml/2006/main">
              <a:ext uri="{FF2B5EF4-FFF2-40B4-BE49-F238E27FC236}">
                <a16:creationId xmlns:a16="http://schemas.microsoft.com/office/drawing/2014/main" id="{D232C2CC-616C-4951-808A-424608C9EBA7}"/>
              </a:ext>
            </a:extLst>
          </p:cNvPr>
          <p:cNvSpPr>
            <a:spLocks xmlns:a="http://schemas.openxmlformats.org/drawingml/2006/main" noGrp="1"/>
          </p:cNvSpPr>
          <p:nvPr/>
        </p:nvSpPr>
        <p:spPr>
          <a:xfrm xmlns:a="http://schemas.openxmlformats.org/drawingml/2006/main">
            <a:off x="4828032" y="9788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variedades,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investigaciones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comentarios.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p>
        </p:txBody>
      </p:sp>
      <p:sp>
        <p:nvSpPr>
          <p:cNvPr id="45" name="ANUARIO_CONTENIDO_1_0_2">
            <a:extLst xmlns:a="http://schemas.openxmlformats.org/drawingml/2006/main">
              <a:ext uri="{FF2B5EF4-FFF2-40B4-BE49-F238E27FC236}">
                <a16:creationId xmlns:a16="http://schemas.microsoft.com/office/drawing/2014/main" id="{611E37D7-1DE8-4204-AB35-0B800F2C6181}"/>
              </a:ext>
            </a:extLst>
          </p:cNvPr>
          <p:cNvSpPr>
            <a:spLocks xmlns:a="http://schemas.openxmlformats.org/drawingml/2006/main" noGrp="1"/>
          </p:cNvSpPr>
          <p:nvPr/>
        </p:nvSpPr>
        <p:spPr>
          <a:xfrm xmlns:a="http://schemas.openxmlformats.org/drawingml/2006/main">
            <a:off x="4828032" y="107980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cuyas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características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sean</a:t>
            </a:r>
            <a:r>
              <a:rPr sz="710" b="0" i="0">
                <a:solidFill>
                  <a:srgbClr val="24383A"/>
                </a:solidFill>
                <a:latin typeface="DejaVu Sans"/>
                <a:ea typeface="DejaVu Sans"/>
                <a:cs typeface="DejaVu Sans"/>
              </a:rPr>
              <a:t> </a:t>
            </a:r>
          </a:p>
        </p:txBody>
      </p:sp>
      <p:sp>
        <p:nvSpPr>
          <p:cNvPr id="46" name="ANUARIO_CONTENIDO_1_0_3">
            <a:extLst xmlns:a="http://schemas.openxmlformats.org/drawingml/2006/main">
              <a:ext uri="{FF2B5EF4-FFF2-40B4-BE49-F238E27FC236}">
                <a16:creationId xmlns:a16="http://schemas.microsoft.com/office/drawing/2014/main" id="{37F7670D-C99E-46A8-AE96-D33D6F2AC8C5}"/>
              </a:ext>
            </a:extLst>
          </p:cNvPr>
          <p:cNvSpPr>
            <a:spLocks xmlns:a="http://schemas.openxmlformats.org/drawingml/2006/main" noGrp="1"/>
          </p:cNvSpPr>
          <p:nvPr/>
        </p:nvSpPr>
        <p:spPr>
          <a:xfrm xmlns:a="http://schemas.openxmlformats.org/drawingml/2006/main">
            <a:off x="4828032" y="1180795"/>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clasificables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algún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cobertura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eventos</a:t>
            </a:r>
            <a:r>
              <a:rPr sz="710" b="0" i="0">
                <a:solidFill>
                  <a:srgbClr val="24383A"/>
                </a:solidFill>
                <a:latin typeface="DejaVu Sans"/>
                <a:ea typeface="DejaVu Sans"/>
                <a:cs typeface="DejaVu Sans"/>
              </a:rPr>
              <a:t> </a:t>
            </a:r>
          </a:p>
        </p:txBody>
      </p:sp>
      <p:sp>
        <p:nvSpPr>
          <p:cNvPr id="47" name="ANUARIO_CONTENIDO_1_0_4">
            <a:extLst xmlns:a="http://schemas.openxmlformats.org/drawingml/2006/main">
              <a:ext uri="{FF2B5EF4-FFF2-40B4-BE49-F238E27FC236}">
                <a16:creationId xmlns:a16="http://schemas.microsoft.com/office/drawing/2014/main" id="{DBB81BBD-4339-4719-9AEB-451BB7282E20}"/>
              </a:ext>
            </a:extLst>
          </p:cNvPr>
          <p:cNvSpPr>
            <a:spLocks xmlns:a="http://schemas.openxmlformats.org/drawingml/2006/main" noGrp="1"/>
          </p:cNvSpPr>
          <p:nvPr/>
        </p:nvSpPr>
        <p:spPr>
          <a:xfrm xmlns:a="http://schemas.openxmlformats.org/drawingml/2006/main">
            <a:off x="4828032" y="128178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(exceptuando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deportivos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culturales).</a:t>
            </a:r>
          </a:p>
        </p:txBody>
      </p:sp>
      <p:sp>
        <p:nvSpPr>
          <p:cNvPr id="48" name="ANUARIO_CONTENIDO_1_0_5">
            <a:extLst xmlns:a="http://schemas.openxmlformats.org/drawingml/2006/main">
              <a:ext uri="{FF2B5EF4-FFF2-40B4-BE49-F238E27FC236}">
                <a16:creationId xmlns:a16="http://schemas.microsoft.com/office/drawing/2014/main" id="{4F57126C-FA15-4541-9399-48CA54A13960}"/>
              </a:ext>
            </a:extLst>
          </p:cNvPr>
          <p:cNvSpPr>
            <a:spLocks xmlns:a="http://schemas.openxmlformats.org/drawingml/2006/main" noGrp="1"/>
          </p:cNvSpPr>
          <p:nvPr/>
        </p:nvSpPr>
        <p:spPr>
          <a:xfrm xmlns:a="http://schemas.openxmlformats.org/drawingml/2006/main">
            <a:off x="4828032" y="140817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Megabyte</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Internet.</a:t>
            </a:r>
          </a:p>
        </p:txBody>
      </p:sp>
      <p:sp>
        <p:nvSpPr>
          <p:cNvPr id="49" name="ANUARIO_CONTENIDO_1_0_6">
            <a:extLst xmlns:a="http://schemas.openxmlformats.org/drawingml/2006/main">
              <a:ext uri="{FF2B5EF4-FFF2-40B4-BE49-F238E27FC236}">
                <a16:creationId xmlns:a16="http://schemas.microsoft.com/office/drawing/2014/main" id="{76B8A2D6-E8C6-427D-9613-967607F32239}"/>
              </a:ext>
            </a:extLst>
          </p:cNvPr>
          <p:cNvSpPr>
            <a:spLocks xmlns:a="http://schemas.openxmlformats.org/drawingml/2006/main" noGrp="1"/>
          </p:cNvSpPr>
          <p:nvPr/>
        </p:nvSpPr>
        <p:spPr>
          <a:xfrm xmlns:a="http://schemas.openxmlformats.org/drawingml/2006/main">
            <a:off x="4828032" y="1534566"/>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Megabits</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(Mbps):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Megabits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segundo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velocidad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p>
        </p:txBody>
      </p:sp>
      <p:sp>
        <p:nvSpPr>
          <p:cNvPr id="50" name="ANUARIO_CONTENIDO_1_0_7">
            <a:extLst xmlns:a="http://schemas.openxmlformats.org/drawingml/2006/main">
              <a:ext uri="{FF2B5EF4-FFF2-40B4-BE49-F238E27FC236}">
                <a16:creationId xmlns:a16="http://schemas.microsoft.com/office/drawing/2014/main" id="{E9CA3EBB-924D-4211-B37B-4D46B35BB7B7}"/>
              </a:ext>
            </a:extLst>
          </p:cNvPr>
          <p:cNvSpPr>
            <a:spLocks xmlns:a="http://schemas.openxmlformats.org/drawingml/2006/main" noGrp="1"/>
          </p:cNvSpPr>
          <p:nvPr/>
        </p:nvSpPr>
        <p:spPr>
          <a:xfrm xmlns:a="http://schemas.openxmlformats.org/drawingml/2006/main">
            <a:off x="4828032" y="163555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transmisión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datos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banda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ancha.</a:t>
            </a:r>
          </a:p>
        </p:txBody>
      </p:sp>
      <p:sp>
        <p:nvSpPr>
          <p:cNvPr id="51" name="ANUARIO_CONTENIDO_1_0_8">
            <a:extLst xmlns:a="http://schemas.openxmlformats.org/drawingml/2006/main">
              <a:ext uri="{FF2B5EF4-FFF2-40B4-BE49-F238E27FC236}">
                <a16:creationId xmlns:a16="http://schemas.microsoft.com/office/drawing/2014/main" id="{D1DA5B47-6404-4210-A11C-82AF48F0DBD4}"/>
              </a:ext>
            </a:extLst>
          </p:cNvPr>
          <p:cNvSpPr>
            <a:spLocks xmlns:a="http://schemas.openxmlformats.org/drawingml/2006/main" noGrp="1"/>
          </p:cNvSpPr>
          <p:nvPr/>
        </p:nvSpPr>
        <p:spPr>
          <a:xfrm xmlns:a="http://schemas.openxmlformats.org/drawingml/2006/main">
            <a:off x="4828032" y="1761947"/>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Megahertz</a:t>
            </a:r>
            <a:r>
              <a:rPr sz="710" b="1" i="0">
                <a:solidFill>
                  <a:srgbClr val="2F7F6F"/>
                </a:solidFill>
                <a:latin typeface="DejaVu Sans"/>
                <a:ea typeface="DejaVu Sans"/>
                <a:cs typeface="DejaVu Sans"/>
              </a:rPr>
              <a:t> </a:t>
            </a:r>
            <a:r>
              <a:rPr sz="710" b="1" i="0">
                <a:solidFill>
                  <a:srgbClr val="2F7F6F"/>
                </a:solidFill>
                <a:latin typeface="DejaVu Sans"/>
                <a:ea typeface="DejaVu Sans"/>
                <a:cs typeface="DejaVu Sans"/>
              </a:rPr>
              <a:t>(MHz):</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medida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frecuencia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equivale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106</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Hertz.</a:t>
            </a:r>
          </a:p>
        </p:txBody>
      </p:sp>
      <p:sp>
        <p:nvSpPr>
          <p:cNvPr id="52" name="ANUARIO_CONTENIDO_1_0_9">
            <a:extLst xmlns:a="http://schemas.openxmlformats.org/drawingml/2006/main">
              <a:ext uri="{FF2B5EF4-FFF2-40B4-BE49-F238E27FC236}">
                <a16:creationId xmlns:a16="http://schemas.microsoft.com/office/drawing/2014/main" id="{C17F7D81-87AF-4880-810C-948D3DF57112}"/>
              </a:ext>
            </a:extLst>
          </p:cNvPr>
          <p:cNvSpPr>
            <a:spLocks xmlns:a="http://schemas.openxmlformats.org/drawingml/2006/main" noGrp="1"/>
          </p:cNvSpPr>
          <p:nvPr/>
        </p:nvSpPr>
        <p:spPr>
          <a:xfrm xmlns:a="http://schemas.openxmlformats.org/drawingml/2006/main">
            <a:off x="4828032" y="188833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Mercadeo: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promueve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venta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productos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telefónica.</a:t>
            </a:r>
            <a:r>
              <a:rPr sz="710" b="0" i="0">
                <a:solidFill>
                  <a:srgbClr val="24383A"/>
                </a:solidFill>
                <a:latin typeface="DejaVu Sans"/>
                <a:ea typeface="DejaVu Sans"/>
                <a:cs typeface="DejaVu Sans"/>
              </a:rPr>
              <a:t> </a:t>
            </a:r>
          </a:p>
        </p:txBody>
      </p:sp>
      <p:sp>
        <p:nvSpPr>
          <p:cNvPr id="53" name="ANUARIO_CONTENIDO_1_0_10">
            <a:extLst xmlns:a="http://schemas.openxmlformats.org/drawingml/2006/main">
              <a:ext uri="{FF2B5EF4-FFF2-40B4-BE49-F238E27FC236}">
                <a16:creationId xmlns:a16="http://schemas.microsoft.com/office/drawing/2014/main" id="{F51DDDB6-DCF9-41EF-889F-0F10750B755C}"/>
              </a:ext>
            </a:extLst>
          </p:cNvPr>
          <p:cNvSpPr>
            <a:spLocks xmlns:a="http://schemas.openxmlformats.org/drawingml/2006/main" noGrp="1"/>
          </p:cNvSpPr>
          <p:nvPr/>
        </p:nvSpPr>
        <p:spPr>
          <a:xfrm xmlns:a="http://schemas.openxmlformats.org/drawingml/2006/main">
            <a:off x="4828032" y="198932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realizan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demostraciones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54" name="ANUARIO_CONTENIDO_1_0_11">
            <a:extLst xmlns:a="http://schemas.openxmlformats.org/drawingml/2006/main">
              <a:ext uri="{FF2B5EF4-FFF2-40B4-BE49-F238E27FC236}">
                <a16:creationId xmlns:a16="http://schemas.microsoft.com/office/drawing/2014/main" id="{71AB3BBA-308D-4C48-8C58-A36C80E28936}"/>
              </a:ext>
            </a:extLst>
          </p:cNvPr>
          <p:cNvSpPr>
            <a:spLocks xmlns:a="http://schemas.openxmlformats.org/drawingml/2006/main" noGrp="1"/>
          </p:cNvSpPr>
          <p:nvPr/>
        </p:nvSpPr>
        <p:spPr>
          <a:xfrm xmlns:a="http://schemas.openxmlformats.org/drawingml/2006/main">
            <a:off x="4828032" y="2090318"/>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explicaciones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funcionamiento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artículos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ofrecidos.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p>
        </p:txBody>
      </p:sp>
      <p:sp>
        <p:nvSpPr>
          <p:cNvPr id="55" name="ANUARIO_CONTENIDO_1_0_12">
            <a:extLst xmlns:a="http://schemas.openxmlformats.org/drawingml/2006/main">
              <a:ext uri="{FF2B5EF4-FFF2-40B4-BE49-F238E27FC236}">
                <a16:creationId xmlns:a16="http://schemas.microsoft.com/office/drawing/2014/main" id="{5C14E93C-43AA-4CB6-AF93-905EECAFF94B}"/>
              </a:ext>
            </a:extLst>
          </p:cNvPr>
          <p:cNvSpPr>
            <a:spLocks xmlns:a="http://schemas.openxmlformats.org/drawingml/2006/main" noGrp="1"/>
          </p:cNvSpPr>
          <p:nvPr/>
        </p:nvSpPr>
        <p:spPr>
          <a:xfrm xmlns:a="http://schemas.openxmlformats.org/drawingml/2006/main">
            <a:off x="4828032" y="219130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encuentran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categoría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pagados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por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instituciones,</a:t>
            </a:r>
            <a:r>
              <a:rPr sz="710" b="0" i="0">
                <a:solidFill>
                  <a:srgbClr val="24383A"/>
                </a:solidFill>
                <a:latin typeface="DejaVu Sans"/>
                <a:ea typeface="DejaVu Sans"/>
                <a:cs typeface="DejaVu Sans"/>
              </a:rPr>
              <a:t> </a:t>
            </a:r>
          </a:p>
        </p:txBody>
      </p:sp>
      <p:sp>
        <p:nvSpPr>
          <p:cNvPr id="56" name="ANUARIO_CONTENIDO_1_0_13">
            <a:extLst xmlns:a="http://schemas.openxmlformats.org/drawingml/2006/main">
              <a:ext uri="{FF2B5EF4-FFF2-40B4-BE49-F238E27FC236}">
                <a16:creationId xmlns:a16="http://schemas.microsoft.com/office/drawing/2014/main" id="{5A786FA2-0940-43D9-A39D-254D027D2E4C}"/>
              </a:ext>
            </a:extLst>
          </p:cNvPr>
          <p:cNvSpPr>
            <a:spLocks xmlns:a="http://schemas.openxmlformats.org/drawingml/2006/main" noGrp="1"/>
          </p:cNvSpPr>
          <p:nvPr/>
        </p:nvSpPr>
        <p:spPr>
          <a:xfrm xmlns:a="http://schemas.openxmlformats.org/drawingml/2006/main">
            <a:off x="4828032" y="2292299"/>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asociaciones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civiles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religiosas,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cuales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tiempo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aire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utilizado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para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p>
        </p:txBody>
      </p:sp>
      <p:sp>
        <p:nvSpPr>
          <p:cNvPr id="57" name="ANUARIO_CONTENIDO_1_0_14">
            <a:extLst xmlns:a="http://schemas.openxmlformats.org/drawingml/2006/main">
              <a:ext uri="{FF2B5EF4-FFF2-40B4-BE49-F238E27FC236}">
                <a16:creationId xmlns:a16="http://schemas.microsoft.com/office/drawing/2014/main" id="{0023F81E-9993-41B5-92EA-691317D1F030}"/>
              </a:ext>
            </a:extLst>
          </p:cNvPr>
          <p:cNvSpPr>
            <a:spLocks xmlns:a="http://schemas.openxmlformats.org/drawingml/2006/main" noGrp="1"/>
          </p:cNvSpPr>
          <p:nvPr/>
        </p:nvSpPr>
        <p:spPr>
          <a:xfrm xmlns:a="http://schemas.openxmlformats.org/drawingml/2006/main">
            <a:off x="4828032" y="239329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difusión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un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mensaje.</a:t>
            </a:r>
          </a:p>
        </p:txBody>
      </p:sp>
      <p:sp>
        <p:nvSpPr>
          <p:cNvPr id="58" name="ANUARIO_CONTENIDO_1_0_15">
            <a:extLst xmlns:a="http://schemas.openxmlformats.org/drawingml/2006/main">
              <a:ext uri="{FF2B5EF4-FFF2-40B4-BE49-F238E27FC236}">
                <a16:creationId xmlns:a16="http://schemas.microsoft.com/office/drawing/2014/main" id="{F2E018C1-095B-4973-B126-4C15A803ED05}"/>
              </a:ext>
            </a:extLst>
          </p:cNvPr>
          <p:cNvSpPr>
            <a:spLocks xmlns:a="http://schemas.openxmlformats.org/drawingml/2006/main" noGrp="1"/>
          </p:cNvSpPr>
          <p:nvPr/>
        </p:nvSpPr>
        <p:spPr>
          <a:xfrm xmlns:a="http://schemas.openxmlformats.org/drawingml/2006/main">
            <a:off x="4828032" y="251968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Musicales: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corte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musical,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videos,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conciertos,</a:t>
            </a:r>
            <a:r>
              <a:rPr sz="710" b="0" i="0">
                <a:solidFill>
                  <a:srgbClr val="24383A"/>
                </a:solidFill>
                <a:latin typeface="DejaVu Sans"/>
                <a:ea typeface="DejaVu Sans"/>
                <a:cs typeface="DejaVu Sans"/>
              </a:rPr>
              <a:t> </a:t>
            </a:r>
          </a:p>
        </p:txBody>
      </p:sp>
      <p:sp>
        <p:nvSpPr>
          <p:cNvPr id="59" name="ANUARIO_CONTENIDO_1_0_16">
            <a:extLst xmlns:a="http://schemas.openxmlformats.org/drawingml/2006/main">
              <a:ext uri="{FF2B5EF4-FFF2-40B4-BE49-F238E27FC236}">
                <a16:creationId xmlns:a16="http://schemas.microsoft.com/office/drawing/2014/main" id="{C42AEBBC-1724-4EC1-9F3B-00A2CB4616A3}"/>
              </a:ext>
            </a:extLst>
          </p:cNvPr>
          <p:cNvSpPr>
            <a:spLocks xmlns:a="http://schemas.openxmlformats.org/drawingml/2006/main" noGrp="1"/>
          </p:cNvSpPr>
          <p:nvPr/>
        </p:nvSpPr>
        <p:spPr>
          <a:xfrm xmlns:a="http://schemas.openxmlformats.org/drawingml/2006/main">
            <a:off x="4828032" y="2620670"/>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presentaciones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cantantes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grupos,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pueden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incluir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semblanzas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p>
        </p:txBody>
      </p:sp>
      <p:sp>
        <p:nvSpPr>
          <p:cNvPr id="60" name="ANUARIO_CONTENIDO_1_0_17">
            <a:extLst xmlns:a="http://schemas.openxmlformats.org/drawingml/2006/main">
              <a:ext uri="{FF2B5EF4-FFF2-40B4-BE49-F238E27FC236}">
                <a16:creationId xmlns:a16="http://schemas.microsoft.com/office/drawing/2014/main" id="{88863E40-16B4-4068-8308-C2F11DB9DB11}"/>
              </a:ext>
            </a:extLst>
          </p:cNvPr>
          <p:cNvSpPr>
            <a:spLocks xmlns:a="http://schemas.openxmlformats.org/drawingml/2006/main" noGrp="1"/>
          </p:cNvSpPr>
          <p:nvPr/>
        </p:nvSpPr>
        <p:spPr>
          <a:xfrm xmlns:a="http://schemas.openxmlformats.org/drawingml/2006/main">
            <a:off x="4828032" y="2721661"/>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entrevistas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artistas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presentados.</a:t>
            </a:r>
          </a:p>
        </p:txBody>
      </p:sp>
      <p:sp>
        <p:nvSpPr>
          <p:cNvPr id="61" name="ANUARIO_ANEXO_P123_DESIGN_2026">
            <a:extLst xmlns:a="http://schemas.openxmlformats.org/drawingml/2006/main">
              <a:ext uri="{FF2B5EF4-FFF2-40B4-BE49-F238E27FC236}">
                <a16:creationId xmlns:a16="http://schemas.microsoft.com/office/drawing/2014/main" id="{ECB9C988-B179-4A01-A888-614E8BD05454}"/>
              </a:ext>
            </a:extLst>
          </p:cNvPr>
          <p:cNvSpPr>
            <a:spLocks xmlns:a="http://schemas.openxmlformats.org/drawingml/2006/main" noGrp="1"/>
          </p:cNvSpPr>
          <p:nvPr/>
        </p:nvSpPr>
        <p:spPr>
          <a:xfrm xmlns:a="http://schemas.openxmlformats.org/drawingml/2006/main">
            <a:off x="4663440" y="3214566"/>
            <a:ext cx="4178808" cy="1247706"/>
          </a:xfrm>
          <a:prstGeom xmlns:a="http://schemas.openxmlformats.org/drawingml/2006/main" prst="roundRect">
            <a:avLst>
              <a:gd name="adj" fmla="val 4397"/>
            </a:avLst>
          </a:prstGeom>
          <a:solidFill xmlns:a="http://schemas.openxmlformats.org/drawingml/2006/main">
            <a:srgbClr val="F6FAF9"/>
          </a:solidFill>
          <a:ln xmlns:a="http://schemas.openxmlformats.org/drawingml/2006/main" w="9525">
            <a:solidFill>
              <a:srgbClr val="C9DAD6"/>
            </a:solidFill>
          </a:ln>
        </p:spPr>
      </p:sp>
      <p:sp>
        <p:nvSpPr>
          <p:cNvPr id="62" name="ANUARIO_ACENTO">
            <a:extLst xmlns:a="http://schemas.openxmlformats.org/drawingml/2006/main">
              <a:ext uri="{FF2B5EF4-FFF2-40B4-BE49-F238E27FC236}">
                <a16:creationId xmlns:a16="http://schemas.microsoft.com/office/drawing/2014/main" id="{E9AADBC6-844C-424C-9BEE-09BD8D355997}"/>
              </a:ext>
            </a:extLst>
          </p:cNvPr>
          <p:cNvSpPr>
            <a:spLocks xmlns:a="http://schemas.openxmlformats.org/drawingml/2006/main" noGrp="1"/>
          </p:cNvSpPr>
          <p:nvPr/>
        </p:nvSpPr>
        <p:spPr>
          <a:xfrm xmlns:a="http://schemas.openxmlformats.org/drawingml/2006/main">
            <a:off x="4663440" y="3287718"/>
            <a:ext cx="64008" cy="110140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63" name="ANUARIO_LETRA_FONDO">
            <a:extLst xmlns:a="http://schemas.openxmlformats.org/drawingml/2006/main">
              <a:ext uri="{FF2B5EF4-FFF2-40B4-BE49-F238E27FC236}">
                <a16:creationId xmlns:a16="http://schemas.microsoft.com/office/drawing/2014/main" id="{89942648-AB1D-46B8-AA51-453C331A28ED}"/>
              </a:ext>
            </a:extLst>
          </p:cNvPr>
          <p:cNvSpPr>
            <a:spLocks xmlns:a="http://schemas.openxmlformats.org/drawingml/2006/main" noGrp="1"/>
          </p:cNvSpPr>
          <p:nvPr/>
        </p:nvSpPr>
        <p:spPr>
          <a:xfrm xmlns:a="http://schemas.openxmlformats.org/drawingml/2006/main">
            <a:off x="4828032" y="3287718"/>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4" name="ANUARIO_LETRA">
            <a:extLst xmlns:a="http://schemas.openxmlformats.org/drawingml/2006/main">
              <a:ext uri="{FF2B5EF4-FFF2-40B4-BE49-F238E27FC236}">
                <a16:creationId xmlns:a16="http://schemas.microsoft.com/office/drawing/2014/main" id="{E4ACC113-DE1D-408E-9267-D1953ED88CE2}"/>
              </a:ext>
            </a:extLst>
          </p:cNvPr>
          <p:cNvSpPr>
            <a:spLocks xmlns:a="http://schemas.openxmlformats.org/drawingml/2006/main" noGrp="1"/>
          </p:cNvSpPr>
          <p:nvPr/>
        </p:nvSpPr>
        <p:spPr>
          <a:xfrm xmlns:a="http://schemas.openxmlformats.org/drawingml/2006/main">
            <a:off x="4828032" y="3306006"/>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N</a:t>
            </a:r>
          </a:p>
        </p:txBody>
      </p:sp>
      <p:sp>
        <p:nvSpPr>
          <p:cNvPr id="65" name="ANUARIO_CONTENIDO_1_1_0">
            <a:extLst xmlns:a="http://schemas.openxmlformats.org/drawingml/2006/main">
              <a:ext uri="{FF2B5EF4-FFF2-40B4-BE49-F238E27FC236}">
                <a16:creationId xmlns:a16="http://schemas.microsoft.com/office/drawing/2014/main" id="{7FBC53AD-8CBB-457E-A6FB-F92136B4D387}"/>
              </a:ext>
            </a:extLst>
          </p:cNvPr>
          <p:cNvSpPr>
            <a:spLocks xmlns:a="http://schemas.openxmlformats.org/drawingml/2006/main" noGrp="1"/>
          </p:cNvSpPr>
          <p:nvPr/>
        </p:nvSpPr>
        <p:spPr>
          <a:xfrm xmlns:a="http://schemas.openxmlformats.org/drawingml/2006/main">
            <a:off x="4828032" y="352546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1" i="0">
                <a:solidFill>
                  <a:srgbClr val="2F7F6F"/>
                </a:solidFill>
                <a:latin typeface="DejaVu Sans"/>
                <a:ea typeface="DejaVu Sans"/>
                <a:cs typeface="DejaVu Sans"/>
              </a:rPr>
              <a:t>Noticieros: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basada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actualidad</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a:t>
            </a:r>
            <a:r>
              <a:rPr sz="710" b="0" i="0">
                <a:solidFill>
                  <a:srgbClr val="24383A"/>
                </a:solidFill>
                <a:latin typeface="DejaVu Sans"/>
                <a:ea typeface="DejaVu Sans"/>
                <a:cs typeface="DejaVu Sans"/>
              </a:rPr>
              <a:t> </a:t>
            </a:r>
          </a:p>
        </p:txBody>
      </p:sp>
      <p:sp>
        <p:nvSpPr>
          <p:cNvPr id="66" name="ANUARIO_CONTENIDO_1_1_1">
            <a:extLst xmlns:a="http://schemas.openxmlformats.org/drawingml/2006/main">
              <a:ext uri="{FF2B5EF4-FFF2-40B4-BE49-F238E27FC236}">
                <a16:creationId xmlns:a16="http://schemas.microsoft.com/office/drawing/2014/main" id="{8B2704DA-C2AA-45FF-8D0E-04793E2E80C1}"/>
              </a:ext>
            </a:extLst>
          </p:cNvPr>
          <p:cNvSpPr>
            <a:spLocks xmlns:a="http://schemas.openxmlformats.org/drawingml/2006/main" noGrp="1"/>
          </p:cNvSpPr>
          <p:nvPr/>
        </p:nvSpPr>
        <p:spPr>
          <a:xfrm xmlns:a="http://schemas.openxmlformats.org/drawingml/2006/main">
            <a:off x="4828032" y="3626452"/>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internacional,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articulada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tradicionales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periodismo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escrito,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tales</a:t>
            </a:r>
            <a:r>
              <a:rPr sz="710" b="0" i="0">
                <a:solidFill>
                  <a:srgbClr val="24383A"/>
                </a:solidFill>
                <a:latin typeface="DejaVu Sans"/>
                <a:ea typeface="DejaVu Sans"/>
                <a:cs typeface="DejaVu Sans"/>
              </a:rPr>
              <a:t> </a:t>
            </a:r>
          </a:p>
        </p:txBody>
      </p:sp>
      <p:sp>
        <p:nvSpPr>
          <p:cNvPr id="67" name="ANUARIO_CONTENIDO_1_1_2">
            <a:extLst xmlns:a="http://schemas.openxmlformats.org/drawingml/2006/main">
              <a:ext uri="{FF2B5EF4-FFF2-40B4-BE49-F238E27FC236}">
                <a16:creationId xmlns:a16="http://schemas.microsoft.com/office/drawing/2014/main" id="{85928106-1532-477D-A034-E8971324F61D}"/>
              </a:ext>
            </a:extLst>
          </p:cNvPr>
          <p:cNvSpPr>
            <a:spLocks xmlns:a="http://schemas.openxmlformats.org/drawingml/2006/main" noGrp="1"/>
          </p:cNvSpPr>
          <p:nvPr/>
        </p:nvSpPr>
        <p:spPr>
          <a:xfrm xmlns:a="http://schemas.openxmlformats.org/drawingml/2006/main">
            <a:off x="4828032" y="372744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como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nota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entrevista,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editorial,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entre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otros.</a:t>
            </a:r>
            <a:r>
              <a:rPr sz="710" b="0" i="0">
                <a:solidFill>
                  <a:srgbClr val="24383A"/>
                </a:solidFill>
                <a:latin typeface="DejaVu Sans"/>
                <a:ea typeface="DejaVu Sans"/>
                <a:cs typeface="DejaVu Sans"/>
              </a:rPr>
              <a:t> </a:t>
            </a:r>
          </a:p>
        </p:txBody>
      </p:sp>
      <p:sp>
        <p:nvSpPr>
          <p:cNvPr id="68" name="ANUARIO_CONTENIDO_1_1_3">
            <a:extLst xmlns:a="http://schemas.openxmlformats.org/drawingml/2006/main">
              <a:ext uri="{FF2B5EF4-FFF2-40B4-BE49-F238E27FC236}">
                <a16:creationId xmlns:a16="http://schemas.microsoft.com/office/drawing/2014/main" id="{380C8932-3F8C-42B3-BD49-43E3AB55887F}"/>
              </a:ext>
            </a:extLst>
          </p:cNvPr>
          <p:cNvSpPr>
            <a:spLocks xmlns:a="http://schemas.openxmlformats.org/drawingml/2006/main" noGrp="1"/>
          </p:cNvSpPr>
          <p:nvPr/>
        </p:nvSpPr>
        <p:spPr>
          <a:xfrm xmlns:a="http://schemas.openxmlformats.org/drawingml/2006/main">
            <a:off x="4828032" y="382843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Generalmente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estructuran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bloques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temáticos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buscan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mantener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interés</a:t>
            </a:r>
            <a:r>
              <a:rPr sz="710" b="0" i="0">
                <a:solidFill>
                  <a:srgbClr val="24383A"/>
                </a:solidFill>
                <a:latin typeface="DejaVu Sans"/>
                <a:ea typeface="DejaVu Sans"/>
                <a:cs typeface="DejaVu Sans"/>
              </a:rPr>
              <a:t> </a:t>
            </a:r>
          </a:p>
        </p:txBody>
      </p:sp>
      <p:sp>
        <p:nvSpPr>
          <p:cNvPr id="69" name="ANUARIO_CONTENIDO_1_1_4">
            <a:extLst xmlns:a="http://schemas.openxmlformats.org/drawingml/2006/main">
              <a:ext uri="{FF2B5EF4-FFF2-40B4-BE49-F238E27FC236}">
                <a16:creationId xmlns:a16="http://schemas.microsoft.com/office/drawing/2014/main" id="{2CB81059-5A3C-4ACB-99BF-09BACB07A915}"/>
              </a:ext>
            </a:extLst>
          </p:cNvPr>
          <p:cNvSpPr>
            <a:spLocks xmlns:a="http://schemas.openxmlformats.org/drawingml/2006/main" noGrp="1"/>
          </p:cNvSpPr>
          <p:nvPr/>
        </p:nvSpPr>
        <p:spPr>
          <a:xfrm xmlns:a="http://schemas.openxmlformats.org/drawingml/2006/main">
            <a:off x="4828032" y="3929423"/>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y</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eliminar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factores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distracción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que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está</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expuesto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el</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televidente.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Dentro</a:t>
            </a:r>
            <a:r>
              <a:rPr sz="710" b="0" i="0">
                <a:solidFill>
                  <a:srgbClr val="24383A"/>
                </a:solidFill>
                <a:latin typeface="DejaVu Sans"/>
                <a:ea typeface="DejaVu Sans"/>
                <a:cs typeface="DejaVu Sans"/>
              </a:rPr>
              <a:t> </a:t>
            </a:r>
          </a:p>
        </p:txBody>
      </p:sp>
      <p:sp>
        <p:nvSpPr>
          <p:cNvPr id="70" name="ANUARIO_CONTENIDO_1_1_5">
            <a:extLst xmlns:a="http://schemas.openxmlformats.org/drawingml/2006/main">
              <a:ext uri="{FF2B5EF4-FFF2-40B4-BE49-F238E27FC236}">
                <a16:creationId xmlns:a16="http://schemas.microsoft.com/office/drawing/2014/main" id="{6A6CE820-E046-4ECA-A9E3-5DE3978692AD}"/>
              </a:ext>
            </a:extLst>
          </p:cNvPr>
          <p:cNvSpPr>
            <a:spLocks xmlns:a="http://schemas.openxmlformats.org/drawingml/2006/main" noGrp="1"/>
          </p:cNvSpPr>
          <p:nvPr/>
        </p:nvSpPr>
        <p:spPr>
          <a:xfrm xmlns:a="http://schemas.openxmlformats.org/drawingml/2006/main">
            <a:off x="4828032" y="403041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este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género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contemplan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también</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aquellos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programas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carácter</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informativo,</a:t>
            </a:r>
            <a:r>
              <a:rPr sz="710" b="0" i="0">
                <a:solidFill>
                  <a:srgbClr val="24383A"/>
                </a:solidFill>
                <a:latin typeface="DejaVu Sans"/>
                <a:ea typeface="DejaVu Sans"/>
                <a:cs typeface="DejaVu Sans"/>
              </a:rPr>
              <a:t> </a:t>
            </a:r>
          </a:p>
        </p:txBody>
      </p:sp>
      <p:sp>
        <p:nvSpPr>
          <p:cNvPr id="71" name="ANUARIO_CONTENIDO_1_1_6">
            <a:extLst xmlns:a="http://schemas.openxmlformats.org/drawingml/2006/main">
              <a:ext uri="{FF2B5EF4-FFF2-40B4-BE49-F238E27FC236}">
                <a16:creationId xmlns:a16="http://schemas.microsoft.com/office/drawing/2014/main" id="{81A69B70-BB60-4A40-99C0-A5B3A114F817}"/>
              </a:ext>
            </a:extLst>
          </p:cNvPr>
          <p:cNvSpPr>
            <a:spLocks xmlns:a="http://schemas.openxmlformats.org/drawingml/2006/main" noGrp="1"/>
          </p:cNvSpPr>
          <p:nvPr/>
        </p:nvSpPr>
        <p:spPr>
          <a:xfrm xmlns:a="http://schemas.openxmlformats.org/drawingml/2006/main">
            <a:off x="4828032" y="4131404"/>
            <a:ext cx="3794760" cy="112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10" b="0">
                <a:solidFill>
                  <a:srgbClr val="24383A"/>
                </a:solidFill>
                <a:latin typeface="DejaVu Sans"/>
                <a:ea typeface="DejaVu Sans"/>
                <a:cs typeface="DejaVu Sans"/>
              </a:defRPr>
            </a:pPr>
            <a:r>
              <a:rPr sz="710" b="0" i="0">
                <a:solidFill>
                  <a:srgbClr val="24383A"/>
                </a:solidFill>
                <a:latin typeface="DejaVu Sans"/>
                <a:ea typeface="DejaVu Sans"/>
                <a:cs typeface="DejaVu Sans"/>
              </a:rPr>
              <a:t>de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análisis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o</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reportajes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especializados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sobre</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temas</a:t>
            </a:r>
            <a:r>
              <a:rPr sz="710" b="0" i="0">
                <a:solidFill>
                  <a:srgbClr val="24383A"/>
                </a:solidFill>
                <a:latin typeface="DejaVu Sans"/>
                <a:ea typeface="DejaVu Sans"/>
                <a:cs typeface="DejaVu Sans"/>
              </a:rPr>
              <a:t> </a:t>
            </a:r>
            <a:r>
              <a:rPr sz="710" b="0" i="0">
                <a:solidFill>
                  <a:srgbClr val="24383A"/>
                </a:solidFill>
                <a:latin typeface="DejaVu Sans"/>
                <a:ea typeface="DejaVu Sans"/>
                <a:cs typeface="DejaVu Sans"/>
              </a:rPr>
              <a:t>específicos.</a:t>
            </a:r>
          </a:p>
        </p:txBody>
      </p:sp>
    </p:spTree>
    <p:extLst>
      <p:ext uri="{BB962C8B-B14F-4D97-AF65-F5344CB8AC3E}">
        <p14:creationId xmlns:p14="http://schemas.microsoft.com/office/powerpoint/2010/main" val="933780979"/>
      </p:ext>
    </p:extLst>
  </p:cSld>
</p:sld>
</file>

<file path=ppt/slides/slide124.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81" name="ANUARIO_ENCABEZADO">
            <a:extLst xmlns:a="http://schemas.openxmlformats.org/drawingml/2006/main">
              <a:ext uri="{FF2B5EF4-FFF2-40B4-BE49-F238E27FC236}">
                <a16:creationId xmlns:a16="http://schemas.microsoft.com/office/drawing/2014/main" id="{45F3D9BD-6B04-47D6-A145-740507791EB5}"/>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F3FA8A58-02F2-46E5-B7CB-DE1CF7117148}"/>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F1037CE4-2CE0-4B38-8FE5-D9D36F4E1FF0}"/>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 DEFINICIONES</a:t>
            </a:r>
          </a:p>
        </p:txBody>
      </p:sp>
      <p:sp>
        <p:nvSpPr>
          <p:cNvPr id="4" name="ANUARIO_BIT_TEXTO">
            <a:extLst xmlns:a="http://schemas.openxmlformats.org/drawingml/2006/main">
              <a:ext uri="{FF2B5EF4-FFF2-40B4-BE49-F238E27FC236}">
                <a16:creationId xmlns:a16="http://schemas.microsoft.com/office/drawing/2014/main" id="{4322C7EA-5554-4B01-820F-E11C051A61E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01C9F150-3B5B-46AF-8CAF-9640987DB682}"/>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9BE76A32-DC73-4DE9-BEEC-6D387F8273B7}"/>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B6D8E8B6-C9A6-499C-B109-FB8373705338}"/>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A164387E-5395-48FD-834D-49FE05BA375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124</a:t>
            </a:r>
          </a:p>
        </p:txBody>
      </p:sp>
      <p:sp>
        <p:nvSpPr>
          <p:cNvPr id="9" name="ANUARIO_EDICION">
            <a:extLst xmlns:a="http://schemas.openxmlformats.org/drawingml/2006/main">
              <a:ext uri="{FF2B5EF4-FFF2-40B4-BE49-F238E27FC236}">
                <a16:creationId xmlns:a16="http://schemas.microsoft.com/office/drawing/2014/main" id="{09F30D03-6B36-4353-B047-4C2875F1C7E4}"/>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4_DESIGN_2026">
            <a:extLst xmlns:a="http://schemas.openxmlformats.org/drawingml/2006/main">
              <a:ext uri="{FF2B5EF4-FFF2-40B4-BE49-F238E27FC236}">
                <a16:creationId xmlns:a16="http://schemas.microsoft.com/office/drawing/2014/main" id="{C4FF3E71-FF42-4E66-B913-1251F98FBF94}"/>
              </a:ext>
            </a:extLst>
          </p:cNvPr>
          <p:cNvSpPr>
            <a:spLocks xmlns:a="http://schemas.openxmlformats.org/drawingml/2006/main" noGrp="1"/>
          </p:cNvSpPr>
          <p:nvPr/>
        </p:nvSpPr>
        <p:spPr>
          <a:xfrm xmlns:a="http://schemas.openxmlformats.org/drawingml/2006/main">
            <a:off x="301752" y="566928"/>
            <a:ext cx="4178808" cy="1135804"/>
          </a:xfrm>
          <a:prstGeom xmlns:a="http://schemas.openxmlformats.org/drawingml/2006/main" prst="roundRect">
            <a:avLst>
              <a:gd name="adj" fmla="val 4830"/>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136357BF-50BC-4822-8F9F-A86CD6169F4B}"/>
              </a:ext>
            </a:extLst>
          </p:cNvPr>
          <p:cNvSpPr>
            <a:spLocks xmlns:a="http://schemas.openxmlformats.org/drawingml/2006/main" noGrp="1"/>
          </p:cNvSpPr>
          <p:nvPr/>
        </p:nvSpPr>
        <p:spPr>
          <a:xfrm xmlns:a="http://schemas.openxmlformats.org/drawingml/2006/main">
            <a:off x="301752" y="640080"/>
            <a:ext cx="64008" cy="98950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LETRA_FONDO">
            <a:extLst xmlns:a="http://schemas.openxmlformats.org/drawingml/2006/main">
              <a:ext uri="{FF2B5EF4-FFF2-40B4-BE49-F238E27FC236}">
                <a16:creationId xmlns:a16="http://schemas.microsoft.com/office/drawing/2014/main" id="{C319BAA2-9EED-4859-8B81-27DEEB23DB6D}"/>
              </a:ext>
            </a:extLst>
          </p:cNvPr>
          <p:cNvSpPr>
            <a:spLocks xmlns:a="http://schemas.openxmlformats.org/drawingml/2006/main" noGrp="1"/>
          </p:cNvSpPr>
          <p:nvPr/>
        </p:nvSpPr>
        <p:spPr>
          <a:xfrm xmlns:a="http://schemas.openxmlformats.org/drawingml/2006/main">
            <a:off x="466344"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13" name="ANUARIO_LETRA">
            <a:extLst xmlns:a="http://schemas.openxmlformats.org/drawingml/2006/main">
              <a:ext uri="{FF2B5EF4-FFF2-40B4-BE49-F238E27FC236}">
                <a16:creationId xmlns:a16="http://schemas.microsoft.com/office/drawing/2014/main" id="{5E6066C0-302D-49E0-84CE-AAAA5EAD373F}"/>
              </a:ext>
            </a:extLst>
          </p:cNvPr>
          <p:cNvSpPr>
            <a:spLocks xmlns:a="http://schemas.openxmlformats.org/drawingml/2006/main" noGrp="1"/>
          </p:cNvSpPr>
          <p:nvPr/>
        </p:nvSpPr>
        <p:spPr>
          <a:xfrm xmlns:a="http://schemas.openxmlformats.org/drawingml/2006/main">
            <a:off x="466344"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O</a:t>
            </a:r>
          </a:p>
        </p:txBody>
      </p:sp>
      <p:sp>
        <p:nvSpPr>
          <p:cNvPr id="14" name="ANUARIO_CONTENIDO_0_0_0">
            <a:extLst xmlns:a="http://schemas.openxmlformats.org/drawingml/2006/main">
              <a:ext uri="{FF2B5EF4-FFF2-40B4-BE49-F238E27FC236}">
                <a16:creationId xmlns:a16="http://schemas.microsoft.com/office/drawing/2014/main" id="{495481F7-62C5-4192-A267-51A8C71B0976}"/>
              </a:ext>
            </a:extLst>
          </p:cNvPr>
          <p:cNvSpPr>
            <a:spLocks xmlns:a="http://schemas.openxmlformats.org/drawingml/2006/main" noGrp="1"/>
          </p:cNvSpPr>
          <p:nvPr/>
        </p:nvSpPr>
        <p:spPr>
          <a:xfrm xmlns:a="http://schemas.openxmlformats.org/drawingml/2006/main">
            <a:off x="466344"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Operador</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física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moral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titular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p>
        </p:txBody>
      </p:sp>
      <p:sp>
        <p:nvSpPr>
          <p:cNvPr id="15" name="ANUARIO_CONTENIDO_0_0_1">
            <a:extLst xmlns:a="http://schemas.openxmlformats.org/drawingml/2006/main">
              <a:ext uri="{FF2B5EF4-FFF2-40B4-BE49-F238E27FC236}">
                <a16:creationId xmlns:a16="http://schemas.microsoft.com/office/drawing/2014/main" id="{12EF2D98-6F09-4036-AC9A-B43DBC1864F2}"/>
              </a:ext>
            </a:extLst>
          </p:cNvPr>
          <p:cNvSpPr>
            <a:spLocks xmlns:a="http://schemas.openxmlformats.org/drawingml/2006/main" noGrp="1"/>
          </p:cNvSpPr>
          <p:nvPr/>
        </p:nvSpPr>
        <p:spPr>
          <a:xfrm xmlns:a="http://schemas.openxmlformats.org/drawingml/2006/main">
            <a:off x="466344"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concesiones,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autorizaciones,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asignaciones,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habilitan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explotar</a:t>
            </a:r>
            <a:r>
              <a:rPr sz="650" b="0" i="0">
                <a:solidFill>
                  <a:srgbClr val="24383A"/>
                </a:solidFill>
                <a:latin typeface="DejaVu Sans"/>
                <a:ea typeface="DejaVu Sans"/>
                <a:cs typeface="DejaVu Sans"/>
              </a:rPr>
              <a:t> </a:t>
            </a:r>
          </a:p>
        </p:txBody>
      </p:sp>
      <p:sp>
        <p:nvSpPr>
          <p:cNvPr id="16" name="ANUARIO_CONTENIDO_0_0_2">
            <a:extLst xmlns:a="http://schemas.openxmlformats.org/drawingml/2006/main">
              <a:ext uri="{FF2B5EF4-FFF2-40B4-BE49-F238E27FC236}">
                <a16:creationId xmlns:a16="http://schemas.microsoft.com/office/drawing/2014/main" id="{F4881284-6FC4-484E-A65C-6CA7C0940C8A}"/>
              </a:ext>
            </a:extLst>
          </p:cNvPr>
          <p:cNvSpPr>
            <a:spLocks xmlns:a="http://schemas.openxmlformats.org/drawingml/2006/main" noGrp="1"/>
          </p:cNvSpPr>
          <p:nvPr/>
        </p:nvSpPr>
        <p:spPr>
          <a:xfrm xmlns:a="http://schemas.openxmlformats.org/drawingml/2006/main">
            <a:off x="466344" y="10627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espectro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radioeléctrico,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recursos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orbitales.</a:t>
            </a:r>
          </a:p>
        </p:txBody>
      </p:sp>
      <p:sp>
        <p:nvSpPr>
          <p:cNvPr id="17" name="ANUARIO_CONTENIDO_0_0_3">
            <a:extLst xmlns:a="http://schemas.openxmlformats.org/drawingml/2006/main">
              <a:ext uri="{FF2B5EF4-FFF2-40B4-BE49-F238E27FC236}">
                <a16:creationId xmlns:a16="http://schemas.microsoft.com/office/drawing/2014/main" id="{F0164C54-0021-4606-A1BC-B1BE8AC3086D}"/>
              </a:ext>
            </a:extLst>
          </p:cNvPr>
          <p:cNvSpPr>
            <a:spLocks xmlns:a="http://schemas.openxmlformats.org/drawingml/2006/main" noGrp="1"/>
          </p:cNvSpPr>
          <p:nvPr/>
        </p:nvSpPr>
        <p:spPr>
          <a:xfrm xmlns:a="http://schemas.openxmlformats.org/drawingml/2006/main">
            <a:off x="466344"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Over</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the</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Top</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(OTT)</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según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p>
        </p:txBody>
      </p:sp>
      <p:sp>
        <p:nvSpPr>
          <p:cNvPr id="18" name="ANUARIO_CONTENIDO_0_0_4">
            <a:extLst xmlns:a="http://schemas.openxmlformats.org/drawingml/2006/main">
              <a:ext uri="{FF2B5EF4-FFF2-40B4-BE49-F238E27FC236}">
                <a16:creationId xmlns:a16="http://schemas.microsoft.com/office/drawing/2014/main" id="{24BC0660-80F8-4AE7-8B1E-3F511B6461F0}"/>
              </a:ext>
            </a:extLst>
          </p:cNvPr>
          <p:cNvSpPr>
            <a:spLocks xmlns:a="http://schemas.openxmlformats.org/drawingml/2006/main" noGrp="1"/>
          </p:cNvSpPr>
          <p:nvPr/>
        </p:nvSpPr>
        <p:spPr>
          <a:xfrm xmlns:a="http://schemas.openxmlformats.org/drawingml/2006/main">
            <a:off x="466344"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considerar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sustitutos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potenciales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19" name="ANUARIO_CONTENIDO_0_0_5">
            <a:extLst xmlns:a="http://schemas.openxmlformats.org/drawingml/2006/main">
              <a:ext uri="{FF2B5EF4-FFF2-40B4-BE49-F238E27FC236}">
                <a16:creationId xmlns:a16="http://schemas.microsoft.com/office/drawing/2014/main" id="{ACA6A8A2-D453-4EE2-A92F-5E19E16EBD93}"/>
              </a:ext>
            </a:extLst>
          </p:cNvPr>
          <p:cNvSpPr>
            <a:spLocks xmlns:a="http://schemas.openxmlformats.org/drawingml/2006/main" noGrp="1"/>
          </p:cNvSpPr>
          <p:nvPr/>
        </p:nvSpPr>
        <p:spPr>
          <a:xfrm xmlns:a="http://schemas.openxmlformats.org/drawingml/2006/main">
            <a:off x="466344"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audiovisual.</a:t>
            </a:r>
          </a:p>
        </p:txBody>
      </p:sp>
      <p:sp>
        <p:nvSpPr>
          <p:cNvPr id="20" name="ANUARIO_ANEXO_P124_DESIGN_2026">
            <a:extLst xmlns:a="http://schemas.openxmlformats.org/drawingml/2006/main">
              <a:ext uri="{FF2B5EF4-FFF2-40B4-BE49-F238E27FC236}">
                <a16:creationId xmlns:a16="http://schemas.microsoft.com/office/drawing/2014/main" id="{74DE36E7-EB57-4F0B-8A85-0CA070A912F8}"/>
              </a:ext>
            </a:extLst>
          </p:cNvPr>
          <p:cNvSpPr>
            <a:spLocks xmlns:a="http://schemas.openxmlformats.org/drawingml/2006/main" noGrp="1"/>
          </p:cNvSpPr>
          <p:nvPr/>
        </p:nvSpPr>
        <p:spPr>
          <a:xfrm xmlns:a="http://schemas.openxmlformats.org/drawingml/2006/main">
            <a:off x="301752" y="1794172"/>
            <a:ext cx="4178808" cy="2668100"/>
          </a:xfrm>
          <a:prstGeom xmlns:a="http://schemas.openxmlformats.org/drawingml/2006/main" prst="roundRect">
            <a:avLst>
              <a:gd name="adj" fmla="val 2056"/>
            </a:avLst>
          </a:prstGeom>
          <a:solidFill xmlns:a="http://schemas.openxmlformats.org/drawingml/2006/main">
            <a:srgbClr val="F6FAF9"/>
          </a:solidFill>
          <a:ln xmlns:a="http://schemas.openxmlformats.org/drawingml/2006/main" w="9525">
            <a:solidFill>
              <a:srgbClr val="C9DAD6"/>
            </a:solidFill>
          </a:ln>
        </p:spPr>
      </p:sp>
      <p:sp>
        <p:nvSpPr>
          <p:cNvPr id="21" name="ANUARIO_ACENTO">
            <a:extLst xmlns:a="http://schemas.openxmlformats.org/drawingml/2006/main">
              <a:ext uri="{FF2B5EF4-FFF2-40B4-BE49-F238E27FC236}">
                <a16:creationId xmlns:a16="http://schemas.microsoft.com/office/drawing/2014/main" id="{51162988-A0A1-4608-BE27-73DA260C963B}"/>
              </a:ext>
            </a:extLst>
          </p:cNvPr>
          <p:cNvSpPr>
            <a:spLocks xmlns:a="http://schemas.openxmlformats.org/drawingml/2006/main" noGrp="1"/>
          </p:cNvSpPr>
          <p:nvPr/>
        </p:nvSpPr>
        <p:spPr>
          <a:xfrm xmlns:a="http://schemas.openxmlformats.org/drawingml/2006/main">
            <a:off x="301752" y="1867324"/>
            <a:ext cx="64008" cy="2521796"/>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2" name="ANUARIO_LETRA_FONDO">
            <a:extLst xmlns:a="http://schemas.openxmlformats.org/drawingml/2006/main">
              <a:ext uri="{FF2B5EF4-FFF2-40B4-BE49-F238E27FC236}">
                <a16:creationId xmlns:a16="http://schemas.microsoft.com/office/drawing/2014/main" id="{012E2182-291C-40C2-9C6C-F01677359C63}"/>
              </a:ext>
            </a:extLst>
          </p:cNvPr>
          <p:cNvSpPr>
            <a:spLocks xmlns:a="http://schemas.openxmlformats.org/drawingml/2006/main" noGrp="1"/>
          </p:cNvSpPr>
          <p:nvPr/>
        </p:nvSpPr>
        <p:spPr>
          <a:xfrm xmlns:a="http://schemas.openxmlformats.org/drawingml/2006/main">
            <a:off x="466344" y="1867324"/>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23" name="ANUARIO_LETRA">
            <a:extLst xmlns:a="http://schemas.openxmlformats.org/drawingml/2006/main">
              <a:ext uri="{FF2B5EF4-FFF2-40B4-BE49-F238E27FC236}">
                <a16:creationId xmlns:a16="http://schemas.microsoft.com/office/drawing/2014/main" id="{4037A7EC-B1F9-4630-93BD-9E462471CF09}"/>
              </a:ext>
            </a:extLst>
          </p:cNvPr>
          <p:cNvSpPr>
            <a:spLocks xmlns:a="http://schemas.openxmlformats.org/drawingml/2006/main" noGrp="1"/>
          </p:cNvSpPr>
          <p:nvPr/>
        </p:nvSpPr>
        <p:spPr>
          <a:xfrm xmlns:a="http://schemas.openxmlformats.org/drawingml/2006/main">
            <a:off x="466344" y="1885612"/>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P</a:t>
            </a:r>
          </a:p>
        </p:txBody>
      </p:sp>
      <p:sp>
        <p:nvSpPr>
          <p:cNvPr id="24" name="ANUARIO_CONTENIDO_0_1_0">
            <a:extLst xmlns:a="http://schemas.openxmlformats.org/drawingml/2006/main">
              <a:ext uri="{FF2B5EF4-FFF2-40B4-BE49-F238E27FC236}">
                <a16:creationId xmlns:a16="http://schemas.microsoft.com/office/drawing/2014/main" id="{A13056F7-063C-4B97-A23A-BF72F1097789}"/>
              </a:ext>
            </a:extLst>
          </p:cNvPr>
          <p:cNvSpPr>
            <a:spLocks xmlns:a="http://schemas.openxmlformats.org/drawingml/2006/main" noGrp="1"/>
          </p:cNvSpPr>
          <p:nvPr/>
        </p:nvSpPr>
        <p:spPr>
          <a:xfrm xmlns:a="http://schemas.openxmlformats.org/drawingml/2006/main">
            <a:off x="466344" y="210506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Partidos</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difusión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p>
        </p:txBody>
      </p:sp>
      <p:sp>
        <p:nvSpPr>
          <p:cNvPr id="25" name="ANUARIO_CONTENIDO_0_1_1">
            <a:extLst xmlns:a="http://schemas.openxmlformats.org/drawingml/2006/main">
              <a:ext uri="{FF2B5EF4-FFF2-40B4-BE49-F238E27FC236}">
                <a16:creationId xmlns:a16="http://schemas.microsoft.com/office/drawing/2014/main" id="{14C0CA07-D5E8-4FCD-80DC-3997E110AC30}"/>
              </a:ext>
            </a:extLst>
          </p:cNvPr>
          <p:cNvSpPr>
            <a:spLocks xmlns:a="http://schemas.openxmlformats.org/drawingml/2006/main" noGrp="1"/>
          </p:cNvSpPr>
          <p:nvPr/>
        </p:nvSpPr>
        <p:spPr>
          <a:xfrm xmlns:a="http://schemas.openxmlformats.org/drawingml/2006/main">
            <a:off x="466344" y="21975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mensajes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actividades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partidos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registrados.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p>
        </p:txBody>
      </p:sp>
      <p:sp>
        <p:nvSpPr>
          <p:cNvPr id="26" name="ANUARIO_CONTENIDO_0_1_2">
            <a:extLst xmlns:a="http://schemas.openxmlformats.org/drawingml/2006/main">
              <a:ext uri="{FF2B5EF4-FFF2-40B4-BE49-F238E27FC236}">
                <a16:creationId xmlns:a16="http://schemas.microsoft.com/office/drawing/2014/main" id="{DA7AF10B-395A-4A17-8E50-1B3815F98BAC}"/>
              </a:ext>
            </a:extLst>
          </p:cNvPr>
          <p:cNvSpPr>
            <a:spLocks xmlns:a="http://schemas.openxmlformats.org/drawingml/2006/main" noGrp="1"/>
          </p:cNvSpPr>
          <p:nvPr/>
        </p:nvSpPr>
        <p:spPr>
          <a:xfrm xmlns:a="http://schemas.openxmlformats.org/drawingml/2006/main">
            <a:off x="466344" y="22899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identificaciones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varias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políticas.</a:t>
            </a:r>
          </a:p>
        </p:txBody>
      </p:sp>
      <p:sp>
        <p:nvSpPr>
          <p:cNvPr id="27" name="ANUARIO_CONTENIDO_0_1_3">
            <a:extLst xmlns:a="http://schemas.openxmlformats.org/drawingml/2006/main">
              <a:ext uri="{FF2B5EF4-FFF2-40B4-BE49-F238E27FC236}">
                <a16:creationId xmlns:a16="http://schemas.microsoft.com/office/drawing/2014/main" id="{54E74B4C-1BC6-4EDD-AAC1-F46314040C9B}"/>
              </a:ext>
            </a:extLst>
          </p:cNvPr>
          <p:cNvSpPr>
            <a:spLocks xmlns:a="http://schemas.openxmlformats.org/drawingml/2006/main" noGrp="1"/>
          </p:cNvSpPr>
          <p:nvPr/>
        </p:nvSpPr>
        <p:spPr>
          <a:xfrm xmlns:a="http://schemas.openxmlformats.org/drawingml/2006/main">
            <a:off x="466344" y="24078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Películas: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genérica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nombre.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Normalmente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p>
        </p:txBody>
      </p:sp>
      <p:sp>
        <p:nvSpPr>
          <p:cNvPr id="28" name="ANUARIO_CONTENIDO_0_1_4">
            <a:extLst xmlns:a="http://schemas.openxmlformats.org/drawingml/2006/main">
              <a:ext uri="{FF2B5EF4-FFF2-40B4-BE49-F238E27FC236}">
                <a16:creationId xmlns:a16="http://schemas.microsoft.com/office/drawing/2014/main" id="{CF4CD4FA-2F1B-42E0-A480-F0BE0088981F}"/>
              </a:ext>
            </a:extLst>
          </p:cNvPr>
          <p:cNvSpPr>
            <a:spLocks xmlns:a="http://schemas.openxmlformats.org/drawingml/2006/main" noGrp="1"/>
          </p:cNvSpPr>
          <p:nvPr/>
        </p:nvSpPr>
        <p:spPr>
          <a:xfrm xmlns:a="http://schemas.openxmlformats.org/drawingml/2006/main">
            <a:off x="466344" y="25002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transmite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29" name="ANUARIO_CONTENIDO_0_1_5">
            <a:extLst xmlns:a="http://schemas.openxmlformats.org/drawingml/2006/main">
              <a:ext uri="{FF2B5EF4-FFF2-40B4-BE49-F238E27FC236}">
                <a16:creationId xmlns:a16="http://schemas.microsoft.com/office/drawing/2014/main" id="{14E35C7E-B8E3-486B-A170-772F1C350F60}"/>
              </a:ext>
            </a:extLst>
          </p:cNvPr>
          <p:cNvSpPr>
            <a:spLocks xmlns:a="http://schemas.openxmlformats.org/drawingml/2006/main" noGrp="1"/>
          </p:cNvSpPr>
          <p:nvPr/>
        </p:nvSpPr>
        <p:spPr>
          <a:xfrm xmlns:a="http://schemas.openxmlformats.org/drawingml/2006/main">
            <a:off x="466344" y="25927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contemplado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cine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carácter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didáctico</a:t>
            </a:r>
            <a:r>
              <a:rPr sz="650" b="0" i="0">
                <a:solidFill>
                  <a:srgbClr val="24383A"/>
                </a:solidFill>
                <a:latin typeface="DejaVu Sans"/>
                <a:ea typeface="DejaVu Sans"/>
                <a:cs typeface="DejaVu Sans"/>
              </a:rPr>
              <a:t> </a:t>
            </a:r>
          </a:p>
        </p:txBody>
      </p:sp>
      <p:sp>
        <p:nvSpPr>
          <p:cNvPr id="30" name="ANUARIO_CONTENIDO_0_1_6">
            <a:extLst xmlns:a="http://schemas.openxmlformats.org/drawingml/2006/main">
              <a:ext uri="{FF2B5EF4-FFF2-40B4-BE49-F238E27FC236}">
                <a16:creationId xmlns:a16="http://schemas.microsoft.com/office/drawing/2014/main" id="{869748DC-AC21-4BA7-883F-27B682DF0366}"/>
              </a:ext>
            </a:extLst>
          </p:cNvPr>
          <p:cNvSpPr>
            <a:spLocks xmlns:a="http://schemas.openxmlformats.org/drawingml/2006/main" noGrp="1"/>
          </p:cNvSpPr>
          <p:nvPr/>
        </p:nvSpPr>
        <p:spPr>
          <a:xfrm xmlns:a="http://schemas.openxmlformats.org/drawingml/2006/main">
            <a:off x="466344" y="26852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entrevistas.</a:t>
            </a:r>
          </a:p>
        </p:txBody>
      </p:sp>
      <p:sp>
        <p:nvSpPr>
          <p:cNvPr id="31" name="ANUARIO_CONTENIDO_0_1_7">
            <a:extLst xmlns:a="http://schemas.openxmlformats.org/drawingml/2006/main">
              <a:ext uri="{FF2B5EF4-FFF2-40B4-BE49-F238E27FC236}">
                <a16:creationId xmlns:a16="http://schemas.microsoft.com/office/drawing/2014/main" id="{140A44B2-411E-4FFD-8ECB-5FC7AE4EB09D}"/>
              </a:ext>
            </a:extLst>
          </p:cNvPr>
          <p:cNvSpPr>
            <a:spLocks xmlns:a="http://schemas.openxmlformats.org/drawingml/2006/main" noGrp="1"/>
          </p:cNvSpPr>
          <p:nvPr/>
        </p:nvSpPr>
        <p:spPr>
          <a:xfrm xmlns:a="http://schemas.openxmlformats.org/drawingml/2006/main">
            <a:off x="466344" y="28030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Producto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Bruto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(PIB):</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valor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producción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bienes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2" name="ANUARIO_CONTENIDO_0_1_8">
            <a:extLst xmlns:a="http://schemas.openxmlformats.org/drawingml/2006/main">
              <a:ext uri="{FF2B5EF4-FFF2-40B4-BE49-F238E27FC236}">
                <a16:creationId xmlns:a16="http://schemas.microsoft.com/office/drawing/2014/main" id="{C254C85B-1E28-4705-8743-45EBFED8C3AC}"/>
              </a:ext>
            </a:extLst>
          </p:cNvPr>
          <p:cNvSpPr>
            <a:spLocks xmlns:a="http://schemas.openxmlformats.org/drawingml/2006/main" noGrp="1"/>
          </p:cNvSpPr>
          <p:nvPr/>
        </p:nvSpPr>
        <p:spPr>
          <a:xfrm xmlns:a="http://schemas.openxmlformats.org/drawingml/2006/main">
            <a:off x="466344" y="28955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país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documento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precios</a:t>
            </a:r>
            <a:r>
              <a:rPr sz="650" b="0" i="0">
                <a:solidFill>
                  <a:srgbClr val="24383A"/>
                </a:solidFill>
                <a:latin typeface="DejaVu Sans"/>
                <a:ea typeface="DejaVu Sans"/>
                <a:cs typeface="DejaVu Sans"/>
              </a:rPr>
              <a:t> </a:t>
            </a:r>
          </a:p>
        </p:txBody>
      </p:sp>
      <p:sp>
        <p:nvSpPr>
          <p:cNvPr id="33" name="ANUARIO_CONTENIDO_0_1_9">
            <a:extLst xmlns:a="http://schemas.openxmlformats.org/drawingml/2006/main">
              <a:ext uri="{FF2B5EF4-FFF2-40B4-BE49-F238E27FC236}">
                <a16:creationId xmlns:a16="http://schemas.microsoft.com/office/drawing/2014/main" id="{8FF594CC-6A4B-4C25-8B69-C6524563C064}"/>
              </a:ext>
            </a:extLst>
          </p:cNvPr>
          <p:cNvSpPr>
            <a:spLocks xmlns:a="http://schemas.openxmlformats.org/drawingml/2006/main" noGrp="1"/>
          </p:cNvSpPr>
          <p:nvPr/>
        </p:nvSpPr>
        <p:spPr>
          <a:xfrm xmlns:a="http://schemas.openxmlformats.org/drawingml/2006/main">
            <a:off x="466344" y="29879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constantes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2018.</a:t>
            </a:r>
          </a:p>
        </p:txBody>
      </p:sp>
      <p:sp>
        <p:nvSpPr>
          <p:cNvPr id="34" name="ANUARIO_CONTENIDO_0_1_10">
            <a:extLst xmlns:a="http://schemas.openxmlformats.org/drawingml/2006/main">
              <a:ext uri="{FF2B5EF4-FFF2-40B4-BE49-F238E27FC236}">
                <a16:creationId xmlns:a16="http://schemas.microsoft.com/office/drawing/2014/main" id="{A59A4652-E4B1-4D0D-BAB6-51F65F82C8A9}"/>
              </a:ext>
            </a:extLst>
          </p:cNvPr>
          <p:cNvSpPr>
            <a:spLocks xmlns:a="http://schemas.openxmlformats.org/drawingml/2006/main" noGrp="1"/>
          </p:cNvSpPr>
          <p:nvPr/>
        </p:nvSpPr>
        <p:spPr>
          <a:xfrm xmlns:a="http://schemas.openxmlformats.org/drawingml/2006/main">
            <a:off x="466344" y="310582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controlado: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p>
        </p:txBody>
      </p:sp>
      <p:sp>
        <p:nvSpPr>
          <p:cNvPr id="35" name="ANUARIO_CONTENIDO_0_1_11">
            <a:extLst xmlns:a="http://schemas.openxmlformats.org/drawingml/2006/main">
              <a:ext uri="{FF2B5EF4-FFF2-40B4-BE49-F238E27FC236}">
                <a16:creationId xmlns:a16="http://schemas.microsoft.com/office/drawing/2014/main" id="{2D89F53F-9C3B-480A-BB97-241F1465E7DE}"/>
              </a:ext>
            </a:extLst>
          </p:cNvPr>
          <p:cNvSpPr>
            <a:spLocks xmlns:a="http://schemas.openxmlformats.org/drawingml/2006/main" noGrp="1"/>
          </p:cNvSpPr>
          <p:nvPr/>
        </p:nvSpPr>
        <p:spPr>
          <a:xfrm xmlns:a="http://schemas.openxmlformats.org/drawingml/2006/main">
            <a:off x="466344" y="319828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p>
        </p:txBody>
      </p:sp>
      <p:sp>
        <p:nvSpPr>
          <p:cNvPr id="36" name="ANUARIO_CONTENIDO_0_1_12">
            <a:extLst xmlns:a="http://schemas.openxmlformats.org/drawingml/2006/main">
              <a:ext uri="{FF2B5EF4-FFF2-40B4-BE49-F238E27FC236}">
                <a16:creationId xmlns:a16="http://schemas.microsoft.com/office/drawing/2014/main" id="{668CA4D9-5814-42B1-B154-16D18B042E80}"/>
              </a:ext>
            </a:extLst>
          </p:cNvPr>
          <p:cNvSpPr>
            <a:spLocks xmlns:a="http://schemas.openxmlformats.org/drawingml/2006/main" noGrp="1"/>
          </p:cNvSpPr>
          <p:nvPr/>
        </p:nvSpPr>
        <p:spPr>
          <a:xfrm xmlns:a="http://schemas.openxmlformats.org/drawingml/2006/main">
            <a:off x="466344" y="329074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p>
        </p:txBody>
      </p:sp>
      <p:sp>
        <p:nvSpPr>
          <p:cNvPr id="37" name="ANUARIO_CONTENIDO_0_1_13">
            <a:extLst xmlns:a="http://schemas.openxmlformats.org/drawingml/2006/main">
              <a:ext uri="{FF2B5EF4-FFF2-40B4-BE49-F238E27FC236}">
                <a16:creationId xmlns:a16="http://schemas.microsoft.com/office/drawing/2014/main" id="{6306A1BB-393E-4AEF-BABA-08BD43018F6B}"/>
              </a:ext>
            </a:extLst>
          </p:cNvPr>
          <p:cNvSpPr>
            <a:spLocks xmlns:a="http://schemas.openxmlformats.org/drawingml/2006/main" noGrp="1"/>
          </p:cNvSpPr>
          <p:nvPr/>
        </p:nvSpPr>
        <p:spPr>
          <a:xfrm xmlns:a="http://schemas.openxmlformats.org/drawingml/2006/main">
            <a:off x="466344" y="340859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libre: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38" name="ANUARIO_CONTENIDO_0_1_14">
            <a:extLst xmlns:a="http://schemas.openxmlformats.org/drawingml/2006/main">
              <a:ext uri="{FF2B5EF4-FFF2-40B4-BE49-F238E27FC236}">
                <a16:creationId xmlns:a16="http://schemas.microsoft.com/office/drawing/2014/main" id="{14734F85-BEC3-4148-B498-84180D70A323}"/>
              </a:ext>
            </a:extLst>
          </p:cNvPr>
          <p:cNvSpPr>
            <a:spLocks xmlns:a="http://schemas.openxmlformats.org/drawingml/2006/main" noGrp="1"/>
          </p:cNvSpPr>
          <p:nvPr/>
        </p:nvSpPr>
        <p:spPr>
          <a:xfrm xmlns:a="http://schemas.openxmlformats.org/drawingml/2006/main">
            <a:off x="466344" y="350105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inicialmente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realizar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recargas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p>
        </p:txBody>
      </p:sp>
      <p:sp>
        <p:nvSpPr>
          <p:cNvPr id="39" name="ANUARIO_CONTENIDO_0_1_15">
            <a:extLst xmlns:a="http://schemas.openxmlformats.org/drawingml/2006/main">
              <a:ext uri="{FF2B5EF4-FFF2-40B4-BE49-F238E27FC236}">
                <a16:creationId xmlns:a16="http://schemas.microsoft.com/office/drawing/2014/main" id="{AFF96B0F-EA3C-41D8-903E-C7912E5927FD}"/>
              </a:ext>
            </a:extLst>
          </p:cNvPr>
          <p:cNvSpPr>
            <a:spLocks xmlns:a="http://schemas.openxmlformats.org/drawingml/2006/main" noGrp="1"/>
          </p:cNvSpPr>
          <p:nvPr/>
        </p:nvSpPr>
        <p:spPr>
          <a:xfrm xmlns:a="http://schemas.openxmlformats.org/drawingml/2006/main">
            <a:off x="466344" y="359350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(prepago).</a:t>
            </a:r>
          </a:p>
        </p:txBody>
      </p:sp>
      <p:sp>
        <p:nvSpPr>
          <p:cNvPr id="40" name="ANUARIO_CONTENIDO_0_1_16">
            <a:extLst xmlns:a="http://schemas.openxmlformats.org/drawingml/2006/main">
              <a:ext uri="{FF2B5EF4-FFF2-40B4-BE49-F238E27FC236}">
                <a16:creationId xmlns:a16="http://schemas.microsoft.com/office/drawing/2014/main" id="{44FB9E5B-D7EE-4336-BA38-FF2A6EF9ABF6}"/>
              </a:ext>
            </a:extLst>
          </p:cNvPr>
          <p:cNvSpPr>
            <a:spLocks xmlns:a="http://schemas.openxmlformats.org/drawingml/2006/main" noGrp="1"/>
          </p:cNvSpPr>
          <p:nvPr/>
        </p:nvSpPr>
        <p:spPr>
          <a:xfrm xmlns:a="http://schemas.openxmlformats.org/drawingml/2006/main">
            <a:off x="466344" y="371136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Pospago: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1" name="ANUARIO_CONTENIDO_0_1_17">
            <a:extLst xmlns:a="http://schemas.openxmlformats.org/drawingml/2006/main">
              <a:ext uri="{FF2B5EF4-FFF2-40B4-BE49-F238E27FC236}">
                <a16:creationId xmlns:a16="http://schemas.microsoft.com/office/drawing/2014/main" id="{A5C2DFC4-0327-4089-A286-C68767312DAC}"/>
              </a:ext>
            </a:extLst>
          </p:cNvPr>
          <p:cNvSpPr>
            <a:spLocks xmlns:a="http://schemas.openxmlformats.org/drawingml/2006/main" noGrp="1"/>
          </p:cNvSpPr>
          <p:nvPr/>
        </p:nvSpPr>
        <p:spPr>
          <a:xfrm xmlns:a="http://schemas.openxmlformats.org/drawingml/2006/main">
            <a:off x="466344" y="380382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posterior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2" name="ANUARIO_CONTENIDO_0_1_18">
            <a:extLst xmlns:a="http://schemas.openxmlformats.org/drawingml/2006/main">
              <a:ext uri="{FF2B5EF4-FFF2-40B4-BE49-F238E27FC236}">
                <a16:creationId xmlns:a16="http://schemas.microsoft.com/office/drawing/2014/main" id="{5543A42C-AA74-4C6E-B48F-0CD5DE00C24A}"/>
              </a:ext>
            </a:extLst>
          </p:cNvPr>
          <p:cNvSpPr>
            <a:spLocks xmlns:a="http://schemas.openxmlformats.org/drawingml/2006/main" noGrp="1"/>
          </p:cNvSpPr>
          <p:nvPr/>
        </p:nvSpPr>
        <p:spPr>
          <a:xfrm xmlns:a="http://schemas.openxmlformats.org/drawingml/2006/main">
            <a:off x="466344" y="392167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Prepago: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Esquema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43" name="ANUARIO_CONTENIDO_0_1_19">
            <a:extLst xmlns:a="http://schemas.openxmlformats.org/drawingml/2006/main">
              <a:ext uri="{FF2B5EF4-FFF2-40B4-BE49-F238E27FC236}">
                <a16:creationId xmlns:a16="http://schemas.microsoft.com/office/drawing/2014/main" id="{1A1CE70D-EE9F-459A-B09E-134A2CC1BF0B}"/>
              </a:ext>
            </a:extLst>
          </p:cNvPr>
          <p:cNvSpPr>
            <a:spLocks xmlns:a="http://schemas.openxmlformats.org/drawingml/2006/main" noGrp="1"/>
          </p:cNvSpPr>
          <p:nvPr/>
        </p:nvSpPr>
        <p:spPr>
          <a:xfrm xmlns:a="http://schemas.openxmlformats.org/drawingml/2006/main">
            <a:off x="466344" y="401413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anticipada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utilización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mismos.</a:t>
            </a:r>
            <a:r>
              <a:rPr sz="650" b="0" i="0">
                <a:solidFill>
                  <a:srgbClr val="24383A"/>
                </a:solidFill>
                <a:latin typeface="DejaVu Sans"/>
                <a:ea typeface="DejaVu Sans"/>
                <a:cs typeface="DejaVu Sans"/>
              </a:rPr>
              <a:t> </a:t>
            </a:r>
          </a:p>
        </p:txBody>
      </p:sp>
      <p:sp>
        <p:nvSpPr>
          <p:cNvPr id="44" name="ANUARIO_ANEXO_P124_DESIGN_2026">
            <a:extLst xmlns:a="http://schemas.openxmlformats.org/drawingml/2006/main">
              <a:ext uri="{FF2B5EF4-FFF2-40B4-BE49-F238E27FC236}">
                <a16:creationId xmlns:a16="http://schemas.microsoft.com/office/drawing/2014/main" id="{177C0CC3-69FE-4FF5-8BD4-400F150508E0}"/>
              </a:ext>
            </a:extLst>
          </p:cNvPr>
          <p:cNvSpPr>
            <a:spLocks xmlns:a="http://schemas.openxmlformats.org/drawingml/2006/main" noGrp="1"/>
          </p:cNvSpPr>
          <p:nvPr/>
        </p:nvSpPr>
        <p:spPr>
          <a:xfrm xmlns:a="http://schemas.openxmlformats.org/drawingml/2006/main">
            <a:off x="4663440" y="566928"/>
            <a:ext cx="4178808" cy="1373975"/>
          </a:xfrm>
          <a:prstGeom xmlns:a="http://schemas.openxmlformats.org/drawingml/2006/main" prst="roundRect">
            <a:avLst>
              <a:gd name="adj" fmla="val 3993"/>
            </a:avLst>
          </a:prstGeom>
          <a:solidFill xmlns:a="http://schemas.openxmlformats.org/drawingml/2006/main">
            <a:srgbClr val="F6FAF9"/>
          </a:solidFill>
          <a:ln xmlns:a="http://schemas.openxmlformats.org/drawingml/2006/main" w="9525">
            <a:solidFill>
              <a:srgbClr val="C9DAD6"/>
            </a:solidFill>
          </a:ln>
        </p:spPr>
      </p:sp>
      <p:sp>
        <p:nvSpPr>
          <p:cNvPr id="45" name="ANUARIO_ACENTO">
            <a:extLst xmlns:a="http://schemas.openxmlformats.org/drawingml/2006/main">
              <a:ext uri="{FF2B5EF4-FFF2-40B4-BE49-F238E27FC236}">
                <a16:creationId xmlns:a16="http://schemas.microsoft.com/office/drawing/2014/main" id="{D362C69E-84B0-445D-AE50-BF9E4C550234}"/>
              </a:ext>
            </a:extLst>
          </p:cNvPr>
          <p:cNvSpPr>
            <a:spLocks xmlns:a="http://schemas.openxmlformats.org/drawingml/2006/main" noGrp="1"/>
          </p:cNvSpPr>
          <p:nvPr/>
        </p:nvSpPr>
        <p:spPr>
          <a:xfrm xmlns:a="http://schemas.openxmlformats.org/drawingml/2006/main">
            <a:off x="4663440" y="640080"/>
            <a:ext cx="64008" cy="1227671"/>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6" name="ANUARIO_LETRA_FONDO">
            <a:extLst xmlns:a="http://schemas.openxmlformats.org/drawingml/2006/main">
              <a:ext uri="{FF2B5EF4-FFF2-40B4-BE49-F238E27FC236}">
                <a16:creationId xmlns:a16="http://schemas.microsoft.com/office/drawing/2014/main" id="{F2EBE179-CA9F-4860-B84F-975F56DBAAEB}"/>
              </a:ext>
            </a:extLst>
          </p:cNvPr>
          <p:cNvSpPr>
            <a:spLocks xmlns:a="http://schemas.openxmlformats.org/drawingml/2006/main" noGrp="1"/>
          </p:cNvSpPr>
          <p:nvPr/>
        </p:nvSpPr>
        <p:spPr>
          <a:xfrm xmlns:a="http://schemas.openxmlformats.org/drawingml/2006/main">
            <a:off x="4828032" y="640080"/>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47" name="ANUARIO_LETRA">
            <a:extLst xmlns:a="http://schemas.openxmlformats.org/drawingml/2006/main">
              <a:ext uri="{FF2B5EF4-FFF2-40B4-BE49-F238E27FC236}">
                <a16:creationId xmlns:a16="http://schemas.microsoft.com/office/drawing/2014/main" id="{0892AA08-BD1A-4B1B-B224-571DE70784F4}"/>
              </a:ext>
            </a:extLst>
          </p:cNvPr>
          <p:cNvSpPr>
            <a:spLocks xmlns:a="http://schemas.openxmlformats.org/drawingml/2006/main" noGrp="1"/>
          </p:cNvSpPr>
          <p:nvPr/>
        </p:nvSpPr>
        <p:spPr>
          <a:xfrm xmlns:a="http://schemas.openxmlformats.org/drawingml/2006/main">
            <a:off x="4828032" y="658368"/>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R</a:t>
            </a:r>
          </a:p>
        </p:txBody>
      </p:sp>
      <p:sp>
        <p:nvSpPr>
          <p:cNvPr id="48" name="ANUARIO_CONTENIDO_1_0_0">
            <a:extLst xmlns:a="http://schemas.openxmlformats.org/drawingml/2006/main">
              <a:ext uri="{FF2B5EF4-FFF2-40B4-BE49-F238E27FC236}">
                <a16:creationId xmlns:a16="http://schemas.microsoft.com/office/drawing/2014/main" id="{98038B01-66DC-4DD4-B4A3-A4FFFBE7D616}"/>
              </a:ext>
            </a:extLst>
          </p:cNvPr>
          <p:cNvSpPr>
            <a:spLocks xmlns:a="http://schemas.openxmlformats.org/drawingml/2006/main" noGrp="1"/>
          </p:cNvSpPr>
          <p:nvPr/>
        </p:nvSpPr>
        <p:spPr>
          <a:xfrm xmlns:a="http://schemas.openxmlformats.org/drawingml/2006/main">
            <a:off x="4828032" y="87782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Rating</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Porcentaje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hogares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estuvieron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p>
        </p:txBody>
      </p:sp>
      <p:sp>
        <p:nvSpPr>
          <p:cNvPr id="49" name="ANUARIO_CONTENIDO_1_0_1">
            <a:extLst xmlns:a="http://schemas.openxmlformats.org/drawingml/2006/main">
              <a:ext uri="{FF2B5EF4-FFF2-40B4-BE49-F238E27FC236}">
                <a16:creationId xmlns:a16="http://schemas.microsoft.com/office/drawing/2014/main" id="{81562BEF-511E-4641-811C-032B96DACE5A}"/>
              </a:ext>
            </a:extLst>
          </p:cNvPr>
          <p:cNvSpPr>
            <a:spLocks xmlns:a="http://schemas.openxmlformats.org/drawingml/2006/main" noGrp="1"/>
          </p:cNvSpPr>
          <p:nvPr/>
        </p:nvSpPr>
        <p:spPr>
          <a:xfrm xmlns:a="http://schemas.openxmlformats.org/drawingml/2006/main">
            <a:off x="4828032" y="97028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tiempo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p>
        </p:txBody>
      </p:sp>
      <p:sp>
        <p:nvSpPr>
          <p:cNvPr id="50" name="ANUARIO_CONTENIDO_1_0_2">
            <a:extLst xmlns:a="http://schemas.openxmlformats.org/drawingml/2006/main">
              <a:ext uri="{FF2B5EF4-FFF2-40B4-BE49-F238E27FC236}">
                <a16:creationId xmlns:a16="http://schemas.microsoft.com/office/drawing/2014/main" id="{C5994D18-F543-4A8E-9553-80C7E0AAAB69}"/>
              </a:ext>
            </a:extLst>
          </p:cNvPr>
          <p:cNvSpPr>
            <a:spLocks xmlns:a="http://schemas.openxmlformats.org/drawingml/2006/main" noGrp="1"/>
          </p:cNvSpPr>
          <p:nvPr/>
        </p:nvSpPr>
        <p:spPr>
          <a:xfrm xmlns:a="http://schemas.openxmlformats.org/drawingml/2006/main">
            <a:off x="4828032" y="108813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1">
                <a:solidFill>
                  <a:srgbClr val="2F7F6F"/>
                </a:solidFill>
                <a:latin typeface="DejaVu Sans"/>
                <a:ea typeface="DejaVu Sans"/>
                <a:cs typeface="DejaVu Sans"/>
              </a:rPr>
              <a:t>Reality</a:t>
            </a:r>
            <a:r>
              <a:rPr sz="650" b="1" i="1">
                <a:solidFill>
                  <a:srgbClr val="2F7F6F"/>
                </a:solidFill>
                <a:latin typeface="DejaVu Sans"/>
                <a:ea typeface="DejaVu Sans"/>
                <a:cs typeface="DejaVu Sans"/>
              </a:rPr>
              <a:t> </a:t>
            </a:r>
            <a:r>
              <a:rPr sz="650" b="1" i="1">
                <a:solidFill>
                  <a:srgbClr val="2F7F6F"/>
                </a:solidFill>
                <a:latin typeface="DejaVu Sans"/>
                <a:ea typeface="DejaVu Sans"/>
                <a:cs typeface="DejaVu Sans"/>
              </a:rPr>
              <a:t>Show</a:t>
            </a:r>
            <a:r>
              <a:rPr sz="650" b="1" i="0">
                <a:solidFill>
                  <a:srgbClr val="2F7F6F"/>
                </a:solidFill>
                <a:latin typeface="DejaVu Sans"/>
                <a:ea typeface="DejaVu Sans"/>
                <a:cs typeface="DejaVu Sans"/>
              </a:rPr>
              <a: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conocidos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televisivo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donde</a:t>
            </a:r>
            <a:r>
              <a:rPr sz="650" b="0" i="0">
                <a:solidFill>
                  <a:srgbClr val="24383A"/>
                </a:solidFill>
                <a:latin typeface="DejaVu Sans"/>
                <a:ea typeface="DejaVu Sans"/>
                <a:cs typeface="DejaVu Sans"/>
              </a:rPr>
              <a:t> </a:t>
            </a:r>
          </a:p>
        </p:txBody>
      </p:sp>
      <p:sp>
        <p:nvSpPr>
          <p:cNvPr id="51" name="ANUARIO_CONTENIDO_1_0_3">
            <a:extLst xmlns:a="http://schemas.openxmlformats.org/drawingml/2006/main">
              <a:ext uri="{FF2B5EF4-FFF2-40B4-BE49-F238E27FC236}">
                <a16:creationId xmlns:a16="http://schemas.microsoft.com/office/drawing/2014/main" id="{7527D588-8A65-4DF3-B367-75B8AF03D7BF}"/>
              </a:ext>
            </a:extLst>
          </p:cNvPr>
          <p:cNvSpPr>
            <a:spLocks xmlns:a="http://schemas.openxmlformats.org/drawingml/2006/main" noGrp="1"/>
          </p:cNvSpPr>
          <p:nvPr/>
        </p:nvSpPr>
        <p:spPr>
          <a:xfrm xmlns:a="http://schemas.openxmlformats.org/drawingml/2006/main">
            <a:off x="4828032" y="118059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grupo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personas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–comunes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famosas-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grabadas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durante</a:t>
            </a:r>
            <a:r>
              <a:rPr sz="650" b="0" i="0">
                <a:solidFill>
                  <a:srgbClr val="24383A"/>
                </a:solidFill>
                <a:latin typeface="DejaVu Sans"/>
                <a:ea typeface="DejaVu Sans"/>
                <a:cs typeface="DejaVu Sans"/>
              </a:rPr>
              <a:t> </a:t>
            </a:r>
          </a:p>
        </p:txBody>
      </p:sp>
      <p:sp>
        <p:nvSpPr>
          <p:cNvPr id="52" name="ANUARIO_CONTENIDO_1_0_4">
            <a:extLst xmlns:a="http://schemas.openxmlformats.org/drawingml/2006/main">
              <a:ext uri="{FF2B5EF4-FFF2-40B4-BE49-F238E27FC236}">
                <a16:creationId xmlns:a16="http://schemas.microsoft.com/office/drawing/2014/main" id="{3AD56A16-64B9-4553-B418-AE68944949D8}"/>
              </a:ext>
            </a:extLst>
          </p:cNvPr>
          <p:cNvSpPr>
            <a:spLocks xmlns:a="http://schemas.openxmlformats.org/drawingml/2006/main" noGrp="1"/>
          </p:cNvSpPr>
          <p:nvPr/>
        </p:nvSpPr>
        <p:spPr>
          <a:xfrm xmlns:a="http://schemas.openxmlformats.org/drawingml/2006/main">
            <a:off x="4828032" y="1273048"/>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periodo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Generalmente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encuentran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sitio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común,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sin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importar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a:t>
            </a:r>
            <a:r>
              <a:rPr sz="650" b="0" i="0">
                <a:solidFill>
                  <a:srgbClr val="24383A"/>
                </a:solidFill>
                <a:latin typeface="DejaVu Sans"/>
                <a:ea typeface="DejaVu Sans"/>
                <a:cs typeface="DejaVu Sans"/>
              </a:rPr>
              <a:t> </a:t>
            </a:r>
          </a:p>
        </p:txBody>
      </p:sp>
      <p:sp>
        <p:nvSpPr>
          <p:cNvPr id="53" name="ANUARIO_CONTENIDO_1_0_5">
            <a:extLst xmlns:a="http://schemas.openxmlformats.org/drawingml/2006/main">
              <a:ext uri="{FF2B5EF4-FFF2-40B4-BE49-F238E27FC236}">
                <a16:creationId xmlns:a16="http://schemas.microsoft.com/office/drawing/2014/main" id="{8879E920-B43F-4DA7-B8C8-103860F4710C}"/>
              </a:ext>
            </a:extLst>
          </p:cNvPr>
          <p:cNvSpPr>
            <a:spLocks xmlns:a="http://schemas.openxmlformats.org/drawingml/2006/main" noGrp="1"/>
          </p:cNvSpPr>
          <p:nvPr/>
        </p:nvSpPr>
        <p:spPr>
          <a:xfrm xmlns:a="http://schemas.openxmlformats.org/drawingml/2006/main">
            <a:off x="4828032" y="1365504"/>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compitiendo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premio.</a:t>
            </a:r>
          </a:p>
        </p:txBody>
      </p:sp>
      <p:sp>
        <p:nvSpPr>
          <p:cNvPr id="54" name="ANUARIO_CONTENIDO_1_0_6">
            <a:extLst xmlns:a="http://schemas.openxmlformats.org/drawingml/2006/main">
              <a:ext uri="{FF2B5EF4-FFF2-40B4-BE49-F238E27FC236}">
                <a16:creationId xmlns:a16="http://schemas.microsoft.com/office/drawing/2014/main" id="{59FFB0F6-F2DC-4246-ADCD-E9D29A771CB4}"/>
              </a:ext>
            </a:extLst>
          </p:cNvPr>
          <p:cNvSpPr>
            <a:spLocks xmlns:a="http://schemas.openxmlformats.org/drawingml/2006/main" noGrp="1"/>
          </p:cNvSpPr>
          <p:nvPr/>
        </p:nvSpPr>
        <p:spPr>
          <a:xfrm xmlns:a="http://schemas.openxmlformats.org/drawingml/2006/main">
            <a:off x="4828032" y="1483360"/>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Religión: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contenido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estrictamente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retiros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p>
        </p:txBody>
      </p:sp>
      <p:sp>
        <p:nvSpPr>
          <p:cNvPr id="55" name="ANUARIO_CONTENIDO_1_0_7">
            <a:extLst xmlns:a="http://schemas.openxmlformats.org/drawingml/2006/main">
              <a:ext uri="{FF2B5EF4-FFF2-40B4-BE49-F238E27FC236}">
                <a16:creationId xmlns:a16="http://schemas.microsoft.com/office/drawing/2014/main" id="{DF876D5B-1DFF-46E2-B9E9-CA29CD6427DD}"/>
              </a:ext>
            </a:extLst>
          </p:cNvPr>
          <p:cNvSpPr>
            <a:spLocks xmlns:a="http://schemas.openxmlformats.org/drawingml/2006/main" noGrp="1"/>
          </p:cNvSpPr>
          <p:nvPr/>
        </p:nvSpPr>
        <p:spPr>
          <a:xfrm xmlns:a="http://schemas.openxmlformats.org/drawingml/2006/main">
            <a:off x="4828032" y="1575816"/>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coberturas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visitas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pastorales.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están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incluidos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programas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reportaje</a:t>
            </a:r>
            <a:r>
              <a:rPr sz="650" b="0" i="0">
                <a:solidFill>
                  <a:srgbClr val="24383A"/>
                </a:solidFill>
                <a:latin typeface="DejaVu Sans"/>
                <a:ea typeface="DejaVu Sans"/>
                <a:cs typeface="DejaVu Sans"/>
              </a:rPr>
              <a:t> </a:t>
            </a:r>
          </a:p>
        </p:txBody>
      </p:sp>
      <p:sp>
        <p:nvSpPr>
          <p:cNvPr id="56" name="ANUARIO_CONTENIDO_1_0_8">
            <a:extLst xmlns:a="http://schemas.openxmlformats.org/drawingml/2006/main">
              <a:ext uri="{FF2B5EF4-FFF2-40B4-BE49-F238E27FC236}">
                <a16:creationId xmlns:a16="http://schemas.microsoft.com/office/drawing/2014/main" id="{5D97706D-91C9-4B05-8FCD-660E778A5D6D}"/>
              </a:ext>
            </a:extLst>
          </p:cNvPr>
          <p:cNvSpPr>
            <a:spLocks xmlns:a="http://schemas.openxmlformats.org/drawingml/2006/main" noGrp="1"/>
          </p:cNvSpPr>
          <p:nvPr/>
        </p:nvSpPr>
        <p:spPr>
          <a:xfrm xmlns:a="http://schemas.openxmlformats.org/drawingml/2006/main">
            <a:off x="4828032" y="1668272"/>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capítulo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específico,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aborden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religioso.</a:t>
            </a:r>
          </a:p>
        </p:txBody>
      </p:sp>
      <p:sp>
        <p:nvSpPr>
          <p:cNvPr id="57" name="ANUARIO_ANEXO_P124_DESIGN_2026">
            <a:extLst xmlns:a="http://schemas.openxmlformats.org/drawingml/2006/main">
              <a:ext uri="{FF2B5EF4-FFF2-40B4-BE49-F238E27FC236}">
                <a16:creationId xmlns:a16="http://schemas.microsoft.com/office/drawing/2014/main" id="{BD4FFAEA-81AD-4C9B-8570-440A40A0AD43}"/>
              </a:ext>
            </a:extLst>
          </p:cNvPr>
          <p:cNvSpPr>
            <a:spLocks xmlns:a="http://schemas.openxmlformats.org/drawingml/2006/main" noGrp="1"/>
          </p:cNvSpPr>
          <p:nvPr/>
        </p:nvSpPr>
        <p:spPr>
          <a:xfrm xmlns:a="http://schemas.openxmlformats.org/drawingml/2006/main">
            <a:off x="4663440" y="2032343"/>
            <a:ext cx="4178808" cy="2429929"/>
          </a:xfrm>
          <a:prstGeom xmlns:a="http://schemas.openxmlformats.org/drawingml/2006/main" prst="roundRect">
            <a:avLst>
              <a:gd name="adj" fmla="val 2258"/>
            </a:avLst>
          </a:prstGeom>
          <a:solidFill xmlns:a="http://schemas.openxmlformats.org/drawingml/2006/main">
            <a:srgbClr val="F6FAF9"/>
          </a:solidFill>
          <a:ln xmlns:a="http://schemas.openxmlformats.org/drawingml/2006/main" w="9525">
            <a:solidFill>
              <a:srgbClr val="C9DAD6"/>
            </a:solidFill>
          </a:ln>
        </p:spPr>
      </p:sp>
      <p:sp>
        <p:nvSpPr>
          <p:cNvPr id="58" name="ANUARIO_ACENTO">
            <a:extLst xmlns:a="http://schemas.openxmlformats.org/drawingml/2006/main">
              <a:ext uri="{FF2B5EF4-FFF2-40B4-BE49-F238E27FC236}">
                <a16:creationId xmlns:a16="http://schemas.microsoft.com/office/drawing/2014/main" id="{D701F3B3-AADA-4D46-B8B5-886EA406802A}"/>
              </a:ext>
            </a:extLst>
          </p:cNvPr>
          <p:cNvSpPr>
            <a:spLocks xmlns:a="http://schemas.openxmlformats.org/drawingml/2006/main" noGrp="1"/>
          </p:cNvSpPr>
          <p:nvPr/>
        </p:nvSpPr>
        <p:spPr>
          <a:xfrm xmlns:a="http://schemas.openxmlformats.org/drawingml/2006/main">
            <a:off x="4663440" y="2105495"/>
            <a:ext cx="64008" cy="2283625"/>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59" name="ANUARIO_LETRA_FONDO">
            <a:extLst xmlns:a="http://schemas.openxmlformats.org/drawingml/2006/main">
              <a:ext uri="{FF2B5EF4-FFF2-40B4-BE49-F238E27FC236}">
                <a16:creationId xmlns:a16="http://schemas.microsoft.com/office/drawing/2014/main" id="{BA43EEAC-A004-4224-A53D-AE5A88097F99}"/>
              </a:ext>
            </a:extLst>
          </p:cNvPr>
          <p:cNvSpPr>
            <a:spLocks xmlns:a="http://schemas.openxmlformats.org/drawingml/2006/main" noGrp="1"/>
          </p:cNvSpPr>
          <p:nvPr/>
        </p:nvSpPr>
        <p:spPr>
          <a:xfrm xmlns:a="http://schemas.openxmlformats.org/drawingml/2006/main">
            <a:off x="4828032" y="2105495"/>
            <a:ext cx="219456" cy="219456"/>
          </a:xfrm>
          <a:prstGeom xmlns:a="http://schemas.openxmlformats.org/drawingml/2006/main" prst="roundRect">
            <a:avLst>
              <a:gd name="adj" fmla="val 16667"/>
            </a:avLst>
          </a:prstGeom>
          <a:solidFill xmlns:a="http://schemas.openxmlformats.org/drawingml/2006/main">
            <a:srgbClr val="1A4043"/>
          </a:solidFill>
          <a:ln xmlns:a="http://schemas.openxmlformats.org/drawingml/2006/main" w="0">
            <a:noFill/>
          </a:ln>
        </p:spPr>
      </p:sp>
      <p:sp>
        <p:nvSpPr>
          <p:cNvPr id="60" name="ANUARIO_LETRA">
            <a:extLst xmlns:a="http://schemas.openxmlformats.org/drawingml/2006/main">
              <a:ext uri="{FF2B5EF4-FFF2-40B4-BE49-F238E27FC236}">
                <a16:creationId xmlns:a16="http://schemas.microsoft.com/office/drawing/2014/main" id="{328A74FE-3596-4BC4-837A-6965D35FF68B}"/>
              </a:ext>
            </a:extLst>
          </p:cNvPr>
          <p:cNvSpPr>
            <a:spLocks xmlns:a="http://schemas.openxmlformats.org/drawingml/2006/main" noGrp="1"/>
          </p:cNvSpPr>
          <p:nvPr/>
        </p:nvSpPr>
        <p:spPr>
          <a:xfrm xmlns:a="http://schemas.openxmlformats.org/drawingml/2006/main">
            <a:off x="4828032" y="2123783"/>
            <a:ext cx="219456"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FFFFFF"/>
                </a:solidFill>
                <a:latin typeface="DejaVu Sans"/>
                <a:ea typeface="DejaVu Sans"/>
                <a:cs typeface="DejaVu Sans"/>
              </a:defRPr>
            </a:pPr>
            <a:r>
              <a:rPr sz="900" b="1">
                <a:solidFill>
                  <a:srgbClr val="FFFFFF"/>
                </a:solidFill>
                <a:latin typeface="DejaVu Sans"/>
                <a:ea typeface="DejaVu Sans"/>
                <a:cs typeface="DejaVu Sans"/>
              </a:rPr>
              <a:t>S</a:t>
            </a:r>
          </a:p>
        </p:txBody>
      </p:sp>
      <p:sp>
        <p:nvSpPr>
          <p:cNvPr id="61" name="ANUARIO_CONTENIDO_1_1_0">
            <a:extLst xmlns:a="http://schemas.openxmlformats.org/drawingml/2006/main">
              <a:ext uri="{FF2B5EF4-FFF2-40B4-BE49-F238E27FC236}">
                <a16:creationId xmlns:a16="http://schemas.microsoft.com/office/drawing/2014/main" id="{6CA5197E-DE38-4575-8933-78392421EC32}"/>
              </a:ext>
            </a:extLst>
          </p:cNvPr>
          <p:cNvSpPr>
            <a:spLocks xmlns:a="http://schemas.openxmlformats.org/drawingml/2006/main" noGrp="1"/>
          </p:cNvSpPr>
          <p:nvPr/>
        </p:nvSpPr>
        <p:spPr>
          <a:xfrm xmlns:a="http://schemas.openxmlformats.org/drawingml/2006/main">
            <a:off x="4828032" y="234323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Formato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presentado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emisiones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sucesivas,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individualmente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mantienen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62" name="ANUARIO_CONTENIDO_1_1_1">
            <a:extLst xmlns:a="http://schemas.openxmlformats.org/drawingml/2006/main">
              <a:ext uri="{FF2B5EF4-FFF2-40B4-BE49-F238E27FC236}">
                <a16:creationId xmlns:a16="http://schemas.microsoft.com/office/drawing/2014/main" id="{69AD4FD0-A366-4021-810C-3C6898E6AE9A}"/>
              </a:ext>
            </a:extLst>
          </p:cNvPr>
          <p:cNvSpPr>
            <a:spLocks xmlns:a="http://schemas.openxmlformats.org/drawingml/2006/main" noGrp="1"/>
          </p:cNvSpPr>
          <p:nvPr/>
        </p:nvSpPr>
        <p:spPr>
          <a:xfrm xmlns:a="http://schemas.openxmlformats.org/drawingml/2006/main">
            <a:off x="4828032" y="243569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unidad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argumental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sí</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misma,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aunque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presentan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continuidad,</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menos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temática,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63" name="ANUARIO_CONTENIDO_1_1_2">
            <a:extLst xmlns:a="http://schemas.openxmlformats.org/drawingml/2006/main">
              <a:ext uri="{FF2B5EF4-FFF2-40B4-BE49-F238E27FC236}">
                <a16:creationId xmlns:a16="http://schemas.microsoft.com/office/drawing/2014/main" id="{7FBC00E3-8614-4961-A958-A1D784E559CA}"/>
              </a:ext>
            </a:extLst>
          </p:cNvPr>
          <p:cNvSpPr>
            <a:spLocks xmlns:a="http://schemas.openxmlformats.org/drawingml/2006/main" noGrp="1"/>
          </p:cNvSpPr>
          <p:nvPr/>
        </p:nvSpPr>
        <p:spPr>
          <a:xfrm xmlns:a="http://schemas.openxmlformats.org/drawingml/2006/main">
            <a:off x="4828032" y="252815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episodios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integran.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Incluye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diferentes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subgéneros,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ficción,</a:t>
            </a:r>
            <a:r>
              <a:rPr sz="650" b="0" i="0">
                <a:solidFill>
                  <a:srgbClr val="24383A"/>
                </a:solidFill>
                <a:latin typeface="DejaVu Sans"/>
                <a:ea typeface="DejaVu Sans"/>
                <a:cs typeface="DejaVu Sans"/>
              </a:rPr>
              <a:t> </a:t>
            </a:r>
          </a:p>
        </p:txBody>
      </p:sp>
      <p:sp>
        <p:nvSpPr>
          <p:cNvPr id="64" name="ANUARIO_CONTENIDO_1_1_3">
            <a:extLst xmlns:a="http://schemas.openxmlformats.org/drawingml/2006/main">
              <a:ext uri="{FF2B5EF4-FFF2-40B4-BE49-F238E27FC236}">
                <a16:creationId xmlns:a16="http://schemas.microsoft.com/office/drawing/2014/main" id="{96FD1059-6954-4771-B474-EB1BAB2A95BF}"/>
              </a:ext>
            </a:extLst>
          </p:cNvPr>
          <p:cNvSpPr>
            <a:spLocks xmlns:a="http://schemas.openxmlformats.org/drawingml/2006/main" noGrp="1"/>
          </p:cNvSpPr>
          <p:nvPr/>
        </p:nvSpPr>
        <p:spPr>
          <a:xfrm xmlns:a="http://schemas.openxmlformats.org/drawingml/2006/main">
            <a:off x="4828032" y="262060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suspenso,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comedia,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etcétera.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Bajo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género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pueden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encontrar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tanto</a:t>
            </a:r>
            <a:r>
              <a:rPr sz="650" b="0" i="0">
                <a:solidFill>
                  <a:srgbClr val="24383A"/>
                </a:solidFill>
                <a:latin typeface="DejaVu Sans"/>
                <a:ea typeface="DejaVu Sans"/>
                <a:cs typeface="DejaVu Sans"/>
              </a:rPr>
              <a:t> </a:t>
            </a:r>
          </a:p>
        </p:txBody>
      </p:sp>
      <p:sp>
        <p:nvSpPr>
          <p:cNvPr id="65" name="ANUARIO_CONTENIDO_1_1_4">
            <a:extLst xmlns:a="http://schemas.openxmlformats.org/drawingml/2006/main">
              <a:ext uri="{FF2B5EF4-FFF2-40B4-BE49-F238E27FC236}">
                <a16:creationId xmlns:a16="http://schemas.microsoft.com/office/drawing/2014/main" id="{C2406386-076D-418D-A2D2-E9BA02F7A43D}"/>
              </a:ext>
            </a:extLst>
          </p:cNvPr>
          <p:cNvSpPr>
            <a:spLocks xmlns:a="http://schemas.openxmlformats.org/drawingml/2006/main" noGrp="1"/>
          </p:cNvSpPr>
          <p:nvPr/>
        </p:nvSpPr>
        <p:spPr>
          <a:xfrm xmlns:a="http://schemas.openxmlformats.org/drawingml/2006/main">
            <a:off x="4828032" y="271306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producciones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nacionales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extranjeras.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miniseries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también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agrupan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p>
        </p:txBody>
      </p:sp>
      <p:sp>
        <p:nvSpPr>
          <p:cNvPr id="66" name="ANUARIO_CONTENIDO_1_1_5">
            <a:extLst xmlns:a="http://schemas.openxmlformats.org/drawingml/2006/main">
              <a:ext uri="{FF2B5EF4-FFF2-40B4-BE49-F238E27FC236}">
                <a16:creationId xmlns:a16="http://schemas.microsoft.com/office/drawing/2014/main" id="{46F8C4A1-9EA2-4751-9F7C-8B3A605C8123}"/>
              </a:ext>
            </a:extLst>
          </p:cNvPr>
          <p:cNvSpPr>
            <a:spLocks xmlns:a="http://schemas.openxmlformats.org/drawingml/2006/main" noGrp="1"/>
          </p:cNvSpPr>
          <p:nvPr/>
        </p:nvSpPr>
        <p:spPr>
          <a:xfrm xmlns:a="http://schemas.openxmlformats.org/drawingml/2006/main">
            <a:off x="4828032" y="280551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formato.</a:t>
            </a:r>
          </a:p>
        </p:txBody>
      </p:sp>
      <p:sp>
        <p:nvSpPr>
          <p:cNvPr id="67" name="ANUARIO_CONTENIDO_1_1_6">
            <a:extLst xmlns:a="http://schemas.openxmlformats.org/drawingml/2006/main">
              <a:ext uri="{FF2B5EF4-FFF2-40B4-BE49-F238E27FC236}">
                <a16:creationId xmlns:a16="http://schemas.microsoft.com/office/drawing/2014/main" id="{990FEF35-CC4E-4E13-9DDD-E630E77BBEE5}"/>
              </a:ext>
            </a:extLst>
          </p:cNvPr>
          <p:cNvSpPr>
            <a:spLocks xmlns:a="http://schemas.openxmlformats.org/drawingml/2006/main" noGrp="1"/>
          </p:cNvSpPr>
          <p:nvPr/>
        </p:nvSpPr>
        <p:spPr>
          <a:xfrm xmlns:a="http://schemas.openxmlformats.org/drawingml/2006/main">
            <a:off x="4828032" y="292337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televisión</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restringida: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audio</a:t>
            </a:r>
            <a:r>
              <a:rPr sz="650" b="0" i="0">
                <a:solidFill>
                  <a:srgbClr val="24383A"/>
                </a:solidFill>
                <a:latin typeface="DejaVu Sans"/>
                <a:ea typeface="DejaVu Sans"/>
                <a:cs typeface="DejaVu Sans"/>
              </a:rPr>
              <a:t> </a:t>
            </a:r>
          </a:p>
        </p:txBody>
      </p:sp>
      <p:sp>
        <p:nvSpPr>
          <p:cNvPr id="68" name="ANUARIO_CONTENIDO_1_1_7">
            <a:extLst xmlns:a="http://schemas.openxmlformats.org/drawingml/2006/main">
              <a:ext uri="{FF2B5EF4-FFF2-40B4-BE49-F238E27FC236}">
                <a16:creationId xmlns:a16="http://schemas.microsoft.com/office/drawing/2014/main" id="{CEBF3E02-4D07-45B9-9A87-1F3913C5B297}"/>
              </a:ext>
            </a:extLst>
          </p:cNvPr>
          <p:cNvSpPr>
            <a:spLocks xmlns:a="http://schemas.openxmlformats.org/drawingml/2006/main" noGrp="1"/>
          </p:cNvSpPr>
          <p:nvPr/>
        </p:nvSpPr>
        <p:spPr>
          <a:xfrm xmlns:a="http://schemas.openxmlformats.org/drawingml/2006/main">
            <a:off x="4828032" y="301583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video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asociados,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suscriptores,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redes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públicas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69" name="ANUARIO_CONTENIDO_1_1_8">
            <a:extLst xmlns:a="http://schemas.openxmlformats.org/drawingml/2006/main">
              <a:ext uri="{FF2B5EF4-FFF2-40B4-BE49-F238E27FC236}">
                <a16:creationId xmlns:a16="http://schemas.microsoft.com/office/drawing/2014/main" id="{8CC4186C-2C71-4673-9A36-21816FF73693}"/>
              </a:ext>
            </a:extLst>
          </p:cNvPr>
          <p:cNvSpPr>
            <a:spLocks xmlns:a="http://schemas.openxmlformats.org/drawingml/2006/main" noGrp="1"/>
          </p:cNvSpPr>
          <p:nvPr/>
        </p:nvSpPr>
        <p:spPr>
          <a:xfrm xmlns:a="http://schemas.openxmlformats.org/drawingml/2006/main">
            <a:off x="4828032" y="310828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telecomunicaciones,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contrato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pago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periódico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cantidad</a:t>
            </a:r>
            <a:r>
              <a:rPr sz="650" b="0" i="0">
                <a:solidFill>
                  <a:srgbClr val="24383A"/>
                </a:solidFill>
                <a:latin typeface="DejaVu Sans"/>
                <a:ea typeface="DejaVu Sans"/>
                <a:cs typeface="DejaVu Sans"/>
              </a:rPr>
              <a:t> </a:t>
            </a:r>
          </a:p>
        </p:txBody>
      </p:sp>
      <p:sp>
        <p:nvSpPr>
          <p:cNvPr id="70" name="ANUARIO_CONTENIDO_1_1_9">
            <a:extLst xmlns:a="http://schemas.openxmlformats.org/drawingml/2006/main">
              <a:ext uri="{FF2B5EF4-FFF2-40B4-BE49-F238E27FC236}">
                <a16:creationId xmlns:a16="http://schemas.microsoft.com/office/drawing/2014/main" id="{E22406CD-56A2-4BB6-A8CC-3269E5CFE645}"/>
              </a:ext>
            </a:extLst>
          </p:cNvPr>
          <p:cNvSpPr>
            <a:spLocks xmlns:a="http://schemas.openxmlformats.org/drawingml/2006/main" noGrp="1"/>
          </p:cNvSpPr>
          <p:nvPr/>
        </p:nvSpPr>
        <p:spPr>
          <a:xfrm xmlns:a="http://schemas.openxmlformats.org/drawingml/2006/main">
            <a:off x="4828032" y="320074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preestablecida.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accesos.</a:t>
            </a:r>
          </a:p>
        </p:txBody>
      </p:sp>
      <p:sp>
        <p:nvSpPr>
          <p:cNvPr id="71" name="ANUARIO_CONTENIDO_1_1_10">
            <a:extLst xmlns:a="http://schemas.openxmlformats.org/drawingml/2006/main">
              <a:ext uri="{FF2B5EF4-FFF2-40B4-BE49-F238E27FC236}">
                <a16:creationId xmlns:a16="http://schemas.microsoft.com/office/drawing/2014/main" id="{281C03F5-1222-4972-965C-22B10D24DC82}"/>
              </a:ext>
            </a:extLst>
          </p:cNvPr>
          <p:cNvSpPr>
            <a:spLocks xmlns:a="http://schemas.openxmlformats.org/drawingml/2006/main" noGrp="1"/>
          </p:cNvSpPr>
          <p:nvPr/>
        </p:nvSpPr>
        <p:spPr>
          <a:xfrm xmlns:a="http://schemas.openxmlformats.org/drawingml/2006/main">
            <a:off x="4828032" y="331859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acceso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a</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Internet:</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p>
        </p:txBody>
      </p:sp>
      <p:sp>
        <p:nvSpPr>
          <p:cNvPr id="72" name="ANUARIO_CONTENIDO_1_1_11">
            <a:extLst xmlns:a="http://schemas.openxmlformats.org/drawingml/2006/main">
              <a:ext uri="{FF2B5EF4-FFF2-40B4-BE49-F238E27FC236}">
                <a16:creationId xmlns:a16="http://schemas.microsoft.com/office/drawing/2014/main" id="{E0FBB3B9-6865-4878-A1DA-0A2FA9B7663B}"/>
              </a:ext>
            </a:extLst>
          </p:cNvPr>
          <p:cNvSpPr>
            <a:spLocks xmlns:a="http://schemas.openxmlformats.org/drawingml/2006/main" noGrp="1"/>
          </p:cNvSpPr>
          <p:nvPr/>
        </p:nvSpPr>
        <p:spPr>
          <a:xfrm xmlns:a="http://schemas.openxmlformats.org/drawingml/2006/main">
            <a:off x="4828032" y="341105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transferencia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datos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p>
        </p:txBody>
      </p:sp>
      <p:sp>
        <p:nvSpPr>
          <p:cNvPr id="73" name="ANUARIO_CONTENIDO_1_1_12">
            <a:extLst xmlns:a="http://schemas.openxmlformats.org/drawingml/2006/main">
              <a:ext uri="{FF2B5EF4-FFF2-40B4-BE49-F238E27FC236}">
                <a16:creationId xmlns:a16="http://schemas.microsoft.com/office/drawing/2014/main" id="{1E168B36-6B22-414D-943F-356E91F124C7}"/>
              </a:ext>
            </a:extLst>
          </p:cNvPr>
          <p:cNvSpPr>
            <a:spLocks xmlns:a="http://schemas.openxmlformats.org/drawingml/2006/main" noGrp="1"/>
          </p:cNvSpPr>
          <p:nvPr/>
        </p:nvSpPr>
        <p:spPr>
          <a:xfrm xmlns:a="http://schemas.openxmlformats.org/drawingml/2006/main">
            <a:off x="4828032" y="350351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número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p>
        </p:txBody>
      </p:sp>
      <p:sp>
        <p:nvSpPr>
          <p:cNvPr id="74" name="ANUARIO_CONTENIDO_1_1_13">
            <a:extLst xmlns:a="http://schemas.openxmlformats.org/drawingml/2006/main">
              <a:ext uri="{FF2B5EF4-FFF2-40B4-BE49-F238E27FC236}">
                <a16:creationId xmlns:a16="http://schemas.microsoft.com/office/drawing/2014/main" id="{458F1169-111B-45C9-890D-839E8FBDC128}"/>
              </a:ext>
            </a:extLst>
          </p:cNvPr>
          <p:cNvSpPr>
            <a:spLocks xmlns:a="http://schemas.openxmlformats.org/drawingml/2006/main" noGrp="1"/>
          </p:cNvSpPr>
          <p:nvPr/>
        </p:nvSpPr>
        <p:spPr>
          <a:xfrm xmlns:a="http://schemas.openxmlformats.org/drawingml/2006/main">
            <a:off x="4828032" y="359596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accesos.</a:t>
            </a:r>
          </a:p>
        </p:txBody>
      </p:sp>
      <p:sp>
        <p:nvSpPr>
          <p:cNvPr id="75" name="ANUARIO_CONTENIDO_1_1_14">
            <a:extLst xmlns:a="http://schemas.openxmlformats.org/drawingml/2006/main">
              <a:ext uri="{FF2B5EF4-FFF2-40B4-BE49-F238E27FC236}">
                <a16:creationId xmlns:a16="http://schemas.microsoft.com/office/drawing/2014/main" id="{0CE38284-9FEC-43FD-A990-5D77C7CA85E2}"/>
              </a:ext>
            </a:extLst>
          </p:cNvPr>
          <p:cNvSpPr>
            <a:spLocks xmlns:a="http://schemas.openxmlformats.org/drawingml/2006/main" noGrp="1"/>
          </p:cNvSpPr>
          <p:nvPr/>
        </p:nvSpPr>
        <p:spPr>
          <a:xfrm xmlns:a="http://schemas.openxmlformats.org/drawingml/2006/main">
            <a:off x="4828032" y="371382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1" i="0">
                <a:solidFill>
                  <a:srgbClr val="2F7F6F"/>
                </a:solidFill>
                <a:latin typeface="DejaVu Sans"/>
                <a:ea typeface="DejaVu Sans"/>
                <a:cs typeface="DejaVu Sans"/>
              </a:rPr>
              <a:t>Servicio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fijo</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de</a:t>
            </a:r>
            <a:r>
              <a:rPr sz="650" b="1" i="0">
                <a:solidFill>
                  <a:srgbClr val="2F7F6F"/>
                </a:solidFill>
                <a:latin typeface="DejaVu Sans"/>
                <a:ea typeface="DejaVu Sans"/>
                <a:cs typeface="DejaVu Sans"/>
              </a:rPr>
              <a:t> </a:t>
            </a:r>
            <a:r>
              <a:rPr sz="650" b="1" i="0">
                <a:solidFill>
                  <a:srgbClr val="2F7F6F"/>
                </a:solidFill>
                <a:latin typeface="DejaVu Sans"/>
                <a:ea typeface="DejaVu Sans"/>
                <a:cs typeface="DejaVu Sans"/>
              </a:rPr>
              <a:t>telefonía: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Mediante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operador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provee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por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p>
        </p:txBody>
      </p:sp>
      <p:sp>
        <p:nvSpPr>
          <p:cNvPr id="76" name="ANUARIO_CONTENIDO_1_1_15">
            <a:extLst xmlns:a="http://schemas.openxmlformats.org/drawingml/2006/main">
              <a:ext uri="{FF2B5EF4-FFF2-40B4-BE49-F238E27FC236}">
                <a16:creationId xmlns:a16="http://schemas.microsoft.com/office/drawing/2014/main" id="{E6C38890-2A30-43FE-8E47-599DFD83F8C6}"/>
              </a:ext>
            </a:extLst>
          </p:cNvPr>
          <p:cNvSpPr>
            <a:spLocks xmlns:a="http://schemas.openxmlformats.org/drawingml/2006/main" noGrp="1"/>
          </p:cNvSpPr>
          <p:nvPr/>
        </p:nvSpPr>
        <p:spPr>
          <a:xfrm xmlns:a="http://schemas.openxmlformats.org/drawingml/2006/main">
            <a:off x="4828032" y="3806279"/>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cual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presta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transporte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voz,</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través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equipos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terminales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que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tienen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p>
        </p:txBody>
      </p:sp>
      <p:sp>
        <p:nvSpPr>
          <p:cNvPr id="77" name="ANUARIO_CONTENIDO_1_1_16">
            <a:extLst xmlns:a="http://schemas.openxmlformats.org/drawingml/2006/main">
              <a:ext uri="{FF2B5EF4-FFF2-40B4-BE49-F238E27FC236}">
                <a16:creationId xmlns:a16="http://schemas.microsoft.com/office/drawing/2014/main" id="{C6C4615D-A1C3-480F-A8B2-4521DE36AACD}"/>
              </a:ext>
            </a:extLst>
          </p:cNvPr>
          <p:cNvSpPr>
            <a:spLocks xmlns:a="http://schemas.openxmlformats.org/drawingml/2006/main" noGrp="1"/>
          </p:cNvSpPr>
          <p:nvPr/>
        </p:nvSpPr>
        <p:spPr>
          <a:xfrm xmlns:a="http://schemas.openxmlformats.org/drawingml/2006/main">
            <a:off x="4828032" y="3898735"/>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ubicación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geográfica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determinada.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permite,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además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efectuar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recibir</a:t>
            </a:r>
            <a:r>
              <a:rPr sz="650" b="0" i="0">
                <a:solidFill>
                  <a:srgbClr val="24383A"/>
                </a:solidFill>
                <a:latin typeface="DejaVu Sans"/>
                <a:ea typeface="DejaVu Sans"/>
                <a:cs typeface="DejaVu Sans"/>
              </a:rPr>
              <a:t> </a:t>
            </a:r>
          </a:p>
        </p:txBody>
      </p:sp>
      <p:sp>
        <p:nvSpPr>
          <p:cNvPr id="78" name="ANUARIO_CONTENIDO_1_1_17">
            <a:extLst xmlns:a="http://schemas.openxmlformats.org/drawingml/2006/main">
              <a:ext uri="{FF2B5EF4-FFF2-40B4-BE49-F238E27FC236}">
                <a16:creationId xmlns:a16="http://schemas.microsoft.com/office/drawing/2014/main" id="{59F7E41B-03CB-49E6-8359-28F71420FB2B}"/>
              </a:ext>
            </a:extLst>
          </p:cNvPr>
          <p:cNvSpPr>
            <a:spLocks xmlns:a="http://schemas.openxmlformats.org/drawingml/2006/main" noGrp="1"/>
          </p:cNvSpPr>
          <p:nvPr/>
        </p:nvSpPr>
        <p:spPr>
          <a:xfrm xmlns:a="http://schemas.openxmlformats.org/drawingml/2006/main">
            <a:off x="4828032" y="3991191"/>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llamadas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locales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y/o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larga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distancia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internacional,</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hacer</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una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serie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p>
        </p:txBody>
      </p:sp>
      <p:sp>
        <p:nvSpPr>
          <p:cNvPr id="79" name="ANUARIO_CONTENIDO_1_1_18">
            <a:extLst xmlns:a="http://schemas.openxmlformats.org/drawingml/2006/main">
              <a:ext uri="{FF2B5EF4-FFF2-40B4-BE49-F238E27FC236}">
                <a16:creationId xmlns:a16="http://schemas.microsoft.com/office/drawing/2014/main" id="{056E9437-3E7E-448A-AFE8-DF7DEEC5AB2F}"/>
              </a:ext>
            </a:extLst>
          </p:cNvPr>
          <p:cNvSpPr>
            <a:spLocks xmlns:a="http://schemas.openxmlformats.org/drawingml/2006/main" noGrp="1"/>
          </p:cNvSpPr>
          <p:nvPr/>
        </p:nvSpPr>
        <p:spPr>
          <a:xfrm xmlns:a="http://schemas.openxmlformats.org/drawingml/2006/main">
            <a:off x="4828032" y="4083647"/>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adicionales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tales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como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acceso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emergencia</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suplementarios,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entre</a:t>
            </a:r>
            <a:r>
              <a:rPr sz="650" b="0" i="0">
                <a:solidFill>
                  <a:srgbClr val="24383A"/>
                </a:solidFill>
                <a:latin typeface="DejaVu Sans"/>
                <a:ea typeface="DejaVu Sans"/>
                <a:cs typeface="DejaVu Sans"/>
              </a:rPr>
              <a:t> </a:t>
            </a:r>
          </a:p>
        </p:txBody>
      </p:sp>
      <p:sp>
        <p:nvSpPr>
          <p:cNvPr id="80" name="ANUARIO_CONTENIDO_1_1_19">
            <a:extLst xmlns:a="http://schemas.openxmlformats.org/drawingml/2006/main">
              <a:ext uri="{FF2B5EF4-FFF2-40B4-BE49-F238E27FC236}">
                <a16:creationId xmlns:a16="http://schemas.microsoft.com/office/drawing/2014/main" id="{212F42D6-4EFA-4C25-AFDB-7C7AC7F7D368}"/>
              </a:ext>
            </a:extLst>
          </p:cNvPr>
          <p:cNvSpPr>
            <a:spLocks xmlns:a="http://schemas.openxmlformats.org/drawingml/2006/main" noGrp="1"/>
          </p:cNvSpPr>
          <p:nvPr/>
        </p:nvSpPr>
        <p:spPr>
          <a:xfrm xmlns:a="http://schemas.openxmlformats.org/drawingml/2006/main">
            <a:off x="4828032" y="4176103"/>
            <a:ext cx="3794760" cy="10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0" b="0">
                <a:solidFill>
                  <a:srgbClr val="24383A"/>
                </a:solidFill>
                <a:latin typeface="DejaVu Sans"/>
                <a:ea typeface="DejaVu Sans"/>
                <a:cs typeface="DejaVu Sans"/>
              </a:defRPr>
            </a:pPr>
            <a:r>
              <a:rPr sz="650" b="0" i="0">
                <a:solidFill>
                  <a:srgbClr val="24383A"/>
                </a:solidFill>
                <a:latin typeface="DejaVu Sans"/>
                <a:ea typeface="DejaVu Sans"/>
                <a:cs typeface="DejaVu Sans"/>
              </a:rPr>
              <a:t>otros.</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Este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servicio</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se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mide</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en</a:t>
            </a:r>
            <a:r>
              <a:rPr sz="650" b="0" i="0">
                <a:solidFill>
                  <a:srgbClr val="24383A"/>
                </a:solidFill>
                <a:latin typeface="DejaVu Sans"/>
                <a:ea typeface="DejaVu Sans"/>
                <a:cs typeface="DejaVu Sans"/>
              </a:rPr>
              <a:t> </a:t>
            </a:r>
            <a:r>
              <a:rPr sz="650" b="0" i="0">
                <a:solidFill>
                  <a:srgbClr val="24383A"/>
                </a:solidFill>
                <a:latin typeface="DejaVu Sans"/>
                <a:ea typeface="DejaVu Sans"/>
                <a:cs typeface="DejaVu Sans"/>
              </a:rPr>
              <a:t>líneas.</a:t>
            </a:r>
          </a:p>
        </p:txBody>
      </p:sp>
    </p:spTree>
    <p:extLst>
      <p:ext uri="{BB962C8B-B14F-4D97-AF65-F5344CB8AC3E}">
        <p14:creationId xmlns:p14="http://schemas.microsoft.com/office/powerpoint/2010/main" val="526979659"/>
      </p:ext>
    </p:extLst>
  </p:cSld>
</p:sld>
</file>

<file path=ppt/slides/slide125.xml><?xml version="1.0" encoding="utf-8"?>
<p:sld xmlns:a="http://schemas.openxmlformats.org/drawingml/2006/main" xmlns:r="http://schemas.openxmlformats.org/officeDocument/2006/relationships" xmlns:p="http://schemas.openxmlformats.org/presentationml/2006/main">
  <p:cSld name="Slide 1">
    <p:bg>
      <p:bgPr>
        <a:solidFill>
          <a:srgbClr val="E8F0EE"/>
        </a:solidFill>
      </p:bgPr>
    </p:bg>
    <p:spTree>
      <p:nvGrpSpPr>
        <p:cNvPr id="1" name=""/>
        <p:cNvGrpSpPr/>
        <p:nvPr/>
      </p:nvGrpSpPr>
      <p:grpSpPr>
        <a:xfrm>
          <a:off x="0" y="0"/>
          <a:ext cx="0" cy="0"/>
          <a:chOff x="0" y="0"/>
          <a:chExt cx="0" cy="0"/>
        </a:xfrm>
      </p:grpSpPr>
      <p:sp>
        <p:nvSpPr>
          <p:cNvPr id="2" name="ANUARIO_ANEXO_II_STU_DESIGN_2026"/>
          <p:cNvSpPr/>
          <p:nvPr/>
        </p:nvSpPr>
        <p:spPr>
          <a:xfrm>
            <a:off x="0" y="0"/>
            <a:ext cx="9144000" cy="457200"/>
          </a:xfrm>
          <a:prstGeom prst="rect">
            <a:avLst/>
          </a:prstGeom>
          <a:solidFill>
            <a:srgbClr val="13393A"/>
          </a:solidFill>
          <a:ln w="12700">
            <a:solidFill>
              <a:srgbClr val="13393A"/>
            </a:solidFill>
            <a:prstDash val="solid"/>
          </a:ln>
        </p:spPr>
      </p:sp>
      <p:sp>
        <p:nvSpPr>
          <p:cNvPr id="3" name="Text 1"/>
          <p:cNvSpPr txBox="1"/>
          <p:nvPr/>
        </p:nvSpPr>
        <p:spPr>
          <a:xfrm>
            <a:off x="301752" y="64008"/>
            <a:ext cx="4572000" cy="329184"/>
          </a:xfrm>
          <a:prstGeom prst="rect">
            <a:avLst/>
          </a:prstGeom>
          <a:noFill/>
          <a:ln/>
        </p:spPr>
        <p:txBody>
          <a:bodyPr wrap="square" lIns="0" tIns="0" rIns="0" bIns="0" rtlCol="0" anchor="ctr"/>
          <a:lstStyle/>
          <a:p>
            <a:pPr indent="0" marL="0">
              <a:buNone/>
            </a:pPr>
            <a:r>
              <a:rPr lang="en-US" sz="1700" b="1" dirty="0">
                <a:solidFill>
                  <a:srgbClr val="FFFFFF"/>
                </a:solidFill>
                <a:latin typeface="DejaVu Sans" pitchFamily="34" charset="0"/>
                <a:ea typeface="DejaVu Sans" pitchFamily="34" charset="-122"/>
                <a:cs typeface="DejaVu Sans" pitchFamily="34" charset="-120"/>
              </a:rPr>
              <a:t>ANEXO II. DEFINICIONES</a:t>
            </a:r>
            <a:endParaRPr lang="en-US" sz="1700" dirty="0"/>
          </a:p>
        </p:txBody>
      </p:sp>
      <p:sp>
        <p:nvSpPr>
          <p:cNvPr id="4" name="Text 2"/>
          <p:cNvSpPr txBox="1"/>
          <p:nvPr/>
        </p:nvSpPr>
        <p:spPr>
          <a:xfrm>
            <a:off x="4846320" y="64008"/>
            <a:ext cx="2743200" cy="329184"/>
          </a:xfrm>
          <a:prstGeom prst="rect">
            <a:avLst/>
          </a:prstGeom>
          <a:noFill/>
          <a:ln/>
        </p:spPr>
        <p:txBody>
          <a:bodyPr wrap="square" lIns="0" tIns="0" rIns="0" bIns="0" rtlCol="0" anchor="ctr"/>
          <a:lstStyle/>
          <a:p>
            <a:pPr algn="r" indent="0" marL="0">
              <a:buNone/>
            </a:pPr>
            <a:r>
              <a:rPr lang="en-US" sz="650" dirty="0">
                <a:solidFill>
                  <a:srgbClr val="D5E4E1"/>
                </a:solidFill>
                <a:latin typeface="DejaVu Sans" pitchFamily="34" charset="0"/>
                <a:ea typeface="DejaVu Sans" pitchFamily="34" charset="-122"/>
                <a:cs typeface="DejaVu Sans" pitchFamily="34" charset="-120"/>
              </a:rPr>
              <a:t>Para consultar información con mayor desagregación, visita
</a:t>
            </a:r>
            <a:pPr algn="r" indent="0" marL="0">
              <a:buNone/>
            </a:pPr>
            <a:r>
              <a:rPr lang="en-US" sz="750" b="1" dirty="0">
                <a:solidFill>
                  <a:srgbClr val="FFFFFF"/>
                </a:solidFill>
                <a:latin typeface="DejaVu Sans" pitchFamily="34" charset="0"/>
                <a:ea typeface="DejaVu Sans" pitchFamily="34" charset="-122"/>
                <a:cs typeface="DejaVu Sans" pitchFamily="34" charset="-120"/>
              </a:rPr>
              <a:t>BIT CRT · bit.crt.gob.mx/BitWebApp</a:t>
            </a:r>
            <a:endParaRPr lang="en-US" sz="650" dirty="0"/>
          </a:p>
        </p:txBody>
      </p:sp>
      <p:sp>
        <p:nvSpPr>
          <p:cNvPr id="5" name="Shape 3"/>
          <p:cNvSpPr/>
          <p:nvPr/>
        </p:nvSpPr>
        <p:spPr>
          <a:xfrm>
            <a:off x="7680960" y="45720"/>
            <a:ext cx="365760" cy="365760"/>
          </a:xfrm>
          <a:prstGeom prst="roundRect">
            <a:avLst>
              <a:gd name="adj" fmla="val 10000"/>
            </a:avLst>
          </a:prstGeom>
          <a:solidFill>
            <a:srgbClr val="FFFFFF"/>
          </a:solidFill>
          <a:ln w="12700">
            <a:solidFill>
              <a:srgbClr val="FFFFFF"/>
            </a:solidFill>
            <a:prstDash val="solid"/>
          </a:ln>
        </p:spPr>
      </p:sp>
      <p:sp>
        <p:nvSpPr>
          <p:cNvPr id="6" name="Text 4"/>
          <p:cNvSpPr txBox="1"/>
          <p:nvPr/>
        </p:nvSpPr>
        <p:spPr>
          <a:xfrm>
            <a:off x="8138160" y="64008"/>
            <a:ext cx="731520" cy="329184"/>
          </a:xfrm>
          <a:prstGeom prst="rect">
            <a:avLst/>
          </a:prstGeom>
          <a:noFill/>
          <a:ln/>
        </p:spPr>
        <p:txBody>
          <a:bodyPr wrap="square" lIns="0" tIns="0" rIns="0" bIns="0" rtlCol="0" anchor="ctr"/>
          <a:lstStyle/>
          <a:p>
            <a:pPr algn="r" indent="0" marL="0">
              <a:buNone/>
            </a:pPr>
            <a:r>
              <a:rPr lang="en-US" sz="1500" b="1" dirty="0">
                <a:solidFill>
                  <a:srgbClr val="FFFFFF"/>
                </a:solidFill>
                <a:latin typeface="DejaVu Sans" pitchFamily="34" charset="0"/>
                <a:ea typeface="DejaVu Sans" pitchFamily="34" charset="-122"/>
                <a:cs typeface="DejaVu Sans" pitchFamily="34" charset="-120"/>
              </a:rPr>
              <a:t>CRT</a:t>
            </a:r>
            <a:endParaRPr lang="en-US" sz="1500" dirty="0"/>
          </a:p>
        </p:txBody>
      </p:sp>
      <p:sp>
        <p:nvSpPr>
          <p:cNvPr id="7" name="Shape 5"/>
          <p:cNvSpPr/>
          <p:nvPr/>
        </p:nvSpPr>
        <p:spPr>
          <a:xfrm>
            <a:off x="0" y="4937760"/>
            <a:ext cx="9144000" cy="205740"/>
          </a:xfrm>
          <a:prstGeom prst="rect">
            <a:avLst/>
          </a:prstGeom>
          <a:solidFill>
            <a:srgbClr val="1A4043"/>
          </a:solidFill>
          <a:ln w="12700">
            <a:solidFill>
              <a:srgbClr val="1A4043"/>
            </a:solidFill>
            <a:prstDash val="solid"/>
          </a:ln>
        </p:spPr>
      </p:sp>
      <p:sp>
        <p:nvSpPr>
          <p:cNvPr id="8" name="Text 6"/>
          <p:cNvSpPr txBox="1"/>
          <p:nvPr/>
        </p:nvSpPr>
        <p:spPr>
          <a:xfrm>
            <a:off x="301752" y="4937760"/>
            <a:ext cx="731520" cy="205740"/>
          </a:xfrm>
          <a:prstGeom prst="rect">
            <a:avLst/>
          </a:prstGeom>
          <a:noFill/>
          <a:ln/>
        </p:spPr>
        <p:txBody>
          <a:bodyPr wrap="square" lIns="0" tIns="0" rIns="0" bIns="0" rtlCol="0" anchor="ctr"/>
          <a:lstStyle/>
          <a:p>
            <a:pPr indent="0" marL="0">
              <a:buNone/>
            </a:pPr>
            <a:r>
              <a:rPr lang="en-US" sz="700" b="1" dirty="0">
                <a:solidFill>
                  <a:srgbClr val="FFFFFF"/>
                </a:solidFill>
                <a:latin typeface="DejaVu Sans" pitchFamily="34" charset="0"/>
                <a:ea typeface="DejaVu Sans" pitchFamily="34" charset="-122"/>
                <a:cs typeface="DejaVu Sans" pitchFamily="34" charset="-120"/>
              </a:rPr>
              <a:t>125</a:t>
            </a:r>
            <a:endParaRPr lang="en-US" sz="700" dirty="0"/>
          </a:p>
        </p:txBody>
      </p:sp>
      <p:sp>
        <p:nvSpPr>
          <p:cNvPr id="9" name="Text 7"/>
          <p:cNvSpPr txBox="1"/>
          <p:nvPr/>
        </p:nvSpPr>
        <p:spPr>
          <a:xfrm>
            <a:off x="5029200" y="4937760"/>
            <a:ext cx="3813048" cy="205740"/>
          </a:xfrm>
          <a:prstGeom prst="rect">
            <a:avLst/>
          </a:prstGeom>
          <a:noFill/>
          <a:ln/>
        </p:spPr>
        <p:txBody>
          <a:bodyPr wrap="square" lIns="0" tIns="0" rIns="0" bIns="0" rtlCol="0" anchor="ctr"/>
          <a:lstStyle/>
          <a:p>
            <a:pPr algn="r" indent="0" marL="0">
              <a:buNone/>
            </a:pPr>
            <a:r>
              <a:rPr lang="en-US" sz="600" dirty="0">
                <a:solidFill>
                  <a:srgbClr val="D5E4E1"/>
                </a:solidFill>
                <a:latin typeface="DejaVu Sans" pitchFamily="34" charset="0"/>
                <a:ea typeface="DejaVu Sans" pitchFamily="34" charset="-122"/>
                <a:cs typeface="DejaVu Sans" pitchFamily="34" charset="-120"/>
              </a:rPr>
              <a:t>A N U A R I O   E S T A D Í S T I C O   2 0 2 6</a:t>
            </a:r>
            <a:endParaRPr lang="en-US" sz="600" dirty="0"/>
          </a:p>
        </p:txBody>
      </p:sp>
      <p:sp>
        <p:nvSpPr>
          <p:cNvPr id="10" name="Shape 8"/>
          <p:cNvSpPr/>
          <p:nvPr/>
        </p:nvSpPr>
        <p:spPr>
          <a:xfrm>
            <a:off x="301752" y="566928"/>
            <a:ext cx="4178808" cy="1920240"/>
          </a:xfrm>
          <a:prstGeom prst="roundRect">
            <a:avLst>
              <a:gd name="adj" fmla="val 2857"/>
            </a:avLst>
          </a:prstGeom>
          <a:solidFill>
            <a:srgbClr val="F6FAF9"/>
          </a:solidFill>
          <a:ln w="9525">
            <a:solidFill>
              <a:srgbClr val="C9DAD6"/>
            </a:solidFill>
            <a:prstDash val="solid"/>
          </a:ln>
        </p:spPr>
      </p:sp>
      <p:sp>
        <p:nvSpPr>
          <p:cNvPr id="11" name="Shape 9"/>
          <p:cNvSpPr/>
          <p:nvPr/>
        </p:nvSpPr>
        <p:spPr>
          <a:xfrm>
            <a:off x="301752" y="640080"/>
            <a:ext cx="64008" cy="1773936"/>
          </a:xfrm>
          <a:prstGeom prst="rect">
            <a:avLst/>
          </a:prstGeom>
          <a:solidFill>
            <a:srgbClr val="2F7F6F"/>
          </a:solidFill>
          <a:ln w="12700">
            <a:solidFill>
              <a:srgbClr val="2F7F6F"/>
            </a:solidFill>
            <a:prstDash val="solid"/>
          </a:ln>
        </p:spPr>
      </p:sp>
      <p:sp>
        <p:nvSpPr>
          <p:cNvPr id="12" name="Shape 10"/>
          <p:cNvSpPr/>
          <p:nvPr/>
        </p:nvSpPr>
        <p:spPr>
          <a:xfrm>
            <a:off x="466344" y="640080"/>
            <a:ext cx="201168" cy="201168"/>
          </a:xfrm>
          <a:prstGeom prst="roundRect">
            <a:avLst>
              <a:gd name="adj" fmla="val 18182"/>
            </a:avLst>
          </a:prstGeom>
          <a:solidFill>
            <a:srgbClr val="1A4043"/>
          </a:solidFill>
          <a:ln w="12700">
            <a:solidFill>
              <a:srgbClr val="1A4043"/>
            </a:solidFill>
            <a:prstDash val="solid"/>
          </a:ln>
        </p:spPr>
      </p:sp>
      <p:sp>
        <p:nvSpPr>
          <p:cNvPr id="13" name="Text 11"/>
          <p:cNvSpPr txBox="1"/>
          <p:nvPr/>
        </p:nvSpPr>
        <p:spPr>
          <a:xfrm>
            <a:off x="466344"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S</a:t>
            </a:r>
            <a:endParaRPr lang="en-US" sz="900" dirty="0"/>
          </a:p>
        </p:txBody>
      </p:sp>
      <p:sp>
        <p:nvSpPr>
          <p:cNvPr id="14" name="Text 12"/>
          <p:cNvSpPr txBox="1"/>
          <p:nvPr/>
        </p:nvSpPr>
        <p:spPr>
          <a:xfrm>
            <a:off x="466344" y="868680"/>
            <a:ext cx="3904488" cy="155448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fijo: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mientras el Equipo Terminal se encuentra sin movilidad, o con movilidad limitada a un área geográfica determinada por el Operador, independientemente de su Cobertura.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acceso a Internet: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enviar y recibir datos dentro del territorio nacional y/o en itinerancia, a través de equipos terminales que no tienen una ubicación geográfica determinada.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de telefonía: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Este servicio permite efectuar y recibir llamadas locales, de larga distancia internacional y/o de itinerancia a través de equipos terminales que no tienen una ubicación geográfica determinada, además permite hacer uso de una serie de servicios adicionales tales como acceso a servicios de emergencia o servicios suplementarios, entre otros. Este servicio se mide en líneas.</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Servicio móvil: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Servicio de telecomunicaciones para usuarios finales que se puede prestar en movilidad mientras el Equipo Terminal se encuentre en cualquier área geográfica dentro de la Cobertura del Operador.</a:t>
            </a:r>
            <a:endParaRPr lang="en-US" sz="630" dirty="0"/>
          </a:p>
        </p:txBody>
      </p:sp>
      <p:sp>
        <p:nvSpPr>
          <p:cNvPr id="15" name="Shape 13"/>
          <p:cNvSpPr/>
          <p:nvPr/>
        </p:nvSpPr>
        <p:spPr>
          <a:xfrm>
            <a:off x="301752" y="2560320"/>
            <a:ext cx="4178808" cy="1901952"/>
          </a:xfrm>
          <a:prstGeom prst="roundRect">
            <a:avLst>
              <a:gd name="adj" fmla="val 2885"/>
            </a:avLst>
          </a:prstGeom>
          <a:solidFill>
            <a:srgbClr val="F6FAF9"/>
          </a:solidFill>
          <a:ln w="9525">
            <a:solidFill>
              <a:srgbClr val="C9DAD6"/>
            </a:solidFill>
            <a:prstDash val="solid"/>
          </a:ln>
        </p:spPr>
      </p:sp>
      <p:sp>
        <p:nvSpPr>
          <p:cNvPr id="16" name="Shape 14"/>
          <p:cNvSpPr/>
          <p:nvPr/>
        </p:nvSpPr>
        <p:spPr>
          <a:xfrm>
            <a:off x="301752" y="2633472"/>
            <a:ext cx="64008" cy="1755648"/>
          </a:xfrm>
          <a:prstGeom prst="rect">
            <a:avLst/>
          </a:prstGeom>
          <a:solidFill>
            <a:srgbClr val="2F7F6F"/>
          </a:solidFill>
          <a:ln w="12700">
            <a:solidFill>
              <a:srgbClr val="2F7F6F"/>
            </a:solidFill>
            <a:prstDash val="solid"/>
          </a:ln>
        </p:spPr>
      </p:sp>
      <p:sp>
        <p:nvSpPr>
          <p:cNvPr id="17" name="Shape 15"/>
          <p:cNvSpPr/>
          <p:nvPr/>
        </p:nvSpPr>
        <p:spPr>
          <a:xfrm>
            <a:off x="466344" y="2633472"/>
            <a:ext cx="201168" cy="201168"/>
          </a:xfrm>
          <a:prstGeom prst="roundRect">
            <a:avLst>
              <a:gd name="adj" fmla="val 18182"/>
            </a:avLst>
          </a:prstGeom>
          <a:solidFill>
            <a:srgbClr val="1A4043"/>
          </a:solidFill>
          <a:ln w="12700">
            <a:solidFill>
              <a:srgbClr val="1A4043"/>
            </a:solidFill>
            <a:prstDash val="solid"/>
          </a:ln>
        </p:spPr>
      </p:sp>
      <p:sp>
        <p:nvSpPr>
          <p:cNvPr id="18" name="Text 16"/>
          <p:cNvSpPr txBox="1"/>
          <p:nvPr/>
        </p:nvSpPr>
        <p:spPr>
          <a:xfrm>
            <a:off x="466344" y="2633472"/>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T</a:t>
            </a:r>
            <a:endParaRPr lang="en-US" sz="900" dirty="0"/>
          </a:p>
        </p:txBody>
      </p:sp>
      <p:sp>
        <p:nvSpPr>
          <p:cNvPr id="19" name="Text 17"/>
          <p:cNvSpPr txBox="1"/>
          <p:nvPr/>
        </p:nvSpPr>
        <p:spPr>
          <a:xfrm>
            <a:off x="466344" y="2862072"/>
            <a:ext cx="3904488" cy="150876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Talk show: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Programa de televisión en el que varios invitados hablan sobre un tema de actualidad o brindan testimonios personales (los invitados no son especialistas en el tema).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Telehogares: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Hogares en los cuales reside de forma permanente al menos una persona y cuentan por lo menos con un aparato de televisión.</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Telenovelas: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Historias o novelas producidas para la televisión, transmitidas en episodios diarios y consecutivos. Narran una historia ficticia –aunque puede estar basada en hechos reales— de contenido melodramático, sin que se excluyan otros géneros, y cada capítulo cuenta con los elementos inicio, desarrollo, clímax y, al término, una situación de suspenso que puede ser coincidente con el clímax.</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Televisión por protocolo de Internet (IPTV, por sus siglas en inglés Internet Protocol Television):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La televisión sobre el protocolo IP o IPTV es una tecnología que permite que los servicios de televisión sean emitidos a través de la banda ancha de una red de paquete de datos privados mediante el uso del protocolo de Internet.</a:t>
            </a:r>
            <a:endParaRPr lang="en-US" sz="630" dirty="0"/>
          </a:p>
        </p:txBody>
      </p:sp>
      <p:sp>
        <p:nvSpPr>
          <p:cNvPr id="20" name="Shape 18"/>
          <p:cNvSpPr/>
          <p:nvPr/>
        </p:nvSpPr>
        <p:spPr>
          <a:xfrm>
            <a:off x="4663440" y="566928"/>
            <a:ext cx="4178808" cy="1481328"/>
          </a:xfrm>
          <a:prstGeom prst="roundRect">
            <a:avLst>
              <a:gd name="adj" fmla="val 3704"/>
            </a:avLst>
          </a:prstGeom>
          <a:solidFill>
            <a:srgbClr val="F6FAF9"/>
          </a:solidFill>
          <a:ln w="9525">
            <a:solidFill>
              <a:srgbClr val="C9DAD6"/>
            </a:solidFill>
            <a:prstDash val="solid"/>
          </a:ln>
        </p:spPr>
      </p:sp>
      <p:sp>
        <p:nvSpPr>
          <p:cNvPr id="21" name="Shape 19"/>
          <p:cNvSpPr/>
          <p:nvPr/>
        </p:nvSpPr>
        <p:spPr>
          <a:xfrm>
            <a:off x="4663440" y="640080"/>
            <a:ext cx="64008" cy="1335024"/>
          </a:xfrm>
          <a:prstGeom prst="rect">
            <a:avLst/>
          </a:prstGeom>
          <a:solidFill>
            <a:srgbClr val="2F7F6F"/>
          </a:solidFill>
          <a:ln w="12700">
            <a:solidFill>
              <a:srgbClr val="2F7F6F"/>
            </a:solidFill>
            <a:prstDash val="solid"/>
          </a:ln>
        </p:spPr>
      </p:sp>
      <p:sp>
        <p:nvSpPr>
          <p:cNvPr id="22" name="Shape 20"/>
          <p:cNvSpPr/>
          <p:nvPr/>
        </p:nvSpPr>
        <p:spPr>
          <a:xfrm>
            <a:off x="4828032" y="640080"/>
            <a:ext cx="201168" cy="201168"/>
          </a:xfrm>
          <a:prstGeom prst="roundRect">
            <a:avLst>
              <a:gd name="adj" fmla="val 18182"/>
            </a:avLst>
          </a:prstGeom>
          <a:solidFill>
            <a:srgbClr val="1A4043"/>
          </a:solidFill>
          <a:ln w="12700">
            <a:solidFill>
              <a:srgbClr val="1A4043"/>
            </a:solidFill>
            <a:prstDash val="solid"/>
          </a:ln>
        </p:spPr>
      </p:sp>
      <p:sp>
        <p:nvSpPr>
          <p:cNvPr id="23" name="Text 21"/>
          <p:cNvSpPr txBox="1"/>
          <p:nvPr/>
        </p:nvSpPr>
        <p:spPr>
          <a:xfrm>
            <a:off x="4828032" y="640080"/>
            <a:ext cx="2011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DejaVu Sans" pitchFamily="34" charset="0"/>
                <a:ea typeface="DejaVu Sans" pitchFamily="34" charset="-122"/>
                <a:cs typeface="DejaVu Sans" pitchFamily="34" charset="-120"/>
              </a:rPr>
              <a:t>U</a:t>
            </a:r>
            <a:endParaRPr lang="en-US" sz="900" dirty="0"/>
          </a:p>
        </p:txBody>
      </p:sp>
      <p:sp>
        <p:nvSpPr>
          <p:cNvPr id="24" name="Text 22"/>
          <p:cNvSpPr txBox="1"/>
          <p:nvPr/>
        </p:nvSpPr>
        <p:spPr>
          <a:xfrm>
            <a:off x="4828032" y="868680"/>
            <a:ext cx="3904488" cy="1005840"/>
          </a:xfrm>
          <a:prstGeom prst="rect">
            <a:avLst/>
          </a:prstGeom>
          <a:noFill/>
          <a:ln/>
        </p:spPr>
        <p:txBody>
          <a:bodyPr wrap="square" lIns="0" tIns="0" rIns="0" bIns="0" rtlCol="0" anchor="t"/>
          <a:lstStyle/>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Unidades Económicas (UE):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Son las unidades estadísticas sobre las cuales se recopilan datos, se dedican principalmente a un tipo de actividad de manera permanente en construcciones e instalaciones fijas, combinando acciones y recursos bajo el control de una sola entidad propietaria o controladora, para llevar a cabo producción de bienes y servicios, sea con fines mercantiles o no. Se definen por sector de acuerdo con la disponibilidad de registros contables y la necesidad de obtener información con el mayor nivel de precisión analítica.</a:t>
            </a:r>
            <a:endParaRPr lang="en-US" sz="630" dirty="0"/>
          </a:p>
          <a:p>
            <a:pPr algn="just" indent="0" marL="0">
              <a:lnSpc>
                <a:spcPct val="105000"/>
              </a:lnSpc>
              <a:spcAft>
                <a:spcPts val="300"/>
              </a:spcAft>
              <a:buNone/>
            </a:pPr>
            <a:r>
              <a:rPr lang="en-US" sz="630" b="1" dirty="0">
                <a:solidFill>
                  <a:srgbClr val="2F7F6F"/>
                </a:solidFill>
                <a:latin typeface="DejaVu Sans" pitchFamily="34" charset="0"/>
                <a:ea typeface="DejaVu Sans" pitchFamily="34" charset="-122"/>
                <a:cs typeface="DejaVu Sans" pitchFamily="34" charset="-120"/>
              </a:rPr>
              <a:t>Universo: </a:t>
            </a:r>
            <a:pPr algn="just" indent="0" marL="0">
              <a:lnSpc>
                <a:spcPct val="105000"/>
              </a:lnSpc>
              <a:spcAft>
                <a:spcPts val="300"/>
              </a:spcAft>
              <a:buNone/>
            </a:pPr>
            <a:r>
              <a:rPr lang="en-US" sz="630" dirty="0">
                <a:solidFill>
                  <a:srgbClr val="24383A"/>
                </a:solidFill>
                <a:latin typeface="DejaVu Sans" pitchFamily="34" charset="0"/>
                <a:ea typeface="DejaVu Sans" pitchFamily="34" charset="-122"/>
                <a:cs typeface="DejaVu Sans" pitchFamily="34" charset="-120"/>
              </a:rPr>
              <a:t>Conjunto de individuos o elementos que tienen una o más características en común y que se someten a un estudio estadístico. En este caso conformado por los individuos capaces de recibir señales de audio y video asociado (televisión) o radio.</a:t>
            </a:r>
            <a:endParaRPr lang="en-US" sz="630" dirty="0"/>
          </a:p>
        </p:txBody>
      </p:sp>
      <p:sp>
        <p:nvSpPr>
          <p:cNvPr id="25" name="Shape 23"/>
          <p:cNvSpPr/>
          <p:nvPr/>
        </p:nvSpPr>
        <p:spPr>
          <a:xfrm>
            <a:off x="4663440" y="2121408"/>
            <a:ext cx="4178808" cy="2340864"/>
          </a:xfrm>
          <a:prstGeom prst="roundRect">
            <a:avLst>
              <a:gd name="adj" fmla="val 2344"/>
            </a:avLst>
          </a:prstGeom>
          <a:solidFill>
            <a:srgbClr val="F6FAF9"/>
          </a:solidFill>
          <a:ln w="9525">
            <a:solidFill>
              <a:srgbClr val="C9DAD6"/>
            </a:solidFill>
            <a:prstDash val="solid"/>
          </a:ln>
        </p:spPr>
      </p:sp>
      <p:sp>
        <p:nvSpPr>
          <p:cNvPr id="26" name="Shape 24"/>
          <p:cNvSpPr/>
          <p:nvPr/>
        </p:nvSpPr>
        <p:spPr>
          <a:xfrm>
            <a:off x="4663440" y="2194560"/>
            <a:ext cx="64008" cy="2194560"/>
          </a:xfrm>
          <a:prstGeom prst="rect">
            <a:avLst/>
          </a:prstGeom>
          <a:solidFill>
            <a:srgbClr val="2F7F6F"/>
          </a:solidFill>
          <a:ln w="12700">
            <a:solidFill>
              <a:srgbClr val="2F7F6F"/>
            </a:solidFill>
            <a:prstDash val="solid"/>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846320" y="2212848"/>
          <a:ext cx="3813048" cy="914400"/>
        </p:xfrm>
        <a:graphic>
          <a:graphicData uri="http://schemas.openxmlformats.org/drawingml/2006/table">
            <a:tbl>
              <a:tblPr/>
              <a:tblGrid>
                <a:gridCol w="841248"/>
                <a:gridCol w="1216152"/>
                <a:gridCol w="841248"/>
                <a:gridCol w="914400"/>
              </a:tblGrid>
              <a:tr h="164592">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Televisión</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c gridSpan="2">
                  <a:txBody>
                    <a:bodyPr/>
                    <a:lstStyle/>
                    <a:p>
                      <a:pPr algn="ctr" indent="0" marL="0">
                        <a:buNone/>
                      </a:pPr>
                      <a:r>
                        <a:rPr lang="en-US" sz="600" b="1" dirty="0">
                          <a:solidFill>
                            <a:srgbClr val="FFFFFF"/>
                          </a:solidFill>
                          <a:latin typeface="DejaVu Sans" pitchFamily="34" charset="0"/>
                          <a:ea typeface="DejaVu Sans" pitchFamily="34" charset="-122"/>
                          <a:cs typeface="DejaVu Sans" pitchFamily="34" charset="-120"/>
                        </a:rPr>
                        <a:t>Radio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1A4043"/>
                    </a:solidFill>
                  </a:tcPr>
                </a:tc>
                <a:tc hMerge="1">
                  <a:tcPr/>
                </a:tc>
              </a:tr>
              <a:tr h="45720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4 o más años que cuenten con un televisor funcional en el hogar. Se incluyen a los usuarios visitantes en el hogar (</a:t>
                      </a:r>
                      <a:pPr algn="ctr" indent="0" marL="0">
                        <a:buNone/>
                      </a:pPr>
                      <a:r>
                        <a:rPr lang="en-US" sz="600" i="1" dirty="0">
                          <a:solidFill>
                            <a:srgbClr val="24383A"/>
                          </a:solidFill>
                          <a:latin typeface="DejaVu Sans" pitchFamily="34" charset="0"/>
                          <a:ea typeface="DejaVu Sans" pitchFamily="34" charset="-122"/>
                          <a:cs typeface="DejaVu Sans" pitchFamily="34" charset="-120"/>
                        </a:rPr>
                        <a:t>Guest Viewers</a:t>
                      </a:r>
                      <a:pPr algn="ctr" indent="0" marL="0">
                        <a:buNone/>
                      </a:pPr>
                      <a:r>
                        <a:rPr lang="en-US" sz="600" dirty="0">
                          <a:solidFill>
                            <a:srgbClr val="24383A"/>
                          </a:solidFill>
                          <a:latin typeface="DejaVu Sans" pitchFamily="34" charset="0"/>
                          <a:ea typeface="DejaVu Sans" pitchFamily="34" charset="-122"/>
                          <a:cs typeface="DejaVu Sans" pitchFamily="34" charset="-120"/>
                        </a:rPr>
                        <a:t>).</a:t>
                      </a:r>
                      <a:pPr algn="ctr" indent="0" marL="0">
                        <a:buNone/>
                      </a:pPr>
                      <a:r>
                        <a:rPr lang="en-US" sz="600" baseline="30000" dirty="0">
                          <a:solidFill>
                            <a:srgbClr val="24383A"/>
                          </a:solidFill>
                          <a:latin typeface="DejaVu Sans" pitchFamily="34" charset="0"/>
                          <a:ea typeface="DejaVu Sans" pitchFamily="34" charset="-122"/>
                          <a:cs typeface="DejaVu Sans" pitchFamily="34" charset="-120"/>
                        </a:rPr>
                        <a:t>12</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Especificaciones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Personas de 8 años en adelante.</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274320">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 ciudades que comprende el estudio de Nielsen IBOPE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Cobertura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Ciudad de México, Guadalajara y 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hMerge="1">
                  <a:tcPr/>
                </a:tc>
                <a:tc rowSpan="2" gridSpan="2">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Universos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EAF3F1"/>
                    </a:solidFill>
                  </a:tcPr>
                </a:tc>
                <a:tc rowSpan="2"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28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58,151,356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gridSpan="2" vMerge="1">
                  <a:tcPr/>
                </a:tc>
                <a:tc vMerge="1" hMerge="1">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20,258,180</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Total 3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27,325,688</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4,840,117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Ciudad de México</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18,224,996</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4,819,593</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Guadalajara</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4,640,377</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r h="155448">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25 Ciudades</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28,233,465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c>
                  <a:txBody>
                    <a:bodyPr/>
                    <a:lstStyle/>
                    <a:p>
                      <a:pPr algn="ctr" indent="0" marL="0">
                        <a:buNone/>
                      </a:pPr>
                      <a:r>
                        <a:rPr lang="en-US" sz="600" b="1" dirty="0">
                          <a:solidFill>
                            <a:srgbClr val="24383A"/>
                          </a:solidFill>
                          <a:latin typeface="DejaVu Sans" pitchFamily="34" charset="0"/>
                          <a:ea typeface="DejaVu Sans" pitchFamily="34" charset="-122"/>
                          <a:cs typeface="DejaVu Sans" pitchFamily="34" charset="-120"/>
                        </a:rPr>
                        <a:t>Monterrey</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solidFill>
                      <a:srgbClr val="DCE9E6"/>
                    </a:solidFill>
                  </a:tcPr>
                </a:tc>
                <a:tc>
                  <a:txBody>
                    <a:bodyPr/>
                    <a:lstStyle/>
                    <a:p>
                      <a:pPr algn="ctr" indent="0" marL="0">
                        <a:buNone/>
                      </a:pPr>
                      <a:r>
                        <a:rPr lang="en-US" sz="600" dirty="0">
                          <a:solidFill>
                            <a:srgbClr val="24383A"/>
                          </a:solidFill>
                          <a:latin typeface="DejaVu Sans" pitchFamily="34" charset="0"/>
                          <a:ea typeface="DejaVu Sans" pitchFamily="34" charset="-122"/>
                          <a:cs typeface="DejaVu Sans" pitchFamily="34" charset="-120"/>
                        </a:rPr>
                        <a:t>4,460,315</a:t>
                      </a:r>
                      <a:endParaRPr lang="en-US" sz="600" dirty="0">
                        <a:latin typeface="DejaVu Sans" charset="0"/>
                        <a:ea typeface="DejaVu Sans" charset="0"/>
                        <a:cs typeface="DejaVu Sans" charset="0"/>
                      </a:endParaRPr>
                    </a:p>
                  </a:txBody>
                  <a:tcPr marL="36576" marR="36576" marT="9144" marB="9144" anchor="ctr">
                    <a:lnL w="6350" cap="flat" cmpd="sng" algn="ctr">
                      <a:solidFill>
                        <a:srgbClr val="C9DAD6"/>
                      </a:solidFill>
                      <a:prstDash val="solid"/>
                      <a:round/>
                      <a:headEnd type="none" w="med" len="med"/>
                      <a:tailEnd type="none" w="med" len="med"/>
                    </a:lnL>
                    <a:lnR w="6350" cap="flat" cmpd="sng" algn="ctr">
                      <a:solidFill>
                        <a:srgbClr val="C9DAD6"/>
                      </a:solidFill>
                      <a:prstDash val="solid"/>
                      <a:round/>
                      <a:headEnd type="none" w="med" len="med"/>
                      <a:tailEnd type="none" w="med" len="med"/>
                    </a:lnR>
                    <a:lnT w="6350" cap="flat" cmpd="sng" algn="ctr">
                      <a:solidFill>
                        <a:srgbClr val="C9DAD6"/>
                      </a:solidFill>
                      <a:prstDash val="solid"/>
                      <a:round/>
                      <a:headEnd type="none" w="med" len="med"/>
                      <a:tailEnd type="none" w="med" len="med"/>
                    </a:lnT>
                    <a:lnB w="6350" cap="flat" cmpd="sng" algn="ctr">
                      <a:solidFill>
                        <a:srgbClr val="C9DAD6"/>
                      </a:solidFill>
                      <a:prstDash val="solid"/>
                      <a:round/>
                      <a:headEnd type="none" w="med" len="med"/>
                      <a:tailEnd type="none" w="med" len="med"/>
                    </a:lnB>
                  </a:tcPr>
                </a:tc>
              </a:tr>
            </a:tbl>
          </a:graphicData>
        </a:graphic>
      </p:graphicFrame>
      <p:sp>
        <p:nvSpPr>
          <p:cNvPr id="28" name="Text 25"/>
          <p:cNvSpPr txBox="1"/>
          <p:nvPr/>
        </p:nvSpPr>
        <p:spPr>
          <a:xfrm>
            <a:off x="301752" y="4507992"/>
            <a:ext cx="8540496" cy="292608"/>
          </a:xfrm>
          <a:prstGeom prst="rect">
            <a:avLst/>
          </a:prstGeom>
          <a:noFill/>
          <a:ln/>
        </p:spPr>
        <p:txBody>
          <a:bodyPr wrap="square" lIns="0" tIns="0" rIns="0" bIns="0" rtlCol="0" anchor="t"/>
          <a:lstStyle/>
          <a:p>
            <a:pPr indent="0" marL="0">
              <a:buNone/>
            </a:pPr>
            <a:r>
              <a:rPr lang="en-US" sz="520" b="1" baseline="30000" dirty="0">
                <a:solidFill>
                  <a:srgbClr val="24383A"/>
                </a:solidFill>
                <a:latin typeface="DejaVu Sans" pitchFamily="34" charset="0"/>
                <a:ea typeface="DejaVu Sans" pitchFamily="34" charset="-122"/>
                <a:cs typeface="DejaVu Sans" pitchFamily="34" charset="-120"/>
              </a:rPr>
              <a:t>12 </a:t>
            </a:r>
            <a:pPr indent="0" marL="0">
              <a:buNone/>
            </a:pPr>
            <a:r>
              <a:rPr lang="en-US" sz="520" dirty="0">
                <a:solidFill>
                  <a:srgbClr val="24383A"/>
                </a:solidFill>
                <a:latin typeface="DejaVu Sans" pitchFamily="34" charset="0"/>
                <a:ea typeface="DejaVu Sans" pitchFamily="34" charset="-122"/>
                <a:cs typeface="DejaVu Sans" pitchFamily="34" charset="-120"/>
              </a:rPr>
              <a:t>El Universo de TV corresponde al promedio de los universos del estudio de Nielsen IBOPE México para el periodo de julio de 2023 a junio de 2024, obtenido a través de la evaluación del </a:t>
            </a:r>
            <a:pPr indent="0" marL="0">
              <a:buNone/>
            </a:pPr>
            <a:r>
              <a:rPr lang="en-US" sz="520" i="1" dirty="0">
                <a:solidFill>
                  <a:srgbClr val="24383A"/>
                </a:solidFill>
                <a:latin typeface="DejaVu Sans" pitchFamily="34" charset="0"/>
                <a:ea typeface="DejaVu Sans" pitchFamily="34" charset="-122"/>
                <a:cs typeface="DejaVu Sans" pitchFamily="34" charset="-120"/>
              </a:rPr>
              <a:t>target</a:t>
            </a:r>
            <a:pPr indent="0" marL="0">
              <a:buNone/>
            </a:pPr>
            <a:r>
              <a:rPr lang="en-US" sz="520" dirty="0">
                <a:solidFill>
                  <a:srgbClr val="24383A"/>
                </a:solidFill>
                <a:latin typeface="DejaVu Sans" pitchFamily="34" charset="0"/>
                <a:ea typeface="DejaVu Sans" pitchFamily="34" charset="-122"/>
                <a:cs typeface="DejaVu Sans" pitchFamily="34" charset="-120"/>
              </a:rPr>
              <a:t> en el periodo.</a:t>
            </a:r>
            <a:endParaRPr lang="en-US" sz="520" dirty="0"/>
          </a:p>
        </p:txBody>
      </p:sp>
    </p:spTree>
  </p:cSld>
  <p:clrMapOvr>
    <a:masterClrMapping/>
  </p:clrMapOvr>
</p:sld>
</file>

<file path=ppt/slides/slide126.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33" name="ANUARIO_ENCABEZADO">
            <a:extLst xmlns:a="http://schemas.openxmlformats.org/drawingml/2006/main">
              <a:ext uri="{FF2B5EF4-FFF2-40B4-BE49-F238E27FC236}">
                <a16:creationId xmlns:a16="http://schemas.microsoft.com/office/drawing/2014/main" id="{F5B550B0-1136-45F8-95A7-6623EFE0D384}"/>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D000D7C9-1CEB-4CC6-B246-76144B59C2CD}"/>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C2C50504-F7EC-43DF-B40F-533C907D6DB2}"/>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III. METODOLOGÍAS</a:t>
            </a:r>
          </a:p>
        </p:txBody>
      </p:sp>
      <p:sp>
        <p:nvSpPr>
          <p:cNvPr id="4" name="ANUARIO_BIT_TEXTO">
            <a:extLst xmlns:a="http://schemas.openxmlformats.org/drawingml/2006/main">
              <a:ext uri="{FF2B5EF4-FFF2-40B4-BE49-F238E27FC236}">
                <a16:creationId xmlns:a16="http://schemas.microsoft.com/office/drawing/2014/main" id="{66A1CA8C-BEAE-484F-B5B3-106F3C1D2C2A}"/>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02310F36-F499-4E0B-B25E-1B083C5E9E84}"/>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B04C77F7-99A1-406F-8590-1A9CA2F03A61}"/>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2F8D20EB-A30F-465F-9D99-602336BBABEF}"/>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7028AC88-2A2A-4B3D-8F77-C69F2027F3A2}"/>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126</a:t>
            </a:r>
          </a:p>
        </p:txBody>
      </p:sp>
      <p:sp>
        <p:nvSpPr>
          <p:cNvPr id="9" name="ANUARIO_EDICION">
            <a:extLst xmlns:a="http://schemas.openxmlformats.org/drawingml/2006/main">
              <a:ext uri="{FF2B5EF4-FFF2-40B4-BE49-F238E27FC236}">
                <a16:creationId xmlns:a16="http://schemas.microsoft.com/office/drawing/2014/main" id="{E2611950-2BC8-40FC-A842-19AE88EBB177}"/>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6_DESIGN_2026">
            <a:extLst xmlns:a="http://schemas.openxmlformats.org/drawingml/2006/main">
              <a:ext uri="{FF2B5EF4-FFF2-40B4-BE49-F238E27FC236}">
                <a16:creationId xmlns:a16="http://schemas.microsoft.com/office/drawing/2014/main" id="{45DA7B79-82F2-4175-8358-B5E5CBEF28A8}"/>
              </a:ext>
            </a:extLst>
          </p:cNvPr>
          <p:cNvSpPr>
            <a:spLocks xmlns:a="http://schemas.openxmlformats.org/drawingml/2006/main" noGrp="1"/>
          </p:cNvSpPr>
          <p:nvPr/>
        </p:nvSpPr>
        <p:spPr>
          <a:xfrm xmlns:a="http://schemas.openxmlformats.org/drawingml/2006/main">
            <a:off x="301752" y="566928"/>
            <a:ext cx="8540496" cy="2761488"/>
          </a:xfrm>
          <a:prstGeom xmlns:a="http://schemas.openxmlformats.org/drawingml/2006/main" prst="roundRect">
            <a:avLst>
              <a:gd name="adj" fmla="val 1987"/>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02EFE0E9-B2A0-4D2E-9F20-CED96A7C4B52}"/>
              </a:ext>
            </a:extLst>
          </p:cNvPr>
          <p:cNvSpPr>
            <a:spLocks xmlns:a="http://schemas.openxmlformats.org/drawingml/2006/main" noGrp="1"/>
          </p:cNvSpPr>
          <p:nvPr/>
        </p:nvSpPr>
        <p:spPr>
          <a:xfrm xmlns:a="http://schemas.openxmlformats.org/drawingml/2006/main">
            <a:off x="301752" y="640080"/>
            <a:ext cx="64008" cy="261518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80BD47A4-8567-488D-97A5-56610111DC68}"/>
              </a:ext>
            </a:extLst>
          </p:cNvPr>
          <p:cNvSpPr>
            <a:spLocks xmlns:a="http://schemas.openxmlformats.org/drawingml/2006/main" noGrp="1"/>
          </p:cNvSpPr>
          <p:nvPr/>
        </p:nvSpPr>
        <p:spPr>
          <a:xfrm xmlns:a="http://schemas.openxmlformats.org/drawingml/2006/main">
            <a:off x="466344" y="658368"/>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Servicios de telecomunicaciones</a:t>
            </a:r>
          </a:p>
        </p:txBody>
      </p:sp>
      <p:sp>
        <p:nvSpPr>
          <p:cNvPr id="13" name="ANUARIO_SERVICIOS_0_0">
            <a:extLst xmlns:a="http://schemas.openxmlformats.org/drawingml/2006/main">
              <a:ext uri="{FF2B5EF4-FFF2-40B4-BE49-F238E27FC236}">
                <a16:creationId xmlns:a16="http://schemas.microsoft.com/office/drawing/2014/main" id="{BF855166-325D-43F0-8A6E-71F4F5721CC1}"/>
              </a:ext>
            </a:extLst>
          </p:cNvPr>
          <p:cNvSpPr>
            <a:spLocks xmlns:a="http://schemas.openxmlformats.org/drawingml/2006/main" noGrp="1"/>
          </p:cNvSpPr>
          <p:nvPr/>
        </p:nvSpPr>
        <p:spPr>
          <a:xfrm xmlns:a="http://schemas.openxmlformats.org/drawingml/2006/main">
            <a:off x="466344" y="9784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mostrados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presente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Anuario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Estadístico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fueron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elaborados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trimestral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proporcionada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operadores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p>
        </p:txBody>
      </p:sp>
      <p:sp>
        <p:nvSpPr>
          <p:cNvPr id="14" name="ANUARIO_SERVICIOS_0_1">
            <a:extLst xmlns:a="http://schemas.openxmlformats.org/drawingml/2006/main">
              <a:ext uri="{FF2B5EF4-FFF2-40B4-BE49-F238E27FC236}">
                <a16:creationId xmlns:a16="http://schemas.microsoft.com/office/drawing/2014/main" id="{A311D9FD-ED6F-422F-AEEC-ACA7DD65C5D9}"/>
              </a:ext>
            </a:extLst>
          </p:cNvPr>
          <p:cNvSpPr>
            <a:spLocks xmlns:a="http://schemas.openxmlformats.org/drawingml/2006/main" noGrp="1"/>
          </p:cNvSpPr>
          <p:nvPr/>
        </p:nvSpPr>
        <p:spPr>
          <a:xfrm xmlns:a="http://schemas.openxmlformats.org/drawingml/2006/main">
            <a:off x="466344" y="10850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CRT,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revisada,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procesada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analizada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Coordinación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General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Planeación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Estratégica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publicación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Banco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p>
        </p:txBody>
      </p:sp>
      <p:sp>
        <p:nvSpPr>
          <p:cNvPr id="15" name="ANUARIO_SERVICIOS_0_2">
            <a:extLst xmlns:a="http://schemas.openxmlformats.org/drawingml/2006/main">
              <a:ext uri="{FF2B5EF4-FFF2-40B4-BE49-F238E27FC236}">
                <a16:creationId xmlns:a16="http://schemas.microsoft.com/office/drawing/2014/main" id="{4CED58EA-7AA8-47DF-9666-57F0C3B55979}"/>
              </a:ext>
            </a:extLst>
          </p:cNvPr>
          <p:cNvSpPr>
            <a:spLocks xmlns:a="http://schemas.openxmlformats.org/drawingml/2006/main" noGrp="1"/>
          </p:cNvSpPr>
          <p:nvPr/>
        </p:nvSpPr>
        <p:spPr>
          <a:xfrm xmlns:a="http://schemas.openxmlformats.org/drawingml/2006/main">
            <a:off x="466344" y="11917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(BIT).</a:t>
            </a:r>
          </a:p>
        </p:txBody>
      </p:sp>
      <p:sp>
        <p:nvSpPr>
          <p:cNvPr id="16" name="ANUARIO_SERVICIOS_0_3">
            <a:extLst xmlns:a="http://schemas.openxmlformats.org/drawingml/2006/main">
              <a:ext uri="{FF2B5EF4-FFF2-40B4-BE49-F238E27FC236}">
                <a16:creationId xmlns:a16="http://schemas.microsoft.com/office/drawing/2014/main" id="{6415C3C9-3E24-4E57-82E6-70D75B388AFD}"/>
              </a:ext>
            </a:extLst>
          </p:cNvPr>
          <p:cNvSpPr>
            <a:spLocks xmlns:a="http://schemas.openxmlformats.org/drawingml/2006/main" noGrp="1"/>
          </p:cNvSpPr>
          <p:nvPr/>
        </p:nvSpPr>
        <p:spPr>
          <a:xfrm xmlns:a="http://schemas.openxmlformats.org/drawingml/2006/main">
            <a:off x="466344" y="13238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Debido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naturaleza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telecomunicaciones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p>
        </p:txBody>
      </p:sp>
      <p:sp>
        <p:nvSpPr>
          <p:cNvPr id="17" name="ANUARIO_SERVICIOS_0_4">
            <a:extLst xmlns:a="http://schemas.openxmlformats.org/drawingml/2006/main">
              <a:ext uri="{FF2B5EF4-FFF2-40B4-BE49-F238E27FC236}">
                <a16:creationId xmlns:a16="http://schemas.microsoft.com/office/drawing/2014/main" id="{F2C4E3DF-A827-4AB7-A7BE-379BC910E524}"/>
              </a:ext>
            </a:extLst>
          </p:cNvPr>
          <p:cNvSpPr>
            <a:spLocks xmlns:a="http://schemas.openxmlformats.org/drawingml/2006/main" noGrp="1"/>
          </p:cNvSpPr>
          <p:nvPr/>
        </p:nvSpPr>
        <p:spPr>
          <a:xfrm xmlns:a="http://schemas.openxmlformats.org/drawingml/2006/main">
            <a:off x="466344" y="14305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desagregación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obtener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indicadores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información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p>
        </p:txBody>
      </p:sp>
      <p:sp>
        <p:nvSpPr>
          <p:cNvPr id="18" name="ANUARIO_SERVICIOS_0_5">
            <a:extLst xmlns:a="http://schemas.openxmlformats.org/drawingml/2006/main">
              <a:ext uri="{FF2B5EF4-FFF2-40B4-BE49-F238E27FC236}">
                <a16:creationId xmlns:a16="http://schemas.microsoft.com/office/drawing/2014/main" id="{BA569680-900A-49B7-8471-9AD928305BBB}"/>
              </a:ext>
            </a:extLst>
          </p:cNvPr>
          <p:cNvSpPr>
            <a:spLocks xmlns:a="http://schemas.openxmlformats.org/drawingml/2006/main" noGrp="1"/>
          </p:cNvSpPr>
          <p:nvPr/>
        </p:nvSpPr>
        <p:spPr>
          <a:xfrm xmlns:a="http://schemas.openxmlformats.org/drawingml/2006/main">
            <a:off x="466344" y="15372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tomaron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siguientes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supuestos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acuerdo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tipo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p>
        </p:txBody>
      </p:sp>
      <p:sp>
        <p:nvSpPr>
          <p:cNvPr id="19" name="ANUARIO_SERVICIOS_0_6">
            <a:extLst xmlns:a="http://schemas.openxmlformats.org/drawingml/2006/main">
              <a:ext uri="{FF2B5EF4-FFF2-40B4-BE49-F238E27FC236}">
                <a16:creationId xmlns:a16="http://schemas.microsoft.com/office/drawing/2014/main" id="{A7FE5E3C-7382-46B8-B387-45E93CD7BF1C}"/>
              </a:ext>
            </a:extLst>
          </p:cNvPr>
          <p:cNvSpPr>
            <a:spLocks xmlns:a="http://schemas.openxmlformats.org/drawingml/2006/main" noGrp="1"/>
          </p:cNvSpPr>
          <p:nvPr/>
        </p:nvSpPr>
        <p:spPr>
          <a:xfrm xmlns:a="http://schemas.openxmlformats.org/drawingml/2006/main">
            <a:off x="466344" y="16692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telefonía.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p>
        </p:txBody>
      </p:sp>
      <p:sp>
        <p:nvSpPr>
          <p:cNvPr id="20" name="ANUARIO_SERVICIOS_0_7">
            <a:extLst xmlns:a="http://schemas.openxmlformats.org/drawingml/2006/main">
              <a:ext uri="{FF2B5EF4-FFF2-40B4-BE49-F238E27FC236}">
                <a16:creationId xmlns:a16="http://schemas.microsoft.com/office/drawing/2014/main" id="{00E1ED43-1FE2-4213-A7C7-9987FB43F6C0}"/>
              </a:ext>
            </a:extLst>
          </p:cNvPr>
          <p:cNvSpPr>
            <a:spLocks xmlns:a="http://schemas.openxmlformats.org/drawingml/2006/main" noGrp="1"/>
          </p:cNvSpPr>
          <p:nvPr/>
        </p:nvSpPr>
        <p:spPr>
          <a:xfrm xmlns:a="http://schemas.openxmlformats.org/drawingml/2006/main">
            <a:off x="466344" y="17759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contar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haberlo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últimos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previos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levantamiento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encuesta.</a:t>
            </a:r>
            <a:r>
              <a:rPr sz="750" b="0" i="0">
                <a:solidFill>
                  <a:srgbClr val="24383A"/>
                </a:solidFill>
                <a:latin typeface="DejaVu Sans"/>
                <a:ea typeface="DejaVu Sans"/>
                <a:cs typeface="DejaVu Sans"/>
              </a:rPr>
              <a:t> </a:t>
            </a:r>
          </a:p>
        </p:txBody>
      </p:sp>
      <p:sp>
        <p:nvSpPr>
          <p:cNvPr id="21" name="ANUARIO_SERVICIOS_0_8">
            <a:extLst xmlns:a="http://schemas.openxmlformats.org/drawingml/2006/main">
              <a:ext uri="{FF2B5EF4-FFF2-40B4-BE49-F238E27FC236}">
                <a16:creationId xmlns:a16="http://schemas.microsoft.com/office/drawing/2014/main" id="{02F400AF-E5E6-4E45-A414-243547CE3122}"/>
              </a:ext>
            </a:extLst>
          </p:cNvPr>
          <p:cNvSpPr>
            <a:spLocks xmlns:a="http://schemas.openxmlformats.org/drawingml/2006/main" noGrp="1"/>
          </p:cNvSpPr>
          <p:nvPr/>
        </p:nvSpPr>
        <p:spPr>
          <a:xfrm xmlns:a="http://schemas.openxmlformats.org/drawingml/2006/main">
            <a:off x="466344" y="19080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a:t>
            </a:r>
            <a:r>
              <a:rPr sz="750" b="0" i="0">
                <a:solidFill>
                  <a:srgbClr val="24383A"/>
                </a:solidFill>
                <a:latin typeface="DejaVu Sans"/>
                <a:ea typeface="DejaVu Sans"/>
                <a:cs typeface="DejaVu Sans"/>
              </a:rPr>
              <a:t> </a:t>
            </a:r>
            <a:r>
              <a:rPr sz="750" b="1" i="0">
                <a:solidFill>
                  <a:srgbClr val="2F7F6F"/>
                </a:solidFill>
                <a:latin typeface="DejaVu Sans"/>
                <a:ea typeface="DejaVu Sans"/>
                <a:cs typeface="DejaVu Sans"/>
              </a:rPr>
              <a:t>Servicio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móvil</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de</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acceso</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a</a:t>
            </a:r>
            <a:r>
              <a:rPr sz="750" b="1" i="0">
                <a:solidFill>
                  <a:srgbClr val="2F7F6F"/>
                </a:solidFill>
                <a:latin typeface="DejaVu Sans"/>
                <a:ea typeface="DejaVu Sans"/>
                <a:cs typeface="DejaVu Sans"/>
              </a:rPr>
              <a:t> </a:t>
            </a:r>
            <a:r>
              <a:rPr sz="750" b="1" i="0">
                <a:solidFill>
                  <a:srgbClr val="2F7F6F"/>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elaboró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usuarios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6</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años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más,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residente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p>
        </p:txBody>
      </p:sp>
      <p:sp>
        <p:nvSpPr>
          <p:cNvPr id="22" name="ANUARIO_SERVICIOS_0_9">
            <a:extLst xmlns:a="http://schemas.openxmlformats.org/drawingml/2006/main">
              <a:ext uri="{FF2B5EF4-FFF2-40B4-BE49-F238E27FC236}">
                <a16:creationId xmlns:a16="http://schemas.microsoft.com/office/drawing/2014/main" id="{15C6B5E9-8F30-49F1-8529-21AF3DDBC27E}"/>
              </a:ext>
            </a:extLst>
          </p:cNvPr>
          <p:cNvSpPr>
            <a:spLocks xmlns:a="http://schemas.openxmlformats.org/drawingml/2006/main" noGrp="1"/>
          </p:cNvSpPr>
          <p:nvPr/>
        </p:nvSpPr>
        <p:spPr>
          <a:xfrm xmlns:a="http://schemas.openxmlformats.org/drawingml/2006/main">
            <a:off x="466344" y="201472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respondió</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haberse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conectado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Internet</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mediante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celular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(conexión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través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teléfono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móvil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inteligente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t>
            </a:r>
            <a:r>
              <a:rPr sz="750" b="0" i="1">
                <a:solidFill>
                  <a:srgbClr val="24383A"/>
                </a:solidFill>
                <a:latin typeface="DejaVu Sans"/>
                <a:ea typeface="DejaVu Sans"/>
                <a:cs typeface="DejaVu Sans"/>
              </a:rPr>
              <a:t>Smartphone</a:t>
            </a:r>
            <a:r>
              <a:rPr sz="750" b="0" i="0">
                <a:solidFill>
                  <a:srgbClr val="24383A"/>
                </a:solidFill>
                <a:latin typeface="DejaVu Sans"/>
                <a:ea typeface="DejaVu Sans"/>
                <a:cs typeface="DejaVu Sans"/>
              </a:rPr>
              <a:t>).</a:t>
            </a:r>
          </a:p>
        </p:txBody>
      </p:sp>
      <p:sp>
        <p:nvSpPr>
          <p:cNvPr id="23" name="ANUARIO_SERVICIOS_0_10">
            <a:extLst xmlns:a="http://schemas.openxmlformats.org/drawingml/2006/main">
              <a:ext uri="{FF2B5EF4-FFF2-40B4-BE49-F238E27FC236}">
                <a16:creationId xmlns:a16="http://schemas.microsoft.com/office/drawing/2014/main" id="{F78A210E-7B50-45ED-BCE0-888B2E5D871B}"/>
              </a:ext>
            </a:extLst>
          </p:cNvPr>
          <p:cNvSpPr>
            <a:spLocks xmlns:a="http://schemas.openxmlformats.org/drawingml/2006/main" noGrp="1"/>
          </p:cNvSpPr>
          <p:nvPr/>
        </p:nvSpPr>
        <p:spPr>
          <a:xfrm xmlns:a="http://schemas.openxmlformats.org/drawingml/2006/main">
            <a:off x="466344" y="214680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habitantes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obtienen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partir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estimaciones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propias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base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datos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ENDUTIH</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2025</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p>
        </p:txBody>
      </p:sp>
      <p:sp>
        <p:nvSpPr>
          <p:cNvPr id="24" name="ANUARIO_SERVICIOS_0_11">
            <a:extLst xmlns:a="http://schemas.openxmlformats.org/drawingml/2006/main">
              <a:ext uri="{FF2B5EF4-FFF2-40B4-BE49-F238E27FC236}">
                <a16:creationId xmlns:a16="http://schemas.microsoft.com/office/drawing/2014/main" id="{1505C603-D43E-40E3-8BEF-FFABB064E585}"/>
              </a:ext>
            </a:extLst>
          </p:cNvPr>
          <p:cNvSpPr>
            <a:spLocks xmlns:a="http://schemas.openxmlformats.org/drawingml/2006/main" noGrp="1"/>
          </p:cNvSpPr>
          <p:nvPr/>
        </p:nvSpPr>
        <p:spPr>
          <a:xfrm xmlns:a="http://schemas.openxmlformats.org/drawingml/2006/main">
            <a:off x="466344" y="225348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Censo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Población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Vivienda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2020.</a:t>
            </a:r>
          </a:p>
        </p:txBody>
      </p:sp>
      <p:sp>
        <p:nvSpPr>
          <p:cNvPr id="25" name="ANUARIO_SERVICIOS_0_12">
            <a:extLst xmlns:a="http://schemas.openxmlformats.org/drawingml/2006/main">
              <a:ext uri="{FF2B5EF4-FFF2-40B4-BE49-F238E27FC236}">
                <a16:creationId xmlns:a16="http://schemas.microsoft.com/office/drawing/2014/main" id="{E4056BF2-115C-49A8-96A7-F456386ADAAB}"/>
              </a:ext>
            </a:extLst>
          </p:cNvPr>
          <p:cNvSpPr>
            <a:spLocks xmlns:a="http://schemas.openxmlformats.org/drawingml/2006/main" noGrp="1"/>
          </p:cNvSpPr>
          <p:nvPr/>
        </p:nvSpPr>
        <p:spPr>
          <a:xfrm xmlns:a="http://schemas.openxmlformats.org/drawingml/2006/main">
            <a:off x="466344" y="238556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2)</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accesos/líneas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cada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100</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calculan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dividiendo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accesos.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Asimismo,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número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económicas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nivel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entidad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federativa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obtuvo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p>
        </p:txBody>
      </p:sp>
      <p:sp>
        <p:nvSpPr>
          <p:cNvPr id="26" name="ANUARIO_SERVICIOS_0_13">
            <a:extLst xmlns:a="http://schemas.openxmlformats.org/drawingml/2006/main">
              <a:ext uri="{FF2B5EF4-FFF2-40B4-BE49-F238E27FC236}">
                <a16:creationId xmlns:a16="http://schemas.microsoft.com/office/drawing/2014/main" id="{0C396390-6CB5-461C-883C-0ECDF888DE0D}"/>
              </a:ext>
            </a:extLst>
          </p:cNvPr>
          <p:cNvSpPr>
            <a:spLocks xmlns:a="http://schemas.openxmlformats.org/drawingml/2006/main" noGrp="1"/>
          </p:cNvSpPr>
          <p:nvPr/>
        </p:nvSpPr>
        <p:spPr>
          <a:xfrm xmlns:a="http://schemas.openxmlformats.org/drawingml/2006/main">
            <a:off x="466344" y="2492248"/>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DENUE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p>
        </p:txBody>
      </p:sp>
      <p:sp>
        <p:nvSpPr>
          <p:cNvPr id="27" name="ANUARIO_ANEXO_P126_DESIGN_2026">
            <a:extLst xmlns:a="http://schemas.openxmlformats.org/drawingml/2006/main">
              <a:ext uri="{FF2B5EF4-FFF2-40B4-BE49-F238E27FC236}">
                <a16:creationId xmlns:a16="http://schemas.microsoft.com/office/drawing/2014/main" id="{1BD79560-6A2D-4383-AB1B-60A4DA3C6216}"/>
              </a:ext>
            </a:extLst>
          </p:cNvPr>
          <p:cNvSpPr>
            <a:spLocks xmlns:a="http://schemas.openxmlformats.org/drawingml/2006/main" noGrp="1"/>
          </p:cNvSpPr>
          <p:nvPr/>
        </p:nvSpPr>
        <p:spPr>
          <a:xfrm xmlns:a="http://schemas.openxmlformats.org/drawingml/2006/main">
            <a:off x="301752" y="3419856"/>
            <a:ext cx="8540496" cy="1042416"/>
          </a:xfrm>
          <a:prstGeom xmlns:a="http://schemas.openxmlformats.org/drawingml/2006/main" prst="roundRect">
            <a:avLst>
              <a:gd name="adj" fmla="val 5263"/>
            </a:avLst>
          </a:prstGeom>
          <a:solidFill xmlns:a="http://schemas.openxmlformats.org/drawingml/2006/main">
            <a:srgbClr val="F6FAF9"/>
          </a:solidFill>
          <a:ln xmlns:a="http://schemas.openxmlformats.org/drawingml/2006/main" w="9525">
            <a:solidFill>
              <a:srgbClr val="C9DAD6"/>
            </a:solidFill>
          </a:ln>
        </p:spPr>
      </p:sp>
      <p:sp>
        <p:nvSpPr>
          <p:cNvPr id="28" name="ANUARIO_ACENTO">
            <a:extLst xmlns:a="http://schemas.openxmlformats.org/drawingml/2006/main">
              <a:ext uri="{FF2B5EF4-FFF2-40B4-BE49-F238E27FC236}">
                <a16:creationId xmlns:a16="http://schemas.microsoft.com/office/drawing/2014/main" id="{7151CB42-86C7-4263-BB38-A1F3FE523877}"/>
              </a:ext>
            </a:extLst>
          </p:cNvPr>
          <p:cNvSpPr>
            <a:spLocks xmlns:a="http://schemas.openxmlformats.org/drawingml/2006/main" noGrp="1"/>
          </p:cNvSpPr>
          <p:nvPr/>
        </p:nvSpPr>
        <p:spPr>
          <a:xfrm xmlns:a="http://schemas.openxmlformats.org/drawingml/2006/main">
            <a:off x="301752" y="3493008"/>
            <a:ext cx="64008" cy="89611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9" name="ANUARIO_SECCION">
            <a:extLst xmlns:a="http://schemas.openxmlformats.org/drawingml/2006/main">
              <a:ext uri="{FF2B5EF4-FFF2-40B4-BE49-F238E27FC236}">
                <a16:creationId xmlns:a16="http://schemas.microsoft.com/office/drawing/2014/main" id="{4DF54AB0-6BAA-44C6-B815-7578C13D3D15}"/>
              </a:ext>
            </a:extLst>
          </p:cNvPr>
          <p:cNvSpPr>
            <a:spLocks xmlns:a="http://schemas.openxmlformats.org/drawingml/2006/main" noGrp="1"/>
          </p:cNvSpPr>
          <p:nvPr/>
        </p:nvSpPr>
        <p:spPr>
          <a:xfrm xmlns:a="http://schemas.openxmlformats.org/drawingml/2006/main">
            <a:off x="466344" y="3511296"/>
            <a:ext cx="8220456"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Índices de precios</a:t>
            </a:r>
          </a:p>
        </p:txBody>
      </p:sp>
      <p:sp>
        <p:nvSpPr>
          <p:cNvPr id="30" name="ANUARIO_SERVICIOS_1_0">
            <a:extLst xmlns:a="http://schemas.openxmlformats.org/drawingml/2006/main">
              <a:ext uri="{FF2B5EF4-FFF2-40B4-BE49-F238E27FC236}">
                <a16:creationId xmlns:a16="http://schemas.microsoft.com/office/drawing/2014/main" id="{C877D3FE-21DC-4B30-9845-346EED1DA9F5}"/>
              </a:ext>
            </a:extLst>
          </p:cNvPr>
          <p:cNvSpPr>
            <a:spLocks xmlns:a="http://schemas.openxmlformats.org/drawingml/2006/main" noGrp="1"/>
          </p:cNvSpPr>
          <p:nvPr/>
        </p:nvSpPr>
        <p:spPr>
          <a:xfrm xmlns:a="http://schemas.openxmlformats.org/drawingml/2006/main">
            <a:off x="466344" y="383133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INEGI</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construye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INPC</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utilizando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variaciones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precios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una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canasta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representativa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hogares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mexicanos.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Dichos</a:t>
            </a:r>
            <a:r>
              <a:rPr sz="750" b="0" i="0">
                <a:solidFill>
                  <a:srgbClr val="24383A"/>
                </a:solidFill>
                <a:latin typeface="DejaVu Sans"/>
                <a:ea typeface="DejaVu Sans"/>
                <a:cs typeface="DejaVu Sans"/>
              </a:rPr>
              <a:t> </a:t>
            </a:r>
          </a:p>
        </p:txBody>
      </p:sp>
      <p:sp>
        <p:nvSpPr>
          <p:cNvPr id="31" name="ANUARIO_SERVICIOS_1_1">
            <a:extLst xmlns:a="http://schemas.openxmlformats.org/drawingml/2006/main">
              <a:ext uri="{FF2B5EF4-FFF2-40B4-BE49-F238E27FC236}">
                <a16:creationId xmlns:a16="http://schemas.microsoft.com/office/drawing/2014/main" id="{30FF3B14-DD49-450D-8FD6-DE17F1583EA2}"/>
              </a:ext>
            </a:extLst>
          </p:cNvPr>
          <p:cNvSpPr>
            <a:spLocks xmlns:a="http://schemas.openxmlformats.org/drawingml/2006/main" noGrp="1"/>
          </p:cNvSpPr>
          <p:nvPr/>
        </p:nvSpPr>
        <p:spPr>
          <a:xfrm xmlns:a="http://schemas.openxmlformats.org/drawingml/2006/main">
            <a:off x="466344" y="393801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pueden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representarse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medio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Clasificación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Consumo</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Individual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(CCIF),</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el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consta</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doce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divisiones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que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desagregan</a:t>
            </a:r>
            <a:r>
              <a:rPr sz="750" b="0" i="0">
                <a:solidFill>
                  <a:srgbClr val="24383A"/>
                </a:solidFill>
                <a:latin typeface="DejaVu Sans"/>
                <a:ea typeface="DejaVu Sans"/>
                <a:cs typeface="DejaVu Sans"/>
              </a:rPr>
              <a:t> </a:t>
            </a:r>
          </a:p>
        </p:txBody>
      </p:sp>
      <p:sp>
        <p:nvSpPr>
          <p:cNvPr id="32" name="ANUARIO_SERVICIOS_1_2">
            <a:extLst xmlns:a="http://schemas.openxmlformats.org/drawingml/2006/main">
              <a:ext uri="{FF2B5EF4-FFF2-40B4-BE49-F238E27FC236}">
                <a16:creationId xmlns:a16="http://schemas.microsoft.com/office/drawing/2014/main" id="{DE260164-016C-46CC-BDDC-B318B540F921}"/>
              </a:ext>
            </a:extLst>
          </p:cNvPr>
          <p:cNvSpPr>
            <a:spLocks xmlns:a="http://schemas.openxmlformats.org/drawingml/2006/main" noGrp="1"/>
          </p:cNvSpPr>
          <p:nvPr/>
        </p:nvSpPr>
        <p:spPr>
          <a:xfrm xmlns:a="http://schemas.openxmlformats.org/drawingml/2006/main">
            <a:off x="466344" y="4044696"/>
            <a:ext cx="8183880" cy="119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i="0">
                <a:solidFill>
                  <a:srgbClr val="24383A"/>
                </a:solidFill>
                <a:latin typeface="DejaVu Sans"/>
                <a:ea typeface="DejaVu Sans"/>
                <a:cs typeface="DejaVu Sans"/>
              </a:rPr>
              <a:t>en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Grupos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Clases,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cuales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representan</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categorías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finalidad</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de</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los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bienes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y</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servicios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compuestos</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por</a:t>
            </a:r>
            <a:r>
              <a:rPr sz="750" b="0" i="0">
                <a:solidFill>
                  <a:srgbClr val="24383A"/>
                </a:solidFill>
                <a:latin typeface="DejaVu Sans"/>
                <a:ea typeface="DejaVu Sans"/>
                <a:cs typeface="DejaVu Sans"/>
              </a:rPr>
              <a:t> </a:t>
            </a:r>
            <a:r>
              <a:rPr sz="750" b="0" i="0">
                <a:solidFill>
                  <a:srgbClr val="24383A"/>
                </a:solidFill>
                <a:latin typeface="DejaVu Sans"/>
                <a:ea typeface="DejaVu Sans"/>
                <a:cs typeface="DejaVu Sans"/>
              </a:rPr>
              <a:t>genéricos.</a:t>
            </a:r>
          </a:p>
        </p:txBody>
      </p:sp>
    </p:spTree>
    <p:extLst>
      <p:ext uri="{BB962C8B-B14F-4D97-AF65-F5344CB8AC3E}">
        <p14:creationId xmlns:p14="http://schemas.microsoft.com/office/powerpoint/2010/main" val="1013393704"/>
      </p:ext>
    </p:extLst>
  </p:cSld>
</p:sld>
</file>

<file path=ppt/slides/slide127.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53" name="ANUARIO_ENCABEZADO">
            <a:extLst xmlns:a="http://schemas.openxmlformats.org/drawingml/2006/main">
              <a:ext uri="{FF2B5EF4-FFF2-40B4-BE49-F238E27FC236}">
                <a16:creationId xmlns:a16="http://schemas.microsoft.com/office/drawing/2014/main" id="{0937AFDF-1A07-4CB6-8B08-1299442F576B}"/>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CBA38C09-5D64-4566-97B7-FF303ECF9F7F}"/>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F5B2E0FA-D2C2-462F-B45D-5421C1B92A03}"/>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III. METODOLOGÍAS</a:t>
            </a:r>
          </a:p>
        </p:txBody>
      </p:sp>
      <p:sp>
        <p:nvSpPr>
          <p:cNvPr id="4" name="ANUARIO_BIT_TEXTO">
            <a:extLst xmlns:a="http://schemas.openxmlformats.org/drawingml/2006/main">
              <a:ext uri="{FF2B5EF4-FFF2-40B4-BE49-F238E27FC236}">
                <a16:creationId xmlns:a16="http://schemas.microsoft.com/office/drawing/2014/main" id="{EC3338FD-6EBF-48D5-9684-82348BB4577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D6FD1610-6C00-4BA5-AB57-4AF0ED7C3075}"/>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EE49195D-9818-49D6-9526-23329D5AAC32}"/>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605B3F53-2AD6-4896-A73A-1FFB58A8CC31}"/>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C8A6A9CD-0DBF-4217-A574-41C32221DDA4}"/>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127</a:t>
            </a:r>
          </a:p>
        </p:txBody>
      </p:sp>
      <p:sp>
        <p:nvSpPr>
          <p:cNvPr id="9" name="ANUARIO_EDICION">
            <a:extLst xmlns:a="http://schemas.openxmlformats.org/drawingml/2006/main">
              <a:ext uri="{FF2B5EF4-FFF2-40B4-BE49-F238E27FC236}">
                <a16:creationId xmlns:a16="http://schemas.microsoft.com/office/drawing/2014/main" id="{DCF2ABCE-BBA7-4CFB-B5BA-1B4B69AADBE6}"/>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7_DESIGN_2026">
            <a:extLst xmlns:a="http://schemas.openxmlformats.org/drawingml/2006/main">
              <a:ext uri="{FF2B5EF4-FFF2-40B4-BE49-F238E27FC236}">
                <a16:creationId xmlns:a16="http://schemas.microsoft.com/office/drawing/2014/main" id="{31F7A381-0BB7-46B2-A096-7A816FEB78AE}"/>
              </a:ext>
            </a:extLst>
          </p:cNvPr>
          <p:cNvSpPr>
            <a:spLocks xmlns:a="http://schemas.openxmlformats.org/drawingml/2006/main" noGrp="1"/>
          </p:cNvSpPr>
          <p:nvPr/>
        </p:nvSpPr>
        <p:spPr>
          <a:xfrm xmlns:a="http://schemas.openxmlformats.org/drawingml/2006/main">
            <a:off x="301752" y="566928"/>
            <a:ext cx="4178808" cy="2121408"/>
          </a:xfrm>
          <a:prstGeom xmlns:a="http://schemas.openxmlformats.org/drawingml/2006/main" prst="roundRect">
            <a:avLst>
              <a:gd name="adj" fmla="val 2586"/>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2D6F240D-2EF2-4036-9F44-DE45AA50AF43}"/>
              </a:ext>
            </a:extLst>
          </p:cNvPr>
          <p:cNvSpPr>
            <a:spLocks xmlns:a="http://schemas.openxmlformats.org/drawingml/2006/main" noGrp="1"/>
          </p:cNvSpPr>
          <p:nvPr/>
        </p:nvSpPr>
        <p:spPr>
          <a:xfrm xmlns:a="http://schemas.openxmlformats.org/drawingml/2006/main">
            <a:off x="301752" y="640080"/>
            <a:ext cx="64008" cy="1975104"/>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9A2D8AAB-29E9-4A97-AF60-32A7E7875F98}"/>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650" b="1">
                <a:solidFill>
                  <a:srgbClr val="2F7F6F"/>
                </a:solidFill>
                <a:latin typeface="DejaVu Sans"/>
                <a:ea typeface="DejaVu Sans"/>
                <a:cs typeface="DejaVu Sans"/>
              </a:rPr>
              <a:t>Clasificación del Consumo Individual por Finalidades (CCIF)</a:t>
            </a:r>
          </a:p>
        </p:txBody>
      </p:sp>
      <p:graphicFrame>
        <p:nvGraphicFramePr>
          <p:cNvPr id="65" name=""/>
          <p:cNvGraphicFramePr/>
          <p:nvPr/>
        </p:nvGraphicFramePr>
        <p:xfrm>
          <a:off xmlns:a="http://schemas.openxmlformats.org/drawingml/2006/main" x="466344" y="960120"/>
          <a:ext xmlns:a="http://schemas.openxmlformats.org/drawingml/2006/main" cx="3794760" cy="1435608"/>
        </p:xfrm>
        <a:graphic xmlns:a="http://schemas.openxmlformats.org/drawingml/2006/main">
          <a:graphicData uri="http://schemas.openxmlformats.org/drawingml/2006/table">
            <a:tbl>
              <a:tblPr firstRow="0" bandRow="0"/>
              <a:tblGrid>
                <a:gridCol w="3008376"/>
                <a:gridCol w="786384"/>
              </a:tblGrid>
              <a:tr h="110431">
                <a:tc>
                  <a:txBody>
                    <a:bodyPr lIns="38100" tIns="19050" rIns="38100" bIns="19050" wrap="square">
                      <a:noAutofit/>
                    </a:bodyPr>
                    <a:lstStyle/>
                    <a:p>
                      <a:pPr algn="l"/>
                      <a:r>
                        <a:rPr sz="580" b="1">
                          <a:solidFill>
                            <a:srgbClr val="FFFFFF"/>
                          </a:solidFill>
                          <a:latin typeface="DejaVu Sans"/>
                          <a:ea typeface="DejaVu Sans"/>
                          <a:cs typeface="DejaVu Sans"/>
                        </a:rPr>
                        <a:t>División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Alimentos y bebidas no alcohólicas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25.77%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Bebidas alcohólicas y tabaco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2.69%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Prendas de vestir y calzado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4.78%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Vivienda, agua, electricidad, gas y otros combustibles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19.64%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Muebles, artículos para el hogar y para su conservación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4.53%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Salud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3.08%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Transporte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13.76%</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Recreación y cultura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4.87%</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Educación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3.54%</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Restaurantes y hoteles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9.52%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0431">
                <a:tc>
                  <a:txBody>
                    <a:bodyPr lIns="38100" tIns="19050" rIns="38100" bIns="19050" wrap="square">
                      <a:noAutofit/>
                    </a:bodyPr>
                    <a:lstStyle/>
                    <a:p>
                      <a:pPr algn="l"/>
                      <a:r>
                        <a:rPr sz="580" b="0">
                          <a:solidFill>
                            <a:srgbClr val="24383A"/>
                          </a:solidFill>
                          <a:latin typeface="DejaVu Sans"/>
                          <a:ea typeface="DejaVu Sans"/>
                          <a:cs typeface="DejaVu Sans"/>
                        </a:rPr>
                        <a:t>Bienes y servicios diversos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4.69%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4" name="ANUARIO_FUENTE_INPC_0">
            <a:extLst xmlns:a="http://schemas.openxmlformats.org/drawingml/2006/main">
              <a:ext uri="{FF2B5EF4-FFF2-40B4-BE49-F238E27FC236}">
                <a16:creationId xmlns:a16="http://schemas.microsoft.com/office/drawing/2014/main" id="{D43A7B03-E93E-48D7-B429-656759A88FC8}"/>
              </a:ext>
            </a:extLst>
          </p:cNvPr>
          <p:cNvSpPr>
            <a:spLocks xmlns:a="http://schemas.openxmlformats.org/drawingml/2006/main" noGrp="1"/>
          </p:cNvSpPr>
          <p:nvPr/>
        </p:nvSpPr>
        <p:spPr>
          <a:xfrm xmlns:a="http://schemas.openxmlformats.org/drawingml/2006/main">
            <a:off x="466344" y="2468880"/>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Índice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Precios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Consumidor,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Documento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metodológico.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Base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a:t>
            </a:r>
            <a:r>
              <a:rPr sz="520" b="0" i="0">
                <a:solidFill>
                  <a:srgbClr val="24383A"/>
                </a:solidFill>
                <a:latin typeface="DejaVu Sans"/>
                <a:ea typeface="DejaVu Sans"/>
                <a:cs typeface="DejaVu Sans"/>
              </a:rPr>
              <a:t> </a:t>
            </a:r>
          </a:p>
        </p:txBody>
      </p:sp>
      <p:sp>
        <p:nvSpPr>
          <p:cNvPr id="15" name="ANUARIO_FUENTE_INPC_1">
            <a:extLst xmlns:a="http://schemas.openxmlformats.org/drawingml/2006/main">
              <a:ext uri="{FF2B5EF4-FFF2-40B4-BE49-F238E27FC236}">
                <a16:creationId xmlns:a16="http://schemas.microsoft.com/office/drawing/2014/main" id="{1D40A6A1-1B5E-410C-8A1B-3D9FCC6E29D0}"/>
              </a:ext>
            </a:extLst>
          </p:cNvPr>
          <p:cNvSpPr>
            <a:spLocks xmlns:a="http://schemas.openxmlformats.org/drawingml/2006/main" noGrp="1"/>
          </p:cNvSpPr>
          <p:nvPr/>
        </p:nvSpPr>
        <p:spPr>
          <a:xfrm xmlns:a="http://schemas.openxmlformats.org/drawingml/2006/main">
            <a:off x="466344" y="2542845"/>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2018,</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p>
        </p:txBody>
      </p:sp>
      <p:sp>
        <p:nvSpPr>
          <p:cNvPr id="16" name="ANUARIO_ANEXO_P127_DESIGN_2026">
            <a:extLst xmlns:a="http://schemas.openxmlformats.org/drawingml/2006/main">
              <a:ext uri="{FF2B5EF4-FFF2-40B4-BE49-F238E27FC236}">
                <a16:creationId xmlns:a16="http://schemas.microsoft.com/office/drawing/2014/main" id="{401CFD2A-6580-418A-B55E-B865980BFE82}"/>
              </a:ext>
            </a:extLst>
          </p:cNvPr>
          <p:cNvSpPr>
            <a:spLocks xmlns:a="http://schemas.openxmlformats.org/drawingml/2006/main" noGrp="1"/>
          </p:cNvSpPr>
          <p:nvPr/>
        </p:nvSpPr>
        <p:spPr>
          <a:xfrm xmlns:a="http://schemas.openxmlformats.org/drawingml/2006/main">
            <a:off x="301752" y="2779776"/>
            <a:ext cx="4178808" cy="1682496"/>
          </a:xfrm>
          <a:prstGeom xmlns:a="http://schemas.openxmlformats.org/drawingml/2006/main" prst="roundRect">
            <a:avLst>
              <a:gd name="adj" fmla="val 3261"/>
            </a:avLst>
          </a:prstGeom>
          <a:solidFill xmlns:a="http://schemas.openxmlformats.org/drawingml/2006/main">
            <a:srgbClr val="F6FAF9"/>
          </a:solidFill>
          <a:ln xmlns:a="http://schemas.openxmlformats.org/drawingml/2006/main" w="9525">
            <a:solidFill>
              <a:srgbClr val="C9DAD6"/>
            </a:solidFill>
          </a:ln>
        </p:spPr>
      </p:sp>
      <p:sp>
        <p:nvSpPr>
          <p:cNvPr id="17" name="ANUARIO_ACENTO">
            <a:extLst xmlns:a="http://schemas.openxmlformats.org/drawingml/2006/main">
              <a:ext uri="{FF2B5EF4-FFF2-40B4-BE49-F238E27FC236}">
                <a16:creationId xmlns:a16="http://schemas.microsoft.com/office/drawing/2014/main" id="{5EE6C27E-4748-4FC1-9ED2-769BE943C82E}"/>
              </a:ext>
            </a:extLst>
          </p:cNvPr>
          <p:cNvSpPr>
            <a:spLocks xmlns:a="http://schemas.openxmlformats.org/drawingml/2006/main" noGrp="1"/>
          </p:cNvSpPr>
          <p:nvPr/>
        </p:nvSpPr>
        <p:spPr>
          <a:xfrm xmlns:a="http://schemas.openxmlformats.org/drawingml/2006/main">
            <a:off x="301752" y="2852928"/>
            <a:ext cx="64008" cy="1536192"/>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8" name="ANUARIO_SECCION">
            <a:extLst xmlns:a="http://schemas.openxmlformats.org/drawingml/2006/main">
              <a:ext uri="{FF2B5EF4-FFF2-40B4-BE49-F238E27FC236}">
                <a16:creationId xmlns:a16="http://schemas.microsoft.com/office/drawing/2014/main" id="{39B3E12E-FE84-4C5F-8033-38B7693F1D33}"/>
              </a:ext>
            </a:extLst>
          </p:cNvPr>
          <p:cNvSpPr>
            <a:spLocks xmlns:a="http://schemas.openxmlformats.org/drawingml/2006/main" noGrp="1"/>
          </p:cNvSpPr>
          <p:nvPr/>
        </p:nvSpPr>
        <p:spPr>
          <a:xfrm xmlns:a="http://schemas.openxmlformats.org/drawingml/2006/main">
            <a:off x="466344" y="2871216"/>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Ponderadores de la división Comunicaciones del INPC</a:t>
            </a:r>
          </a:p>
        </p:txBody>
      </p:sp>
      <p:graphicFrame>
        <p:nvGraphicFramePr>
          <p:cNvPr id="71" name=""/>
          <p:cNvGraphicFramePr/>
          <p:nvPr/>
        </p:nvGraphicFramePr>
        <p:xfrm>
          <a:off xmlns:a="http://schemas.openxmlformats.org/drawingml/2006/main" x="466344" y="3172968"/>
          <a:ext xmlns:a="http://schemas.openxmlformats.org/drawingml/2006/main" cx="3794760" cy="941832"/>
        </p:xfrm>
        <a:graphic xmlns:a="http://schemas.openxmlformats.org/drawingml/2006/main">
          <a:graphicData uri="http://schemas.openxmlformats.org/drawingml/2006/table">
            <a:tbl>
              <a:tblPr firstRow="0" bandRow="0"/>
              <a:tblGrid>
                <a:gridCol w="3008376"/>
                <a:gridCol w="786384"/>
              </a:tblGrid>
              <a:tr h="117729">
                <a:tc>
                  <a:txBody>
                    <a:bodyPr lIns="38100" tIns="19050" rIns="38100" bIns="19050" wrap="square">
                      <a:noAutofit/>
                    </a:bodyPr>
                    <a:lstStyle/>
                    <a:p>
                      <a:pPr algn="l"/>
                      <a:r>
                        <a:rPr sz="580" b="1">
                          <a:solidFill>
                            <a:srgbClr val="FFFFFF"/>
                          </a:solidFill>
                          <a:latin typeface="DejaVu Sans"/>
                          <a:ea typeface="DejaVu Sans"/>
                          <a:cs typeface="DejaVu Sans"/>
                        </a:rPr>
                        <a:t>Concepto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580" b="1">
                          <a:solidFill>
                            <a:srgbClr val="FFFFFF"/>
                          </a:solidFill>
                          <a:latin typeface="DejaVu Sans"/>
                          <a:ea typeface="DejaVu Sans"/>
                          <a:cs typeface="DejaVu Sans"/>
                        </a:rPr>
                        <a:t>Ponderador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Comunicaciones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3.13%</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1.28%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Paquetes de Internet, telefonía y televisión de paga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1.09%</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Equipo terminal de comunicación</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0.35%</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telefonía fija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0.28%</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Servicio de Internet</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580" b="0">
                          <a:solidFill>
                            <a:srgbClr val="24383A"/>
                          </a:solidFill>
                          <a:latin typeface="DejaVu Sans"/>
                          <a:ea typeface="DejaVu Sans"/>
                          <a:cs typeface="DejaVu Sans"/>
                        </a:rPr>
                        <a:t>0.12%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117729">
                <a:tc>
                  <a:txBody>
                    <a:bodyPr lIns="38100" tIns="19050" rIns="38100" bIns="19050" wrap="square">
                      <a:noAutofit/>
                    </a:bodyPr>
                    <a:lstStyle/>
                    <a:p>
                      <a:pPr algn="l"/>
                      <a:r>
                        <a:rPr sz="580" b="0">
                          <a:solidFill>
                            <a:srgbClr val="24383A"/>
                          </a:solidFill>
                          <a:latin typeface="DejaVu Sans"/>
                          <a:ea typeface="DejaVu Sans"/>
                          <a:cs typeface="DejaVu Sans"/>
                        </a:rPr>
                        <a:t>Paquetería</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580" b="0">
                          <a:solidFill>
                            <a:srgbClr val="24383A"/>
                          </a:solidFill>
                          <a:latin typeface="DejaVu Sans"/>
                          <a:ea typeface="DejaVu Sans"/>
                          <a:cs typeface="DejaVu Sans"/>
                        </a:rPr>
                        <a:t>0.02%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20" name="ANUARIO_FUENTE_COM_0">
            <a:extLst xmlns:a="http://schemas.openxmlformats.org/drawingml/2006/main">
              <a:ext uri="{FF2B5EF4-FFF2-40B4-BE49-F238E27FC236}">
                <a16:creationId xmlns:a16="http://schemas.microsoft.com/office/drawing/2014/main" id="{9C8104C5-B47C-41A9-8AE0-FD6707792AAA}"/>
              </a:ext>
            </a:extLst>
          </p:cNvPr>
          <p:cNvSpPr>
            <a:spLocks xmlns:a="http://schemas.openxmlformats.org/drawingml/2006/main" noGrp="1"/>
          </p:cNvSpPr>
          <p:nvPr/>
        </p:nvSpPr>
        <p:spPr>
          <a:xfrm xmlns:a="http://schemas.openxmlformats.org/drawingml/2006/main">
            <a:off x="466344" y="4169664"/>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1" i="0">
                <a:solidFill>
                  <a:srgbClr val="2F7F6F"/>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Ponderadores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INPC,</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Objeto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Gasto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Nacional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por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Genérico.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Segunda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quincena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julio</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2018=100,</a:t>
            </a:r>
            <a:r>
              <a:rPr sz="520" b="0" i="0">
                <a:solidFill>
                  <a:srgbClr val="24383A"/>
                </a:solidFill>
                <a:latin typeface="DejaVu Sans"/>
                <a:ea typeface="DejaVu Sans"/>
                <a:cs typeface="DejaVu Sans"/>
              </a:rPr>
              <a:t> </a:t>
            </a:r>
          </a:p>
        </p:txBody>
      </p:sp>
      <p:sp>
        <p:nvSpPr>
          <p:cNvPr id="21" name="ANUARIO_FUENTE_COM_1">
            <a:extLst xmlns:a="http://schemas.openxmlformats.org/drawingml/2006/main">
              <a:ext uri="{FF2B5EF4-FFF2-40B4-BE49-F238E27FC236}">
                <a16:creationId xmlns:a16="http://schemas.microsoft.com/office/drawing/2014/main" id="{B80100D2-0301-462B-BF98-09816C131E65}"/>
              </a:ext>
            </a:extLst>
          </p:cNvPr>
          <p:cNvSpPr>
            <a:spLocks xmlns:a="http://schemas.openxmlformats.org/drawingml/2006/main" noGrp="1"/>
          </p:cNvSpPr>
          <p:nvPr/>
        </p:nvSpPr>
        <p:spPr>
          <a:xfrm xmlns:a="http://schemas.openxmlformats.org/drawingml/2006/main">
            <a:off x="466344" y="4243629"/>
            <a:ext cx="3794760"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Disponible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en: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https://www.inegi.org.mx/programas/inpc/2018/</a:t>
            </a:r>
            <a:r>
              <a:rPr sz="520" b="0" i="0">
                <a:solidFill>
                  <a:srgbClr val="24383A"/>
                </a:solidFill>
                <a:latin typeface="DejaVu Sans"/>
                <a:ea typeface="DejaVu Sans"/>
                <a:cs typeface="DejaVu Sans"/>
              </a:rPr>
              <a:t>.</a:t>
            </a:r>
          </a:p>
        </p:txBody>
      </p:sp>
      <p:sp>
        <p:nvSpPr>
          <p:cNvPr id="22" name="ANUARIO_ANEXO_P127_DESIGN_2026">
            <a:extLst xmlns:a="http://schemas.openxmlformats.org/drawingml/2006/main">
              <a:ext uri="{FF2B5EF4-FFF2-40B4-BE49-F238E27FC236}">
                <a16:creationId xmlns:a16="http://schemas.microsoft.com/office/drawing/2014/main" id="{B60B7500-36C4-4523-BA92-2D48103E4A12}"/>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23" name="ANUARIO_ACENTO">
            <a:extLst xmlns:a="http://schemas.openxmlformats.org/drawingml/2006/main">
              <a:ext uri="{FF2B5EF4-FFF2-40B4-BE49-F238E27FC236}">
                <a16:creationId xmlns:a16="http://schemas.microsoft.com/office/drawing/2014/main" id="{1F5A2265-EC3A-42FD-9695-EC131807CF8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4" name="ANUARIO_SECCION">
            <a:extLst xmlns:a="http://schemas.openxmlformats.org/drawingml/2006/main">
              <a:ext uri="{FF2B5EF4-FFF2-40B4-BE49-F238E27FC236}">
                <a16:creationId xmlns:a16="http://schemas.microsoft.com/office/drawing/2014/main" id="{1782B35E-E3C7-4202-B250-5602EE58FD07}"/>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Ingreso y gasto de los hogares</a:t>
            </a:r>
          </a:p>
        </p:txBody>
      </p:sp>
      <p:sp>
        <p:nvSpPr>
          <p:cNvPr id="25" name="ANUARIO_INGRESOGASTO_0">
            <a:extLst xmlns:a="http://schemas.openxmlformats.org/drawingml/2006/main">
              <a:ext uri="{FF2B5EF4-FFF2-40B4-BE49-F238E27FC236}">
                <a16:creationId xmlns:a16="http://schemas.microsoft.com/office/drawing/2014/main" id="{306828B9-CD90-4187-848B-A59AE40F62BA}"/>
              </a:ext>
            </a:extLst>
          </p:cNvPr>
          <p:cNvSpPr>
            <a:spLocks xmlns:a="http://schemas.openxmlformats.org/drawingml/2006/main" noGrp="1"/>
          </p:cNvSpPr>
          <p:nvPr/>
        </p:nvSpPr>
        <p:spPr>
          <a:xfrm xmlns:a="http://schemas.openxmlformats.org/drawingml/2006/main">
            <a:off x="4828032" y="100584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Anuario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refiere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p>
        </p:txBody>
      </p:sp>
      <p:sp>
        <p:nvSpPr>
          <p:cNvPr id="26" name="ANUARIO_INGRESOGASTO_1">
            <a:extLst xmlns:a="http://schemas.openxmlformats.org/drawingml/2006/main">
              <a:ext uri="{FF2B5EF4-FFF2-40B4-BE49-F238E27FC236}">
                <a16:creationId xmlns:a16="http://schemas.microsoft.com/office/drawing/2014/main" id="{9401DF79-85EE-45A8-9180-B5D8F33945B2}"/>
              </a:ext>
            </a:extLst>
          </p:cNvPr>
          <p:cNvSpPr>
            <a:spLocks xmlns:a="http://schemas.openxmlformats.org/drawingml/2006/main" noGrp="1"/>
          </p:cNvSpPr>
          <p:nvPr/>
        </p:nvSpPr>
        <p:spPr>
          <a:xfrm xmlns:a="http://schemas.openxmlformats.org/drawingml/2006/main">
            <a:off x="4828032" y="10968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obtuvo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información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27" name="ANUARIO_INGRESOGASTO_2">
            <a:extLst xmlns:a="http://schemas.openxmlformats.org/drawingml/2006/main">
              <a:ext uri="{FF2B5EF4-FFF2-40B4-BE49-F238E27FC236}">
                <a16:creationId xmlns:a16="http://schemas.microsoft.com/office/drawing/2014/main" id="{197CE8B5-5EDB-4269-A659-EEA8986FB732}"/>
              </a:ext>
            </a:extLst>
          </p:cNvPr>
          <p:cNvSpPr>
            <a:spLocks xmlns:a="http://schemas.openxmlformats.org/drawingml/2006/main" noGrp="1"/>
          </p:cNvSpPr>
          <p:nvPr/>
        </p:nvSpPr>
        <p:spPr>
          <a:xfrm xmlns:a="http://schemas.openxmlformats.org/drawingml/2006/main">
            <a:off x="4828032" y="118790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ENIGH</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2024</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publica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INEGI.</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metodología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a:t>
            </a:r>
          </a:p>
        </p:txBody>
      </p:sp>
      <p:sp>
        <p:nvSpPr>
          <p:cNvPr id="28" name="ANUARIO_INGRESOGASTO_3">
            <a:extLst xmlns:a="http://schemas.openxmlformats.org/drawingml/2006/main">
              <a:ext uri="{FF2B5EF4-FFF2-40B4-BE49-F238E27FC236}">
                <a16:creationId xmlns:a16="http://schemas.microsoft.com/office/drawing/2014/main" id="{4AE3B3F7-138D-4C90-8419-3A0E246CA6BA}"/>
              </a:ext>
            </a:extLst>
          </p:cNvPr>
          <p:cNvSpPr>
            <a:spLocks xmlns:a="http://schemas.openxmlformats.org/drawingml/2006/main" noGrp="1"/>
          </p:cNvSpPr>
          <p:nvPr/>
        </p:nvSpPr>
        <p:spPr>
          <a:xfrm xmlns:a="http://schemas.openxmlformats.org/drawingml/2006/main">
            <a:off x="4828032" y="130434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1.</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primera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clasifican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su</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p>
        </p:txBody>
      </p:sp>
      <p:sp>
        <p:nvSpPr>
          <p:cNvPr id="29" name="ANUARIO_INGRESOGASTO_4">
            <a:extLst xmlns:a="http://schemas.openxmlformats.org/drawingml/2006/main">
              <a:ext uri="{FF2B5EF4-FFF2-40B4-BE49-F238E27FC236}">
                <a16:creationId xmlns:a16="http://schemas.microsoft.com/office/drawing/2014/main" id="{573DDF90-A475-4C2E-8C44-6E48110B097A}"/>
              </a:ext>
            </a:extLst>
          </p:cNvPr>
          <p:cNvSpPr>
            <a:spLocks xmlns:a="http://schemas.openxmlformats.org/drawingml/2006/main" noGrp="1"/>
          </p:cNvSpPr>
          <p:nvPr/>
        </p:nvSpPr>
        <p:spPr>
          <a:xfrm xmlns:a="http://schemas.openxmlformats.org/drawingml/2006/main">
            <a:off x="4828032" y="139537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ingreso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corriente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encuentra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tablas</a:t>
            </a:r>
            <a:r>
              <a:rPr sz="640" b="0" i="0">
                <a:solidFill>
                  <a:srgbClr val="24383A"/>
                </a:solidFill>
                <a:latin typeface="DejaVu Sans"/>
                <a:ea typeface="DejaVu Sans"/>
                <a:cs typeface="DejaVu Sans"/>
              </a:rPr>
              <a:t> </a:t>
            </a:r>
          </a:p>
        </p:txBody>
      </p:sp>
      <p:sp>
        <p:nvSpPr>
          <p:cNvPr id="30" name="ANUARIO_INGRESOGASTO_5">
            <a:extLst xmlns:a="http://schemas.openxmlformats.org/drawingml/2006/main">
              <a:ext uri="{FF2B5EF4-FFF2-40B4-BE49-F238E27FC236}">
                <a16:creationId xmlns:a16="http://schemas.microsoft.com/office/drawing/2014/main" id="{FB35DA7E-3393-4E10-8A96-3229E16BC591}"/>
              </a:ext>
            </a:extLst>
          </p:cNvPr>
          <p:cNvSpPr>
            <a:spLocks xmlns:a="http://schemas.openxmlformats.org/drawingml/2006/main" noGrp="1"/>
          </p:cNvSpPr>
          <p:nvPr/>
        </p:nvSpPr>
        <p:spPr>
          <a:xfrm xmlns:a="http://schemas.openxmlformats.org/drawingml/2006/main">
            <a:off x="4828032" y="148640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disponibles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CONCENTRADOHOGAR.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deciles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calculan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1" name="ANUARIO_INGRESOGASTO_6">
            <a:extLst xmlns:a="http://schemas.openxmlformats.org/drawingml/2006/main">
              <a:ext uri="{FF2B5EF4-FFF2-40B4-BE49-F238E27FC236}">
                <a16:creationId xmlns:a16="http://schemas.microsoft.com/office/drawing/2014/main" id="{EFEAFF3A-894F-4151-B108-EB9D0A0FBCDE}"/>
              </a:ext>
            </a:extLst>
          </p:cNvPr>
          <p:cNvSpPr>
            <a:spLocks xmlns:a="http://schemas.openxmlformats.org/drawingml/2006/main" noGrp="1"/>
          </p:cNvSpPr>
          <p:nvPr/>
        </p:nvSpPr>
        <p:spPr>
          <a:xfrm xmlns:a="http://schemas.openxmlformats.org/drawingml/2006/main">
            <a:off x="4828032" y="15774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acuerdo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esté</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nivel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cada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una</a:t>
            </a:r>
            <a:r>
              <a:rPr sz="640" b="0" i="0">
                <a:solidFill>
                  <a:srgbClr val="24383A"/>
                </a:solidFill>
                <a:latin typeface="DejaVu Sans"/>
                <a:ea typeface="DejaVu Sans"/>
                <a:cs typeface="DejaVu Sans"/>
              </a:rPr>
              <a:t> </a:t>
            </a:r>
          </a:p>
        </p:txBody>
      </p:sp>
      <p:sp>
        <p:nvSpPr>
          <p:cNvPr id="32" name="ANUARIO_INGRESOGASTO_7">
            <a:extLst xmlns:a="http://schemas.openxmlformats.org/drawingml/2006/main">
              <a:ext uri="{FF2B5EF4-FFF2-40B4-BE49-F238E27FC236}">
                <a16:creationId xmlns:a16="http://schemas.microsoft.com/office/drawing/2014/main" id="{822896DF-0BA6-4A21-8AFB-EE8BA9FF647D}"/>
              </a:ext>
            </a:extLst>
          </p:cNvPr>
          <p:cNvSpPr>
            <a:spLocks xmlns:a="http://schemas.openxmlformats.org/drawingml/2006/main" noGrp="1"/>
          </p:cNvSpPr>
          <p:nvPr/>
        </p:nvSpPr>
        <p:spPr>
          <a:xfrm xmlns:a="http://schemas.openxmlformats.org/drawingml/2006/main">
            <a:off x="4828032" y="166847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entidades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federativas.</a:t>
            </a:r>
          </a:p>
        </p:txBody>
      </p:sp>
      <p:sp>
        <p:nvSpPr>
          <p:cNvPr id="33" name="ANUARIO_INGRESOGASTO_8">
            <a:extLst xmlns:a="http://schemas.openxmlformats.org/drawingml/2006/main">
              <a:ext uri="{FF2B5EF4-FFF2-40B4-BE49-F238E27FC236}">
                <a16:creationId xmlns:a16="http://schemas.microsoft.com/office/drawing/2014/main" id="{3430B251-658A-4E9D-9FA6-98EC24C85356}"/>
              </a:ext>
            </a:extLst>
          </p:cNvPr>
          <p:cNvSpPr>
            <a:spLocks xmlns:a="http://schemas.openxmlformats.org/drawingml/2006/main" noGrp="1"/>
          </p:cNvSpPr>
          <p:nvPr/>
        </p:nvSpPr>
        <p:spPr>
          <a:xfrm xmlns:a="http://schemas.openxmlformats.org/drawingml/2006/main">
            <a:off x="4828032" y="178490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2.</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figuras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mostradas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tanto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nacional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estatal,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definen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dos</a:t>
            </a:r>
            <a:r>
              <a:rPr sz="640" b="0" i="0">
                <a:solidFill>
                  <a:srgbClr val="24383A"/>
                </a:solidFill>
                <a:latin typeface="DejaVu Sans"/>
                <a:ea typeface="DejaVu Sans"/>
                <a:cs typeface="DejaVu Sans"/>
              </a:rPr>
              <a:t> </a:t>
            </a:r>
          </a:p>
        </p:txBody>
      </p:sp>
      <p:sp>
        <p:nvSpPr>
          <p:cNvPr id="34" name="ANUARIO_INGRESOGASTO_9">
            <a:extLst xmlns:a="http://schemas.openxmlformats.org/drawingml/2006/main">
              <a:ext uri="{FF2B5EF4-FFF2-40B4-BE49-F238E27FC236}">
                <a16:creationId xmlns:a16="http://schemas.microsoft.com/office/drawing/2014/main" id="{5AB85AC6-7376-49F6-B064-257203DCE43F}"/>
              </a:ext>
            </a:extLst>
          </p:cNvPr>
          <p:cNvSpPr>
            <a:spLocks xmlns:a="http://schemas.openxmlformats.org/drawingml/2006/main" noGrp="1"/>
          </p:cNvSpPr>
          <p:nvPr/>
        </p:nvSpPr>
        <p:spPr>
          <a:xfrm xmlns:a="http://schemas.openxmlformats.org/drawingml/2006/main">
            <a:off x="4828032" y="187594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p>
        </p:txBody>
      </p:sp>
      <p:sp>
        <p:nvSpPr>
          <p:cNvPr id="35" name="ANUARIO_INGRESOGASTO_10">
            <a:extLst xmlns:a="http://schemas.openxmlformats.org/drawingml/2006/main">
              <a:ext uri="{FF2B5EF4-FFF2-40B4-BE49-F238E27FC236}">
                <a16:creationId xmlns:a16="http://schemas.microsoft.com/office/drawing/2014/main" id="{4994AB3D-64AE-41AB-84DE-24C8C0B275CB}"/>
              </a:ext>
            </a:extLst>
          </p:cNvPr>
          <p:cNvSpPr>
            <a:spLocks xmlns:a="http://schemas.openxmlformats.org/drawingml/2006/main" noGrp="1"/>
          </p:cNvSpPr>
          <p:nvPr/>
        </p:nvSpPr>
        <p:spPr>
          <a:xfrm xmlns:a="http://schemas.openxmlformats.org/drawingml/2006/main">
            <a:off x="4828032" y="196697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hogares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que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disponen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p>
        </p:txBody>
      </p:sp>
      <p:sp>
        <p:nvSpPr>
          <p:cNvPr id="36" name="ANUARIO_INGRESOGASTO_11">
            <a:extLst xmlns:a="http://schemas.openxmlformats.org/drawingml/2006/main">
              <a:ext uri="{FF2B5EF4-FFF2-40B4-BE49-F238E27FC236}">
                <a16:creationId xmlns:a16="http://schemas.microsoft.com/office/drawing/2014/main" id="{5B63A228-E74C-47B1-A302-4EDF6AA93387}"/>
              </a:ext>
            </a:extLst>
          </p:cNvPr>
          <p:cNvSpPr>
            <a:spLocks xmlns:a="http://schemas.openxmlformats.org/drawingml/2006/main" noGrp="1"/>
          </p:cNvSpPr>
          <p:nvPr/>
        </p:nvSpPr>
        <p:spPr>
          <a:xfrm xmlns:a="http://schemas.openxmlformats.org/drawingml/2006/main">
            <a:off x="4828032" y="20580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37" name="ANUARIO_INGRESOGASTO_12">
            <a:extLst xmlns:a="http://schemas.openxmlformats.org/drawingml/2006/main">
              <a:ext uri="{FF2B5EF4-FFF2-40B4-BE49-F238E27FC236}">
                <a16:creationId xmlns:a16="http://schemas.microsoft.com/office/drawing/2014/main" id="{A7D11A55-AE3E-45C5-B0A8-01AFC13F6C75}"/>
              </a:ext>
            </a:extLst>
          </p:cNvPr>
          <p:cNvSpPr>
            <a:spLocks xmlns:a="http://schemas.openxmlformats.org/drawingml/2006/main" noGrp="1"/>
          </p:cNvSpPr>
          <p:nvPr/>
        </p:nvSpPr>
        <p:spPr>
          <a:xfrm xmlns:a="http://schemas.openxmlformats.org/drawingml/2006/main">
            <a:off x="4828032" y="217444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1" i="0">
                <a:solidFill>
                  <a:srgbClr val="2F7F6F"/>
                </a:solidFill>
                <a:latin typeface="DejaVu Sans"/>
                <a:ea typeface="DejaVu Sans"/>
                <a:cs typeface="DejaVu Sans"/>
              </a:rPr>
              <a:t>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estima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trimestral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p>
        </p:txBody>
      </p:sp>
      <p:sp>
        <p:nvSpPr>
          <p:cNvPr id="38" name="ANUARIO_INGRESOGASTO_13">
            <a:extLst xmlns:a="http://schemas.openxmlformats.org/drawingml/2006/main">
              <a:ext uri="{FF2B5EF4-FFF2-40B4-BE49-F238E27FC236}">
                <a16:creationId xmlns:a16="http://schemas.microsoft.com/office/drawing/2014/main" id="{86A44643-09DB-409A-8690-7B8FDCBF4C85}"/>
              </a:ext>
            </a:extLst>
          </p:cNvPr>
          <p:cNvSpPr>
            <a:spLocks xmlns:a="http://schemas.openxmlformats.org/drawingml/2006/main" noGrp="1"/>
          </p:cNvSpPr>
          <p:nvPr/>
        </p:nvSpPr>
        <p:spPr>
          <a:xfrm xmlns:a="http://schemas.openxmlformats.org/drawingml/2006/main">
            <a:off x="4828032" y="2265477"/>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considerando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siguientes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conceptos,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utilizando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p>
        </p:txBody>
      </p:sp>
      <p:sp>
        <p:nvSpPr>
          <p:cNvPr id="39" name="ANUARIO_INGRESOGASTO_14">
            <a:extLst xmlns:a="http://schemas.openxmlformats.org/drawingml/2006/main">
              <a:ext uri="{FF2B5EF4-FFF2-40B4-BE49-F238E27FC236}">
                <a16:creationId xmlns:a16="http://schemas.microsoft.com/office/drawing/2014/main" id="{8D7EB7BC-4031-43FA-AB9A-B15B56DF479A}"/>
              </a:ext>
            </a:extLst>
          </p:cNvPr>
          <p:cNvSpPr>
            <a:spLocks xmlns:a="http://schemas.openxmlformats.org/drawingml/2006/main" noGrp="1"/>
          </p:cNvSpPr>
          <p:nvPr/>
        </p:nvSpPr>
        <p:spPr>
          <a:xfrm xmlns:a="http://schemas.openxmlformats.org/drawingml/2006/main">
            <a:off x="4828032" y="2356510"/>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tabla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GASTOSHOGAR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encuesta:</a:t>
            </a:r>
          </a:p>
        </p:txBody>
      </p:sp>
      <p:sp>
        <p:nvSpPr>
          <p:cNvPr id="40" name="ANUARIO_INGRESOGASTO_15">
            <a:extLst xmlns:a="http://schemas.openxmlformats.org/drawingml/2006/main">
              <a:ext uri="{FF2B5EF4-FFF2-40B4-BE49-F238E27FC236}">
                <a16:creationId xmlns:a16="http://schemas.microsoft.com/office/drawing/2014/main" id="{CB842B0B-2AC0-4063-9996-105BB0771E30}"/>
              </a:ext>
            </a:extLst>
          </p:cNvPr>
          <p:cNvSpPr>
            <a:spLocks xmlns:a="http://schemas.openxmlformats.org/drawingml/2006/main" noGrp="1"/>
          </p:cNvSpPr>
          <p:nvPr/>
        </p:nvSpPr>
        <p:spPr>
          <a:xfrm xmlns:a="http://schemas.openxmlformats.org/drawingml/2006/main">
            <a:off x="4828032" y="2472944"/>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fijas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A):</a:t>
            </a:r>
          </a:p>
        </p:txBody>
      </p:sp>
      <p:sp>
        <p:nvSpPr>
          <p:cNvPr id="41" name="ANUARIO_INGRESOGASTO_16">
            <a:extLst xmlns:a="http://schemas.openxmlformats.org/drawingml/2006/main">
              <a:ext uri="{FF2B5EF4-FFF2-40B4-BE49-F238E27FC236}">
                <a16:creationId xmlns:a16="http://schemas.microsoft.com/office/drawing/2014/main" id="{5303C755-FC46-4E9C-9110-058AA9F1EEE7}"/>
              </a:ext>
            </a:extLst>
          </p:cNvPr>
          <p:cNvSpPr>
            <a:spLocks xmlns:a="http://schemas.openxmlformats.org/drawingml/2006/main" noGrp="1"/>
          </p:cNvSpPr>
          <p:nvPr/>
        </p:nvSpPr>
        <p:spPr>
          <a:xfrm xmlns:a="http://schemas.openxmlformats.org/drawingml/2006/main">
            <a:off x="4828032" y="25893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R005:</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Larga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distancia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2" name="ANUARIO_INGRESOGASTO_17">
            <a:extLst xmlns:a="http://schemas.openxmlformats.org/drawingml/2006/main">
              <a:ext uri="{FF2B5EF4-FFF2-40B4-BE49-F238E27FC236}">
                <a16:creationId xmlns:a16="http://schemas.microsoft.com/office/drawing/2014/main" id="{11E00626-76D9-472F-B4D3-F59767E75FA3}"/>
              </a:ext>
            </a:extLst>
          </p:cNvPr>
          <p:cNvSpPr>
            <a:spLocks xmlns:a="http://schemas.openxmlformats.org/drawingml/2006/main" noGrp="1"/>
          </p:cNvSpPr>
          <p:nvPr/>
        </p:nvSpPr>
        <p:spPr>
          <a:xfrm xmlns:a="http://schemas.openxmlformats.org/drawingml/2006/main">
            <a:off x="4828032" y="2705811"/>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R006:</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Llamadas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locales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línea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particular</a:t>
            </a:r>
          </a:p>
        </p:txBody>
      </p:sp>
      <p:sp>
        <p:nvSpPr>
          <p:cNvPr id="43" name="ANUARIO_INGRESOGASTO_18">
            <a:extLst xmlns:a="http://schemas.openxmlformats.org/drawingml/2006/main">
              <a:ext uri="{FF2B5EF4-FFF2-40B4-BE49-F238E27FC236}">
                <a16:creationId xmlns:a16="http://schemas.microsoft.com/office/drawing/2014/main" id="{3B6FDC96-6720-4E93-929C-1C5D1DC6F3B6}"/>
              </a:ext>
            </a:extLst>
          </p:cNvPr>
          <p:cNvSpPr>
            <a:spLocks xmlns:a="http://schemas.openxmlformats.org/drawingml/2006/main" noGrp="1"/>
          </p:cNvSpPr>
          <p:nvPr/>
        </p:nvSpPr>
        <p:spPr>
          <a:xfrm xmlns:a="http://schemas.openxmlformats.org/drawingml/2006/main">
            <a:off x="4828032" y="2822245"/>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R008:</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p>
        </p:txBody>
      </p:sp>
      <p:sp>
        <p:nvSpPr>
          <p:cNvPr id="44" name="ANUARIO_INGRESOGASTO_19">
            <a:extLst xmlns:a="http://schemas.openxmlformats.org/drawingml/2006/main">
              <a:ext uri="{FF2B5EF4-FFF2-40B4-BE49-F238E27FC236}">
                <a16:creationId xmlns:a16="http://schemas.microsoft.com/office/drawing/2014/main" id="{A8E4A517-5212-4E1E-BB44-3E196BD7CC1E}"/>
              </a:ext>
            </a:extLst>
          </p:cNvPr>
          <p:cNvSpPr>
            <a:spLocks xmlns:a="http://schemas.openxmlformats.org/drawingml/2006/main" noGrp="1"/>
          </p:cNvSpPr>
          <p:nvPr/>
        </p:nvSpPr>
        <p:spPr>
          <a:xfrm xmlns:a="http://schemas.openxmlformats.org/drawingml/2006/main">
            <a:off x="4828032" y="2938678"/>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R009:</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p>
        </p:txBody>
      </p:sp>
      <p:sp>
        <p:nvSpPr>
          <p:cNvPr id="45" name="ANUARIO_INGRESOGASTO_20">
            <a:extLst xmlns:a="http://schemas.openxmlformats.org/drawingml/2006/main">
              <a:ext uri="{FF2B5EF4-FFF2-40B4-BE49-F238E27FC236}">
                <a16:creationId xmlns:a16="http://schemas.microsoft.com/office/drawing/2014/main" id="{D65C97CD-36FB-4B44-ABB8-A01672980011}"/>
              </a:ext>
            </a:extLst>
          </p:cNvPr>
          <p:cNvSpPr>
            <a:spLocks xmlns:a="http://schemas.openxmlformats.org/drawingml/2006/main" noGrp="1"/>
          </p:cNvSpPr>
          <p:nvPr/>
        </p:nvSpPr>
        <p:spPr>
          <a:xfrm xmlns:a="http://schemas.openxmlformats.org/drawingml/2006/main">
            <a:off x="4828032" y="3055112"/>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R010:</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p>
        </p:txBody>
      </p:sp>
      <p:sp>
        <p:nvSpPr>
          <p:cNvPr id="46" name="ANUARIO_INGRESOGASTO_21">
            <a:extLst xmlns:a="http://schemas.openxmlformats.org/drawingml/2006/main">
              <a:ext uri="{FF2B5EF4-FFF2-40B4-BE49-F238E27FC236}">
                <a16:creationId xmlns:a16="http://schemas.microsoft.com/office/drawing/2014/main" id="{13CD507D-4348-40F0-9F7D-B307579BD631}"/>
              </a:ext>
            </a:extLst>
          </p:cNvPr>
          <p:cNvSpPr>
            <a:spLocks xmlns:a="http://schemas.openxmlformats.org/drawingml/2006/main" noGrp="1"/>
          </p:cNvSpPr>
          <p:nvPr/>
        </p:nvSpPr>
        <p:spPr>
          <a:xfrm xmlns:a="http://schemas.openxmlformats.org/drawingml/2006/main">
            <a:off x="4828032" y="31715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R011:</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Paquete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Internet,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televisión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paga</a:t>
            </a:r>
            <a:r>
              <a:rPr sz="640" b="0" i="0">
                <a:solidFill>
                  <a:srgbClr val="24383A"/>
                </a:solidFill>
                <a:latin typeface="DejaVu Sans"/>
                <a:ea typeface="DejaVu Sans"/>
                <a:cs typeface="DejaVu Sans"/>
              </a:rPr>
              <a:t> </a:t>
            </a:r>
          </a:p>
        </p:txBody>
      </p:sp>
      <p:sp>
        <p:nvSpPr>
          <p:cNvPr id="47" name="ANUARIO_INGRESOGASTO_22">
            <a:extLst xmlns:a="http://schemas.openxmlformats.org/drawingml/2006/main">
              <a:ext uri="{FF2B5EF4-FFF2-40B4-BE49-F238E27FC236}">
                <a16:creationId xmlns:a16="http://schemas.microsoft.com/office/drawing/2014/main" id="{E5F86568-600E-47EF-9A90-0002389AE167}"/>
              </a:ext>
            </a:extLst>
          </p:cNvPr>
          <p:cNvSpPr>
            <a:spLocks xmlns:a="http://schemas.openxmlformats.org/drawingml/2006/main" noGrp="1"/>
          </p:cNvSpPr>
          <p:nvPr/>
        </p:nvSpPr>
        <p:spPr>
          <a:xfrm xmlns:a="http://schemas.openxmlformats.org/drawingml/2006/main">
            <a:off x="4828032" y="3287979"/>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Para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telecomunicaciones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móviles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(Universo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B):</a:t>
            </a:r>
          </a:p>
        </p:txBody>
      </p:sp>
      <p:sp>
        <p:nvSpPr>
          <p:cNvPr id="48" name="ANUARIO_INGRESOGASTO_23">
            <a:extLst xmlns:a="http://schemas.openxmlformats.org/drawingml/2006/main">
              <a:ext uri="{FF2B5EF4-FFF2-40B4-BE49-F238E27FC236}">
                <a16:creationId xmlns:a16="http://schemas.microsoft.com/office/drawing/2014/main" id="{BCD60557-15D4-4CCF-82DC-81730CD534D0}"/>
              </a:ext>
            </a:extLst>
          </p:cNvPr>
          <p:cNvSpPr>
            <a:spLocks xmlns:a="http://schemas.openxmlformats.org/drawingml/2006/main" noGrp="1"/>
          </p:cNvSpPr>
          <p:nvPr/>
        </p:nvSpPr>
        <p:spPr>
          <a:xfrm xmlns:a="http://schemas.openxmlformats.org/drawingml/2006/main">
            <a:off x="4828032" y="3404413"/>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F003:</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Compra</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tarjetas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y</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pago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por</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el</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servicio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de</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a:t>
            </a:r>
          </a:p>
        </p:txBody>
      </p:sp>
      <p:sp>
        <p:nvSpPr>
          <p:cNvPr id="49" name="ANUARIO_INGRESOGASTO_24">
            <a:extLst xmlns:a="http://schemas.openxmlformats.org/drawingml/2006/main">
              <a:ext uri="{FF2B5EF4-FFF2-40B4-BE49-F238E27FC236}">
                <a16:creationId xmlns:a16="http://schemas.microsoft.com/office/drawing/2014/main" id="{0536F298-E53C-454C-A3BB-6AEBBAC2AD99}"/>
              </a:ext>
            </a:extLst>
          </p:cNvPr>
          <p:cNvSpPr>
            <a:spLocks xmlns:a="http://schemas.openxmlformats.org/drawingml/2006/main" noGrp="1"/>
          </p:cNvSpPr>
          <p:nvPr/>
        </p:nvSpPr>
        <p:spPr>
          <a:xfrm xmlns:a="http://schemas.openxmlformats.org/drawingml/2006/main">
            <a:off x="4828032" y="3520846"/>
            <a:ext cx="3794760" cy="10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0" b="0">
                <a:solidFill>
                  <a:srgbClr val="24383A"/>
                </a:solidFill>
                <a:latin typeface="DejaVu Sans"/>
                <a:ea typeface="DejaVu Sans"/>
                <a:cs typeface="DejaVu Sans"/>
              </a:defRPr>
            </a:pPr>
            <a:r>
              <a:rPr sz="640" b="0" i="0">
                <a:solidFill>
                  <a:srgbClr val="24383A"/>
                </a:solidFill>
                <a:latin typeface="DejaVu Sans"/>
                <a:ea typeface="DejaVu Sans"/>
                <a:cs typeface="DejaVu Sans"/>
              </a:rPr>
              <a:t>•</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R007:</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Teléfonos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celulares</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(plan</a:t>
            </a:r>
            <a:r>
              <a:rPr sz="640" b="0" i="0">
                <a:solidFill>
                  <a:srgbClr val="24383A"/>
                </a:solidFill>
                <a:latin typeface="DejaVu Sans"/>
                <a:ea typeface="DejaVu Sans"/>
                <a:cs typeface="DejaVu Sans"/>
              </a:rPr>
              <a:t> </a:t>
            </a:r>
            <a:r>
              <a:rPr sz="640" b="0" i="0">
                <a:solidFill>
                  <a:srgbClr val="24383A"/>
                </a:solidFill>
                <a:latin typeface="DejaVu Sans"/>
                <a:ea typeface="DejaVu Sans"/>
                <a:cs typeface="DejaVu Sans"/>
              </a:rPr>
              <a:t>mensual)</a:t>
            </a:r>
          </a:p>
        </p:txBody>
      </p:sp>
      <p:sp>
        <p:nvSpPr>
          <p:cNvPr id="50" name="ANUARIO_PONDERADOR_NOTA_0">
            <a:extLst xmlns:a="http://schemas.openxmlformats.org/drawingml/2006/main">
              <a:ext uri="{FF2B5EF4-FFF2-40B4-BE49-F238E27FC236}">
                <a16:creationId xmlns:a16="http://schemas.microsoft.com/office/drawing/2014/main" id="{B52DF570-A28F-4FC2-9BE2-A41D2B52917E}"/>
              </a:ext>
            </a:extLst>
          </p:cNvPr>
          <p:cNvSpPr>
            <a:spLocks xmlns:a="http://schemas.openxmlformats.org/drawingml/2006/main" noGrp="1"/>
          </p:cNvSpPr>
          <p:nvPr/>
        </p:nvSpPr>
        <p:spPr>
          <a:xfrm xmlns:a="http://schemas.openxmlformats.org/drawingml/2006/main">
            <a:off x="301752" y="4544568"/>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&lt;&lt;Comunicaciones&gt;&gt;</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3.13%</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ponderación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INPC</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general.</a:t>
            </a:r>
            <a:r>
              <a:rPr sz="630" b="0" i="0">
                <a:solidFill>
                  <a:srgbClr val="24383A"/>
                </a:solidFill>
                <a:latin typeface="DejaVu Sans"/>
                <a:ea typeface="DejaVu Sans"/>
                <a:cs typeface="DejaVu Sans"/>
              </a:rPr>
              <a:t> </a:t>
            </a:r>
          </a:p>
        </p:txBody>
      </p:sp>
      <p:sp>
        <p:nvSpPr>
          <p:cNvPr id="51" name="ANUARIO_PONDERADOR_NOTA_1">
            <a:extLst xmlns:a="http://schemas.openxmlformats.org/drawingml/2006/main">
              <a:ext uri="{FF2B5EF4-FFF2-40B4-BE49-F238E27FC236}">
                <a16:creationId xmlns:a16="http://schemas.microsoft.com/office/drawing/2014/main" id="{3123494D-A2F8-47D5-B0A1-9AF0B2E95D07}"/>
              </a:ext>
            </a:extLst>
          </p:cNvPr>
          <p:cNvSpPr>
            <a:spLocks xmlns:a="http://schemas.openxmlformats.org/drawingml/2006/main" noGrp="1"/>
          </p:cNvSpPr>
          <p:nvPr/>
        </p:nvSpPr>
        <p:spPr>
          <a:xfrm xmlns:a="http://schemas.openxmlformats.org/drawingml/2006/main">
            <a:off x="301752" y="4634179"/>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Dicha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división</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incluye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seis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conceptos,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los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cuales</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el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servicio</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de</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telefonía</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móvil</a:t>
            </a:r>
            <a:r>
              <a:rPr sz="630" b="0" i="0">
                <a:solidFill>
                  <a:srgbClr val="24383A"/>
                </a:solidFill>
                <a:latin typeface="DejaVu Sans"/>
                <a:ea typeface="DejaVu Sans"/>
                <a:cs typeface="DejaVu Sans"/>
              </a:rPr>
              <a:t> </a:t>
            </a:r>
            <a:r>
              <a:rPr sz="630" b="0" i="0">
                <a:solidFill>
                  <a:srgbClr val="24383A"/>
                </a:solidFill>
                <a:latin typeface="DejaVu Sans"/>
                <a:ea typeface="DejaVu Sans"/>
                <a:cs typeface="DejaVu Sans"/>
              </a:rPr>
              <a:t>representa</a:t>
            </a:r>
            <a:r>
              <a:rPr sz="630" b="0" i="0">
                <a:solidFill>
                  <a:srgbClr val="24383A"/>
                </a:solidFill>
                <a:latin typeface="DejaVu Sans"/>
                <a:ea typeface="DejaVu Sans"/>
                <a:cs typeface="DejaVu Sans"/>
              </a:rPr>
              <a:t> </a:t>
            </a:r>
          </a:p>
        </p:txBody>
      </p:sp>
      <p:sp>
        <p:nvSpPr>
          <p:cNvPr id="52" name="ANUARIO_PONDERADOR_NOTA_2">
            <a:extLst xmlns:a="http://schemas.openxmlformats.org/drawingml/2006/main">
              <a:ext uri="{FF2B5EF4-FFF2-40B4-BE49-F238E27FC236}">
                <a16:creationId xmlns:a16="http://schemas.microsoft.com/office/drawing/2014/main" id="{56409FF6-26EA-4E04-A569-97B0759872D1}"/>
              </a:ext>
            </a:extLst>
          </p:cNvPr>
          <p:cNvSpPr>
            <a:spLocks xmlns:a="http://schemas.openxmlformats.org/drawingml/2006/main" noGrp="1"/>
          </p:cNvSpPr>
          <p:nvPr/>
        </p:nvSpPr>
        <p:spPr>
          <a:xfrm xmlns:a="http://schemas.openxmlformats.org/drawingml/2006/main">
            <a:off x="301752" y="4723790"/>
            <a:ext cx="8540496" cy="100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30" b="0">
                <a:solidFill>
                  <a:srgbClr val="24383A"/>
                </a:solidFill>
                <a:latin typeface="DejaVu Sans"/>
                <a:ea typeface="DejaVu Sans"/>
                <a:cs typeface="DejaVu Sans"/>
              </a:defRPr>
            </a:pPr>
            <a:r>
              <a:rPr sz="630" b="0" i="0">
                <a:solidFill>
                  <a:srgbClr val="24383A"/>
                </a:solidFill>
                <a:latin typeface="DejaVu Sans"/>
                <a:ea typeface="DejaVu Sans"/>
                <a:cs typeface="DejaVu Sans"/>
              </a:rPr>
              <a:t>1.28%.</a:t>
            </a:r>
          </a:p>
        </p:txBody>
      </p:sp>
    </p:spTree>
    <p:extLst>
      <p:ext uri="{BB962C8B-B14F-4D97-AF65-F5344CB8AC3E}">
        <p14:creationId xmlns:p14="http://schemas.microsoft.com/office/powerpoint/2010/main" val="416992631"/>
      </p:ext>
    </p:extLst>
  </p:cSld>
</p:sld>
</file>

<file path=ppt/slides/slide128.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68" name="ANUARIO_ENCABEZADO">
            <a:extLst xmlns:a="http://schemas.openxmlformats.org/drawingml/2006/main">
              <a:ext uri="{FF2B5EF4-FFF2-40B4-BE49-F238E27FC236}">
                <a16:creationId xmlns:a16="http://schemas.microsoft.com/office/drawing/2014/main" id="{9557F67B-5735-4D86-A861-AD75DBB718BF}"/>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B7EE5BDD-DAB9-4CC5-BD5A-1DB7EE71A183}"/>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72EFE0BD-F097-449E-870C-A9F6DA65AAF5}"/>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III. METODOLOGÍAS</a:t>
            </a:r>
          </a:p>
        </p:txBody>
      </p:sp>
      <p:sp>
        <p:nvSpPr>
          <p:cNvPr id="4" name="ANUARIO_BIT_TEXTO">
            <a:extLst xmlns:a="http://schemas.openxmlformats.org/drawingml/2006/main">
              <a:ext uri="{FF2B5EF4-FFF2-40B4-BE49-F238E27FC236}">
                <a16:creationId xmlns:a16="http://schemas.microsoft.com/office/drawing/2014/main" id="{68DE85E2-2B4E-4907-BC6C-D0A8395DCC8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5BF41FC8-CC59-4C69-8D32-14B7784CFFB5}"/>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1601AF2E-6413-4485-85F7-44951E516E72}"/>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D6794763-6F46-48F6-B3EC-9BB5E3B3699F}"/>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C2C8DBA9-9D43-4124-81CC-A53EE8B3117D}"/>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128</a:t>
            </a:r>
          </a:p>
        </p:txBody>
      </p:sp>
      <p:sp>
        <p:nvSpPr>
          <p:cNvPr id="9" name="ANUARIO_EDICION">
            <a:extLst xmlns:a="http://schemas.openxmlformats.org/drawingml/2006/main">
              <a:ext uri="{FF2B5EF4-FFF2-40B4-BE49-F238E27FC236}">
                <a16:creationId xmlns:a16="http://schemas.microsoft.com/office/drawing/2014/main" id="{1684152A-4141-4683-8C70-81D1FD27DFD5}"/>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8_DESIGN_2026">
            <a:extLst xmlns:a="http://schemas.openxmlformats.org/drawingml/2006/main">
              <a:ext uri="{FF2B5EF4-FFF2-40B4-BE49-F238E27FC236}">
                <a16:creationId xmlns:a16="http://schemas.microsoft.com/office/drawing/2014/main" id="{3F0852C7-62A1-4944-AE3B-0A6A6730C0B8}"/>
              </a:ext>
            </a:extLst>
          </p:cNvPr>
          <p:cNvSpPr>
            <a:spLocks xmlns:a="http://schemas.openxmlformats.org/drawingml/2006/main" noGrp="1"/>
          </p:cNvSpPr>
          <p:nvPr/>
        </p:nvSpPr>
        <p:spPr>
          <a:xfrm xmlns:a="http://schemas.openxmlformats.org/drawingml/2006/main">
            <a:off x="301752" y="566928"/>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991B6EA7-51D0-461C-BB04-4EE0DE7C0B66}"/>
              </a:ext>
            </a:extLst>
          </p:cNvPr>
          <p:cNvSpPr>
            <a:spLocks xmlns:a="http://schemas.openxmlformats.org/drawingml/2006/main" noGrp="1"/>
          </p:cNvSpPr>
          <p:nvPr/>
        </p:nvSpPr>
        <p:spPr>
          <a:xfrm xmlns:a="http://schemas.openxmlformats.org/drawingml/2006/main">
            <a:off x="301752" y="640080"/>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51C1A20F-5214-4F75-9B88-B95AB212BA4E}"/>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Gasto e ingreso · continuación</a:t>
            </a:r>
          </a:p>
        </p:txBody>
      </p:sp>
      <p:sp>
        <p:nvSpPr>
          <p:cNvPr id="13" name="ANUARIO_CONTENIDO_0_0_0">
            <a:extLst xmlns:a="http://schemas.openxmlformats.org/drawingml/2006/main">
              <a:ext uri="{FF2B5EF4-FFF2-40B4-BE49-F238E27FC236}">
                <a16:creationId xmlns:a16="http://schemas.microsoft.com/office/drawing/2014/main" id="{F94856A3-E00A-4B20-9585-E3003E6CD68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4.</a:t>
            </a:r>
            <a:r>
              <a:rPr sz="730" b="1" i="0">
                <a:solidFill>
                  <a:srgbClr val="2F7F6F"/>
                </a:solidFill>
                <a:latin typeface="DejaVu Sans"/>
                <a:ea typeface="DejaVu Sans"/>
                <a:cs typeface="DejaVu Sans"/>
              </a:rPr>
              <a:t> </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según</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B91E1A41-0D9F-4CD9-83DF-37B02151976E}"/>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listados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002A338B-BC70-41B4-8AD6-B5E8D61E7B0F}"/>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Posteriormente,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número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5BA85A07-4120-4E0E-A30E-2352909FA1B1}"/>
              </a:ext>
            </a:extLst>
          </p:cNvPr>
          <p:cNvSpPr>
            <a:spLocks xmlns:a="http://schemas.openxmlformats.org/drawingml/2006/main" noGrp="1"/>
          </p:cNvSpPr>
          <p:nvPr/>
        </p:nvSpPr>
        <p:spPr>
          <a:xfrm xmlns:a="http://schemas.openxmlformats.org/drawingml/2006/main">
            <a:off x="466344"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manera,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006A5B5B-9FDB-4473-A7F7-7635C003ADA9}"/>
              </a:ext>
            </a:extLst>
          </p:cNvPr>
          <p:cNvSpPr>
            <a:spLocks xmlns:a="http://schemas.openxmlformats.org/drawingml/2006/main" noGrp="1"/>
          </p:cNvSpPr>
          <p:nvPr/>
        </p:nvSpPr>
        <p:spPr>
          <a:xfrm xmlns:a="http://schemas.openxmlformats.org/drawingml/2006/main">
            <a:off x="466344" y="14211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mostrado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figuras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Anuario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5F45ABE7-F995-43D4-91A0-731D2A542FFA}"/>
              </a:ext>
            </a:extLst>
          </p:cNvPr>
          <p:cNvSpPr>
            <a:spLocks xmlns:a="http://schemas.openxmlformats.org/drawingml/2006/main" noGrp="1"/>
          </p:cNvSpPr>
          <p:nvPr/>
        </p:nvSpPr>
        <p:spPr>
          <a:xfrm xmlns:a="http://schemas.openxmlformats.org/drawingml/2006/main">
            <a:off x="466344" y="15250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tuvieron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19" name="ANUARIO_CONTENIDO_0_0_6">
            <a:extLst xmlns:a="http://schemas.openxmlformats.org/drawingml/2006/main">
              <a:ext uri="{FF2B5EF4-FFF2-40B4-BE49-F238E27FC236}">
                <a16:creationId xmlns:a16="http://schemas.microsoft.com/office/drawing/2014/main" id="{49E5B130-1FA9-4FD1-99C4-28B2471775D3}"/>
              </a:ext>
            </a:extLst>
          </p:cNvPr>
          <p:cNvSpPr>
            <a:spLocks xmlns:a="http://schemas.openxmlformats.org/drawingml/2006/main" noGrp="1"/>
          </p:cNvSpPr>
          <p:nvPr/>
        </p:nvSpPr>
        <p:spPr>
          <a:xfrm xmlns:a="http://schemas.openxmlformats.org/drawingml/2006/main">
            <a:off x="466344" y="16288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0" name="ANUARIO_CONTENIDO_0_0_7">
            <a:extLst xmlns:a="http://schemas.openxmlformats.org/drawingml/2006/main">
              <a:ext uri="{FF2B5EF4-FFF2-40B4-BE49-F238E27FC236}">
                <a16:creationId xmlns:a16="http://schemas.microsoft.com/office/drawing/2014/main" id="{62D2ACA9-19E8-4574-BACE-F7F048160C31}"/>
              </a:ext>
            </a:extLst>
          </p:cNvPr>
          <p:cNvSpPr>
            <a:spLocks xmlns:a="http://schemas.openxmlformats.org/drawingml/2006/main" noGrp="1"/>
          </p:cNvSpPr>
          <p:nvPr/>
        </p:nvSpPr>
        <p:spPr>
          <a:xfrm xmlns:a="http://schemas.openxmlformats.org/drawingml/2006/main">
            <a:off x="466344"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1" i="0">
                <a:solidFill>
                  <a:srgbClr val="2F7F6F"/>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porcentaje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respecto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9A72C06F-CBCE-4B4A-8B57-24A2F8AA1F15}"/>
              </a:ext>
            </a:extLst>
          </p:cNvPr>
          <p:cNvSpPr>
            <a:spLocks xmlns:a="http://schemas.openxmlformats.org/drawingml/2006/main" noGrp="1"/>
          </p:cNvSpPr>
          <p:nvPr/>
        </p:nvSpPr>
        <p:spPr>
          <a:xfrm xmlns:a="http://schemas.openxmlformats.org/drawingml/2006/main">
            <a:off x="466344"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fijas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móviles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9A7C4046-73A4-4C24-B2D6-EA348042C298}"/>
              </a:ext>
            </a:extLst>
          </p:cNvPr>
          <p:cNvSpPr>
            <a:spLocks xmlns:a="http://schemas.openxmlformats.org/drawingml/2006/main" noGrp="1"/>
          </p:cNvSpPr>
          <p:nvPr/>
        </p:nvSpPr>
        <p:spPr>
          <a:xfrm xmlns:a="http://schemas.openxmlformats.org/drawingml/2006/main">
            <a:off x="466344"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explican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dividen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23" name="ANUARIO_CONTENIDO_0_0_10">
            <a:extLst xmlns:a="http://schemas.openxmlformats.org/drawingml/2006/main">
              <a:ext uri="{FF2B5EF4-FFF2-40B4-BE49-F238E27FC236}">
                <a16:creationId xmlns:a16="http://schemas.microsoft.com/office/drawing/2014/main" id="{C4FEDBE7-2632-4236-98E2-53EE73B4965A}"/>
              </a:ext>
            </a:extLst>
          </p:cNvPr>
          <p:cNvSpPr>
            <a:spLocks xmlns:a="http://schemas.openxmlformats.org/drawingml/2006/main" noGrp="1"/>
          </p:cNvSpPr>
          <p:nvPr/>
        </p:nvSpPr>
        <p:spPr>
          <a:xfrm xmlns:a="http://schemas.openxmlformats.org/drawingml/2006/main">
            <a:off x="466344" y="20695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dispusieron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dichos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servicios.</a:t>
            </a:r>
          </a:p>
        </p:txBody>
      </p:sp>
      <p:sp>
        <p:nvSpPr>
          <p:cNvPr id="24" name="ANUARIO_ANEXO_P128_DESIGN_2026">
            <a:extLst xmlns:a="http://schemas.openxmlformats.org/drawingml/2006/main">
              <a:ext uri="{FF2B5EF4-FFF2-40B4-BE49-F238E27FC236}">
                <a16:creationId xmlns:a16="http://schemas.microsoft.com/office/drawing/2014/main" id="{FB4B121B-C2B0-4F22-B2DD-3986F57FCF21}"/>
              </a:ext>
            </a:extLst>
          </p:cNvPr>
          <p:cNvSpPr>
            <a:spLocks xmlns:a="http://schemas.openxmlformats.org/drawingml/2006/main" noGrp="1"/>
          </p:cNvSpPr>
          <p:nvPr/>
        </p:nvSpPr>
        <p:spPr>
          <a:xfrm xmlns:a="http://schemas.openxmlformats.org/drawingml/2006/main">
            <a:off x="301752" y="2560320"/>
            <a:ext cx="4178808" cy="1901952"/>
          </a:xfrm>
          <a:prstGeom xmlns:a="http://schemas.openxmlformats.org/drawingml/2006/main" prst="roundRect">
            <a:avLst>
              <a:gd name="adj" fmla="val 2885"/>
            </a:avLst>
          </a:prstGeom>
          <a:solidFill xmlns:a="http://schemas.openxmlformats.org/drawingml/2006/main">
            <a:srgbClr val="F6FAF9"/>
          </a:solidFill>
          <a:ln xmlns:a="http://schemas.openxmlformats.org/drawingml/2006/main" w="9525">
            <a:solidFill>
              <a:srgbClr val="C9DAD6"/>
            </a:solidFill>
          </a:ln>
        </p:spPr>
      </p:sp>
      <p:sp>
        <p:nvSpPr>
          <p:cNvPr id="25" name="ANUARIO_ACENTO">
            <a:extLst xmlns:a="http://schemas.openxmlformats.org/drawingml/2006/main">
              <a:ext uri="{FF2B5EF4-FFF2-40B4-BE49-F238E27FC236}">
                <a16:creationId xmlns:a16="http://schemas.microsoft.com/office/drawing/2014/main" id="{9DFD51AF-F9EB-4957-B692-02C1A87A446A}"/>
              </a:ext>
            </a:extLst>
          </p:cNvPr>
          <p:cNvSpPr>
            <a:spLocks xmlns:a="http://schemas.openxmlformats.org/drawingml/2006/main" noGrp="1"/>
          </p:cNvSpPr>
          <p:nvPr/>
        </p:nvSpPr>
        <p:spPr>
          <a:xfrm xmlns:a="http://schemas.openxmlformats.org/drawingml/2006/main">
            <a:off x="301752" y="2633472"/>
            <a:ext cx="64008" cy="1755648"/>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26" name="ANUARIO_SECCION">
            <a:extLst xmlns:a="http://schemas.openxmlformats.org/drawingml/2006/main">
              <a:ext uri="{FF2B5EF4-FFF2-40B4-BE49-F238E27FC236}">
                <a16:creationId xmlns:a16="http://schemas.microsoft.com/office/drawing/2014/main" id="{8F0F17E4-9E4B-4C51-BA20-EF3A9948BEE3}"/>
              </a:ext>
            </a:extLst>
          </p:cNvPr>
          <p:cNvSpPr>
            <a:spLocks xmlns:a="http://schemas.openxmlformats.org/drawingml/2006/main" noGrp="1"/>
          </p:cNvSpPr>
          <p:nvPr/>
        </p:nvSpPr>
        <p:spPr>
          <a:xfrm xmlns:a="http://schemas.openxmlformats.org/drawingml/2006/main">
            <a:off x="466344" y="2651760"/>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ENDUTIH 2025 · metodología¹³</a:t>
            </a:r>
          </a:p>
        </p:txBody>
      </p:sp>
      <p:sp>
        <p:nvSpPr>
          <p:cNvPr id="27" name="ANUARIO_CONTENIDO_0_1_0">
            <a:extLst xmlns:a="http://schemas.openxmlformats.org/drawingml/2006/main">
              <a:ext uri="{FF2B5EF4-FFF2-40B4-BE49-F238E27FC236}">
                <a16:creationId xmlns:a16="http://schemas.microsoft.com/office/drawing/2014/main" id="{C22E41BE-3FDC-44D7-B1AD-594B7A69717C}"/>
              </a:ext>
            </a:extLst>
          </p:cNvPr>
          <p:cNvSpPr>
            <a:spLocks xmlns:a="http://schemas.openxmlformats.org/drawingml/2006/main" noGrp="1"/>
          </p:cNvSpPr>
          <p:nvPr/>
        </p:nvSpPr>
        <p:spPr>
          <a:xfrm xmlns:a="http://schemas.openxmlformats.org/drawingml/2006/main">
            <a:off x="466344" y="299923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obtener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disponibilidad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28" name="ANUARIO_CONTENIDO_0_1_1">
            <a:extLst xmlns:a="http://schemas.openxmlformats.org/drawingml/2006/main">
              <a:ext uri="{FF2B5EF4-FFF2-40B4-BE49-F238E27FC236}">
                <a16:creationId xmlns:a16="http://schemas.microsoft.com/office/drawing/2014/main" id="{DF2B112F-AE99-4D18-8DFD-33A3BB85681D}"/>
              </a:ext>
            </a:extLst>
          </p:cNvPr>
          <p:cNvSpPr>
            <a:spLocks xmlns:a="http://schemas.openxmlformats.org/drawingml/2006/main" noGrp="1"/>
          </p:cNvSpPr>
          <p:nvPr/>
        </p:nvSpPr>
        <p:spPr>
          <a:xfrm xmlns:a="http://schemas.openxmlformats.org/drawingml/2006/main">
            <a:off x="466344" y="310306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tecnologías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comunicaciones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p>
        </p:txBody>
      </p:sp>
      <p:sp>
        <p:nvSpPr>
          <p:cNvPr id="29" name="ANUARIO_CONTENIDO_0_1_2">
            <a:extLst xmlns:a="http://schemas.openxmlformats.org/drawingml/2006/main">
              <a:ext uri="{FF2B5EF4-FFF2-40B4-BE49-F238E27FC236}">
                <a16:creationId xmlns:a16="http://schemas.microsoft.com/office/drawing/2014/main" id="{3015A1CC-A9DC-40DD-8502-78EE86989164}"/>
              </a:ext>
            </a:extLst>
          </p:cNvPr>
          <p:cNvSpPr>
            <a:spLocks xmlns:a="http://schemas.openxmlformats.org/drawingml/2006/main" noGrp="1"/>
          </p:cNvSpPr>
          <p:nvPr/>
        </p:nvSpPr>
        <p:spPr>
          <a:xfrm xmlns:a="http://schemas.openxmlformats.org/drawingml/2006/main">
            <a:off x="466344" y="320690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individuos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0" name="ANUARIO_CONTENIDO_0_1_3">
            <a:extLst xmlns:a="http://schemas.openxmlformats.org/drawingml/2006/main">
              <a:ext uri="{FF2B5EF4-FFF2-40B4-BE49-F238E27FC236}">
                <a16:creationId xmlns:a16="http://schemas.microsoft.com/office/drawing/2014/main" id="{45062051-96B1-4270-9567-2A783DD1E7C5}"/>
              </a:ext>
            </a:extLst>
          </p:cNvPr>
          <p:cNvSpPr>
            <a:spLocks xmlns:a="http://schemas.openxmlformats.org/drawingml/2006/main" noGrp="1"/>
          </p:cNvSpPr>
          <p:nvPr/>
        </p:nvSpPr>
        <p:spPr>
          <a:xfrm xmlns:a="http://schemas.openxmlformats.org/drawingml/2006/main">
            <a:off x="466344" y="33107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ENDUTIH,</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31" name="ANUARIO_CONTENIDO_0_1_4">
            <a:extLst xmlns:a="http://schemas.openxmlformats.org/drawingml/2006/main">
              <a:ext uri="{FF2B5EF4-FFF2-40B4-BE49-F238E27FC236}">
                <a16:creationId xmlns:a16="http://schemas.microsoft.com/office/drawing/2014/main" id="{FF4982B3-5B85-4CF5-A752-566B53DA7009}"/>
              </a:ext>
            </a:extLst>
          </p:cNvPr>
          <p:cNvSpPr>
            <a:spLocks xmlns:a="http://schemas.openxmlformats.org/drawingml/2006/main" noGrp="1"/>
          </p:cNvSpPr>
          <p:nvPr/>
        </p:nvSpPr>
        <p:spPr>
          <a:xfrm xmlns:a="http://schemas.openxmlformats.org/drawingml/2006/main">
            <a:off x="466344" y="341457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p>
        </p:txBody>
      </p:sp>
      <p:sp>
        <p:nvSpPr>
          <p:cNvPr id="32" name="ANUARIO_CONTENIDO_0_1_5">
            <a:extLst xmlns:a="http://schemas.openxmlformats.org/drawingml/2006/main">
              <a:ext uri="{FF2B5EF4-FFF2-40B4-BE49-F238E27FC236}">
                <a16:creationId xmlns:a16="http://schemas.microsoft.com/office/drawing/2014/main" id="{DDEAA855-64B2-47D1-A7BA-FB02CF82B552}"/>
              </a:ext>
            </a:extLst>
          </p:cNvPr>
          <p:cNvSpPr>
            <a:spLocks xmlns:a="http://schemas.openxmlformats.org/drawingml/2006/main" noGrp="1"/>
          </p:cNvSpPr>
          <p:nvPr/>
        </p:nvSpPr>
        <p:spPr>
          <a:xfrm xmlns:a="http://schemas.openxmlformats.org/drawingml/2006/main">
            <a:off x="466344" y="351840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p>
        </p:txBody>
      </p:sp>
      <p:sp>
        <p:nvSpPr>
          <p:cNvPr id="33" name="ANUARIO_CONTENIDO_0_1_6">
            <a:extLst xmlns:a="http://schemas.openxmlformats.org/drawingml/2006/main">
              <a:ext uri="{FF2B5EF4-FFF2-40B4-BE49-F238E27FC236}">
                <a16:creationId xmlns:a16="http://schemas.microsoft.com/office/drawing/2014/main" id="{211DE168-0FCF-4F45-AFA6-400EF65EEA76}"/>
              </a:ext>
            </a:extLst>
          </p:cNvPr>
          <p:cNvSpPr>
            <a:spLocks xmlns:a="http://schemas.openxmlformats.org/drawingml/2006/main" noGrp="1"/>
          </p:cNvSpPr>
          <p:nvPr/>
        </p:nvSpPr>
        <p:spPr>
          <a:xfrm xmlns:a="http://schemas.openxmlformats.org/drawingml/2006/main">
            <a:off x="466344" y="362224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p>
        </p:txBody>
      </p:sp>
      <p:sp>
        <p:nvSpPr>
          <p:cNvPr id="34" name="ANUARIO_CONTENIDO_0_1_7">
            <a:extLst xmlns:a="http://schemas.openxmlformats.org/drawingml/2006/main">
              <a:ext uri="{FF2B5EF4-FFF2-40B4-BE49-F238E27FC236}">
                <a16:creationId xmlns:a16="http://schemas.microsoft.com/office/drawing/2014/main" id="{16F04FA5-CBBC-4917-A140-961F37B6190D}"/>
              </a:ext>
            </a:extLst>
          </p:cNvPr>
          <p:cNvSpPr>
            <a:spLocks xmlns:a="http://schemas.openxmlformats.org/drawingml/2006/main" noGrp="1"/>
          </p:cNvSpPr>
          <p:nvPr/>
        </p:nvSpPr>
        <p:spPr>
          <a:xfrm xmlns:a="http://schemas.openxmlformats.org/drawingml/2006/main">
            <a:off x="466344" y="372607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Maestra.</a:t>
            </a:r>
          </a:p>
        </p:txBody>
      </p:sp>
      <p:sp>
        <p:nvSpPr>
          <p:cNvPr id="35" name="ANUARIO_CONTENIDO_0_1_8">
            <a:extLst xmlns:a="http://schemas.openxmlformats.org/drawingml/2006/main">
              <a:ext uri="{FF2B5EF4-FFF2-40B4-BE49-F238E27FC236}">
                <a16:creationId xmlns:a16="http://schemas.microsoft.com/office/drawing/2014/main" id="{13FBD5B0-EE6C-4FD4-8CF2-7FCE8CF06075}"/>
              </a:ext>
            </a:extLst>
          </p:cNvPr>
          <p:cNvSpPr>
            <a:spLocks xmlns:a="http://schemas.openxmlformats.org/drawingml/2006/main" noGrp="1"/>
          </p:cNvSpPr>
          <p:nvPr/>
        </p:nvSpPr>
        <p:spPr>
          <a:xfrm xmlns:a="http://schemas.openxmlformats.org/drawingml/2006/main">
            <a:off x="466344" y="38553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36" name="ANUARIO_CONTENIDO_0_1_9">
            <a:extLst xmlns:a="http://schemas.openxmlformats.org/drawingml/2006/main">
              <a:ext uri="{FF2B5EF4-FFF2-40B4-BE49-F238E27FC236}">
                <a16:creationId xmlns:a16="http://schemas.microsoft.com/office/drawing/2014/main" id="{2C4ACF18-F52E-435C-BB6A-3C868B68B41B}"/>
              </a:ext>
            </a:extLst>
          </p:cNvPr>
          <p:cNvSpPr>
            <a:spLocks xmlns:a="http://schemas.openxmlformats.org/drawingml/2006/main" noGrp="1"/>
          </p:cNvSpPr>
          <p:nvPr/>
        </p:nvSpPr>
        <p:spPr>
          <a:xfrm xmlns:a="http://schemas.openxmlformats.org/drawingml/2006/main">
            <a:off x="466344" y="395914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eventos</a:t>
            </a:r>
            <a:r>
              <a:rPr sz="730" b="0" i="0">
                <a:solidFill>
                  <a:srgbClr val="24383A"/>
                </a:solidFill>
                <a:latin typeface="DejaVu Sans"/>
                <a:ea typeface="DejaVu Sans"/>
                <a:cs typeface="DejaVu Sans"/>
              </a:rPr>
              <a:t> </a:t>
            </a:r>
          </a:p>
        </p:txBody>
      </p:sp>
      <p:sp>
        <p:nvSpPr>
          <p:cNvPr id="37" name="ANUARIO_CONTENIDO_0_1_10">
            <a:extLst xmlns:a="http://schemas.openxmlformats.org/drawingml/2006/main">
              <a:ext uri="{FF2B5EF4-FFF2-40B4-BE49-F238E27FC236}">
                <a16:creationId xmlns:a16="http://schemas.microsoft.com/office/drawing/2014/main" id="{60BE6DB8-CDAC-4CEC-B3BF-C21240293F82}"/>
              </a:ext>
            </a:extLst>
          </p:cNvPr>
          <p:cNvSpPr>
            <a:spLocks xmlns:a="http://schemas.openxmlformats.org/drawingml/2006/main" noGrp="1"/>
          </p:cNvSpPr>
          <p:nvPr/>
        </p:nvSpPr>
        <p:spPr>
          <a:xfrm xmlns:a="http://schemas.openxmlformats.org/drawingml/2006/main">
            <a:off x="466344" y="406298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2015-2016</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noviembre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r>
              <a:rPr sz="730" b="0" i="0">
                <a:solidFill>
                  <a:srgbClr val="24383A"/>
                </a:solidFill>
                <a:latin typeface="DejaVu Sans"/>
                <a:ea typeface="DejaVu Sans"/>
                <a:cs typeface="DejaVu Sans"/>
              </a:rPr>
              <a:t> </a:t>
            </a:r>
          </a:p>
        </p:txBody>
      </p:sp>
      <p:sp>
        <p:nvSpPr>
          <p:cNvPr id="38" name="ANUARIO_ANEXO_P128_DESIGN_2026">
            <a:extLst xmlns:a="http://schemas.openxmlformats.org/drawingml/2006/main">
              <a:ext uri="{FF2B5EF4-FFF2-40B4-BE49-F238E27FC236}">
                <a16:creationId xmlns:a16="http://schemas.microsoft.com/office/drawing/2014/main" id="{4C8EA383-9F2D-4D43-A3EB-B4C50361B118}"/>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9" name="ANUARIO_ACENTO">
            <a:extLst xmlns:a="http://schemas.openxmlformats.org/drawingml/2006/main">
              <a:ext uri="{FF2B5EF4-FFF2-40B4-BE49-F238E27FC236}">
                <a16:creationId xmlns:a16="http://schemas.microsoft.com/office/drawing/2014/main" id="{BF6387ED-BB45-4C42-AF05-F78A68D0C0C8}"/>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40" name="ANUARIO_SECCION">
            <a:extLst xmlns:a="http://schemas.openxmlformats.org/drawingml/2006/main">
              <a:ext uri="{FF2B5EF4-FFF2-40B4-BE49-F238E27FC236}">
                <a16:creationId xmlns:a16="http://schemas.microsoft.com/office/drawing/2014/main" id="{DBD58DBC-A66F-4AEA-A96B-0504C16F43BE}"/>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Consumo de radio y televisión</a:t>
            </a:r>
          </a:p>
        </p:txBody>
      </p:sp>
      <p:sp>
        <p:nvSpPr>
          <p:cNvPr id="41" name="ANUARIO_CONTENIDO_1_0_0">
            <a:extLst xmlns:a="http://schemas.openxmlformats.org/drawingml/2006/main">
              <a:ext uri="{FF2B5EF4-FFF2-40B4-BE49-F238E27FC236}">
                <a16:creationId xmlns:a16="http://schemas.microsoft.com/office/drawing/2014/main" id="{7060990B-7519-4FDA-AEF7-41D0B8D1E1B1}"/>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compilados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p>
        </p:txBody>
      </p:sp>
      <p:sp>
        <p:nvSpPr>
          <p:cNvPr id="42" name="ANUARIO_CONTENIDO_1_0_1">
            <a:extLst xmlns:a="http://schemas.openxmlformats.org/drawingml/2006/main">
              <a:ext uri="{FF2B5EF4-FFF2-40B4-BE49-F238E27FC236}">
                <a16:creationId xmlns:a16="http://schemas.microsoft.com/office/drawing/2014/main" id="{85983D2A-881C-49B0-8184-1AE13B86123C}"/>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llamados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“people</a:t>
            </a:r>
            <a:r>
              <a:rPr sz="730" b="0" i="0">
                <a:solidFill>
                  <a:srgbClr val="24383A"/>
                </a:solidFill>
                <a:latin typeface="DejaVu Sans"/>
                <a:ea typeface="DejaVu Sans"/>
                <a:cs typeface="DejaVu Sans"/>
              </a:rPr>
              <a:t> </a:t>
            </a:r>
          </a:p>
        </p:txBody>
      </p:sp>
      <p:sp>
        <p:nvSpPr>
          <p:cNvPr id="43" name="ANUARIO_CONTENIDO_1_0_2">
            <a:extLst xmlns:a="http://schemas.openxmlformats.org/drawingml/2006/main">
              <a:ext uri="{FF2B5EF4-FFF2-40B4-BE49-F238E27FC236}">
                <a16:creationId xmlns:a16="http://schemas.microsoft.com/office/drawing/2014/main" id="{41D1B34B-317F-425F-8DA5-138A31FB7BFC}"/>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recopilación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electrónico.</a:t>
            </a:r>
          </a:p>
        </p:txBody>
      </p:sp>
      <p:sp>
        <p:nvSpPr>
          <p:cNvPr id="44" name="ANUARIO_CONTENIDO_1_0_3">
            <a:extLst xmlns:a="http://schemas.openxmlformats.org/drawingml/2006/main">
              <a:ext uri="{FF2B5EF4-FFF2-40B4-BE49-F238E27FC236}">
                <a16:creationId xmlns:a16="http://schemas.microsoft.com/office/drawing/2014/main" id="{79714E8D-1593-4C3F-BB00-90AFE80BAFA2}"/>
              </a:ext>
            </a:extLst>
          </p:cNvPr>
          <p:cNvSpPr>
            <a:spLocks xmlns:a="http://schemas.openxmlformats.org/drawingml/2006/main" noGrp="1"/>
          </p:cNvSpPr>
          <p:nvPr/>
        </p:nvSpPr>
        <p:spPr>
          <a:xfrm xmlns:a="http://schemas.openxmlformats.org/drawingml/2006/main">
            <a:off x="4828032"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mediciones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agrupadas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cinco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rubros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p>
        </p:txBody>
      </p:sp>
      <p:sp>
        <p:nvSpPr>
          <p:cNvPr id="45" name="ANUARIO_CONTENIDO_1_0_4">
            <a:extLst xmlns:a="http://schemas.openxmlformats.org/drawingml/2006/main">
              <a:ext uri="{FF2B5EF4-FFF2-40B4-BE49-F238E27FC236}">
                <a16:creationId xmlns:a16="http://schemas.microsoft.com/office/drawing/2014/main" id="{22FF0411-9AAC-4F5F-A8CB-B800192B2F6C}"/>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AMCM</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p>
        </p:txBody>
      </p:sp>
      <p:sp>
        <p:nvSpPr>
          <p:cNvPr id="46" name="ANUARIO_CONTENIDO_1_0_5">
            <a:extLst xmlns:a="http://schemas.openxmlformats.org/drawingml/2006/main">
              <a:ext uri="{FF2B5EF4-FFF2-40B4-BE49-F238E27FC236}">
                <a16:creationId xmlns:a16="http://schemas.microsoft.com/office/drawing/2014/main" id="{1412F00B-5E04-4D92-98BA-9209496BA144}"/>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Monterrey),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(Área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Metropolitana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47" name="ANUARIO_CONTENIDO_1_0_6">
            <a:extLst xmlns:a="http://schemas.openxmlformats.org/drawingml/2006/main">
              <a:ext uri="{FF2B5EF4-FFF2-40B4-BE49-F238E27FC236}">
                <a16:creationId xmlns:a16="http://schemas.microsoft.com/office/drawing/2014/main" id="{4D69ED56-BCBB-4433-849D-DDCA07E290E9}"/>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Ciudad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Guadalajara);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p>
        </p:txBody>
      </p:sp>
      <p:sp>
        <p:nvSpPr>
          <p:cNvPr id="48" name="ANUARIO_CONTENIDO_1_0_7">
            <a:extLst xmlns:a="http://schemas.openxmlformats.org/drawingml/2006/main">
              <a:ext uri="{FF2B5EF4-FFF2-40B4-BE49-F238E27FC236}">
                <a16:creationId xmlns:a16="http://schemas.microsoft.com/office/drawing/2014/main" id="{1E9E9AB2-5BE7-43EF-888A-BA4838C02B88}"/>
              </a:ext>
            </a:extLst>
          </p:cNvPr>
          <p:cNvSpPr>
            <a:spLocks xmlns:a="http://schemas.openxmlformats.org/drawingml/2006/main" noGrp="1"/>
          </p:cNvSpPr>
          <p:nvPr/>
        </p:nvSpPr>
        <p:spPr>
          <a:xfrm xmlns:a="http://schemas.openxmlformats.org/drawingml/2006/main">
            <a:off x="4828032" y="17580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indicativos,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además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conglomerado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república</a:t>
            </a:r>
            <a:r>
              <a:rPr sz="730" b="0" i="0">
                <a:solidFill>
                  <a:srgbClr val="24383A"/>
                </a:solidFill>
                <a:latin typeface="DejaVu Sans"/>
                <a:ea typeface="DejaVu Sans"/>
                <a:cs typeface="DejaVu Sans"/>
              </a:rPr>
              <a:t> </a:t>
            </a:r>
          </a:p>
        </p:txBody>
      </p:sp>
      <p:sp>
        <p:nvSpPr>
          <p:cNvPr id="49" name="ANUARIO_CONTENIDO_1_0_8">
            <a:extLst xmlns:a="http://schemas.openxmlformats.org/drawingml/2006/main">
              <a:ext uri="{FF2B5EF4-FFF2-40B4-BE49-F238E27FC236}">
                <a16:creationId xmlns:a16="http://schemas.microsoft.com/office/drawing/2014/main" id="{07AEBFEC-11D3-49EE-A16E-75A5F2203D03}"/>
              </a:ext>
            </a:extLst>
          </p:cNvPr>
          <p:cNvSpPr>
            <a:spLocks xmlns:a="http://schemas.openxmlformats.org/drawingml/2006/main" noGrp="1"/>
          </p:cNvSpPr>
          <p:nvPr/>
        </p:nvSpPr>
        <p:spPr>
          <a:xfrm xmlns:a="http://schemas.openxmlformats.org/drawingml/2006/main">
            <a:off x="4828032" y="18619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conjunto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estudio.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a:t>
            </a:r>
            <a:r>
              <a:rPr sz="730" b="0" i="0">
                <a:solidFill>
                  <a:srgbClr val="24383A"/>
                </a:solidFill>
                <a:latin typeface="DejaVu Sans"/>
                <a:ea typeface="DejaVu Sans"/>
                <a:cs typeface="DejaVu Sans"/>
              </a:rPr>
              <a:t> </a:t>
            </a:r>
          </a:p>
        </p:txBody>
      </p:sp>
      <p:sp>
        <p:nvSpPr>
          <p:cNvPr id="50" name="ANUARIO_CONTENIDO_1_0_9">
            <a:extLst xmlns:a="http://schemas.openxmlformats.org/drawingml/2006/main">
              <a:ext uri="{FF2B5EF4-FFF2-40B4-BE49-F238E27FC236}">
                <a16:creationId xmlns:a16="http://schemas.microsoft.com/office/drawing/2014/main" id="{F6042E21-525E-4E72-9DF5-3A114121B577}"/>
              </a:ext>
            </a:extLst>
          </p:cNvPr>
          <p:cNvSpPr>
            <a:spLocks xmlns:a="http://schemas.openxmlformats.org/drawingml/2006/main" noGrp="1"/>
          </p:cNvSpPr>
          <p:nvPr/>
        </p:nvSpPr>
        <p:spPr>
          <a:xfrm xmlns:a="http://schemas.openxmlformats.org/drawingml/2006/main">
            <a:off x="4828032" y="19657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ciudades)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dominios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evaluados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p>
        </p:txBody>
      </p:sp>
      <p:sp>
        <p:nvSpPr>
          <p:cNvPr id="51" name="ANUARIO_CONTENIDO_1_0_10">
            <a:extLst xmlns:a="http://schemas.openxmlformats.org/drawingml/2006/main">
              <a:ext uri="{FF2B5EF4-FFF2-40B4-BE49-F238E27FC236}">
                <a16:creationId xmlns:a16="http://schemas.microsoft.com/office/drawing/2014/main" id="{459F3BFA-0E24-4134-B943-D3B8CA74F3A7}"/>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referirse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Universo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4</a:t>
            </a:r>
            <a:r>
              <a:rPr sz="730" b="0" i="0">
                <a:solidFill>
                  <a:srgbClr val="24383A"/>
                </a:solidFill>
                <a:latin typeface="DejaVu Sans"/>
                <a:ea typeface="DejaVu Sans"/>
                <a:cs typeface="DejaVu Sans"/>
              </a:rPr>
              <a:t> </a:t>
            </a:r>
          </a:p>
        </p:txBody>
      </p:sp>
      <p:sp>
        <p:nvSpPr>
          <p:cNvPr id="52" name="ANUARIO_CONTENIDO_1_0_11">
            <a:extLst xmlns:a="http://schemas.openxmlformats.org/drawingml/2006/main">
              <a:ext uri="{FF2B5EF4-FFF2-40B4-BE49-F238E27FC236}">
                <a16:creationId xmlns:a16="http://schemas.microsoft.com/office/drawing/2014/main" id="{904FE1D3-6289-42DC-BD0C-27777B6271B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años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tengan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funcionando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niveles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2">
            <a:extLst xmlns:a="http://schemas.openxmlformats.org/drawingml/2006/main">
              <a:ext uri="{FF2B5EF4-FFF2-40B4-BE49-F238E27FC236}">
                <a16:creationId xmlns:a16="http://schemas.microsoft.com/office/drawing/2014/main" id="{48466C9B-E02B-4916-855C-D14B6AF780B5}"/>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personas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p>
        </p:txBody>
      </p:sp>
      <p:sp>
        <p:nvSpPr>
          <p:cNvPr id="54" name="ANUARIO_CONTENIDO_1_0_13">
            <a:extLst xmlns:a="http://schemas.openxmlformats.org/drawingml/2006/main">
              <a:ext uri="{FF2B5EF4-FFF2-40B4-BE49-F238E27FC236}">
                <a16:creationId xmlns:a16="http://schemas.microsoft.com/office/drawing/2014/main" id="{61F24B7A-06B7-4772-92D9-7393148E3501}"/>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funciona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tiene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acceso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algún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tipo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través</a:t>
            </a:r>
            <a:r>
              <a:rPr sz="730" b="0" i="0">
                <a:solidFill>
                  <a:srgbClr val="24383A"/>
                </a:solidFill>
                <a:latin typeface="DejaVu Sans"/>
                <a:ea typeface="DejaVu Sans"/>
                <a:cs typeface="DejaVu Sans"/>
              </a:rPr>
              <a:t> </a:t>
            </a:r>
          </a:p>
        </p:txBody>
      </p:sp>
      <p:sp>
        <p:nvSpPr>
          <p:cNvPr id="55" name="ANUARIO_CONTENIDO_1_0_14">
            <a:extLst xmlns:a="http://schemas.openxmlformats.org/drawingml/2006/main">
              <a:ext uri="{FF2B5EF4-FFF2-40B4-BE49-F238E27FC236}">
                <a16:creationId xmlns:a16="http://schemas.microsoft.com/office/drawing/2014/main" id="{7562D141-7F85-49DA-A565-416A273047FC}"/>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mismo,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independientemente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reciban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(señal</a:t>
            </a:r>
            <a:r>
              <a:rPr sz="730" b="0" i="0">
                <a:solidFill>
                  <a:srgbClr val="24383A"/>
                </a:solidFill>
                <a:latin typeface="DejaVu Sans"/>
                <a:ea typeface="DejaVu Sans"/>
                <a:cs typeface="DejaVu Sans"/>
              </a:rPr>
              <a:t> </a:t>
            </a:r>
          </a:p>
        </p:txBody>
      </p:sp>
      <p:sp>
        <p:nvSpPr>
          <p:cNvPr id="56" name="ANUARIO_CONTENIDO_1_0_15">
            <a:extLst xmlns:a="http://schemas.openxmlformats.org/drawingml/2006/main">
              <a:ext uri="{FF2B5EF4-FFF2-40B4-BE49-F238E27FC236}">
                <a16:creationId xmlns:a16="http://schemas.microsoft.com/office/drawing/2014/main" id="{642481D9-8409-4384-BE1D-3371D19002D7}"/>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abierta,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restringida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otros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dispositivos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conectados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incluyen</a:t>
            </a:r>
            <a:r>
              <a:rPr sz="730" b="0" i="0">
                <a:solidFill>
                  <a:srgbClr val="24383A"/>
                </a:solidFill>
                <a:latin typeface="DejaVu Sans"/>
                <a:ea typeface="DejaVu Sans"/>
                <a:cs typeface="DejaVu Sans"/>
              </a:rPr>
              <a:t> </a:t>
            </a:r>
          </a:p>
        </p:txBody>
      </p:sp>
      <p:sp>
        <p:nvSpPr>
          <p:cNvPr id="57" name="ANUARIO_CONTENIDO_1_0_16">
            <a:extLst xmlns:a="http://schemas.openxmlformats.org/drawingml/2006/main">
              <a:ext uri="{FF2B5EF4-FFF2-40B4-BE49-F238E27FC236}">
                <a16:creationId xmlns:a16="http://schemas.microsoft.com/office/drawing/2014/main" id="{23806E99-CA5C-40D7-9E40-CFC2FA2C2C9D}"/>
              </a:ext>
            </a:extLst>
          </p:cNvPr>
          <p:cNvSpPr>
            <a:spLocks xmlns:a="http://schemas.openxmlformats.org/drawingml/2006/main" noGrp="1"/>
          </p:cNvSpPr>
          <p:nvPr/>
        </p:nvSpPr>
        <p:spPr>
          <a:xfrm xmlns:a="http://schemas.openxmlformats.org/drawingml/2006/main">
            <a:off x="4828032" y="27180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invitados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hogar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(Guests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Viewers).</a:t>
            </a:r>
            <a:r>
              <a:rPr sz="730" b="0" i="0">
                <a:solidFill>
                  <a:srgbClr val="24383A"/>
                </a:solidFill>
                <a:latin typeface="DejaVu Sans"/>
                <a:ea typeface="DejaVu Sans"/>
                <a:cs typeface="DejaVu Sans"/>
              </a:rPr>
              <a:t> </a:t>
            </a:r>
          </a:p>
        </p:txBody>
      </p:sp>
      <p:sp>
        <p:nvSpPr>
          <p:cNvPr id="58" name="ANUARIO_CONTENIDO_1_0_17">
            <a:extLst xmlns:a="http://schemas.openxmlformats.org/drawingml/2006/main">
              <a:ext uri="{FF2B5EF4-FFF2-40B4-BE49-F238E27FC236}">
                <a16:creationId xmlns:a16="http://schemas.microsoft.com/office/drawing/2014/main" id="{EAB5F81B-42CD-4F25-AFCA-6EA2EC5791A3}"/>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Cuando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habla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acuerdo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definido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p>
        </p:txBody>
      </p:sp>
      <p:sp>
        <p:nvSpPr>
          <p:cNvPr id="59" name="ANUARIO_CONTENIDO_1_0_18">
            <a:extLst xmlns:a="http://schemas.openxmlformats.org/drawingml/2006/main">
              <a:ext uri="{FF2B5EF4-FFF2-40B4-BE49-F238E27FC236}">
                <a16:creationId xmlns:a16="http://schemas.microsoft.com/office/drawing/2014/main" id="{2114B3BC-6B81-49E8-BD72-75C70EB0F8C3}"/>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consideran: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Estrellas,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Imagen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TV,</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Azteca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NU9VE,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60" name="ANUARIO_CONTENIDO_1_0_19">
            <a:extLst xmlns:a="http://schemas.openxmlformats.org/drawingml/2006/main">
              <a:ext uri="{FF2B5EF4-FFF2-40B4-BE49-F238E27FC236}">
                <a16:creationId xmlns:a16="http://schemas.microsoft.com/office/drawing/2014/main" id="{3D5F5B44-706B-4639-B56B-DA44D5E7BC20}"/>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ADN40.</a:t>
            </a:r>
          </a:p>
        </p:txBody>
      </p:sp>
      <p:sp>
        <p:nvSpPr>
          <p:cNvPr id="61" name="ANUARIO_CONTENIDO_1_0_20">
            <a:extLst xmlns:a="http://schemas.openxmlformats.org/drawingml/2006/main">
              <a:ext uri="{FF2B5EF4-FFF2-40B4-BE49-F238E27FC236}">
                <a16:creationId xmlns:a16="http://schemas.microsoft.com/office/drawing/2014/main" id="{2C6BE62C-6146-4CED-854E-6FAA71002F2C}"/>
              </a:ext>
            </a:extLst>
          </p:cNvPr>
          <p:cNvSpPr>
            <a:spLocks xmlns:a="http://schemas.openxmlformats.org/drawingml/2006/main" noGrp="1"/>
          </p:cNvSpPr>
          <p:nvPr/>
        </p:nvSpPr>
        <p:spPr>
          <a:xfrm xmlns:a="http://schemas.openxmlformats.org/drawingml/2006/main">
            <a:off x="4828032" y="318414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análisis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interpretación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realizado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responsabilidad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2" name="ANUARIO_CONTENIDO_1_0_21">
            <a:extLst xmlns:a="http://schemas.openxmlformats.org/drawingml/2006/main">
              <a:ext uri="{FF2B5EF4-FFF2-40B4-BE49-F238E27FC236}">
                <a16:creationId xmlns:a16="http://schemas.microsoft.com/office/drawing/2014/main" id="{8F9C1971-F451-48B9-95AC-5D65A12C23A6}"/>
              </a:ext>
            </a:extLst>
          </p:cNvPr>
          <p:cNvSpPr>
            <a:spLocks xmlns:a="http://schemas.openxmlformats.org/drawingml/2006/main" noGrp="1"/>
          </p:cNvSpPr>
          <p:nvPr/>
        </p:nvSpPr>
        <p:spPr>
          <a:xfrm xmlns:a="http://schemas.openxmlformats.org/drawingml/2006/main">
            <a:off x="4828032" y="328797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p>
        </p:txBody>
      </p:sp>
      <p:sp>
        <p:nvSpPr>
          <p:cNvPr id="63" name="ANUARIO_CONTENIDO_1_0_22">
            <a:extLst xmlns:a="http://schemas.openxmlformats.org/drawingml/2006/main">
              <a:ext uri="{FF2B5EF4-FFF2-40B4-BE49-F238E27FC236}">
                <a16:creationId xmlns:a16="http://schemas.microsoft.com/office/drawing/2014/main" id="{ABC72B5D-2582-4D19-9107-33167B98819D}"/>
              </a:ext>
            </a:extLst>
          </p:cNvPr>
          <p:cNvSpPr>
            <a:spLocks xmlns:a="http://schemas.openxmlformats.org/drawingml/2006/main" noGrp="1"/>
          </p:cNvSpPr>
          <p:nvPr/>
        </p:nvSpPr>
        <p:spPr>
          <a:xfrm xmlns:a="http://schemas.openxmlformats.org/drawingml/2006/main">
            <a:off x="4828032" y="339181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contractuales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4" name="ANUARIO_CONTENIDO_1_0_23">
            <a:extLst xmlns:a="http://schemas.openxmlformats.org/drawingml/2006/main">
              <a:ext uri="{FF2B5EF4-FFF2-40B4-BE49-F238E27FC236}">
                <a16:creationId xmlns:a16="http://schemas.microsoft.com/office/drawing/2014/main" id="{F78B2079-BA79-446A-8533-326CA342A64D}"/>
              </a:ext>
            </a:extLst>
          </p:cNvPr>
          <p:cNvSpPr>
            <a:spLocks xmlns:a="http://schemas.openxmlformats.org/drawingml/2006/main" noGrp="1"/>
          </p:cNvSpPr>
          <p:nvPr/>
        </p:nvSpPr>
        <p:spPr>
          <a:xfrm xmlns:a="http://schemas.openxmlformats.org/drawingml/2006/main">
            <a:off x="4828032" y="349565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validado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65" name="ANUARIO_CONTENIDO_1_0_24">
            <a:extLst xmlns:a="http://schemas.openxmlformats.org/drawingml/2006/main">
              <a:ext uri="{FF2B5EF4-FFF2-40B4-BE49-F238E27FC236}">
                <a16:creationId xmlns:a16="http://schemas.microsoft.com/office/drawing/2014/main" id="{C79E92AE-CA9D-4854-83C5-FF22ADB342AD}"/>
              </a:ext>
            </a:extLst>
          </p:cNvPr>
          <p:cNvSpPr>
            <a:spLocks xmlns:a="http://schemas.openxmlformats.org/drawingml/2006/main" noGrp="1"/>
          </p:cNvSpPr>
          <p:nvPr/>
        </p:nvSpPr>
        <p:spPr>
          <a:xfrm xmlns:a="http://schemas.openxmlformats.org/drawingml/2006/main">
            <a:off x="4828032" y="359948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audiencias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contenida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mencionado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reporte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concuerda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p>
        </p:txBody>
      </p:sp>
      <p:sp>
        <p:nvSpPr>
          <p:cNvPr id="66" name="ANUARIO_CONTENIDO_1_0_25">
            <a:extLst xmlns:a="http://schemas.openxmlformats.org/drawingml/2006/main">
              <a:ext uri="{FF2B5EF4-FFF2-40B4-BE49-F238E27FC236}">
                <a16:creationId xmlns:a16="http://schemas.microsoft.com/office/drawing/2014/main" id="{49EC8DFD-B141-476A-BCC4-969DF918F7E7}"/>
              </a:ext>
            </a:extLst>
          </p:cNvPr>
          <p:cNvSpPr>
            <a:spLocks xmlns:a="http://schemas.openxmlformats.org/drawingml/2006/main" noGrp="1"/>
          </p:cNvSpPr>
          <p:nvPr/>
        </p:nvSpPr>
        <p:spPr>
          <a:xfrm xmlns:a="http://schemas.openxmlformats.org/drawingml/2006/main">
            <a:off x="4828032" y="370332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aquellas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licenciadas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IFT</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Nielsen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IBOPE.</a:t>
            </a:r>
          </a:p>
        </p:txBody>
      </p:sp>
      <p:sp>
        <p:nvSpPr>
          <p:cNvPr id="67" name="ANUARIO_NOTAS_0">
            <a:extLst xmlns:a="http://schemas.openxmlformats.org/drawingml/2006/main">
              <a:ext uri="{FF2B5EF4-FFF2-40B4-BE49-F238E27FC236}">
                <a16:creationId xmlns:a16="http://schemas.microsoft.com/office/drawing/2014/main" id="{F7A1C7C8-6016-4FE1-8BCF-22326259EE3E}"/>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13</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https://www.inegi.org.mx/programas/endutih/2025/</a:t>
            </a:r>
            <a:r>
              <a:rPr sz="520" b="0" i="0">
                <a:solidFill>
                  <a:srgbClr val="24383A"/>
                </a:solidFill>
                <a:latin typeface="DejaVu Sans"/>
                <a:ea typeface="DejaVu Sans"/>
                <a:cs typeface="DejaVu Sans"/>
              </a:rPr>
              <a:t>.</a:t>
            </a:r>
          </a:p>
        </p:txBody>
      </p:sp>
    </p:spTree>
    <p:extLst>
      <p:ext uri="{BB962C8B-B14F-4D97-AF65-F5344CB8AC3E}">
        <p14:creationId xmlns:p14="http://schemas.microsoft.com/office/powerpoint/2010/main" val="6249289"/>
      </p:ext>
    </p:extLst>
  </p:cSld>
</p:sld>
</file>

<file path=ppt/slides/slide129.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58" name="ANUARIO_ENCABEZADO">
            <a:extLst xmlns:a="http://schemas.openxmlformats.org/drawingml/2006/main">
              <a:ext uri="{FF2B5EF4-FFF2-40B4-BE49-F238E27FC236}">
                <a16:creationId xmlns:a16="http://schemas.microsoft.com/office/drawing/2014/main" id="{DAFEA229-C832-4859-8369-626DDBD8803F}"/>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8CC7D224-1ED2-475B-BB86-58B28F1A7609}"/>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8EB7BCD1-DAF9-4330-804A-624C056C04B9}"/>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00" b="1">
                <a:solidFill>
                  <a:srgbClr val="FFFFFF"/>
                </a:solidFill>
                <a:latin typeface="DejaVu Sans"/>
                <a:ea typeface="DejaVu Sans"/>
                <a:cs typeface="DejaVu Sans"/>
              </a:defRPr>
            </a:pPr>
            <a:r>
              <a:rPr sz="1700" b="1">
                <a:solidFill>
                  <a:srgbClr val="FFFFFF"/>
                </a:solidFill>
                <a:latin typeface="DejaVu Sans"/>
                <a:ea typeface="DejaVu Sans"/>
                <a:cs typeface="DejaVu Sans"/>
              </a:rPr>
              <a:t>ANEXO III. METODOLOGÍAS</a:t>
            </a:r>
          </a:p>
        </p:txBody>
      </p:sp>
      <p:sp>
        <p:nvSpPr>
          <p:cNvPr id="4" name="ANUARIO_BIT_TEXTO">
            <a:extLst xmlns:a="http://schemas.openxmlformats.org/drawingml/2006/main">
              <a:ext uri="{FF2B5EF4-FFF2-40B4-BE49-F238E27FC236}">
                <a16:creationId xmlns:a16="http://schemas.microsoft.com/office/drawing/2014/main" id="{726C8D9A-3F98-4EB1-8807-3F8F4E16BDB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9D46F281-1A37-42DB-B88B-3FF3505291BE}"/>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E1B4D126-1305-4401-A924-C80362DDC4A2}"/>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9B2194C8-9016-401D-932C-EB4E85EC606C}"/>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93958AFB-6B78-429E-BF97-29D6E2C34000}"/>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129</a:t>
            </a:r>
          </a:p>
        </p:txBody>
      </p:sp>
      <p:sp>
        <p:nvSpPr>
          <p:cNvPr id="9" name="ANUARIO_EDICION">
            <a:extLst xmlns:a="http://schemas.openxmlformats.org/drawingml/2006/main">
              <a:ext uri="{FF2B5EF4-FFF2-40B4-BE49-F238E27FC236}">
                <a16:creationId xmlns:a16="http://schemas.microsoft.com/office/drawing/2014/main" id="{69CF3E38-1D58-4EFF-9970-6886B6DD0523}"/>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ANEXO_P129_DESIGN_2026">
            <a:extLst xmlns:a="http://schemas.openxmlformats.org/drawingml/2006/main">
              <a:ext uri="{FF2B5EF4-FFF2-40B4-BE49-F238E27FC236}">
                <a16:creationId xmlns:a16="http://schemas.microsoft.com/office/drawing/2014/main" id="{EC135B2E-DF10-4094-8614-68430AD00437}"/>
              </a:ext>
            </a:extLst>
          </p:cNvPr>
          <p:cNvSpPr>
            <a:spLocks xmlns:a="http://schemas.openxmlformats.org/drawingml/2006/main" noGrp="1"/>
          </p:cNvSpPr>
          <p:nvPr/>
        </p:nvSpPr>
        <p:spPr>
          <a:xfrm xmlns:a="http://schemas.openxmlformats.org/drawingml/2006/main">
            <a:off x="301752"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11" name="ANUARIO_ACENTO">
            <a:extLst xmlns:a="http://schemas.openxmlformats.org/drawingml/2006/main">
              <a:ext uri="{FF2B5EF4-FFF2-40B4-BE49-F238E27FC236}">
                <a16:creationId xmlns:a16="http://schemas.microsoft.com/office/drawing/2014/main" id="{A63BD975-DC4A-4CD2-A102-8A48E96C7C70}"/>
              </a:ext>
            </a:extLst>
          </p:cNvPr>
          <p:cNvSpPr>
            <a:spLocks xmlns:a="http://schemas.openxmlformats.org/drawingml/2006/main" noGrp="1"/>
          </p:cNvSpPr>
          <p:nvPr/>
        </p:nvSpPr>
        <p:spPr>
          <a:xfrm xmlns:a="http://schemas.openxmlformats.org/drawingml/2006/main">
            <a:off x="301752"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2" name="ANUARIO_SECCION">
            <a:extLst xmlns:a="http://schemas.openxmlformats.org/drawingml/2006/main">
              <a:ext uri="{FF2B5EF4-FFF2-40B4-BE49-F238E27FC236}">
                <a16:creationId xmlns:a16="http://schemas.microsoft.com/office/drawing/2014/main" id="{1677E7A2-F632-4A38-B65D-119107F01266}"/>
              </a:ext>
            </a:extLst>
          </p:cNvPr>
          <p:cNvSpPr>
            <a:spLocks xmlns:a="http://schemas.openxmlformats.org/drawingml/2006/main" noGrp="1"/>
          </p:cNvSpPr>
          <p:nvPr/>
        </p:nvSpPr>
        <p:spPr>
          <a:xfrm xmlns:a="http://schemas.openxmlformats.org/drawingml/2006/main">
            <a:off x="466344"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ENOE · población de 15 años y más¹⁴</a:t>
            </a:r>
          </a:p>
        </p:txBody>
      </p:sp>
      <p:sp>
        <p:nvSpPr>
          <p:cNvPr id="13" name="ANUARIO_CONTENIDO_0_0_0">
            <a:extLst xmlns:a="http://schemas.openxmlformats.org/drawingml/2006/main">
              <a:ext uri="{FF2B5EF4-FFF2-40B4-BE49-F238E27FC236}">
                <a16:creationId xmlns:a16="http://schemas.microsoft.com/office/drawing/2014/main" id="{400618FF-0F46-429C-ADC8-9033389E68B3}"/>
              </a:ext>
            </a:extLst>
          </p:cNvPr>
          <p:cNvSpPr>
            <a:spLocks xmlns:a="http://schemas.openxmlformats.org/drawingml/2006/main" noGrp="1"/>
          </p:cNvSpPr>
          <p:nvPr/>
        </p:nvSpPr>
        <p:spPr>
          <a:xfrm xmlns:a="http://schemas.openxmlformats.org/drawingml/2006/main">
            <a:off x="466344"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mercado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mexicano</a:t>
            </a:r>
            <a:r>
              <a:rPr sz="730" b="0" i="0">
                <a:solidFill>
                  <a:srgbClr val="24383A"/>
                </a:solidFill>
                <a:latin typeface="DejaVu Sans"/>
                <a:ea typeface="DejaVu Sans"/>
                <a:cs typeface="DejaVu Sans"/>
              </a:rPr>
              <a:t> </a:t>
            </a:r>
          </a:p>
        </p:txBody>
      </p:sp>
      <p:sp>
        <p:nvSpPr>
          <p:cNvPr id="14" name="ANUARIO_CONTENIDO_0_0_1">
            <a:extLst xmlns:a="http://schemas.openxmlformats.org/drawingml/2006/main">
              <a:ext uri="{FF2B5EF4-FFF2-40B4-BE49-F238E27FC236}">
                <a16:creationId xmlns:a16="http://schemas.microsoft.com/office/drawing/2014/main" id="{4FAE9CD7-EFD6-49F7-A86C-7ED3034163A8}"/>
              </a:ext>
            </a:extLst>
          </p:cNvPr>
          <p:cNvSpPr>
            <a:spLocks xmlns:a="http://schemas.openxmlformats.org/drawingml/2006/main" noGrp="1"/>
          </p:cNvSpPr>
          <p:nvPr/>
        </p:nvSpPr>
        <p:spPr>
          <a:xfrm xmlns:a="http://schemas.openxmlformats.org/drawingml/2006/main">
            <a:off x="466344"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datos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mensuales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fuerza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15" name="ANUARIO_CONTENIDO_0_0_2">
            <a:extLst xmlns:a="http://schemas.openxmlformats.org/drawingml/2006/main">
              <a:ext uri="{FF2B5EF4-FFF2-40B4-BE49-F238E27FC236}">
                <a16:creationId xmlns:a16="http://schemas.microsoft.com/office/drawing/2014/main" id="{9FDC84C6-422E-4BEA-877E-A41420DF8AB6}"/>
              </a:ext>
            </a:extLst>
          </p:cNvPr>
          <p:cNvSpPr>
            <a:spLocks xmlns:a="http://schemas.openxmlformats.org/drawingml/2006/main" noGrp="1"/>
          </p:cNvSpPr>
          <p:nvPr/>
        </p:nvSpPr>
        <p:spPr>
          <a:xfrm xmlns:a="http://schemas.openxmlformats.org/drawingml/2006/main">
            <a:off x="466344"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laboral,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subocupación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desocupación.</a:t>
            </a:r>
            <a:r>
              <a:rPr sz="730" b="0" i="0">
                <a:solidFill>
                  <a:srgbClr val="24383A"/>
                </a:solidFill>
                <a:latin typeface="DejaVu Sans"/>
                <a:ea typeface="DejaVu Sans"/>
                <a:cs typeface="DejaVu Sans"/>
              </a:rPr>
              <a:t> </a:t>
            </a:r>
          </a:p>
        </p:txBody>
      </p:sp>
      <p:sp>
        <p:nvSpPr>
          <p:cNvPr id="16" name="ANUARIO_CONTENIDO_0_0_3">
            <a:extLst xmlns:a="http://schemas.openxmlformats.org/drawingml/2006/main">
              <a:ext uri="{FF2B5EF4-FFF2-40B4-BE49-F238E27FC236}">
                <a16:creationId xmlns:a16="http://schemas.microsoft.com/office/drawing/2014/main" id="{F69202CE-6948-4B81-B6B6-5DC6A2D2DE78}"/>
              </a:ext>
            </a:extLst>
          </p:cNvPr>
          <p:cNvSpPr>
            <a:spLocks xmlns:a="http://schemas.openxmlformats.org/drawingml/2006/main" noGrp="1"/>
          </p:cNvSpPr>
          <p:nvPr/>
        </p:nvSpPr>
        <p:spPr>
          <a:xfrm xmlns:a="http://schemas.openxmlformats.org/drawingml/2006/main">
            <a:off x="466344" y="13427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enero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p>
        </p:txBody>
      </p:sp>
      <p:sp>
        <p:nvSpPr>
          <p:cNvPr id="17" name="ANUARIO_CONTENIDO_0_0_4">
            <a:extLst xmlns:a="http://schemas.openxmlformats.org/drawingml/2006/main">
              <a:ext uri="{FF2B5EF4-FFF2-40B4-BE49-F238E27FC236}">
                <a16:creationId xmlns:a16="http://schemas.microsoft.com/office/drawing/2014/main" id="{B3081422-DBAD-44C8-8B0A-692F008FF90F}"/>
              </a:ext>
            </a:extLst>
          </p:cNvPr>
          <p:cNvSpPr>
            <a:spLocks xmlns:a="http://schemas.openxmlformats.org/drawingml/2006/main" noGrp="1"/>
          </p:cNvSpPr>
          <p:nvPr/>
        </p:nvSpPr>
        <p:spPr>
          <a:xfrm xmlns:a="http://schemas.openxmlformats.org/drawingml/2006/main">
            <a:off x="466344"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Interés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incorporando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preguntas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migración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18" name="ANUARIO_CONTENIDO_0_0_5">
            <a:extLst xmlns:a="http://schemas.openxmlformats.org/drawingml/2006/main">
              <a:ext uri="{FF2B5EF4-FFF2-40B4-BE49-F238E27FC236}">
                <a16:creationId xmlns:a16="http://schemas.microsoft.com/office/drawing/2014/main" id="{33CA109F-7BCE-4FFE-9361-10C8D242E582}"/>
              </a:ext>
            </a:extLst>
          </p:cNvPr>
          <p:cNvSpPr>
            <a:spLocks xmlns:a="http://schemas.openxmlformats.org/drawingml/2006/main" noGrp="1"/>
          </p:cNvSpPr>
          <p:nvPr/>
        </p:nvSpPr>
        <p:spPr>
          <a:xfrm xmlns:a="http://schemas.openxmlformats.org/drawingml/2006/main">
            <a:off x="466344"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trabajo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entrevistas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telefónicas.</a:t>
            </a:r>
          </a:p>
        </p:txBody>
      </p:sp>
      <p:sp>
        <p:nvSpPr>
          <p:cNvPr id="19" name="ANUARIO_CONTENIDO_0_0_6">
            <a:extLst xmlns:a="http://schemas.openxmlformats.org/drawingml/2006/main">
              <a:ext uri="{FF2B5EF4-FFF2-40B4-BE49-F238E27FC236}">
                <a16:creationId xmlns:a16="http://schemas.microsoft.com/office/drawing/2014/main" id="{E460F737-A934-4725-AD28-95120E2F9EAD}"/>
              </a:ext>
            </a:extLst>
          </p:cNvPr>
          <p:cNvSpPr>
            <a:spLocks xmlns:a="http://schemas.openxmlformats.org/drawingml/2006/main" noGrp="1"/>
          </p:cNvSpPr>
          <p:nvPr/>
        </p:nvSpPr>
        <p:spPr>
          <a:xfrm xmlns:a="http://schemas.openxmlformats.org/drawingml/2006/main">
            <a:off x="466344" y="16796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sobre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suspensión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levantamiento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20" name="ANUARIO_CONTENIDO_0_0_7">
            <a:extLst xmlns:a="http://schemas.openxmlformats.org/drawingml/2006/main">
              <a:ext uri="{FF2B5EF4-FFF2-40B4-BE49-F238E27FC236}">
                <a16:creationId xmlns:a16="http://schemas.microsoft.com/office/drawing/2014/main" id="{965022A3-628D-4CF8-B805-10C0815A8E8F}"/>
              </a:ext>
            </a:extLst>
          </p:cNvPr>
          <p:cNvSpPr>
            <a:spLocks xmlns:a="http://schemas.openxmlformats.org/drawingml/2006/main" noGrp="1"/>
          </p:cNvSpPr>
          <p:nvPr/>
        </p:nvSpPr>
        <p:spPr>
          <a:xfrm xmlns:a="http://schemas.openxmlformats.org/drawingml/2006/main">
            <a:off x="466344"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debido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contingencia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sanitaria,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consultar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p>
        </p:txBody>
      </p:sp>
      <p:sp>
        <p:nvSpPr>
          <p:cNvPr id="21" name="ANUARIO_CONTENIDO_0_0_8">
            <a:extLst xmlns:a="http://schemas.openxmlformats.org/drawingml/2006/main">
              <a:ext uri="{FF2B5EF4-FFF2-40B4-BE49-F238E27FC236}">
                <a16:creationId xmlns:a16="http://schemas.microsoft.com/office/drawing/2014/main" id="{10F3F3B5-AE23-4BA0-8C7B-23FDD90B9588}"/>
              </a:ext>
            </a:extLst>
          </p:cNvPr>
          <p:cNvSpPr>
            <a:spLocks xmlns:a="http://schemas.openxmlformats.org/drawingml/2006/main" noGrp="1"/>
          </p:cNvSpPr>
          <p:nvPr/>
        </p:nvSpPr>
        <p:spPr>
          <a:xfrm xmlns:a="http://schemas.openxmlformats.org/drawingml/2006/main">
            <a:off x="466344"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ETOE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abril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junio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así</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resultados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Edición</a:t>
            </a:r>
            <a:r>
              <a:rPr sz="730" b="0" i="0">
                <a:solidFill>
                  <a:srgbClr val="24383A"/>
                </a:solidFill>
                <a:latin typeface="DejaVu Sans"/>
                <a:ea typeface="DejaVu Sans"/>
                <a:cs typeface="DejaVu Sans"/>
              </a:rPr>
              <a:t> </a:t>
            </a:r>
          </a:p>
        </p:txBody>
      </p:sp>
      <p:sp>
        <p:nvSpPr>
          <p:cNvPr id="22" name="ANUARIO_CONTENIDO_0_0_9">
            <a:extLst xmlns:a="http://schemas.openxmlformats.org/drawingml/2006/main">
              <a:ext uri="{FF2B5EF4-FFF2-40B4-BE49-F238E27FC236}">
                <a16:creationId xmlns:a16="http://schemas.microsoft.com/office/drawing/2014/main" id="{C8376C47-210A-457C-88BA-1C4DA2CEAFA4}"/>
              </a:ext>
            </a:extLst>
          </p:cNvPr>
          <p:cNvSpPr>
            <a:spLocks xmlns:a="http://schemas.openxmlformats.org/drawingml/2006/main" noGrp="1"/>
          </p:cNvSpPr>
          <p:nvPr/>
        </p:nvSpPr>
        <p:spPr>
          <a:xfrm xmlns:a="http://schemas.openxmlformats.org/drawingml/2006/main">
            <a:off x="466344"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(ENOEN)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periodo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diciembre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2022.</a:t>
            </a:r>
          </a:p>
        </p:txBody>
      </p:sp>
      <p:sp>
        <p:nvSpPr>
          <p:cNvPr id="23" name="ANUARIO_CONTENIDO_0_0_10">
            <a:extLst xmlns:a="http://schemas.openxmlformats.org/drawingml/2006/main">
              <a:ext uri="{FF2B5EF4-FFF2-40B4-BE49-F238E27FC236}">
                <a16:creationId xmlns:a16="http://schemas.microsoft.com/office/drawing/2014/main" id="{20E7AD1F-F848-4E31-83BF-991350591BAE}"/>
              </a:ext>
            </a:extLst>
          </p:cNvPr>
          <p:cNvSpPr>
            <a:spLocks xmlns:a="http://schemas.openxmlformats.org/drawingml/2006/main" noGrp="1"/>
          </p:cNvSpPr>
          <p:nvPr/>
        </p:nvSpPr>
        <p:spPr>
          <a:xfrm xmlns:a="http://schemas.openxmlformats.org/drawingml/2006/main">
            <a:off x="466344" y="21203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partir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primer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mayo</a:t>
            </a:r>
            <a:r>
              <a:rPr sz="730" b="0" i="0">
                <a:solidFill>
                  <a:srgbClr val="24383A"/>
                </a:solidFill>
                <a:latin typeface="DejaVu Sans"/>
                <a:ea typeface="DejaVu Sans"/>
                <a:cs typeface="DejaVu Sans"/>
              </a:rPr>
              <a:t> </a:t>
            </a:r>
          </a:p>
        </p:txBody>
      </p:sp>
      <p:sp>
        <p:nvSpPr>
          <p:cNvPr id="24" name="ANUARIO_CONTENIDO_0_0_11">
            <a:extLst xmlns:a="http://schemas.openxmlformats.org/drawingml/2006/main">
              <a:ext uri="{FF2B5EF4-FFF2-40B4-BE49-F238E27FC236}">
                <a16:creationId xmlns:a16="http://schemas.microsoft.com/office/drawing/2014/main" id="{086F91D4-A001-4C7F-B874-E7AEEB73B99C}"/>
              </a:ext>
            </a:extLst>
          </p:cNvPr>
          <p:cNvSpPr>
            <a:spLocks xmlns:a="http://schemas.openxmlformats.org/drawingml/2006/main" noGrp="1"/>
          </p:cNvSpPr>
          <p:nvPr/>
        </p:nvSpPr>
        <p:spPr>
          <a:xfrm xmlns:a="http://schemas.openxmlformats.org/drawingml/2006/main">
            <a:off x="466344" y="22242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factores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expansión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responden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5" name="ANUARIO_CONTENIDO_0_0_12">
            <a:extLst xmlns:a="http://schemas.openxmlformats.org/drawingml/2006/main">
              <a:ext uri="{FF2B5EF4-FFF2-40B4-BE49-F238E27FC236}">
                <a16:creationId xmlns:a16="http://schemas.microsoft.com/office/drawing/2014/main" id="{E4263B40-C6F7-4BDA-A7D3-CBD74EBFE3E1}"/>
              </a:ext>
            </a:extLst>
          </p:cNvPr>
          <p:cNvSpPr>
            <a:spLocks xmlns:a="http://schemas.openxmlformats.org/drawingml/2006/main" noGrp="1"/>
          </p:cNvSpPr>
          <p:nvPr/>
        </p:nvSpPr>
        <p:spPr>
          <a:xfrm xmlns:a="http://schemas.openxmlformats.org/drawingml/2006/main">
            <a:off x="466344" y="23280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lugar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cifras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proyecciones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venían</a:t>
            </a:r>
            <a:r>
              <a:rPr sz="730" b="0" i="0">
                <a:solidFill>
                  <a:srgbClr val="24383A"/>
                </a:solidFill>
                <a:latin typeface="DejaVu Sans"/>
                <a:ea typeface="DejaVu Sans"/>
                <a:cs typeface="DejaVu Sans"/>
              </a:rPr>
              <a:t> </a:t>
            </a:r>
          </a:p>
        </p:txBody>
      </p:sp>
      <p:sp>
        <p:nvSpPr>
          <p:cNvPr id="26" name="ANUARIO_CONTENIDO_0_0_13">
            <a:extLst xmlns:a="http://schemas.openxmlformats.org/drawingml/2006/main">
              <a:ext uri="{FF2B5EF4-FFF2-40B4-BE49-F238E27FC236}">
                <a16:creationId xmlns:a16="http://schemas.microsoft.com/office/drawing/2014/main" id="{D3032BC0-6126-4C52-8D87-7E9BACDFC9DE}"/>
              </a:ext>
            </a:extLst>
          </p:cNvPr>
          <p:cNvSpPr>
            <a:spLocks xmlns:a="http://schemas.openxmlformats.org/drawingml/2006/main" noGrp="1"/>
          </p:cNvSpPr>
          <p:nvPr/>
        </p:nvSpPr>
        <p:spPr>
          <a:xfrm xmlns:a="http://schemas.openxmlformats.org/drawingml/2006/main">
            <a:off x="466344" y="24318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utilizando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desde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Ahora,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generando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27" name="ANUARIO_CONTENIDO_0_0_14">
            <a:extLst xmlns:a="http://schemas.openxmlformats.org/drawingml/2006/main">
              <a:ext uri="{FF2B5EF4-FFF2-40B4-BE49-F238E27FC236}">
                <a16:creationId xmlns:a16="http://schemas.microsoft.com/office/drawing/2014/main" id="{1F42FE44-3B31-40DA-B641-0CDCB44B82E4}"/>
              </a:ext>
            </a:extLst>
          </p:cNvPr>
          <p:cNvSpPr>
            <a:spLocks xmlns:a="http://schemas.openxmlformats.org/drawingml/2006/main" noGrp="1"/>
          </p:cNvSpPr>
          <p:nvPr/>
        </p:nvSpPr>
        <p:spPr>
          <a:xfrm xmlns:a="http://schemas.openxmlformats.org/drawingml/2006/main">
            <a:off x="466344" y="25357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entidad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federativa,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propia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p>
        </p:txBody>
      </p:sp>
      <p:sp>
        <p:nvSpPr>
          <p:cNvPr id="28" name="ANUARIO_CONTENIDO_0_0_15">
            <a:extLst xmlns:a="http://schemas.openxmlformats.org/drawingml/2006/main">
              <a:ext uri="{FF2B5EF4-FFF2-40B4-BE49-F238E27FC236}">
                <a16:creationId xmlns:a16="http://schemas.microsoft.com/office/drawing/2014/main" id="{9315EAF7-A05A-44F3-9416-3505F2B2C102}"/>
              </a:ext>
            </a:extLst>
          </p:cNvPr>
          <p:cNvSpPr>
            <a:spLocks xmlns:a="http://schemas.openxmlformats.org/drawingml/2006/main" noGrp="1"/>
          </p:cNvSpPr>
          <p:nvPr/>
        </p:nvSpPr>
        <p:spPr>
          <a:xfrm xmlns:a="http://schemas.openxmlformats.org/drawingml/2006/main">
            <a:off x="466344" y="26395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Muestreo.</a:t>
            </a:r>
          </a:p>
        </p:txBody>
      </p:sp>
      <p:sp>
        <p:nvSpPr>
          <p:cNvPr id="29" name="ANUARIO_CONTENIDO_0_0_16">
            <a:extLst xmlns:a="http://schemas.openxmlformats.org/drawingml/2006/main">
              <a:ext uri="{FF2B5EF4-FFF2-40B4-BE49-F238E27FC236}">
                <a16:creationId xmlns:a16="http://schemas.microsoft.com/office/drawing/2014/main" id="{8F4F22A9-4C96-48A3-A74E-8ECFA35BF716}"/>
              </a:ext>
            </a:extLst>
          </p:cNvPr>
          <p:cNvSpPr>
            <a:spLocks xmlns:a="http://schemas.openxmlformats.org/drawingml/2006/main" noGrp="1"/>
          </p:cNvSpPr>
          <p:nvPr/>
        </p:nvSpPr>
        <p:spPr>
          <a:xfrm xmlns:a="http://schemas.openxmlformats.org/drawingml/2006/main">
            <a:off x="466344" y="27688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finalidad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totalmente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serie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histórica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ENOE</a:t>
            </a:r>
            <a:r>
              <a:rPr sz="730" b="0" i="0">
                <a:solidFill>
                  <a:srgbClr val="24383A"/>
                </a:solidFill>
                <a:latin typeface="DejaVu Sans"/>
                <a:ea typeface="DejaVu Sans"/>
                <a:cs typeface="DejaVu Sans"/>
              </a:rPr>
              <a:t>N</a:t>
            </a:r>
            <a:r>
              <a:rPr sz="730" b="0" i="0">
                <a:solidFill>
                  <a:srgbClr val="24383A"/>
                </a:solidFill>
                <a:latin typeface="DejaVu Sans"/>
                <a:ea typeface="DejaVu Sans"/>
                <a:cs typeface="DejaVu Sans"/>
              </a:rPr>
              <a:t> </a:t>
            </a:r>
          </a:p>
        </p:txBody>
      </p:sp>
      <p:sp>
        <p:nvSpPr>
          <p:cNvPr id="30" name="ANUARIO_CONTENIDO_0_0_17">
            <a:extLst xmlns:a="http://schemas.openxmlformats.org/drawingml/2006/main">
              <a:ext uri="{FF2B5EF4-FFF2-40B4-BE49-F238E27FC236}">
                <a16:creationId xmlns:a16="http://schemas.microsoft.com/office/drawing/2014/main" id="{26866388-F335-4726-84E0-7B4539B75B4A}"/>
              </a:ext>
            </a:extLst>
          </p:cNvPr>
          <p:cNvSpPr>
            <a:spLocks xmlns:a="http://schemas.openxmlformats.org/drawingml/2006/main" noGrp="1"/>
          </p:cNvSpPr>
          <p:nvPr/>
        </p:nvSpPr>
        <p:spPr>
          <a:xfrm xmlns:a="http://schemas.openxmlformats.org/drawingml/2006/main">
            <a:off x="466344" y="28726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población,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hasta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2020,</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llevará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a:t>
            </a:r>
            <a:r>
              <a:rPr sz="730" b="0" i="0">
                <a:solidFill>
                  <a:srgbClr val="24383A"/>
                </a:solidFill>
                <a:latin typeface="DejaVu Sans"/>
                <a:ea typeface="DejaVu Sans"/>
                <a:cs typeface="DejaVu Sans"/>
              </a:rPr>
              <a:t> </a:t>
            </a:r>
          </a:p>
        </p:txBody>
      </p:sp>
      <p:sp>
        <p:nvSpPr>
          <p:cNvPr id="31" name="ANUARIO_CONTENIDO_0_0_18">
            <a:extLst xmlns:a="http://schemas.openxmlformats.org/drawingml/2006/main">
              <a:ext uri="{FF2B5EF4-FFF2-40B4-BE49-F238E27FC236}">
                <a16:creationId xmlns:a16="http://schemas.microsoft.com/office/drawing/2014/main" id="{FF71DC9A-2F0A-456A-A4F7-2B35DAA221C4}"/>
              </a:ext>
            </a:extLst>
          </p:cNvPr>
          <p:cNvSpPr>
            <a:spLocks xmlns:a="http://schemas.openxmlformats.org/drawingml/2006/main" noGrp="1"/>
          </p:cNvSpPr>
          <p:nvPr/>
        </p:nvSpPr>
        <p:spPr>
          <a:xfrm xmlns:a="http://schemas.openxmlformats.org/drawingml/2006/main">
            <a:off x="466344" y="29764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cabo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esquema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divulgación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permitirá</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reemplazar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forma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paulatina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2" name="ANUARIO_CONTENIDO_0_0_19">
            <a:extLst xmlns:a="http://schemas.openxmlformats.org/drawingml/2006/main">
              <a:ext uri="{FF2B5EF4-FFF2-40B4-BE49-F238E27FC236}">
                <a16:creationId xmlns:a16="http://schemas.microsoft.com/office/drawing/2014/main" id="{6BD93000-D182-44EB-9821-D18B6A362CBB}"/>
              </a:ext>
            </a:extLst>
          </p:cNvPr>
          <p:cNvSpPr>
            <a:spLocks xmlns:a="http://schemas.openxmlformats.org/drawingml/2006/main" noGrp="1"/>
          </p:cNvSpPr>
          <p:nvPr/>
        </p:nvSpPr>
        <p:spPr>
          <a:xfrm xmlns:a="http://schemas.openxmlformats.org/drawingml/2006/main">
            <a:off x="466344" y="30803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productos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p>
        </p:txBody>
      </p:sp>
      <p:sp>
        <p:nvSpPr>
          <p:cNvPr id="33" name="ANUARIO_ANEXO_P129_DESIGN_2026">
            <a:extLst xmlns:a="http://schemas.openxmlformats.org/drawingml/2006/main">
              <a:ext uri="{FF2B5EF4-FFF2-40B4-BE49-F238E27FC236}">
                <a16:creationId xmlns:a16="http://schemas.microsoft.com/office/drawing/2014/main" id="{BCA5FBA7-35D3-4323-A2AF-ABD208EA4986}"/>
              </a:ext>
            </a:extLst>
          </p:cNvPr>
          <p:cNvSpPr>
            <a:spLocks xmlns:a="http://schemas.openxmlformats.org/drawingml/2006/main" noGrp="1"/>
          </p:cNvSpPr>
          <p:nvPr/>
        </p:nvSpPr>
        <p:spPr>
          <a:xfrm xmlns:a="http://schemas.openxmlformats.org/drawingml/2006/main">
            <a:off x="4663440" y="566928"/>
            <a:ext cx="4178808" cy="3895344"/>
          </a:xfrm>
          <a:prstGeom xmlns:a="http://schemas.openxmlformats.org/drawingml/2006/main" prst="roundRect">
            <a:avLst>
              <a:gd name="adj" fmla="val 1408"/>
            </a:avLst>
          </a:prstGeom>
          <a:solidFill xmlns:a="http://schemas.openxmlformats.org/drawingml/2006/main">
            <a:srgbClr val="F6FAF9"/>
          </a:solidFill>
          <a:ln xmlns:a="http://schemas.openxmlformats.org/drawingml/2006/main" w="9525">
            <a:solidFill>
              <a:srgbClr val="C9DAD6"/>
            </a:solidFill>
          </a:ln>
        </p:spPr>
      </p:sp>
      <p:sp>
        <p:nvSpPr>
          <p:cNvPr id="34" name="ANUARIO_ACENTO">
            <a:extLst xmlns:a="http://schemas.openxmlformats.org/drawingml/2006/main">
              <a:ext uri="{FF2B5EF4-FFF2-40B4-BE49-F238E27FC236}">
                <a16:creationId xmlns:a16="http://schemas.microsoft.com/office/drawing/2014/main" id="{ACCEF537-552F-4E7B-9B1E-D17E5EC9905F}"/>
              </a:ext>
            </a:extLst>
          </p:cNvPr>
          <p:cNvSpPr>
            <a:spLocks xmlns:a="http://schemas.openxmlformats.org/drawingml/2006/main" noGrp="1"/>
          </p:cNvSpPr>
          <p:nvPr/>
        </p:nvSpPr>
        <p:spPr>
          <a:xfrm xmlns:a="http://schemas.openxmlformats.org/drawingml/2006/main">
            <a:off x="4663440" y="640080"/>
            <a:ext cx="64008" cy="374904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35" name="ANUARIO_SECCION">
            <a:extLst xmlns:a="http://schemas.openxmlformats.org/drawingml/2006/main">
              <a:ext uri="{FF2B5EF4-FFF2-40B4-BE49-F238E27FC236}">
                <a16:creationId xmlns:a16="http://schemas.microsoft.com/office/drawing/2014/main" id="{56FF1480-97D9-47B5-86A9-85CD5F5D0500}"/>
              </a:ext>
            </a:extLst>
          </p:cNvPr>
          <p:cNvSpPr>
            <a:spLocks xmlns:a="http://schemas.openxmlformats.org/drawingml/2006/main" noGrp="1"/>
          </p:cNvSpPr>
          <p:nvPr/>
        </p:nvSpPr>
        <p:spPr>
          <a:xfrm xmlns:a="http://schemas.openxmlformats.org/drawingml/2006/main">
            <a:off x="4828032" y="65836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PIB · metodología¹⁵</a:t>
            </a:r>
          </a:p>
        </p:txBody>
      </p:sp>
      <p:sp>
        <p:nvSpPr>
          <p:cNvPr id="36" name="ANUARIO_CONTENIDO_1_0_0">
            <a:extLst xmlns:a="http://schemas.openxmlformats.org/drawingml/2006/main">
              <a:ext uri="{FF2B5EF4-FFF2-40B4-BE49-F238E27FC236}">
                <a16:creationId xmlns:a16="http://schemas.microsoft.com/office/drawing/2014/main" id="{5E810A21-DA51-46C0-901A-718C94F1C1ED}"/>
              </a:ext>
            </a:extLst>
          </p:cNvPr>
          <p:cNvSpPr>
            <a:spLocks xmlns:a="http://schemas.openxmlformats.org/drawingml/2006/main" noGrp="1"/>
          </p:cNvSpPr>
          <p:nvPr/>
        </p:nvSpPr>
        <p:spPr>
          <a:xfrm xmlns:a="http://schemas.openxmlformats.org/drawingml/2006/main">
            <a:off x="4828032" y="100584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Interno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principal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p>
        </p:txBody>
      </p:sp>
      <p:sp>
        <p:nvSpPr>
          <p:cNvPr id="37" name="ANUARIO_CONTENIDO_1_0_1">
            <a:extLst xmlns:a="http://schemas.openxmlformats.org/drawingml/2006/main">
              <a:ext uri="{FF2B5EF4-FFF2-40B4-BE49-F238E27FC236}">
                <a16:creationId xmlns:a16="http://schemas.microsoft.com/office/drawing/2014/main" id="{5616EB59-2557-4271-A15D-90BBA6A31A66}"/>
              </a:ext>
            </a:extLst>
          </p:cNvPr>
          <p:cNvSpPr>
            <a:spLocks xmlns:a="http://schemas.openxmlformats.org/drawingml/2006/main" noGrp="1"/>
          </p:cNvSpPr>
          <p:nvPr/>
        </p:nvSpPr>
        <p:spPr>
          <a:xfrm xmlns:a="http://schemas.openxmlformats.org/drawingml/2006/main">
            <a:off x="4828032" y="1109675"/>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estimar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(eliminando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efectos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p>
        </p:txBody>
      </p:sp>
      <p:sp>
        <p:nvSpPr>
          <p:cNvPr id="38" name="ANUARIO_CONTENIDO_1_0_2">
            <a:extLst xmlns:a="http://schemas.openxmlformats.org/drawingml/2006/main">
              <a:ext uri="{FF2B5EF4-FFF2-40B4-BE49-F238E27FC236}">
                <a16:creationId xmlns:a16="http://schemas.microsoft.com/office/drawing/2014/main" id="{183A4D77-142A-4ECC-8A17-8FF9B6068537}"/>
              </a:ext>
            </a:extLst>
          </p:cNvPr>
          <p:cNvSpPr>
            <a:spLocks xmlns:a="http://schemas.openxmlformats.org/drawingml/2006/main" noGrp="1"/>
          </p:cNvSpPr>
          <p:nvPr/>
        </p:nvSpPr>
        <p:spPr>
          <a:xfrm xmlns:a="http://schemas.openxmlformats.org/drawingml/2006/main">
            <a:off x="4828032" y="1213510"/>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precios)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términos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corrientes.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indicador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puede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calcular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tres</a:t>
            </a:r>
            <a:r>
              <a:rPr sz="730" b="0" i="0">
                <a:solidFill>
                  <a:srgbClr val="24383A"/>
                </a:solidFill>
                <a:latin typeface="DejaVu Sans"/>
                <a:ea typeface="DejaVu Sans"/>
                <a:cs typeface="DejaVu Sans"/>
              </a:rPr>
              <a:t> </a:t>
            </a:r>
          </a:p>
        </p:txBody>
      </p:sp>
      <p:sp>
        <p:nvSpPr>
          <p:cNvPr id="39" name="ANUARIO_CONTENIDO_1_0_3">
            <a:extLst xmlns:a="http://schemas.openxmlformats.org/drawingml/2006/main">
              <a:ext uri="{FF2B5EF4-FFF2-40B4-BE49-F238E27FC236}">
                <a16:creationId xmlns:a16="http://schemas.microsoft.com/office/drawing/2014/main" id="{0FBB072A-FFFA-4DEC-82F0-559DDC30605C}"/>
              </a:ext>
            </a:extLst>
          </p:cNvPr>
          <p:cNvSpPr>
            <a:spLocks xmlns:a="http://schemas.openxmlformats.org/drawingml/2006/main" noGrp="1"/>
          </p:cNvSpPr>
          <p:nvPr/>
        </p:nvSpPr>
        <p:spPr>
          <a:xfrm xmlns:a="http://schemas.openxmlformats.org/drawingml/2006/main">
            <a:off x="4828032" y="131734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métodos: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producción,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gasto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ingreso.</a:t>
            </a:r>
            <a:r>
              <a:rPr sz="730" b="0" i="0">
                <a:solidFill>
                  <a:srgbClr val="24383A"/>
                </a:solidFill>
                <a:latin typeface="DejaVu Sans"/>
                <a:ea typeface="DejaVu Sans"/>
                <a:cs typeface="DejaVu Sans"/>
              </a:rPr>
              <a:t> </a:t>
            </a:r>
          </a:p>
        </p:txBody>
      </p:sp>
      <p:sp>
        <p:nvSpPr>
          <p:cNvPr id="40" name="ANUARIO_CONTENIDO_1_0_4">
            <a:extLst xmlns:a="http://schemas.openxmlformats.org/drawingml/2006/main">
              <a:ext uri="{FF2B5EF4-FFF2-40B4-BE49-F238E27FC236}">
                <a16:creationId xmlns:a16="http://schemas.microsoft.com/office/drawing/2014/main" id="{044EE613-A773-401E-8A4B-CDDEB22050E9}"/>
              </a:ext>
            </a:extLst>
          </p:cNvPr>
          <p:cNvSpPr>
            <a:spLocks xmlns:a="http://schemas.openxmlformats.org/drawingml/2006/main" noGrp="1"/>
          </p:cNvSpPr>
          <p:nvPr/>
        </p:nvSpPr>
        <p:spPr>
          <a:xfrm xmlns:a="http://schemas.openxmlformats.org/drawingml/2006/main">
            <a:off x="4828032" y="144658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trimestral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corto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plazo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oportuna,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completa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p>
        </p:txBody>
      </p:sp>
      <p:sp>
        <p:nvSpPr>
          <p:cNvPr id="41" name="ANUARIO_CONTENIDO_1_0_5">
            <a:extLst xmlns:a="http://schemas.openxmlformats.org/drawingml/2006/main">
              <a:ext uri="{FF2B5EF4-FFF2-40B4-BE49-F238E27FC236}">
                <a16:creationId xmlns:a16="http://schemas.microsoft.com/office/drawing/2014/main" id="{9F02D3D0-08AE-4EB4-9DAF-0C64BAB8EDBA}"/>
              </a:ext>
            </a:extLst>
          </p:cNvPr>
          <p:cNvSpPr>
            <a:spLocks xmlns:a="http://schemas.openxmlformats.org/drawingml/2006/main" noGrp="1"/>
          </p:cNvSpPr>
          <p:nvPr/>
        </p:nvSpPr>
        <p:spPr>
          <a:xfrm xmlns:a="http://schemas.openxmlformats.org/drawingml/2006/main">
            <a:off x="4828032" y="155041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coherente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evolución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económicas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país,</a:t>
            </a:r>
            <a:r>
              <a:rPr sz="730" b="0" i="0">
                <a:solidFill>
                  <a:srgbClr val="24383A"/>
                </a:solidFill>
                <a:latin typeface="DejaVu Sans"/>
                <a:ea typeface="DejaVu Sans"/>
                <a:cs typeface="DejaVu Sans"/>
              </a:rPr>
              <a:t> </a:t>
            </a:r>
          </a:p>
        </p:txBody>
      </p:sp>
      <p:sp>
        <p:nvSpPr>
          <p:cNvPr id="42" name="ANUARIO_CONTENIDO_1_0_6">
            <a:extLst xmlns:a="http://schemas.openxmlformats.org/drawingml/2006/main">
              <a:ext uri="{FF2B5EF4-FFF2-40B4-BE49-F238E27FC236}">
                <a16:creationId xmlns:a16="http://schemas.microsoft.com/office/drawing/2014/main" id="{3D5A47F9-7DBD-43AA-BFEA-805490EA685C}"/>
              </a:ext>
            </a:extLst>
          </p:cNvPr>
          <p:cNvSpPr>
            <a:spLocks xmlns:a="http://schemas.openxmlformats.org/drawingml/2006/main" noGrp="1"/>
          </p:cNvSpPr>
          <p:nvPr/>
        </p:nvSpPr>
        <p:spPr>
          <a:xfrm xmlns:a="http://schemas.openxmlformats.org/drawingml/2006/main">
            <a:off x="4828032" y="1654251"/>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proporcionando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actualizada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apoyar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toma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decisiones.</a:t>
            </a:r>
          </a:p>
        </p:txBody>
      </p:sp>
      <p:sp>
        <p:nvSpPr>
          <p:cNvPr id="43" name="ANUARIO_CONTENIDO_1_0_7">
            <a:extLst xmlns:a="http://schemas.openxmlformats.org/drawingml/2006/main">
              <a:ext uri="{FF2B5EF4-FFF2-40B4-BE49-F238E27FC236}">
                <a16:creationId xmlns:a16="http://schemas.microsoft.com/office/drawing/2014/main" id="{CA196D61-8156-4E22-8D8B-5909318016AC}"/>
              </a:ext>
            </a:extLst>
          </p:cNvPr>
          <p:cNvSpPr>
            <a:spLocks xmlns:a="http://schemas.openxmlformats.org/drawingml/2006/main" noGrp="1"/>
          </p:cNvSpPr>
          <p:nvPr/>
        </p:nvSpPr>
        <p:spPr>
          <a:xfrm xmlns:a="http://schemas.openxmlformats.org/drawingml/2006/main">
            <a:off x="4828032" y="1783486"/>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29</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agosto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Instituto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Geografía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(INEGI)</a:t>
            </a:r>
            <a:r>
              <a:rPr sz="730" b="0" i="0">
                <a:solidFill>
                  <a:srgbClr val="24383A"/>
                </a:solidFill>
                <a:latin typeface="DejaVu Sans"/>
                <a:ea typeface="DejaVu Sans"/>
                <a:cs typeface="DejaVu Sans"/>
              </a:rPr>
              <a:t> </a:t>
            </a:r>
          </a:p>
        </p:txBody>
      </p:sp>
      <p:sp>
        <p:nvSpPr>
          <p:cNvPr id="44" name="ANUARIO_CONTENIDO_1_0_8">
            <a:extLst xmlns:a="http://schemas.openxmlformats.org/drawingml/2006/main">
              <a:ext uri="{FF2B5EF4-FFF2-40B4-BE49-F238E27FC236}">
                <a16:creationId xmlns:a16="http://schemas.microsoft.com/office/drawing/2014/main" id="{527DC507-1CC6-4745-8982-9FE9A1C4A4E2}"/>
              </a:ext>
            </a:extLst>
          </p:cNvPr>
          <p:cNvSpPr>
            <a:spLocks xmlns:a="http://schemas.openxmlformats.org/drawingml/2006/main" noGrp="1"/>
          </p:cNvSpPr>
          <p:nvPr/>
        </p:nvSpPr>
        <p:spPr>
          <a:xfrm xmlns:a="http://schemas.openxmlformats.org/drawingml/2006/main">
            <a:off x="4828032" y="188732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presentó</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México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(SCNM),</a:t>
            </a:r>
            <a:r>
              <a:rPr sz="730" b="0" i="0">
                <a:solidFill>
                  <a:srgbClr val="24383A"/>
                </a:solidFill>
                <a:latin typeface="DejaVu Sans"/>
                <a:ea typeface="DejaVu Sans"/>
                <a:cs typeface="DejaVu Sans"/>
              </a:rPr>
              <a:t> </a:t>
            </a:r>
          </a:p>
        </p:txBody>
      </p:sp>
      <p:sp>
        <p:nvSpPr>
          <p:cNvPr id="45" name="ANUARIO_CONTENIDO_1_0_9">
            <a:extLst xmlns:a="http://schemas.openxmlformats.org/drawingml/2006/main">
              <a:ext uri="{FF2B5EF4-FFF2-40B4-BE49-F238E27FC236}">
                <a16:creationId xmlns:a16="http://schemas.microsoft.com/office/drawing/2014/main" id="{F50AA142-CA42-48EB-8E9E-AF79166540DE}"/>
              </a:ext>
            </a:extLst>
          </p:cNvPr>
          <p:cNvSpPr>
            <a:spLocks xmlns:a="http://schemas.openxmlformats.org/drawingml/2006/main" noGrp="1"/>
          </p:cNvSpPr>
          <p:nvPr/>
        </p:nvSpPr>
        <p:spPr>
          <a:xfrm xmlns:a="http://schemas.openxmlformats.org/drawingml/2006/main">
            <a:off x="4828032" y="199115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(CAB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tendría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modificaciones.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anterior,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p>
        </p:txBody>
      </p:sp>
      <p:sp>
        <p:nvSpPr>
          <p:cNvPr id="46" name="ANUARIO_CONTENIDO_1_0_10">
            <a:extLst xmlns:a="http://schemas.openxmlformats.org/drawingml/2006/main">
              <a:ext uri="{FF2B5EF4-FFF2-40B4-BE49-F238E27FC236}">
                <a16:creationId xmlns:a16="http://schemas.microsoft.com/office/drawing/2014/main" id="{80E4609A-2C11-415E-92AE-2DE595BA9BE6}"/>
              </a:ext>
            </a:extLst>
          </p:cNvPr>
          <p:cNvSpPr>
            <a:spLocks xmlns:a="http://schemas.openxmlformats.org/drawingml/2006/main" noGrp="1"/>
          </p:cNvSpPr>
          <p:nvPr/>
        </p:nvSpPr>
        <p:spPr>
          <a:xfrm xmlns:a="http://schemas.openxmlformats.org/drawingml/2006/main">
            <a:off x="4828032" y="209499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función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Lineamientos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Ciclo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Actualización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Información</a:t>
            </a:r>
            <a:r>
              <a:rPr sz="730" b="0" i="0">
                <a:solidFill>
                  <a:srgbClr val="24383A"/>
                </a:solidFill>
                <a:latin typeface="DejaVu Sans"/>
                <a:ea typeface="DejaVu Sans"/>
                <a:cs typeface="DejaVu Sans"/>
              </a:rPr>
              <a:t> </a:t>
            </a:r>
          </a:p>
        </p:txBody>
      </p:sp>
      <p:sp>
        <p:nvSpPr>
          <p:cNvPr id="47" name="ANUARIO_CONTENIDO_1_0_11">
            <a:extLst xmlns:a="http://schemas.openxmlformats.org/drawingml/2006/main">
              <a:ext uri="{FF2B5EF4-FFF2-40B4-BE49-F238E27FC236}">
                <a16:creationId xmlns:a16="http://schemas.microsoft.com/office/drawing/2014/main" id="{2BAEE7D1-C341-4C30-ADEA-3188191B5DC3}"/>
              </a:ext>
            </a:extLst>
          </p:cNvPr>
          <p:cNvSpPr>
            <a:spLocks xmlns:a="http://schemas.openxmlformats.org/drawingml/2006/main" noGrp="1"/>
          </p:cNvSpPr>
          <p:nvPr/>
        </p:nvSpPr>
        <p:spPr>
          <a:xfrm xmlns:a="http://schemas.openxmlformats.org/drawingml/2006/main">
            <a:off x="4828032" y="2198827"/>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publicados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julio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2015.</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clave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integración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conceptual</a:t>
            </a:r>
            <a:r>
              <a:rPr sz="730" b="0" i="0">
                <a:solidFill>
                  <a:srgbClr val="24383A"/>
                </a:solidFill>
                <a:latin typeface="DejaVu Sans"/>
                <a:ea typeface="DejaVu Sans"/>
                <a:cs typeface="DejaVu Sans"/>
              </a:rPr>
              <a:t> </a:t>
            </a:r>
          </a:p>
        </p:txBody>
      </p:sp>
      <p:sp>
        <p:nvSpPr>
          <p:cNvPr id="48" name="ANUARIO_CONTENIDO_1_0_12">
            <a:extLst xmlns:a="http://schemas.openxmlformats.org/drawingml/2006/main">
              <a:ext uri="{FF2B5EF4-FFF2-40B4-BE49-F238E27FC236}">
                <a16:creationId xmlns:a16="http://schemas.microsoft.com/office/drawing/2014/main" id="{E8021DC2-3E79-4D6D-A0C7-3E9243D74EF2}"/>
              </a:ext>
            </a:extLst>
          </p:cNvPr>
          <p:cNvSpPr>
            <a:spLocks xmlns:a="http://schemas.openxmlformats.org/drawingml/2006/main" noGrp="1"/>
          </p:cNvSpPr>
          <p:nvPr/>
        </p:nvSpPr>
        <p:spPr>
          <a:xfrm xmlns:a="http://schemas.openxmlformats.org/drawingml/2006/main">
            <a:off x="4828032" y="2302662"/>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fue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adopción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adaptación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teórico-contable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que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ofrecido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p>
        </p:txBody>
      </p:sp>
      <p:sp>
        <p:nvSpPr>
          <p:cNvPr id="49" name="ANUARIO_CONTENIDO_1_0_13">
            <a:extLst xmlns:a="http://schemas.openxmlformats.org/drawingml/2006/main">
              <a:ext uri="{FF2B5EF4-FFF2-40B4-BE49-F238E27FC236}">
                <a16:creationId xmlns:a16="http://schemas.microsoft.com/office/drawing/2014/main" id="{FCBC120A-F96B-4090-A6F5-47734348E579}"/>
              </a:ext>
            </a:extLst>
          </p:cNvPr>
          <p:cNvSpPr>
            <a:spLocks xmlns:a="http://schemas.openxmlformats.org/drawingml/2006/main" noGrp="1"/>
          </p:cNvSpPr>
          <p:nvPr/>
        </p:nvSpPr>
        <p:spPr>
          <a:xfrm xmlns:a="http://schemas.openxmlformats.org/drawingml/2006/main">
            <a:off x="4828032" y="240649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versiones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Sistema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Cuentas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aprobado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Comisión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0" name="ANUARIO_CONTENIDO_1_0_14">
            <a:extLst xmlns:a="http://schemas.openxmlformats.org/drawingml/2006/main">
              <a:ext uri="{FF2B5EF4-FFF2-40B4-BE49-F238E27FC236}">
                <a16:creationId xmlns:a16="http://schemas.microsoft.com/office/drawing/2014/main" id="{5B98C8CB-ED32-47FE-94A8-E811D321494B}"/>
              </a:ext>
            </a:extLst>
          </p:cNvPr>
          <p:cNvSpPr>
            <a:spLocks xmlns:a="http://schemas.openxmlformats.org/drawingml/2006/main" noGrp="1"/>
          </p:cNvSpPr>
          <p:nvPr/>
        </p:nvSpPr>
        <p:spPr>
          <a:xfrm xmlns:a="http://schemas.openxmlformats.org/drawingml/2006/main">
            <a:off x="4828032" y="251033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Estadística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Unidas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para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1968,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1993</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2008,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algunos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aspectos</a:t>
            </a:r>
            <a:r>
              <a:rPr sz="730" b="0" i="0">
                <a:solidFill>
                  <a:srgbClr val="24383A"/>
                </a:solidFill>
                <a:latin typeface="DejaVu Sans"/>
                <a:ea typeface="DejaVu Sans"/>
                <a:cs typeface="DejaVu Sans"/>
              </a:rPr>
              <a:t> </a:t>
            </a:r>
          </a:p>
        </p:txBody>
      </p:sp>
      <p:sp>
        <p:nvSpPr>
          <p:cNvPr id="51" name="ANUARIO_CONTENIDO_1_0_15">
            <a:extLst xmlns:a="http://schemas.openxmlformats.org/drawingml/2006/main">
              <a:ext uri="{FF2B5EF4-FFF2-40B4-BE49-F238E27FC236}">
                <a16:creationId xmlns:a16="http://schemas.microsoft.com/office/drawing/2014/main" id="{8B5F3C73-E4A7-46F6-916A-8BAA0CBA1CD2}"/>
              </a:ext>
            </a:extLst>
          </p:cNvPr>
          <p:cNvSpPr>
            <a:spLocks xmlns:a="http://schemas.openxmlformats.org/drawingml/2006/main" noGrp="1"/>
          </p:cNvSpPr>
          <p:nvPr/>
        </p:nvSpPr>
        <p:spPr>
          <a:xfrm xmlns:a="http://schemas.openxmlformats.org/drawingml/2006/main">
            <a:off x="4828032" y="261416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revisión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SCN</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hacia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nuevo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marco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2025.</a:t>
            </a:r>
          </a:p>
        </p:txBody>
      </p:sp>
      <p:sp>
        <p:nvSpPr>
          <p:cNvPr id="52" name="ANUARIO_CONTENIDO_1_0_16">
            <a:extLst xmlns:a="http://schemas.openxmlformats.org/drawingml/2006/main">
              <a:ext uri="{FF2B5EF4-FFF2-40B4-BE49-F238E27FC236}">
                <a16:creationId xmlns:a16="http://schemas.microsoft.com/office/drawing/2014/main" id="{E1A2A129-A501-41A8-94CE-36B1A610F205}"/>
              </a:ext>
            </a:extLst>
          </p:cNvPr>
          <p:cNvSpPr>
            <a:spLocks xmlns:a="http://schemas.openxmlformats.org/drawingml/2006/main" noGrp="1"/>
          </p:cNvSpPr>
          <p:nvPr/>
        </p:nvSpPr>
        <p:spPr>
          <a:xfrm xmlns:a="http://schemas.openxmlformats.org/drawingml/2006/main">
            <a:off x="4828032" y="2743403"/>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La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cobertura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geográfica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PIB</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nacional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alcanza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una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representatividad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p>
        </p:txBody>
      </p:sp>
      <p:sp>
        <p:nvSpPr>
          <p:cNvPr id="53" name="ANUARIO_CONTENIDO_1_0_17">
            <a:extLst xmlns:a="http://schemas.openxmlformats.org/drawingml/2006/main">
              <a:ext uri="{FF2B5EF4-FFF2-40B4-BE49-F238E27FC236}">
                <a16:creationId xmlns:a16="http://schemas.microsoft.com/office/drawing/2014/main" id="{75189FBF-906D-4EB4-BE3C-1A30D929A110}"/>
              </a:ext>
            </a:extLst>
          </p:cNvPr>
          <p:cNvSpPr>
            <a:spLocks xmlns:a="http://schemas.openxmlformats.org/drawingml/2006/main" noGrp="1"/>
          </p:cNvSpPr>
          <p:nvPr/>
        </p:nvSpPr>
        <p:spPr>
          <a:xfrm xmlns:a="http://schemas.openxmlformats.org/drawingml/2006/main">
            <a:off x="4828032" y="2847238"/>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97.7%</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valor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agregado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bruto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del</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año</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base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2018.</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presenta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por</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p>
        </p:txBody>
      </p:sp>
      <p:sp>
        <p:nvSpPr>
          <p:cNvPr id="54" name="ANUARIO_CONTENIDO_1_0_18">
            <a:extLst xmlns:a="http://schemas.openxmlformats.org/drawingml/2006/main">
              <a:ext uri="{FF2B5EF4-FFF2-40B4-BE49-F238E27FC236}">
                <a16:creationId xmlns:a16="http://schemas.microsoft.com/office/drawing/2014/main" id="{9E1E0B30-AE08-4B4F-8D69-CFD6FC8031FF}"/>
              </a:ext>
            </a:extLst>
          </p:cNvPr>
          <p:cNvSpPr>
            <a:spLocks xmlns:a="http://schemas.openxmlformats.org/drawingml/2006/main" noGrp="1"/>
          </p:cNvSpPr>
          <p:nvPr/>
        </p:nvSpPr>
        <p:spPr>
          <a:xfrm xmlns:a="http://schemas.openxmlformats.org/drawingml/2006/main">
            <a:off x="4828032" y="2951074"/>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económica,</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subsectores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y</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ramas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actividad</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de</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las</a:t>
            </a:r>
            <a:r>
              <a:rPr sz="730" b="0" i="0">
                <a:solidFill>
                  <a:srgbClr val="24383A"/>
                </a:solidFill>
                <a:latin typeface="DejaVu Sans"/>
                <a:ea typeface="DejaVu Sans"/>
                <a:cs typeface="DejaVu Sans"/>
              </a:rPr>
              <a:t> </a:t>
            </a:r>
            <a:r>
              <a:rPr sz="730" b="0" i="0">
                <a:solidFill>
                  <a:srgbClr val="24383A"/>
                </a:solidFill>
                <a:latin typeface="DejaVu Sans"/>
                <a:ea typeface="DejaVu Sans"/>
                <a:cs typeface="DejaVu Sans"/>
              </a:rPr>
              <a:t>industrias</a:t>
            </a:r>
            <a:r>
              <a:rPr sz="730" b="0" i="0">
                <a:solidFill>
                  <a:srgbClr val="24383A"/>
                </a:solidFill>
                <a:latin typeface="DejaVu Sans"/>
                <a:ea typeface="DejaVu Sans"/>
                <a:cs typeface="DejaVu Sans"/>
              </a:rPr>
              <a:t> </a:t>
            </a:r>
          </a:p>
        </p:txBody>
      </p:sp>
      <p:sp>
        <p:nvSpPr>
          <p:cNvPr id="55" name="ANUARIO_CONTENIDO_1_0_19">
            <a:extLst xmlns:a="http://schemas.openxmlformats.org/drawingml/2006/main">
              <a:ext uri="{FF2B5EF4-FFF2-40B4-BE49-F238E27FC236}">
                <a16:creationId xmlns:a16="http://schemas.microsoft.com/office/drawing/2014/main" id="{3C08AA2D-4CF4-4F85-A85D-A6364D5F855C}"/>
              </a:ext>
            </a:extLst>
          </p:cNvPr>
          <p:cNvSpPr>
            <a:spLocks xmlns:a="http://schemas.openxmlformats.org/drawingml/2006/main" noGrp="1"/>
          </p:cNvSpPr>
          <p:nvPr/>
        </p:nvSpPr>
        <p:spPr>
          <a:xfrm xmlns:a="http://schemas.openxmlformats.org/drawingml/2006/main">
            <a:off x="4828032" y="3054909"/>
            <a:ext cx="3794760" cy="115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30" b="0">
                <a:solidFill>
                  <a:srgbClr val="24383A"/>
                </a:solidFill>
                <a:latin typeface="DejaVu Sans"/>
                <a:ea typeface="DejaVu Sans"/>
                <a:cs typeface="DejaVu Sans"/>
              </a:defRPr>
            </a:pPr>
            <a:r>
              <a:rPr sz="730" b="0" i="0">
                <a:solidFill>
                  <a:srgbClr val="24383A"/>
                </a:solidFill>
                <a:latin typeface="DejaVu Sans"/>
                <a:ea typeface="DejaVu Sans"/>
                <a:cs typeface="DejaVu Sans"/>
              </a:rPr>
              <a:t>manufactureras.</a:t>
            </a:r>
            <a:r>
              <a:rPr sz="730" b="0" i="0">
                <a:solidFill>
                  <a:srgbClr val="24383A"/>
                </a:solidFill>
                <a:latin typeface="DejaVu Sans"/>
                <a:ea typeface="DejaVu Sans"/>
                <a:cs typeface="DejaVu Sans"/>
              </a:rPr>
              <a:t> </a:t>
            </a:r>
          </a:p>
        </p:txBody>
      </p:sp>
      <p:sp>
        <p:nvSpPr>
          <p:cNvPr id="56" name="ANUARIO_NOTAS_0">
            <a:extLst xmlns:a="http://schemas.openxmlformats.org/drawingml/2006/main">
              <a:ext uri="{FF2B5EF4-FFF2-40B4-BE49-F238E27FC236}">
                <a16:creationId xmlns:a16="http://schemas.microsoft.com/office/drawing/2014/main" id="{F050ADB1-1BFC-4646-BE24-A7F07771D4AB}"/>
              </a:ext>
            </a:extLst>
          </p:cNvPr>
          <p:cNvSpPr>
            <a:spLocks xmlns:a="http://schemas.openxmlformats.org/drawingml/2006/main" noGrp="1"/>
          </p:cNvSpPr>
          <p:nvPr/>
        </p:nvSpPr>
        <p:spPr>
          <a:xfrm xmlns:a="http://schemas.openxmlformats.org/drawingml/2006/main">
            <a:off x="301752" y="4544568"/>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14</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https://www.inegi.org.mx/programas/enoe/15ymas/</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15</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Fuente:</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IFT</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del</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INEGI.</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Para</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más</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información</a:t>
            </a:r>
            <a:r>
              <a:rPr sz="520" b="0" i="0">
                <a:solidFill>
                  <a:srgbClr val="24383A"/>
                </a:solidFill>
                <a:latin typeface="DejaVu Sans"/>
                <a:ea typeface="DejaVu Sans"/>
                <a:cs typeface="DejaVu Sans"/>
              </a:rPr>
              <a:t> </a:t>
            </a:r>
            <a:r>
              <a:rPr sz="520" b="0" i="0">
                <a:solidFill>
                  <a:srgbClr val="24383A"/>
                </a:solidFill>
                <a:latin typeface="DejaVu Sans"/>
                <a:ea typeface="DejaVu Sans"/>
                <a:cs typeface="DejaVu Sans"/>
              </a:rPr>
              <a:t>consultar:</a:t>
            </a:r>
            <a:r>
              <a:rPr sz="520" b="0" i="0">
                <a:solidFill>
                  <a:srgbClr val="24383A"/>
                </a:solidFill>
                <a:latin typeface="DejaVu Sans"/>
                <a:ea typeface="DejaVu Sans"/>
                <a:cs typeface="DejaVu Sans"/>
              </a:rPr>
              <a:t> </a:t>
            </a:r>
          </a:p>
        </p:txBody>
      </p:sp>
      <p:sp>
        <p:nvSpPr>
          <p:cNvPr id="57" name="ANUARIO_NOTAS_1">
            <a:extLst xmlns:a="http://schemas.openxmlformats.org/drawingml/2006/main">
              <a:ext uri="{FF2B5EF4-FFF2-40B4-BE49-F238E27FC236}">
                <a16:creationId xmlns:a16="http://schemas.microsoft.com/office/drawing/2014/main" id="{4257E342-4227-4A73-8A8C-E964CD609C43}"/>
              </a:ext>
            </a:extLst>
          </p:cNvPr>
          <p:cNvSpPr>
            <a:spLocks xmlns:a="http://schemas.openxmlformats.org/drawingml/2006/main" noGrp="1"/>
          </p:cNvSpPr>
          <p:nvPr/>
        </p:nvSpPr>
        <p:spPr>
          <a:xfrm xmlns:a="http://schemas.openxmlformats.org/drawingml/2006/main">
            <a:off x="301752" y="4618533"/>
            <a:ext cx="8540496" cy="8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20" b="0">
                <a:solidFill>
                  <a:srgbClr val="24383A"/>
                </a:solidFill>
                <a:latin typeface="DejaVu Sans"/>
                <a:ea typeface="DejaVu Sans"/>
                <a:cs typeface="DejaVu Sans"/>
              </a:defRPr>
            </a:pPr>
            <a:r>
              <a:rPr sz="520" b="0" i="0">
                <a:solidFill>
                  <a:srgbClr val="24383A"/>
                </a:solidFill>
                <a:latin typeface="DejaVu Sans"/>
                <a:ea typeface="DejaVu Sans"/>
                <a:cs typeface="DejaVu Sans"/>
              </a:rPr>
              <a:t>https://www.inegi.org.mx/contenidos/programas/pib/2018/doc/guia_cab2018.pdf</a:t>
            </a:r>
            <a:r>
              <a:rPr sz="520" b="0" i="0">
                <a:solidFill>
                  <a:srgbClr val="24383A"/>
                </a:solidFill>
                <a:latin typeface="DejaVu Sans"/>
                <a:ea typeface="DejaVu Sans"/>
                <a:cs typeface="DejaVu Sans"/>
              </a:rPr>
              <a:t>.</a:t>
            </a:r>
            <a:r>
              <a:rPr sz="520" b="0" i="0">
                <a:solidFill>
                  <a:srgbClr val="24383A"/>
                </a:solidFill>
                <a:latin typeface="DejaVu Sans"/>
                <a:ea typeface="DejaVu Sans"/>
                <a:cs typeface="DejaVu Sans"/>
              </a:rPr>
              <a:t> </a:t>
            </a:r>
          </a:p>
        </p:txBody>
      </p:sp>
    </p:spTree>
    <p:extLst>
      <p:ext uri="{BB962C8B-B14F-4D97-AF65-F5344CB8AC3E}">
        <p14:creationId xmlns:p14="http://schemas.microsoft.com/office/powerpoint/2010/main" val="1840071913"/>
      </p:ext>
    </p:extLst>
  </p:cSld>
</p:sld>
</file>

<file path=ppt/slides/slide130.xml><?xml version="1.0" encoding="utf-8"?>
<p:sld xmlns:p="http://schemas.openxmlformats.org/presentationml/2006/main">
  <p:cSld>
    <p:bg>
      <p:bgPr>
        <a:solidFill xmlns:a="http://schemas.openxmlformats.org/drawingml/2006/main">
          <a:srgbClr val="E8F0EE"/>
        </a:solidFill>
      </p:bgPr>
    </p:bg>
    <p:spTree>
      <p:nvGrpSpPr>
        <p:cNvPr id="1" name=""/>
        <p:cNvGrpSpPr/>
        <p:nvPr/>
      </p:nvGrpSpPr>
      <p:grpSpPr>
        <a:xfrm xmlns:a="http://schemas.openxmlformats.org/drawingml/2006/main"/>
      </p:grpSpPr>
      <p:sp>
        <p:nvSpPr>
          <p:cNvPr id="20" name="ANUARIO_ENCABEZADO">
            <a:extLst xmlns:a="http://schemas.openxmlformats.org/drawingml/2006/main">
              <a:ext uri="{FF2B5EF4-FFF2-40B4-BE49-F238E27FC236}">
                <a16:creationId xmlns:a16="http://schemas.microsoft.com/office/drawing/2014/main" id="{76486E26-067E-4EB0-BE6D-E5E66AE50FFA}"/>
              </a:ext>
            </a:extLst>
          </p:cNvPr>
          <p:cNvSpPr>
            <a:spLocks xmlns:a="http://schemas.openxmlformats.org/drawingml/2006/main" noGrp="1"/>
          </p:cNvSpPr>
          <p:nvPr/>
        </p:nvSpPr>
        <p:spPr>
          <a:xfrm xmlns:a="http://schemas.openxmlformats.org/drawingml/2006/main">
            <a:off x="0" y="0"/>
            <a:ext cx="9144000" cy="457200"/>
          </a:xfrm>
          <a:prstGeom xmlns:a="http://schemas.openxmlformats.org/drawingml/2006/main" prst="rect">
            <a:avLst/>
          </a:prstGeom>
          <a:solidFill xmlns:a="http://schemas.openxmlformats.org/drawingml/2006/main">
            <a:srgbClr val="13393A"/>
          </a:solidFill>
          <a:ln xmlns:a="http://schemas.openxmlformats.org/drawingml/2006/main" w="0">
            <a:noFill/>
          </a:ln>
        </p:spPr>
      </p:sp>
      <p:sp>
        <p:nvSpPr>
          <p:cNvPr id="2" name="ANUARIO_PIE">
            <a:extLst xmlns:a="http://schemas.openxmlformats.org/drawingml/2006/main">
              <a:ext uri="{FF2B5EF4-FFF2-40B4-BE49-F238E27FC236}">
                <a16:creationId xmlns:a16="http://schemas.microsoft.com/office/drawing/2014/main" id="{8D367F9A-30C1-46DD-BB53-D1EF987AA176}"/>
              </a:ext>
            </a:extLst>
          </p:cNvPr>
          <p:cNvSpPr>
            <a:spLocks xmlns:a="http://schemas.openxmlformats.org/drawingml/2006/main" noGrp="1"/>
          </p:cNvSpPr>
          <p:nvPr/>
        </p:nvSpPr>
        <p:spPr>
          <a:xfrm xmlns:a="http://schemas.openxmlformats.org/drawingml/2006/main">
            <a:off x="0" y="4937760"/>
            <a:ext cx="9144000" cy="205740"/>
          </a:xfrm>
          <a:prstGeom xmlns:a="http://schemas.openxmlformats.org/drawingml/2006/main" prst="rect">
            <a:avLst/>
          </a:prstGeom>
          <a:solidFill xmlns:a="http://schemas.openxmlformats.org/drawingml/2006/main">
            <a:srgbClr val="1A4043"/>
          </a:solidFill>
          <a:ln xmlns:a="http://schemas.openxmlformats.org/drawingml/2006/main" w="0">
            <a:noFill/>
          </a:ln>
        </p:spPr>
      </p:sp>
      <p:sp>
        <p:nvSpPr>
          <p:cNvPr id="3" name="ANUARIO_TITULO">
            <a:extLst xmlns:a="http://schemas.openxmlformats.org/drawingml/2006/main">
              <a:ext uri="{FF2B5EF4-FFF2-40B4-BE49-F238E27FC236}">
                <a16:creationId xmlns:a16="http://schemas.microsoft.com/office/drawing/2014/main" id="{A05BD631-9546-4363-A035-E1923ABB3DFB}"/>
              </a:ext>
            </a:extLst>
          </p:cNvPr>
          <p:cNvSpPr>
            <a:spLocks xmlns:a="http://schemas.openxmlformats.org/drawingml/2006/main" noGrp="1"/>
          </p:cNvSpPr>
          <p:nvPr/>
        </p:nvSpPr>
        <p:spPr>
          <a:xfrm xmlns:a="http://schemas.openxmlformats.org/drawingml/2006/main">
            <a:off x="301752" y="64008"/>
            <a:ext cx="457200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80" b="1">
                <a:solidFill>
                  <a:srgbClr val="FFFFFF"/>
                </a:solidFill>
                <a:latin typeface="DejaVu Sans"/>
                <a:ea typeface="DejaVu Sans"/>
                <a:cs typeface="DejaVu Sans"/>
              </a:defRPr>
            </a:pPr>
            <a:r>
              <a:rPr sz="1380" b="1">
                <a:solidFill>
                  <a:srgbClr val="FFFFFF"/>
                </a:solidFill>
                <a:latin typeface="DejaVu Sans"/>
                <a:ea typeface="DejaVu Sans"/>
                <a:cs typeface="DejaVu Sans"/>
              </a:rPr>
              <a:t>ANEXO IV. MÉTODOS DE CÁLCULO</a:t>
            </a:r>
          </a:p>
        </p:txBody>
      </p:sp>
      <p:sp>
        <p:nvSpPr>
          <p:cNvPr id="4" name="ANUARIO_BIT_TEXTO">
            <a:extLst xmlns:a="http://schemas.openxmlformats.org/drawingml/2006/main">
              <a:ext uri="{FF2B5EF4-FFF2-40B4-BE49-F238E27FC236}">
                <a16:creationId xmlns:a16="http://schemas.microsoft.com/office/drawing/2014/main" id="{D2EDE9E2-A067-48B7-8E55-084E7CD59E48}"/>
              </a:ext>
            </a:extLst>
          </p:cNvPr>
          <p:cNvSpPr>
            <a:spLocks xmlns:a="http://schemas.openxmlformats.org/drawingml/2006/main" noGrp="1"/>
          </p:cNvSpPr>
          <p:nvPr/>
        </p:nvSpPr>
        <p:spPr>
          <a:xfrm xmlns:a="http://schemas.openxmlformats.org/drawingml/2006/main">
            <a:off x="4846320" y="59436"/>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50" b="0">
                <a:solidFill>
                  <a:srgbClr val="D5E4E1"/>
                </a:solidFill>
                <a:latin typeface="DejaVu Sans"/>
                <a:ea typeface="DejaVu Sans"/>
                <a:cs typeface="DejaVu Sans"/>
              </a:defRPr>
            </a:pPr>
            <a:r>
              <a:rPr sz="650" b="0">
                <a:solidFill>
                  <a:srgbClr val="D5E4E1"/>
                </a:solidFill>
                <a:latin typeface="DejaVu Sans"/>
                <a:ea typeface="DejaVu Sans"/>
                <a:cs typeface="DejaVu Sans"/>
              </a:rPr>
              <a:t>Para consultar información con mayor desagregación, visita</a:t>
            </a:r>
          </a:p>
        </p:txBody>
      </p:sp>
      <p:sp>
        <p:nvSpPr>
          <p:cNvPr id="5" name="ANUARIO_BIT_URL">
            <a:extLst xmlns:a="http://schemas.openxmlformats.org/drawingml/2006/main">
              <a:ext uri="{FF2B5EF4-FFF2-40B4-BE49-F238E27FC236}">
                <a16:creationId xmlns:a16="http://schemas.microsoft.com/office/drawing/2014/main" id="{F5E661A9-1256-4D07-AE84-B458DDC79024}"/>
              </a:ext>
            </a:extLst>
          </p:cNvPr>
          <p:cNvSpPr>
            <a:spLocks xmlns:a="http://schemas.openxmlformats.org/drawingml/2006/main" noGrp="1"/>
          </p:cNvSpPr>
          <p:nvPr/>
        </p:nvSpPr>
        <p:spPr>
          <a:xfrm xmlns:a="http://schemas.openxmlformats.org/drawingml/2006/main">
            <a:off x="4846320" y="205740"/>
            <a:ext cx="2743200" cy="1463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50" b="1">
                <a:solidFill>
                  <a:srgbClr val="FFFFFF"/>
                </a:solidFill>
                <a:latin typeface="DejaVu Sans"/>
                <a:ea typeface="DejaVu Sans"/>
                <a:cs typeface="DejaVu Sans"/>
              </a:defRPr>
            </a:pPr>
            <a:r>
              <a:rPr sz="750" b="1">
                <a:solidFill>
                  <a:srgbClr val="FFFFFF"/>
                </a:solidFill>
                <a:latin typeface="DejaVu Sans"/>
                <a:ea typeface="DejaVu Sans"/>
                <a:cs typeface="DejaVu Sans"/>
              </a:rPr>
              <a:t>BIT CRT · bit.crt.gob.mx/BitWebApp</a:t>
            </a:r>
          </a:p>
        </p:txBody>
      </p:sp>
      <p:sp>
        <p:nvSpPr>
          <p:cNvPr id="6" name="ANUARIO_QR_ESPACIO">
            <a:extLst xmlns:a="http://schemas.openxmlformats.org/drawingml/2006/main">
              <a:ext uri="{FF2B5EF4-FFF2-40B4-BE49-F238E27FC236}">
                <a16:creationId xmlns:a16="http://schemas.microsoft.com/office/drawing/2014/main" id="{A7D48238-E879-4AC7-9C75-39C67EBB2EC3}"/>
              </a:ext>
            </a:extLst>
          </p:cNvPr>
          <p:cNvSpPr>
            <a:spLocks xmlns:a="http://schemas.openxmlformats.org/drawingml/2006/main" noGrp="1"/>
          </p:cNvSpPr>
          <p:nvPr/>
        </p:nvSpPr>
        <p:spPr>
          <a:xfrm xmlns:a="http://schemas.openxmlformats.org/drawingml/2006/main">
            <a:off x="7680960" y="45720"/>
            <a:ext cx="365760" cy="36576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0">
            <a:noFill/>
          </a:ln>
        </p:spPr>
      </p:sp>
      <p:sp>
        <p:nvSpPr>
          <p:cNvPr id="7" name="ANUARIO_CRT">
            <a:extLst xmlns:a="http://schemas.openxmlformats.org/drawingml/2006/main">
              <a:ext uri="{FF2B5EF4-FFF2-40B4-BE49-F238E27FC236}">
                <a16:creationId xmlns:a16="http://schemas.microsoft.com/office/drawing/2014/main" id="{731BD67E-EB85-44F1-855E-0338FAF3DBB2}"/>
              </a:ext>
            </a:extLst>
          </p:cNvPr>
          <p:cNvSpPr>
            <a:spLocks xmlns:a="http://schemas.openxmlformats.org/drawingml/2006/main" noGrp="1"/>
          </p:cNvSpPr>
          <p:nvPr/>
        </p:nvSpPr>
        <p:spPr>
          <a:xfrm xmlns:a="http://schemas.openxmlformats.org/drawingml/2006/main">
            <a:off x="8138160" y="64008"/>
            <a:ext cx="731520" cy="3291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500" b="1">
                <a:solidFill>
                  <a:srgbClr val="FFFFFF"/>
                </a:solidFill>
                <a:latin typeface="DejaVu Sans"/>
                <a:ea typeface="DejaVu Sans"/>
                <a:cs typeface="DejaVu Sans"/>
              </a:defRPr>
            </a:pPr>
            <a:r>
              <a:rPr sz="1500" b="1">
                <a:solidFill>
                  <a:srgbClr val="FFFFFF"/>
                </a:solidFill>
                <a:latin typeface="DejaVu Sans"/>
                <a:ea typeface="DejaVu Sans"/>
                <a:cs typeface="DejaVu Sans"/>
              </a:rPr>
              <a:t>CRT</a:t>
            </a:r>
          </a:p>
        </p:txBody>
      </p:sp>
      <p:sp>
        <p:nvSpPr>
          <p:cNvPr id="8" name="ANUARIO_PAGE_NUMBER">
            <a:extLst xmlns:a="http://schemas.openxmlformats.org/drawingml/2006/main">
              <a:ext uri="{FF2B5EF4-FFF2-40B4-BE49-F238E27FC236}">
                <a16:creationId xmlns:a16="http://schemas.microsoft.com/office/drawing/2014/main" id="{8D9D43BA-91BF-4482-8A43-D9A2FA349DDA}"/>
              </a:ext>
            </a:extLst>
          </p:cNvPr>
          <p:cNvSpPr>
            <a:spLocks xmlns:a="http://schemas.openxmlformats.org/drawingml/2006/main" noGrp="1"/>
          </p:cNvSpPr>
          <p:nvPr/>
        </p:nvSpPr>
        <p:spPr>
          <a:xfrm xmlns:a="http://schemas.openxmlformats.org/drawingml/2006/main">
            <a:off x="301752" y="4969764"/>
            <a:ext cx="731520"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00" b="1">
                <a:solidFill>
                  <a:srgbClr val="FFFFFF"/>
                </a:solidFill>
                <a:latin typeface="DejaVu Sans"/>
                <a:ea typeface="DejaVu Sans"/>
                <a:cs typeface="DejaVu Sans"/>
              </a:defRPr>
            </a:pPr>
            <a:r>
              <a:rPr sz="700" b="1">
                <a:solidFill>
                  <a:srgbClr val="FFFFFF"/>
                </a:solidFill>
                <a:latin typeface="DejaVu Sans"/>
                <a:ea typeface="DejaVu Sans"/>
                <a:cs typeface="DejaVu Sans"/>
              </a:rPr>
              <a:t>130</a:t>
            </a:r>
          </a:p>
        </p:txBody>
      </p:sp>
      <p:sp>
        <p:nvSpPr>
          <p:cNvPr id="9" name="ANUARIO_EDICION">
            <a:extLst xmlns:a="http://schemas.openxmlformats.org/drawingml/2006/main">
              <a:ext uri="{FF2B5EF4-FFF2-40B4-BE49-F238E27FC236}">
                <a16:creationId xmlns:a16="http://schemas.microsoft.com/office/drawing/2014/main" id="{9435A382-43CE-42A5-94C4-FADA97A0D5CD}"/>
              </a:ext>
            </a:extLst>
          </p:cNvPr>
          <p:cNvSpPr>
            <a:spLocks xmlns:a="http://schemas.openxmlformats.org/drawingml/2006/main" noGrp="1"/>
          </p:cNvSpPr>
          <p:nvPr/>
        </p:nvSpPr>
        <p:spPr>
          <a:xfrm xmlns:a="http://schemas.openxmlformats.org/drawingml/2006/main">
            <a:off x="5029200" y="4969764"/>
            <a:ext cx="3813048" cy="1554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600" b="0">
                <a:solidFill>
                  <a:srgbClr val="D5E4E1"/>
                </a:solidFill>
                <a:latin typeface="DejaVu Sans"/>
                <a:ea typeface="DejaVu Sans"/>
                <a:cs typeface="DejaVu Sans"/>
              </a:defRPr>
            </a:pPr>
            <a:r>
              <a:rPr sz="600" b="0">
                <a:solidFill>
                  <a:srgbClr val="D5E4E1"/>
                </a:solidFill>
                <a:latin typeface="DejaVu Sans"/>
                <a:ea typeface="DejaVu Sans"/>
                <a:cs typeface="DejaVu Sans"/>
              </a:rPr>
              <a:t>A N U A R I O   E S T A D Í S T I C O   2 0 2 6</a:t>
            </a:r>
          </a:p>
        </p:txBody>
      </p:sp>
      <p:sp>
        <p:nvSpPr>
          <p:cNvPr id="10" name="ANUARIO_METODOS_INTRO">
            <a:extLst xmlns:a="http://schemas.openxmlformats.org/drawingml/2006/main">
              <a:ext uri="{FF2B5EF4-FFF2-40B4-BE49-F238E27FC236}">
                <a16:creationId xmlns:a16="http://schemas.microsoft.com/office/drawing/2014/main" id="{66799505-B803-47E7-AE35-4E85A774DF25}"/>
              </a:ext>
            </a:extLst>
          </p:cNvPr>
          <p:cNvSpPr>
            <a:spLocks xmlns:a="http://schemas.openxmlformats.org/drawingml/2006/main" noGrp="1"/>
          </p:cNvSpPr>
          <p:nvPr/>
        </p:nvSpPr>
        <p:spPr>
          <a:xfrm xmlns:a="http://schemas.openxmlformats.org/drawingml/2006/main">
            <a:off x="301752" y="594360"/>
            <a:ext cx="854049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24383A"/>
                </a:solidFill>
                <a:latin typeface="DejaVu Sans"/>
                <a:ea typeface="DejaVu Sans"/>
                <a:cs typeface="DejaVu Sans"/>
              </a:defRPr>
            </a:pPr>
            <a:r>
              <a:rPr sz="750" b="0">
                <a:solidFill>
                  <a:srgbClr val="24383A"/>
                </a:solidFill>
                <a:latin typeface="DejaVu Sans"/>
                <a:ea typeface="DejaVu Sans"/>
                <a:cs typeface="DejaVu Sans"/>
              </a:rPr>
              <a:t>Para obtener los indicadores mostrados en el documento se utilizaron los siguientes métodos de cálculo:</a:t>
            </a:r>
          </a:p>
        </p:txBody>
      </p:sp>
      <p:sp>
        <p:nvSpPr>
          <p:cNvPr id="11" name="ANUARIO_ANEXO_P130_DESIGN_2026">
            <a:extLst xmlns:a="http://schemas.openxmlformats.org/drawingml/2006/main">
              <a:ext uri="{FF2B5EF4-FFF2-40B4-BE49-F238E27FC236}">
                <a16:creationId xmlns:a16="http://schemas.microsoft.com/office/drawing/2014/main" id="{0785A41D-B74C-4A74-94BD-193EAF8C8A29}"/>
              </a:ext>
            </a:extLst>
          </p:cNvPr>
          <p:cNvSpPr>
            <a:spLocks xmlns:a="http://schemas.openxmlformats.org/drawingml/2006/main" noGrp="1"/>
          </p:cNvSpPr>
          <p:nvPr/>
        </p:nvSpPr>
        <p:spPr>
          <a:xfrm xmlns:a="http://schemas.openxmlformats.org/drawingml/2006/main">
            <a:off x="301752"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2" name="ANUARIO_ACENTO">
            <a:extLst xmlns:a="http://schemas.openxmlformats.org/drawingml/2006/main">
              <a:ext uri="{FF2B5EF4-FFF2-40B4-BE49-F238E27FC236}">
                <a16:creationId xmlns:a16="http://schemas.microsoft.com/office/drawing/2014/main" id="{CB458468-29D3-4E6C-8EF4-67FC3CF48101}"/>
              </a:ext>
            </a:extLst>
          </p:cNvPr>
          <p:cNvSpPr>
            <a:spLocks xmlns:a="http://schemas.openxmlformats.org/drawingml/2006/main" noGrp="1"/>
          </p:cNvSpPr>
          <p:nvPr/>
        </p:nvSpPr>
        <p:spPr>
          <a:xfrm xmlns:a="http://schemas.openxmlformats.org/drawingml/2006/main">
            <a:off x="301752"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3" name="ANUARIO_SECCION">
            <a:extLst xmlns:a="http://schemas.openxmlformats.org/drawingml/2006/main">
              <a:ext uri="{FF2B5EF4-FFF2-40B4-BE49-F238E27FC236}">
                <a16:creationId xmlns:a16="http://schemas.microsoft.com/office/drawing/2014/main" id="{F57B89C4-EC53-4B25-969F-FAE093CE173D}"/>
              </a:ext>
            </a:extLst>
          </p:cNvPr>
          <p:cNvSpPr>
            <a:spLocks xmlns:a="http://schemas.openxmlformats.org/drawingml/2006/main" noGrp="1"/>
          </p:cNvSpPr>
          <p:nvPr/>
        </p:nvSpPr>
        <p:spPr>
          <a:xfrm xmlns:a="http://schemas.openxmlformats.org/drawingml/2006/main">
            <a:off x="466344"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Concentración y penetración</a:t>
            </a:r>
          </a:p>
        </p:txBody>
      </p:sp>
      <p:graphicFrame>
        <p:nvGraphicFramePr>
          <p:cNvPr id="33" name=""/>
          <p:cNvGraphicFramePr/>
          <p:nvPr/>
        </p:nvGraphicFramePr>
        <p:xfrm>
          <a:off xmlns:a="http://schemas.openxmlformats.org/drawingml/2006/main" x="466344"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480060">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Índice de Herfindahl-Hirschman (IHH)</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(participación de mercado de cada grupo económico × 100)²</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residenciales por cada 100 hogares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residenciales ÷ hogares de ENDUTIH del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o accesos no residenciales por cada 100 UE</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Accesos o líneas no residenciales ÷ unidades económicas de DENUE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móviles de telefonía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telefonía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480060">
                <a:tc>
                  <a:txBody>
                    <a:bodyPr lIns="38100" tIns="19050" rIns="38100" bIns="19050" wrap="square">
                      <a:noAutofit/>
                    </a:bodyPr>
                    <a:lstStyle/>
                    <a:p>
                      <a:pPr algn="l"/>
                      <a:r>
                        <a:rPr sz="630" b="0">
                          <a:solidFill>
                            <a:srgbClr val="24383A"/>
                          </a:solidFill>
                          <a:latin typeface="DejaVu Sans"/>
                          <a:ea typeface="DejaVu Sans"/>
                          <a:cs typeface="DejaVu Sans"/>
                        </a:rPr>
                        <a:t>Líneas de Internet móvil por cada 100 habitantes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Líneas del servicio móvil de Internet ÷ población compatible con el corte × 100</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bl>
          </a:graphicData>
        </a:graphic>
      </p:graphicFrame>
      <p:sp>
        <p:nvSpPr>
          <p:cNvPr id="15" name="ANUARIO_ANEXO_P130_DESIGN_2026">
            <a:extLst xmlns:a="http://schemas.openxmlformats.org/drawingml/2006/main">
              <a:ext uri="{FF2B5EF4-FFF2-40B4-BE49-F238E27FC236}">
                <a16:creationId xmlns:a16="http://schemas.microsoft.com/office/drawing/2014/main" id="{B2F0BCB9-AFD5-442A-A71B-B2436FD338AD}"/>
              </a:ext>
            </a:extLst>
          </p:cNvPr>
          <p:cNvSpPr>
            <a:spLocks xmlns:a="http://schemas.openxmlformats.org/drawingml/2006/main" noGrp="1"/>
          </p:cNvSpPr>
          <p:nvPr/>
        </p:nvSpPr>
        <p:spPr>
          <a:xfrm xmlns:a="http://schemas.openxmlformats.org/drawingml/2006/main">
            <a:off x="4663440" y="932688"/>
            <a:ext cx="4178808" cy="3529584"/>
          </a:xfrm>
          <a:prstGeom xmlns:a="http://schemas.openxmlformats.org/drawingml/2006/main" prst="roundRect">
            <a:avLst>
              <a:gd name="adj" fmla="val 1554"/>
            </a:avLst>
          </a:prstGeom>
          <a:solidFill xmlns:a="http://schemas.openxmlformats.org/drawingml/2006/main">
            <a:srgbClr val="F6FAF9"/>
          </a:solidFill>
          <a:ln xmlns:a="http://schemas.openxmlformats.org/drawingml/2006/main" w="9525">
            <a:solidFill>
              <a:srgbClr val="C9DAD6"/>
            </a:solidFill>
          </a:ln>
        </p:spPr>
      </p:sp>
      <p:sp>
        <p:nvSpPr>
          <p:cNvPr id="16" name="ANUARIO_ACENTO">
            <a:extLst xmlns:a="http://schemas.openxmlformats.org/drawingml/2006/main">
              <a:ext uri="{FF2B5EF4-FFF2-40B4-BE49-F238E27FC236}">
                <a16:creationId xmlns:a16="http://schemas.microsoft.com/office/drawing/2014/main" id="{AE73D338-AF54-4E3A-8BCA-9FBF0DCD65E0}"/>
              </a:ext>
            </a:extLst>
          </p:cNvPr>
          <p:cNvSpPr>
            <a:spLocks xmlns:a="http://schemas.openxmlformats.org/drawingml/2006/main" noGrp="1"/>
          </p:cNvSpPr>
          <p:nvPr/>
        </p:nvSpPr>
        <p:spPr>
          <a:xfrm xmlns:a="http://schemas.openxmlformats.org/drawingml/2006/main">
            <a:off x="4663440" y="1005840"/>
            <a:ext cx="64008" cy="3383280"/>
          </a:xfrm>
          <a:prstGeom xmlns:a="http://schemas.openxmlformats.org/drawingml/2006/main" prst="rect">
            <a:avLst/>
          </a:prstGeom>
          <a:solidFill xmlns:a="http://schemas.openxmlformats.org/drawingml/2006/main">
            <a:srgbClr val="2F7F6F"/>
          </a:solidFill>
          <a:ln xmlns:a="http://schemas.openxmlformats.org/drawingml/2006/main" w="0">
            <a:noFill/>
          </a:ln>
        </p:spPr>
      </p:sp>
      <p:sp>
        <p:nvSpPr>
          <p:cNvPr id="17" name="ANUARIO_SECCION">
            <a:extLst xmlns:a="http://schemas.openxmlformats.org/drawingml/2006/main">
              <a:ext uri="{FF2B5EF4-FFF2-40B4-BE49-F238E27FC236}">
                <a16:creationId xmlns:a16="http://schemas.microsoft.com/office/drawing/2014/main" id="{18260187-E5FE-45F2-8C87-D458AFEE2C70}"/>
              </a:ext>
            </a:extLst>
          </p:cNvPr>
          <p:cNvSpPr>
            <a:spLocks xmlns:a="http://schemas.openxmlformats.org/drawingml/2006/main" noGrp="1"/>
          </p:cNvSpPr>
          <p:nvPr/>
        </p:nvSpPr>
        <p:spPr>
          <a:xfrm xmlns:a="http://schemas.openxmlformats.org/drawingml/2006/main">
            <a:off x="4828032" y="1024128"/>
            <a:ext cx="3858768"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1">
                <a:solidFill>
                  <a:srgbClr val="2F7F6F"/>
                </a:solidFill>
                <a:latin typeface="DejaVu Sans"/>
                <a:ea typeface="DejaVu Sans"/>
                <a:cs typeface="DejaVu Sans"/>
              </a:defRPr>
            </a:pPr>
            <a:r>
              <a:rPr sz="800" b="1">
                <a:solidFill>
                  <a:srgbClr val="2F7F6F"/>
                </a:solidFill>
                <a:latin typeface="DejaVu Sans"/>
                <a:ea typeface="DejaVu Sans"/>
                <a:cs typeface="DejaVu Sans"/>
              </a:rPr>
              <a:t>Uso de servicios y utilidad</a:t>
            </a:r>
          </a:p>
        </p:txBody>
      </p:sp>
      <p:graphicFrame>
        <p:nvGraphicFramePr>
          <p:cNvPr id="37" name=""/>
          <p:cNvGraphicFramePr/>
          <p:nvPr/>
        </p:nvGraphicFramePr>
        <p:xfrm>
          <a:off xmlns:a="http://schemas.openxmlformats.org/drawingml/2006/main" x="4828032" y="1362456"/>
          <a:ext xmlns:a="http://schemas.openxmlformats.org/drawingml/2006/main" cx="3794760" cy="2880360"/>
        </p:xfrm>
        <a:graphic xmlns:a="http://schemas.openxmlformats.org/drawingml/2006/main">
          <a:graphicData uri="http://schemas.openxmlformats.org/drawingml/2006/table">
            <a:tbl>
              <a:tblPr firstRow="0" bandRow="0"/>
              <a:tblGrid>
                <a:gridCol w="1435608"/>
                <a:gridCol w="2359152"/>
              </a:tblGrid>
              <a:tr h="576072">
                <a:tc>
                  <a:txBody>
                    <a:bodyPr lIns="38100" tIns="19050" rIns="38100" bIns="19050" wrap="square">
                      <a:noAutofit/>
                    </a:bodyPr>
                    <a:lstStyle/>
                    <a:p>
                      <a:pPr algn="l"/>
                      <a:r>
                        <a:rPr sz="630" b="1">
                          <a:solidFill>
                            <a:srgbClr val="FFFFFF"/>
                          </a:solidFill>
                          <a:latin typeface="DejaVu Sans"/>
                          <a:ea typeface="DejaVu Sans"/>
                          <a:cs typeface="DejaVu Sans"/>
                        </a:rPr>
                        <a:t>Indicador</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c>
                  <a:txBody>
                    <a:bodyPr lIns="38100" tIns="19050" rIns="38100" bIns="19050" wrap="square">
                      <a:noAutofit/>
                    </a:bodyPr>
                    <a:lstStyle/>
                    <a:p>
                      <a:pPr algn="ctr"/>
                      <a:r>
                        <a:rPr sz="630" b="1">
                          <a:solidFill>
                            <a:srgbClr val="FFFFFF"/>
                          </a:solidFill>
                          <a:latin typeface="DejaVu Sans"/>
                          <a:ea typeface="DejaVu Sans"/>
                          <a:cs typeface="DejaVu Sans"/>
                        </a:rPr>
                        <a:t>Método de cálculo</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1A4043"/>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Minutos de uso promedio mensual (MOU)</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(minutos mensuales ÷ líneas del servicio de telefonía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Tráfico mensual promedio de Internet móvil</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(GB mensuales ÷ líneas de Internet móvil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Mensajes de texto promedio (SMS)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c>
                  <a:txBody>
                    <a:bodyPr lIns="38100" tIns="19050" rIns="38100" bIns="19050" wrap="square">
                      <a:noAutofit/>
                    </a:bodyPr>
                    <a:lstStyle/>
                    <a:p>
                      <a:pPr algn="ctr"/>
                      <a:r>
                        <a:rPr sz="630" b="0">
                          <a:solidFill>
                            <a:srgbClr val="24383A"/>
                          </a:solidFill>
                          <a:latin typeface="DejaVu Sans"/>
                          <a:ea typeface="DejaVu Sans"/>
                          <a:cs typeface="DejaVu Sans"/>
                        </a:rPr>
                        <a:t>Σ (SMS enviados por mes ÷ líneas móviles de cada mes) ÷ 12</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F6FAF9"/>
                    </a:solidFill>
                  </a:tcPr>
                </a:tc>
              </a:tr>
              <a:tr h="576072">
                <a:tc>
                  <a:txBody>
                    <a:bodyPr lIns="38100" tIns="19050" rIns="38100" bIns="19050" wrap="square">
                      <a:noAutofit/>
                    </a:bodyPr>
                    <a:lstStyle/>
                    <a:p>
                      <a:pPr algn="l"/>
                      <a:r>
                        <a:rPr sz="630" b="0">
                          <a:solidFill>
                            <a:srgbClr val="24383A"/>
                          </a:solidFill>
                          <a:latin typeface="DejaVu Sans"/>
                          <a:ea typeface="DejaVu Sans"/>
                          <a:cs typeface="DejaVu Sans"/>
                        </a:rPr>
                        <a:t>Margen de utilidad</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c>
                  <a:txBody>
                    <a:bodyPr lIns="38100" tIns="19050" rIns="38100" bIns="19050" wrap="square">
                      <a:noAutofit/>
                    </a:bodyPr>
                    <a:lstStyle/>
                    <a:p>
                      <a:pPr algn="ctr"/>
                      <a:r>
                        <a:rPr sz="630" b="0">
                          <a:solidFill>
                            <a:srgbClr val="24383A"/>
                          </a:solidFill>
                          <a:latin typeface="DejaVu Sans"/>
                          <a:ea typeface="DejaVu Sans"/>
                          <a:cs typeface="DejaVu Sans"/>
                        </a:rPr>
                        <a:t>Ingresos brutos − egresos operativos</a:t>
                      </a:r>
                    </a:p>
                  </a:txBody>
                  <a:tcPr marL="28575" marR="28575" marT="0" marB="0" anchor="ctr">
                    <a:lnL w="6350">
                      <a:solidFill>
                        <a:srgbClr val="C9DAD6"/>
                      </a:solidFill>
                      <a:prstDash val="solid"/>
                    </a:lnL>
                    <a:lnR w="6350">
                      <a:solidFill>
                        <a:srgbClr val="C9DAD6"/>
                      </a:solidFill>
                      <a:prstDash val="solid"/>
                    </a:lnR>
                    <a:lnT w="6350">
                      <a:solidFill>
                        <a:srgbClr val="C9DAD6"/>
                      </a:solidFill>
                      <a:prstDash val="solid"/>
                    </a:lnT>
                    <a:lnB w="6350">
                      <a:solidFill>
                        <a:srgbClr val="C9DAD6"/>
                      </a:solidFill>
                      <a:prstDash val="solid"/>
                    </a:lnB>
                    <a:solidFill>
                      <a:srgbClr val="DCE9E6"/>
                    </a:solidFill>
                  </a:tcPr>
                </a:tc>
              </a:tr>
            </a:tbl>
          </a:graphicData>
        </a:graphic>
      </p:graphicFrame>
      <p:sp>
        <p:nvSpPr>
          <p:cNvPr id="19" name="ANUARIO_METODOS_NOTA">
            <a:extLst xmlns:a="http://schemas.openxmlformats.org/drawingml/2006/main">
              <a:ext uri="{FF2B5EF4-FFF2-40B4-BE49-F238E27FC236}">
                <a16:creationId xmlns:a16="http://schemas.microsoft.com/office/drawing/2014/main" id="{9068D59E-96F3-42AF-9A8C-F484245A97B5}"/>
              </a:ext>
            </a:extLst>
          </p:cNvPr>
          <p:cNvSpPr>
            <a:spLocks xmlns:a="http://schemas.openxmlformats.org/drawingml/2006/main" noGrp="1"/>
          </p:cNvSpPr>
          <p:nvPr/>
        </p:nvSpPr>
        <p:spPr>
          <a:xfrm xmlns:a="http://schemas.openxmlformats.org/drawingml/2006/main">
            <a:off x="301752" y="4553712"/>
            <a:ext cx="8540496"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 b="0">
                <a:solidFill>
                  <a:srgbClr val="24383A"/>
                </a:solidFill>
                <a:latin typeface="DejaVu Sans"/>
                <a:ea typeface="DejaVu Sans"/>
                <a:cs typeface="DejaVu Sans"/>
              </a:defRPr>
            </a:pPr>
            <a:r>
              <a:rPr sz="570" b="0">
                <a:solidFill>
                  <a:srgbClr val="24383A"/>
                </a:solidFill>
                <a:latin typeface="DejaVu Sans"/>
                <a:ea typeface="DejaVu Sans"/>
                <a:cs typeface="DejaVu Sans"/>
              </a:rPr>
              <a:t>Nota: hogares y población corresponden a la ENDUTIH del corte de cada figura; las UE provienen del DENUE. Las figuras identifican fuente y periodo.</a:t>
            </a:r>
          </a:p>
        </p:txBody>
      </p:sp>
    </p:spTree>
    <p:extLst>
      <p:ext uri="{BB962C8B-B14F-4D97-AF65-F5344CB8AC3E}">
        <p14:creationId xmlns:p14="http://schemas.microsoft.com/office/powerpoint/2010/main" val="1380278910"/>
      </p:ext>
    </p:extLst>
  </p:cSld>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429000"/>
            <a:ext cx="7315200" cy="822960"/>
          </a:xfrm>
          <a:prstGeom prst="rect">
            <a:avLst/>
          </a:prstGeom>
          <a:noFill/>
        </p:spPr>
        <p:txBody>
          <a:bodyPr wrap="square">
            <a:spAutoFit/>
          </a:bodyPr>
          <a:lstStyle/>
          <a:p>
            <a:pPr algn="ctr"/>
            <a:r>
              <a:rPr sz="850">
                <a:solidFill>
                  <a:srgbClr val="F3F3F3"/>
                </a:solidFill>
                <a:latin typeface="Noto Sans"/>
              </a:rPr>
              <a:t>{{CONTRAPORTADA:CONTACTO_INSTITUCIONAL}}</a:t>
            </a:r>
          </a:p>
        </p:txBody>
      </p:sp>
    </p:spTree>
  </p:cSld>
  <p:clrMapOvr>
    <a:masterClrMapping/>
  </p:clrMapOvr>
</p:sld>
</file>

<file path=ppt/theme/a121_130_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s9_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s121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s125_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