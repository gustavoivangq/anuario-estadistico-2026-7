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4"/>
  </p:sldMasterIdLst>
  <p:notesMasterIdLst>
    <p:notesMasterId r:id="rId13"/>
  </p:notesMasterIdLst>
  <p:sldIdLst>
    <p:sldId id="259" r:id="rId5"/>
    <p:sldId id="260" r:id="rId6"/>
    <p:sldId id="386" r:id="rId12"/>
    <p:sldId id="387" r:id="rId11"/>
    <p:sldId id="388" r:id="rId10"/>
    <p:sldId id="389" r:id="rId9"/>
    <p:sldId id="270" r:id="rId35"/>
    <p:sldId id="390" r:id="rId8"/>
    <p:sldId id="391" r:id="rId7"/>
    <p:sldId id="392" r:id="rId151"/>
    <p:sldId id="272" r:id="rId37"/>
    <p:sldId id="273" r:id="rId38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3" r:id="rId68"/>
    <p:sldId id="304" r:id="rId69"/>
    <p:sldId id="305" r:id="rId70"/>
    <p:sldId id="306" r:id="rId71"/>
    <p:sldId id="307" r:id="rId72"/>
    <p:sldId id="309" r:id="rId74"/>
    <p:sldId id="310" r:id="rId75"/>
    <p:sldId id="311" r:id="rId76"/>
    <p:sldId id="313" r:id="rId78"/>
    <p:sldId id="314" r:id="rId79"/>
    <p:sldId id="315" r:id="rId80"/>
    <p:sldId id="316" r:id="rId81"/>
    <p:sldId id="317" r:id="rId82"/>
    <p:sldId id="318" r:id="rId83"/>
    <p:sldId id="319" r:id="rId84"/>
    <p:sldId id="320" r:id="rId85"/>
    <p:sldId id="321" r:id="rId86"/>
    <p:sldId id="322" r:id="rId87"/>
    <p:sldId id="323" r:id="rId88"/>
    <p:sldId id="324" r:id="rId89"/>
    <p:sldId id="326" r:id="rId91"/>
    <p:sldId id="327" r:id="rId92"/>
    <p:sldId id="328" r:id="rId93"/>
    <p:sldId id="329" r:id="rId94"/>
    <p:sldId id="330" r:id="rId95"/>
    <p:sldId id="331" r:id="rId96"/>
    <p:sldId id="332" r:id="rId97"/>
    <p:sldId id="333" r:id="rId98"/>
    <p:sldId id="334" r:id="rId99"/>
    <p:sldId id="335" r:id="rId100"/>
    <p:sldId id="336" r:id="rId101"/>
    <p:sldId id="338" r:id="rId103"/>
    <p:sldId id="339" r:id="rId104"/>
    <p:sldId id="340" r:id="rId105"/>
    <p:sldId id="341" r:id="rId106"/>
    <p:sldId id="342" r:id="rId107"/>
    <p:sldId id="343" r:id="rId108"/>
    <p:sldId id="344" r:id="rId109"/>
    <p:sldId id="345" r:id="rId110"/>
    <p:sldId id="346" r:id="rId111"/>
    <p:sldId id="393" r:id="rId152"/>
    <p:sldId id="348" r:id="rId113"/>
    <p:sldId id="349" r:id="rId114"/>
    <p:sldId id="350" r:id="rId115"/>
    <p:sldId id="351" r:id="rId116"/>
    <p:sldId id="352" r:id="rId117"/>
    <p:sldId id="353" r:id="rId118"/>
    <p:sldId id="354" r:id="rId119"/>
    <p:sldId id="355" r:id="rId120"/>
    <p:sldId id="356" r:id="rId121"/>
    <p:sldId id="357" r:id="rId122"/>
    <p:sldId id="358" r:id="rId123"/>
    <p:sldId id="359" r:id="rId124"/>
    <p:sldId id="360" r:id="rId125"/>
    <p:sldId id="361" r:id="rId126"/>
    <p:sldId id="362" r:id="rId127"/>
    <p:sldId id="363" r:id="rId128"/>
    <p:sldId id="364" r:id="rId129"/>
    <p:sldId id="365" r:id="rId130"/>
    <p:sldId id="366" r:id="rId131"/>
    <p:sldId id="368" r:id="rId133"/>
    <p:sldId id="370" r:id="rId135"/>
    <p:sldId id="371" r:id="rId136"/>
    <p:sldId id="372" r:id="rId137"/>
    <p:sldId id="373" r:id="rId138"/>
    <p:sldId id="374" r:id="rId139"/>
    <p:sldId id="375" r:id="rId140"/>
    <p:sldId id="376" r:id="rId141"/>
    <p:sldId id="377" r:id="rId142"/>
    <p:sldId id="378" r:id="rId143"/>
    <p:sldId id="379" r:id="rId144"/>
    <p:sldId id="380" r:id="rId145"/>
    <p:sldId id="381" r:id="rId146"/>
    <p:sldId id="382" r:id="rId147"/>
    <p:sldId id="383" r:id="rId148"/>
    <p:sldId id="394" r:id="rId153"/>
    <p:sldId id="395" r:id="rId154"/>
    <p:sldId id="396" r:id="rId155"/>
    <p:sldId id="397" r:id="rId156"/>
    <p:sldId id="398" r:id="rId157"/>
    <p:sldId id="399" r:id="rId158"/>
    <p:sldId id="400" r:id="rId159"/>
    <p:sldId id="401" r:id="rId160"/>
    <p:sldId id="402" r:id="rId161"/>
    <p:sldId id="403" r:id="rId162"/>
    <p:sldId id="404" r:id="rId163"/>
    <p:sldId id="405" r:id="rId164"/>
    <p:sldId id="406" r:id="rId165"/>
    <p:sldId id="407" r:id="rId166"/>
    <p:sldId id="408" r:id="rId167"/>
    <p:sldId id="409" r:id="rId168"/>
  </p:sldIdLst>
  <p:sldSz cx="9144000" cy="5143500" type="screen16x9"/>
  <p:notesSz cx="6858000" cy="9144000"/>
  <p:embeddedFontLst>
    <p:embeddedFont>
      <p:font typeface="Noto Sans" panose="020B0502040504020204" pitchFamily="34" charset="0"/>
      <p:regular r:id="rId14"/>
      <p:bold r:id="rId15"/>
      <p:italic r:id="rId16"/>
      <p:boldItalic r:id="rId17"/>
    </p:embeddedFont>
    <p:embeddedFont>
      <p:font typeface="Noto Sans Black" panose="020B0502040504020204" pitchFamily="34" charset="0"/>
      <p:bold r:id="rId18"/>
      <p:boldItalic r:id="rId19"/>
    </p:embeddedFont>
    <p:embeddedFont>
      <p:font typeface="Noto Sans ExtraBold" panose="020B0502040504020204" pitchFamily="34" charset="0"/>
      <p:bold r:id="rId20"/>
      <p:boldItalic r:id="rId21"/>
    </p:embeddedFont>
    <p:embeddedFont>
      <p:font typeface="Noto Sans Light" panose="020B0502040504020204" pitchFamily="34" charset="0"/>
      <p:regular r:id="rId22"/>
      <p:bold r:id="rId23"/>
      <p:italic r:id="rId24"/>
      <p:boldItalic r:id="rId25"/>
    </p:embeddedFont>
    <p:embeddedFont>
      <p:font typeface="Poppins" panose="000005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D1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4.xml"/><Relationship Id="rId12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schemas.openxmlformats.org/officeDocument/2006/relationships/font" Target="fonts/font9.fntdata"/><Relationship Id="rId23" Type="http://schemas.openxmlformats.org/officeDocument/2006/relationships/font" Target="fonts/font10.fntdata"/><Relationship Id="rId24" Type="http://schemas.openxmlformats.org/officeDocument/2006/relationships/font" Target="fonts/font11.fntdata"/><Relationship Id="rId25" Type="http://schemas.openxmlformats.org/officeDocument/2006/relationships/font" Target="fonts/font12.fntdata"/><Relationship Id="rId26" Type="http://schemas.openxmlformats.org/officeDocument/2006/relationships/font" Target="fonts/font13.fntdata"/><Relationship Id="rId27" Type="http://schemas.openxmlformats.org/officeDocument/2006/relationships/font" Target="fonts/font14.fntdata"/><Relationship Id="rId28" Type="http://schemas.openxmlformats.org/officeDocument/2006/relationships/font" Target="fonts/font15.fntdata"/><Relationship Id="rId29" Type="http://schemas.openxmlformats.org/officeDocument/2006/relationships/font" Target="fonts/font16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5" Type="http://schemas.openxmlformats.org/officeDocument/2006/relationships/slide" Target="slides/slide7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57" Type="http://schemas.openxmlformats.org/officeDocument/2006/relationships/slide" Target="slides/slide30.xml"/><Relationship Id="rId58" Type="http://schemas.openxmlformats.org/officeDocument/2006/relationships/slide" Target="slides/slide31.xml"/><Relationship Id="rId59" Type="http://schemas.openxmlformats.org/officeDocument/2006/relationships/slide" Target="slides/slide32.xml"/><Relationship Id="rId60" Type="http://schemas.openxmlformats.org/officeDocument/2006/relationships/slide" Target="slides/slide33.xml"/><Relationship Id="rId61" Type="http://schemas.openxmlformats.org/officeDocument/2006/relationships/slide" Target="slides/slide34.xml"/><Relationship Id="rId62" Type="http://schemas.openxmlformats.org/officeDocument/2006/relationships/slide" Target="slides/slide35.xml"/><Relationship Id="rId63" Type="http://schemas.openxmlformats.org/officeDocument/2006/relationships/slide" Target="slides/slide36.xml"/><Relationship Id="rId64" Type="http://schemas.openxmlformats.org/officeDocument/2006/relationships/slide" Target="slides/slide37.xml"/><Relationship Id="rId65" Type="http://schemas.openxmlformats.org/officeDocument/2006/relationships/slide" Target="slides/slide38.xml"/><Relationship Id="rId66" Type="http://schemas.openxmlformats.org/officeDocument/2006/relationships/slide" Target="slides/slide39.xml"/><Relationship Id="rId67" Type="http://schemas.openxmlformats.org/officeDocument/2006/relationships/slide" Target="slides/slide40.xml"/><Relationship Id="rId68" Type="http://schemas.openxmlformats.org/officeDocument/2006/relationships/slide" Target="slides/slide41.xml"/><Relationship Id="rId69" Type="http://schemas.openxmlformats.org/officeDocument/2006/relationships/slide" Target="slides/slide42.xml"/><Relationship Id="rId70" Type="http://schemas.openxmlformats.org/officeDocument/2006/relationships/slide" Target="slides/slide43.xml"/><Relationship Id="rId71" Type="http://schemas.openxmlformats.org/officeDocument/2006/relationships/slide" Target="slides/slide44.xml"/><Relationship Id="rId72" Type="http://schemas.openxmlformats.org/officeDocument/2006/relationships/slide" Target="slides/slide45.xml"/><Relationship Id="rId74" Type="http://schemas.openxmlformats.org/officeDocument/2006/relationships/slide" Target="slides/slide46.xml"/><Relationship Id="rId75" Type="http://schemas.openxmlformats.org/officeDocument/2006/relationships/slide" Target="slides/slide47.xml"/><Relationship Id="rId76" Type="http://schemas.openxmlformats.org/officeDocument/2006/relationships/slide" Target="slides/slide48.xml"/><Relationship Id="rId78" Type="http://schemas.openxmlformats.org/officeDocument/2006/relationships/slide" Target="slides/slide49.xml"/><Relationship Id="rId79" Type="http://schemas.openxmlformats.org/officeDocument/2006/relationships/slide" Target="slides/slide50.xml"/><Relationship Id="rId80" Type="http://schemas.openxmlformats.org/officeDocument/2006/relationships/slide" Target="slides/slide51.xml"/><Relationship Id="rId81" Type="http://schemas.openxmlformats.org/officeDocument/2006/relationships/slide" Target="slides/slide52.xml"/><Relationship Id="rId82" Type="http://schemas.openxmlformats.org/officeDocument/2006/relationships/slide" Target="slides/slide53.xml"/><Relationship Id="rId83" Type="http://schemas.openxmlformats.org/officeDocument/2006/relationships/slide" Target="slides/slide54.xml"/><Relationship Id="rId84" Type="http://schemas.openxmlformats.org/officeDocument/2006/relationships/slide" Target="slides/slide55.xml"/><Relationship Id="rId85" Type="http://schemas.openxmlformats.org/officeDocument/2006/relationships/slide" Target="slides/slide56.xml"/><Relationship Id="rId86" Type="http://schemas.openxmlformats.org/officeDocument/2006/relationships/slide" Target="slides/slide57.xml"/><Relationship Id="rId87" Type="http://schemas.openxmlformats.org/officeDocument/2006/relationships/slide" Target="slides/slide58.xml"/><Relationship Id="rId88" Type="http://schemas.openxmlformats.org/officeDocument/2006/relationships/slide" Target="slides/slide59.xml"/><Relationship Id="rId89" Type="http://schemas.openxmlformats.org/officeDocument/2006/relationships/slide" Target="slides/slide60.xml"/><Relationship Id="rId91" Type="http://schemas.openxmlformats.org/officeDocument/2006/relationships/slide" Target="slides/slide61.xml"/><Relationship Id="rId92" Type="http://schemas.openxmlformats.org/officeDocument/2006/relationships/slide" Target="slides/slide62.xml"/><Relationship Id="rId93" Type="http://schemas.openxmlformats.org/officeDocument/2006/relationships/slide" Target="slides/slide63.xml"/><Relationship Id="rId94" Type="http://schemas.openxmlformats.org/officeDocument/2006/relationships/slide" Target="slides/slide64.xml"/><Relationship Id="rId95" Type="http://schemas.openxmlformats.org/officeDocument/2006/relationships/slide" Target="slides/slide65.xml"/><Relationship Id="rId96" Type="http://schemas.openxmlformats.org/officeDocument/2006/relationships/slide" Target="slides/slide66.xml"/><Relationship Id="rId97" Type="http://schemas.openxmlformats.org/officeDocument/2006/relationships/slide" Target="slides/slide67.xml"/><Relationship Id="rId98" Type="http://schemas.openxmlformats.org/officeDocument/2006/relationships/slide" Target="slides/slide68.xml"/><Relationship Id="rId99" Type="http://schemas.openxmlformats.org/officeDocument/2006/relationships/slide" Target="slides/slide69.xml"/><Relationship Id="rId100" Type="http://schemas.openxmlformats.org/officeDocument/2006/relationships/slide" Target="slides/slide70.xml"/><Relationship Id="rId101" Type="http://schemas.openxmlformats.org/officeDocument/2006/relationships/slide" Target="slides/slide71.xml"/><Relationship Id="rId103" Type="http://schemas.openxmlformats.org/officeDocument/2006/relationships/slide" Target="slides/slide72.xml"/><Relationship Id="rId104" Type="http://schemas.openxmlformats.org/officeDocument/2006/relationships/slide" Target="slides/slide73.xml"/><Relationship Id="rId105" Type="http://schemas.openxmlformats.org/officeDocument/2006/relationships/slide" Target="slides/slide74.xml"/><Relationship Id="rId106" Type="http://schemas.openxmlformats.org/officeDocument/2006/relationships/slide" Target="slides/slide75.xml"/><Relationship Id="rId107" Type="http://schemas.openxmlformats.org/officeDocument/2006/relationships/slide" Target="slides/slide76.xml"/><Relationship Id="rId108" Type="http://schemas.openxmlformats.org/officeDocument/2006/relationships/slide" Target="slides/slide77.xml"/><Relationship Id="rId109" Type="http://schemas.openxmlformats.org/officeDocument/2006/relationships/slide" Target="slides/slide78.xml"/><Relationship Id="rId110" Type="http://schemas.openxmlformats.org/officeDocument/2006/relationships/slide" Target="slides/slide79.xml"/><Relationship Id="rId111" Type="http://schemas.openxmlformats.org/officeDocument/2006/relationships/slide" Target="slides/slide80.xml"/><Relationship Id="rId113" Type="http://schemas.openxmlformats.org/officeDocument/2006/relationships/slide" Target="slides/slide82.xml"/><Relationship Id="rId114" Type="http://schemas.openxmlformats.org/officeDocument/2006/relationships/slide" Target="slides/slide83.xml"/><Relationship Id="rId115" Type="http://schemas.openxmlformats.org/officeDocument/2006/relationships/slide" Target="slides/slide84.xml"/><Relationship Id="rId116" Type="http://schemas.openxmlformats.org/officeDocument/2006/relationships/slide" Target="slides/slide85.xml"/><Relationship Id="rId117" Type="http://schemas.openxmlformats.org/officeDocument/2006/relationships/slide" Target="slides/slide86.xml"/><Relationship Id="rId118" Type="http://schemas.openxmlformats.org/officeDocument/2006/relationships/slide" Target="slides/slide87.xml"/><Relationship Id="rId119" Type="http://schemas.openxmlformats.org/officeDocument/2006/relationships/slide" Target="slides/slide88.xml"/><Relationship Id="rId120" Type="http://schemas.openxmlformats.org/officeDocument/2006/relationships/slide" Target="slides/slide89.xml"/><Relationship Id="rId121" Type="http://schemas.openxmlformats.org/officeDocument/2006/relationships/slide" Target="slides/slide90.xml"/><Relationship Id="rId122" Type="http://schemas.openxmlformats.org/officeDocument/2006/relationships/slide" Target="slides/slide91.xml"/><Relationship Id="rId123" Type="http://schemas.openxmlformats.org/officeDocument/2006/relationships/slide" Target="slides/slide92.xml"/><Relationship Id="rId124" Type="http://schemas.openxmlformats.org/officeDocument/2006/relationships/slide" Target="slides/slide93.xml"/><Relationship Id="rId125" Type="http://schemas.openxmlformats.org/officeDocument/2006/relationships/slide" Target="slides/slide94.xml"/><Relationship Id="rId126" Type="http://schemas.openxmlformats.org/officeDocument/2006/relationships/slide" Target="slides/slide95.xml"/><Relationship Id="rId127" Type="http://schemas.openxmlformats.org/officeDocument/2006/relationships/slide" Target="slides/slide96.xml"/><Relationship Id="rId128" Type="http://schemas.openxmlformats.org/officeDocument/2006/relationships/slide" Target="slides/slide97.xml"/><Relationship Id="rId129" Type="http://schemas.openxmlformats.org/officeDocument/2006/relationships/slide" Target="slides/slide98.xml"/><Relationship Id="rId130" Type="http://schemas.openxmlformats.org/officeDocument/2006/relationships/slide" Target="slides/slide99.xml"/><Relationship Id="rId131" Type="http://schemas.openxmlformats.org/officeDocument/2006/relationships/slide" Target="slides/slide100.xml"/><Relationship Id="rId133" Type="http://schemas.openxmlformats.org/officeDocument/2006/relationships/slide" Target="slides/slide101.xml"/><Relationship Id="rId135" Type="http://schemas.openxmlformats.org/officeDocument/2006/relationships/slide" Target="slides/slide102.xml"/><Relationship Id="rId136" Type="http://schemas.openxmlformats.org/officeDocument/2006/relationships/slide" Target="slides/slide103.xml"/><Relationship Id="rId137" Type="http://schemas.openxmlformats.org/officeDocument/2006/relationships/slide" Target="slides/slide104.xml"/><Relationship Id="rId138" Type="http://schemas.openxmlformats.org/officeDocument/2006/relationships/slide" Target="slides/slide105.xml"/><Relationship Id="rId139" Type="http://schemas.openxmlformats.org/officeDocument/2006/relationships/slide" Target="slides/slide106.xml"/><Relationship Id="rId140" Type="http://schemas.openxmlformats.org/officeDocument/2006/relationships/slide" Target="slides/slide107.xml"/><Relationship Id="rId141" Type="http://schemas.openxmlformats.org/officeDocument/2006/relationships/slide" Target="slides/slide108.xml"/><Relationship Id="rId142" Type="http://schemas.openxmlformats.org/officeDocument/2006/relationships/slide" Target="slides/slide109.xml"/><Relationship Id="rId143" Type="http://schemas.openxmlformats.org/officeDocument/2006/relationships/slide" Target="slides/slide110.xml"/><Relationship Id="rId144" Type="http://schemas.openxmlformats.org/officeDocument/2006/relationships/slide" Target="slides/slide111.xml"/><Relationship Id="rId145" Type="http://schemas.openxmlformats.org/officeDocument/2006/relationships/slide" Target="slides/slide112.xml"/><Relationship Id="rId146" Type="http://schemas.openxmlformats.org/officeDocument/2006/relationships/slide" Target="slides/slide113.xml"/><Relationship Id="rId147" Type="http://schemas.openxmlformats.org/officeDocument/2006/relationships/slide" Target="slides/slide114.xml"/><Relationship Id="rId148" Type="http://schemas.openxmlformats.org/officeDocument/2006/relationships/slide" Target="slides/slide115.xml"/><Relationship Id="rId151" Type="http://schemas.openxmlformats.org/officeDocument/2006/relationships/slide" Target="slides/slide10.xml"/><Relationship Id="rId152" Type="http://schemas.openxmlformats.org/officeDocument/2006/relationships/slide" Target="slides/slide81.xml"/><Relationship Id="rId153" Type="http://schemas.openxmlformats.org/officeDocument/2006/relationships/slide" Target="slides/slide116.xml"/><Relationship Id="rId154" Type="http://schemas.openxmlformats.org/officeDocument/2006/relationships/slide" Target="slides/slide117.xml"/><Relationship Id="rId155" Type="http://schemas.openxmlformats.org/officeDocument/2006/relationships/slide" Target="slides/slide118.xml"/><Relationship Id="rId156" Type="http://schemas.openxmlformats.org/officeDocument/2006/relationships/slide" Target="slides/slide119.xml"/><Relationship Id="rId157" Type="http://schemas.openxmlformats.org/officeDocument/2006/relationships/slide" Target="slides/slide120.xml"/><Relationship Id="rId158" Type="http://schemas.openxmlformats.org/officeDocument/2006/relationships/slide" Target="slides/slide121.xml"/><Relationship Id="rId159" Type="http://schemas.openxmlformats.org/officeDocument/2006/relationships/slide" Target="slides/slide122.xml"/><Relationship Id="rId160" Type="http://schemas.openxmlformats.org/officeDocument/2006/relationships/slide" Target="slides/slide123.xml"/><Relationship Id="rId161" Type="http://schemas.openxmlformats.org/officeDocument/2006/relationships/slide" Target="slides/slide124.xml"/><Relationship Id="rId162" Type="http://schemas.openxmlformats.org/officeDocument/2006/relationships/slide" Target="slides/slide125.xml"/><Relationship Id="rId163" Type="http://schemas.openxmlformats.org/officeDocument/2006/relationships/slide" Target="slides/slide126.xml"/><Relationship Id="rId164" Type="http://schemas.openxmlformats.org/officeDocument/2006/relationships/slide" Target="slides/slide127.xml"/><Relationship Id="rId165" Type="http://schemas.openxmlformats.org/officeDocument/2006/relationships/slide" Target="slides/slide128.xml"/><Relationship Id="rId166" Type="http://schemas.openxmlformats.org/officeDocument/2006/relationships/slide" Target="slides/slide129.xml"/><Relationship Id="rId167" Type="http://schemas.openxmlformats.org/officeDocument/2006/relationships/slide" Target="slides/slide130.xml"/><Relationship Id="rId168" Type="http://schemas.openxmlformats.org/officeDocument/2006/relationships/slide" Target="slides/slide1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cead81148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cead811483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cead811483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cead811483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fondo oscuro 1">
  <p:cSld name="TITLE_6_1_2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671435"/>
              </a:gs>
              <a:gs pos="100000">
                <a:srgbClr val="430B22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4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/>
          <p:nvPr/>
        </p:nvSpPr>
        <p:spPr>
          <a:xfrm>
            <a:off x="19" y="5013919"/>
            <a:ext cx="9144000" cy="147900"/>
          </a:xfrm>
          <a:prstGeom prst="rect">
            <a:avLst/>
          </a:prstGeom>
          <a:solidFill>
            <a:srgbClr val="67143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Portada 1 verde">
  <p:cSld name="CUSTOM_7_1_1_2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6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p6" title="Logo horizontal ATDT CRT.png"/>
          <p:cNvPicPr preferRelativeResize="0"/>
          <p:nvPr/>
        </p:nvPicPr>
        <p:blipFill rotWithShape="1">
          <a:blip r:embed="rId2">
            <a:alphaModFix/>
          </a:blip>
          <a:srcRect t="515" b="505"/>
          <a:stretch/>
        </p:blipFill>
        <p:spPr>
          <a:xfrm>
            <a:off x="1833213" y="810281"/>
            <a:ext cx="5477555" cy="53130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6" title="1.2 GobMx_Margarita Maza_fondo oscuro_H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56935" y="4143752"/>
            <a:ext cx="1830124" cy="78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Portadilla 1 verde">
  <p:cSld name="CUSTOM_7_1_1_1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7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7" title="1.2 GobMx_Margarita Maza_fondo oscuro_H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814125" y="4277923"/>
            <a:ext cx="1515761" cy="6468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" title="Logo horizontal ATDT CRT.png"/>
          <p:cNvPicPr preferRelativeResize="0"/>
          <p:nvPr/>
        </p:nvPicPr>
        <p:blipFill rotWithShape="1">
          <a:blip r:embed="rId3">
            <a:alphaModFix/>
          </a:blip>
          <a:srcRect t="515" b="505"/>
          <a:stretch/>
        </p:blipFill>
        <p:spPr>
          <a:xfrm>
            <a:off x="6411224" y="179426"/>
            <a:ext cx="2539175" cy="24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fondo oscuro 1 verde">
  <p:cSld name="TITLE_6_1_2_1_1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8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" name="Google Shape;51;p8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1 verde">
  <p:cSld name="TITLE_6_1_1_2_1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/>
          <p:nvPr/>
        </p:nvSpPr>
        <p:spPr>
          <a:xfrm>
            <a:off x="-25" y="0"/>
            <a:ext cx="9144000" cy="5217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  <p:pic>
        <p:nvPicPr>
          <p:cNvPr id="60" name="Google Shape;60;p9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4" r:id="rId4"/>
    <p:sldLayoutId id="214748365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ANUARIO_COVER_YEAR"/>
          <p:cNvSpPr txBox="1"/>
          <p:nvPr/>
        </p:nvSpPr>
        <p:spPr>
          <a:xfrm>
            <a:off x="2483550" y="3010223"/>
            <a:ext cx="4176900" cy="4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000000"/>
              </a:buClr>
              <a:buSzPts val="5025"/>
              <a:buFont typeface="Arial"/>
              <a:buNone/>
            </a:pPr>
            <a:r>
              <a:rPr lang="es-419" sz="2000" dirty="0">
                <a:solidFill>
                  <a:srgbClr val="E6D195"/>
                </a:solidFill>
                <a:latin typeface="Noto Sans Light"/>
                <a:ea typeface="Noto Sans Light"/>
                <a:cs typeface="Noto Sans Light"/>
                <a:sym typeface="Noto Sans Light"/>
              </a:rPr>
              <a:t>2026</a:t>
            </a:r>
            <a:endParaRPr lang="es-419" sz="2000" b="0" i="0" u="none" strike="noStrike" cap="none" dirty="0">
              <a:solidFill>
                <a:srgbClr val="E6D195"/>
              </a:solidFill>
              <a:latin typeface="Noto Sans Light"/>
              <a:ea typeface="Noto Sans Light"/>
              <a:cs typeface="Noto Sans Light"/>
              <a:sym typeface="Noto Sans Light"/>
            </a:endParaRPr>
          </a:p>
        </p:txBody>
      </p:sp>
      <p:sp>
        <p:nvSpPr>
          <p:cNvPr id="147" name="ANUARIO_COVER_TITLE"/>
          <p:cNvSpPr txBox="1"/>
          <p:nvPr/>
        </p:nvSpPr>
        <p:spPr>
          <a:xfrm>
            <a:off x="1651800" y="1808275"/>
            <a:ext cx="5840400" cy="8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3500" dirty="0">
                <a:solidFill>
                  <a:srgbClr val="FFFFFF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Anuario estadístico</a:t>
            </a:r>
            <a:endParaRPr lang="es-419" sz="3500" b="0" i="0" u="none" strike="noStrike" cap="none" dirty="0">
              <a:solidFill>
                <a:srgbClr val="FFFFFF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cxnSp>
        <p:nvCxnSpPr>
          <p:cNvPr id="148" name="Google Shape;148;p13"/>
          <p:cNvCxnSpPr/>
          <p:nvPr/>
        </p:nvCxnSpPr>
        <p:spPr>
          <a:xfrm>
            <a:off x="1651800" y="2807935"/>
            <a:ext cx="5840400" cy="0"/>
          </a:xfrm>
          <a:prstGeom prst="straightConnector1">
            <a:avLst/>
          </a:prstGeom>
          <a:noFill/>
          <a:ln w="21450" cap="flat" cmpd="sng">
            <a:solidFill>
              <a:srgbClr val="E6D195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ANUARIO_INDEX_TITLE"/>
          <p:cNvSpPr txBox="1"/>
          <p:nvPr/>
        </p:nvSpPr>
        <p:spPr>
          <a:xfrm>
            <a:off x="3460800" y="642025"/>
            <a:ext cx="2222400" cy="6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sz="2600" b="1">
                <a:solidFill>
                  <a:srgbClr val="F3F3F3"/>
                </a:solidFill>
                <a:latin typeface="Noto Sans ExtraBold"/>
              </a:rPr>
              <a:t>ÍNDICE</a:t>
            </a:r>
          </a:p>
        </p:txBody>
      </p:sp>
      <p:cxnSp>
        <p:nvCxnSpPr>
          <p:cNvPr id="155" name="Google Shape;155;p14"/>
          <p:cNvCxnSpPr/>
          <p:nvPr/>
        </p:nvCxnSpPr>
        <p:spPr>
          <a:xfrm>
            <a:off x="1651800" y="1326910"/>
            <a:ext cx="5840400" cy="0"/>
          </a:xfrm>
          <a:prstGeom prst="straightConnector1">
            <a:avLst/>
          </a:prstGeom>
          <a:noFill/>
          <a:ln w="21450" cap="flat" cmpd="sng">
            <a:solidFill>
              <a:srgbClr val="E6D19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6" name="ANUARIO_INDEX_LEFT"/>
          <p:cNvSpPr txBox="1"/>
          <p:nvPr/>
        </p:nvSpPr>
        <p:spPr>
          <a:xfrm>
            <a:off x="384048" y="1307592"/>
            <a:ext cx="4050791" cy="3182112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LEGALES  ·  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GLOSARIO  ·  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INTRODUCCIÓN  ·  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PUNTOS CLAVE  ·  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INDICADORES DE TELECOMUNICACIONES Y RADIODIFUSIÓN A NIVEL NACIONAL  ·  11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A. INDICADORES ECONÓMICOS  ·  11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PRODUCTO INTERNO BRUTO (PIB) Y CONTRIBUCIÓN DE LOS SECTORES DE TyR  ·  11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EMPLEO EN LOS SECTORES DE TyR  ·  12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ÍNDICES DE PRECIOS  ·  13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INVERSIÓN PRIVADA EN TELECOMUNICACIONES  ·  14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FLUJOS DE INVERSIÓN EXTRANJERA DIRECTA  ·  15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INGRESOS, EGRESOS Y MARGEN DEL SECTOR DE TELECOMUNICACIONES  ·  16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INGRESO Y GASTO DE LOS HOGARES EN TELECOMUNICACIONES FIJAS  ·  17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INGRESO Y GASTO DE LOS HOGARES EN TELECOMUNICACIONES MÓVILES  ·  19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B. SERVICIOS FIJOS DE TELECOMUNICACIONES  ·  21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SERVICIOS FIJOS DE TELECOMUNICACIONES EN LOS HOGARES  ·  21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FIJO DE TELEFONÍA  ·  24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FIJO DE ACCESO A INTERNET  ·  31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DE TELEVISIÓN RESTRINGIDA  ·  39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C. SERVICIOS MÓVILES DE TELECOMUNICACIONES  ·  46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DISTRIBUCIÓN DEL ESPECTRO RADIOELÉCTRICO POR BANDA DE FRECUENCIA  ·  46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DISTRIBUCIÓN DEL ESPECTRO RADIOELÉCTRICO POR OPERADOR  ·  47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 DE LOS SERVICIOS MÓVILES DE TELECOMUNICACIONES POR LA POBLACIÓN  ·  48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MÓVIL DE TELEFONÍA  ·  49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MÓVIL DE ACCESO A INTERNET  ·  55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D. TECNOLOGÍAS DE LA INFORMACIÓN Y COMUNICACIÓN (TIC)  ·  61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DISPONIBILIDAD DE LAS TECNOLOGÍAS DE LA INFORMACIÓN Y COMUNICACIÓN (TIC) EN LOS HOGARES  ·  61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 DE SMARTPHONE E INTERNET POR GRUPOS DE EDAD  ·  62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PORCENTAJE DE HORAS PROMEDIO DE USO DE INTERNET POR GRUPOS DE EDAD  ·  63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 DE DISPOSITIVOS INTELIGENTES CONECTADOS A INTERNET  ·  64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EFECTOS DE LA DESCONFIANZA EN INTERNET SOBRE LAS ACTIVIDADES EN LÍNEA DE LOS USUARIOS  ·  65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PERCEPCIÓN O GRADO DE CONFIANZA QUE TIENEN LAS PERSONAS AL HACER USO DEL INTERNET  ·  68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PERCEPCIÓN SEGÚN NIVEL DE SEGURIDAD QUE TIENEN LAS PERSONAS USUARIAS DE INTERNET AL REALIZAR DIFERENTES ACTIVIDADES EN INTERNET  ·  69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POBLACIÓN USUARIA DE INTERNET SEGÚN NIVEL DE SEGURIDAD QUE CONSIDERAN, TIENE REALIZAR DIFERENTES ACTIVIDADES EN INTERNET (POR SEXO)  ·  71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E. PERSONAS USUARIAS DE SERVICIOS DE TELECOMUNICACIONES  ·  72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ÍNDICE GENERAL DE SATISFACIÓN DE LOS SERVICIOS DE TELECOMUNICACIONES EN PERSONAS USUARIAS  ·  72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USO, CONOCIMIENTO Y PERCEPCIÓN DE LA INTELIGENCIA ARTIFICIAL (IA) Y CHAT GPT  ·  73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ÍNDICE GENERAL DE SATISFACIÓN DE LOS SERVICIOS DE TELECOMUNICACIONES EN EMPRESAS  ·  74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SERVICIOS CONTRATADOS POR LAS MICRO, PEQUEÑAS Y MEDIANAS EMPRESAS  ·  75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 DE LOS SERVICIOS DE TELECOMUNICACIONES PARA REALIZAR ACTIVIDADES DE IMPORTACIÓN Y/O EXPORTACIÓN  ·  80</a:t>
            </a:r>
          </a:p>
        </p:txBody>
      </p:sp>
      <p:sp>
        <p:nvSpPr>
          <p:cNvPr id="157" name="ANUARIO_INDEX_RIGHT"/>
          <p:cNvSpPr txBox="1"/>
          <p:nvPr/>
        </p:nvSpPr>
        <p:spPr>
          <a:xfrm>
            <a:off x="4681728" y="1307592"/>
            <a:ext cx="4050791" cy="3182112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F. INDICADORES CON PERSPECTIVA DE GÉNERO  ·  81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ACTIVIDADES EN EL TELÉFONO CELULAR INTELIGENTE  ·  81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ACTIVIDADES REALIZADAS EN INTERNET  ·  81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PERSONAS EMPLEADAS EN TELECOMUNICACIONES Y RADIODIFUSIÓN  ·  86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CIBERACOSO  ·  87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MEDIDAS DE PROTECCIÓN QUE TOMAN LAS PERSONAS USUARIAS ANTE LA VIOLENCIA DIGITAL.  ·  98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ACCIONES REALIZADAS POR LAS PERSONAS USUARIAS PARA PROTEGERSE O PREVENIR LA VIOLENCIA DIGITAL A TRAVÉS DE INTERNET (POR SEXO).  ·  99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ACCIONES QUE REALIZARÍAN LAS PERSONAS USUARIAS EN CASO DE EXPERIMENTAR VIOLENCIA DIGITAL A TRAVÉS DE INTERNET (POR SEXO).  ·  100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G. INDICADORES DE RADIODIFUSIÓN  ·  101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H. CONSUMO DE RADIO Y TELEVISIÓN  ·  102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A NIVEL NACIONAL (28 CIUDADES)  ·  102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A NIVEL NACIONAL (28 CIUDADES)  ·  103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EN CIUDAD DE MÉXICO  ·  104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EN LA CIUDAD DE MÉXICO  ·  105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EN GUADALAJARA  ·  106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EN GUADALAJARA  ·  107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EN MONTERREY  ·  108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EN MONTERREY  ·  109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EN 25 CIUDADES  ·  110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EN 25 CIUDADES  ·  111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RADIO EN PRINCIPALES CIUDADES DEL PAÍS (CIUDAD DE MÉXICO, GUADALAJARA Y MONTERREY)  ·  112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RADIO EN CIUDAD DE MÉXICO  ·  113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RADIO EN GUADALAJARA  ·  114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RADIO EN MONTERREY  ·  115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HERRAMIENTAS IFT  ·  116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ANEXO I. RESUMEN DE INDICADORES DE TELECOMUNICACIONES Y RADIODIFUSIÓN  ·  117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ANEXO II. DEFINICIONES  ·  121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ANEXO III. METODOLOGÍAS  ·  126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SOBRE INFORMACIÓN DE SERVICIOS DE TELECOMUNICACIONES  ·  126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ÍNDICES DE PRECIOS  ·  126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SOBRE INFORMACIÓN DE INGRESO Y GASTO DE LOS HOGARES EN TELECOMUNICACIONES FIJAS Y MÓVILES  ·  127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CONSUMO DE RADIO Y TELEVISIÓN, PARTICULARIDADES METODOLÓGICAS  ·  128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ENCUESTA NACIONAL SOBRE DISPONIBILIDAD Y USO DE TECNOLOGÍAS DE LA INFORMACIÓN EN LOS HOGARES (ENDUTIH) 2023, PARTICULARIDADES METODOLÓGICAS  ·  128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ENCUESTA NACIONAL DE OCUPACIÓN Y EMPLEO (ENOE), POBLACIÓN DE 15 AÑOS Y MÁS DE EDAD, PARTICULARIDADES METODOLÓGICAS  ·  129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PRODUCTO INTERNO BRUTO (PIB), PARTICULARIDADES METODOLÓGICAS  ·  129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ANEXO IV. MÉTODOS DE CÁLCULO DE INDICADORES  ·  130</a:t>
            </a:r>
          </a:p>
        </p:txBody>
      </p:sp>
      <p:sp>
        <p:nvSpPr>
          <p:cNvPr id="158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F3F3F3"/>
                </a:solidFill>
                <a:latin typeface="Noto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LEGALES_TEXT_1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LEGALES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{{TEXTO:LEGALES_1}}</a:t>
            </a:r>
          </a:p>
        </p:txBody>
      </p:sp>
      <p:sp>
        <p:nvSpPr>
          <p:cNvPr id="202" name="ANUARIO_HEADER_LEGALES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LEGALES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LEGALES_TEXT_2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LEGALES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{{TEXTO:LEGALES_2}}</a:t>
            </a:r>
          </a:p>
        </p:txBody>
      </p:sp>
      <p:sp>
        <p:nvSpPr>
          <p:cNvPr id="202" name="ANUARIO_HEADER_LEGALES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LEGALES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GLOSARIO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GLOSARIO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GLOSARIO_COL_1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SIGLAS Y ACRÓNIMOS · A–I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{{TEXTO:GLOSARIO_1_A}}</a:t>
            </a:r>
          </a:p>
        </p:txBody>
      </p:sp>
      <p:sp>
        <p:nvSpPr>
          <p:cNvPr id="223" name="ANUARIO_GLOSARIO_COL_2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SIGLAS Y ACRÓNIMOS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{{TEXTO:GLOSARIO_1_B}}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GLOSARIO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GLOSARIO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GLOSARIO_COL_3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SIGLAS Y ACRÓNIMOS · M–P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{{TEXTO:GLOSARIO_2_A}}</a:t>
            </a:r>
          </a:p>
        </p:txBody>
      </p:sp>
      <p:sp>
        <p:nvSpPr>
          <p:cNvPr id="223" name="ANUARIO_GLOSARIO_COL_4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SIGLAS Y ACRÓNIMOS · S–U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{{TEXTO:GLOSARIO_2_B}}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INTRO_TEXT_1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INTRODUCCIÓN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434343"/>
                </a:solidFill>
                <a:latin typeface="Noto Sans"/>
              </a:rPr>
              <a:t>{{TEXTO:INTRODUCCION_1}}</a:t>
            </a:r>
          </a:p>
        </p:txBody>
      </p:sp>
      <p:sp>
        <p:nvSpPr>
          <p:cNvPr id="202" name="ANUARIO_HEADER_INTRO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INTRODUCCIÓN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INTRO_TEXT_2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INTRODUCCIÓN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{{TEXTO:INTRODUCCION_2}}</a:t>
            </a:r>
          </a:p>
        </p:txBody>
      </p:sp>
      <p:sp>
        <p:nvSpPr>
          <p:cNvPr id="202" name="ANUARIO_HEADER_INTRO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INTRODUCCIÓN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PUNTOS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PUNTOS CLAVE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KEY_ECON"/>
          <p:cNvSpPr/>
          <p:nvPr/>
        </p:nvSpPr>
        <p:spPr>
          <a:xfrm>
            <a:off x="450900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INDICADORES ECONÓMICOS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{{TEXTO:PUNTOS_CLAVE_ECONOMICOS}}</a:t>
            </a:r>
          </a:p>
        </p:txBody>
      </p:sp>
      <p:sp>
        <p:nvSpPr>
          <p:cNvPr id="223" name="ANUARIO_KEY_ESPECTRO"/>
          <p:cNvSpPr/>
          <p:nvPr/>
        </p:nvSpPr>
        <p:spPr>
          <a:xfrm>
            <a:off x="4650827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ESPECTRO RADIOELÉCTRICO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{{TEXTO:PUNTOS_CLAVE_ESPECTRO}}</a:t>
            </a:r>
          </a:p>
        </p:txBody>
      </p:sp>
      <p:sp>
        <p:nvSpPr>
          <p:cNvPr id="224" name="ANUARIO_KEY_MOVIL"/>
          <p:cNvSpPr/>
          <p:nvPr/>
        </p:nvSpPr>
        <p:spPr>
          <a:xfrm>
            <a:off x="450900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SERVICIOS MÓVILES DE TELECOMUNICACIONES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{{TEXTO:PUNTOS_CLAVE_MOVILES}}</a:t>
            </a:r>
          </a:p>
        </p:txBody>
      </p:sp>
      <p:sp>
        <p:nvSpPr>
          <p:cNvPr id="225" name="ANUARIO_KEY_AUDIENCIAS"/>
          <p:cNvSpPr/>
          <p:nvPr/>
        </p:nvSpPr>
        <p:spPr>
          <a:xfrm>
            <a:off x="4650827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CONSUMO DE RADIO Y TELEVISIÓN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{{TEXTO:PUNTOS_CLAVE_AUDIENCIAS}}</a:t>
            </a:r>
          </a:p>
        </p:txBody>
      </p:sp>
      <p:sp>
        <p:nvSpPr>
          <p:cNvPr id="226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PUNTOS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PUNTOS CLAVE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KEY_FIJOS"/>
          <p:cNvSpPr/>
          <p:nvPr/>
        </p:nvSpPr>
        <p:spPr>
          <a:xfrm>
            <a:off x="450900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SERVICIOS FIJOS DE TELECOMUNICACIONES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{{TEXTO:PUNTOS_CLAVE_FIJOS}}</a:t>
            </a:r>
          </a:p>
        </p:txBody>
      </p:sp>
      <p:sp>
        <p:nvSpPr>
          <p:cNvPr id="223" name="ANUARIO_KEY_GENERO"/>
          <p:cNvSpPr/>
          <p:nvPr/>
        </p:nvSpPr>
        <p:spPr>
          <a:xfrm>
            <a:off x="4650827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INDICADORES CON PERSPECTIVA DE GÉNERO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{{TEXTO:PUNTOS_CLAVE_GENERO}}</a:t>
            </a:r>
          </a:p>
        </p:txBody>
      </p:sp>
      <p:sp>
        <p:nvSpPr>
          <p:cNvPr id="224" name="ANUARIO_KEY_TIC"/>
          <p:cNvSpPr/>
          <p:nvPr/>
        </p:nvSpPr>
        <p:spPr>
          <a:xfrm>
            <a:off x="450900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TECNOLOGÍAS DE LA INFORMACIÓN Y COMUNICACIÓN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{{TEXTO:PUNTOS_CLAVE_TIC}}</a:t>
            </a:r>
          </a:p>
        </p:txBody>
      </p:sp>
      <p:sp>
        <p:nvSpPr>
          <p:cNvPr id="225" name="ANUARIO_KEY_USUARIOS"/>
          <p:cNvSpPr/>
          <p:nvPr/>
        </p:nvSpPr>
        <p:spPr>
          <a:xfrm>
            <a:off x="4650827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PERSONAS USUARIAS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{{TEXTO:PUNTOS_CLAVE_USUARIOS}}</a:t>
            </a:r>
          </a:p>
        </p:txBody>
      </p:sp>
      <p:sp>
        <p:nvSpPr>
          <p:cNvPr id="226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1" descr="ANUARIO_FIGURE_ID=A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PRODUCTO INTERNO BRUTO Y CONTRIBUCIÓN DE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1" descr="ANUARIO_FIGURE_ID=A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2" descr="ANUARIO_FIGURE_ID=A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EMPLEO EN LOS SECTORES DE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2" descr="ANUARIO_FIGURE_ID=A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3" descr="ANUARIO_FIGURE_ID=A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ÍNDICES DE PRECIOS (INPC E IPCOM)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3" descr="ANUARIO_FIGURE_ID=A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4" descr="ANUARIO_FIGURE_ID=A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INVERSIÓN PRIVADA EN TELECOMUNICACIONES POR TIPO DE INVERSIÓN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4" descr="ANUARIO_FIGURE_ID=A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5" descr="ANUARIO_FIGURE_ID=A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INVERSIÓN EXTRANJERA DIRECTA (IED) EN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5" descr="ANUARIO_FIGURE_ID=A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6" descr="ANUARIO_FIGURE_ID=A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INGRESOS, EGRESOS Y MARGEN EN EL SECTOR DE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6" descr="ANUARIO_FIGURE_ID=A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7" descr="ANUARIO_FIGURE_ID=A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HOGARES CON SERVICIOS DE TELECOMUNICACIONES FIJAS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7" descr="ANUARIO_FIGURE_ID=A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8" descr="ANUARIO_FIGURE_ID=A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A.8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GASTO PROMEDIO Y PORCENTAJE DE GASTO EN SERVICIOS DE TELECOMUNICACIONES FIJAS DE LOS HOGARES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8" descr="ANUARIO_FIGURE_ID=A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9" descr="ANUARIO_FIGURE_ID=A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HOGARES CON SERVICIOS DE TELECOMUNICACIONES MÓVILES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9" descr="ANUARIO_FIGURE_ID=A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10" descr="ANUARIO_FIGURE_ID=A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A.10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GASTO PROMEDIO Y PORCENTAJE DE GASTO EN SERVICIOS DE TELECOMUNICACIONES MÓVILES DE LOS HOGARES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10" descr="ANUARIO_FIGURE_ID=A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" descr="ANUARIO_FIGURE_ID=B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A NIVEL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" descr="ANUARIO_FIGURE_ID=B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" descr="ANUARIO_FIGURE_ID=B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EN LAS ZONAS RURALES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" descr="ANUARIO_FIGURE_ID=B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3" descr="ANUARIO_FIGURE_ID=B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EN LAS ZONAS URBANAS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3" descr="ANUARIO_FIGURE_ID=B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4" descr="ANUARIO_FIGURE_ID=B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4" descr="ANUARIO_FIGURE_ID=B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5" descr="ANUARIO_FIGURE_ID=B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FIJO DE TELEFONÍA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5" descr="ANUARIO_FIGURE_ID=B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6" descr="ANUARIO_FIGURE_ID=B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FIJO DE TELEFONÍA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6" descr="ANUARIO_FIGURE_ID=B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7" descr="ANUARIO_FIGURE_ID=B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B.7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LÍNEAS DEL SERVICIO FIJO DE TELEFONÍA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7" descr="ANUARIO_FIGURE_ID=B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8" descr="ANUARIO_FIGURE_ID=B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 MINUTOS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8" descr="ANUARIO_FIGURE_ID=B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9" descr="ANUARIO_FIGURE_ID=B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9" descr="ANUARIO_FIGURE_ID=B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0" descr="ANUARIO_FIGURE_ID=B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HERFINDAHL-HIRSCHMAN (IHH)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0" descr="ANUARIO_FIGURE_ID=B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1" descr="ANUARIO_FIGURE_ID=B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1" descr="ANUARIO_FIGURE_ID=B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2" descr="ANUARIO_FIGURE_ID=B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FIJO DE INTERNET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2" descr="ANUARIO_FIGURE_ID=B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3" descr="ANUARIO_FIGURE_ID=B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ACCESOS DEL SERVICIO FIJO DE INTERNET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3" descr="ANUARIO_FIGURE_ID=B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4" descr="ANUARIO_FIGURE_ID=B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B.14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ACCESOS DEL SERVICIO FIJO DE INTERNET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4" descr="ANUARIO_FIGURE_ID=B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5" descr="ANUARIO_FIGURE_ID=B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B.15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ACCESOS DEL SERVICIO FIJO DE INTERNET POR RANGOS DE VELOCIDAD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5" descr="ANUARIO_FIGURE_ID=B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6" descr="ANUARIO_FIGURE_ID=B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ACCESOS DEL SERVICIO FIJO DE INTERNET POR TECNOLOGÍA Y SEGMENTO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6" descr="ANUARIO_FIGURE_ID=B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7" descr="ANUARIO_FIGURE_ID=B.1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7" descr="ANUARIO_FIGURE_ID=B.1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8" descr="ANUARIO_FIGURE_ID=B.1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HERFINDAHL-HIRSCHMAN (IHH)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8" descr="ANUARIO_FIGURE_ID=B.1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9" descr="ANUARIO_FIGURE_ID=B.1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9" descr="ANUARIO_FIGURE_ID=B.1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0" descr="ANUARIO_FIGURE_ID=B.2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DE TELEVISIÓN RESTRINGIDA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0" descr="ANUARIO_FIGURE_ID=B.2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1" descr="ANUARIO_FIGURE_ID=B.2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ACCESOS DEL SERVICIO DE TELEVISIÓN RESTRINGIDA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1" descr="ANUARIO_FIGURE_ID=B.2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2" descr="ANUARIO_FIGURE_ID=B.2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B.22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ACCESOS DEL SERVICIO DE TELEVISIÓN RESTRINGIDA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2" descr="ANUARIO_FIGURE_ID=B.2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3" descr="ANUARIO_FIGURE_ID=B.2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TECNOLOGÍAS DE CONEXIÓN DEL SERVICIO DE TELEVISIÓN RESTRINGIDA POR SEGMENTO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3" descr="ANUARIO_FIGURE_ID=B.2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4" descr="ANUARIO_FIGURE_ID=B.2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4" descr="ANUARIO_FIGURE_ID=B.2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5" descr="ANUARIO_FIGURE_ID=B.2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5" descr="ANUARIO_FIGURE_ID=B.2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" descr="ANUARIO_FIGURE_ID=C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ESPECTRO RADIOELÉCTRICO ASIGNADO POR BANDA DE FRECUENCIA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" descr="ANUARIO_FIGURE_ID=C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2" descr="ANUARIO_FIGURE_ID=C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DEL ESPECTRO RADIOELÉCTRICO POR OPERADOR Y POR BANDA DE FRECUENCIA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2" descr="ANUARIO_FIGURE_ID=C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3" descr="ANUARIO_FIGURE_ID=C.3;ROLE=NARRATIVE_PLACEHOLDER"/>
          <p:cNvSpPr/>
          <p:nvPr/>
        </p:nvSpPr>
        <p:spPr>
          <a:xfrm>
            <a:off x="450900" y="943525"/>
            <a:ext cx="2529900" cy="174948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819" b="1">
                <a:solidFill>
                  <a:srgbClr val="203634"/>
                </a:solidFill>
                <a:latin typeface="Noto Sans"/>
              </a:rPr>
              <a:t>FIGURA C.3 · USO DE LOS SERVICIOS MÓVILES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434343"/>
                </a:solidFill>
                <a:latin typeface="Noto Sans"/>
              </a:rPr>
              <a:t>{{TEXTO:C.3}}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3" descr="ANUARIO_FIGURE_ID=C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174948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800" b="1">
                <a:solidFill>
                  <a:srgbClr val="203634"/>
                </a:solidFill>
                <a:latin typeface="Noto Sans"/>
              </a:rPr>
              <a:t>FIGURA C.3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434343"/>
                </a:solidFill>
                <a:latin typeface="Noto Sans"/>
              </a:rPr>
              <a:t>{{FIGURA:C.3}}</a:t>
            </a:r>
          </a:p>
        </p:txBody>
      </p:sp>
      <p:sp>
        <p:nvSpPr>
          <p:cNvPr id="162" name="ANUARIO_TEXT_C_4" descr="ANUARIO_FIGURE_ID=C.3;ROLE=NARRATIVE_PLACEHOLDER"/>
          <p:cNvSpPr/>
          <p:nvPr/>
        </p:nvSpPr>
        <p:spPr>
          <a:xfrm>
            <a:off x="450900" y="2784445"/>
            <a:ext cx="2529900" cy="174948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819" b="1">
                <a:solidFill>
                  <a:srgbClr val="203634"/>
                </a:solidFill>
                <a:latin typeface="Noto Sans"/>
              </a:rPr>
              <a:t>FIGURA C.4 · USO POR ZONA GEOGRÁFICA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434343"/>
                </a:solidFill>
                <a:latin typeface="Noto Sans"/>
              </a:rPr>
              <a:t>{{TEXTO:C.4}}</a:t>
            </a:r>
          </a:p>
        </p:txBody>
      </p:sp>
      <p:sp>
        <p:nvSpPr>
          <p:cNvPr id="3" name="ANUARIO_FIGURE_C_4" descr="ANUARIO_FIGURE_ID=C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2784445"/>
            <a:ext cx="5425440" cy="174948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800" b="1">
                <a:solidFill>
                  <a:srgbClr val="203634"/>
                </a:solidFill>
                <a:latin typeface="Noto Sans"/>
              </a:rPr>
              <a:t>FIGURA C.4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434343"/>
                </a:solidFill>
                <a:latin typeface="Noto Sans"/>
              </a:rPr>
              <a:t>{{FIGURA:C.4}}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5" descr="ANUARIO_FIGURE_ID=C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TELEFONÍA POR MODALIDAD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5" descr="ANUARIO_FIGURE_ID=C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6" descr="ANUARIO_FIGURE_ID=C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TELEFONÍA POR CADA 100 HABITANTES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6" descr="ANUARIO_FIGURE_ID=C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7" descr="ANUARIO_FIGURE_ID=C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MÓVIL DE TELEFONÍA POR CADA 100 HABITANTES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7" descr="ANUARIO_FIGURE_ID=C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8" descr="ANUARIO_FIGURE_ID=C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 MINUTOS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8" descr="ANUARIO_FIGURE_ID=C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9" descr="ANUARIO_FIGURE_ID=C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9" descr="ANUARIO_FIGURE_ID=C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0" descr="ANUARIO_FIGURE_ID=C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0" descr="ANUARIO_FIGURE_ID=C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1" descr="ANUARIO_FIGURE_ID=C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ACCESO A INTERNET POR MODALIDAD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1" descr="ANUARIO_FIGURE_ID=C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2" descr="ANUARIO_FIGURE_ID=C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ACCESO A INTERNET POR CADA 100 HABITANTES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2" descr="ANUARIO_FIGURE_ID=C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3" descr="ANUARIO_FIGURE_ID=C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MÓVIL DE ACCESO A INTERNET POR CADA 100 HABITANTES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3" descr="ANUARIO_FIGURE_ID=C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4" descr="ANUARIO_FIGURE_ID=C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DEL SERVICIO MÓVIL DE ACCESO A INTERNET POR TECNOLOGÍA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4" descr="ANUARIO_FIGURE_ID=C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5" descr="ANUARIO_FIGURE_ID=C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MÓVIL DE ACCESO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5" descr="ANUARIO_FIGURE_ID=C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6" descr="ANUARIO_FIGURE_ID=C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MÓVIL DE ACCESO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6" descr="ANUARIO_FIGURE_ID=C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" descr="ANUARIO_FIGURE_ID=D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DISPONIBILIDAD DE LAS TIC EN LOS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" descr="ANUARIO_FIGURE_ID=D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2" descr="ANUARIO_FIGURE_ID=D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SMARTPHONE E INTERNET POR GRUPOS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2" descr="ANUARIO_FIGURE_ID=D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3" descr="ANUARIO_FIGURE_ID=D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HORAS PROMEDIO DE USO DE INTERNET POR GRUPOS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3" descr="ANUARIO_FIGURE_ID=D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4" descr="ANUARIO_FIGURE_ID=D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DISPOSITIVOS INTELIGENTES CONECTADOS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4" descr="ANUARIO_FIGURE_ID=D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5" descr="ANUARIO_FIGURE_ID=D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D.5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FORMA EN QUE LAS PERSONAS APRENDIERON A BUSCAR INFORMACIÓN O USAR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5" descr="ANUARIO_FIGURE_ID=D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6" descr="ANUARIO_FIGURE_ID=D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EXPERIENCIAS NEGATIVAS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6" descr="ANUARIO_FIGURE_ID=D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7" descr="ANUARIO_FIGURE_ID=D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EXPERIENCIAS NEGATIVAS EN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7" descr="ANUARIO_FIGURE_ID=D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8" descr="ANUARIO_FIGURE_ID=D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INFLUENCIA DE LA CONFIANZA EN INTERNET SOBRE SU USO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8" descr="ANUARIO_FIGURE_ID=D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9" descr="ANUARIO_FIGURE_ID=D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PERCEPCIÓN DE SEGURIDAD AL REALIZAR COMPRAS POR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9" descr="ANUARIO_FIGURE_ID=D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0" descr="ANUARIO_FIGURE_ID=D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PERCEPCIÓN DE SEGURIDAD AL USAR BANCA POR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0" descr="ANUARIO_FIGURE_ID=D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1" descr="ANUARIO_FIGURE_ID=D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PERCEPCIÓN DE SEGURIDAD AL COMPARTIR INFORMACIÓN EN REDES SOCIALES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1" descr="ANUARIO_FIGURE_ID=D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1" descr="ANUARIO_FIGURE_ID=E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GENERAL DE SATISFACCIÓN POR SERVICIO DE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1" descr="ANUARIO_FIGURE_ID=E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2" descr="ANUARIO_FIGURE_ID=E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PRINCIPALES HALLAZGOS DE LA INTELIGENCIA ARTIFICIAL Y CHATGPT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2" descr="ANUARIO_FIGURE_ID=E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3" descr="ANUARIO_FIGURE_ID=E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GENERAL DE SATISFACCIÓN POR SERVICIO Y TAMAÑO DE EMPRESA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3" descr="ANUARIO_FIGURE_ID=E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4" descr="ANUARIO_FIGURE_ID=E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SERVICIOS DE TELECOMUNICACIONES CONTRATADOS POR LAS MIPYMES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4" descr="ANUARIO_FIGURE_ID=E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5" descr="ANUARIO_FIGURE_ID=E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PERCEPCIÓN DE BENEFICIOS DE INTERNET FIJO Y TELEFONÍA FIJA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5" descr="ANUARIO_FIGURE_ID=E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6" descr="ANUARIO_FIGURE_ID=E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BENEFICIOS DE VENDER MEDIANTE INTERNET FIJO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6" descr="ANUARIO_FIGURE_ID=E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7" descr="ANUARIO_FIGURE_ID=E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DISPOSITIVOS UTILIZADOS POR LAS MIPYMES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7" descr="ANUARIO_FIGURE_ID=E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8" descr="ANUARIO_FIGURE_ID=E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BENEFICIOS DE CONTAR CON UNA APLICACIÓN MÓVIL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8" descr="ANUARIO_FIGURE_ID=E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9" descr="ANUARIO_FIGURE_ID=E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SERVICIOS DE TELECOMUNICACIONES MÁS IMPORTANTES PARA MIPYMES IMPORTADORAS Y EXPORTADORAS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9" descr="ANUARIO_FIGURE_ID=E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F_OVERVIEW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F_OVERVIEW_SMARTPHONE"/>
          <p:cNvSpPr/>
          <p:nvPr/>
        </p:nvSpPr>
        <p:spPr>
          <a:xfrm>
            <a:off x="450900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ACTIVIDADES EN EL TELÉFONO CELULAR INTELIGENTE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{{TEXTO:F_OVERVIEW_SMARTPHONE}}</a:t>
            </a:r>
          </a:p>
        </p:txBody>
      </p:sp>
      <p:sp>
        <p:nvSpPr>
          <p:cNvPr id="223" name="ANUARIO_F_OVERVIEW_INTERNET"/>
          <p:cNvSpPr/>
          <p:nvPr/>
        </p:nvSpPr>
        <p:spPr>
          <a:xfrm>
            <a:off x="4650827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ACTIVIDADES REALIZADAS EN INTERNET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{{TEXTO:F_OVERVIEW_INTERNET}}</a:t>
            </a:r>
          </a:p>
        </p:txBody>
      </p:sp>
      <p:sp>
        <p:nvSpPr>
          <p:cNvPr id="224" name="ANUARIO_F_OVERVIEW_COMPUTADORA"/>
          <p:cNvSpPr/>
          <p:nvPr/>
        </p:nvSpPr>
        <p:spPr>
          <a:xfrm>
            <a:off x="450900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ACTIVIDADES EN LA COMPUTADORA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{{TEXTO:F_OVERVIEW_COMPUTADORA}}</a:t>
            </a:r>
          </a:p>
        </p:txBody>
      </p:sp>
      <p:sp>
        <p:nvSpPr>
          <p:cNvPr id="225" name="ANUARIO_F_OVERVIEW_REDES"/>
          <p:cNvSpPr/>
          <p:nvPr/>
        </p:nvSpPr>
        <p:spPr>
          <a:xfrm>
            <a:off x="4650827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USO DE LAS REDES SOCIALES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{{TEXTO:F_OVERVIEW_REDES}}</a:t>
            </a:r>
          </a:p>
        </p:txBody>
      </p:sp>
      <p:sp>
        <p:nvSpPr>
          <p:cNvPr id="226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1" descr="ANUARIO_FIGURE_ID=F.1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APLICACIONES INSTALADAS MEDIANTE SMARTPHONE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1" descr="ANUARIO_FIGURE_ID=F.1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2" descr="ANUARIO_FIGURE_ID=F.1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ACTIVIDADES REALIZADAS EN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2" descr="ANUARIO_FIGURE_ID=F.1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3" descr="ANUARIO_FIGURE_ID=F.1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HABILIDADES EN LA COMPUTADORA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3" descr="ANUARIO_FIGURE_ID=F.1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4" descr="ANUARIO_FIGURE_ID=F.1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REDES SOCIALES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4" descr="ANUARIO_FIGURE_ID=F.1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2" descr="ANUARIO_FIGURE_ID=F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EMPLEADAS EN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2" descr="ANUARIO_FIGURE_ID=F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3" descr="ANUARIO_FIGURE_ID=F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LA POBLACIÓN DE 12 AÑOS Y MÁS QUE VIVIÓ CIBERACOSO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3" descr="ANUARIO_FIGURE_ID=F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4" descr="ANUARIO_FIGURE_ID=F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F.4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LA POBLACIÓN DE 12 AÑOS Y MÁS QUE VIVIÓ CIBERACOSO POR ENTIDAD FEDERATIVA Y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4" descr="ANUARIO_FIGURE_ID=F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5" descr="ANUARIO_FIGURE_ID=F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LA POBLACIÓN QUE VIVIÓ CIBERACOSO POR SEXO Y RANGO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5" descr="ANUARIO_FIGURE_ID=F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6" descr="ANUARIO_FIGURE_ID=F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DISTRIBUCIÓN DE LAS SITUACIONES DE CIBERACOSO EXPERIMENTADAS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6" descr="ANUARIO_FIGURE_ID=F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7" descr="ANUARIO_FIGURE_ID=F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MEDIDAS DE SEGURIDAD PARA PROTEGER EQUIPOS O CUENTAS DE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7" descr="ANUARIO_FIGURE_ID=F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8" descr="ANUARIO_FIGURE_ID=F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POBLACIÓN QUE VIVIÓ CIBERACOSO POR MEDIOS DIGITALES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8" descr="ANUARIO_FIGURE_ID=F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9" descr="ANUARIO_FIGURE_ID=F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TOMADAS CONTRA EL CIBERACOSO EXPERIMENTADO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9" descr="ANUARIO_FIGURE_ID=F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0" descr="ANUARIO_FIGURE_ID=F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SER VÍCTIMAS DE VIOLENCIA EN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0" descr="ANUARIO_FIGURE_ID=F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1" descr="ANUARIO_FIGURE_ID=F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PERSONAS CON MAYOR RIESGO DE SER VÍCTIMAS DE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1" descr="ANUARIO_FIGURE_ID=F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2" descr="ANUARIO_FIGURE_ID=F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VIOLENCIA A TRAVÉS DEL TELÉFONO MÓVIL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2" descr="ANUARIO_FIGURE_ID=F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3" descr="ANUARIO_FIGURE_ID=F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VIOLENCIA MEDIANTE TELEFONÍA MÓVIL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3" descr="ANUARIO_FIGURE_ID=F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4" descr="ANUARIO_FIGURE_ID=F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PREVENTIVAS Y DE PROTECCIÓN ANTE LA VIOLENCIA DIGITAL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4" descr="ANUARIO_FIGURE_ID=F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5" descr="ANUARIO_FIGURE_ID=F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ACCIONES PARA PROTEGERSE O PREVENIR LA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5" descr="ANUARIO_FIGURE_ID=F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6" descr="ANUARIO_FIGURE_ID=F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QUE SE TOMARÍAN ANTE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6" descr="ANUARIO_FIGURE_ID=F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G_1" descr="ANUARIO_FIGURE_ID=G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G.1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CONCESIONES OTORGADAS DE RADIODIFUSIÓN PARA AM, FM Y TDT, A NIVEL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G" descr="ANUARIO_SECTION=G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G. INDICADORES DE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G_1" descr="ANUARIO_FIGURE_ID=G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{{FIGURA:G.1}}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" descr="ANUARIO_FIGURE_ID=H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PERSONAS QUE VIERON LA TELEVISIÓN POR HORA A NIVEL NACIONAL (28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" descr="ANUARIO_FIGURE_ID=H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2" descr="ANUARIO_FIGURE_ID=H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(28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2" descr="ANUARIO_FIGURE_ID=H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3" descr="ANUARIO_FIGURE_ID=H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PERSONAS QUE VIERON LA TELEVISIÓN POR HORA EN CIUDAD DE MÉXICO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3" descr="ANUARIO_FIGURE_ID=H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4" descr="ANUARIO_FIGURE_ID=H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H.4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(CDMX)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4" descr="ANUARIO_FIGURE_ID=H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5" descr="ANUARIO_FIGURE_ID=H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GUADALAJARA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5" descr="ANUARIO_FIGURE_ID=H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6" descr="ANUARIO_FIGURE_ID=H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(GUADALAJARA)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6" descr="ANUARIO_FIGURE_ID=H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7" descr="ANUARIO_FIGURE_ID=H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MONTERREY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7" descr="ANUARIO_FIGURE_ID=H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8" descr="ANUARIO_FIGURE_ID=H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H.8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(MONTERREY)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8" descr="ANUARIO_FIGURE_ID=H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9" descr="ANUARIO_FIGURE_ID=H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25 CIUDADES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9" descr="ANUARIO_FIGURE_ID=H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0" descr="ANUARIO_FIGURE_ID=H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H.10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(25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0" descr="ANUARIO_FIGURE_ID=H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1" descr="ANUARIO_FIGURE_ID=H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1" descr="ANUARIO_FIGURE_ID=H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2" descr="ANUARIO_FIGURE_ID=H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CDMX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2" descr="ANUARIO_FIGURE_ID=H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3" descr="ANUARIO_FIGURE_ID=H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PROPORCIÓN DE PERSONAS QUE ESCUCHARON LA RADIO POR HORA (%) — GUADALAJARA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3" descr="ANUARIO_FIGURE_ID=H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4" descr="ANUARIO_FIGURE_ID=H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MONTERREY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4" descr="ANUARIO_FIGURE_ID=H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HERRAMIENTAS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HERRAMIENTAS IFT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TOOL_1"/>
          <p:cNvSpPr/>
          <p:nvPr/>
        </p:nvSpPr>
        <p:spPr>
          <a:xfrm>
            <a:off x="450900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BANCO DE INFORMACIÓN DE TELECOMUNICACIONES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{{TEXTO:HERRAMIENTA_1}}</a:t>
            </a:r>
          </a:p>
        </p:txBody>
      </p:sp>
      <p:sp>
        <p:nvSpPr>
          <p:cNvPr id="223" name="ANUARIO_TOOL_2"/>
          <p:cNvSpPr/>
          <p:nvPr/>
        </p:nvSpPr>
        <p:spPr>
          <a:xfrm>
            <a:off x="4650827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HERRAMIENTA / MICROSITIO 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{{TEXTO:HERRAMIENTA_2}}</a:t>
            </a:r>
          </a:p>
        </p:txBody>
      </p:sp>
      <p:sp>
        <p:nvSpPr>
          <p:cNvPr id="224" name="ANUARIO_TOOL_3"/>
          <p:cNvSpPr/>
          <p:nvPr/>
        </p:nvSpPr>
        <p:spPr>
          <a:xfrm>
            <a:off x="450900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HERRAMIENTA / MICROSITIO 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{{TEXTO:HERRAMIENTA_3}}</a:t>
            </a:r>
          </a:p>
        </p:txBody>
      </p:sp>
      <p:sp>
        <p:nvSpPr>
          <p:cNvPr id="225" name="ANUARIO_TOOL_4"/>
          <p:cNvSpPr/>
          <p:nvPr/>
        </p:nvSpPr>
        <p:spPr>
          <a:xfrm>
            <a:off x="4650827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HERRAMIENTA / MICROSITIO 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{{TEXTO:HERRAMIENTA_4}}</a:t>
            </a:r>
          </a:p>
        </p:txBody>
      </p:sp>
      <p:sp>
        <p:nvSpPr>
          <p:cNvPr id="226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_TABLE_1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RESUMEN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{{TABLA:ANEXO_I_1}}</a:t>
            </a:r>
          </a:p>
        </p:txBody>
      </p:sp>
      <p:sp>
        <p:nvSpPr>
          <p:cNvPr id="202" name="ANUARIO_HEADER_ANEXO_I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I. RESUMEN DE INDICADORES DE TELECOMUNICACIONES Y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_TABLE_2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RESUMEN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{{TABLA:ANEXO_I_2}}</a:t>
            </a:r>
          </a:p>
        </p:txBody>
      </p:sp>
      <p:sp>
        <p:nvSpPr>
          <p:cNvPr id="202" name="ANUARIO_HEADER_ANEXO_I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I. RESUMEN DE INDICADORES DE TELECOMUNICACIONES Y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_TABLE_3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RESUMEN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{{TABLA:ANEXO_I_3}}</a:t>
            </a:r>
          </a:p>
        </p:txBody>
      </p:sp>
      <p:sp>
        <p:nvSpPr>
          <p:cNvPr id="202" name="ANUARIO_HEADER_ANEXO_I_3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I. RESUMEN DE INDICADORES DE TELECOMUNICACIONES Y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_TABLE_4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RESUMEN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{{TABLA:ANEXO_I_4}}</a:t>
            </a:r>
          </a:p>
        </p:txBody>
      </p:sp>
      <p:sp>
        <p:nvSpPr>
          <p:cNvPr id="202" name="ANUARIO_HEADER_ANEXO_I_4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I. RESUMEN DE INDICADORES DE TELECOMUNICACIONES Y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1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{{TEXTO:ANEXO_II_1_A}}</a:t>
            </a:r>
          </a:p>
        </p:txBody>
      </p:sp>
      <p:sp>
        <p:nvSpPr>
          <p:cNvPr id="223" name="ANUARIO_ANEXO_II_TEXT_1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{{TEXTO:ANEXO_II_1_B}}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2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{{TEXTO:ANEXO_II_2_A}}</a:t>
            </a:r>
          </a:p>
        </p:txBody>
      </p:sp>
      <p:sp>
        <p:nvSpPr>
          <p:cNvPr id="223" name="ANUARIO_ANEXO_II_TEXT_2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{{TEXTO:ANEXO_II_2_B}}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3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3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{{TEXTO:ANEXO_II_3_A}}</a:t>
            </a:r>
          </a:p>
        </p:txBody>
      </p:sp>
      <p:sp>
        <p:nvSpPr>
          <p:cNvPr id="223" name="ANUARIO_ANEXO_II_TEXT_3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{{TEXTO:ANEXO_II_3_B}}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4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4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{{TEXTO:ANEXO_II_4_A}}</a:t>
            </a:r>
          </a:p>
        </p:txBody>
      </p:sp>
      <p:sp>
        <p:nvSpPr>
          <p:cNvPr id="223" name="ANUARIO_ANEXO_II_TEXT_4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{{TEXTO:ANEXO_II_4_B}}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5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5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{{TEXTO:ANEXO_II_5_A}}</a:t>
            </a:r>
          </a:p>
        </p:txBody>
      </p:sp>
      <p:sp>
        <p:nvSpPr>
          <p:cNvPr id="223" name="ANUARIO_ANEXO_II_TEXT_5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{{TEXTO:ANEXO_II_5_B}}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II_TEXT_1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SOBRE INFORMACIÓN DE SERVICIOS DE TELECOMUNICACIONES E ÍNDICES DE PRECIOS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{{TEXTO:ANEXO_III_1}}</a:t>
            </a:r>
          </a:p>
        </p:txBody>
      </p:sp>
      <p:sp>
        <p:nvSpPr>
          <p:cNvPr id="202" name="ANUARIO_HEADER_ANEXO_III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III. METODOLOGÍAS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II_TEXT_2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SOBRE INFORMACIÓN DE INGRESO Y GASTO DE LOS HOGARES EN TELECOMUNICACIONES FIJAS Y MÓVILES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{{TEXTO:ANEXO_III_2}}</a:t>
            </a:r>
          </a:p>
        </p:txBody>
      </p:sp>
      <p:sp>
        <p:nvSpPr>
          <p:cNvPr id="202" name="ANUARIO_HEADER_ANEXO_III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III. METODOLOGÍAS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II_TEXT_3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CONSUMO DE RADIO Y TELEVISIÓN / ENDUTIH · PARTICULARIDADES METODOLÓGICAS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{{TEXTO:ANEXO_III_3}}</a:t>
            </a:r>
          </a:p>
        </p:txBody>
      </p:sp>
      <p:sp>
        <p:nvSpPr>
          <p:cNvPr id="202" name="ANUARIO_HEADER_ANEXO_III_3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III. METODOLOGÍAS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II_TEXT_4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ENOE / PRODUCTO INTERNO BRUTO · PARTICULARIDADES METODOLÓGICAS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{{TEXTO:ANEXO_III_4}}</a:t>
            </a:r>
          </a:p>
        </p:txBody>
      </p:sp>
      <p:sp>
        <p:nvSpPr>
          <p:cNvPr id="202" name="ANUARIO_HEADER_ANEXO_III_4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III. METODOLOGÍAS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V_TABLE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MÉTODOS DE CÁLCULO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{{TABLA:ANEXO_IV_METODOS_CALCULO}}</a:t>
            </a:r>
          </a:p>
        </p:txBody>
      </p:sp>
      <p:sp>
        <p:nvSpPr>
          <p:cNvPr id="202" name="ANUARIO_HEADER_ANEXO_IV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IV. MÉTODOS DE CÁLCULO DE INDICADORES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6" name="ANUARIO_COVER_YEAR"/>
          <p:cNvSpPr txBox="1"/>
          <p:nvPr/>
        </p:nvSpPr>
        <p:spPr>
          <a:xfrm>
            <a:off x="2483550" y="3010223"/>
            <a:ext cx="4176900" cy="4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000000"/>
              </a:buClr>
              <a:buSzPts val="5025"/>
              <a:buFont typeface="Arial"/>
              <a:buNone/>
            </a:pPr>
            <a:r>
              <a:rPr lang="es-419" sz="2000" dirty="0">
                <a:solidFill>
                  <a:srgbClr val="E6D195"/>
                </a:solidFill>
                <a:latin typeface="Noto Sans Light"/>
                <a:ea typeface="Noto Sans Light"/>
                <a:cs typeface="Noto Sans Light"/>
                <a:sym typeface="Noto Sans Light"/>
              </a:rPr>
              <a:t>2026</a:t>
            </a:r>
            <a:endParaRPr lang="es-419" sz="2000" b="0" i="0" u="none" strike="noStrike" cap="none" dirty="0">
              <a:solidFill>
                <a:srgbClr val="E6D195"/>
              </a:solidFill>
              <a:latin typeface="Noto Sans Light"/>
              <a:ea typeface="Noto Sans Light"/>
              <a:cs typeface="Noto Sans Light"/>
              <a:sym typeface="Noto Sans Light"/>
            </a:endParaRPr>
          </a:p>
        </p:txBody>
      </p:sp>
      <p:sp>
        <p:nvSpPr>
          <p:cNvPr id="147" name="ANUARIO_COVER_TITLE"/>
          <p:cNvSpPr txBox="1"/>
          <p:nvPr/>
        </p:nvSpPr>
        <p:spPr>
          <a:xfrm>
            <a:off x="1651800" y="1808275"/>
            <a:ext cx="5840400" cy="8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3500" dirty="0">
                <a:solidFill>
                  <a:srgbClr val="FFFFFF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Anuario estadístico</a:t>
            </a:r>
            <a:endParaRPr lang="es-419" sz="3500" b="0" i="0" u="none" strike="noStrike" cap="none" dirty="0">
              <a:solidFill>
                <a:srgbClr val="FFFFFF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cxnSp>
        <p:nvCxnSpPr>
          <p:cNvPr id="148" name="Google Shape;148;p13"/>
          <p:cNvCxnSpPr/>
          <p:nvPr/>
        </p:nvCxnSpPr>
        <p:spPr>
          <a:xfrm>
            <a:off x="1651800" y="2807935"/>
            <a:ext cx="5840400" cy="0"/>
          </a:xfrm>
          <a:prstGeom prst="straightConnector1">
            <a:avLst/>
          </a:prstGeom>
          <a:noFill/>
          <a:ln w="21450" cap="flat" cmpd="sng">
            <a:solidFill>
              <a:srgbClr val="E6D19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ANUARIO_BACK_CONTACT"/>
          <p:cNvSpPr txBox="1"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3F3F3"/>
                </a:solidFill>
                <a:latin typeface="Noto Sans"/>
              </a:rPr>
              <a:t>{{CONTRAPORTADA:CONTACTO_INSTITUCIONAL}}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EEBCBE3C554DA24CB7C8D4C20CA639E2" ma:contentTypeVersion="5" ma:contentTypeDescription="Crear nuevo documento." ma:contentTypeScope="" ma:versionID="0fcc438b67c801b3c2d9fb562e1e9338">
  <xsd:schema xmlns:xsd="http://www.w3.org/2001/XMLSchema" xmlns:xs="http://www.w3.org/2001/XMLSchema" xmlns:p="http://schemas.microsoft.com/office/2006/metadata/properties" xmlns:ns3="e85a5d3e-7efa-40e1-bbb8-3d115bd3e7d8" targetNamespace="http://schemas.microsoft.com/office/2006/metadata/properties" ma:root="true" ma:fieldsID="a6812b3cfc37913c39a104671458b8db" ns3:_="">
    <xsd:import namespace="e85a5d3e-7efa-40e1-bbb8-3d115bd3e7d8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5a5d3e-7efa-40e1-bbb8-3d115bd3e7d8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85a5d3e-7efa-40e1-bbb8-3d115bd3e7d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F655FB2-7D4B-41EB-AB16-DA03FD3DD1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5a5d3e-7efa-40e1-bbb8-3d115bd3e7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496415D-E6AE-49DC-90DB-3F584607812F}">
  <ds:schemaRefs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elements/1.1/"/>
    <ds:schemaRef ds:uri="http://schemas.microsoft.com/office/infopath/2007/PartnerControls"/>
    <ds:schemaRef ds:uri="e85a5d3e-7efa-40e1-bbb8-3d115bd3e7d8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6081950B-401E-479D-907B-8F99CA94331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528</Words>
  <Application>Microsoft Office PowerPoint</Application>
  <PresentationFormat>Presentación en pantalla (16:9)</PresentationFormat>
  <Paragraphs>68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5" baseType="lpstr">
      <vt:lpstr>Noto Sans Light</vt:lpstr>
      <vt:lpstr>Poppins</vt:lpstr>
      <vt:lpstr>Arial</vt:lpstr>
      <vt:lpstr>Noto Sans</vt:lpstr>
      <vt:lpstr>Noto Sans ExtraBold</vt:lpstr>
      <vt:lpstr>Noto Sans Black</vt:lpstr>
      <vt:lpstr>Simple Light</vt:lpstr>
      <vt:lpstr>Presentación de PowerPoint</vt:lpstr>
      <vt:lpstr>Presentación de PowerPoint</vt:lpstr>
      <vt:lpstr>A. INDICADORES ECONÓMICOS</vt:lpstr>
      <vt:lpstr>A. INDICADORES ECONÓMICOS</vt:lpstr>
      <vt:lpstr>A. INDICADORES ECONÓMICOS</vt:lpstr>
      <vt:lpstr>A. INDICADORES ECONÓMICOS</vt:lpstr>
      <vt:lpstr>A. INDICADORES ECONÓMICOS</vt:lpstr>
      <vt:lpstr>A. INDICADORES ECONÓMICOS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Gustavo Ivan Garcia Quiroz</dc:creator>
  <cp:lastModifiedBy>Gustavo Ivan Garcia Quiroz</cp:lastModifiedBy>
  <cp:revision>2</cp:revision>
  <dcterms:modified xsi:type="dcterms:W3CDTF">2026-09-15T18:13:40Z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0x010100EEBCBE3C554DA24CB7C8D4C20CA639E2</vt:lpwstr>
  </property>
</Properties>
</file>