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4"/>
  </p:sldMasterIdLst>
  <p:notesMasterIdLst>
    <p:notesMasterId r:id="rId13"/>
  </p:notesMasterIdLst>
  <p:sldIdLst>
    <p:sldId id="259" r:id="rId5"/>
    <p:sldId id="260" r:id="rId6"/>
    <p:sldId id="386" r:id="rId12"/>
    <p:sldId id="387" r:id="rId11"/>
    <p:sldId id="388" r:id="rId10"/>
    <p:sldId id="389" r:id="rId9"/>
    <p:sldId id="270" r:id="rId35"/>
    <p:sldId id="390" r:id="rId8"/>
    <p:sldId id="391" r:id="rId7"/>
    <p:sldId id="392" r:id="rId151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9" r:id="rId74"/>
    <p:sldId id="310" r:id="rId75"/>
    <p:sldId id="311" r:id="rId76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93" r:id="rId15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8" r:id="rId133"/>
    <p:sldId id="370" r:id="rId135"/>
    <p:sldId id="371" r:id="rId136"/>
    <p:sldId id="372" r:id="rId137"/>
    <p:sldId id="373" r:id="rId138"/>
    <p:sldId id="374" r:id="rId139"/>
    <p:sldId id="375" r:id="rId140"/>
    <p:sldId id="376" r:id="rId141"/>
    <p:sldId id="377" r:id="rId142"/>
    <p:sldId id="378" r:id="rId143"/>
    <p:sldId id="379" r:id="rId144"/>
    <p:sldId id="380" r:id="rId145"/>
    <p:sldId id="381" r:id="rId146"/>
    <p:sldId id="382" r:id="rId147"/>
    <p:sldId id="383" r:id="rId148"/>
    <p:sldId id="394" r:id="rId153"/>
    <p:sldId id="395" r:id="rId154"/>
    <p:sldId id="396" r:id="rId155"/>
    <p:sldId id="397" r:id="rId156"/>
    <p:sldId id="398" r:id="rId157"/>
    <p:sldId id="399" r:id="rId158"/>
    <p:sldId id="400" r:id="rId159"/>
    <p:sldId id="401" r:id="rId160"/>
    <p:sldId id="402" r:id="rId161"/>
    <p:sldId id="403" r:id="rId162"/>
    <p:sldId id="404" r:id="rId163"/>
    <p:sldId id="405" r:id="rId164"/>
    <p:sldId id="406" r:id="rId165"/>
    <p:sldId id="407" r:id="rId166"/>
    <p:sldId id="408" r:id="rId167"/>
    <p:sldId id="409" r:id="rId168"/>
  </p:sldIdLst>
  <p:sldSz cx="9144000" cy="5143500" type="screen16x9"/>
  <p:notesSz cx="6858000" cy="9144000"/>
  <p:embeddedFontLst>
    <p:embeddedFont>
      <p:font typeface="Noto Sans" panose="020B0502040504020204" pitchFamily="34" charset="0"/>
      <p:regular r:id="rId14"/>
      <p:bold r:id="rId15"/>
      <p:italic r:id="rId16"/>
      <p:boldItalic r:id="rId17"/>
    </p:embeddedFont>
    <p:embeddedFont>
      <p:font typeface="Noto Sans Black" panose="020B0502040504020204" pitchFamily="34" charset="0"/>
      <p:bold r:id="rId18"/>
      <p:boldItalic r:id="rId19"/>
    </p:embeddedFont>
    <p:embeddedFont>
      <p:font typeface="Noto Sans ExtraBold" panose="020B0502040504020204" pitchFamily="34" charset="0"/>
      <p:bold r:id="rId20"/>
      <p:boldItalic r:id="rId21"/>
    </p:embeddedFont>
    <p:embeddedFont>
      <p:font typeface="Noto Sans Light" panose="020B0502040504020204" pitchFamily="3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D1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schemas.openxmlformats.org/officeDocument/2006/relationships/font" Target="fonts/font9.fntdata"/><Relationship Id="rId23" Type="http://schemas.openxmlformats.org/officeDocument/2006/relationships/font" Target="fonts/font10.fntdata"/><Relationship Id="rId24" Type="http://schemas.openxmlformats.org/officeDocument/2006/relationships/font" Target="fonts/font11.fntdata"/><Relationship Id="rId25" Type="http://schemas.openxmlformats.org/officeDocument/2006/relationships/font" Target="fonts/font12.fntdata"/><Relationship Id="rId26" Type="http://schemas.openxmlformats.org/officeDocument/2006/relationships/font" Target="fonts/font13.fntdata"/><Relationship Id="rId27" Type="http://schemas.openxmlformats.org/officeDocument/2006/relationships/font" Target="fonts/font14.fntdata"/><Relationship Id="rId28" Type="http://schemas.openxmlformats.org/officeDocument/2006/relationships/font" Target="fonts/font15.fntdata"/><Relationship Id="rId29" Type="http://schemas.openxmlformats.org/officeDocument/2006/relationships/font" Target="fonts/font16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5" Type="http://schemas.openxmlformats.org/officeDocument/2006/relationships/slide" Target="slides/slide7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0.xml"/><Relationship Id="rId58" Type="http://schemas.openxmlformats.org/officeDocument/2006/relationships/slide" Target="slides/slide31.xml"/><Relationship Id="rId59" Type="http://schemas.openxmlformats.org/officeDocument/2006/relationships/slide" Target="slides/slide32.xml"/><Relationship Id="rId60" Type="http://schemas.openxmlformats.org/officeDocument/2006/relationships/slide" Target="slides/slide33.xml"/><Relationship Id="rId61" Type="http://schemas.openxmlformats.org/officeDocument/2006/relationships/slide" Target="slides/slide34.xml"/><Relationship Id="rId62" Type="http://schemas.openxmlformats.org/officeDocument/2006/relationships/slide" Target="slides/slide35.xml"/><Relationship Id="rId63" Type="http://schemas.openxmlformats.org/officeDocument/2006/relationships/slide" Target="slides/slide36.xml"/><Relationship Id="rId64" Type="http://schemas.openxmlformats.org/officeDocument/2006/relationships/slide" Target="slides/slide37.xml"/><Relationship Id="rId65" Type="http://schemas.openxmlformats.org/officeDocument/2006/relationships/slide" Target="slides/slide38.xml"/><Relationship Id="rId66" Type="http://schemas.openxmlformats.org/officeDocument/2006/relationships/slide" Target="slides/slide39.xml"/><Relationship Id="rId67" Type="http://schemas.openxmlformats.org/officeDocument/2006/relationships/slide" Target="slides/slide40.xml"/><Relationship Id="rId68" Type="http://schemas.openxmlformats.org/officeDocument/2006/relationships/slide" Target="slides/slide41.xml"/><Relationship Id="rId69" Type="http://schemas.openxmlformats.org/officeDocument/2006/relationships/slide" Target="slides/slide42.xml"/><Relationship Id="rId70" Type="http://schemas.openxmlformats.org/officeDocument/2006/relationships/slide" Target="slides/slide43.xml"/><Relationship Id="rId71" Type="http://schemas.openxmlformats.org/officeDocument/2006/relationships/slide" Target="slides/slide44.xml"/><Relationship Id="rId72" Type="http://schemas.openxmlformats.org/officeDocument/2006/relationships/slide" Target="slides/slide45.xml"/><Relationship Id="rId74" Type="http://schemas.openxmlformats.org/officeDocument/2006/relationships/slide" Target="slides/slide46.xml"/><Relationship Id="rId75" Type="http://schemas.openxmlformats.org/officeDocument/2006/relationships/slide" Target="slides/slide47.xml"/><Relationship Id="rId76" Type="http://schemas.openxmlformats.org/officeDocument/2006/relationships/slide" Target="slides/slide48.xml"/><Relationship Id="rId78" Type="http://schemas.openxmlformats.org/officeDocument/2006/relationships/slide" Target="slides/slide49.xml"/><Relationship Id="rId79" Type="http://schemas.openxmlformats.org/officeDocument/2006/relationships/slide" Target="slides/slide50.xml"/><Relationship Id="rId80" Type="http://schemas.openxmlformats.org/officeDocument/2006/relationships/slide" Target="slides/slide51.xml"/><Relationship Id="rId81" Type="http://schemas.openxmlformats.org/officeDocument/2006/relationships/slide" Target="slides/slide52.xml"/><Relationship Id="rId82" Type="http://schemas.openxmlformats.org/officeDocument/2006/relationships/slide" Target="slides/slide53.xml"/><Relationship Id="rId83" Type="http://schemas.openxmlformats.org/officeDocument/2006/relationships/slide" Target="slides/slide54.xml"/><Relationship Id="rId84" Type="http://schemas.openxmlformats.org/officeDocument/2006/relationships/slide" Target="slides/slide55.xml"/><Relationship Id="rId85" Type="http://schemas.openxmlformats.org/officeDocument/2006/relationships/slide" Target="slides/slide56.xml"/><Relationship Id="rId86" Type="http://schemas.openxmlformats.org/officeDocument/2006/relationships/slide" Target="slides/slide57.xml"/><Relationship Id="rId87" Type="http://schemas.openxmlformats.org/officeDocument/2006/relationships/slide" Target="slides/slide58.xml"/><Relationship Id="rId88" Type="http://schemas.openxmlformats.org/officeDocument/2006/relationships/slide" Target="slides/slide59.xml"/><Relationship Id="rId89" Type="http://schemas.openxmlformats.org/officeDocument/2006/relationships/slide" Target="slides/slide60.xml"/><Relationship Id="rId91" Type="http://schemas.openxmlformats.org/officeDocument/2006/relationships/slide" Target="slides/slide61.xml"/><Relationship Id="rId92" Type="http://schemas.openxmlformats.org/officeDocument/2006/relationships/slide" Target="slides/slide62.xml"/><Relationship Id="rId93" Type="http://schemas.openxmlformats.org/officeDocument/2006/relationships/slide" Target="slides/slide63.xml"/><Relationship Id="rId94" Type="http://schemas.openxmlformats.org/officeDocument/2006/relationships/slide" Target="slides/slide64.xml"/><Relationship Id="rId95" Type="http://schemas.openxmlformats.org/officeDocument/2006/relationships/slide" Target="slides/slide65.xml"/><Relationship Id="rId96" Type="http://schemas.openxmlformats.org/officeDocument/2006/relationships/slide" Target="slides/slide66.xml"/><Relationship Id="rId97" Type="http://schemas.openxmlformats.org/officeDocument/2006/relationships/slide" Target="slides/slide67.xml"/><Relationship Id="rId98" Type="http://schemas.openxmlformats.org/officeDocument/2006/relationships/slide" Target="slides/slide68.xml"/><Relationship Id="rId99" Type="http://schemas.openxmlformats.org/officeDocument/2006/relationships/slide" Target="slides/slide69.xml"/><Relationship Id="rId100" Type="http://schemas.openxmlformats.org/officeDocument/2006/relationships/slide" Target="slides/slide70.xml"/><Relationship Id="rId101" Type="http://schemas.openxmlformats.org/officeDocument/2006/relationships/slide" Target="slides/slide71.xml"/><Relationship Id="rId103" Type="http://schemas.openxmlformats.org/officeDocument/2006/relationships/slide" Target="slides/slide72.xml"/><Relationship Id="rId104" Type="http://schemas.openxmlformats.org/officeDocument/2006/relationships/slide" Target="slides/slide73.xml"/><Relationship Id="rId105" Type="http://schemas.openxmlformats.org/officeDocument/2006/relationships/slide" Target="slides/slide74.xml"/><Relationship Id="rId106" Type="http://schemas.openxmlformats.org/officeDocument/2006/relationships/slide" Target="slides/slide75.xml"/><Relationship Id="rId107" Type="http://schemas.openxmlformats.org/officeDocument/2006/relationships/slide" Target="slides/slide76.xml"/><Relationship Id="rId108" Type="http://schemas.openxmlformats.org/officeDocument/2006/relationships/slide" Target="slides/slide77.xml"/><Relationship Id="rId109" Type="http://schemas.openxmlformats.org/officeDocument/2006/relationships/slide" Target="slides/slide78.xml"/><Relationship Id="rId110" Type="http://schemas.openxmlformats.org/officeDocument/2006/relationships/slide" Target="slides/slide79.xml"/><Relationship Id="rId111" Type="http://schemas.openxmlformats.org/officeDocument/2006/relationships/slide" Target="slides/slide80.xml"/><Relationship Id="rId113" Type="http://schemas.openxmlformats.org/officeDocument/2006/relationships/slide" Target="slides/slide82.xml"/><Relationship Id="rId114" Type="http://schemas.openxmlformats.org/officeDocument/2006/relationships/slide" Target="slides/slide83.xml"/><Relationship Id="rId115" Type="http://schemas.openxmlformats.org/officeDocument/2006/relationships/slide" Target="slides/slide84.xml"/><Relationship Id="rId116" Type="http://schemas.openxmlformats.org/officeDocument/2006/relationships/slide" Target="slides/slide85.xml"/><Relationship Id="rId117" Type="http://schemas.openxmlformats.org/officeDocument/2006/relationships/slide" Target="slides/slide86.xml"/><Relationship Id="rId118" Type="http://schemas.openxmlformats.org/officeDocument/2006/relationships/slide" Target="slides/slide87.xml"/><Relationship Id="rId119" Type="http://schemas.openxmlformats.org/officeDocument/2006/relationships/slide" Target="slides/slide88.xml"/><Relationship Id="rId120" Type="http://schemas.openxmlformats.org/officeDocument/2006/relationships/slide" Target="slides/slide89.xml"/><Relationship Id="rId121" Type="http://schemas.openxmlformats.org/officeDocument/2006/relationships/slide" Target="slides/slide90.xml"/><Relationship Id="rId122" Type="http://schemas.openxmlformats.org/officeDocument/2006/relationships/slide" Target="slides/slide91.xml"/><Relationship Id="rId123" Type="http://schemas.openxmlformats.org/officeDocument/2006/relationships/slide" Target="slides/slide92.xml"/><Relationship Id="rId124" Type="http://schemas.openxmlformats.org/officeDocument/2006/relationships/slide" Target="slides/slide93.xml"/><Relationship Id="rId125" Type="http://schemas.openxmlformats.org/officeDocument/2006/relationships/slide" Target="slides/slide94.xml"/><Relationship Id="rId126" Type="http://schemas.openxmlformats.org/officeDocument/2006/relationships/slide" Target="slides/slide95.xml"/><Relationship Id="rId127" Type="http://schemas.openxmlformats.org/officeDocument/2006/relationships/slide" Target="slides/slide96.xml"/><Relationship Id="rId128" Type="http://schemas.openxmlformats.org/officeDocument/2006/relationships/slide" Target="slides/slide97.xml"/><Relationship Id="rId129" Type="http://schemas.openxmlformats.org/officeDocument/2006/relationships/slide" Target="slides/slide98.xml"/><Relationship Id="rId130" Type="http://schemas.openxmlformats.org/officeDocument/2006/relationships/slide" Target="slides/slide99.xml"/><Relationship Id="rId131" Type="http://schemas.openxmlformats.org/officeDocument/2006/relationships/slide" Target="slides/slide100.xml"/><Relationship Id="rId133" Type="http://schemas.openxmlformats.org/officeDocument/2006/relationships/slide" Target="slides/slide101.xml"/><Relationship Id="rId135" Type="http://schemas.openxmlformats.org/officeDocument/2006/relationships/slide" Target="slides/slide102.xml"/><Relationship Id="rId136" Type="http://schemas.openxmlformats.org/officeDocument/2006/relationships/slide" Target="slides/slide103.xml"/><Relationship Id="rId137" Type="http://schemas.openxmlformats.org/officeDocument/2006/relationships/slide" Target="slides/slide104.xml"/><Relationship Id="rId138" Type="http://schemas.openxmlformats.org/officeDocument/2006/relationships/slide" Target="slides/slide105.xml"/><Relationship Id="rId139" Type="http://schemas.openxmlformats.org/officeDocument/2006/relationships/slide" Target="slides/slide106.xml"/><Relationship Id="rId140" Type="http://schemas.openxmlformats.org/officeDocument/2006/relationships/slide" Target="slides/slide107.xml"/><Relationship Id="rId141" Type="http://schemas.openxmlformats.org/officeDocument/2006/relationships/slide" Target="slides/slide108.xml"/><Relationship Id="rId142" Type="http://schemas.openxmlformats.org/officeDocument/2006/relationships/slide" Target="slides/slide109.xml"/><Relationship Id="rId143" Type="http://schemas.openxmlformats.org/officeDocument/2006/relationships/slide" Target="slides/slide110.xml"/><Relationship Id="rId144" Type="http://schemas.openxmlformats.org/officeDocument/2006/relationships/slide" Target="slides/slide111.xml"/><Relationship Id="rId145" Type="http://schemas.openxmlformats.org/officeDocument/2006/relationships/slide" Target="slides/slide112.xml"/><Relationship Id="rId146" Type="http://schemas.openxmlformats.org/officeDocument/2006/relationships/slide" Target="slides/slide113.xml"/><Relationship Id="rId147" Type="http://schemas.openxmlformats.org/officeDocument/2006/relationships/slide" Target="slides/slide114.xml"/><Relationship Id="rId148" Type="http://schemas.openxmlformats.org/officeDocument/2006/relationships/slide" Target="slides/slide115.xml"/><Relationship Id="rId151" Type="http://schemas.openxmlformats.org/officeDocument/2006/relationships/slide" Target="slides/slide10.xml"/><Relationship Id="rId152" Type="http://schemas.openxmlformats.org/officeDocument/2006/relationships/slide" Target="slides/slide81.xml"/><Relationship Id="rId153" Type="http://schemas.openxmlformats.org/officeDocument/2006/relationships/slide" Target="slides/slide116.xml"/><Relationship Id="rId154" Type="http://schemas.openxmlformats.org/officeDocument/2006/relationships/slide" Target="slides/slide117.xml"/><Relationship Id="rId155" Type="http://schemas.openxmlformats.org/officeDocument/2006/relationships/slide" Target="slides/slide118.xml"/><Relationship Id="rId156" Type="http://schemas.openxmlformats.org/officeDocument/2006/relationships/slide" Target="slides/slide119.xml"/><Relationship Id="rId157" Type="http://schemas.openxmlformats.org/officeDocument/2006/relationships/slide" Target="slides/slide120.xml"/><Relationship Id="rId158" Type="http://schemas.openxmlformats.org/officeDocument/2006/relationships/slide" Target="slides/slide121.xml"/><Relationship Id="rId159" Type="http://schemas.openxmlformats.org/officeDocument/2006/relationships/slide" Target="slides/slide122.xml"/><Relationship Id="rId160" Type="http://schemas.openxmlformats.org/officeDocument/2006/relationships/slide" Target="slides/slide123.xml"/><Relationship Id="rId161" Type="http://schemas.openxmlformats.org/officeDocument/2006/relationships/slide" Target="slides/slide124.xml"/><Relationship Id="rId162" Type="http://schemas.openxmlformats.org/officeDocument/2006/relationships/slide" Target="slides/slide125.xml"/><Relationship Id="rId163" Type="http://schemas.openxmlformats.org/officeDocument/2006/relationships/slide" Target="slides/slide126.xml"/><Relationship Id="rId164" Type="http://schemas.openxmlformats.org/officeDocument/2006/relationships/slide" Target="slides/slide127.xml"/><Relationship Id="rId165" Type="http://schemas.openxmlformats.org/officeDocument/2006/relationships/slide" Target="slides/slide128.xml"/><Relationship Id="rId166" Type="http://schemas.openxmlformats.org/officeDocument/2006/relationships/slide" Target="slides/slide129.xml"/><Relationship Id="rId167" Type="http://schemas.openxmlformats.org/officeDocument/2006/relationships/slide" Target="slides/slide130.xml"/><Relationship Id="rId168" Type="http://schemas.openxmlformats.org/officeDocument/2006/relationships/slide" Target="slides/slide1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cead81148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cead811483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ead811483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cead811483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fondo oscuro 1">
  <p:cSld name="TITLE_6_1_2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671435"/>
              </a:gs>
              <a:gs pos="100000">
                <a:srgbClr val="430B22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4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/>
          <p:nvPr/>
        </p:nvSpPr>
        <p:spPr>
          <a:xfrm>
            <a:off x="19" y="5013919"/>
            <a:ext cx="9144000" cy="147900"/>
          </a:xfrm>
          <a:prstGeom prst="rect">
            <a:avLst/>
          </a:prstGeom>
          <a:solidFill>
            <a:srgbClr val="67143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Portada 1 verde">
  <p:cSld name="CUSTOM_7_1_1_2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6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6" title="Logo horizontal ATDT CRT.png"/>
          <p:cNvPicPr preferRelativeResize="0"/>
          <p:nvPr/>
        </p:nvPicPr>
        <p:blipFill rotWithShape="1">
          <a:blip r:embed="rId2">
            <a:alphaModFix/>
          </a:blip>
          <a:srcRect t="515" b="505"/>
          <a:stretch/>
        </p:blipFill>
        <p:spPr>
          <a:xfrm>
            <a:off x="1833213" y="810281"/>
            <a:ext cx="5477555" cy="53130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6" title="1.2 GobMx_Margarita Maza_fondo oscuro_H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6935" y="4143752"/>
            <a:ext cx="1830124" cy="78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Portadilla 1 verde">
  <p:cSld name="CUSTOM_7_1_1_1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7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7" title="1.2 GobMx_Margarita Maza_fondo oscuro_H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814125" y="4277923"/>
            <a:ext cx="1515761" cy="6468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" title="Logo horizontal ATDT CRT.png"/>
          <p:cNvPicPr preferRelativeResize="0"/>
          <p:nvPr/>
        </p:nvPicPr>
        <p:blipFill rotWithShape="1">
          <a:blip r:embed="rId3">
            <a:alphaModFix/>
          </a:blip>
          <a:srcRect t="515" b="505"/>
          <a:stretch/>
        </p:blipFill>
        <p:spPr>
          <a:xfrm>
            <a:off x="6411224" y="179426"/>
            <a:ext cx="2539175" cy="24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fondo oscuro 1 verde">
  <p:cSld name="TITLE_6_1_2_1_1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8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" name="Google Shape;51;p8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1 verde">
  <p:cSld name="TITLE_6_1_1_2_1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/>
          <p:nvPr/>
        </p:nvSpPr>
        <p:spPr>
          <a:xfrm>
            <a:off x="-25" y="0"/>
            <a:ext cx="9144000" cy="5217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  <p:pic>
        <p:nvPicPr>
          <p:cNvPr id="60" name="Google Shape;60;p9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.xml" Id="R75873b9008704f5e"/><Relationship Type="http://schemas.openxmlformats.org/officeDocument/2006/relationships/image" Target="../media/slide3_diseno_image.png" Id="R7dd46c82ccd34f7d"/><Relationship Type="http://schemas.openxmlformats.org/officeDocument/2006/relationships/image" Target="../media/slide3_diseno_image2.png" Id="Rbccc84560eec49cf"/><Relationship Type="http://schemas.openxmlformats.org/officeDocument/2006/relationships/image" Target="../media/slide3_diseno_image3.png" Id="R6d4963d98410402b"/><Relationship Type="http://schemas.openxmlformats.org/officeDocument/2006/relationships/image" Target="../media/slide3_diseno_image4.png" Id="Rcb20aff7f10a4f9b"/><Relationship Type="http://schemas.openxmlformats.org/officeDocument/2006/relationships/hyperlink" Target="https://bit.crt.gob.mx/BitWebApp/" TargetMode="External" Id="R5b60e0be82104cba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.xml" Id="Rbe9c7cf808de4e9d"/><Relationship Type="http://schemas.openxmlformats.org/officeDocument/2006/relationships/image" Target="../media/slide4_diseno_image.png" Id="Re9d5d72c38924a16"/><Relationship Type="http://schemas.openxmlformats.org/officeDocument/2006/relationships/image" Target="../media/slide4_diseno_image2.png" Id="Rb5c444f1c6cb476e"/><Relationship Type="http://schemas.openxmlformats.org/officeDocument/2006/relationships/image" Target="../media/slide4_diseno_image3.png" Id="R45279ff6ee7f4af1"/><Relationship Type="http://schemas.openxmlformats.org/officeDocument/2006/relationships/image" Target="../media/slide4_diseno_image4.png" Id="R30298c0e75084c3d"/><Relationship Type="http://schemas.openxmlformats.org/officeDocument/2006/relationships/hyperlink" Target="https://bit.crt.gob.mx/BitWebApp/" TargetMode="External" Id="R44a62cbf7b934b2e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.xml" Id="R46abcff555714d09"/><Relationship Type="http://schemas.openxmlformats.org/officeDocument/2006/relationships/image" Target="../media/slide5_diseno_image5.png" Id="Rd0c2a94fb7504565"/><Relationship Type="http://schemas.openxmlformats.org/officeDocument/2006/relationships/image" Target="../media/slide5_diseno_image6.png" Id="R053ec0800dab470a"/><Relationship Type="http://schemas.openxmlformats.org/officeDocument/2006/relationships/image" Target="../media/slide5_diseno_image7.png" Id="R9b21366084f1421c"/><Relationship Type="http://schemas.openxmlformats.org/officeDocument/2006/relationships/image" Target="../media/slide5_diseno_image8.png" Id="R30bbdc5925644f1f"/><Relationship Type="http://schemas.openxmlformats.org/officeDocument/2006/relationships/hyperlink" Target="https://bit.crt.gob.mx/BitWebApp/" TargetMode="External" Id="R063e77096b704b59"/><Relationship Type="http://schemas.openxmlformats.org/officeDocument/2006/relationships/image" Target="../media/slide5_diseno_image9.png" Id="R5f7ecf3039b54788"/><Relationship Type="http://schemas.openxmlformats.org/officeDocument/2006/relationships/image" Target="../media/slide5_diseno_image10.png" Id="Rca2af74a4db24cd7"/><Relationship Type="http://schemas.openxmlformats.org/officeDocument/2006/relationships/image" Target="../media/slide5_diseno_image11.png" Id="R17eda56c66264122"/><Relationship Type="http://schemas.openxmlformats.org/officeDocument/2006/relationships/image" Target="../media/slide5_diseno_image12.png" Id="R0598c2e78d6345bf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.xml" Id="R66974e7e788647ff"/><Relationship Type="http://schemas.openxmlformats.org/officeDocument/2006/relationships/image" Target="../media/slide6_diseno_image13.png" Id="Ra85e1c9945e94a7e"/><Relationship Type="http://schemas.openxmlformats.org/officeDocument/2006/relationships/image" Target="../media/slide6_diseno_image14.png" Id="R5101691e18134900"/><Relationship Type="http://schemas.openxmlformats.org/officeDocument/2006/relationships/image" Target="../media/slide6_diseno_image15.png" Id="Rcd1fc5a8caa9402d"/><Relationship Type="http://schemas.openxmlformats.org/officeDocument/2006/relationships/image" Target="../media/slide6_diseno_image16.png" Id="Ra902198852794fa7"/><Relationship Type="http://schemas.openxmlformats.org/officeDocument/2006/relationships/hyperlink" Target="https://bit.crt.gob.mx/BitWebApp/" TargetMode="External" Id="Rbf38f4683d754baf"/><Relationship Type="http://schemas.openxmlformats.org/officeDocument/2006/relationships/image" Target="../media/slide6_diseno_image17.png" Id="Rc151f4e85cd14391"/><Relationship Type="http://schemas.openxmlformats.org/officeDocument/2006/relationships/image" Target="../media/slide6_diseno_image18.png" Id="R8e1ef3adc9d843cd"/><Relationship Type="http://schemas.openxmlformats.org/officeDocument/2006/relationships/image" Target="../media/slide6_diseno_image19.png" Id="R8f9341f9b5c94c17"/><Relationship Type="http://schemas.openxmlformats.org/officeDocument/2006/relationships/image" Target="../media/slide6_diseno_image20.png" Id="R18bf096c142f478e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.xml" Id="Ra94795058d6343e6"/><Relationship Type="http://schemas.openxmlformats.org/officeDocument/2006/relationships/image" Target="../media/slide7_diseno_image.png" Id="Ra2f113fc51c24590"/><Relationship Type="http://schemas.openxmlformats.org/officeDocument/2006/relationships/image" Target="../media/slide7_diseno_image2.png" Id="R5124f4555e354735"/><Relationship Type="http://schemas.openxmlformats.org/officeDocument/2006/relationships/image" Target="../media/slide7_diseno_image3.png" Id="R055272988eb84dce"/><Relationship Type="http://schemas.openxmlformats.org/officeDocument/2006/relationships/image" Target="../media/slide7_diseno_image4.png" Id="R9648ba0efd3e4fb5"/><Relationship Type="http://schemas.openxmlformats.org/officeDocument/2006/relationships/hyperlink" Target="https://bit.crt.gob.mx/BitWebApp/" TargetMode="External" Id="R44fd49cd4a32425c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.xml" Id="R0f556a324a294929"/><Relationship Type="http://schemas.openxmlformats.org/officeDocument/2006/relationships/image" Target="../media/slide8_diseno_image.png" Id="Rab0adeb70d7b4625"/><Relationship Type="http://schemas.openxmlformats.org/officeDocument/2006/relationships/image" Target="../media/slide8_diseno_image2.png" Id="Rea391cf12914453e"/><Relationship Type="http://schemas.openxmlformats.org/officeDocument/2006/relationships/image" Target="../media/slide8_diseno_image3.png" Id="R4f2cbbb30dda4051"/><Relationship Type="http://schemas.openxmlformats.org/officeDocument/2006/relationships/image" Target="../media/slide8_diseno_image4.png" Id="R4d12f4a07a004500"/><Relationship Type="http://schemas.openxmlformats.org/officeDocument/2006/relationships/hyperlink" Target="https://bit.crt.gob.mx/BitWebApp/" TargetMode="External" Id="R4e3103bf1d6a40b8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ANUARIO_COVER_YEAR"/>
          <p:cNvSpPr txBox="1"/>
          <p:nvPr/>
        </p:nvSpPr>
        <p:spPr>
          <a:xfrm>
            <a:off x="2483550" y="3010223"/>
            <a:ext cx="41769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000000"/>
              </a:buClr>
              <a:buSzPts val="5025"/>
              <a:buFont typeface="Arial"/>
              <a:buNone/>
            </a:pPr>
            <a:r>
              <a:rPr lang="es-419" sz="2000" dirty="0">
                <a:solidFill>
                  <a:srgbClr val="E6D195"/>
                </a:solidFill>
                <a:latin typeface="Noto Sans Light"/>
                <a:ea typeface="Noto Sans Light"/>
                <a:cs typeface="Noto Sans Light"/>
                <a:sym typeface="Noto Sans Light"/>
              </a:rPr>
              <a:t>2026</a:t>
            </a:r>
            <a:endParaRPr lang="es-419" sz="2000" b="0" i="0" u="none" strike="noStrike" cap="none" dirty="0">
              <a:solidFill>
                <a:srgbClr val="E6D195"/>
              </a:solidFill>
              <a:latin typeface="Noto Sans Light"/>
              <a:ea typeface="Noto Sans Light"/>
              <a:cs typeface="Noto Sans Light"/>
              <a:sym typeface="Noto Sans Light"/>
            </a:endParaRPr>
          </a:p>
        </p:txBody>
      </p:sp>
      <p:sp>
        <p:nvSpPr>
          <p:cNvPr id="147" name="ANUARIO_COVER_TITLE"/>
          <p:cNvSpPr txBox="1"/>
          <p:nvPr/>
        </p:nvSpPr>
        <p:spPr>
          <a:xfrm>
            <a:off x="1651800" y="1808275"/>
            <a:ext cx="5840400" cy="8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3500" dirty="0">
                <a:solidFill>
                  <a:srgbClr val="FFFFFF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Anuario estadístico</a:t>
            </a:r>
            <a:endParaRPr lang="es-419" sz="3500" b="0" i="0" u="none" strike="noStrike" cap="none" dirty="0">
              <a:solidFill>
                <a:srgbClr val="FFFFFF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cxnSp>
        <p:nvCxnSpPr>
          <p:cNvPr id="148" name="Google Shape;148;p13"/>
          <p:cNvCxnSpPr/>
          <p:nvPr/>
        </p:nvCxnSpPr>
        <p:spPr>
          <a:xfrm>
            <a:off x="1651800" y="2807935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ANUARIO_INDEX_TITLE"/>
          <p:cNvSpPr txBox="1"/>
          <p:nvPr/>
        </p:nvSpPr>
        <p:spPr>
          <a:xfrm>
            <a:off x="3460800" y="642025"/>
            <a:ext cx="2222400" cy="6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sz="2600" b="1">
                <a:solidFill>
                  <a:srgbClr val="F3F3F3"/>
                </a:solidFill>
                <a:latin typeface="Noto Sans ExtraBold"/>
              </a:rPr>
              <a:t>ÍNDICE</a:t>
            </a:r>
          </a:p>
        </p:txBody>
      </p:sp>
      <p:cxnSp>
        <p:nvCxnSpPr>
          <p:cNvPr id="155" name="Google Shape;155;p14"/>
          <p:cNvCxnSpPr/>
          <p:nvPr/>
        </p:nvCxnSpPr>
        <p:spPr>
          <a:xfrm>
            <a:off x="1651800" y="1326910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6" name="ANUARIO_INDEX_LEFT"/>
          <p:cNvSpPr txBox="1"/>
          <p:nvPr/>
        </p:nvSpPr>
        <p:spPr>
          <a:xfrm>
            <a:off x="384048" y="1307592"/>
            <a:ext cx="4050791" cy="3182112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LEGALES  ·  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GLOSARIO  ·  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INTRODUCCIÓN  ·  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PUNTOS CLAVE  ·  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INDICADORES DE TELECOMUNICACIONES Y RADIODIFUSIÓN A NIVEL NACIONAL  ·  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A. INDICADORES ECONÓMICOS  ·  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PRODUCTO INTERNO BRUTO (PIB) Y CONTRIBUCIÓN DE LOS SECTORES DE TyR  ·  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EMPLEO EN LOS SECTORES DE TyR  ·  12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ÍNDICES DE PRECIOS  ·  13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INVERSIÓN PRIVADA EN TELECOMUNICACIONES  ·  14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FLUJOS DE INVERSIÓN EXTRANJERA DIRECTA  ·  15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INGRESOS, EGRESOS Y MARGEN DEL SECTOR DE TELECOMUNICACIONES  ·  16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INGRESO Y GASTO DE LOS HOGARES EN TELECOMUNICACIONES FIJAS  ·  17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INGRESO Y GASTO DE LOS HOGARES EN TELECOMUNICACIONES MÓVILES  ·  19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B. SERVICIOS FIJOS DE TELECOMUNICACIONES  ·  21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SERVICIOS FIJOS DE TELECOMUNICACIONES EN LOS HOGARES  ·  21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FIJO DE TELEFONÍA  ·  24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FIJO DE ACCESO A INTERNET  ·  31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DE TELEVISIÓN RESTRINGIDA  ·  39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C. SERVICIOS MÓVILES DE TELECOMUNICACIONES  ·  46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DISTRIBUCIÓN DEL ESPECTRO RADIOELÉCTRICO POR BANDA DE FRECUENCIA  ·  46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DISTRIBUCIÓN DEL ESPECTRO RADIOELÉCTRICO POR OPERADOR  ·  47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LOS SERVICIOS MÓVILES DE TELECOMUNICACIONES POR LA POBLACIÓN  ·  48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MÓVIL DE TELEFONÍA  ·  49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 MÓVIL DE ACCESO A INTERNET  ·  55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D. TECNOLOGÍAS DE LA INFORMACIÓN Y COMUNICACIÓN (TIC)  ·  61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DISPONIBILIDAD DE LAS TECNOLOGÍAS DE LA INFORMACIÓN Y COMUNICACIÓN (TIC) EN LOS HOGARES  ·  61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SMARTPHONE E INTERNET POR GRUPOS DE EDAD  ·  62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PORCENTAJE DE HORAS PROMEDIO DE USO DE INTERNET POR GRUPOS DE EDAD  ·  63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DISPOSITIVOS INTELIGENTES CONECTADOS A INTERNET  ·  64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EFECTOS DE LA DESCONFIANZA EN INTERNET SOBRE LAS ACTIVIDADES EN LÍNEA DE LOS USUARIOS  ·  65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PERCEPCIÓN O GRADO DE CONFIANZA QUE TIENEN LAS PERSONAS AL HACER USO DEL INTERNET  ·  68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PERCEPCIÓN SEGÚN NIVEL DE SEGURIDAD QUE TIENEN LAS PERSONAS USUARIAS DE INTERNET AL REALIZAR DIFERENTES ACTIVIDADES EN INTERNET  ·  69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POBLACIÓN USUARIA DE INTERNET SEGÚN NIVEL DE SEGURIDAD QUE CONSIDERAN, TIENE REALIZAR DIFERENTES ACTIVIDADES EN INTERNET (POR SEXO)  ·  71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E. PERSONAS USUARIAS DE SERVICIOS DE TELECOMUNICACIONES  ·  72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 GENERAL DE SATISFACIÓN DE LOS SERVICIOS DE TELECOMUNICACIONES EN PERSONAS USUARIAS  ·  72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USO, CONOCIMIENTO Y PERCEPCIÓN DE LA INTELIGENCIA ARTIFICIAL (IA) Y CHAT GPT  ·  73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 GENERAL DE SATISFACIÓN DE LOS SERVICIOS DE TELECOMUNICACIONES EN EMPRESAS  ·  74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SERVICIOS CONTRATADOS POR LAS MICRO, PEQUEÑAS Y MEDIANAS EMPRESAS  ·  75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USO DE LOS SERVICIOS DE TELECOMUNICACIONES PARA REALIZAR ACTIVIDADES DE IMPORTACIÓN Y/O EXPORTACIÓN  ·  80</a:t>
            </a:r>
          </a:p>
        </p:txBody>
      </p:sp>
      <p:sp>
        <p:nvSpPr>
          <p:cNvPr id="157" name="ANUARIO_INDEX_RIGHT"/>
          <p:cNvSpPr txBox="1"/>
          <p:nvPr/>
        </p:nvSpPr>
        <p:spPr>
          <a:xfrm>
            <a:off x="4681728" y="1307592"/>
            <a:ext cx="4050791" cy="3182112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F. INDICADORES CON PERSPECTIVA DE GÉNERO  ·  81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ACTIVIDADES EN EL TELÉFONO CELULAR INTELIGENTE  ·  81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ACTIVIDADES REALIZADAS EN INTERNET  ·  81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PERSONAS EMPLEADAS EN TELECOMUNICACIONES Y RADIODIFUSIÓN  ·  86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CIBERACOSO  ·  87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MEDIDAS DE PROTECCIÓN QUE TOMAN LAS PERSONAS USUARIAS ANTE LA VIOLENCIA DIGITAL.  ·  98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ACCIONES REALIZADAS POR LAS PERSONAS USUARIAS PARA PROTEGERSE O PREVENIR LA VIOLENCIA DIGITAL A TRAVÉS DE INTERNET (POR SEXO).  ·  99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ACCIONES QUE REALIZARÍAN LAS PERSONAS USUARIAS EN CASO DE EXPERIMENTAR VIOLENCIA DIGITAL A TRAVÉS DE INTERNET (POR SEXO).  ·  100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G. INDICADORES DE RADIODIFUSIÓN  ·  101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H. CONSUMO DE RADIO Y TELEVISIÓN  ·  102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A NIVEL NACIONAL (28 CIUDADES)  ·  102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A NIVEL NACIONAL (28 CIUDADES)  ·  103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CIUDAD DE MÉXICO  ·  104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LA CIUDAD DE MÉXICO  ·  105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GUADALAJARA  ·  106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GUADALAJARA  ·  107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MONTERREY  ·  108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MONTERREY  ·  109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TELEVISIÓN EN 25 CIUDADES  ·  110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HORAS DEDICADAS Y NIVELES DE AUDIENCIA POR GÉNERO DE PROGRAMACIÓN EN 25 CIUDADES  ·  111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PRINCIPALES CIUDADES DEL PAÍS (CIUDAD DE MÉXICO, GUADALAJARA Y MONTERREY)  ·  112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CIUDAD DE MÉXICO  ·  113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GUADALAJARA  ·  114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NIVEL DE EXPOSICIÓN A LA RADIO EN MONTERREY  ·  115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HERRAMIENTAS IFT  ·  116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I. RESUMEN DE INDICADORES DE TELECOMUNICACIONES Y RADIODIFUSIÓN  ·  117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II. DEFINICIONES  ·  121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III. METODOLOGÍAS  ·  126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SOBRE INFORMACIÓN DE SERVICIOS DE TELECOMUNICACIONES  ·  126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ÍNDICES DE PRECIOS  ·  126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SOBRE INFORMACIÓN DE INGRESO Y GASTO DE LOS HOGARES EN TELECOMUNICACIONES FIJAS Y MÓVILES  ·  127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CONSUMO DE RADIO Y TELEVISIÓN, PARTICULARIDADES METODOLÓGICAS  ·  128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ENCUESTA NACIONAL SOBRE DISPONIBILIDAD Y USO DE TECNOLOGÍAS DE LA INFORMACIÓN EN LOS HOGARES (ENDUTIH) 2023, PARTICULARIDADES METODOLÓGICAS  ·  128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ENCUESTA NACIONAL DE OCUPACIÓN Y EMPLEO (ENOE), POBLACIÓN DE 15 AÑOS Y MÁS DE EDAD, PARTICULARIDADES METODOLÓGICAS  ·  129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  PRODUCTO INTERNO BRUTO (PIB), PARTICULARIDADES METODOLÓGICAS  ·  129</a:t>
            </a:r>
          </a:p>
          <a:p>
            <a:pPr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484" b="0">
                <a:solidFill>
                  <a:srgbClr val="F3F3F3"/>
                </a:solidFill>
                <a:latin typeface="Noto Sans"/>
              </a:rPr>
              <a:t>ANEXO IV. MÉTODOS DE CÁLCULO DE INDICADORES  ·  130</a:t>
            </a:r>
          </a:p>
        </p:txBody>
      </p:sp>
      <p:sp>
        <p:nvSpPr>
          <p:cNvPr id="158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F3F3F3"/>
                </a:solidFill>
                <a:latin typeface="Noto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showMasterSp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d46c82ccd34f7d"/>
          <a:stretch xmlns:a="http://schemas.openxmlformats.org/drawingml/2006/main"/>
        </p:blipFill>
        <p:spPr>
          <a:xfrm xmlns:a="http://schemas.openxmlformats.org/drawingml/2006/main">
            <a:off x="3378" y="0"/>
            <a:ext cx="9136888" cy="456844"/>
          </a:xfrm>
          <a:prstGeom xmlns:a="http://schemas.openxmlformats.org/drawingml/2006/main" prst="rect">
            <a:avLst/>
          </a:prstGeom>
        </p:spPr>
      </p:pic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c84560eec49cf"/>
          <a:stretch xmlns:a="http://schemas.openxmlformats.org/drawingml/2006/main"/>
        </p:blipFill>
        <p:spPr>
          <a:xfrm xmlns:a="http://schemas.openxmlformats.org/drawingml/2006/main">
            <a:off x="14298" y="4990683"/>
            <a:ext cx="9115048" cy="151917"/>
          </a:xfrm>
          <a:prstGeom xmlns:a="http://schemas.openxmlformats.org/drawingml/2006/main" prst="rect">
            <a:avLst/>
          </a:prstGeom>
        </p:spPr>
      </p:pic>
      <p:sp>
        <p:nvSpPr>
          <p:cNvPr id="3" name="LEGALES_QR_FONDO">
            <a:extLst xmlns:a="http://schemas.openxmlformats.org/drawingml/2006/main">
              <a:ext uri="{FF2B5EF4-FFF2-40B4-BE49-F238E27FC236}">
                <a16:creationId xmlns:a16="http://schemas.microsoft.com/office/drawing/2014/main" id="{C4B88A73-ECC8-4C47-BA34-4A7B036D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100" y="50800"/>
            <a:ext cx="355600" cy="355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FFFFFF"/>
            </a:solidFill>
          </a:ln>
        </p:spPr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963d98410402b"/>
          <a:stretch xmlns:a="http://schemas.openxmlformats.org/drawingml/2006/main"/>
        </p:blipFill>
        <p:spPr>
          <a:xfrm xmlns:a="http://schemas.openxmlformats.org/drawingml/2006/main">
            <a:off x="7810564" y="75961"/>
            <a:ext cx="304559" cy="304559"/>
          </a:xfrm>
          <a:prstGeom xmlns:a="http://schemas.openxmlformats.org/drawingml/2006/main" prst="rect">
            <a:avLst/>
          </a:prstGeom>
        </p:spPr>
      </p:pic>
      <p:pic>
        <p:nvPicPr>
          <p:cNvPr id="1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0aff7f10a4f9b"/>
          <a:stretch xmlns:a="http://schemas.openxmlformats.org/drawingml/2006/main"/>
        </p:blipFill>
        <p:spPr>
          <a:xfrm xmlns:a="http://schemas.openxmlformats.org/drawingml/2006/main">
            <a:off x="8294782" y="75961"/>
            <a:ext cx="542115" cy="304559"/>
          </a:xfrm>
          <a:prstGeom xmlns:a="http://schemas.openxmlformats.org/drawingml/2006/main" prst="rect">
            <a:avLst/>
          </a:prstGeom>
        </p:spPr>
      </p:pic>
      <p:sp>
        <p:nvSpPr>
          <p:cNvPr id="6" name="ANUARIO_LEGALES_DESIGN_2026">
            <a:extLst xmlns:a="http://schemas.openxmlformats.org/drawingml/2006/main">
              <a:ext uri="{FF2B5EF4-FFF2-40B4-BE49-F238E27FC236}">
                <a16:creationId xmlns:a16="http://schemas.microsoft.com/office/drawing/2014/main" id="{A7B809D4-9ECA-4D1F-BDA8-1BB112B9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09600"/>
            <a:ext cx="2032000" cy="42672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1A4043"/>
          </a:solidFill>
          <a:ln xmlns:a="http://schemas.openxmlformats.org/drawingml/2006/main" w="8890">
            <a:solidFill>
              <a:srgbClr val="1A4043"/>
            </a:solidFill>
          </a:ln>
        </p:spPr>
      </p:sp>
      <p:sp>
        <p:nvSpPr>
          <p:cNvPr id="7" name="FUNDAMENTO_DIVISOR">
            <a:extLst xmlns:a="http://schemas.openxmlformats.org/drawingml/2006/main">
              <a:ext uri="{FF2B5EF4-FFF2-40B4-BE49-F238E27FC236}">
                <a16:creationId xmlns:a16="http://schemas.microsoft.com/office/drawing/2014/main" id="{306E8479-3BEC-4168-9CE0-9394CA6B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990600"/>
            <a:ext cx="355600" cy="1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D3C7"/>
          </a:solidFill>
          <a:ln xmlns:a="http://schemas.openxmlformats.org/drawingml/2006/main" w="0">
            <a:noFill/>
          </a:ln>
        </p:spPr>
      </p:sp>
      <p:sp>
        <p:nvSpPr>
          <p:cNvPr id="8" name="LEGALES_RECUADRO_USUARIOS">
            <a:extLst xmlns:a="http://schemas.openxmlformats.org/drawingml/2006/main">
              <a:ext uri="{FF2B5EF4-FFF2-40B4-BE49-F238E27FC236}">
                <a16:creationId xmlns:a16="http://schemas.microsoft.com/office/drawing/2014/main" id="{C177147B-6B51-40DC-ACA2-C9096A0E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609600"/>
            <a:ext cx="3098800" cy="2717800"/>
          </a:xfrm>
          <a:prstGeom xmlns:a="http://schemas.openxmlformats.org/drawingml/2006/main" prst="roundRect">
            <a:avLst>
              <a:gd name="adj" fmla="val 1402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CFE0DC"/>
            </a:solidFill>
          </a:ln>
        </p:spPr>
      </p:sp>
      <p:sp>
        <p:nvSpPr>
          <p:cNvPr id="9" name="LEGALES_ACENTO_USUARIOS">
            <a:extLst xmlns:a="http://schemas.openxmlformats.org/drawingml/2006/main">
              <a:ext uri="{FF2B5EF4-FFF2-40B4-BE49-F238E27FC236}">
                <a16:creationId xmlns:a16="http://schemas.microsoft.com/office/drawing/2014/main" id="{9D7ECA7A-418B-4F87-90A0-64125678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685800"/>
            <a:ext cx="38100" cy="256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0" name="LEGALES_RECUADRO_TIC">
            <a:extLst xmlns:a="http://schemas.openxmlformats.org/drawingml/2006/main">
              <a:ext uri="{FF2B5EF4-FFF2-40B4-BE49-F238E27FC236}">
                <a16:creationId xmlns:a16="http://schemas.microsoft.com/office/drawing/2014/main" id="{E64024A6-78A1-400A-98FD-FEB9CA7F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3429000"/>
            <a:ext cx="3098800" cy="14478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CFE0DC"/>
            </a:solidFill>
          </a:ln>
        </p:spPr>
      </p:sp>
      <p:sp>
        <p:nvSpPr>
          <p:cNvPr id="11" name="LEGALES_ACENTO_TIC">
            <a:extLst xmlns:a="http://schemas.openxmlformats.org/drawingml/2006/main">
              <a:ext uri="{FF2B5EF4-FFF2-40B4-BE49-F238E27FC236}">
                <a16:creationId xmlns:a16="http://schemas.microsoft.com/office/drawing/2014/main" id="{09A8036B-DFF8-4E11-86E0-3C9A7854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3505200"/>
            <a:ext cx="381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2" name="LEGALES_RECUADRO_GENERO">
            <a:extLst xmlns:a="http://schemas.openxmlformats.org/drawingml/2006/main">
              <a:ext uri="{FF2B5EF4-FFF2-40B4-BE49-F238E27FC236}">
                <a16:creationId xmlns:a16="http://schemas.microsoft.com/office/drawing/2014/main" id="{F93445A7-77CA-4839-9F5A-8768D3E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0" y="609600"/>
            <a:ext cx="3149600" cy="787400"/>
          </a:xfrm>
          <a:prstGeom xmlns:a="http://schemas.openxmlformats.org/drawingml/2006/main" prst="roundRect">
            <a:avLst>
              <a:gd name="adj" fmla="val 4839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CFE0DC"/>
            </a:solidFill>
          </a:ln>
        </p:spPr>
      </p:sp>
      <p:sp>
        <p:nvSpPr>
          <p:cNvPr id="13" name="LEGALES_ACENTO_GENERO">
            <a:extLst xmlns:a="http://schemas.openxmlformats.org/drawingml/2006/main">
              <a:ext uri="{FF2B5EF4-FFF2-40B4-BE49-F238E27FC236}">
                <a16:creationId xmlns:a16="http://schemas.microsoft.com/office/drawing/2014/main" id="{DA765D97-A995-48F4-89CF-78F53075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0" y="685800"/>
            <a:ext cx="381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4" name="LEGALES_RECUADRO_RADIO_TV">
            <a:extLst xmlns:a="http://schemas.openxmlformats.org/drawingml/2006/main">
              <a:ext uri="{FF2B5EF4-FFF2-40B4-BE49-F238E27FC236}">
                <a16:creationId xmlns:a16="http://schemas.microsoft.com/office/drawing/2014/main" id="{01B88975-BC53-48C3-BF10-CEC9ACF2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0" y="1498600"/>
            <a:ext cx="3149600" cy="104140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CFE0DC"/>
            </a:solidFill>
          </a:ln>
        </p:spPr>
      </p:sp>
      <p:sp>
        <p:nvSpPr>
          <p:cNvPr id="15" name="LEGALES_ACENTO_RADIO_TV">
            <a:extLst xmlns:a="http://schemas.openxmlformats.org/drawingml/2006/main">
              <a:ext uri="{FF2B5EF4-FFF2-40B4-BE49-F238E27FC236}">
                <a16:creationId xmlns:a16="http://schemas.microsoft.com/office/drawing/2014/main" id="{AB3A2C0C-BFE0-4546-A589-2D22FDA9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0" y="1574800"/>
            <a:ext cx="38100" cy="88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6" name="LEGALES_RECUADRO_NIELSEN">
            <a:extLst xmlns:a="http://schemas.openxmlformats.org/drawingml/2006/main">
              <a:ext uri="{FF2B5EF4-FFF2-40B4-BE49-F238E27FC236}">
                <a16:creationId xmlns:a16="http://schemas.microsoft.com/office/drawing/2014/main" id="{312B9452-5100-465F-855B-858A04556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0" y="2641600"/>
            <a:ext cx="3149600" cy="2235200"/>
          </a:xfrm>
          <a:prstGeom xmlns:a="http://schemas.openxmlformats.org/drawingml/2006/main" prst="roundRect">
            <a:avLst>
              <a:gd name="adj" fmla="val 1705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CFE0DC"/>
            </a:solidFill>
          </a:ln>
        </p:spPr>
      </p:sp>
      <p:sp>
        <p:nvSpPr>
          <p:cNvPr id="17" name="LEGALES_ACENTO_NIELSEN">
            <a:extLst xmlns:a="http://schemas.openxmlformats.org/drawingml/2006/main">
              <a:ext uri="{FF2B5EF4-FFF2-40B4-BE49-F238E27FC236}">
                <a16:creationId xmlns:a16="http://schemas.microsoft.com/office/drawing/2014/main" id="{1677D2CE-04E4-425E-9ABA-FB9AFC8A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600" y="2717800"/>
            <a:ext cx="38100" cy="208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8" name="LEGALES_TEXTO_1">
            <a:extLst xmlns:a="http://schemas.openxmlformats.org/drawingml/2006/main">
              <a:ext uri="{FF2B5EF4-FFF2-40B4-BE49-F238E27FC236}">
                <a16:creationId xmlns:a16="http://schemas.microsoft.com/office/drawing/2014/main" id="{3B88C635-96AB-46C0-8C01-B9220EFB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4" y="127480"/>
            <a:ext cx="1892300" cy="276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9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500" b="1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LEGALES</a:t>
            </a:r>
          </a:p>
        </p:txBody>
      </p:sp>
      <p:sp>
        <p:nvSpPr>
          <p:cNvPr id="19" name="LEGALES_FUNDAMENTO_TITULO">
            <a:extLst xmlns:a="http://schemas.openxmlformats.org/drawingml/2006/main">
              <a:ext uri="{FF2B5EF4-FFF2-40B4-BE49-F238E27FC236}">
                <a16:creationId xmlns:a16="http://schemas.microsoft.com/office/drawing/2014/main" id="{E06B48EB-8155-4EC9-BF67-9E64D31B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819150"/>
            <a:ext cx="175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2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25" b="1">
                <a:solidFill>
                  <a:srgbClr val="9FD3C7"/>
                </a:solidFill>
              </a:rPr>
              <a:t>F U N D A M E N T O  L E G A L</a:t>
            </a:r>
          </a:p>
        </p:txBody>
      </p:sp>
      <p:sp>
        <p:nvSpPr>
          <p:cNvPr id="20" name="LEGALES_TEXTO_2">
            <a:extLst xmlns:a="http://schemas.openxmlformats.org/drawingml/2006/main">
              <a:ext uri="{FF2B5EF4-FFF2-40B4-BE49-F238E27FC236}">
                <a16:creationId xmlns:a16="http://schemas.microsoft.com/office/drawing/2014/main" id="{1F13ECC0-3543-4565-A27E-519166E7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110885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 fundamento en lo dispuesto por </a:t>
            </a:r>
          </a:p>
        </p:txBody>
      </p:sp>
      <p:sp>
        <p:nvSpPr>
          <p:cNvPr id="21" name="LEGALES_TEXTO_3">
            <a:extLst xmlns:a="http://schemas.openxmlformats.org/drawingml/2006/main">
              <a:ext uri="{FF2B5EF4-FFF2-40B4-BE49-F238E27FC236}">
                <a16:creationId xmlns:a16="http://schemas.microsoft.com/office/drawing/2014/main" id="{7C95A3E1-F2B9-4282-AA7E-94A7213E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230037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los artículos 15, fracción 50 y 177, </a:t>
            </a:r>
          </a:p>
        </p:txBody>
      </p:sp>
      <p:sp>
        <p:nvSpPr>
          <p:cNvPr id="22" name="LEGALES_TEXTO_4">
            <a:extLst xmlns:a="http://schemas.openxmlformats.org/drawingml/2006/main">
              <a:ext uri="{FF2B5EF4-FFF2-40B4-BE49-F238E27FC236}">
                <a16:creationId xmlns:a16="http://schemas.microsoft.com/office/drawing/2014/main" id="{608F814F-C881-4504-AFE1-DC45DA63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349201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fracción XVIII, de la Ley Federal de </a:t>
            </a:r>
          </a:p>
        </p:txBody>
      </p:sp>
      <p:sp>
        <p:nvSpPr>
          <p:cNvPr id="23" name="LEGALES_TEXTO_5">
            <a:extLst xmlns:a="http://schemas.openxmlformats.org/drawingml/2006/main">
              <a:ext uri="{FF2B5EF4-FFF2-40B4-BE49-F238E27FC236}">
                <a16:creationId xmlns:a16="http://schemas.microsoft.com/office/drawing/2014/main" id="{8C2F3215-FEE1-4428-979C-88AA05F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468365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Telecomunicaciones y Radiodifusión, </a:t>
            </a:r>
          </a:p>
        </p:txBody>
      </p:sp>
      <p:sp>
        <p:nvSpPr>
          <p:cNvPr id="24" name="LEGALES_TEXTO_6">
            <a:extLst xmlns:a="http://schemas.openxmlformats.org/drawingml/2006/main">
              <a:ext uri="{FF2B5EF4-FFF2-40B4-BE49-F238E27FC236}">
                <a16:creationId xmlns:a16="http://schemas.microsoft.com/office/drawing/2014/main" id="{CB5BA0CB-A125-41BE-A854-407E1F4F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587516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así como por el artículo 73, fracción </a:t>
            </a:r>
          </a:p>
        </p:txBody>
      </p:sp>
      <p:sp>
        <p:nvSpPr>
          <p:cNvPr id="25" name="LEGALES_TEXTO_7">
            <a:extLst xmlns:a="http://schemas.openxmlformats.org/drawingml/2006/main">
              <a:ext uri="{FF2B5EF4-FFF2-40B4-BE49-F238E27FC236}">
                <a16:creationId xmlns:a16="http://schemas.microsoft.com/office/drawing/2014/main" id="{6D8185FB-7965-45B1-9207-F8C763D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706681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VIII, del Estatuto Orgánico del </a:t>
            </a:r>
          </a:p>
        </p:txBody>
      </p:sp>
      <p:sp>
        <p:nvSpPr>
          <p:cNvPr id="26" name="LEGALES_TEXTO_8">
            <a:extLst xmlns:a="http://schemas.openxmlformats.org/drawingml/2006/main">
              <a:ext uri="{FF2B5EF4-FFF2-40B4-BE49-F238E27FC236}">
                <a16:creationId xmlns:a16="http://schemas.microsoft.com/office/drawing/2014/main" id="{62E27B9A-D08F-4CCB-ACF9-08C33CC7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825845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Instituto Federal de </a:t>
            </a:r>
          </a:p>
        </p:txBody>
      </p:sp>
      <p:sp>
        <p:nvSpPr>
          <p:cNvPr id="27" name="LEGALES_TEXTO_9">
            <a:extLst xmlns:a="http://schemas.openxmlformats.org/drawingml/2006/main">
              <a:ext uri="{FF2B5EF4-FFF2-40B4-BE49-F238E27FC236}">
                <a16:creationId xmlns:a16="http://schemas.microsoft.com/office/drawing/2014/main" id="{3524738D-2B40-4AB5-BE5F-CA2647E4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944996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Telecomunicaciones, la Dirección </a:t>
            </a:r>
          </a:p>
        </p:txBody>
      </p:sp>
      <p:sp>
        <p:nvSpPr>
          <p:cNvPr id="28" name="LEGALES_TEXTO_10">
            <a:extLst xmlns:a="http://schemas.openxmlformats.org/drawingml/2006/main">
              <a:ext uri="{FF2B5EF4-FFF2-40B4-BE49-F238E27FC236}">
                <a16:creationId xmlns:a16="http://schemas.microsoft.com/office/drawing/2014/main" id="{61CF7D80-DB0E-4A65-AE4C-75F95171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064160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General Adjunta de Estadística y </a:t>
            </a:r>
          </a:p>
        </p:txBody>
      </p:sp>
      <p:sp>
        <p:nvSpPr>
          <p:cNvPr id="29" name="LEGALES_TEXTO_11">
            <a:extLst xmlns:a="http://schemas.openxmlformats.org/drawingml/2006/main">
              <a:ext uri="{FF2B5EF4-FFF2-40B4-BE49-F238E27FC236}">
                <a16:creationId xmlns:a16="http://schemas.microsoft.com/office/drawing/2014/main" id="{D0D36BEC-91CA-4455-972E-9B13658C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183324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Análisis de Indicadores, adscrita a la </a:t>
            </a:r>
          </a:p>
        </p:txBody>
      </p:sp>
      <p:sp>
        <p:nvSpPr>
          <p:cNvPr id="30" name="LEGALES_TEXTO_12">
            <a:extLst xmlns:a="http://schemas.openxmlformats.org/drawingml/2006/main">
              <a:ext uri="{FF2B5EF4-FFF2-40B4-BE49-F238E27FC236}">
                <a16:creationId xmlns:a16="http://schemas.microsoft.com/office/drawing/2014/main" id="{2358C160-D046-4567-AB6C-095880E7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302476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Coordinación General de Planeación </a:t>
            </a:r>
          </a:p>
        </p:txBody>
      </p:sp>
      <p:sp>
        <p:nvSpPr>
          <p:cNvPr id="31" name="LEGALES_TEXTO_13">
            <a:extLst xmlns:a="http://schemas.openxmlformats.org/drawingml/2006/main">
              <a:ext uri="{FF2B5EF4-FFF2-40B4-BE49-F238E27FC236}">
                <a16:creationId xmlns:a16="http://schemas.microsoft.com/office/drawing/2014/main" id="{23B81FDA-1DFC-4D9B-82D7-7F1BC9F9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421640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Estratégica (CGPE), publica el </a:t>
            </a:r>
          </a:p>
        </p:txBody>
      </p:sp>
      <p:sp>
        <p:nvSpPr>
          <p:cNvPr id="32" name="LEGALES_TEXTO_14">
            <a:extLst xmlns:a="http://schemas.openxmlformats.org/drawingml/2006/main">
              <a:ext uri="{FF2B5EF4-FFF2-40B4-BE49-F238E27FC236}">
                <a16:creationId xmlns:a16="http://schemas.microsoft.com/office/drawing/2014/main" id="{20ED492E-F4FE-4A93-83FB-3087E508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540804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presente Anuario Estadístico 2024, el </a:t>
            </a:r>
          </a:p>
        </p:txBody>
      </p:sp>
      <p:sp>
        <p:nvSpPr>
          <p:cNvPr id="33" name="LEGALES_TEXTO_15">
            <a:extLst xmlns:a="http://schemas.openxmlformats.org/drawingml/2006/main">
              <a:ext uri="{FF2B5EF4-FFF2-40B4-BE49-F238E27FC236}">
                <a16:creationId xmlns:a16="http://schemas.microsoft.com/office/drawing/2014/main" id="{F33E4D73-86E0-4F09-A10C-0132FB26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659955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cual se elaboró con datos del </a:t>
            </a:r>
          </a:p>
        </p:txBody>
      </p:sp>
      <p:sp>
        <p:nvSpPr>
          <p:cNvPr id="34" name="LEGALES_TEXTO_16">
            <a:extLst xmlns:a="http://schemas.openxmlformats.org/drawingml/2006/main">
              <a:ext uri="{FF2B5EF4-FFF2-40B4-BE49-F238E27FC236}">
                <a16:creationId xmlns:a16="http://schemas.microsoft.com/office/drawing/2014/main" id="{F9D06E99-7010-4076-8203-70FA32B7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779120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Instituto Federal de </a:t>
            </a:r>
          </a:p>
        </p:txBody>
      </p:sp>
      <p:sp>
        <p:nvSpPr>
          <p:cNvPr id="35" name="LEGALES_TEXTO_17">
            <a:extLst xmlns:a="http://schemas.openxmlformats.org/drawingml/2006/main">
              <a:ext uri="{FF2B5EF4-FFF2-40B4-BE49-F238E27FC236}">
                <a16:creationId xmlns:a16="http://schemas.microsoft.com/office/drawing/2014/main" id="{BF17EFBA-F848-49D9-B9AA-F0E5BB07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898284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Telecomunicaciones (IFT), aquella </a:t>
            </a:r>
          </a:p>
        </p:txBody>
      </p:sp>
      <p:sp>
        <p:nvSpPr>
          <p:cNvPr id="36" name="LEGALES_TEXTO_18">
            <a:extLst xmlns:a="http://schemas.openxmlformats.org/drawingml/2006/main">
              <a:ext uri="{FF2B5EF4-FFF2-40B4-BE49-F238E27FC236}">
                <a16:creationId xmlns:a16="http://schemas.microsoft.com/office/drawing/2014/main" id="{D60473B6-DF71-4811-9F86-1B16BB5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017435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proporcionada por los operadores del </a:t>
            </a:r>
          </a:p>
        </p:txBody>
      </p:sp>
      <p:sp>
        <p:nvSpPr>
          <p:cNvPr id="37" name="LEGALES_TEXTO_19">
            <a:extLst xmlns:a="http://schemas.openxmlformats.org/drawingml/2006/main">
              <a:ext uri="{FF2B5EF4-FFF2-40B4-BE49-F238E27FC236}">
                <a16:creationId xmlns:a16="http://schemas.microsoft.com/office/drawing/2014/main" id="{5D599E04-EB91-43E2-BEEA-0C80BF29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136599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sector de telecomunicaciones y la </a:t>
            </a:r>
          </a:p>
        </p:txBody>
      </p:sp>
      <p:sp>
        <p:nvSpPr>
          <p:cNvPr id="38" name="LEGALES_TEXTO_20">
            <a:extLst xmlns:a="http://schemas.openxmlformats.org/drawingml/2006/main">
              <a:ext uri="{FF2B5EF4-FFF2-40B4-BE49-F238E27FC236}">
                <a16:creationId xmlns:a16="http://schemas.microsoft.com/office/drawing/2014/main" id="{15B85156-1120-46B3-B771-212B046E1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255763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publicada por el Instituto Nacional de </a:t>
            </a:r>
          </a:p>
        </p:txBody>
      </p:sp>
      <p:sp>
        <p:nvSpPr>
          <p:cNvPr id="39" name="LEGALES_TEXTO_21">
            <a:extLst xmlns:a="http://schemas.openxmlformats.org/drawingml/2006/main">
              <a:ext uri="{FF2B5EF4-FFF2-40B4-BE49-F238E27FC236}">
                <a16:creationId xmlns:a16="http://schemas.microsoft.com/office/drawing/2014/main" id="{EDEAA6A3-0DF3-4485-BE64-7F04E77F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374915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Estadística y Geografía (INEGI), la </a:t>
            </a:r>
          </a:p>
        </p:txBody>
      </p:sp>
      <p:sp>
        <p:nvSpPr>
          <p:cNvPr id="40" name="LEGALES_TEXTO_22">
            <a:extLst xmlns:a="http://schemas.openxmlformats.org/drawingml/2006/main">
              <a:ext uri="{FF2B5EF4-FFF2-40B4-BE49-F238E27FC236}">
                <a16:creationId xmlns:a16="http://schemas.microsoft.com/office/drawing/2014/main" id="{CD70AAB7-A1C7-454D-B038-F69586AA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494079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Secretaría de Economía (SE) y el </a:t>
            </a:r>
          </a:p>
        </p:txBody>
      </p:sp>
      <p:sp>
        <p:nvSpPr>
          <p:cNvPr id="41" name="LEGALES_TEXTO_23">
            <a:extLst xmlns:a="http://schemas.openxmlformats.org/drawingml/2006/main">
              <a:ext uri="{FF2B5EF4-FFF2-40B4-BE49-F238E27FC236}">
                <a16:creationId xmlns:a16="http://schemas.microsoft.com/office/drawing/2014/main" id="{4D858354-283D-4490-9549-B41DF334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613243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Consejo Nacional de Población </a:t>
            </a:r>
          </a:p>
        </p:txBody>
      </p:sp>
      <p:sp>
        <p:nvSpPr>
          <p:cNvPr id="42" name="LEGALES_TEXTO_24">
            <a:extLst xmlns:a="http://schemas.openxmlformats.org/drawingml/2006/main">
              <a:ext uri="{FF2B5EF4-FFF2-40B4-BE49-F238E27FC236}">
                <a16:creationId xmlns:a16="http://schemas.microsoft.com/office/drawing/2014/main" id="{E4F68D72-C97D-460A-A204-04A5F0FA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732394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(CONAPO). La información reportada </a:t>
            </a:r>
          </a:p>
        </p:txBody>
      </p:sp>
      <p:sp>
        <p:nvSpPr>
          <p:cNvPr id="43" name="LEGALES_TEXTO_25">
            <a:extLst xmlns:a="http://schemas.openxmlformats.org/drawingml/2006/main">
              <a:ext uri="{FF2B5EF4-FFF2-40B4-BE49-F238E27FC236}">
                <a16:creationId xmlns:a16="http://schemas.microsoft.com/office/drawing/2014/main" id="{57027F96-4EE3-4F8A-BD88-89E7FBBE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851558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está sujeta a revisiones y a </a:t>
            </a:r>
          </a:p>
        </p:txBody>
      </p:sp>
      <p:sp>
        <p:nvSpPr>
          <p:cNvPr id="44" name="LEGALES_TEXTO_26">
            <a:extLst xmlns:a="http://schemas.openxmlformats.org/drawingml/2006/main">
              <a:ext uri="{FF2B5EF4-FFF2-40B4-BE49-F238E27FC236}">
                <a16:creationId xmlns:a16="http://schemas.microsoft.com/office/drawing/2014/main" id="{6ED7E1AC-7BF4-4033-97DF-A8855D0E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970722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modificaciones derivadas de cambios </a:t>
            </a:r>
          </a:p>
        </p:txBody>
      </p:sp>
      <p:sp>
        <p:nvSpPr>
          <p:cNvPr id="45" name="LEGALES_TEXTO_27">
            <a:extLst xmlns:a="http://schemas.openxmlformats.org/drawingml/2006/main">
              <a:ext uri="{FF2B5EF4-FFF2-40B4-BE49-F238E27FC236}">
                <a16:creationId xmlns:a16="http://schemas.microsoft.com/office/drawing/2014/main" id="{A25CEC14-2BD4-40CC-94CF-15154A1A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4089874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que realizan los operadores a las </a:t>
            </a:r>
          </a:p>
        </p:txBody>
      </p:sp>
      <p:sp>
        <p:nvSpPr>
          <p:cNvPr id="46" name="LEGALES_TEXTO_28">
            <a:extLst xmlns:a="http://schemas.openxmlformats.org/drawingml/2006/main">
              <a:ext uri="{FF2B5EF4-FFF2-40B4-BE49-F238E27FC236}">
                <a16:creationId xmlns:a16="http://schemas.microsoft.com/office/drawing/2014/main" id="{08837145-28D9-45EF-8138-656AC7A5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4209038"/>
            <a:ext cx="1892300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cifras previamente reportadas.</a:t>
            </a:r>
          </a:p>
        </p:txBody>
      </p:sp>
      <p:sp>
        <p:nvSpPr>
          <p:cNvPr id="47" name="LEGALES_TEXTO_29">
            <a:extLst xmlns:a="http://schemas.openxmlformats.org/drawingml/2006/main">
              <a:ext uri="{FF2B5EF4-FFF2-40B4-BE49-F238E27FC236}">
                <a16:creationId xmlns:a16="http://schemas.microsoft.com/office/drawing/2014/main" id="{19D75855-7EC8-4D95-8186-01053033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157" y="135999"/>
            <a:ext cx="2323874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8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81" b="0" i="0">
                <a:solidFill>
                  <a:srgbClr val="CFE7E1"/>
                </a:solidFill>
                <a:latin typeface="Noto Sans"/>
                <a:ea typeface="Noto Sans"/>
                <a:cs typeface="Noto Sans"/>
              </a:rPr>
              <a:t>Para consultar información con mayor desagregación, visita</a:t>
            </a:r>
          </a:p>
        </p:txBody>
      </p:sp>
      <p:sp>
        <p:nvSpPr>
          <p:cNvPr id="48" name="LEGALES_TEXTO_30">
            <a:extLst xmlns:a="http://schemas.openxmlformats.org/drawingml/2006/main">
              <a:ext uri="{FF2B5EF4-FFF2-40B4-BE49-F238E27FC236}">
                <a16:creationId xmlns:a16="http://schemas.microsoft.com/office/drawing/2014/main" id="{AE048434-059E-43A2-80C3-21948358811C}"/>
              </a:ext>
            </a:extLst>
            <a:hlinkClick xmlns:r="http://schemas.openxmlformats.org/officeDocument/2006/relationships" xmlns:a="http://schemas.openxmlformats.org/drawingml/2006/main" r:id="R5b60e0be82104cba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880" y="225645"/>
            <a:ext cx="1896883" cy="12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BIT CRT · bit.crt.gob.mx/BitWebApp</a:t>
            </a:r>
          </a:p>
        </p:txBody>
      </p:sp>
      <p:sp>
        <p:nvSpPr>
          <p:cNvPr id="49" name="LEGALES_TEXTO_31">
            <a:extLst xmlns:a="http://schemas.openxmlformats.org/drawingml/2006/main">
              <a:ext uri="{FF2B5EF4-FFF2-40B4-BE49-F238E27FC236}">
                <a16:creationId xmlns:a16="http://schemas.microsoft.com/office/drawing/2014/main" id="{A1121D0D-9FE4-4817-A841-9F7DB85C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698146"/>
            <a:ext cx="2946400" cy="13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48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48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Usuarios de servicios de telecomunicaciones</a:t>
            </a:r>
          </a:p>
        </p:txBody>
      </p:sp>
      <p:sp>
        <p:nvSpPr>
          <p:cNvPr id="50" name="LEGALES_TEXTO_32">
            <a:extLst xmlns:a="http://schemas.openxmlformats.org/drawingml/2006/main">
              <a:ext uri="{FF2B5EF4-FFF2-40B4-BE49-F238E27FC236}">
                <a16:creationId xmlns:a16="http://schemas.microsoft.com/office/drawing/2014/main" id="{E4AE738F-454F-4A78-8C28-63DD24B8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86418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La sección de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“Usuarios de servicios de Telecomunicaciones”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se </a:t>
            </a:r>
          </a:p>
        </p:txBody>
      </p:sp>
      <p:sp>
        <p:nvSpPr>
          <p:cNvPr id="51" name="LEGALES_TEXTO_33">
            <a:extLst xmlns:a="http://schemas.openxmlformats.org/drawingml/2006/main">
              <a:ext uri="{FF2B5EF4-FFF2-40B4-BE49-F238E27FC236}">
                <a16:creationId xmlns:a16="http://schemas.microsoft.com/office/drawing/2014/main" id="{6FD85C88-57CE-4351-9F93-47D4ACFA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96461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realizó con base en la información proporcionada por la Coordinación </a:t>
            </a:r>
          </a:p>
        </p:txBody>
      </p:sp>
      <p:sp>
        <p:nvSpPr>
          <p:cNvPr id="52" name="LEGALES_TEXTO_34">
            <a:extLst xmlns:a="http://schemas.openxmlformats.org/drawingml/2006/main">
              <a:ext uri="{FF2B5EF4-FFF2-40B4-BE49-F238E27FC236}">
                <a16:creationId xmlns:a16="http://schemas.microsoft.com/office/drawing/2014/main" id="{AEC40161-D7FE-4B43-BEEC-9C9B88D5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065059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General de Política del Usuario (CGPU) del IFT, de acuerdo con la </a:t>
            </a:r>
          </a:p>
        </p:txBody>
      </p:sp>
      <p:sp>
        <p:nvSpPr>
          <p:cNvPr id="53" name="LEGALES_TEXTO_35">
            <a:extLst xmlns:a="http://schemas.openxmlformats.org/drawingml/2006/main">
              <a:ext uri="{FF2B5EF4-FFF2-40B4-BE49-F238E27FC236}">
                <a16:creationId xmlns:a16="http://schemas.microsoft.com/office/drawing/2014/main" id="{467B3509-F21B-483F-B360-7D5D4E8D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16550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publicación de los siguientes documentos: “Tercera Encuesta 2023, </a:t>
            </a:r>
          </a:p>
        </p:txBody>
      </p:sp>
      <p:sp>
        <p:nvSpPr>
          <p:cNvPr id="54" name="LEGALES_TEXTO_36">
            <a:extLst xmlns:a="http://schemas.openxmlformats.org/drawingml/2006/main">
              <a:ext uri="{FF2B5EF4-FFF2-40B4-BE49-F238E27FC236}">
                <a16:creationId xmlns:a16="http://schemas.microsoft.com/office/drawing/2014/main" id="{1C8BC33B-86ED-4FD0-A052-56178FCE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26593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Usuarios de Servicios de Telecomunicaciones, de donde se obtuvieron los </a:t>
            </a:r>
          </a:p>
        </p:txBody>
      </p:sp>
      <p:sp>
        <p:nvSpPr>
          <p:cNvPr id="55" name="LEGALES_TEXTO_37">
            <a:extLst xmlns:a="http://schemas.openxmlformats.org/drawingml/2006/main">
              <a:ext uri="{FF2B5EF4-FFF2-40B4-BE49-F238E27FC236}">
                <a16:creationId xmlns:a16="http://schemas.microsoft.com/office/drawing/2014/main" id="{1A634FFD-37AA-4936-918C-6AC34A10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36638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niveles de satisfacción que tienen las personas usuarias de los servicios </a:t>
            </a:r>
          </a:p>
        </p:txBody>
      </p:sp>
      <p:sp>
        <p:nvSpPr>
          <p:cNvPr id="56" name="LEGALES_TEXTO_38">
            <a:extLst xmlns:a="http://schemas.openxmlformats.org/drawingml/2006/main">
              <a:ext uri="{FF2B5EF4-FFF2-40B4-BE49-F238E27FC236}">
                <a16:creationId xmlns:a16="http://schemas.microsoft.com/office/drawing/2014/main" id="{239C74DE-A202-4DE6-B42A-96E30DDB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46682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de telecomunicaciones de Internet fijo, Telefonía fija, Televisión de paga y </a:t>
            </a:r>
          </a:p>
        </p:txBody>
      </p:sp>
      <p:sp>
        <p:nvSpPr>
          <p:cNvPr id="57" name="LEGALES_TEXTO_39">
            <a:extLst xmlns:a="http://schemas.openxmlformats.org/drawingml/2006/main">
              <a:ext uri="{FF2B5EF4-FFF2-40B4-BE49-F238E27FC236}">
                <a16:creationId xmlns:a16="http://schemas.microsoft.com/office/drawing/2014/main" id="{3E17EF72-3C22-484D-B66D-E027FFD3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56725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Telefonía móvil; “Cuarta Encuesta 2023, Usuarios de Servicios de </a:t>
            </a:r>
          </a:p>
        </p:txBody>
      </p:sp>
      <p:sp>
        <p:nvSpPr>
          <p:cNvPr id="58" name="LEGALES_TEXTO_40">
            <a:extLst xmlns:a="http://schemas.openxmlformats.org/drawingml/2006/main">
              <a:ext uri="{FF2B5EF4-FFF2-40B4-BE49-F238E27FC236}">
                <a16:creationId xmlns:a16="http://schemas.microsoft.com/office/drawing/2014/main" id="{F52DAF0F-C49D-400E-83B9-CC261BA2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66770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Telecomunicaciones (Micro, pequeñas y medianas empresas)”, de la que </a:t>
            </a:r>
          </a:p>
        </p:txBody>
      </p:sp>
      <p:sp>
        <p:nvSpPr>
          <p:cNvPr id="59" name="LEGALES_TEXTO_41">
            <a:extLst xmlns:a="http://schemas.openxmlformats.org/drawingml/2006/main">
              <a:ext uri="{FF2B5EF4-FFF2-40B4-BE49-F238E27FC236}">
                <a16:creationId xmlns:a16="http://schemas.microsoft.com/office/drawing/2014/main" id="{5F9C9DFE-8175-4657-8FAC-E29E1271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76814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se obtienen los niveles de satisfacción que tienen las empresas de los </a:t>
            </a:r>
          </a:p>
        </p:txBody>
      </p:sp>
      <p:sp>
        <p:nvSpPr>
          <p:cNvPr id="60" name="LEGALES_TEXTO_42">
            <a:extLst xmlns:a="http://schemas.openxmlformats.org/drawingml/2006/main">
              <a:ext uri="{FF2B5EF4-FFF2-40B4-BE49-F238E27FC236}">
                <a16:creationId xmlns:a16="http://schemas.microsoft.com/office/drawing/2014/main" id="{D64939D4-3226-4154-81CE-D9610B3E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86857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servicios de telecomunicaciones de Internet fijo, Telefonía fija, Televisión </a:t>
            </a:r>
          </a:p>
        </p:txBody>
      </p:sp>
      <p:sp>
        <p:nvSpPr>
          <p:cNvPr id="61" name="LEGALES_TEXTO_43">
            <a:extLst xmlns:a="http://schemas.openxmlformats.org/drawingml/2006/main">
              <a:ext uri="{FF2B5EF4-FFF2-40B4-BE49-F238E27FC236}">
                <a16:creationId xmlns:a16="http://schemas.microsoft.com/office/drawing/2014/main" id="{0A6E23C9-C2D6-4FCC-8969-09885012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196902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de paga y Telefonía móvil, los dispositivos que utilizan para realizar sus </a:t>
            </a:r>
          </a:p>
        </p:txBody>
      </p:sp>
      <p:sp>
        <p:nvSpPr>
          <p:cNvPr id="62" name="LEGALES_TEXTO_44">
            <a:extLst xmlns:a="http://schemas.openxmlformats.org/drawingml/2006/main">
              <a:ext uri="{FF2B5EF4-FFF2-40B4-BE49-F238E27FC236}">
                <a16:creationId xmlns:a16="http://schemas.microsoft.com/office/drawing/2014/main" id="{ED22C625-4DCE-473F-87CE-6A0EFB54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06946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actividades, los servicios de telecomunicaciones contratados por las </a:t>
            </a:r>
          </a:p>
        </p:txBody>
      </p:sp>
      <p:sp>
        <p:nvSpPr>
          <p:cNvPr id="63" name="LEGALES_TEXTO_45">
            <a:extLst xmlns:a="http://schemas.openxmlformats.org/drawingml/2006/main">
              <a:ext uri="{FF2B5EF4-FFF2-40B4-BE49-F238E27FC236}">
                <a16:creationId xmlns:a16="http://schemas.microsoft.com/office/drawing/2014/main" id="{6499F7CC-06AD-46DE-B79C-54581704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16989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MiPymes y los beneficios que perciben de los servicios de </a:t>
            </a:r>
          </a:p>
        </p:txBody>
      </p:sp>
      <p:sp>
        <p:nvSpPr>
          <p:cNvPr id="64" name="LEGALES_TEXTO_46">
            <a:extLst xmlns:a="http://schemas.openxmlformats.org/drawingml/2006/main">
              <a:ext uri="{FF2B5EF4-FFF2-40B4-BE49-F238E27FC236}">
                <a16:creationId xmlns:a16="http://schemas.microsoft.com/office/drawing/2014/main" id="{7292D786-0D04-46B0-8687-68E90782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27034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telecomunicaciones; “Contratación, percepción y uso del Internet fijo y </a:t>
            </a:r>
          </a:p>
        </p:txBody>
      </p:sp>
      <p:sp>
        <p:nvSpPr>
          <p:cNvPr id="65" name="LEGALES_TEXTO_47">
            <a:extLst xmlns:a="http://schemas.openxmlformats.org/drawingml/2006/main">
              <a:ext uri="{FF2B5EF4-FFF2-40B4-BE49-F238E27FC236}">
                <a16:creationId xmlns:a16="http://schemas.microsoft.com/office/drawing/2014/main" id="{20264679-6DF8-42F5-9ABD-E3A2AF1E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37078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Telefonía fija en las micro, pequeñas y medianas empresas (MiPymes) </a:t>
            </a:r>
          </a:p>
        </p:txBody>
      </p:sp>
      <p:sp>
        <p:nvSpPr>
          <p:cNvPr id="66" name="LEGALES_TEXTO_48">
            <a:extLst xmlns:a="http://schemas.openxmlformats.org/drawingml/2006/main">
              <a:ext uri="{FF2B5EF4-FFF2-40B4-BE49-F238E27FC236}">
                <a16:creationId xmlns:a16="http://schemas.microsoft.com/office/drawing/2014/main" id="{A42396E9-8F8F-4DE5-BA66-BA2A14A7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47121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para realizar actividades de importación y/o exportación”, del cual se </a:t>
            </a:r>
          </a:p>
        </p:txBody>
      </p:sp>
      <p:sp>
        <p:nvSpPr>
          <p:cNvPr id="67" name="LEGALES_TEXTO_49">
            <a:extLst xmlns:a="http://schemas.openxmlformats.org/drawingml/2006/main">
              <a:ext uri="{FF2B5EF4-FFF2-40B4-BE49-F238E27FC236}">
                <a16:creationId xmlns:a16="http://schemas.microsoft.com/office/drawing/2014/main" id="{272D65AD-0B0E-4CF2-AAE1-7CA49172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57166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obtuvo información de los servicios que consideran más importantes las </a:t>
            </a:r>
          </a:p>
        </p:txBody>
      </p:sp>
      <p:sp>
        <p:nvSpPr>
          <p:cNvPr id="68" name="LEGALES_TEXTO_50">
            <a:extLst xmlns:a="http://schemas.openxmlformats.org/drawingml/2006/main">
              <a:ext uri="{FF2B5EF4-FFF2-40B4-BE49-F238E27FC236}">
                <a16:creationId xmlns:a16="http://schemas.microsoft.com/office/drawing/2014/main" id="{A7B45028-B284-4E9D-974E-7FB2FBE6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67210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MiPymes para realizar sus actividades de importación y/o exportación; y </a:t>
            </a:r>
          </a:p>
        </p:txBody>
      </p:sp>
      <p:sp>
        <p:nvSpPr>
          <p:cNvPr id="69" name="LEGALES_TEXTO_51">
            <a:extLst xmlns:a="http://schemas.openxmlformats.org/drawingml/2006/main">
              <a:ext uri="{FF2B5EF4-FFF2-40B4-BE49-F238E27FC236}">
                <a16:creationId xmlns:a16="http://schemas.microsoft.com/office/drawing/2014/main" id="{FC95FC02-0B6E-43B1-85CB-2F92154B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77253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finalmente,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“Conocimiento y percepción sobre la Inteligencia </a:t>
            </a:r>
          </a:p>
        </p:txBody>
      </p:sp>
      <p:sp>
        <p:nvSpPr>
          <p:cNvPr id="70" name="LEGALES_TEXTO_52">
            <a:extLst xmlns:a="http://schemas.openxmlformats.org/drawingml/2006/main">
              <a:ext uri="{FF2B5EF4-FFF2-40B4-BE49-F238E27FC236}">
                <a16:creationId xmlns:a16="http://schemas.microsoft.com/office/drawing/2014/main" id="{80EC98BA-85D8-4AFD-BD32-1F24B52D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87298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Artificial (IA) y ChatGPT 2023”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para los principales hallazgos de la </a:t>
            </a:r>
          </a:p>
        </p:txBody>
      </p:sp>
      <p:sp>
        <p:nvSpPr>
          <p:cNvPr id="71" name="LEGALES_TEXTO_53">
            <a:extLst xmlns:a="http://schemas.openxmlformats.org/drawingml/2006/main">
              <a:ext uri="{FF2B5EF4-FFF2-40B4-BE49-F238E27FC236}">
                <a16:creationId xmlns:a16="http://schemas.microsoft.com/office/drawing/2014/main" id="{93CB2EEA-4357-4963-859F-4F13546B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297342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Inteligencia Artificial (IA) y ChatGPT.</a:t>
            </a:r>
          </a:p>
        </p:txBody>
      </p:sp>
      <p:sp>
        <p:nvSpPr>
          <p:cNvPr id="72" name="LEGALES_TEXTO_54">
            <a:extLst xmlns:a="http://schemas.openxmlformats.org/drawingml/2006/main">
              <a:ext uri="{FF2B5EF4-FFF2-40B4-BE49-F238E27FC236}">
                <a16:creationId xmlns:a16="http://schemas.microsoft.com/office/drawing/2014/main" id="{6234D4D9-5CD4-4A93-9BCF-5959B550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3520023"/>
            <a:ext cx="2946400" cy="13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48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48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Tecnologías de la Información y Comunicación (TIC)</a:t>
            </a:r>
          </a:p>
        </p:txBody>
      </p:sp>
      <p:sp>
        <p:nvSpPr>
          <p:cNvPr id="73" name="LEGALES_TEXTO_55">
            <a:extLst xmlns:a="http://schemas.openxmlformats.org/drawingml/2006/main">
              <a:ext uri="{FF2B5EF4-FFF2-40B4-BE49-F238E27FC236}">
                <a16:creationId xmlns:a16="http://schemas.microsoft.com/office/drawing/2014/main" id="{5DCC1703-A843-488B-ADC6-0B2B564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368570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Para la sección de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“Tecnologías de la Información y Comunicación </a:t>
            </a:r>
          </a:p>
        </p:txBody>
      </p:sp>
      <p:sp>
        <p:nvSpPr>
          <p:cNvPr id="74" name="LEGALES_TEXTO_56">
            <a:extLst xmlns:a="http://schemas.openxmlformats.org/drawingml/2006/main">
              <a:ext uri="{FF2B5EF4-FFF2-40B4-BE49-F238E27FC236}">
                <a16:creationId xmlns:a16="http://schemas.microsoft.com/office/drawing/2014/main" id="{C58A70E0-D0BB-46E2-B798-D08C91B8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378613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(TIC)”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se utilizó información de la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“Encuesta Nacional sobre </a:t>
            </a:r>
          </a:p>
        </p:txBody>
      </p:sp>
      <p:sp>
        <p:nvSpPr>
          <p:cNvPr id="75" name="LEGALES_TEXTO_57">
            <a:extLst xmlns:a="http://schemas.openxmlformats.org/drawingml/2006/main">
              <a:ext uri="{FF2B5EF4-FFF2-40B4-BE49-F238E27FC236}">
                <a16:creationId xmlns:a16="http://schemas.microsoft.com/office/drawing/2014/main" id="{874BA817-93AA-461A-96E0-21ABAFE9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388658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Disponibilidad y Uso de Tecnologías de la Información en los </a:t>
            </a:r>
          </a:p>
        </p:txBody>
      </p:sp>
      <p:sp>
        <p:nvSpPr>
          <p:cNvPr id="76" name="LEGALES_TEXTO_58">
            <a:extLst xmlns:a="http://schemas.openxmlformats.org/drawingml/2006/main">
              <a:ext uri="{FF2B5EF4-FFF2-40B4-BE49-F238E27FC236}">
                <a16:creationId xmlns:a16="http://schemas.microsoft.com/office/drawing/2014/main" id="{54259248-885B-444B-97AD-5D72EE24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398702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Hogares (ENDUTIH) 2023”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para obtener la disponibilidad de las TIC en </a:t>
            </a:r>
          </a:p>
        </p:txBody>
      </p:sp>
      <p:sp>
        <p:nvSpPr>
          <p:cNvPr id="77" name="LEGALES_TEXTO_59">
            <a:extLst xmlns:a="http://schemas.openxmlformats.org/drawingml/2006/main">
              <a:ext uri="{FF2B5EF4-FFF2-40B4-BE49-F238E27FC236}">
                <a16:creationId xmlns:a16="http://schemas.microsoft.com/office/drawing/2014/main" id="{63783503-A25A-4874-A398-D7F5A75D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08745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los hogares, el uso de </a:t>
            </a:r>
            <a:r>
              <a:rPr sz="600" b="0" i="1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Smartphone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e Internet por grupos de edad, el </a:t>
            </a:r>
          </a:p>
        </p:txBody>
      </p:sp>
      <p:sp>
        <p:nvSpPr>
          <p:cNvPr id="78" name="LEGALES_TEXTO_60">
            <a:extLst xmlns:a="http://schemas.openxmlformats.org/drawingml/2006/main">
              <a:ext uri="{FF2B5EF4-FFF2-40B4-BE49-F238E27FC236}">
                <a16:creationId xmlns:a16="http://schemas.microsoft.com/office/drawing/2014/main" id="{89CAA21E-26B7-41C7-930C-C208CF22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18790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porcentaje de horas promedio de uso de Internet por grupos de edad y el </a:t>
            </a:r>
          </a:p>
        </p:txBody>
      </p:sp>
      <p:sp>
        <p:nvSpPr>
          <p:cNvPr id="79" name="LEGALES_TEXTO_61">
            <a:extLst xmlns:a="http://schemas.openxmlformats.org/drawingml/2006/main">
              <a:ext uri="{FF2B5EF4-FFF2-40B4-BE49-F238E27FC236}">
                <a16:creationId xmlns:a16="http://schemas.microsoft.com/office/drawing/2014/main" id="{402944B1-8F18-452B-A2CB-203ECD63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28834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uso de dispositivos inteligentes conectados a Internet; para los efectos de </a:t>
            </a:r>
          </a:p>
        </p:txBody>
      </p:sp>
      <p:sp>
        <p:nvSpPr>
          <p:cNvPr id="80" name="LEGALES_TEXTO_62">
            <a:extLst xmlns:a="http://schemas.openxmlformats.org/drawingml/2006/main">
              <a:ext uri="{FF2B5EF4-FFF2-40B4-BE49-F238E27FC236}">
                <a16:creationId xmlns:a16="http://schemas.microsoft.com/office/drawing/2014/main" id="{015CBCF2-2A54-4EAC-806D-8D5654BF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38877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la desconfianza en Internet sobre las actividades en línea de los usuarios </a:t>
            </a:r>
          </a:p>
        </p:txBody>
      </p:sp>
      <p:sp>
        <p:nvSpPr>
          <p:cNvPr id="81" name="LEGALES_TEXTO_63">
            <a:extLst xmlns:a="http://schemas.openxmlformats.org/drawingml/2006/main">
              <a:ext uri="{FF2B5EF4-FFF2-40B4-BE49-F238E27FC236}">
                <a16:creationId xmlns:a16="http://schemas.microsoft.com/office/drawing/2014/main" id="{174D32EB-2058-4884-9DFA-FE5FD0D8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48922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y la percepción o grado de desconfianza que tienen las personas al hacer </a:t>
            </a:r>
          </a:p>
        </p:txBody>
      </p:sp>
      <p:sp>
        <p:nvSpPr>
          <p:cNvPr id="82" name="LEGALES_TEXTO_64">
            <a:extLst xmlns:a="http://schemas.openxmlformats.org/drawingml/2006/main">
              <a:ext uri="{FF2B5EF4-FFF2-40B4-BE49-F238E27FC236}">
                <a16:creationId xmlns:a16="http://schemas.microsoft.com/office/drawing/2014/main" id="{B6D9C307-668A-4F2B-9909-6B2F3D23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58966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el uso del Internet se consultó la Encuesta de Confianza Servicio de </a:t>
            </a:r>
          </a:p>
        </p:txBody>
      </p:sp>
      <p:sp>
        <p:nvSpPr>
          <p:cNvPr id="83" name="LEGALES_TEXTO_65">
            <a:extLst xmlns:a="http://schemas.openxmlformats.org/drawingml/2006/main">
              <a:ext uri="{FF2B5EF4-FFF2-40B4-BE49-F238E27FC236}">
                <a16:creationId xmlns:a16="http://schemas.microsoft.com/office/drawing/2014/main" id="{553CD496-F665-44C3-A9E2-19ACC4BC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175" y="469009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Internet (ECSI) 2024 del IFT.</a:t>
            </a:r>
          </a:p>
        </p:txBody>
      </p:sp>
      <p:sp>
        <p:nvSpPr>
          <p:cNvPr id="84" name="LEGALES_TEXTO_66">
            <a:extLst xmlns:a="http://schemas.openxmlformats.org/drawingml/2006/main">
              <a:ext uri="{FF2B5EF4-FFF2-40B4-BE49-F238E27FC236}">
                <a16:creationId xmlns:a16="http://schemas.microsoft.com/office/drawing/2014/main" id="{D31411B6-7FF1-4573-A4DE-05DE8423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698146"/>
            <a:ext cx="2946400" cy="13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48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48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Indicadores con perspectiva de género</a:t>
            </a:r>
          </a:p>
        </p:txBody>
      </p:sp>
      <p:sp>
        <p:nvSpPr>
          <p:cNvPr id="85" name="LEGALES_TEXTO_67">
            <a:extLst xmlns:a="http://schemas.openxmlformats.org/drawingml/2006/main">
              <a:ext uri="{FF2B5EF4-FFF2-40B4-BE49-F238E27FC236}">
                <a16:creationId xmlns:a16="http://schemas.microsoft.com/office/drawing/2014/main" id="{4615CCDC-A12B-40EC-9027-6F9AB766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86418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La sección de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“Indicadores con perspectiva de género”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se realizó </a:t>
            </a:r>
          </a:p>
        </p:txBody>
      </p:sp>
      <p:sp>
        <p:nvSpPr>
          <p:cNvPr id="86" name="LEGALES_TEXTO_68">
            <a:extLst xmlns:a="http://schemas.openxmlformats.org/drawingml/2006/main">
              <a:ext uri="{FF2B5EF4-FFF2-40B4-BE49-F238E27FC236}">
                <a16:creationId xmlns:a16="http://schemas.microsoft.com/office/drawing/2014/main" id="{44036247-F94D-46A0-B27D-F819A9F8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96461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con información obtenida de la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“ENDUTIH 2023”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, la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“Encuesta </a:t>
            </a:r>
          </a:p>
        </p:txBody>
      </p:sp>
      <p:sp>
        <p:nvSpPr>
          <p:cNvPr id="87" name="LEGALES_TEXTO_69">
            <a:extLst xmlns:a="http://schemas.openxmlformats.org/drawingml/2006/main">
              <a:ext uri="{FF2B5EF4-FFF2-40B4-BE49-F238E27FC236}">
                <a16:creationId xmlns:a16="http://schemas.microsoft.com/office/drawing/2014/main" id="{18E797FC-7C07-4216-98B4-B52984A3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065059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Nacional de Ocupación y Empleo (ENOE) 2024”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y el Módulo sobre </a:t>
            </a:r>
          </a:p>
        </p:txBody>
      </p:sp>
      <p:sp>
        <p:nvSpPr>
          <p:cNvPr id="88" name="LEGALES_TEXTO_70">
            <a:extLst xmlns:a="http://schemas.openxmlformats.org/drawingml/2006/main">
              <a:ext uri="{FF2B5EF4-FFF2-40B4-BE49-F238E27FC236}">
                <a16:creationId xmlns:a16="http://schemas.microsoft.com/office/drawing/2014/main" id="{A3C6FA5F-01B5-44AB-AE30-55796084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16550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Ciberacoso (MOCIBA) 2023 del INEGI, así como de la Tercera Encuesta </a:t>
            </a:r>
          </a:p>
        </p:txBody>
      </p:sp>
      <p:sp>
        <p:nvSpPr>
          <p:cNvPr id="89" name="LEGALES_TEXTO_71">
            <a:extLst xmlns:a="http://schemas.openxmlformats.org/drawingml/2006/main">
              <a:ext uri="{FF2B5EF4-FFF2-40B4-BE49-F238E27FC236}">
                <a16:creationId xmlns:a16="http://schemas.microsoft.com/office/drawing/2014/main" id="{7C467844-57DD-44AD-B89E-DC6D75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26593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2023, Usuarios de Servicios de Telecomunicaciones de CGPU .</a:t>
            </a:r>
          </a:p>
        </p:txBody>
      </p:sp>
      <p:sp>
        <p:nvSpPr>
          <p:cNvPr id="90" name="LEGALES_TEXTO_72">
            <a:extLst xmlns:a="http://schemas.openxmlformats.org/drawingml/2006/main">
              <a:ext uri="{FF2B5EF4-FFF2-40B4-BE49-F238E27FC236}">
                <a16:creationId xmlns:a16="http://schemas.microsoft.com/office/drawing/2014/main" id="{BD1FBA6A-BABF-40C7-9392-81C8C0DE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581228"/>
            <a:ext cx="2946400" cy="13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48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48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Panorama de consumo de televisión y radio</a:t>
            </a:r>
          </a:p>
        </p:txBody>
      </p:sp>
      <p:sp>
        <p:nvSpPr>
          <p:cNvPr id="91" name="LEGALES_TEXTO_73">
            <a:extLst xmlns:a="http://schemas.openxmlformats.org/drawingml/2006/main">
              <a:ext uri="{FF2B5EF4-FFF2-40B4-BE49-F238E27FC236}">
                <a16:creationId xmlns:a16="http://schemas.microsoft.com/office/drawing/2014/main" id="{C240A1AD-1990-4EFF-8DBF-F851D4BC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74726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La sección de </a:t>
            </a:r>
            <a:r>
              <a:rPr sz="600" b="1" i="0">
                <a:solidFill>
                  <a:srgbClr val="1F6F66"/>
                </a:solidFill>
                <a:latin typeface="Noto Sans"/>
                <a:ea typeface="Noto Sans"/>
                <a:cs typeface="Noto Sans"/>
              </a:rPr>
              <a:t>“Panorama de Consumo de Televisión y Radio”</a:t>
            </a: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 fue </a:t>
            </a:r>
          </a:p>
        </p:txBody>
      </p:sp>
      <p:sp>
        <p:nvSpPr>
          <p:cNvPr id="92" name="LEGALES_TEXTO_74">
            <a:extLst xmlns:a="http://schemas.openxmlformats.org/drawingml/2006/main">
              <a:ext uri="{FF2B5EF4-FFF2-40B4-BE49-F238E27FC236}">
                <a16:creationId xmlns:a16="http://schemas.microsoft.com/office/drawing/2014/main" id="{156F81B9-A05A-47C3-9363-5D5943BA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847697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generada por la Unidad de Medios y Contenidos Audiovisuales del </a:t>
            </a:r>
          </a:p>
        </p:txBody>
      </p:sp>
      <p:sp>
        <p:nvSpPr>
          <p:cNvPr id="93" name="LEGALES_TEXTO_75">
            <a:extLst xmlns:a="http://schemas.openxmlformats.org/drawingml/2006/main">
              <a:ext uri="{FF2B5EF4-FFF2-40B4-BE49-F238E27FC236}">
                <a16:creationId xmlns:a16="http://schemas.microsoft.com/office/drawing/2014/main" id="{B9710AFD-3D44-4C42-A664-1C6E2FE9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1948141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Instituto Federal de Telecomunicaciones, a partir de datos recopilados a </a:t>
            </a:r>
          </a:p>
        </p:txBody>
      </p:sp>
      <p:sp>
        <p:nvSpPr>
          <p:cNvPr id="94" name="LEGALES_TEXTO_76">
            <a:extLst xmlns:a="http://schemas.openxmlformats.org/drawingml/2006/main">
              <a:ext uri="{FF2B5EF4-FFF2-40B4-BE49-F238E27FC236}">
                <a16:creationId xmlns:a16="http://schemas.microsoft.com/office/drawing/2014/main" id="{629CF789-2DE9-4EAE-9AAE-CD1573B5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04858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través de muestreo por la empresa Nielsen IBOPE México S.A. de C.V. </a:t>
            </a:r>
          </a:p>
        </p:txBody>
      </p:sp>
      <p:sp>
        <p:nvSpPr>
          <p:cNvPr id="95" name="LEGALES_TEXTO_77">
            <a:extLst xmlns:a="http://schemas.openxmlformats.org/drawingml/2006/main">
              <a:ext uri="{FF2B5EF4-FFF2-40B4-BE49-F238E27FC236}">
                <a16:creationId xmlns:a16="http://schemas.microsoft.com/office/drawing/2014/main" id="{D2CF7B25-53B2-4110-B8FC-BBA164B3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149017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(Nielsen IBOPE) e Investigación de Mercados INRA, por lo cual la </a:t>
            </a:r>
          </a:p>
        </p:txBody>
      </p:sp>
      <p:sp>
        <p:nvSpPr>
          <p:cNvPr id="96" name="LEGALES_TEXTO_78">
            <a:extLst xmlns:a="http://schemas.openxmlformats.org/drawingml/2006/main">
              <a:ext uri="{FF2B5EF4-FFF2-40B4-BE49-F238E27FC236}">
                <a16:creationId xmlns:a16="http://schemas.microsoft.com/office/drawing/2014/main" id="{B9000ACF-949B-4FE7-856B-FA85A9EF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249461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información presentada debe ser considerada como estimaciones. Se le </a:t>
            </a:r>
          </a:p>
        </p:txBody>
      </p:sp>
      <p:sp>
        <p:nvSpPr>
          <p:cNvPr id="97" name="LEGALES_TEXTO_79">
            <a:extLst xmlns:a="http://schemas.openxmlformats.org/drawingml/2006/main">
              <a:ext uri="{FF2B5EF4-FFF2-40B4-BE49-F238E27FC236}">
                <a16:creationId xmlns:a16="http://schemas.microsoft.com/office/drawing/2014/main" id="{7CCE6EA6-CDF9-4AE4-B481-792D3212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34990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recomienda al lector consultar el Anexo: Definiciones para su mejor </a:t>
            </a:r>
          </a:p>
        </p:txBody>
      </p:sp>
      <p:sp>
        <p:nvSpPr>
          <p:cNvPr id="98" name="LEGALES_TEXTO_80">
            <a:extLst xmlns:a="http://schemas.openxmlformats.org/drawingml/2006/main">
              <a:ext uri="{FF2B5EF4-FFF2-40B4-BE49-F238E27FC236}">
                <a16:creationId xmlns:a16="http://schemas.microsoft.com/office/drawing/2014/main" id="{07F3746D-D964-49E2-9C37-B094463B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450337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interpretación.</a:t>
            </a:r>
          </a:p>
        </p:txBody>
      </p:sp>
      <p:sp>
        <p:nvSpPr>
          <p:cNvPr id="99" name="LEGALES_TEXTO_81">
            <a:extLst xmlns:a="http://schemas.openxmlformats.org/drawingml/2006/main">
              <a:ext uri="{FF2B5EF4-FFF2-40B4-BE49-F238E27FC236}">
                <a16:creationId xmlns:a16="http://schemas.microsoft.com/office/drawing/2014/main" id="{0705E1B7-D2EC-43CE-84C0-D32278AA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724952"/>
            <a:ext cx="2946400" cy="13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48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48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Notas sobre audiencias de televisión (Nielsen IBOPE)</a:t>
            </a:r>
          </a:p>
        </p:txBody>
      </p:sp>
      <p:sp>
        <p:nvSpPr>
          <p:cNvPr id="100" name="LEGALES_TEXTO_82">
            <a:extLst xmlns:a="http://schemas.openxmlformats.org/drawingml/2006/main">
              <a:ext uri="{FF2B5EF4-FFF2-40B4-BE49-F238E27FC236}">
                <a16:creationId xmlns:a16="http://schemas.microsoft.com/office/drawing/2014/main" id="{D8BA4F0A-5054-424A-8C6B-1EB1CBFB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89085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La información que contiene el presente reporte en cuanto a su análisis e </a:t>
            </a:r>
          </a:p>
        </p:txBody>
      </p:sp>
      <p:sp>
        <p:nvSpPr>
          <p:cNvPr id="101" name="LEGALES_TEXTO_83">
            <a:extLst xmlns:a="http://schemas.openxmlformats.org/drawingml/2006/main">
              <a:ext uri="{FF2B5EF4-FFF2-40B4-BE49-F238E27FC236}">
                <a16:creationId xmlns:a16="http://schemas.microsoft.com/office/drawing/2014/main" id="{DE77F7C0-8FCA-49D6-8B07-2EB34C31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298979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interpretación fue realizada bajo la responsabilidad del Instituto Federal </a:t>
            </a:r>
          </a:p>
        </p:txBody>
      </p:sp>
      <p:sp>
        <p:nvSpPr>
          <p:cNvPr id="102" name="LEGALES_TEXTO_84">
            <a:extLst xmlns:a="http://schemas.openxmlformats.org/drawingml/2006/main">
              <a:ext uri="{FF2B5EF4-FFF2-40B4-BE49-F238E27FC236}">
                <a16:creationId xmlns:a16="http://schemas.microsoft.com/office/drawing/2014/main" id="{E47B8FD3-F41A-474A-8078-1EEDE80E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08873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de Telecomunicaciones (IFT) con información de audiencias propiedad de </a:t>
            </a:r>
          </a:p>
        </p:txBody>
      </p:sp>
      <p:sp>
        <p:nvSpPr>
          <p:cNvPr id="103" name="LEGALES_TEXTO_85">
            <a:extLst xmlns:a="http://schemas.openxmlformats.org/drawingml/2006/main">
              <a:ext uri="{FF2B5EF4-FFF2-40B4-BE49-F238E27FC236}">
                <a16:creationId xmlns:a16="http://schemas.microsoft.com/office/drawing/2014/main" id="{2600AE3C-89A2-4429-B1F7-63CD6E20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18765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Nielsen IBOPE México, S.A. De C.V. Bajo los términos contractuales del </a:t>
            </a:r>
          </a:p>
        </p:txBody>
      </p:sp>
      <p:sp>
        <p:nvSpPr>
          <p:cNvPr id="104" name="LEGALES_TEXTO_86">
            <a:extLst xmlns:a="http://schemas.openxmlformats.org/drawingml/2006/main">
              <a:ext uri="{FF2B5EF4-FFF2-40B4-BE49-F238E27FC236}">
                <a16:creationId xmlns:a16="http://schemas.microsoft.com/office/drawing/2014/main" id="{6D381704-7446-4964-AE66-5460B39F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28659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licenciamiento de las Bases de datos de audiencias de televisión, Nielsen </a:t>
            </a:r>
          </a:p>
        </p:txBody>
      </p:sp>
      <p:sp>
        <p:nvSpPr>
          <p:cNvPr id="105" name="LEGALES_TEXTO_87">
            <a:extLst xmlns:a="http://schemas.openxmlformats.org/drawingml/2006/main">
              <a:ext uri="{FF2B5EF4-FFF2-40B4-BE49-F238E27FC236}">
                <a16:creationId xmlns:a16="http://schemas.microsoft.com/office/drawing/2014/main" id="{D33530D2-EDEA-4610-9529-09441555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38553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IBOPE México, S.A. De C.V. ha validado al IFT que la información </a:t>
            </a:r>
          </a:p>
        </p:txBody>
      </p:sp>
      <p:sp>
        <p:nvSpPr>
          <p:cNvPr id="106" name="LEGALES_TEXTO_88">
            <a:extLst xmlns:a="http://schemas.openxmlformats.org/drawingml/2006/main">
              <a:ext uri="{FF2B5EF4-FFF2-40B4-BE49-F238E27FC236}">
                <a16:creationId xmlns:a16="http://schemas.microsoft.com/office/drawing/2014/main" id="{6E9D6700-BF1F-4066-9D50-0680827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484456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estadística de audiencias de televisión contenida en el mencionado </a:t>
            </a:r>
          </a:p>
        </p:txBody>
      </p:sp>
      <p:sp>
        <p:nvSpPr>
          <p:cNvPr id="107" name="LEGALES_TEXTO_89">
            <a:extLst xmlns:a="http://schemas.openxmlformats.org/drawingml/2006/main">
              <a:ext uri="{FF2B5EF4-FFF2-40B4-BE49-F238E27FC236}">
                <a16:creationId xmlns:a16="http://schemas.microsoft.com/office/drawing/2014/main" id="{78A4BF30-D981-4932-8ED5-DC4863B7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583393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reporte concuerda con aquellas bases de datos licenciadas al IFT por </a:t>
            </a:r>
          </a:p>
        </p:txBody>
      </p:sp>
      <p:sp>
        <p:nvSpPr>
          <p:cNvPr id="108" name="LEGALES_TEXTO_90">
            <a:extLst xmlns:a="http://schemas.openxmlformats.org/drawingml/2006/main">
              <a:ext uri="{FF2B5EF4-FFF2-40B4-BE49-F238E27FC236}">
                <a16:creationId xmlns:a16="http://schemas.microsoft.com/office/drawing/2014/main" id="{72EC4A6F-3ED2-4E58-AFD0-DE94CCF8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682331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Nielsen IBOPE México, S.A. De C.V.</a:t>
            </a:r>
          </a:p>
        </p:txBody>
      </p:sp>
      <p:sp>
        <p:nvSpPr>
          <p:cNvPr id="109" name="LEGALES_TEXTO_91">
            <a:extLst xmlns:a="http://schemas.openxmlformats.org/drawingml/2006/main">
              <a:ext uri="{FF2B5EF4-FFF2-40B4-BE49-F238E27FC236}">
                <a16:creationId xmlns:a16="http://schemas.microsoft.com/office/drawing/2014/main" id="{3F2B4ADB-6731-4B15-8BCF-82CACFDA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831257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El Instituto Federal de Telecomunicaciones recuerda al lector que al </a:t>
            </a:r>
          </a:p>
        </p:txBody>
      </p:sp>
      <p:sp>
        <p:nvSpPr>
          <p:cNvPr id="110" name="LEGALES_TEXTO_92">
            <a:extLst xmlns:a="http://schemas.openxmlformats.org/drawingml/2006/main">
              <a:ext uri="{FF2B5EF4-FFF2-40B4-BE49-F238E27FC236}">
                <a16:creationId xmlns:a16="http://schemas.microsoft.com/office/drawing/2014/main" id="{5288253F-5212-4F87-89BF-7C8921D8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3930194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momento de realizar análisis de la información contenida en la presente </a:t>
            </a:r>
          </a:p>
        </p:txBody>
      </p:sp>
      <p:sp>
        <p:nvSpPr>
          <p:cNvPr id="111" name="LEGALES_TEXTO_93">
            <a:extLst xmlns:a="http://schemas.openxmlformats.org/drawingml/2006/main">
              <a:ext uri="{FF2B5EF4-FFF2-40B4-BE49-F238E27FC236}">
                <a16:creationId xmlns:a16="http://schemas.microsoft.com/office/drawing/2014/main" id="{345A5E08-26AF-4BD5-9C20-3E0213E5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029119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publicación debe tomar en cuenta la existencia de distintos factores de </a:t>
            </a:r>
          </a:p>
        </p:txBody>
      </p:sp>
      <p:sp>
        <p:nvSpPr>
          <p:cNvPr id="112" name="LEGALES_TEXTO_94">
            <a:extLst xmlns:a="http://schemas.openxmlformats.org/drawingml/2006/main">
              <a:ext uri="{FF2B5EF4-FFF2-40B4-BE49-F238E27FC236}">
                <a16:creationId xmlns:a16="http://schemas.microsoft.com/office/drawing/2014/main" id="{121D9F6A-D871-4639-B011-EDDF2D8B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128057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cambio en el mercado televisivo, así como en el estudio de medición de </a:t>
            </a:r>
          </a:p>
        </p:txBody>
      </p:sp>
      <p:sp>
        <p:nvSpPr>
          <p:cNvPr id="113" name="LEGALES_TEXTO_95">
            <a:extLst xmlns:a="http://schemas.openxmlformats.org/drawingml/2006/main">
              <a:ext uri="{FF2B5EF4-FFF2-40B4-BE49-F238E27FC236}">
                <a16:creationId xmlns:a16="http://schemas.microsoft.com/office/drawing/2014/main" id="{8434DF72-DFAD-4AE4-96A9-4821245C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22699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audiencias de Nielsen IBOPE México, para las conclusiones que se </a:t>
            </a:r>
          </a:p>
        </p:txBody>
      </p:sp>
      <p:sp>
        <p:nvSpPr>
          <p:cNvPr id="114" name="LEGALES_TEXTO_96">
            <a:extLst xmlns:a="http://schemas.openxmlformats.org/drawingml/2006/main">
              <a:ext uri="{FF2B5EF4-FFF2-40B4-BE49-F238E27FC236}">
                <a16:creationId xmlns:a16="http://schemas.microsoft.com/office/drawing/2014/main" id="{529DBD6F-2A47-4BD2-A5F0-B06022B4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32592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formulen con la información reportada en los documentos que emita el </a:t>
            </a:r>
          </a:p>
        </p:txBody>
      </p:sp>
      <p:sp>
        <p:nvSpPr>
          <p:cNvPr id="115" name="LEGALES_TEXTO_97">
            <a:extLst xmlns:a="http://schemas.openxmlformats.org/drawingml/2006/main">
              <a:ext uri="{FF2B5EF4-FFF2-40B4-BE49-F238E27FC236}">
                <a16:creationId xmlns:a16="http://schemas.microsoft.com/office/drawing/2014/main" id="{F978ADF3-A783-4EE0-8C9D-A8A89471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424857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Instituto por distintos periodos. El Instituto Federal de </a:t>
            </a:r>
          </a:p>
        </p:txBody>
      </p:sp>
      <p:sp>
        <p:nvSpPr>
          <p:cNvPr id="116" name="LEGALES_TEXTO_98">
            <a:extLst xmlns:a="http://schemas.openxmlformats.org/drawingml/2006/main">
              <a:ext uri="{FF2B5EF4-FFF2-40B4-BE49-F238E27FC236}">
                <a16:creationId xmlns:a16="http://schemas.microsoft.com/office/drawing/2014/main" id="{852B498E-F1A1-41F3-9B39-504CEE4B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523795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Telecomunicaciones, derivado de su relación comercial con Nielsen IBOPE </a:t>
            </a:r>
          </a:p>
        </p:txBody>
      </p:sp>
      <p:sp>
        <p:nvSpPr>
          <p:cNvPr id="117" name="LEGALES_TEXTO_99">
            <a:extLst xmlns:a="http://schemas.openxmlformats.org/drawingml/2006/main">
              <a:ext uri="{FF2B5EF4-FFF2-40B4-BE49-F238E27FC236}">
                <a16:creationId xmlns:a16="http://schemas.microsoft.com/office/drawing/2014/main" id="{B58804A9-499F-43A9-8244-2F2FFA63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622720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México, S.A. De C.V. no se hace responsable de la interpretación que </a:t>
            </a:r>
          </a:p>
        </p:txBody>
      </p:sp>
      <p:sp>
        <p:nvSpPr>
          <p:cNvPr id="118" name="LEGALES_TEXTO_100">
            <a:extLst xmlns:a="http://schemas.openxmlformats.org/drawingml/2006/main">
              <a:ext uri="{FF2B5EF4-FFF2-40B4-BE49-F238E27FC236}">
                <a16:creationId xmlns:a16="http://schemas.microsoft.com/office/drawing/2014/main" id="{462D49E8-51DE-40AF-B2E6-14D566BE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175" y="4721658"/>
            <a:ext cx="29464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0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terceras personas puedan hacer sobre los datos publicados.</a:t>
            </a:r>
          </a:p>
        </p:txBody>
      </p:sp>
      <p:sp>
        <p:nvSpPr>
          <p:cNvPr id="119" name="ANUARIO_PAGE_NUMBER">
            <a:extLst xmlns:a="http://schemas.openxmlformats.org/drawingml/2006/main">
              <a:ext uri="{FF2B5EF4-FFF2-40B4-BE49-F238E27FC236}">
                <a16:creationId xmlns:a16="http://schemas.microsoft.com/office/drawing/2014/main" id="{15C8D55E-458C-4FD9-96A3-BD990063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019040"/>
            <a:ext cx="254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0" name="LEGALES_EDICION_PIE">
            <a:extLst xmlns:a="http://schemas.openxmlformats.org/drawingml/2006/main">
              <a:ext uri="{FF2B5EF4-FFF2-40B4-BE49-F238E27FC236}">
                <a16:creationId xmlns:a16="http://schemas.microsoft.com/office/drawing/2014/main" id="{4D88EDE6-3043-49E6-BCA2-CBDBB9DB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040"/>
            <a:ext cx="200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65">
                <a:solidFill>
                  <a:srgbClr val="FFFFFF"/>
                </a:solidFill>
              </a:rPr>
              <a:t>A N U A R I O   E S T A D Í S T I C O   2 0 2 6</a:t>
            </a:r>
          </a:p>
        </p:txBody>
      </p:sp>
    </p:spTree>
    <p:extLst>
      <p:ext uri="{BB962C8B-B14F-4D97-AF65-F5344CB8AC3E}">
        <p14:creationId xmlns:p14="http://schemas.microsoft.com/office/powerpoint/2010/main" val="1569216563"/>
      </p:ext>
    </p:extLst>
  </p:cSld>
</p:sld>
</file>

<file path=ppt/slides/slide4.xml><?xml version="1.0" encoding="utf-8"?>
<p:sld xmlns:p="http://schemas.openxmlformats.org/presentationml/2006/main" showMasterSp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5d72c38924a16"/>
          <a:srcRect xmlns:a="http://schemas.openxmlformats.org/drawingml/2006/main" l="0" t="37" r="0" b="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3644" cy="456844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44f1c6cb476e"/>
          <a:srcRect xmlns:a="http://schemas.openxmlformats.org/drawingml/2006/main" l="0" t="156" r="0" b="1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4990683"/>
            <a:ext cx="9143644" cy="151917"/>
          </a:xfrm>
          <a:prstGeom xmlns:a="http://schemas.openxmlformats.org/drawingml/2006/main" prst="rect">
            <a:avLst/>
          </a:prstGeom>
        </p:spPr>
      </p:pic>
      <p:sp>
        <p:nvSpPr>
          <p:cNvPr id="3" name="ANUARIO_QR_FONDO">
            <a:extLst xmlns:a="http://schemas.openxmlformats.org/drawingml/2006/main">
              <a:ext uri="{FF2B5EF4-FFF2-40B4-BE49-F238E27FC236}">
                <a16:creationId xmlns:a16="http://schemas.microsoft.com/office/drawing/2014/main" id="{EE1B343B-CBB7-4ADB-A4DD-3473AA5B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100" y="50800"/>
            <a:ext cx="355600" cy="355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79ff6ee7f4af1"/>
          <a:stretch xmlns:a="http://schemas.openxmlformats.org/drawingml/2006/main"/>
        </p:blipFill>
        <p:spPr>
          <a:xfrm xmlns:a="http://schemas.openxmlformats.org/drawingml/2006/main">
            <a:off x="7810564" y="75961"/>
            <a:ext cx="304559" cy="304559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98c0e75084c3d"/>
          <a:stretch xmlns:a="http://schemas.openxmlformats.org/drawingml/2006/main"/>
        </p:blipFill>
        <p:spPr>
          <a:xfrm xmlns:a="http://schemas.openxmlformats.org/drawingml/2006/main">
            <a:off x="8294782" y="75961"/>
            <a:ext cx="542115" cy="304559"/>
          </a:xfrm>
          <a:prstGeom xmlns:a="http://schemas.openxmlformats.org/drawingml/2006/main" prst="rect">
            <a:avLst/>
          </a:prstGeom>
        </p:spPr>
      </p:pic>
      <p:sp>
        <p:nvSpPr>
          <p:cNvPr id="6" name="ANUARIO_TITULO">
            <a:extLst xmlns:a="http://schemas.openxmlformats.org/drawingml/2006/main">
              <a:ext uri="{FF2B5EF4-FFF2-40B4-BE49-F238E27FC236}">
                <a16:creationId xmlns:a16="http://schemas.microsoft.com/office/drawing/2014/main" id="{E13A28F4-B26D-46B7-A110-4EE4FA2E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270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LEGALES</a:t>
            </a:r>
          </a:p>
        </p:txBody>
      </p:sp>
      <p:sp>
        <p:nvSpPr>
          <p:cNvPr id="7" name="ANUARIO_ENCABEZADO_1">
            <a:extLst xmlns:a="http://schemas.openxmlformats.org/drawingml/2006/main">
              <a:ext uri="{FF2B5EF4-FFF2-40B4-BE49-F238E27FC236}">
                <a16:creationId xmlns:a16="http://schemas.microsoft.com/office/drawing/2014/main" id="{C4F4D267-61DF-4126-BBDD-0A466628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157" y="135999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581" b="0">
                <a:solidFill>
                  <a:srgbClr val="CFE7E1"/>
                </a:solidFill>
                <a:latin typeface="Noto Sans"/>
                <a:ea typeface="Noto Sans"/>
                <a:cs typeface="Noto Sans"/>
              </a:rPr>
              <a:t>Para consultar información con mayor desagregación, visita</a:t>
            </a:r>
          </a:p>
        </p:txBody>
      </p:sp>
      <p:sp>
        <p:nvSpPr>
          <p:cNvPr id="8" name="ANUARIO_ENCABEZADO_2">
            <a:extLst xmlns:a="http://schemas.openxmlformats.org/drawingml/2006/main">
              <a:ext uri="{FF2B5EF4-FFF2-40B4-BE49-F238E27FC236}">
                <a16:creationId xmlns:a16="http://schemas.microsoft.com/office/drawing/2014/main" id="{5B40B105-5F7E-4F78-8C44-8648894E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880" y="225645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44a62cbf7b934b2e"/>
              </a:rPr>
              <a:t>BIT CRT · bit.crt.gob.mx/BitWebApp</a:t>
            </a:r>
          </a:p>
        </p:txBody>
      </p:sp>
      <p:sp>
        <p:nvSpPr>
          <p:cNvPr id="9" name="ANUARIO_PAGE_NUMBER">
            <a:extLst xmlns:a="http://schemas.openxmlformats.org/drawingml/2006/main">
              <a:ext uri="{FF2B5EF4-FFF2-40B4-BE49-F238E27FC236}">
                <a16:creationId xmlns:a16="http://schemas.microsoft.com/office/drawing/2014/main" id="{33691248-A250-49AD-A4F7-917A83E6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019040"/>
            <a:ext cx="254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4</a:t>
            </a:r>
          </a:p>
        </p:txBody>
      </p:sp>
      <p:sp>
        <p:nvSpPr>
          <p:cNvPr id="10" name="ANUARIO_EDICION_PIE">
            <a:extLst xmlns:a="http://schemas.openxmlformats.org/drawingml/2006/main">
              <a:ext uri="{FF2B5EF4-FFF2-40B4-BE49-F238E27FC236}">
                <a16:creationId xmlns:a16="http://schemas.microsoft.com/office/drawing/2014/main" id="{A167F292-1B2D-4E85-8DB7-8EFF6FC0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040"/>
            <a:ext cx="200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5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565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 N U A R I O   E S T A D Í S T I C O   2 0 2 6</a:t>
            </a:r>
          </a:p>
        </p:txBody>
      </p:sp>
      <p:sp xmlns:a="http://schemas.openxmlformats.org/drawingml/2006/main">
        <p:nvSpPr>
          <p:cNvPr id="16" name="ANUARIO_LEGALES_CONT_DESIGN_2026"/>
          <p:cNvSpPr txBox="1"/>
          <p:nvPr/>
        </p:nvSpPr>
        <p:spPr>
          <a:xfrm>
            <a:off x="2709365" y="947629"/>
            <a:ext cx="6023154" cy="1357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Adicional a estas consideraciones, es importante mencionar que el año 2016 se identifica como un periodo de adaptación para los hogares frente a </a:t>
            </a:r>
          </a:p>
        </p:txBody>
      </p:sp>
      <p:sp xmlns:a="http://schemas.openxmlformats.org/drawingml/2006/main">
        <p:nvSpPr>
          <p:cNvPr id="17" name="ANUARIO_REFERENCIA_2024_P4_L002"/>
          <p:cNvSpPr txBox="1"/>
          <p:nvPr/>
        </p:nvSpPr>
        <p:spPr>
          <a:xfrm>
            <a:off x="2709365" y="1050181"/>
            <a:ext cx="6023154" cy="1357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los cambios presentados por el apagón analógico; por lo cual no podrá ser comparado con el total de los años anteriores, ni realizar comparaciones </a:t>
            </a:r>
          </a:p>
        </p:txBody>
      </p:sp>
      <p:sp xmlns:a="http://schemas.openxmlformats.org/drawingml/2006/main">
        <p:nvSpPr>
          <p:cNvPr id="18" name="ANUARIO_REFERENCIA_2024_P4_L003"/>
          <p:cNvSpPr txBox="1"/>
          <p:nvPr/>
        </p:nvSpPr>
        <p:spPr>
          <a:xfrm>
            <a:off x="2709365" y="1152732"/>
            <a:ext cx="423832" cy="1357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lineales.</a:t>
            </a:r>
          </a:p>
        </p:txBody>
      </p:sp>
      <p:sp xmlns:a="http://schemas.openxmlformats.org/drawingml/2006/main">
        <p:nvSpPr>
          <p:cNvPr id="19" name="ANUARIO_REFERENCIA_2024_P4_L004"/>
          <p:cNvSpPr txBox="1"/>
          <p:nvPr/>
        </p:nvSpPr>
        <p:spPr>
          <a:xfrm>
            <a:off x="2709365" y="1357836"/>
            <a:ext cx="6023154" cy="1357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También es importante considerar que en los análisis realizados a partir del 2017 y 2018 las Bases de Datos que contienen información de audiencias </a:t>
            </a:r>
          </a:p>
        </p:txBody>
      </p:sp>
      <p:sp xmlns:a="http://schemas.openxmlformats.org/drawingml/2006/main">
        <p:nvSpPr>
          <p:cNvPr id="20" name="ANUARIO_REFERENCIA_2024_P4_L005"/>
          <p:cNvSpPr txBox="1"/>
          <p:nvPr/>
        </p:nvSpPr>
        <p:spPr>
          <a:xfrm>
            <a:off x="2709365" y="1460388"/>
            <a:ext cx="6023154" cy="13576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de televisión, son un producto nuevo mediante el cual Nielsen IBOPE compila su información y que son distintas de aquellas que hasta el año </a:t>
            </a:r>
          </a:p>
        </p:txBody>
      </p:sp>
      <p:sp xmlns:a="http://schemas.openxmlformats.org/drawingml/2006/main">
        <p:nvSpPr>
          <p:cNvPr id="21" name="ANUARIO_REFERENCIA_2024_P4_L006"/>
          <p:cNvSpPr txBox="1"/>
          <p:nvPr/>
        </p:nvSpPr>
        <p:spPr>
          <a:xfrm>
            <a:off x="2709365" y="1562939"/>
            <a:ext cx="6023154" cy="135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2016 pudo haber licenciado al IFT, esto ya que a partir del 1 de enero de 2017 se cuenta con nuevos elementos para su definición y asignación, </a:t>
            </a:r>
          </a:p>
        </p:txBody>
      </p:sp>
      <p:sp xmlns:a="http://schemas.openxmlformats.org/drawingml/2006/main">
        <p:nvSpPr>
          <p:cNvPr id="22" name="ANUARIO_REFERENCIA_2024_P4_L007"/>
          <p:cNvSpPr txBox="1"/>
          <p:nvPr/>
        </p:nvSpPr>
        <p:spPr>
          <a:xfrm>
            <a:off x="2709365" y="1665491"/>
            <a:ext cx="6023154" cy="135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como son los aspectos tecnológicos y de definición de hogares; por lo cual no podrá ser comparado con el total de los años anteriores, ni realizar </a:t>
            </a:r>
          </a:p>
        </p:txBody>
      </p:sp>
      <p:sp xmlns:a="http://schemas.openxmlformats.org/drawingml/2006/main">
        <p:nvSpPr>
          <p:cNvPr id="23" name="ANUARIO_REFERENCIA_2024_P4_L008"/>
          <p:cNvSpPr txBox="1"/>
          <p:nvPr/>
        </p:nvSpPr>
        <p:spPr>
          <a:xfrm>
            <a:off x="2709365" y="1768043"/>
            <a:ext cx="1073208" cy="135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comparaciones lineales.</a:t>
            </a:r>
          </a:p>
        </p:txBody>
      </p:sp>
      <p:sp xmlns:a="http://schemas.openxmlformats.org/drawingml/2006/main">
        <p:nvSpPr>
          <p:cNvPr id="24" name="ANUARIO_REFERENCIA_2024_P4_L009"/>
          <p:cNvSpPr txBox="1"/>
          <p:nvPr/>
        </p:nvSpPr>
        <p:spPr>
          <a:xfrm>
            <a:off x="2709365" y="1973146"/>
            <a:ext cx="6023154" cy="135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El lector puede consultar las recomendaciones respecto al uso de la información propiedad de Nielsen IBOPE México, S.A. De C.V. contenidas en </a:t>
            </a:r>
          </a:p>
        </p:txBody>
      </p:sp>
      <p:sp xmlns:a="http://schemas.openxmlformats.org/drawingml/2006/main">
        <p:nvSpPr>
          <p:cNvPr id="25" name="ANUARIO_REFERENCIA_2024_P4_L010"/>
          <p:cNvSpPr txBox="1"/>
          <p:nvPr/>
        </p:nvSpPr>
        <p:spPr>
          <a:xfrm>
            <a:off x="2709365" y="2075698"/>
            <a:ext cx="6023154" cy="135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1C2829"/>
                </a:solidFill>
                <a:latin typeface="Noto Sans"/>
              </a:rPr>
              <a:t>la “Guía para el uso de datos de audiencia Nielsen IBOPE México” que puede descargar descargar en </a:t>
            </a:r>
            <a:r>
              <a:rPr sz="688" b="0" i="0">
                <a:solidFill>
                  <a:srgbClr val="0563C1"/>
                </a:solidFill>
                <a:latin typeface="Noto Sans"/>
              </a:rPr>
              <a:t>https://www.nielsenibope.com/wp-content/</a:t>
            </a:r>
          </a:p>
        </p:txBody>
      </p:sp>
      <p:sp xmlns:a="http://schemas.openxmlformats.org/drawingml/2006/main">
        <p:nvSpPr>
          <p:cNvPr id="26" name="ANUARIO_REFERENCIA_2024_P4_L011"/>
          <p:cNvSpPr txBox="1"/>
          <p:nvPr/>
        </p:nvSpPr>
        <p:spPr>
          <a:xfrm>
            <a:off x="2709365" y="2178249"/>
            <a:ext cx="3098689" cy="13576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88" b="0" i="0">
                <a:solidFill>
                  <a:srgbClr val="0563C1"/>
                </a:solidFill>
                <a:latin typeface="Noto Sans"/>
              </a:rPr>
              <a:t>uploads/sites/14/2020/08/Gui%CC%81a-de-uso-de-datos-NIM-2020.pdf</a:t>
            </a:r>
            <a:r>
              <a:rPr sz="688" b="0" i="0">
                <a:solidFill>
                  <a:srgbClr val="1C2829"/>
                </a:solidFill>
                <a:latin typeface="Noto 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097902"/>
      </p:ext>
    </p:extLst>
  </p:cSld>
  <p:clrMapOvr>
    <ns0:overrideClrMapping xmlns:ns0="http://schemas.openxmlformats.org/drawingml/2006/main" bg1="lt1" tx1="dk1" bg2="lt2" tx2="dk2" accent1="accent1" accent2="accent2" accent3="accent3" accent4="accent4" accent5="accent5" accent6="accent6" hlink="lt1" folHlink="lt1"/>
  </p:clrMapOvr>
</p:sld>
</file>

<file path=ppt/slides/slide5.xml><?xml version="1.0" encoding="utf-8"?>
<p:sld xmlns:p="http://schemas.openxmlformats.org/presentationml/2006/main" showMasterSp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c2a94fb7504565"/>
          <a:srcRect xmlns:a="http://schemas.openxmlformats.org/drawingml/2006/main" l="5315" t="0" r="53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3644" cy="511556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ec0800dab470a"/>
          <a:srcRect xmlns:a="http://schemas.openxmlformats.org/drawingml/2006/main" l="8254" t="0" r="82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4960431"/>
            <a:ext cx="9143644" cy="182525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1366084f1421c"/>
          <a:stretch xmlns:a="http://schemas.openxmlformats.org/drawingml/2006/main"/>
        </p:blipFill>
        <p:spPr>
          <a:xfrm xmlns:a="http://schemas.openxmlformats.org/drawingml/2006/main">
            <a:off x="7772400" y="63731"/>
            <a:ext cx="383756" cy="383756"/>
          </a:xfrm>
          <a:prstGeom xmlns:a="http://schemas.openxmlformats.org/drawingml/2006/main" prst="rect">
            <a:avLst/>
          </a:prstGeom>
        </p:spPr>
      </p:pic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bbdc5925644f1f"/>
          <a:stretch xmlns:a="http://schemas.openxmlformats.org/drawingml/2006/main"/>
        </p:blipFill>
        <p:spPr>
          <a:xfrm xmlns:a="http://schemas.openxmlformats.org/drawingml/2006/main">
            <a:off x="8275629" y="91074"/>
            <a:ext cx="593385" cy="333362"/>
          </a:xfrm>
          <a:prstGeom xmlns:a="http://schemas.openxmlformats.org/drawingml/2006/main" prst="rect">
            <a:avLst/>
          </a:prstGeom>
        </p:spPr>
      </p:pic>
      <p:sp>
        <p:nvSpPr>
          <p:cNvPr id="5" name="ANUARIO_TITULO">
            <a:extLst xmlns:a="http://schemas.openxmlformats.org/drawingml/2006/main">
              <a:ext uri="{FF2B5EF4-FFF2-40B4-BE49-F238E27FC236}">
                <a16:creationId xmlns:a16="http://schemas.microsoft.com/office/drawing/2014/main" id="{A52027BC-6A47-44A1-AAA5-072193A5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27000"/>
            <a:ext cx="266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0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7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GLOSARIO</a:t>
            </a:r>
          </a:p>
        </p:txBody>
      </p:sp>
      <p:sp>
        <p:nvSpPr>
          <p:cNvPr id="6" name="ANUARIO_ENCABEZADO_1">
            <a:extLst xmlns:a="http://schemas.openxmlformats.org/drawingml/2006/main">
              <a:ext uri="{FF2B5EF4-FFF2-40B4-BE49-F238E27FC236}">
                <a16:creationId xmlns:a16="http://schemas.microsoft.com/office/drawing/2014/main" id="{ECE57C74-B73B-4552-96C1-368EF002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157" y="135999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81" b="0">
                <a:solidFill>
                  <a:srgbClr val="CFE7E1"/>
                </a:solidFill>
                <a:latin typeface="Noto Sans"/>
                <a:ea typeface="Noto Sans"/>
                <a:cs typeface="Noto Sans"/>
              </a:rPr>
              <a:t>Para consultar información con mayor desagregación, visita</a:t>
            </a:r>
          </a:p>
        </p:txBody>
      </p:sp>
      <p:sp>
        <p:nvSpPr>
          <p:cNvPr id="7" name="ANUARIO_ENCABEZADO_2">
            <a:extLst xmlns:a="http://schemas.openxmlformats.org/drawingml/2006/main">
              <a:ext uri="{FF2B5EF4-FFF2-40B4-BE49-F238E27FC236}">
                <a16:creationId xmlns:a16="http://schemas.microsoft.com/office/drawing/2014/main" id="{CD640ADB-FF74-4F25-BE94-FCCC658A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880" y="225645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063e77096b704b59"/>
              </a:rPr>
              <a:t>BIT CRT · bit.crt.gob.mx/BitWebApp</a:t>
            </a:r>
          </a:p>
        </p:txBody>
      </p:sp>
      <p:sp>
        <p:nvSpPr>
          <p:cNvPr id="8" name="GLOSARIO_LATERAL_RECTO">
            <a:extLst xmlns:a="http://schemas.openxmlformats.org/drawingml/2006/main">
              <a:ext uri="{FF2B5EF4-FFF2-40B4-BE49-F238E27FC236}">
                <a16:creationId xmlns:a16="http://schemas.microsoft.com/office/drawing/2014/main" id="{699C2FCA-C9C4-4AF6-ABA6-D6F2BFCD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2840"/>
            <a:ext cx="170180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9E6"/>
          </a:solidFill>
          <a:ln xmlns:a="http://schemas.openxmlformats.org/drawingml/2006/main" w="0">
            <a:noFill/>
          </a:ln>
        </p:spPr>
      </p:sp>
      <p:sp>
        <p:nvSpPr>
          <p:cNvPr id="9" name="GLOSARIO_LATERAL_REDONDEADO">
            <a:extLst xmlns:a="http://schemas.openxmlformats.org/drawingml/2006/main">
              <a:ext uri="{FF2B5EF4-FFF2-40B4-BE49-F238E27FC236}">
                <a16:creationId xmlns:a16="http://schemas.microsoft.com/office/drawing/2014/main" id="{0AC81507-881F-4EDF-BB67-8DF3A811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200" y="1032840"/>
            <a:ext cx="683844" cy="3657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E9E6"/>
          </a:solidFill>
          <a:ln xmlns:a="http://schemas.openxmlformats.org/drawingml/2006/main" w="0">
            <a:noFill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7ecf3039b54788"/>
          <a:stretch xmlns:a="http://schemas.openxmlformats.org/drawingml/2006/main"/>
        </p:blipFill>
        <p:spPr>
          <a:xfrm xmlns:a="http://schemas.openxmlformats.org/drawingml/2006/main">
            <a:off x="508000" y="736600"/>
            <a:ext cx="1079500" cy="1003300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af74a4db24cd7">
            <a:alphaModFix amt="13000"/>
          </a:blip>
          <a:stretch xmlns:a="http://schemas.openxmlformats.org/drawingml/2006/main"/>
        </p:blipFill>
        <p:spPr>
          <a:xfrm xmlns:a="http://schemas.openxmlformats.org/drawingml/2006/main">
            <a:off x="159712" y="1654558"/>
            <a:ext cx="2360048" cy="745922"/>
          </a:xfrm>
          <a:prstGeom xmlns:a="http://schemas.openxmlformats.org/drawingml/2006/main" prst="rect">
            <a:avLst/>
          </a:prstGeom>
        </p:spPr>
      </p:pic>
      <p:sp>
        <p:nvSpPr>
          <p:cNvPr id="12" name="GLOSARIO_ROTULO_LATERAL">
            <a:extLst xmlns:a="http://schemas.openxmlformats.org/drawingml/2006/main">
              <a:ext uri="{FF2B5EF4-FFF2-40B4-BE49-F238E27FC236}">
                <a16:creationId xmlns:a16="http://schemas.microsoft.com/office/drawing/2014/main" id="{0E6172A9-F67F-4B8E-90F9-C32B5388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960" y="1737004"/>
            <a:ext cx="2149196" cy="530631"/>
          </a:xfrm>
          <a:prstGeom xmlns:a="http://schemas.openxmlformats.org/drawingml/2006/main" prst="roundRect">
            <a:avLst>
              <a:gd name="adj" fmla="val 28721"/>
            </a:avLst>
          </a:prstGeom>
          <a:solidFill xmlns:a="http://schemas.openxmlformats.org/drawingml/2006/main">
            <a:srgbClr val="F7FAF9"/>
          </a:solidFill>
          <a:ln xmlns:a="http://schemas.openxmlformats.org/drawingml/2006/main" w="0">
            <a:noFill/>
          </a:ln>
        </p:spPr>
      </p:sp>
      <p:sp>
        <p:nvSpPr>
          <p:cNvPr id="13" name="GLOSARIO_LATERAL_TITULO">
            <a:extLst xmlns:a="http://schemas.openxmlformats.org/drawingml/2006/main">
              <a:ext uri="{FF2B5EF4-FFF2-40B4-BE49-F238E27FC236}">
                <a16:creationId xmlns:a16="http://schemas.microsoft.com/office/drawing/2014/main" id="{141D10EE-5C75-47C0-B92C-5F63A861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960" y="1737004"/>
            <a:ext cx="2149196" cy="530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550" b="1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GLOSARIO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da56c66264122">
            <a:alphaModFix amt="13000"/>
          </a:blip>
          <a:stretch xmlns:a="http://schemas.openxmlformats.org/drawingml/2006/main"/>
        </p:blipFill>
        <p:spPr>
          <a:xfrm xmlns:a="http://schemas.openxmlformats.org/drawingml/2006/main">
            <a:off x="2454834" y="606313"/>
            <a:ext cx="6519240" cy="620496"/>
          </a:xfrm>
          <a:prstGeom xmlns:a="http://schemas.openxmlformats.org/drawingml/2006/main" prst="rect">
            <a:avLst/>
          </a:prstGeom>
        </p:spPr>
      </p:pic>
      <p:sp>
        <p:nvSpPr>
          <p:cNvPr id="15" name="GLOSARIO_RECUADRO_TITULO">
            <a:extLst xmlns:a="http://schemas.openxmlformats.org/drawingml/2006/main">
              <a:ext uri="{FF2B5EF4-FFF2-40B4-BE49-F238E27FC236}">
                <a16:creationId xmlns:a16="http://schemas.microsoft.com/office/drawing/2014/main" id="{1A92E49E-789C-4286-A024-BA5584A5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596" y="685444"/>
            <a:ext cx="6309728" cy="411836"/>
          </a:xfrm>
          <a:prstGeom xmlns:a="http://schemas.openxmlformats.org/drawingml/2006/main" prst="roundRect">
            <a:avLst>
              <a:gd name="adj" fmla="val 215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FE8E6"/>
            </a:solidFill>
          </a:ln>
        </p:spPr>
      </p:sp>
      <p:sp>
        <p:nvSpPr>
          <p:cNvPr id="16" name="GLOSARIO_TITULO_CONTENIDO">
            <a:extLst xmlns:a="http://schemas.openxmlformats.org/drawingml/2006/main">
              <a:ext uri="{FF2B5EF4-FFF2-40B4-BE49-F238E27FC236}">
                <a16:creationId xmlns:a16="http://schemas.microsoft.com/office/drawing/2014/main" id="{0C260FF1-6926-4D51-98D7-271F4E65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564" y="792480"/>
            <a:ext cx="58293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Siglas y Acrónimos utilizados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c2e78d6345bf">
            <a:alphaModFix amt="13000"/>
          </a:blip>
          <a:stretch xmlns:a="http://schemas.openxmlformats.org/drawingml/2006/main"/>
        </p:blipFill>
        <p:spPr>
          <a:xfrm xmlns:a="http://schemas.openxmlformats.org/drawingml/2006/main">
            <a:off x="2456153" y="1218605"/>
            <a:ext cx="6516601" cy="3757676"/>
          </a:xfrm>
          <a:prstGeom xmlns:a="http://schemas.openxmlformats.org/drawingml/2006/main" prst="rect">
            <a:avLst/>
          </a:prstGeom>
        </p:spPr>
      </p:pic>
      <p:sp>
        <p:nvSpPr>
          <p:cNvPr id="18" name="ANUARIO_GLOSARIO_DESIGN_2026">
            <a:extLst xmlns:a="http://schemas.openxmlformats.org/drawingml/2006/main">
              <a:ext uri="{FF2B5EF4-FFF2-40B4-BE49-F238E27FC236}">
                <a16:creationId xmlns:a16="http://schemas.microsoft.com/office/drawing/2014/main" id="{48BA1C1B-8330-4327-9FCE-B139C29F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596" y="1298156"/>
            <a:ext cx="6309728" cy="3548164"/>
          </a:xfrm>
          <a:prstGeom xmlns:a="http://schemas.openxmlformats.org/drawingml/2006/main" prst="roundRect">
            <a:avLst>
              <a:gd name="adj" fmla="val 2506"/>
            </a:avLst>
          </a:prstGeom>
          <a:solidFill xmlns:a="http://schemas.openxmlformats.org/drawingml/2006/main">
            <a:srgbClr val="F7FAF9"/>
          </a:solidFill>
          <a:ln xmlns:a="http://schemas.openxmlformats.org/drawingml/2006/main" w="6350">
            <a:solidFill>
              <a:srgbClr val="DFE8E6"/>
            </a:solidFill>
          </a:ln>
        </p:spPr>
      </p:sp>
      <p:sp>
        <p:nvSpPr>
          <p:cNvPr id="19" name="GLOSARIO_DIVISOR_COLUMNAS">
            <a:extLst xmlns:a="http://schemas.openxmlformats.org/drawingml/2006/main">
              <a:ext uri="{FF2B5EF4-FFF2-40B4-BE49-F238E27FC236}">
                <a16:creationId xmlns:a16="http://schemas.microsoft.com/office/drawing/2014/main" id="{98822660-0FB6-438D-AE91-8F863314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35100"/>
            <a:ext cx="63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20" name="GLOSARIO_left_1_1">
            <a:extLst xmlns:a="http://schemas.openxmlformats.org/drawingml/2006/main">
              <a:ext uri="{FF2B5EF4-FFF2-40B4-BE49-F238E27FC236}">
                <a16:creationId xmlns:a16="http://schemas.microsoft.com/office/drawing/2014/main" id="{D2E84C62-40C7-4290-8F1D-BDCC6C29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4224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ARPU: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Ingreso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promedio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suscriptor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Average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Revenue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</a:p>
        </p:txBody>
      </p:sp>
      <p:sp>
        <p:nvSpPr>
          <p:cNvPr id="21" name="GLOSARIO_left_1_2">
            <a:extLst xmlns:a="http://schemas.openxmlformats.org/drawingml/2006/main">
              <a:ext uri="{FF2B5EF4-FFF2-40B4-BE49-F238E27FC236}">
                <a16:creationId xmlns:a16="http://schemas.microsoft.com/office/drawing/2014/main" id="{30652296-330A-4FAC-A15A-D8FBCE00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5341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ARPU)</a:t>
            </a:r>
          </a:p>
        </p:txBody>
      </p:sp>
      <p:sp>
        <p:nvSpPr>
          <p:cNvPr id="22" name="GLOSARIO_left_2_1">
            <a:extLst xmlns:a="http://schemas.openxmlformats.org/drawingml/2006/main">
              <a:ext uri="{FF2B5EF4-FFF2-40B4-BE49-F238E27FC236}">
                <a16:creationId xmlns:a16="http://schemas.microsoft.com/office/drawing/2014/main" id="{071C1390-31F8-4B69-AAD9-43F652A3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7348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BARD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GOOGLE: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Modelo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lenguaje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</a:p>
        </p:txBody>
      </p:sp>
      <p:sp>
        <p:nvSpPr>
          <p:cNvPr id="23" name="GLOSARIO_left_2_2">
            <a:extLst xmlns:a="http://schemas.openxmlformats.org/drawingml/2006/main">
              <a:ext uri="{FF2B5EF4-FFF2-40B4-BE49-F238E27FC236}">
                <a16:creationId xmlns:a16="http://schemas.microsoft.com/office/drawing/2014/main" id="{EEC876AC-76F1-4063-9597-B1F5984C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8465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(IA)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búsqueda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misma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página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Google</a:t>
            </a:r>
          </a:p>
        </p:txBody>
      </p:sp>
      <p:sp>
        <p:nvSpPr>
          <p:cNvPr id="24" name="GLOSARIO_left_3_1">
            <a:extLst xmlns:a="http://schemas.openxmlformats.org/drawingml/2006/main">
              <a:ext uri="{FF2B5EF4-FFF2-40B4-BE49-F238E27FC236}">
                <a16:creationId xmlns:a16="http://schemas.microsoft.com/office/drawing/2014/main" id="{78C9500A-426C-4134-A665-7DDE8E46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0472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BEAUTIFUL.AI: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Herramienta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presentación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</a:p>
        </p:txBody>
      </p:sp>
      <p:sp>
        <p:nvSpPr>
          <p:cNvPr id="25" name="GLOSARIO_left_3_2">
            <a:extLst xmlns:a="http://schemas.openxmlformats.org/drawingml/2006/main">
              <a:ext uri="{FF2B5EF4-FFF2-40B4-BE49-F238E27FC236}">
                <a16:creationId xmlns:a16="http://schemas.microsoft.com/office/drawing/2014/main" id="{113D92FC-BFBB-4B46-89CF-860F59A5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1590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</a:p>
        </p:txBody>
      </p:sp>
      <p:sp>
        <p:nvSpPr>
          <p:cNvPr id="26" name="GLOSARIO_left_4_1">
            <a:extLst xmlns:a="http://schemas.openxmlformats.org/drawingml/2006/main">
              <a:ext uri="{FF2B5EF4-FFF2-40B4-BE49-F238E27FC236}">
                <a16:creationId xmlns:a16="http://schemas.microsoft.com/office/drawing/2014/main" id="{A623A67D-3CA0-48C2-BC55-A11A4C8E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3596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BIT: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Banco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</a:p>
        </p:txBody>
      </p:sp>
      <p:sp>
        <p:nvSpPr>
          <p:cNvPr id="27" name="GLOSARIO_left_5_1">
            <a:extLst xmlns:a="http://schemas.openxmlformats.org/drawingml/2006/main">
              <a:ext uri="{FF2B5EF4-FFF2-40B4-BE49-F238E27FC236}">
                <a16:creationId xmlns:a16="http://schemas.microsoft.com/office/drawing/2014/main" id="{39A0E94F-063D-4270-8C59-957AA6D6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5603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BRAND24: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Software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monitorear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identificar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eventos</a:t>
            </a:r>
          </a:p>
        </p:txBody>
      </p:sp>
      <p:sp>
        <p:nvSpPr>
          <p:cNvPr id="28" name="GLOSARIO_left_5_2">
            <a:extLst xmlns:a="http://schemas.openxmlformats.org/drawingml/2006/main">
              <a:ext uri="{FF2B5EF4-FFF2-40B4-BE49-F238E27FC236}">
                <a16:creationId xmlns:a16="http://schemas.microsoft.com/office/drawing/2014/main" id="{0914911E-23EA-45D3-8B23-C5CF11DE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6720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relacionados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redes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sociales</a:t>
            </a:r>
          </a:p>
        </p:txBody>
      </p:sp>
      <p:sp>
        <p:nvSpPr>
          <p:cNvPr id="29" name="GLOSARIO_left_6_1">
            <a:extLst xmlns:a="http://schemas.openxmlformats.org/drawingml/2006/main">
              <a:ext uri="{FF2B5EF4-FFF2-40B4-BE49-F238E27FC236}">
                <a16:creationId xmlns:a16="http://schemas.microsoft.com/office/drawing/2014/main" id="{D2C5D36A-B9F7-4821-86A5-0F9149E4A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8727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CANVA: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Web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diseño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gráfico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composición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imágenes</a:t>
            </a:r>
          </a:p>
        </p:txBody>
      </p:sp>
      <p:sp>
        <p:nvSpPr>
          <p:cNvPr id="30" name="GLOSARIO_left_7_1">
            <a:extLst xmlns:a="http://schemas.openxmlformats.org/drawingml/2006/main">
              <a:ext uri="{FF2B5EF4-FFF2-40B4-BE49-F238E27FC236}">
                <a16:creationId xmlns:a16="http://schemas.microsoft.com/office/drawing/2014/main" id="{B6202D1B-723D-482A-8CB6-6F8BA8F3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0734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CONAPO: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Consejo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Población</a:t>
            </a:r>
          </a:p>
        </p:txBody>
      </p:sp>
      <p:sp>
        <p:nvSpPr>
          <p:cNvPr id="31" name="GLOSARIO_left_8_1">
            <a:extLst xmlns:a="http://schemas.openxmlformats.org/drawingml/2006/main">
              <a:ext uri="{FF2B5EF4-FFF2-40B4-BE49-F238E27FC236}">
                <a16:creationId xmlns:a16="http://schemas.microsoft.com/office/drawing/2014/main" id="{704296A2-A02D-4998-8265-C9E12157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2740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CGPE: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Coordinación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Planeación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Estratégica</a:t>
            </a:r>
          </a:p>
        </p:txBody>
      </p:sp>
      <p:sp>
        <p:nvSpPr>
          <p:cNvPr id="32" name="GLOSARIO_left_9_1">
            <a:extLst xmlns:a="http://schemas.openxmlformats.org/drawingml/2006/main">
              <a:ext uri="{FF2B5EF4-FFF2-40B4-BE49-F238E27FC236}">
                <a16:creationId xmlns:a16="http://schemas.microsoft.com/office/drawing/2014/main" id="{4D97EECB-4D8F-48E3-90A5-9E7B2E33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4747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CGPU: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Coordinación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Política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Usuario</a:t>
            </a:r>
          </a:p>
        </p:txBody>
      </p:sp>
      <p:sp>
        <p:nvSpPr>
          <p:cNvPr id="33" name="GLOSARIO_left_10_1">
            <a:extLst xmlns:a="http://schemas.openxmlformats.org/drawingml/2006/main">
              <a:ext uri="{FF2B5EF4-FFF2-40B4-BE49-F238E27FC236}">
                <a16:creationId xmlns:a16="http://schemas.microsoft.com/office/drawing/2014/main" id="{792FAAF8-9AC2-4CBA-B81B-54B850F3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6753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CHATGPT: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Transformador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generativo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pre-entrenado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Chat</a:t>
            </a:r>
          </a:p>
        </p:txBody>
      </p:sp>
      <p:sp>
        <p:nvSpPr>
          <p:cNvPr id="34" name="GLOSARIO_left_10_2">
            <a:extLst xmlns:a="http://schemas.openxmlformats.org/drawingml/2006/main">
              <a:ext uri="{FF2B5EF4-FFF2-40B4-BE49-F238E27FC236}">
                <a16:creationId xmlns:a16="http://schemas.microsoft.com/office/drawing/2014/main" id="{5E005B0F-6756-43CD-902B-628938E1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7871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Generative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Pre-Trained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Transformer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inglés)</a:t>
            </a:r>
          </a:p>
        </p:txBody>
      </p:sp>
      <p:sp>
        <p:nvSpPr>
          <p:cNvPr id="35" name="GLOSARIO_left_11_1">
            <a:extLst xmlns:a="http://schemas.openxmlformats.org/drawingml/2006/main">
              <a:ext uri="{FF2B5EF4-FFF2-40B4-BE49-F238E27FC236}">
                <a16:creationId xmlns:a16="http://schemas.microsoft.com/office/drawing/2014/main" id="{56321304-CD8C-4028-9F86-45BE92FC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9878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DENUE: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Directorio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Estadístico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Económicas</a:t>
            </a:r>
          </a:p>
        </p:txBody>
      </p:sp>
      <p:sp>
        <p:nvSpPr>
          <p:cNvPr id="36" name="GLOSARIO_left_12_1">
            <a:extLst xmlns:a="http://schemas.openxmlformats.org/drawingml/2006/main">
              <a:ext uri="{FF2B5EF4-FFF2-40B4-BE49-F238E27FC236}">
                <a16:creationId xmlns:a16="http://schemas.microsoft.com/office/drawing/2014/main" id="{076C8C86-41EA-4950-98E3-1B2ACC5B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41884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DSL: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Línea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suscripción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digital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Digital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Suscriber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Line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</a:p>
        </p:txBody>
      </p:sp>
      <p:sp>
        <p:nvSpPr>
          <p:cNvPr id="37" name="GLOSARIO_left_12_2">
            <a:extLst xmlns:a="http://schemas.openxmlformats.org/drawingml/2006/main">
              <a:ext uri="{FF2B5EF4-FFF2-40B4-BE49-F238E27FC236}">
                <a16:creationId xmlns:a16="http://schemas.microsoft.com/office/drawing/2014/main" id="{4C2B7A6A-9BBA-4A0D-B1A9-E321CF25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43002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DSL)</a:t>
            </a:r>
          </a:p>
        </p:txBody>
      </p:sp>
      <p:sp>
        <p:nvSpPr>
          <p:cNvPr id="38" name="GLOSARIO_right_1_1">
            <a:extLst xmlns:a="http://schemas.openxmlformats.org/drawingml/2006/main">
              <a:ext uri="{FF2B5EF4-FFF2-40B4-BE49-F238E27FC236}">
                <a16:creationId xmlns:a16="http://schemas.microsoft.com/office/drawing/2014/main" id="{262187B2-9926-42D7-8E5C-92613FB9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224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ENDUTIH: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Encuesta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Disponibilidad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39" name="GLOSARIO_right_1_2">
            <a:extLst xmlns:a="http://schemas.openxmlformats.org/drawingml/2006/main">
              <a:ext uri="{FF2B5EF4-FFF2-40B4-BE49-F238E27FC236}">
                <a16:creationId xmlns:a16="http://schemas.microsoft.com/office/drawing/2014/main" id="{DD04441E-F2E8-4281-BBF0-B179206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5341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Tecnologías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Hogares</a:t>
            </a:r>
          </a:p>
        </p:txBody>
      </p:sp>
      <p:sp>
        <p:nvSpPr>
          <p:cNvPr id="40" name="GLOSARIO_right_2_1">
            <a:extLst xmlns:a="http://schemas.openxmlformats.org/drawingml/2006/main">
              <a:ext uri="{FF2B5EF4-FFF2-40B4-BE49-F238E27FC236}">
                <a16:creationId xmlns:a16="http://schemas.microsoft.com/office/drawing/2014/main" id="{B3DE5079-6828-4F4E-A61B-3C86A4FD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348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ENIGH: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Encuesta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Ingresos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Gastos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Hogares</a:t>
            </a:r>
          </a:p>
        </p:txBody>
      </p:sp>
      <p:sp>
        <p:nvSpPr>
          <p:cNvPr id="41" name="GLOSARIO_right_3_1">
            <a:extLst xmlns:a="http://schemas.openxmlformats.org/drawingml/2006/main">
              <a:ext uri="{FF2B5EF4-FFF2-40B4-BE49-F238E27FC236}">
                <a16:creationId xmlns:a16="http://schemas.microsoft.com/office/drawing/2014/main" id="{DF7A6659-582D-44F8-9C37-8ABAA85A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9354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ENOE: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Encuesta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Ocupación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Empleo</a:t>
            </a:r>
          </a:p>
        </p:txBody>
      </p:sp>
      <p:sp>
        <p:nvSpPr>
          <p:cNvPr id="42" name="GLOSARIO_right_4_1">
            <a:extLst xmlns:a="http://schemas.openxmlformats.org/drawingml/2006/main">
              <a:ext uri="{FF2B5EF4-FFF2-40B4-BE49-F238E27FC236}">
                <a16:creationId xmlns:a16="http://schemas.microsoft.com/office/drawing/2014/main" id="{29682737-2AB5-434B-B2DE-E4A98254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361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</a:p>
        </p:txBody>
      </p:sp>
      <p:sp>
        <p:nvSpPr>
          <p:cNvPr id="43" name="GLOSARIO_right_5_1">
            <a:extLst xmlns:a="http://schemas.openxmlformats.org/drawingml/2006/main">
              <a:ext uri="{FF2B5EF4-FFF2-40B4-BE49-F238E27FC236}">
                <a16:creationId xmlns:a16="http://schemas.microsoft.com/office/drawing/2014/main" id="{DC9ABA5C-049E-49B6-8412-CCF28B60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3368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BING: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Modelo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lenguaje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(IA)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44" name="GLOSARIO_right_5_2">
            <a:extLst xmlns:a="http://schemas.openxmlformats.org/drawingml/2006/main">
              <a:ext uri="{FF2B5EF4-FFF2-40B4-BE49-F238E27FC236}">
                <a16:creationId xmlns:a16="http://schemas.microsoft.com/office/drawing/2014/main" id="{6BE13D77-88DC-4EC4-AFC1-E3CE5153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4485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búsqueda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misma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página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Microsoft</a:t>
            </a:r>
          </a:p>
        </p:txBody>
      </p:sp>
      <p:sp>
        <p:nvSpPr>
          <p:cNvPr id="45" name="GLOSARIO_right_6_1">
            <a:extLst xmlns:a="http://schemas.openxmlformats.org/drawingml/2006/main">
              <a:ext uri="{FF2B5EF4-FFF2-40B4-BE49-F238E27FC236}">
                <a16:creationId xmlns:a16="http://schemas.microsoft.com/office/drawing/2014/main" id="{D65AD992-3126-47BA-AF6A-FCD3378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6492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IED: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Inversión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Extranjera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Directa</a:t>
            </a:r>
          </a:p>
        </p:txBody>
      </p:sp>
      <p:sp>
        <p:nvSpPr>
          <p:cNvPr id="46" name="GLOSARIO_right_7_1">
            <a:extLst xmlns:a="http://schemas.openxmlformats.org/drawingml/2006/main">
              <a:ext uri="{FF2B5EF4-FFF2-40B4-BE49-F238E27FC236}">
                <a16:creationId xmlns:a16="http://schemas.microsoft.com/office/drawing/2014/main" id="{11013531-D72E-4C79-99AF-2E4B4A92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8498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IFT: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Instituto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Federal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</a:p>
        </p:txBody>
      </p:sp>
      <p:sp>
        <p:nvSpPr>
          <p:cNvPr id="47" name="GLOSARIO_right_8_1">
            <a:extLst xmlns:a="http://schemas.openxmlformats.org/drawingml/2006/main">
              <a:ext uri="{FF2B5EF4-FFF2-40B4-BE49-F238E27FC236}">
                <a16:creationId xmlns:a16="http://schemas.microsoft.com/office/drawing/2014/main" id="{B710E0C1-BFFD-45A4-948A-7B4B9B5D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0505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IHH: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Índice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Herfindahl-Hirschman</a:t>
            </a:r>
          </a:p>
        </p:txBody>
      </p:sp>
      <p:sp>
        <p:nvSpPr>
          <p:cNvPr id="48" name="GLOSARIO_right_9_1">
            <a:extLst xmlns:a="http://schemas.openxmlformats.org/drawingml/2006/main">
              <a:ext uri="{FF2B5EF4-FFF2-40B4-BE49-F238E27FC236}">
                <a16:creationId xmlns:a16="http://schemas.microsoft.com/office/drawing/2014/main" id="{185579AF-B6FD-47BC-BDC9-B8845C5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2512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IMT: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Móviles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Internacionales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International</a:t>
            </a:r>
          </a:p>
        </p:txBody>
      </p:sp>
      <p:sp>
        <p:nvSpPr>
          <p:cNvPr id="49" name="GLOSARIO_right_9_2">
            <a:extLst xmlns:a="http://schemas.openxmlformats.org/drawingml/2006/main">
              <a:ext uri="{FF2B5EF4-FFF2-40B4-BE49-F238E27FC236}">
                <a16:creationId xmlns:a16="http://schemas.microsoft.com/office/drawing/2014/main" id="{C766DF5A-C1D6-4863-9648-2A43E24D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3629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Mobile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Telecommunications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IMT)</a:t>
            </a:r>
          </a:p>
        </p:txBody>
      </p:sp>
      <p:sp>
        <p:nvSpPr>
          <p:cNvPr id="50" name="GLOSARIO_right_10_1">
            <a:extLst xmlns:a="http://schemas.openxmlformats.org/drawingml/2006/main">
              <a:ext uri="{FF2B5EF4-FFF2-40B4-BE49-F238E27FC236}">
                <a16:creationId xmlns:a16="http://schemas.microsoft.com/office/drawing/2014/main" id="{455CE990-BB99-4AC1-93DA-125FA333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5636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INEGI: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Instituto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Estadística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Geografía</a:t>
            </a:r>
          </a:p>
        </p:txBody>
      </p:sp>
      <p:sp>
        <p:nvSpPr>
          <p:cNvPr id="51" name="GLOSARIO_right_11_1">
            <a:extLst xmlns:a="http://schemas.openxmlformats.org/drawingml/2006/main">
              <a:ext uri="{FF2B5EF4-FFF2-40B4-BE49-F238E27FC236}">
                <a16:creationId xmlns:a16="http://schemas.microsoft.com/office/drawing/2014/main" id="{E16CACFA-2675-4181-9BCF-F7A4524D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7642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INPC: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Índice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Precios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Consumidor</a:t>
            </a:r>
          </a:p>
        </p:txBody>
      </p:sp>
      <p:sp>
        <p:nvSpPr>
          <p:cNvPr id="52" name="GLOSARIO_right_12_1">
            <a:extLst xmlns:a="http://schemas.openxmlformats.org/drawingml/2006/main">
              <a:ext uri="{FF2B5EF4-FFF2-40B4-BE49-F238E27FC236}">
                <a16:creationId xmlns:a16="http://schemas.microsoft.com/office/drawing/2014/main" id="{43849EA2-50D1-4DE7-A1F0-9C566B939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9649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IGS: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Índice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Satisfacción</a:t>
            </a:r>
          </a:p>
        </p:txBody>
      </p:sp>
      <p:sp>
        <p:nvSpPr>
          <p:cNvPr id="53" name="GLOSARIO_right_13_1">
            <a:extLst xmlns:a="http://schemas.openxmlformats.org/drawingml/2006/main">
              <a:ext uri="{FF2B5EF4-FFF2-40B4-BE49-F238E27FC236}">
                <a16:creationId xmlns:a16="http://schemas.microsoft.com/office/drawing/2014/main" id="{B53140D2-AB35-45C3-81A7-3053494A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41656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JASPER: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Biblioteca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creación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escrita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Java</a:t>
            </a:r>
          </a:p>
        </p:txBody>
      </p:sp>
      <p:sp>
        <p:nvSpPr>
          <p:cNvPr id="54" name="ANUARIO_PAGE_NUMBER">
            <a:extLst xmlns:a="http://schemas.openxmlformats.org/drawingml/2006/main">
              <a:ext uri="{FF2B5EF4-FFF2-40B4-BE49-F238E27FC236}">
                <a16:creationId xmlns:a16="http://schemas.microsoft.com/office/drawing/2014/main" id="{7B8F292A-9186-46E0-AFD0-46B4CB4D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997450"/>
            <a:ext cx="254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5</a:t>
            </a:r>
          </a:p>
        </p:txBody>
      </p:sp>
      <p:sp>
        <p:nvSpPr>
          <p:cNvPr id="55" name="ANUARIO_EDICION_PIE">
            <a:extLst xmlns:a="http://schemas.openxmlformats.org/drawingml/2006/main">
              <a:ext uri="{FF2B5EF4-FFF2-40B4-BE49-F238E27FC236}">
                <a16:creationId xmlns:a16="http://schemas.microsoft.com/office/drawing/2014/main" id="{D82C8C6F-147F-4FF7-AB40-49AE9A83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7450"/>
            <a:ext cx="200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65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 N U A R I O   E S T A D Í S T I C O   2 0 2 6</a:t>
            </a:r>
          </a:p>
        </p:txBody>
      </p:sp>
    </p:spTree>
    <p:extLst>
      <p:ext uri="{BB962C8B-B14F-4D97-AF65-F5344CB8AC3E}">
        <p14:creationId xmlns:p14="http://schemas.microsoft.com/office/powerpoint/2010/main" val="1272682934"/>
      </p:ext>
    </p:extLst>
  </p:cSld>
  <p:clrMapOvr>
    <ns0:overrideClrMapping xmlns:ns0="http://schemas.openxmlformats.org/drawingml/2006/main" bg1="lt1" tx1="dk1" bg2="lt2" tx2="dk2" accent1="accent1" accent2="accent2" accent3="accent3" accent4="accent4" accent5="accent5" accent6="accent6" hlink="lt1" folHlink="lt1"/>
  </p:clrMapOvr>
</p:sld>
</file>

<file path=ppt/slides/slide6.xml><?xml version="1.0" encoding="utf-8"?>
<p:sld xmlns:p="http://schemas.openxmlformats.org/presentationml/2006/main" showMasterSp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5e1c9945e94a7e"/>
          <a:srcRect xmlns:a="http://schemas.openxmlformats.org/drawingml/2006/main" l="5315" t="0" r="53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3644" cy="511556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1691e18134900"/>
          <a:srcRect xmlns:a="http://schemas.openxmlformats.org/drawingml/2006/main" l="8254" t="0" r="82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4960431"/>
            <a:ext cx="9143644" cy="182525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1fc5a8caa9402d"/>
          <a:stretch xmlns:a="http://schemas.openxmlformats.org/drawingml/2006/main"/>
        </p:blipFill>
        <p:spPr>
          <a:xfrm xmlns:a="http://schemas.openxmlformats.org/drawingml/2006/main">
            <a:off x="7772400" y="63731"/>
            <a:ext cx="383756" cy="383756"/>
          </a:xfrm>
          <a:prstGeom xmlns:a="http://schemas.openxmlformats.org/drawingml/2006/main" prst="rect">
            <a:avLst/>
          </a:prstGeom>
        </p:spPr>
      </p:pic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2198852794fa7"/>
          <a:stretch xmlns:a="http://schemas.openxmlformats.org/drawingml/2006/main"/>
        </p:blipFill>
        <p:spPr>
          <a:xfrm xmlns:a="http://schemas.openxmlformats.org/drawingml/2006/main">
            <a:off x="8275629" y="91074"/>
            <a:ext cx="593385" cy="333362"/>
          </a:xfrm>
          <a:prstGeom xmlns:a="http://schemas.openxmlformats.org/drawingml/2006/main" prst="rect">
            <a:avLst/>
          </a:prstGeom>
        </p:spPr>
      </p:pic>
      <p:sp>
        <p:nvSpPr>
          <p:cNvPr id="5" name="ANUARIO_TITULO">
            <a:extLst xmlns:a="http://schemas.openxmlformats.org/drawingml/2006/main">
              <a:ext uri="{FF2B5EF4-FFF2-40B4-BE49-F238E27FC236}">
                <a16:creationId xmlns:a16="http://schemas.microsoft.com/office/drawing/2014/main" id="{F883BFF5-67ED-47FC-8BA7-E4E07EBD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27000"/>
            <a:ext cx="2667000" cy="31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0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7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GLOSARIO</a:t>
            </a:r>
          </a:p>
        </p:txBody>
      </p:sp>
      <p:sp>
        <p:nvSpPr>
          <p:cNvPr id="6" name="ANUARIO_ENCABEZADO_1">
            <a:extLst xmlns:a="http://schemas.openxmlformats.org/drawingml/2006/main">
              <a:ext uri="{FF2B5EF4-FFF2-40B4-BE49-F238E27FC236}">
                <a16:creationId xmlns:a16="http://schemas.microsoft.com/office/drawing/2014/main" id="{14057280-D4CF-4514-A2FF-CEDF5C79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157" y="135999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81" b="0">
                <a:solidFill>
                  <a:srgbClr val="CFE7E1"/>
                </a:solidFill>
                <a:latin typeface="Noto Sans"/>
                <a:ea typeface="Noto Sans"/>
                <a:cs typeface="Noto Sans"/>
              </a:rPr>
              <a:t>Para consultar información con mayor desagregación, visita</a:t>
            </a:r>
          </a:p>
        </p:txBody>
      </p:sp>
      <p:sp>
        <p:nvSpPr>
          <p:cNvPr id="7" name="ANUARIO_ENCABEZADO_2">
            <a:extLst xmlns:a="http://schemas.openxmlformats.org/drawingml/2006/main">
              <a:ext uri="{FF2B5EF4-FFF2-40B4-BE49-F238E27FC236}">
                <a16:creationId xmlns:a16="http://schemas.microsoft.com/office/drawing/2014/main" id="{B8EF6B10-EFC3-4432-AAE9-52BE2B4C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880" y="225645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bf38f4683d754baf"/>
              </a:rPr>
              <a:t>BIT CRT · bit.crt.gob.mx/BitWebApp</a:t>
            </a:r>
          </a:p>
        </p:txBody>
      </p:sp>
      <p:sp>
        <p:nvSpPr>
          <p:cNvPr id="8" name="GLOSARIO_LATERAL_RECTO">
            <a:extLst xmlns:a="http://schemas.openxmlformats.org/drawingml/2006/main">
              <a:ext uri="{FF2B5EF4-FFF2-40B4-BE49-F238E27FC236}">
                <a16:creationId xmlns:a16="http://schemas.microsoft.com/office/drawing/2014/main" id="{858539AE-EE15-457B-B081-2DEC2AF7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32840"/>
            <a:ext cx="170180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9E6"/>
          </a:solidFill>
          <a:ln xmlns:a="http://schemas.openxmlformats.org/drawingml/2006/main" w="0">
            <a:noFill/>
          </a:ln>
        </p:spPr>
      </p:sp>
      <p:sp>
        <p:nvSpPr>
          <p:cNvPr id="9" name="GLOSARIO_LATERAL_REDONDEADO">
            <a:extLst xmlns:a="http://schemas.openxmlformats.org/drawingml/2006/main">
              <a:ext uri="{FF2B5EF4-FFF2-40B4-BE49-F238E27FC236}">
                <a16:creationId xmlns:a16="http://schemas.microsoft.com/office/drawing/2014/main" id="{EE342DF5-0EC0-4C3B-A5A4-C33EBE8E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200" y="1032840"/>
            <a:ext cx="683844" cy="3657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E9E6"/>
          </a:solidFill>
          <a:ln xmlns:a="http://schemas.openxmlformats.org/drawingml/2006/main" w="0">
            <a:noFill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1f4e85cd14391"/>
          <a:stretch xmlns:a="http://schemas.openxmlformats.org/drawingml/2006/main"/>
        </p:blipFill>
        <p:spPr>
          <a:xfrm xmlns:a="http://schemas.openxmlformats.org/drawingml/2006/main">
            <a:off x="508000" y="736600"/>
            <a:ext cx="1079500" cy="1003300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ef3adc9d843cd">
            <a:alphaModFix amt="13000"/>
          </a:blip>
          <a:stretch xmlns:a="http://schemas.openxmlformats.org/drawingml/2006/main"/>
        </p:blipFill>
        <p:spPr>
          <a:xfrm xmlns:a="http://schemas.openxmlformats.org/drawingml/2006/main">
            <a:off x="159712" y="1654558"/>
            <a:ext cx="2360048" cy="745922"/>
          </a:xfrm>
          <a:prstGeom xmlns:a="http://schemas.openxmlformats.org/drawingml/2006/main" prst="rect">
            <a:avLst/>
          </a:prstGeom>
        </p:spPr>
      </p:pic>
      <p:sp>
        <p:nvSpPr>
          <p:cNvPr id="12" name="GLOSARIO_ROTULO_LATERAL">
            <a:extLst xmlns:a="http://schemas.openxmlformats.org/drawingml/2006/main">
              <a:ext uri="{FF2B5EF4-FFF2-40B4-BE49-F238E27FC236}">
                <a16:creationId xmlns:a16="http://schemas.microsoft.com/office/drawing/2014/main" id="{EBEEC178-35EA-46FF-9731-E9C4AB9C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960" y="1737004"/>
            <a:ext cx="2149196" cy="530631"/>
          </a:xfrm>
          <a:prstGeom xmlns:a="http://schemas.openxmlformats.org/drawingml/2006/main" prst="roundRect">
            <a:avLst>
              <a:gd name="adj" fmla="val 28721"/>
            </a:avLst>
          </a:prstGeom>
          <a:solidFill xmlns:a="http://schemas.openxmlformats.org/drawingml/2006/main">
            <a:srgbClr val="F7FAF9"/>
          </a:solidFill>
          <a:ln xmlns:a="http://schemas.openxmlformats.org/drawingml/2006/main" w="0">
            <a:noFill/>
          </a:ln>
        </p:spPr>
      </p:sp>
      <p:sp>
        <p:nvSpPr>
          <p:cNvPr id="13" name="GLOSARIO_LATERAL_TITULO">
            <a:extLst xmlns:a="http://schemas.openxmlformats.org/drawingml/2006/main">
              <a:ext uri="{FF2B5EF4-FFF2-40B4-BE49-F238E27FC236}">
                <a16:creationId xmlns:a16="http://schemas.microsoft.com/office/drawing/2014/main" id="{7AD70741-077A-4D91-981B-7C1DDA20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960" y="1737004"/>
            <a:ext cx="2149196" cy="530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550" b="1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GLOSARIO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341f9b5c94c17">
            <a:alphaModFix amt="13000"/>
          </a:blip>
          <a:stretch xmlns:a="http://schemas.openxmlformats.org/drawingml/2006/main"/>
        </p:blipFill>
        <p:spPr>
          <a:xfrm xmlns:a="http://schemas.openxmlformats.org/drawingml/2006/main">
            <a:off x="2454834" y="606313"/>
            <a:ext cx="6519240" cy="620496"/>
          </a:xfrm>
          <a:prstGeom xmlns:a="http://schemas.openxmlformats.org/drawingml/2006/main" prst="rect">
            <a:avLst/>
          </a:prstGeom>
        </p:spPr>
      </p:pic>
      <p:sp>
        <p:nvSpPr>
          <p:cNvPr id="15" name="GLOSARIO_RECUADRO_TITULO">
            <a:extLst xmlns:a="http://schemas.openxmlformats.org/drawingml/2006/main">
              <a:ext uri="{FF2B5EF4-FFF2-40B4-BE49-F238E27FC236}">
                <a16:creationId xmlns:a16="http://schemas.microsoft.com/office/drawing/2014/main" id="{52D0C20F-671D-481B-8FFF-B5E5F0AE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596" y="685444"/>
            <a:ext cx="6309728" cy="411836"/>
          </a:xfrm>
          <a:prstGeom xmlns:a="http://schemas.openxmlformats.org/drawingml/2006/main" prst="roundRect">
            <a:avLst>
              <a:gd name="adj" fmla="val 215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FE8E6"/>
            </a:solidFill>
          </a:ln>
        </p:spPr>
      </p:sp>
      <p:sp>
        <p:nvSpPr>
          <p:cNvPr id="16" name="GLOSARIO_TITULO_CONTENIDO">
            <a:extLst xmlns:a="http://schemas.openxmlformats.org/drawingml/2006/main">
              <a:ext uri="{FF2B5EF4-FFF2-40B4-BE49-F238E27FC236}">
                <a16:creationId xmlns:a16="http://schemas.microsoft.com/office/drawing/2014/main" id="{83D1B68D-F8D4-4AF0-AB9B-52908CF1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564" y="792480"/>
            <a:ext cx="58293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Siglas y Acrónimos utilizados</a:t>
            </a:r>
          </a:p>
        </p:txBody>
      </p:sp>
      <p:sp>
        <p:nvSpPr>
          <p:cNvPr id="17" name="GLOSARIO_CONTINUACION">
            <a:extLst xmlns:a="http://schemas.openxmlformats.org/drawingml/2006/main">
              <a:ext uri="{FF2B5EF4-FFF2-40B4-BE49-F238E27FC236}">
                <a16:creationId xmlns:a16="http://schemas.microsoft.com/office/drawing/2014/main" id="{1D360054-6A45-445E-8BD1-88FFF2C0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000" y="835660"/>
            <a:ext cx="1143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>
                <a:solidFill>
                  <a:srgbClr val="4A7D76"/>
                </a:solidFill>
                <a:latin typeface="Noto Sans"/>
                <a:ea typeface="Noto Sans"/>
                <a:cs typeface="Noto Sans"/>
              </a:rPr>
              <a:t>Continuación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f096c142f478e">
            <a:alphaModFix amt="13000"/>
          </a:blip>
          <a:stretch xmlns:a="http://schemas.openxmlformats.org/drawingml/2006/main"/>
        </p:blipFill>
        <p:spPr>
          <a:xfrm xmlns:a="http://schemas.openxmlformats.org/drawingml/2006/main">
            <a:off x="2456153" y="1218605"/>
            <a:ext cx="6516601" cy="3757676"/>
          </a:xfrm>
          <a:prstGeom xmlns:a="http://schemas.openxmlformats.org/drawingml/2006/main" prst="rect">
            <a:avLst/>
          </a:prstGeom>
        </p:spPr>
      </p:pic>
      <p:sp>
        <p:nvSpPr>
          <p:cNvPr id="19" name="ANUARIO_GLOSARIO_CONT_DESIGN_2026">
            <a:extLst xmlns:a="http://schemas.openxmlformats.org/drawingml/2006/main">
              <a:ext uri="{FF2B5EF4-FFF2-40B4-BE49-F238E27FC236}">
                <a16:creationId xmlns:a16="http://schemas.microsoft.com/office/drawing/2014/main" id="{4BF3652A-400F-48F3-912C-66C15ABA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596" y="1298156"/>
            <a:ext cx="6309728" cy="3548164"/>
          </a:xfrm>
          <a:prstGeom xmlns:a="http://schemas.openxmlformats.org/drawingml/2006/main" prst="roundRect">
            <a:avLst>
              <a:gd name="adj" fmla="val 2506"/>
            </a:avLst>
          </a:prstGeom>
          <a:solidFill xmlns:a="http://schemas.openxmlformats.org/drawingml/2006/main">
            <a:srgbClr val="F7FAF9"/>
          </a:solidFill>
          <a:ln xmlns:a="http://schemas.openxmlformats.org/drawingml/2006/main" w="6350">
            <a:solidFill>
              <a:srgbClr val="DFE8E6"/>
            </a:solidFill>
          </a:ln>
        </p:spPr>
      </p:sp>
      <p:sp>
        <p:nvSpPr>
          <p:cNvPr id="20" name="GLOSARIO_DIVISOR_COLUMNAS">
            <a:extLst xmlns:a="http://schemas.openxmlformats.org/drawingml/2006/main">
              <a:ext uri="{FF2B5EF4-FFF2-40B4-BE49-F238E27FC236}">
                <a16:creationId xmlns:a16="http://schemas.microsoft.com/office/drawing/2014/main" id="{BC67FC0B-947D-41EB-B1C1-8824C1C0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35100"/>
            <a:ext cx="63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21" name="GLOSARIO_left_1_1">
            <a:extLst xmlns:a="http://schemas.openxmlformats.org/drawingml/2006/main">
              <a:ext uri="{FF2B5EF4-FFF2-40B4-BE49-F238E27FC236}">
                <a16:creationId xmlns:a16="http://schemas.microsoft.com/office/drawing/2014/main" id="{0C2EF6C7-874B-49CA-AE72-E1B811AA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4224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MiPymes: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Micro,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pequeñas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medianas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empresas</a:t>
            </a:r>
          </a:p>
        </p:txBody>
      </p:sp>
      <p:sp>
        <p:nvSpPr>
          <p:cNvPr id="22" name="GLOSARIO_left_2_1">
            <a:extLst xmlns:a="http://schemas.openxmlformats.org/drawingml/2006/main">
              <a:ext uri="{FF2B5EF4-FFF2-40B4-BE49-F238E27FC236}">
                <a16:creationId xmlns:a16="http://schemas.microsoft.com/office/drawing/2014/main" id="{253C5165-02D3-4863-8802-BAA3BF279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6230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ManyChat: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Plataforma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automatización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mensajes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chatbots</a:t>
            </a:r>
          </a:p>
        </p:txBody>
      </p:sp>
      <p:sp>
        <p:nvSpPr>
          <p:cNvPr id="23" name="GLOSARIO_left_2_2">
            <a:extLst xmlns:a="http://schemas.openxmlformats.org/drawingml/2006/main">
              <a:ext uri="{FF2B5EF4-FFF2-40B4-BE49-F238E27FC236}">
                <a16:creationId xmlns:a16="http://schemas.microsoft.com/office/drawing/2014/main" id="{9FCF245C-A973-48AE-8FE9-80AF82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7348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Facebook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Messenger,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Instagram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WhatsApp</a:t>
            </a:r>
          </a:p>
        </p:txBody>
      </p:sp>
      <p:sp>
        <p:nvSpPr>
          <p:cNvPr id="24" name="GLOSARIO_left_3_1">
            <a:extLst xmlns:a="http://schemas.openxmlformats.org/drawingml/2006/main">
              <a:ext uri="{FF2B5EF4-FFF2-40B4-BE49-F238E27FC236}">
                <a16:creationId xmlns:a16="http://schemas.microsoft.com/office/drawing/2014/main" id="{A17C0660-9816-4186-BC8D-EE2D4F9A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19354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IoT: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Cosas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of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Things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</a:p>
        </p:txBody>
      </p:sp>
      <p:sp>
        <p:nvSpPr>
          <p:cNvPr id="25" name="GLOSARIO_left_3_2">
            <a:extLst xmlns:a="http://schemas.openxmlformats.org/drawingml/2006/main">
              <a:ext uri="{FF2B5EF4-FFF2-40B4-BE49-F238E27FC236}">
                <a16:creationId xmlns:a16="http://schemas.microsoft.com/office/drawing/2014/main" id="{C51E6591-8DB2-427A-B85F-C9509360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0472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IoT)</a:t>
            </a:r>
          </a:p>
        </p:txBody>
      </p:sp>
      <p:sp>
        <p:nvSpPr>
          <p:cNvPr id="26" name="GLOSARIO_left_4_1">
            <a:extLst xmlns:a="http://schemas.openxmlformats.org/drawingml/2006/main">
              <a:ext uri="{FF2B5EF4-FFF2-40B4-BE49-F238E27FC236}">
                <a16:creationId xmlns:a16="http://schemas.microsoft.com/office/drawing/2014/main" id="{63B129E8-1914-4C4B-89AD-B753EB3F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2479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IPCOM: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Índice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Precios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Comunicaciones</a:t>
            </a:r>
          </a:p>
        </p:txBody>
      </p:sp>
      <p:sp>
        <p:nvSpPr>
          <p:cNvPr id="27" name="GLOSARIO_left_5_1">
            <a:extLst xmlns:a="http://schemas.openxmlformats.org/drawingml/2006/main">
              <a:ext uri="{FF2B5EF4-FFF2-40B4-BE49-F238E27FC236}">
                <a16:creationId xmlns:a16="http://schemas.microsoft.com/office/drawing/2014/main" id="{8946F43A-DD6B-4778-B592-6E027AC5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4485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IPTV: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Televisión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protocolo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Protocol</a:t>
            </a:r>
          </a:p>
        </p:txBody>
      </p:sp>
      <p:sp>
        <p:nvSpPr>
          <p:cNvPr id="28" name="GLOSARIO_left_5_2">
            <a:extLst xmlns:a="http://schemas.openxmlformats.org/drawingml/2006/main">
              <a:ext uri="{FF2B5EF4-FFF2-40B4-BE49-F238E27FC236}">
                <a16:creationId xmlns:a16="http://schemas.microsoft.com/office/drawing/2014/main" id="{1B1E59AC-4925-4298-AAAF-BFC8615E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5603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Television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IPTV)</a:t>
            </a:r>
          </a:p>
        </p:txBody>
      </p:sp>
      <p:sp>
        <p:nvSpPr>
          <p:cNvPr id="29" name="GLOSARIO_left_6_1">
            <a:extLst xmlns:a="http://schemas.openxmlformats.org/drawingml/2006/main">
              <a:ext uri="{FF2B5EF4-FFF2-40B4-BE49-F238E27FC236}">
                <a16:creationId xmlns:a16="http://schemas.microsoft.com/office/drawing/2014/main" id="{F7205DD0-FBC3-4C9F-9C6B-D11397ED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7609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LFTR: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Ley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Federal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Radiodifusión</a:t>
            </a:r>
          </a:p>
        </p:txBody>
      </p:sp>
      <p:sp>
        <p:nvSpPr>
          <p:cNvPr id="30" name="GLOSARIO_left_7_1">
            <a:extLst xmlns:a="http://schemas.openxmlformats.org/drawingml/2006/main">
              <a:ext uri="{FF2B5EF4-FFF2-40B4-BE49-F238E27FC236}">
                <a16:creationId xmlns:a16="http://schemas.microsoft.com/office/drawing/2014/main" id="{0BE27991-AB85-4CDB-B891-F1B9D8F2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29616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MB: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Megabyte</a:t>
            </a:r>
          </a:p>
        </p:txBody>
      </p:sp>
      <p:sp>
        <p:nvSpPr>
          <p:cNvPr id="31" name="GLOSARIO_left_8_1">
            <a:extLst xmlns:a="http://schemas.openxmlformats.org/drawingml/2006/main">
              <a:ext uri="{FF2B5EF4-FFF2-40B4-BE49-F238E27FC236}">
                <a16:creationId xmlns:a16="http://schemas.microsoft.com/office/drawing/2014/main" id="{DD59973D-F693-4FF7-A20F-6A320E57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1623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MHz: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Megahertz</a:t>
            </a:r>
          </a:p>
        </p:txBody>
      </p:sp>
      <p:sp>
        <p:nvSpPr>
          <p:cNvPr id="32" name="GLOSARIO_left_9_1">
            <a:extLst xmlns:a="http://schemas.openxmlformats.org/drawingml/2006/main">
              <a:ext uri="{FF2B5EF4-FFF2-40B4-BE49-F238E27FC236}">
                <a16:creationId xmlns:a16="http://schemas.microsoft.com/office/drawing/2014/main" id="{EED8D146-EB43-47F4-9339-51184F97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3629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MOCIBA: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Módulo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Ciberacoso</a:t>
            </a:r>
          </a:p>
        </p:txBody>
      </p:sp>
      <p:sp>
        <p:nvSpPr>
          <p:cNvPr id="33" name="GLOSARIO_left_10_1">
            <a:extLst xmlns:a="http://schemas.openxmlformats.org/drawingml/2006/main">
              <a:ext uri="{FF2B5EF4-FFF2-40B4-BE49-F238E27FC236}">
                <a16:creationId xmlns:a16="http://schemas.microsoft.com/office/drawing/2014/main" id="{C2E53825-8B09-44C8-8E76-9F48DBE9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5636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MOU: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Minutos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Minutes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of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</a:p>
        </p:txBody>
      </p:sp>
      <p:sp>
        <p:nvSpPr>
          <p:cNvPr id="34" name="GLOSARIO_left_10_2">
            <a:extLst xmlns:a="http://schemas.openxmlformats.org/drawingml/2006/main">
              <a:ext uri="{FF2B5EF4-FFF2-40B4-BE49-F238E27FC236}">
                <a16:creationId xmlns:a16="http://schemas.microsoft.com/office/drawing/2014/main" id="{C8AD18E1-5738-4D56-A335-4F59CE25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6753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MOU)</a:t>
            </a:r>
          </a:p>
        </p:txBody>
      </p:sp>
      <p:sp>
        <p:nvSpPr>
          <p:cNvPr id="35" name="GLOSARIO_left_11_1">
            <a:extLst xmlns:a="http://schemas.openxmlformats.org/drawingml/2006/main">
              <a:ext uri="{FF2B5EF4-FFF2-40B4-BE49-F238E27FC236}">
                <a16:creationId xmlns:a16="http://schemas.microsoft.com/office/drawing/2014/main" id="{7F622D61-AC84-4583-A454-25ADCB55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38760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OMV: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Operador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Móvil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Virtual</a:t>
            </a:r>
          </a:p>
        </p:txBody>
      </p:sp>
      <p:sp>
        <p:nvSpPr>
          <p:cNvPr id="36" name="GLOSARIO_left_12_1">
            <a:extLst xmlns:a="http://schemas.openxmlformats.org/drawingml/2006/main">
              <a:ext uri="{FF2B5EF4-FFF2-40B4-BE49-F238E27FC236}">
                <a16:creationId xmlns:a16="http://schemas.microsoft.com/office/drawing/2014/main" id="{144E5B24-9572-452F-B662-B205649C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40767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OTT: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Over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the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Top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OTT)</a:t>
            </a:r>
          </a:p>
        </p:txBody>
      </p:sp>
      <p:sp>
        <p:nvSpPr>
          <p:cNvPr id="37" name="GLOSARIO_left_13_1">
            <a:extLst xmlns:a="http://schemas.openxmlformats.org/drawingml/2006/main">
              <a:ext uri="{FF2B5EF4-FFF2-40B4-BE49-F238E27FC236}">
                <a16:creationId xmlns:a16="http://schemas.microsoft.com/office/drawing/2014/main" id="{6C44E656-CF25-451B-9FFF-5D71194D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2844" y="42773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PIB: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Producto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Bruto</a:t>
            </a:r>
          </a:p>
        </p:txBody>
      </p:sp>
      <p:sp>
        <p:nvSpPr>
          <p:cNvPr id="38" name="GLOSARIO_right_1_1">
            <a:extLst xmlns:a="http://schemas.openxmlformats.org/drawingml/2006/main">
              <a:ext uri="{FF2B5EF4-FFF2-40B4-BE49-F238E27FC236}">
                <a16:creationId xmlns:a16="http://schemas.microsoft.com/office/drawing/2014/main" id="{93D93936-CDA1-48D6-8CAB-B4DC5494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224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PICTORY: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Plataforma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línea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creación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edición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39" name="GLOSARIO_right_1_2">
            <a:extLst xmlns:a="http://schemas.openxmlformats.org/drawingml/2006/main">
              <a:ext uri="{FF2B5EF4-FFF2-40B4-BE49-F238E27FC236}">
                <a16:creationId xmlns:a16="http://schemas.microsoft.com/office/drawing/2014/main" id="{99C1885C-2FB9-48EC-A89E-5B07B443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5341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imágenes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vídeos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(IA)</a:t>
            </a:r>
          </a:p>
        </p:txBody>
      </p:sp>
      <p:sp>
        <p:nvSpPr>
          <p:cNvPr id="40" name="GLOSARIO_right_2_1">
            <a:extLst xmlns:a="http://schemas.openxmlformats.org/drawingml/2006/main">
              <a:ext uri="{FF2B5EF4-FFF2-40B4-BE49-F238E27FC236}">
                <a16:creationId xmlns:a16="http://schemas.microsoft.com/office/drawing/2014/main" id="{F10AD116-67E6-4AB7-A884-BA1FE599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348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SCIAN: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Sistema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Clasificación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Industrial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América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Norte</a:t>
            </a:r>
          </a:p>
        </p:txBody>
      </p:sp>
      <p:sp>
        <p:nvSpPr>
          <p:cNvPr id="41" name="GLOSARIO_right_3_1">
            <a:extLst xmlns:a="http://schemas.openxmlformats.org/drawingml/2006/main">
              <a:ext uri="{FF2B5EF4-FFF2-40B4-BE49-F238E27FC236}">
                <a16:creationId xmlns:a16="http://schemas.microsoft.com/office/drawing/2014/main" id="{76F3ED9A-787E-463F-AF7E-B33596B9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9354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SE: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Secretaría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Economía</a:t>
            </a:r>
          </a:p>
        </p:txBody>
      </p:sp>
      <p:sp>
        <p:nvSpPr>
          <p:cNvPr id="42" name="GLOSARIO_right_4_1">
            <a:extLst xmlns:a="http://schemas.openxmlformats.org/drawingml/2006/main">
              <a:ext uri="{FF2B5EF4-FFF2-40B4-BE49-F238E27FC236}">
                <a16:creationId xmlns:a16="http://schemas.microsoft.com/office/drawing/2014/main" id="{413F936E-F71F-40FD-9CBD-28732EF5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361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SYNTHESIA: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Plataforma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creación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videos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personas</a:t>
            </a:r>
          </a:p>
        </p:txBody>
      </p:sp>
      <p:sp>
        <p:nvSpPr>
          <p:cNvPr id="43" name="GLOSARIO_right_4_2">
            <a:extLst xmlns:a="http://schemas.openxmlformats.org/drawingml/2006/main">
              <a:ext uri="{FF2B5EF4-FFF2-40B4-BE49-F238E27FC236}">
                <a16:creationId xmlns:a16="http://schemas.microsoft.com/office/drawing/2014/main" id="{84BA95DE-4E80-4B06-92EC-7A4C232F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2479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sintéticas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(IA)</a:t>
            </a:r>
          </a:p>
        </p:txBody>
      </p:sp>
      <p:sp>
        <p:nvSpPr>
          <p:cNvPr id="44" name="GLOSARIO_right_5_1">
            <a:extLst xmlns:a="http://schemas.openxmlformats.org/drawingml/2006/main">
              <a:ext uri="{FF2B5EF4-FFF2-40B4-BE49-F238E27FC236}">
                <a16:creationId xmlns:a16="http://schemas.microsoft.com/office/drawing/2014/main" id="{E4748B60-9371-4380-A539-AA6CB000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4485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SMS: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Servicio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Mensaje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Texto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Short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Message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Service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</a:p>
        </p:txBody>
      </p:sp>
      <p:sp>
        <p:nvSpPr>
          <p:cNvPr id="45" name="GLOSARIO_right_5_2">
            <a:extLst xmlns:a="http://schemas.openxmlformats.org/drawingml/2006/main">
              <a:ext uri="{FF2B5EF4-FFF2-40B4-BE49-F238E27FC236}">
                <a16:creationId xmlns:a16="http://schemas.microsoft.com/office/drawing/2014/main" id="{AA1B58F8-07DC-41ED-AF7A-06610A75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5603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inglés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SMS)</a:t>
            </a:r>
          </a:p>
        </p:txBody>
      </p:sp>
      <p:sp>
        <p:nvSpPr>
          <p:cNvPr id="46" name="GLOSARIO_right_6_1">
            <a:extLst xmlns:a="http://schemas.openxmlformats.org/drawingml/2006/main">
              <a:ext uri="{FF2B5EF4-FFF2-40B4-BE49-F238E27FC236}">
                <a16:creationId xmlns:a16="http://schemas.microsoft.com/office/drawing/2014/main" id="{C6D85338-1C8E-4385-8307-D91A5833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7609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TCA: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Tasa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Crecimiento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Anual</a:t>
            </a:r>
          </a:p>
        </p:txBody>
      </p:sp>
      <p:sp>
        <p:nvSpPr>
          <p:cNvPr id="47" name="GLOSARIO_right_7_1">
            <a:extLst xmlns:a="http://schemas.openxmlformats.org/drawingml/2006/main">
              <a:ext uri="{FF2B5EF4-FFF2-40B4-BE49-F238E27FC236}">
                <a16:creationId xmlns:a16="http://schemas.microsoft.com/office/drawing/2014/main" id="{F305028A-C6FD-4F9C-AD6C-F95DD45B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9616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TDT: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Televisión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Digital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Terrestre</a:t>
            </a:r>
          </a:p>
        </p:txBody>
      </p:sp>
      <p:sp>
        <p:nvSpPr>
          <p:cNvPr id="48" name="GLOSARIO_right_8_1">
            <a:extLst xmlns:a="http://schemas.openxmlformats.org/drawingml/2006/main">
              <a:ext uri="{FF2B5EF4-FFF2-40B4-BE49-F238E27FC236}">
                <a16:creationId xmlns:a16="http://schemas.microsoft.com/office/drawing/2014/main" id="{8D0A407C-EEC1-45EC-8B90-3F540633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1623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TIC: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Tecnologías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Comunicación</a:t>
            </a:r>
          </a:p>
        </p:txBody>
      </p:sp>
      <p:sp>
        <p:nvSpPr>
          <p:cNvPr id="49" name="GLOSARIO_right_9_1">
            <a:extLst xmlns:a="http://schemas.openxmlformats.org/drawingml/2006/main">
              <a:ext uri="{FF2B5EF4-FFF2-40B4-BE49-F238E27FC236}">
                <a16:creationId xmlns:a16="http://schemas.microsoft.com/office/drawing/2014/main" id="{B0EC5F07-BDF7-4A21-99D8-53B5579D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36296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TyR: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Radiodifusión</a:t>
            </a:r>
          </a:p>
        </p:txBody>
      </p:sp>
      <p:sp>
        <p:nvSpPr>
          <p:cNvPr id="50" name="GLOSARIO_right_10_1">
            <a:extLst xmlns:a="http://schemas.openxmlformats.org/drawingml/2006/main">
              <a:ext uri="{FF2B5EF4-FFF2-40B4-BE49-F238E27FC236}">
                <a16:creationId xmlns:a16="http://schemas.microsoft.com/office/drawing/2014/main" id="{15E9B818-2C7C-4263-B3A8-92BC5CD4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56362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UE: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Económicas</a:t>
            </a:r>
          </a:p>
        </p:txBody>
      </p:sp>
      <p:sp>
        <p:nvSpPr>
          <p:cNvPr id="51" name="GLOSARIO_right_11_1">
            <a:extLst xmlns:a="http://schemas.openxmlformats.org/drawingml/2006/main">
              <a:ext uri="{FF2B5EF4-FFF2-40B4-BE49-F238E27FC236}">
                <a16:creationId xmlns:a16="http://schemas.microsoft.com/office/drawing/2014/main" id="{2518C1A0-ABCD-4004-B656-887D23CE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76428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UER: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Espectro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Radioeléctrico</a:t>
            </a:r>
          </a:p>
        </p:txBody>
      </p:sp>
      <p:sp>
        <p:nvSpPr>
          <p:cNvPr id="52" name="GLOSARIO_right_12_1">
            <a:extLst xmlns:a="http://schemas.openxmlformats.org/drawingml/2006/main">
              <a:ext uri="{FF2B5EF4-FFF2-40B4-BE49-F238E27FC236}">
                <a16:creationId xmlns:a16="http://schemas.microsoft.com/office/drawing/2014/main" id="{3349765E-9618-496F-854F-CD53A780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96494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UCS: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Concesiones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Servicios</a:t>
            </a:r>
          </a:p>
        </p:txBody>
      </p:sp>
      <p:sp>
        <p:nvSpPr>
          <p:cNvPr id="53" name="GLOSARIO_right_13_1">
            <a:extLst xmlns:a="http://schemas.openxmlformats.org/drawingml/2006/main">
              <a:ext uri="{FF2B5EF4-FFF2-40B4-BE49-F238E27FC236}">
                <a16:creationId xmlns:a16="http://schemas.microsoft.com/office/drawing/2014/main" id="{10BB834E-AD04-4470-8236-71E0D502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4165600"/>
            <a:ext cx="28829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 i="0">
                <a:solidFill>
                  <a:srgbClr val="153B3C"/>
                </a:solidFill>
                <a:latin typeface="Noto Sans"/>
                <a:ea typeface="Noto Sans"/>
                <a:cs typeface="Noto Sans"/>
              </a:rPr>
              <a:t>UMCA: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Medios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Contenidos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Audiovisuales</a:t>
            </a:r>
          </a:p>
        </p:txBody>
      </p:sp>
      <p:sp>
        <p:nvSpPr>
          <p:cNvPr id="54" name="ANUARIO_PAGE_NUMBER">
            <a:extLst xmlns:a="http://schemas.openxmlformats.org/drawingml/2006/main">
              <a:ext uri="{FF2B5EF4-FFF2-40B4-BE49-F238E27FC236}">
                <a16:creationId xmlns:a16="http://schemas.microsoft.com/office/drawing/2014/main" id="{E1455A6A-EBA4-4834-BC3A-5ECD7844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997450"/>
            <a:ext cx="254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6</a:t>
            </a:r>
          </a:p>
        </p:txBody>
      </p:sp>
      <p:sp>
        <p:nvSpPr>
          <p:cNvPr id="55" name="ANUARIO_EDICION_PIE">
            <a:extLst xmlns:a="http://schemas.openxmlformats.org/drawingml/2006/main">
              <a:ext uri="{FF2B5EF4-FFF2-40B4-BE49-F238E27FC236}">
                <a16:creationId xmlns:a16="http://schemas.microsoft.com/office/drawing/2014/main" id="{916E9D32-8FCF-454B-91DC-97F4E81C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7450"/>
            <a:ext cx="200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65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 N U A R I O   E S T A D Í S T I C O   2 0 2 6</a:t>
            </a:r>
          </a:p>
        </p:txBody>
      </p:sp>
    </p:spTree>
    <p:extLst>
      <p:ext uri="{BB962C8B-B14F-4D97-AF65-F5344CB8AC3E}">
        <p14:creationId xmlns:p14="http://schemas.microsoft.com/office/powerpoint/2010/main" val="861836591"/>
      </p:ext>
    </p:extLst>
  </p:cSld>
  <p:clrMapOvr>
    <ns0:overrideClrMapping xmlns:ns0="http://schemas.openxmlformats.org/drawingml/2006/main" bg1="lt1" tx1="dk1" bg2="lt2" tx2="dk2" accent1="accent1" accent2="accent2" accent3="accent3" accent4="accent4" accent5="accent5" accent6="accent6" hlink="lt1" folHlink="lt1"/>
  </p:clrMapOvr>
</p:sld>
</file>

<file path=ppt/slides/slide7.xml><?xml version="1.0" encoding="utf-8"?>
<p:sld xmlns:p="http://schemas.openxmlformats.org/presentationml/2006/main" showMasterSp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f113fc51c24590"/>
          <a:stretch xmlns:a="http://schemas.openxmlformats.org/drawingml/2006/main"/>
        </p:blipFill>
        <p:spPr>
          <a:xfrm xmlns:a="http://schemas.openxmlformats.org/drawingml/2006/main">
            <a:off x="3378" y="0"/>
            <a:ext cx="9136888" cy="456844"/>
          </a:xfrm>
          <a:prstGeom xmlns:a="http://schemas.openxmlformats.org/drawingml/2006/main" prst="rect">
            <a:avLst/>
          </a:prstGeom>
        </p:spPr>
      </p:pic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4f4555e354735"/>
          <a:stretch xmlns:a="http://schemas.openxmlformats.org/drawingml/2006/main"/>
        </p:blipFill>
        <p:spPr>
          <a:xfrm xmlns:a="http://schemas.openxmlformats.org/drawingml/2006/main">
            <a:off x="14298" y="4990683"/>
            <a:ext cx="9115048" cy="151917"/>
          </a:xfrm>
          <a:prstGeom xmlns:a="http://schemas.openxmlformats.org/drawingml/2006/main" prst="rect">
            <a:avLst/>
          </a:prstGeom>
        </p:spPr>
      </p:pic>
      <p:sp>
        <p:nvSpPr>
          <p:cNvPr id="3" name="INTRO_QR_FONDO">
            <a:extLst xmlns:a="http://schemas.openxmlformats.org/drawingml/2006/main">
              <a:ext uri="{FF2B5EF4-FFF2-40B4-BE49-F238E27FC236}">
                <a16:creationId xmlns:a16="http://schemas.microsoft.com/office/drawing/2014/main" id="{0385387C-CD2F-4D6E-A9E9-D0114DF4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100" y="50800"/>
            <a:ext cx="355600" cy="355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FFFFFF"/>
            </a:solidFill>
          </a:ln>
        </p:spPr>
      </p:sp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272988eb84dce"/>
          <a:stretch xmlns:a="http://schemas.openxmlformats.org/drawingml/2006/main"/>
        </p:blipFill>
        <p:spPr>
          <a:xfrm xmlns:a="http://schemas.openxmlformats.org/drawingml/2006/main">
            <a:off x="7810564" y="75961"/>
            <a:ext cx="304559" cy="304559"/>
          </a:xfrm>
          <a:prstGeom xmlns:a="http://schemas.openxmlformats.org/drawingml/2006/main" prst="rect">
            <a:avLst/>
          </a:prstGeom>
        </p:spPr>
      </p:pic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8ba0efd3e4fb5"/>
          <a:stretch xmlns:a="http://schemas.openxmlformats.org/drawingml/2006/main"/>
        </p:blipFill>
        <p:spPr>
          <a:xfrm xmlns:a="http://schemas.openxmlformats.org/drawingml/2006/main">
            <a:off x="8294782" y="75961"/>
            <a:ext cx="542115" cy="304559"/>
          </a:xfrm>
          <a:prstGeom xmlns:a="http://schemas.openxmlformats.org/drawingml/2006/main" prst="rect">
            <a:avLst/>
          </a:prstGeom>
        </p:spPr>
      </p:pic>
      <p:sp>
        <p:nvSpPr>
          <p:cNvPr id="6" name="ANUARIO_INTRO_DESIGN_2026">
            <a:extLst xmlns:a="http://schemas.openxmlformats.org/drawingml/2006/main">
              <a:ext uri="{FF2B5EF4-FFF2-40B4-BE49-F238E27FC236}">
                <a16:creationId xmlns:a16="http://schemas.microsoft.com/office/drawing/2014/main" id="{D2E56BA8-34C0-4D45-8C82-A58470D0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09600"/>
            <a:ext cx="2032000" cy="42672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1A4043"/>
          </a:solidFill>
          <a:ln xmlns:a="http://schemas.openxmlformats.org/drawingml/2006/main" w="8890">
            <a:solidFill>
              <a:srgbClr val="1A4043"/>
            </a:solidFill>
          </a:ln>
        </p:spPr>
      </p:sp>
      <p:sp>
        <p:nvSpPr>
          <p:cNvPr id="7" name="INTRO_DIVISOR_LATERAL">
            <a:extLst xmlns:a="http://schemas.openxmlformats.org/drawingml/2006/main">
              <a:ext uri="{FF2B5EF4-FFF2-40B4-BE49-F238E27FC236}">
                <a16:creationId xmlns:a16="http://schemas.microsoft.com/office/drawing/2014/main" id="{A0D154AD-E861-4067-9A80-8713D001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990600"/>
            <a:ext cx="355600" cy="1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D3C7"/>
          </a:solidFill>
          <a:ln xmlns:a="http://schemas.openxmlformats.org/drawingml/2006/main" w="0">
            <a:noFill/>
          </a:ln>
        </p:spPr>
      </p:sp>
      <p:sp>
        <p:nvSpPr>
          <p:cNvPr id="8" name="INTRO_RECUADRO_RESUMEN">
            <a:extLst xmlns:a="http://schemas.openxmlformats.org/drawingml/2006/main">
              <a:ext uri="{FF2B5EF4-FFF2-40B4-BE49-F238E27FC236}">
                <a16:creationId xmlns:a16="http://schemas.microsoft.com/office/drawing/2014/main" id="{B02C55A4-B8E8-4019-95D0-C677E45E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609600"/>
            <a:ext cx="6350000" cy="4826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AF3F1"/>
          </a:solidFill>
          <a:ln xmlns:a="http://schemas.openxmlformats.org/drawingml/2006/main" w="8890">
            <a:solidFill>
              <a:srgbClr val="EAF3F1"/>
            </a:solidFill>
          </a:ln>
        </p:spPr>
      </p:sp>
      <p:sp>
        <p:nvSpPr>
          <p:cNvPr id="9" name="INTRO_ACENTO_RESUMEN">
            <a:extLst xmlns:a="http://schemas.openxmlformats.org/drawingml/2006/main">
              <a:ext uri="{FF2B5EF4-FFF2-40B4-BE49-F238E27FC236}">
                <a16:creationId xmlns:a16="http://schemas.microsoft.com/office/drawing/2014/main" id="{7F9FF756-7030-4ACD-955B-50DA09E4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685800"/>
            <a:ext cx="38100" cy="33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0" name="INTRO_RECUADRO_1">
            <a:extLst xmlns:a="http://schemas.openxmlformats.org/drawingml/2006/main">
              <a:ext uri="{FF2B5EF4-FFF2-40B4-BE49-F238E27FC236}">
                <a16:creationId xmlns:a16="http://schemas.microsoft.com/office/drawing/2014/main" id="{67720E19-437C-4106-BF4D-CD921195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1193800"/>
            <a:ext cx="6350000" cy="6096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11" name="INTRO_ACENTO_1">
            <a:extLst xmlns:a="http://schemas.openxmlformats.org/drawingml/2006/main">
              <a:ext uri="{FF2B5EF4-FFF2-40B4-BE49-F238E27FC236}">
                <a16:creationId xmlns:a16="http://schemas.microsoft.com/office/drawing/2014/main" id="{24323903-7799-4BD3-9875-4CD2FA21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1270000"/>
            <a:ext cx="38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2" name="INTRO_SEPARADOR_1">
            <a:extLst xmlns:a="http://schemas.openxmlformats.org/drawingml/2006/main">
              <a:ext uri="{FF2B5EF4-FFF2-40B4-BE49-F238E27FC236}">
                <a16:creationId xmlns:a16="http://schemas.microsoft.com/office/drawing/2014/main" id="{E4E544F4-BE6C-4C19-8225-FA4091D8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0" y="1295400"/>
            <a:ext cx="6985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13" name="INTRO_NUMERO_FONDO_1">
            <a:extLst xmlns:a="http://schemas.openxmlformats.org/drawingml/2006/main">
              <a:ext uri="{FF2B5EF4-FFF2-40B4-BE49-F238E27FC236}">
                <a16:creationId xmlns:a16="http://schemas.microsoft.com/office/drawing/2014/main" id="{DD71E86F-A603-4AD0-AC0C-84A6E725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13843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14" name="INTRO_RECUADRO_2">
            <a:extLst xmlns:a="http://schemas.openxmlformats.org/drawingml/2006/main">
              <a:ext uri="{FF2B5EF4-FFF2-40B4-BE49-F238E27FC236}">
                <a16:creationId xmlns:a16="http://schemas.microsoft.com/office/drawing/2014/main" id="{41AF621E-E608-4D88-8A23-A65F3387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1905000"/>
            <a:ext cx="6350000" cy="11176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15" name="INTRO_ACENTO_2">
            <a:extLst xmlns:a="http://schemas.openxmlformats.org/drawingml/2006/main">
              <a:ext uri="{FF2B5EF4-FFF2-40B4-BE49-F238E27FC236}">
                <a16:creationId xmlns:a16="http://schemas.microsoft.com/office/drawing/2014/main" id="{61728129-C923-4AE3-B872-3F951247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1981200"/>
            <a:ext cx="38100" cy="96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6" name="INTRO_SEPARADOR_2">
            <a:extLst xmlns:a="http://schemas.openxmlformats.org/drawingml/2006/main">
              <a:ext uri="{FF2B5EF4-FFF2-40B4-BE49-F238E27FC236}">
                <a16:creationId xmlns:a16="http://schemas.microsoft.com/office/drawing/2014/main" id="{FCA12AE9-6DE3-4CBA-87FA-0FEC7376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0" y="2006600"/>
            <a:ext cx="698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17" name="INTRO_NUMERO_FONDO_2">
            <a:extLst xmlns:a="http://schemas.openxmlformats.org/drawingml/2006/main">
              <a:ext uri="{FF2B5EF4-FFF2-40B4-BE49-F238E27FC236}">
                <a16:creationId xmlns:a16="http://schemas.microsoft.com/office/drawing/2014/main" id="{BCFC4FE7-D950-4860-B879-00A5F467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23495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18" name="INTRO_RECUADRO_3">
            <a:extLst xmlns:a="http://schemas.openxmlformats.org/drawingml/2006/main">
              <a:ext uri="{FF2B5EF4-FFF2-40B4-BE49-F238E27FC236}">
                <a16:creationId xmlns:a16="http://schemas.microsoft.com/office/drawing/2014/main" id="{D75E72D0-845E-490E-A7D3-645ED384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3124200"/>
            <a:ext cx="6350000" cy="7112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19" name="INTRO_ACENTO_3">
            <a:extLst xmlns:a="http://schemas.openxmlformats.org/drawingml/2006/main">
              <a:ext uri="{FF2B5EF4-FFF2-40B4-BE49-F238E27FC236}">
                <a16:creationId xmlns:a16="http://schemas.microsoft.com/office/drawing/2014/main" id="{75B0D7BD-2865-4FCD-B213-CFEE7A5E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3200400"/>
            <a:ext cx="38100" cy="55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20" name="INTRO_SEPARADOR_3">
            <a:extLst xmlns:a="http://schemas.openxmlformats.org/drawingml/2006/main">
              <a:ext uri="{FF2B5EF4-FFF2-40B4-BE49-F238E27FC236}">
                <a16:creationId xmlns:a16="http://schemas.microsoft.com/office/drawing/2014/main" id="{5DEFE68D-640A-4EF7-B111-356AE145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0" y="3225800"/>
            <a:ext cx="6985" cy="5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21" name="INTRO_NUMERO_FONDO_3">
            <a:extLst xmlns:a="http://schemas.openxmlformats.org/drawingml/2006/main">
              <a:ext uri="{FF2B5EF4-FFF2-40B4-BE49-F238E27FC236}">
                <a16:creationId xmlns:a16="http://schemas.microsoft.com/office/drawing/2014/main" id="{684DDF26-0094-45B8-AF9C-7197FF17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33655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22" name="INTRO_RECUADRO_4">
            <a:extLst xmlns:a="http://schemas.openxmlformats.org/drawingml/2006/main">
              <a:ext uri="{FF2B5EF4-FFF2-40B4-BE49-F238E27FC236}">
                <a16:creationId xmlns:a16="http://schemas.microsoft.com/office/drawing/2014/main" id="{35202227-5020-46FB-B93C-ADFC0BF9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3937000"/>
            <a:ext cx="6350000" cy="939800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23" name="INTRO_ACENTO_4">
            <a:extLst xmlns:a="http://schemas.openxmlformats.org/drawingml/2006/main">
              <a:ext uri="{FF2B5EF4-FFF2-40B4-BE49-F238E27FC236}">
                <a16:creationId xmlns:a16="http://schemas.microsoft.com/office/drawing/2014/main" id="{58F85FE1-4115-405B-A138-05825799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4013200"/>
            <a:ext cx="381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24" name="INTRO_SEPARADOR_4">
            <a:extLst xmlns:a="http://schemas.openxmlformats.org/drawingml/2006/main">
              <a:ext uri="{FF2B5EF4-FFF2-40B4-BE49-F238E27FC236}">
                <a16:creationId xmlns:a16="http://schemas.microsoft.com/office/drawing/2014/main" id="{995BE7EE-0661-403A-AC1E-2F6EB4E2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0" y="4038600"/>
            <a:ext cx="6985" cy="73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25" name="INTRO_NUMERO_FONDO_4">
            <a:extLst xmlns:a="http://schemas.openxmlformats.org/drawingml/2006/main">
              <a:ext uri="{FF2B5EF4-FFF2-40B4-BE49-F238E27FC236}">
                <a16:creationId xmlns:a16="http://schemas.microsoft.com/office/drawing/2014/main" id="{C8E650B4-8E56-4ECA-A798-B9FA6DA0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4292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26" name="INTRO_TEXTO_1">
            <a:extLst xmlns:a="http://schemas.openxmlformats.org/drawingml/2006/main">
              <a:ext uri="{FF2B5EF4-FFF2-40B4-BE49-F238E27FC236}">
                <a16:creationId xmlns:a16="http://schemas.microsoft.com/office/drawing/2014/main" id="{0936628E-1D72-4C14-AF7F-6AEAD61F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4" y="127480"/>
            <a:ext cx="2540000" cy="276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9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500" b="1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INTRODUCCIÓN</a:t>
            </a:r>
          </a:p>
        </p:txBody>
      </p:sp>
      <p:sp>
        <p:nvSpPr>
          <p:cNvPr id="27" name="INTRO_TEXTO_2">
            <a:extLst xmlns:a="http://schemas.openxmlformats.org/drawingml/2006/main">
              <a:ext uri="{FF2B5EF4-FFF2-40B4-BE49-F238E27FC236}">
                <a16:creationId xmlns:a16="http://schemas.microsoft.com/office/drawing/2014/main" id="{875C8661-FE82-41D0-9071-B3890EC4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157" y="135999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8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81" b="0" i="0">
                <a:solidFill>
                  <a:srgbClr val="CFE7E1"/>
                </a:solidFill>
                <a:latin typeface="Noto Sans"/>
                <a:ea typeface="Noto Sans"/>
                <a:cs typeface="Noto Sans"/>
              </a:rPr>
              <a:t>Para consultar información con mayor desagregación, visita</a:t>
            </a:r>
          </a:p>
        </p:txBody>
      </p:sp>
      <p:sp>
        <p:nvSpPr>
          <p:cNvPr id="28" name="INTRO_TEXTO_3">
            <a:extLst xmlns:a="http://schemas.openxmlformats.org/drawingml/2006/main">
              <a:ext uri="{FF2B5EF4-FFF2-40B4-BE49-F238E27FC236}">
                <a16:creationId xmlns:a16="http://schemas.microsoft.com/office/drawing/2014/main" id="{2EBA0193-91BD-4DF8-AE47-002BD466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880" y="225645"/>
            <a:ext cx="18288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 i="0">
                <a:solidFill>
                  <a:srgbClr val="FFFFFF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44fd49cd4a32425c"/>
              </a:rPr>
              <a:t>BIT CRT · bit.crt.gob.mx/BitWebApp</a:t>
            </a:r>
          </a:p>
        </p:txBody>
      </p:sp>
      <p:sp>
        <p:nvSpPr>
          <p:cNvPr id="29" name="INTRO_SOBRE_TITULO">
            <a:extLst xmlns:a="http://schemas.openxmlformats.org/drawingml/2006/main">
              <a:ext uri="{FF2B5EF4-FFF2-40B4-BE49-F238E27FC236}">
                <a16:creationId xmlns:a16="http://schemas.microsoft.com/office/drawing/2014/main" id="{6AD782A6-78E1-4072-A3B9-2744407D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819150"/>
            <a:ext cx="1778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2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625" b="1">
                <a:solidFill>
                  <a:srgbClr val="9FD3C7"/>
                </a:solidFill>
              </a:rPr>
              <a:t>S O B R E  E L  A N U A R I O</a:t>
            </a:r>
          </a:p>
        </p:txBody>
      </p:sp>
      <p:sp>
        <p:nvSpPr>
          <p:cNvPr id="30" name="INTRO_TEXTO_4">
            <a:extLst xmlns:a="http://schemas.openxmlformats.org/drawingml/2006/main">
              <a:ext uri="{FF2B5EF4-FFF2-40B4-BE49-F238E27FC236}">
                <a16:creationId xmlns:a16="http://schemas.microsoft.com/office/drawing/2014/main" id="{52216F8A-766E-4906-993B-05F1F8C3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117183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El Anuario Estadístico 2024 </a:t>
            </a:r>
          </a:p>
        </p:txBody>
      </p:sp>
      <p:sp>
        <p:nvSpPr>
          <p:cNvPr id="31" name="INTRO_TEXTO_5">
            <a:extLst xmlns:a="http://schemas.openxmlformats.org/drawingml/2006/main">
              <a:ext uri="{FF2B5EF4-FFF2-40B4-BE49-F238E27FC236}">
                <a16:creationId xmlns:a16="http://schemas.microsoft.com/office/drawing/2014/main" id="{6BD90689-F106-4D78-96B9-D99D17C9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251472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presenta los principales </a:t>
            </a:r>
          </a:p>
        </p:txBody>
      </p:sp>
      <p:sp>
        <p:nvSpPr>
          <p:cNvPr id="32" name="INTRO_TEXTO_6">
            <a:extLst xmlns:a="http://schemas.openxmlformats.org/drawingml/2006/main">
              <a:ext uri="{FF2B5EF4-FFF2-40B4-BE49-F238E27FC236}">
                <a16:creationId xmlns:a16="http://schemas.microsoft.com/office/drawing/2014/main" id="{211F8CC9-11CC-4601-BE7C-63563AFE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385750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indicadores con los cuales el </a:t>
            </a:r>
          </a:p>
        </p:txBody>
      </p:sp>
      <p:sp>
        <p:nvSpPr>
          <p:cNvPr id="33" name="INTRO_TEXTO_7">
            <a:extLst xmlns:a="http://schemas.openxmlformats.org/drawingml/2006/main">
              <a:ext uri="{FF2B5EF4-FFF2-40B4-BE49-F238E27FC236}">
                <a16:creationId xmlns:a16="http://schemas.microsoft.com/office/drawing/2014/main" id="{536C90CD-CA37-4F83-940E-848F8B2B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520027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Instituto Federal de </a:t>
            </a:r>
          </a:p>
        </p:txBody>
      </p:sp>
      <p:sp>
        <p:nvSpPr>
          <p:cNvPr id="34" name="INTRO_TEXTO_8">
            <a:extLst xmlns:a="http://schemas.openxmlformats.org/drawingml/2006/main">
              <a:ext uri="{FF2B5EF4-FFF2-40B4-BE49-F238E27FC236}">
                <a16:creationId xmlns:a16="http://schemas.microsoft.com/office/drawing/2014/main" id="{FD42C724-83B2-4138-BABA-7BD8C012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654304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Telecomunicaciones (IFT) </a:t>
            </a:r>
          </a:p>
        </p:txBody>
      </p:sp>
      <p:sp>
        <p:nvSpPr>
          <p:cNvPr id="35" name="INTRO_TEXTO_9">
            <a:extLst xmlns:a="http://schemas.openxmlformats.org/drawingml/2006/main">
              <a:ext uri="{FF2B5EF4-FFF2-40B4-BE49-F238E27FC236}">
                <a16:creationId xmlns:a16="http://schemas.microsoft.com/office/drawing/2014/main" id="{DF84B6F4-7CED-4BB0-B780-5E6268BF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788581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monitorea la evolución de los </a:t>
            </a:r>
          </a:p>
        </p:txBody>
      </p:sp>
      <p:sp>
        <p:nvSpPr>
          <p:cNvPr id="36" name="INTRO_TEXTO_10">
            <a:extLst xmlns:a="http://schemas.openxmlformats.org/drawingml/2006/main">
              <a:ext uri="{FF2B5EF4-FFF2-40B4-BE49-F238E27FC236}">
                <a16:creationId xmlns:a16="http://schemas.microsoft.com/office/drawing/2014/main" id="{C03417EB-44CA-4D79-BB58-F8B351A2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1922871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sectores de las </a:t>
            </a:r>
          </a:p>
        </p:txBody>
      </p:sp>
      <p:sp>
        <p:nvSpPr>
          <p:cNvPr id="37" name="INTRO_TEXTO_11">
            <a:extLst xmlns:a="http://schemas.openxmlformats.org/drawingml/2006/main">
              <a:ext uri="{FF2B5EF4-FFF2-40B4-BE49-F238E27FC236}">
                <a16:creationId xmlns:a16="http://schemas.microsoft.com/office/drawing/2014/main" id="{2AFDC85B-F3D3-4D87-BC6C-8D59FBBF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057148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Telecomunicaciones y la </a:t>
            </a:r>
          </a:p>
        </p:txBody>
      </p:sp>
      <p:sp>
        <p:nvSpPr>
          <p:cNvPr id="38" name="INTRO_TEXTO_12">
            <a:extLst xmlns:a="http://schemas.openxmlformats.org/drawingml/2006/main">
              <a:ext uri="{FF2B5EF4-FFF2-40B4-BE49-F238E27FC236}">
                <a16:creationId xmlns:a16="http://schemas.microsoft.com/office/drawing/2014/main" id="{DAC77413-34AF-4358-B218-0DE67E23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191425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Radiodifusión (TyR) a nivel </a:t>
            </a:r>
          </a:p>
        </p:txBody>
      </p:sp>
      <p:sp>
        <p:nvSpPr>
          <p:cNvPr id="39" name="INTRO_TEXTO_13">
            <a:extLst xmlns:a="http://schemas.openxmlformats.org/drawingml/2006/main">
              <a:ext uri="{FF2B5EF4-FFF2-40B4-BE49-F238E27FC236}">
                <a16:creationId xmlns:a16="http://schemas.microsoft.com/office/drawing/2014/main" id="{2880C6F5-850C-4338-9989-F687515D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325702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nacional y para algunos </a:t>
            </a:r>
          </a:p>
        </p:txBody>
      </p:sp>
      <p:sp>
        <p:nvSpPr>
          <p:cNvPr id="40" name="INTRO_TEXTO_14">
            <a:extLst xmlns:a="http://schemas.openxmlformats.org/drawingml/2006/main">
              <a:ext uri="{FF2B5EF4-FFF2-40B4-BE49-F238E27FC236}">
                <a16:creationId xmlns:a16="http://schemas.microsoft.com/office/drawing/2014/main" id="{C2812C43-6634-42CD-A078-9F68137E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459992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indicadores a nivel entidad </a:t>
            </a:r>
          </a:p>
        </p:txBody>
      </p:sp>
      <p:sp>
        <p:nvSpPr>
          <p:cNvPr id="41" name="INTRO_TEXTO_15">
            <a:extLst xmlns:a="http://schemas.openxmlformats.org/drawingml/2006/main">
              <a:ext uri="{FF2B5EF4-FFF2-40B4-BE49-F238E27FC236}">
                <a16:creationId xmlns:a16="http://schemas.microsoft.com/office/drawing/2014/main" id="{9764DC29-6C4D-4758-8F65-EC118DCD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594269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federativa. Con ello el IFT, a </a:t>
            </a:r>
          </a:p>
        </p:txBody>
      </p:sp>
      <p:sp>
        <p:nvSpPr>
          <p:cNvPr id="42" name="INTRO_TEXTO_16">
            <a:extLst xmlns:a="http://schemas.openxmlformats.org/drawingml/2006/main">
              <a:ext uri="{FF2B5EF4-FFF2-40B4-BE49-F238E27FC236}">
                <a16:creationId xmlns:a16="http://schemas.microsoft.com/office/drawing/2014/main" id="{E2EAF48C-37E7-4F90-84EB-E956FE5C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728546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través de la Coordinación General </a:t>
            </a:r>
          </a:p>
        </p:txBody>
      </p:sp>
      <p:sp>
        <p:nvSpPr>
          <p:cNvPr id="43" name="INTRO_TEXTO_17">
            <a:extLst xmlns:a="http://schemas.openxmlformats.org/drawingml/2006/main">
              <a:ext uri="{FF2B5EF4-FFF2-40B4-BE49-F238E27FC236}">
                <a16:creationId xmlns:a16="http://schemas.microsoft.com/office/drawing/2014/main" id="{3E981804-BA50-4EEE-A4F7-85252A02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862823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 Planeación Estratégica </a:t>
            </a:r>
          </a:p>
        </p:txBody>
      </p:sp>
      <p:sp>
        <p:nvSpPr>
          <p:cNvPr id="44" name="INTRO_TEXTO_18">
            <a:extLst xmlns:a="http://schemas.openxmlformats.org/drawingml/2006/main">
              <a:ext uri="{FF2B5EF4-FFF2-40B4-BE49-F238E27FC236}">
                <a16:creationId xmlns:a16="http://schemas.microsoft.com/office/drawing/2014/main" id="{66D1E505-90C1-4F64-A9CE-D99EB71B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2997113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proporciona información puntual y </a:t>
            </a:r>
          </a:p>
        </p:txBody>
      </p:sp>
      <p:sp>
        <p:nvSpPr>
          <p:cNvPr id="45" name="INTRO_TEXTO_19">
            <a:extLst xmlns:a="http://schemas.openxmlformats.org/drawingml/2006/main">
              <a:ext uri="{FF2B5EF4-FFF2-40B4-BE49-F238E27FC236}">
                <a16:creationId xmlns:a16="http://schemas.microsoft.com/office/drawing/2014/main" id="{F6B19A7F-2D2C-4130-86A5-26B32DB7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131390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confiable a los diferentes actores </a:t>
            </a:r>
          </a:p>
        </p:txBody>
      </p:sp>
      <p:sp>
        <p:nvSpPr>
          <p:cNvPr id="46" name="INTRO_TEXTO_20">
            <a:extLst xmlns:a="http://schemas.openxmlformats.org/drawingml/2006/main">
              <a:ext uri="{FF2B5EF4-FFF2-40B4-BE49-F238E27FC236}">
                <a16:creationId xmlns:a16="http://schemas.microsoft.com/office/drawing/2014/main" id="{A9ED9EF3-5D71-4FFB-9CC0-BE7CE00E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265667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públicos y privados que participan </a:t>
            </a:r>
          </a:p>
        </p:txBody>
      </p:sp>
      <p:sp>
        <p:nvSpPr>
          <p:cNvPr id="47" name="INTRO_TEXTO_21">
            <a:extLst xmlns:a="http://schemas.openxmlformats.org/drawingml/2006/main">
              <a:ext uri="{FF2B5EF4-FFF2-40B4-BE49-F238E27FC236}">
                <a16:creationId xmlns:a16="http://schemas.microsoft.com/office/drawing/2014/main" id="{79C4BC74-A88B-4B2A-A278-31CF769F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399944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en dichos sectores para </a:t>
            </a:r>
          </a:p>
        </p:txBody>
      </p:sp>
      <p:sp>
        <p:nvSpPr>
          <p:cNvPr id="48" name="INTRO_TEXTO_22">
            <a:extLst xmlns:a="http://schemas.openxmlformats.org/drawingml/2006/main">
              <a:ext uri="{FF2B5EF4-FFF2-40B4-BE49-F238E27FC236}">
                <a16:creationId xmlns:a16="http://schemas.microsoft.com/office/drawing/2014/main" id="{9F6A05EB-15F4-4E1F-B076-CC3F5D45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534221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robustecer la toma de decisiones, </a:t>
            </a:r>
          </a:p>
        </p:txBody>
      </p:sp>
      <p:sp>
        <p:nvSpPr>
          <p:cNvPr id="49" name="INTRO_TEXTO_23">
            <a:extLst xmlns:a="http://schemas.openxmlformats.org/drawingml/2006/main">
              <a:ext uri="{FF2B5EF4-FFF2-40B4-BE49-F238E27FC236}">
                <a16:creationId xmlns:a16="http://schemas.microsoft.com/office/drawing/2014/main" id="{A144D5CB-03AA-44AE-BADE-E4153C39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668511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el diseño de nuevas políticas </a:t>
            </a:r>
          </a:p>
        </p:txBody>
      </p:sp>
      <p:sp>
        <p:nvSpPr>
          <p:cNvPr id="50" name="INTRO_TEXTO_24">
            <a:extLst xmlns:a="http://schemas.openxmlformats.org/drawingml/2006/main">
              <a:ext uri="{FF2B5EF4-FFF2-40B4-BE49-F238E27FC236}">
                <a16:creationId xmlns:a16="http://schemas.microsoft.com/office/drawing/2014/main" id="{DFED4B78-00CC-4EF5-94BF-A8C00373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802788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públicas y regulatorias con el fin </a:t>
            </a:r>
          </a:p>
        </p:txBody>
      </p:sp>
      <p:sp>
        <p:nvSpPr>
          <p:cNvPr id="51" name="INTRO_TEXTO_25">
            <a:extLst xmlns:a="http://schemas.openxmlformats.org/drawingml/2006/main">
              <a:ext uri="{FF2B5EF4-FFF2-40B4-BE49-F238E27FC236}">
                <a16:creationId xmlns:a16="http://schemas.microsoft.com/office/drawing/2014/main" id="{74F91674-2B7A-4779-BEF9-675E54A8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3937065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 mejorar y garantizar la calidad </a:t>
            </a:r>
          </a:p>
        </p:txBody>
      </p:sp>
      <p:sp>
        <p:nvSpPr>
          <p:cNvPr id="52" name="INTRO_TEXTO_26">
            <a:extLst xmlns:a="http://schemas.openxmlformats.org/drawingml/2006/main">
              <a:ext uri="{FF2B5EF4-FFF2-40B4-BE49-F238E27FC236}">
                <a16:creationId xmlns:a16="http://schemas.microsoft.com/office/drawing/2014/main" id="{F9B0123F-B07D-4A91-8EEE-10AE48E5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4071343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 los servicios de </a:t>
            </a:r>
          </a:p>
        </p:txBody>
      </p:sp>
      <p:sp>
        <p:nvSpPr>
          <p:cNvPr id="53" name="INTRO_TEXTO_27">
            <a:extLst xmlns:a="http://schemas.openxmlformats.org/drawingml/2006/main">
              <a:ext uri="{FF2B5EF4-FFF2-40B4-BE49-F238E27FC236}">
                <a16:creationId xmlns:a16="http://schemas.microsoft.com/office/drawing/2014/main" id="{C28A19A7-B4B7-4753-B6CA-93635324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4205632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Telecomunicaciones y </a:t>
            </a:r>
          </a:p>
        </p:txBody>
      </p:sp>
      <p:sp>
        <p:nvSpPr>
          <p:cNvPr id="54" name="INTRO_TEXTO_28">
            <a:extLst xmlns:a="http://schemas.openxmlformats.org/drawingml/2006/main">
              <a:ext uri="{FF2B5EF4-FFF2-40B4-BE49-F238E27FC236}">
                <a16:creationId xmlns:a16="http://schemas.microsoft.com/office/drawing/2014/main" id="{BBAE18BD-1B28-49D9-B073-764D4107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765" y="4339909"/>
            <a:ext cx="1841500" cy="139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6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60" b="0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Radiodifusión.</a:t>
            </a:r>
          </a:p>
        </p:txBody>
      </p:sp>
      <p:sp>
        <p:nvSpPr>
          <p:cNvPr id="55" name="INTRO_TEXTO_29">
            <a:extLst xmlns:a="http://schemas.openxmlformats.org/drawingml/2006/main">
              <a:ext uri="{FF2B5EF4-FFF2-40B4-BE49-F238E27FC236}">
                <a16:creationId xmlns:a16="http://schemas.microsoft.com/office/drawing/2014/main" id="{3B9C67BC-D953-4DEA-ACBE-40A011D9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86" y="670611"/>
            <a:ext cx="6019800" cy="150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0" i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El Anuario se divide en ocho secciones, las cuales presentan indicadores relevantes para el análisis a nivel </a:t>
            </a:r>
          </a:p>
        </p:txBody>
      </p:sp>
      <p:sp>
        <p:nvSpPr>
          <p:cNvPr id="56" name="INTRO_TEXTO_30">
            <a:extLst xmlns:a="http://schemas.openxmlformats.org/drawingml/2006/main">
              <a:ext uri="{FF2B5EF4-FFF2-40B4-BE49-F238E27FC236}">
                <a16:creationId xmlns:a16="http://schemas.microsoft.com/office/drawing/2014/main" id="{7192D7B4-3601-4AB1-A89D-38A83CAA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86" y="795541"/>
            <a:ext cx="6019800" cy="150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0" i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nacional y algunos para el análisis por entidad federativa. A continuación, se da una breve descripción de cada </a:t>
            </a:r>
          </a:p>
        </p:txBody>
      </p:sp>
      <p:sp>
        <p:nvSpPr>
          <p:cNvPr id="57" name="INTRO_TEXTO_31">
            <a:extLst xmlns:a="http://schemas.openxmlformats.org/drawingml/2006/main">
              <a:ext uri="{FF2B5EF4-FFF2-40B4-BE49-F238E27FC236}">
                <a16:creationId xmlns:a16="http://schemas.microsoft.com/office/drawing/2014/main" id="{65E1647B-BCC2-430B-958F-857C94BF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886" y="920458"/>
            <a:ext cx="6019800" cy="1508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0" i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una:</a:t>
            </a:r>
          </a:p>
        </p:txBody>
      </p:sp>
      <p:sp>
        <p:nvSpPr>
          <p:cNvPr id="58" name="INTRO_NUMERO_1">
            <a:extLst xmlns:a="http://schemas.openxmlformats.org/drawingml/2006/main">
              <a:ext uri="{FF2B5EF4-FFF2-40B4-BE49-F238E27FC236}">
                <a16:creationId xmlns:a16="http://schemas.microsoft.com/office/drawing/2014/main" id="{B2541F9D-9050-4678-AFD4-EA156826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1384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9" name="INTRO_SECCION_1_1">
            <a:extLst xmlns:a="http://schemas.openxmlformats.org/drawingml/2006/main">
              <a:ext uri="{FF2B5EF4-FFF2-40B4-BE49-F238E27FC236}">
                <a16:creationId xmlns:a16="http://schemas.microsoft.com/office/drawing/2014/main" id="{6F0B13B8-95A6-44CB-AD62-DFCAED5F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36398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Indicadores Económicos </a:t>
            </a:r>
          </a:p>
        </p:txBody>
      </p:sp>
      <p:sp>
        <p:nvSpPr>
          <p:cNvPr id="60" name="INTRO_SECCION_1_2">
            <a:extLst xmlns:a="http://schemas.openxmlformats.org/drawingml/2006/main">
              <a:ext uri="{FF2B5EF4-FFF2-40B4-BE49-F238E27FC236}">
                <a16:creationId xmlns:a16="http://schemas.microsoft.com/office/drawing/2014/main" id="{31F2C968-5A63-4778-84E9-C7485033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49860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de las TyR:</a:t>
            </a:r>
          </a:p>
        </p:txBody>
      </p:sp>
      <p:sp>
        <p:nvSpPr>
          <p:cNvPr id="61" name="INTRO_TEXTO_32">
            <a:extLst xmlns:a="http://schemas.openxmlformats.org/drawingml/2006/main">
              <a:ext uri="{FF2B5EF4-FFF2-40B4-BE49-F238E27FC236}">
                <a16:creationId xmlns:a16="http://schemas.microsoft.com/office/drawing/2014/main" id="{CDEF6A0C-4025-4B76-97C8-EB344B40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127000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Incluye Producto Interno Bruto (PIB); número de personas empleadas; índices de </a:t>
            </a:r>
          </a:p>
        </p:txBody>
      </p:sp>
      <p:sp>
        <p:nvSpPr>
          <p:cNvPr id="62" name="INTRO_TEXTO_33">
            <a:extLst xmlns:a="http://schemas.openxmlformats.org/drawingml/2006/main">
              <a:ext uri="{FF2B5EF4-FFF2-40B4-BE49-F238E27FC236}">
                <a16:creationId xmlns:a16="http://schemas.microsoft.com/office/drawing/2014/main" id="{CB041FC1-1B59-466E-AB8A-216C6D4B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138176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precios; inversión privada en telecomunicaciones; Inversión Extranjera Directa (IED); </a:t>
            </a:r>
          </a:p>
        </p:txBody>
      </p:sp>
      <p:sp>
        <p:nvSpPr>
          <p:cNvPr id="63" name="INTRO_TEXTO_34">
            <a:extLst xmlns:a="http://schemas.openxmlformats.org/drawingml/2006/main">
              <a:ext uri="{FF2B5EF4-FFF2-40B4-BE49-F238E27FC236}">
                <a16:creationId xmlns:a16="http://schemas.microsoft.com/office/drawing/2014/main" id="{F3B691B4-13E6-4D97-9BF8-D624F901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149352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ingresos, egresos y margen del sector; y el ingreso y gasto en los hogares de los </a:t>
            </a:r>
          </a:p>
        </p:txBody>
      </p:sp>
      <p:sp>
        <p:nvSpPr>
          <p:cNvPr id="64" name="INTRO_TEXTO_35">
            <a:extLst xmlns:a="http://schemas.openxmlformats.org/drawingml/2006/main">
              <a:ext uri="{FF2B5EF4-FFF2-40B4-BE49-F238E27FC236}">
                <a16:creationId xmlns:a16="http://schemas.microsoft.com/office/drawing/2014/main" id="{CEBC33AE-C347-439E-AA34-7926D411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160528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servicios de telecomunicaciones fijas y móviles.</a:t>
            </a:r>
          </a:p>
        </p:txBody>
      </p:sp>
      <p:sp>
        <p:nvSpPr>
          <p:cNvPr id="65" name="INTRO_NUMERO_2">
            <a:extLst xmlns:a="http://schemas.openxmlformats.org/drawingml/2006/main">
              <a:ext uri="{FF2B5EF4-FFF2-40B4-BE49-F238E27FC236}">
                <a16:creationId xmlns:a16="http://schemas.microsoft.com/office/drawing/2014/main" id="{10044063-37DE-45C0-9296-26CACE0D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2349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6" name="INTRO_SECCION_2_1">
            <a:extLst xmlns:a="http://schemas.openxmlformats.org/drawingml/2006/main">
              <a:ext uri="{FF2B5EF4-FFF2-40B4-BE49-F238E27FC236}">
                <a16:creationId xmlns:a16="http://schemas.microsoft.com/office/drawing/2014/main" id="{E7A0210B-79BA-49E7-B34D-F84F7436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2918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Servicios Fijos de </a:t>
            </a:r>
          </a:p>
        </p:txBody>
      </p:sp>
      <p:sp>
        <p:nvSpPr>
          <p:cNvPr id="67" name="INTRO_SECCION_2_2">
            <a:extLst xmlns:a="http://schemas.openxmlformats.org/drawingml/2006/main">
              <a:ext uri="{FF2B5EF4-FFF2-40B4-BE49-F238E27FC236}">
                <a16:creationId xmlns:a16="http://schemas.microsoft.com/office/drawing/2014/main" id="{B69FD241-09E4-4FC9-847C-1FF47188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6380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Telecomunicaciones:</a:t>
            </a:r>
          </a:p>
        </p:txBody>
      </p:sp>
      <p:sp>
        <p:nvSpPr>
          <p:cNvPr id="68" name="INTRO_TEXTO_36">
            <a:extLst xmlns:a="http://schemas.openxmlformats.org/drawingml/2006/main">
              <a:ext uri="{FF2B5EF4-FFF2-40B4-BE49-F238E27FC236}">
                <a16:creationId xmlns:a16="http://schemas.microsoft.com/office/drawing/2014/main" id="{AC519C1A-51C6-4781-B14F-8AA4A32A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198120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Comprende la distribución de los servicios fijos en los hogares; números de </a:t>
            </a:r>
          </a:p>
        </p:txBody>
      </p:sp>
      <p:sp>
        <p:nvSpPr>
          <p:cNvPr id="69" name="INTRO_TEXTO_37">
            <a:extLst xmlns:a="http://schemas.openxmlformats.org/drawingml/2006/main">
              <a:ext uri="{FF2B5EF4-FFF2-40B4-BE49-F238E27FC236}">
                <a16:creationId xmlns:a16="http://schemas.microsoft.com/office/drawing/2014/main" id="{6CFA896A-3F88-470E-85EE-E7AB1337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09296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accesos/líneas totales; participación y concentración de mercado; números de </a:t>
            </a:r>
          </a:p>
        </p:txBody>
      </p:sp>
      <p:sp>
        <p:nvSpPr>
          <p:cNvPr id="70" name="INTRO_TEXTO_38">
            <a:extLst xmlns:a="http://schemas.openxmlformats.org/drawingml/2006/main">
              <a:ext uri="{FF2B5EF4-FFF2-40B4-BE49-F238E27FC236}">
                <a16:creationId xmlns:a16="http://schemas.microsoft.com/office/drawing/2014/main" id="{D1D873C7-942E-4CD8-9540-24B9F593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20472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accesos/líneas por cada 100 hogares a nivel nacional; números de accesos/líneas por </a:t>
            </a:r>
          </a:p>
        </p:txBody>
      </p:sp>
      <p:sp>
        <p:nvSpPr>
          <p:cNvPr id="71" name="INTRO_TEXTO_39">
            <a:extLst xmlns:a="http://schemas.openxmlformats.org/drawingml/2006/main">
              <a:ext uri="{FF2B5EF4-FFF2-40B4-BE49-F238E27FC236}">
                <a16:creationId xmlns:a16="http://schemas.microsoft.com/office/drawing/2014/main" id="{3A52A9E6-0E13-4D8D-8BC8-6A010B9B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31648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cada 100 hogares/unidades económicas en los segmentos residencial y no residencial </a:t>
            </a:r>
          </a:p>
        </p:txBody>
      </p:sp>
      <p:sp>
        <p:nvSpPr>
          <p:cNvPr id="72" name="INTRO_TEXTO_40">
            <a:extLst xmlns:a="http://schemas.openxmlformats.org/drawingml/2006/main">
              <a:ext uri="{FF2B5EF4-FFF2-40B4-BE49-F238E27FC236}">
                <a16:creationId xmlns:a16="http://schemas.microsoft.com/office/drawing/2014/main" id="{CE5BAF5E-6CEF-4B14-8B47-133C4D5D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42824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a nivel entidad federativa de los servicios fijos de telefonía, acceso a Internet y </a:t>
            </a:r>
          </a:p>
        </p:txBody>
      </p:sp>
      <p:sp>
        <p:nvSpPr>
          <p:cNvPr id="73" name="INTRO_TEXTO_41">
            <a:extLst xmlns:a="http://schemas.openxmlformats.org/drawingml/2006/main">
              <a:ext uri="{FF2B5EF4-FFF2-40B4-BE49-F238E27FC236}">
                <a16:creationId xmlns:a16="http://schemas.microsoft.com/office/drawing/2014/main" id="{290DAABE-A5CD-4458-92F4-7FF1F55C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54000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televisión restringida; así como el tráfico del servicio fijo de telefonía; y la participación </a:t>
            </a:r>
          </a:p>
        </p:txBody>
      </p:sp>
      <p:sp>
        <p:nvSpPr>
          <p:cNvPr id="74" name="INTRO_TEXTO_42">
            <a:extLst xmlns:a="http://schemas.openxmlformats.org/drawingml/2006/main">
              <a:ext uri="{FF2B5EF4-FFF2-40B4-BE49-F238E27FC236}">
                <a16:creationId xmlns:a16="http://schemas.microsoft.com/office/drawing/2014/main" id="{A2B33632-BE8E-47DC-B375-9DACABEA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65176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de las tecnologías y rangos de velocidad utilizadas para la prestación del servicio fijo </a:t>
            </a:r>
          </a:p>
        </p:txBody>
      </p:sp>
      <p:sp>
        <p:nvSpPr>
          <p:cNvPr id="75" name="INTRO_TEXTO_43">
            <a:extLst xmlns:a="http://schemas.openxmlformats.org/drawingml/2006/main">
              <a:ext uri="{FF2B5EF4-FFF2-40B4-BE49-F238E27FC236}">
                <a16:creationId xmlns:a16="http://schemas.microsoft.com/office/drawing/2014/main" id="{CCB8D276-D1DB-4BCC-A815-08FDD991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276352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de acceso a Internet y del servicio de televisión restringida.</a:t>
            </a:r>
          </a:p>
        </p:txBody>
      </p:sp>
      <p:sp>
        <p:nvSpPr>
          <p:cNvPr id="76" name="INTRO_NUMERO_3">
            <a:extLst xmlns:a="http://schemas.openxmlformats.org/drawingml/2006/main">
              <a:ext uri="{FF2B5EF4-FFF2-40B4-BE49-F238E27FC236}">
                <a16:creationId xmlns:a16="http://schemas.microsoft.com/office/drawing/2014/main" id="{4E0CE3D0-19FB-405D-BCA5-F5D9FA2A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3365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7" name="INTRO_SECCION_3_1">
            <a:extLst xmlns:a="http://schemas.openxmlformats.org/drawingml/2006/main">
              <a:ext uri="{FF2B5EF4-FFF2-40B4-BE49-F238E27FC236}">
                <a16:creationId xmlns:a16="http://schemas.microsoft.com/office/drawing/2014/main" id="{A274F237-CF90-4FFF-9A27-A2133ED0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4518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Servicios Móviles de </a:t>
            </a:r>
          </a:p>
        </p:txBody>
      </p:sp>
      <p:sp>
        <p:nvSpPr>
          <p:cNvPr id="78" name="INTRO_SECCION_3_2">
            <a:extLst xmlns:a="http://schemas.openxmlformats.org/drawingml/2006/main">
              <a:ext uri="{FF2B5EF4-FFF2-40B4-BE49-F238E27FC236}">
                <a16:creationId xmlns:a16="http://schemas.microsoft.com/office/drawing/2014/main" id="{62CF09A8-B8F2-4B26-BDA2-255BC627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7980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Telecomunicaciones:</a:t>
            </a:r>
          </a:p>
        </p:txBody>
      </p:sp>
      <p:sp>
        <p:nvSpPr>
          <p:cNvPr id="79" name="INTRO_TEXTO_44">
            <a:extLst xmlns:a="http://schemas.openxmlformats.org/drawingml/2006/main">
              <a:ext uri="{FF2B5EF4-FFF2-40B4-BE49-F238E27FC236}">
                <a16:creationId xmlns:a16="http://schemas.microsoft.com/office/drawing/2014/main" id="{AC35FFD4-5E9A-454E-A12B-FA4C3E3D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320040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Incluye la distribución del espectro radioeléctrico por banda de frecuencia y por </a:t>
            </a:r>
          </a:p>
        </p:txBody>
      </p:sp>
      <p:sp>
        <p:nvSpPr>
          <p:cNvPr id="80" name="INTRO_TEXTO_45">
            <a:extLst xmlns:a="http://schemas.openxmlformats.org/drawingml/2006/main">
              <a:ext uri="{FF2B5EF4-FFF2-40B4-BE49-F238E27FC236}">
                <a16:creationId xmlns:a16="http://schemas.microsoft.com/office/drawing/2014/main" id="{CDFCF6B8-AA49-4D10-A598-E2AAF6B9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331216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operador; el uso de los servicios móviles de telecomunicaciones por la población; el </a:t>
            </a:r>
          </a:p>
        </p:txBody>
      </p:sp>
      <p:sp>
        <p:nvSpPr>
          <p:cNvPr id="81" name="INTRO_TEXTO_46">
            <a:extLst xmlns:a="http://schemas.openxmlformats.org/drawingml/2006/main">
              <a:ext uri="{FF2B5EF4-FFF2-40B4-BE49-F238E27FC236}">
                <a16:creationId xmlns:a16="http://schemas.microsoft.com/office/drawing/2014/main" id="{66078D7F-686B-4C96-9DDA-F22F0C14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342392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número de líneas totales; la participación y concentración de mercado; el número de </a:t>
            </a:r>
          </a:p>
        </p:txBody>
      </p:sp>
      <p:sp>
        <p:nvSpPr>
          <p:cNvPr id="82" name="INTRO_TEXTO_47">
            <a:extLst xmlns:a="http://schemas.openxmlformats.org/drawingml/2006/main">
              <a:ext uri="{FF2B5EF4-FFF2-40B4-BE49-F238E27FC236}">
                <a16:creationId xmlns:a16="http://schemas.microsoft.com/office/drawing/2014/main" id="{57DAE001-AFE5-4D03-B5D0-C3F94AD6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353568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líneas por cada 100 habitantes a nivel nacional y por entidad federativa; y el tráfico de </a:t>
            </a:r>
          </a:p>
        </p:txBody>
      </p:sp>
      <p:sp>
        <p:nvSpPr>
          <p:cNvPr id="83" name="INTRO_TEXTO_48">
            <a:extLst xmlns:a="http://schemas.openxmlformats.org/drawingml/2006/main">
              <a:ext uri="{FF2B5EF4-FFF2-40B4-BE49-F238E27FC236}">
                <a16:creationId xmlns:a16="http://schemas.microsoft.com/office/drawing/2014/main" id="{DD0A7A0A-BDC1-484E-9159-43D09EDC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364744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los servicios móviles de telefonía y de acceso a Internet.</a:t>
            </a:r>
          </a:p>
        </p:txBody>
      </p:sp>
      <p:sp>
        <p:nvSpPr>
          <p:cNvPr id="84" name="INTRO_NUMERO_4">
            <a:extLst xmlns:a="http://schemas.openxmlformats.org/drawingml/2006/main">
              <a:ext uri="{FF2B5EF4-FFF2-40B4-BE49-F238E27FC236}">
                <a16:creationId xmlns:a16="http://schemas.microsoft.com/office/drawing/2014/main" id="{AF896CD7-66ED-4125-8776-E7031F37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00" y="42926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5" name="INTRO_SECCION_4_1">
            <a:extLst xmlns:a="http://schemas.openxmlformats.org/drawingml/2006/main">
              <a:ext uri="{FF2B5EF4-FFF2-40B4-BE49-F238E27FC236}">
                <a16:creationId xmlns:a16="http://schemas.microsoft.com/office/drawing/2014/main" id="{4A56839D-729E-46E3-8F78-6EC30AA5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0497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Tecnologías de la </a:t>
            </a:r>
          </a:p>
        </p:txBody>
      </p:sp>
      <p:sp>
        <p:nvSpPr>
          <p:cNvPr id="86" name="INTRO_SECCION_4_2">
            <a:extLst xmlns:a="http://schemas.openxmlformats.org/drawingml/2006/main">
              <a:ext uri="{FF2B5EF4-FFF2-40B4-BE49-F238E27FC236}">
                <a16:creationId xmlns:a16="http://schemas.microsoft.com/office/drawing/2014/main" id="{9A252672-72B8-455D-94F2-BD33B18C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3959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Información y </a:t>
            </a:r>
          </a:p>
        </p:txBody>
      </p:sp>
      <p:sp>
        <p:nvSpPr>
          <p:cNvPr id="87" name="INTRO_SECCION_4_3">
            <a:extLst xmlns:a="http://schemas.openxmlformats.org/drawingml/2006/main">
              <a:ext uri="{FF2B5EF4-FFF2-40B4-BE49-F238E27FC236}">
                <a16:creationId xmlns:a16="http://schemas.microsoft.com/office/drawing/2014/main" id="{7DDB1388-4B0D-4F03-8955-1BF2D45E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74210"/>
            <a:ext cx="1524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 i="0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Comunicación (TIC):</a:t>
            </a:r>
          </a:p>
        </p:txBody>
      </p:sp>
      <p:sp>
        <p:nvSpPr>
          <p:cNvPr id="88" name="INTRO_TEXTO_49">
            <a:extLst xmlns:a="http://schemas.openxmlformats.org/drawingml/2006/main">
              <a:ext uri="{FF2B5EF4-FFF2-40B4-BE49-F238E27FC236}">
                <a16:creationId xmlns:a16="http://schemas.microsoft.com/office/drawing/2014/main" id="{27AA3831-3A73-4B14-A6B7-2D8E210E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01320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Contiene información de la disponibilidad de aparatos de radio, equipo de cómputo, </a:t>
            </a:r>
          </a:p>
        </p:txBody>
      </p:sp>
      <p:sp>
        <p:nvSpPr>
          <p:cNvPr id="89" name="INTRO_TEXTO_50">
            <a:extLst xmlns:a="http://schemas.openxmlformats.org/drawingml/2006/main">
              <a:ext uri="{FF2B5EF4-FFF2-40B4-BE49-F238E27FC236}">
                <a16:creationId xmlns:a16="http://schemas.microsoft.com/office/drawing/2014/main" id="{669FAFE1-94F0-4D1D-B3C4-DF395C98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12496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teléfono móvil, televisores digitales y analógicos en los hogares, porcentaje de </a:t>
            </a:r>
          </a:p>
        </p:txBody>
      </p:sp>
      <p:sp>
        <p:nvSpPr>
          <p:cNvPr id="90" name="INTRO_TEXTO_51">
            <a:extLst xmlns:a="http://schemas.openxmlformats.org/drawingml/2006/main">
              <a:ext uri="{FF2B5EF4-FFF2-40B4-BE49-F238E27FC236}">
                <a16:creationId xmlns:a16="http://schemas.microsoft.com/office/drawing/2014/main" id="{CC930FD8-74EE-482E-8EB2-37C902CC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23672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usuarios de Internet y </a:t>
            </a:r>
            <a:r>
              <a:rPr sz="720" b="0" i="1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Smartphone</a:t>
            </a: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; y horas promedio de uso de Internet por grupos de </a:t>
            </a:r>
          </a:p>
        </p:txBody>
      </p:sp>
      <p:sp>
        <p:nvSpPr>
          <p:cNvPr id="91" name="INTRO_TEXTO_52">
            <a:extLst xmlns:a="http://schemas.openxmlformats.org/drawingml/2006/main">
              <a:ext uri="{FF2B5EF4-FFF2-40B4-BE49-F238E27FC236}">
                <a16:creationId xmlns:a16="http://schemas.microsoft.com/office/drawing/2014/main" id="{64152F2E-E0E2-4244-9601-3110C008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34848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edad, uso de dispositivos inteligentes (bocina o asistente del hogar, sistema de video </a:t>
            </a:r>
          </a:p>
        </p:txBody>
      </p:sp>
      <p:sp>
        <p:nvSpPr>
          <p:cNvPr id="92" name="INTRO_TEXTO_53">
            <a:extLst xmlns:a="http://schemas.openxmlformats.org/drawingml/2006/main">
              <a:ext uri="{FF2B5EF4-FFF2-40B4-BE49-F238E27FC236}">
                <a16:creationId xmlns:a16="http://schemas.microsoft.com/office/drawing/2014/main" id="{F8556B8C-7CC4-4E14-93DA-C3CFA466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46024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vigilancia, puertas o ventanas de cerrado digital, termostato, dispositivos de ahorro de </a:t>
            </a:r>
          </a:p>
        </p:txBody>
      </p:sp>
      <p:sp>
        <p:nvSpPr>
          <p:cNvPr id="93" name="INTRO_TEXTO_54">
            <a:extLst xmlns:a="http://schemas.openxmlformats.org/drawingml/2006/main">
              <a:ext uri="{FF2B5EF4-FFF2-40B4-BE49-F238E27FC236}">
                <a16:creationId xmlns:a16="http://schemas.microsoft.com/office/drawing/2014/main" id="{68665F53-C432-4926-BC53-EEF33270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57200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energía, conexión eléctrica, electrodomésticos) por grupo de edad, y los efectos de la </a:t>
            </a:r>
          </a:p>
        </p:txBody>
      </p:sp>
      <p:sp>
        <p:nvSpPr>
          <p:cNvPr id="94" name="INTRO_TEXTO_55">
            <a:extLst xmlns:a="http://schemas.openxmlformats.org/drawingml/2006/main">
              <a:ext uri="{FF2B5EF4-FFF2-40B4-BE49-F238E27FC236}">
                <a16:creationId xmlns:a16="http://schemas.microsoft.com/office/drawing/2014/main" id="{F7DF738E-9E69-43CD-938B-DB8E966F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600" y="4683760"/>
            <a:ext cx="4013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12F"/>
                </a:solidFill>
                <a:latin typeface="Noto Sans"/>
                <a:ea typeface="Noto Sans"/>
                <a:cs typeface="Noto Sans"/>
              </a:rPr>
              <a:t>desconfianza en Internet sobre las actividades en línea que realizan los usuarios.</a:t>
            </a:r>
          </a:p>
        </p:txBody>
      </p:sp>
      <p:sp>
        <p:nvSpPr>
          <p:cNvPr id="95" name="ANUARIO_PAGE_NUMBER">
            <a:extLst xmlns:a="http://schemas.openxmlformats.org/drawingml/2006/main">
              <a:ext uri="{FF2B5EF4-FFF2-40B4-BE49-F238E27FC236}">
                <a16:creationId xmlns:a16="http://schemas.microsoft.com/office/drawing/2014/main" id="{D3448042-EACC-4FBB-B0E1-633233EA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019040"/>
            <a:ext cx="254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96" name="INTRO_EDICION_PIE">
            <a:extLst xmlns:a="http://schemas.openxmlformats.org/drawingml/2006/main">
              <a:ext uri="{FF2B5EF4-FFF2-40B4-BE49-F238E27FC236}">
                <a16:creationId xmlns:a16="http://schemas.microsoft.com/office/drawing/2014/main" id="{284C3B4B-9391-4E08-924A-C3A44D04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040"/>
            <a:ext cx="200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65">
                <a:solidFill>
                  <a:srgbClr val="FFFFFF"/>
                </a:solidFill>
              </a:rPr>
              <a:t>A N U A R I O   E S T A D Í S T I C O   2 0 2 6</a:t>
            </a:r>
          </a:p>
        </p:txBody>
      </p:sp>
    </p:spTree>
    <p:extLst>
      <p:ext uri="{BB962C8B-B14F-4D97-AF65-F5344CB8AC3E}">
        <p14:creationId xmlns:p14="http://schemas.microsoft.com/office/powerpoint/2010/main" val="350393902"/>
      </p:ext>
    </p:extLst>
  </p:cSld>
  <p:clrMapOvr>
    <ns0:overrideClrMapping xmlns:ns0="http://schemas.openxmlformats.org/drawingml/2006/main" bg1="lt1" tx1="dk1" bg2="lt2" tx2="dk2" accent1="accent1" accent2="accent2" accent3="accent3" accent4="accent4" accent5="accent5" accent6="accent6" hlink="lt1" folHlink="lt1"/>
  </p:clrMapOvr>
</p:sld>
</file>

<file path=ppt/slides/slide8.xml><?xml version="1.0" encoding="utf-8"?>
<p:sld xmlns:p="http://schemas.openxmlformats.org/presentationml/2006/main" showMasterSp="0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adeb70d7b4625"/>
          <a:stretch xmlns:a="http://schemas.openxmlformats.org/drawingml/2006/main"/>
        </p:blipFill>
        <p:spPr>
          <a:xfrm xmlns:a="http://schemas.openxmlformats.org/drawingml/2006/main">
            <a:off x="3378" y="0"/>
            <a:ext cx="9136888" cy="456844"/>
          </a:xfrm>
          <a:prstGeom xmlns:a="http://schemas.openxmlformats.org/drawingml/2006/main" prst="rect">
            <a:avLst/>
          </a:prstGeom>
        </p:spPr>
      </p:pic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91cf12914453e"/>
          <a:stretch xmlns:a="http://schemas.openxmlformats.org/drawingml/2006/main"/>
        </p:blipFill>
        <p:spPr>
          <a:xfrm xmlns:a="http://schemas.openxmlformats.org/drawingml/2006/main">
            <a:off x="14298" y="4990683"/>
            <a:ext cx="9115048" cy="151917"/>
          </a:xfrm>
          <a:prstGeom xmlns:a="http://schemas.openxmlformats.org/drawingml/2006/main" prst="rect">
            <a:avLst/>
          </a:prstGeom>
        </p:spPr>
      </p:pic>
      <p:sp>
        <p:nvSpPr>
          <p:cNvPr id="3" name="INTRO8_QR_FONDO">
            <a:extLst xmlns:a="http://schemas.openxmlformats.org/drawingml/2006/main">
              <a:ext uri="{FF2B5EF4-FFF2-40B4-BE49-F238E27FC236}">
                <a16:creationId xmlns:a16="http://schemas.microsoft.com/office/drawing/2014/main" id="{6C171A84-A6B9-4E34-849A-B13DB2FC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100" y="50800"/>
            <a:ext cx="355600" cy="355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FFFFFF"/>
            </a:solidFill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2cbbb30dda4051"/>
          <a:stretch xmlns:a="http://schemas.openxmlformats.org/drawingml/2006/main"/>
        </p:blipFill>
        <p:spPr>
          <a:xfrm xmlns:a="http://schemas.openxmlformats.org/drawingml/2006/main">
            <a:off x="7810564" y="75961"/>
            <a:ext cx="304559" cy="304559"/>
          </a:xfrm>
          <a:prstGeom xmlns:a="http://schemas.openxmlformats.org/drawingml/2006/main" prst="rect">
            <a:avLst/>
          </a:prstGeom>
        </p:spPr>
      </p:pic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2f4a07a004500"/>
          <a:stretch xmlns:a="http://schemas.openxmlformats.org/drawingml/2006/main"/>
        </p:blipFill>
        <p:spPr>
          <a:xfrm xmlns:a="http://schemas.openxmlformats.org/drawingml/2006/main">
            <a:off x="8294782" y="75961"/>
            <a:ext cx="542115" cy="304559"/>
          </a:xfrm>
          <a:prstGeom xmlns:a="http://schemas.openxmlformats.org/drawingml/2006/main" prst="rect">
            <a:avLst/>
          </a:prstGeom>
        </p:spPr>
      </p:pic>
      <p:sp>
        <p:nvSpPr>
          <p:cNvPr id="6" name="INTRO8_ENCABEZADO_0">
            <a:extLst xmlns:a="http://schemas.openxmlformats.org/drawingml/2006/main">
              <a:ext uri="{FF2B5EF4-FFF2-40B4-BE49-F238E27FC236}">
                <a16:creationId xmlns:a16="http://schemas.microsoft.com/office/drawing/2014/main" id="{2086B35C-CC9A-4539-9BE8-B6BF92A7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4" y="127480"/>
            <a:ext cx="2540000" cy="276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1500" b="1" i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INTRODUCCIÓN</a:t>
            </a:r>
          </a:p>
        </p:txBody>
      </p:sp>
      <p:sp>
        <p:nvSpPr>
          <p:cNvPr id="7" name="INTRO8_ENCABEZADO_1">
            <a:extLst xmlns:a="http://schemas.openxmlformats.org/drawingml/2006/main">
              <a:ext uri="{FF2B5EF4-FFF2-40B4-BE49-F238E27FC236}">
                <a16:creationId xmlns:a16="http://schemas.microsoft.com/office/drawing/2014/main" id="{35EB97AC-FD4D-4190-A884-228E8ADF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157" y="135999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81" b="0" i="0">
                <a:solidFill>
                  <a:srgbClr val="CFE7E1"/>
                </a:solidFill>
                <a:latin typeface="Noto Sans"/>
                <a:ea typeface="Noto Sans"/>
                <a:cs typeface="Noto Sans"/>
              </a:rPr>
              <a:t>Para consultar información con mayor desagregación, visita</a:t>
            </a:r>
          </a:p>
        </p:txBody>
      </p:sp>
      <p:sp>
        <p:nvSpPr>
          <p:cNvPr id="8" name="INTRO8_ENCABEZADO_2">
            <a:extLst xmlns:a="http://schemas.openxmlformats.org/drawingml/2006/main">
              <a:ext uri="{FF2B5EF4-FFF2-40B4-BE49-F238E27FC236}">
                <a16:creationId xmlns:a16="http://schemas.microsoft.com/office/drawing/2014/main" id="{D3387CBA-FF9E-4760-86D9-A567A5A9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880" y="225645"/>
            <a:ext cx="228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 i="0">
                <a:solidFill>
                  <a:srgbClr val="FFFFFF"/>
                </a:solidFill>
                <a:latin typeface="Noto Sans"/>
                <a:ea typeface="Noto Sans"/>
                <a:cs typeface="Noto Sans"/>
                <a:hlinkClick xmlns:r="http://schemas.openxmlformats.org/officeDocument/2006/relationships" r:id="R4e3103bf1d6a40b8"/>
              </a:rPr>
              <a:t>BIT CRT · bit.crt.gob.mx/BitWebApp</a:t>
            </a:r>
          </a:p>
        </p:txBody>
      </p:sp>
      <p:sp>
        <p:nvSpPr>
          <p:cNvPr id="9" name="ANUARIO_INTRO_CONT_DESIGN_2026">
            <a:extLst xmlns:a="http://schemas.openxmlformats.org/drawingml/2006/main">
              <a:ext uri="{FF2B5EF4-FFF2-40B4-BE49-F238E27FC236}">
                <a16:creationId xmlns:a16="http://schemas.microsoft.com/office/drawing/2014/main" id="{A11C40A5-9D0A-4D73-87AF-FAC4A236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09600"/>
            <a:ext cx="8534400" cy="7366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10" name="INTRO8_ACENTO_5">
            <a:extLst xmlns:a="http://schemas.openxmlformats.org/drawingml/2006/main">
              <a:ext uri="{FF2B5EF4-FFF2-40B4-BE49-F238E27FC236}">
                <a16:creationId xmlns:a16="http://schemas.microsoft.com/office/drawing/2014/main" id="{67D82827-C7B5-4679-9C01-9B762941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85800"/>
            <a:ext cx="38100" cy="58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11" name="INTRO8_SEPARADOR_5">
            <a:extLst xmlns:a="http://schemas.openxmlformats.org/drawingml/2006/main">
              <a:ext uri="{FF2B5EF4-FFF2-40B4-BE49-F238E27FC236}">
                <a16:creationId xmlns:a16="http://schemas.microsoft.com/office/drawing/2014/main" id="{C1EF825E-D6B0-4C4F-8878-9048EF40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300" y="698500"/>
            <a:ext cx="6985" cy="55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12" name="INTRO8_NUMERO_FONDO_5">
            <a:extLst xmlns:a="http://schemas.openxmlformats.org/drawingml/2006/main">
              <a:ext uri="{FF2B5EF4-FFF2-40B4-BE49-F238E27FC236}">
                <a16:creationId xmlns:a16="http://schemas.microsoft.com/office/drawing/2014/main" id="{663D2CCC-F102-4850-B065-A4491F80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13" name="INTRO8_NUMERO_5">
            <a:extLst xmlns:a="http://schemas.openxmlformats.org/drawingml/2006/main">
              <a:ext uri="{FF2B5EF4-FFF2-40B4-BE49-F238E27FC236}">
                <a16:creationId xmlns:a16="http://schemas.microsoft.com/office/drawing/2014/main" id="{376FF3D5-4306-4632-8635-FB865E40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36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5</a:t>
            </a:r>
          </a:p>
        </p:txBody>
      </p:sp>
      <p:sp>
        <p:nvSpPr>
          <p:cNvPr id="14" name="INTRO8_SECCION_5_1">
            <a:extLst xmlns:a="http://schemas.openxmlformats.org/drawingml/2006/main">
              <a:ext uri="{FF2B5EF4-FFF2-40B4-BE49-F238E27FC236}">
                <a16:creationId xmlns:a16="http://schemas.microsoft.com/office/drawing/2014/main" id="{E5AC784F-7E2F-4BEE-B0B3-1C2DB4C4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84328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Usuarios de Servicios de</a:t>
            </a:r>
          </a:p>
        </p:txBody>
      </p:sp>
      <p:sp>
        <p:nvSpPr>
          <p:cNvPr id="15" name="INTRO8_SECCION_5_2">
            <a:extLst xmlns:a="http://schemas.openxmlformats.org/drawingml/2006/main">
              <a:ext uri="{FF2B5EF4-FFF2-40B4-BE49-F238E27FC236}">
                <a16:creationId xmlns:a16="http://schemas.microsoft.com/office/drawing/2014/main" id="{85369A02-3C6D-43EB-BA0B-E1A3E93A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9779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Telecomunicaciones:</a:t>
            </a:r>
          </a:p>
        </p:txBody>
      </p:sp>
      <p:sp>
        <p:nvSpPr>
          <p:cNvPr id="16" name="INTRO8_CUERPO_5_1">
            <a:extLst xmlns:a="http://schemas.openxmlformats.org/drawingml/2006/main">
              <a:ext uri="{FF2B5EF4-FFF2-40B4-BE49-F238E27FC236}">
                <a16:creationId xmlns:a16="http://schemas.microsoft.com/office/drawing/2014/main" id="{3BC6DD94-A716-4EE6-9D55-646911FC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8834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Comprende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niveles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satisfacción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personas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usuarias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MiPymes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servicios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</a:p>
        </p:txBody>
      </p:sp>
      <p:sp>
        <p:nvSpPr>
          <p:cNvPr id="17" name="INTRO8_CUERPO_5_2">
            <a:extLst xmlns:a="http://schemas.openxmlformats.org/drawingml/2006/main">
              <a:ext uri="{FF2B5EF4-FFF2-40B4-BE49-F238E27FC236}">
                <a16:creationId xmlns:a16="http://schemas.microsoft.com/office/drawing/2014/main" id="{D6AC3CA9-40DD-418A-B860-240B3239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80010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fijo,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telefonía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fija,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televisión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paga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telefonía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móvil;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beneficios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contar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fijo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y/o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telefonía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fija,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beneficios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18" name="INTRO8_CUERPO_5_3">
            <a:extLst xmlns:a="http://schemas.openxmlformats.org/drawingml/2006/main">
              <a:ext uri="{FF2B5EF4-FFF2-40B4-BE49-F238E27FC236}">
                <a16:creationId xmlns:a16="http://schemas.microsoft.com/office/drawing/2014/main" id="{092D800A-4C32-484A-8FE9-90C86B87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91186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vender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través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fijo,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dispositivos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que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utilizan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MiPymes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realizar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actividades,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ventajas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contar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</a:p>
        </p:txBody>
      </p:sp>
      <p:sp>
        <p:nvSpPr>
          <p:cNvPr id="19" name="INTRO8_CUERPO_5_4">
            <a:extLst xmlns:a="http://schemas.openxmlformats.org/drawingml/2006/main">
              <a:ext uri="{FF2B5EF4-FFF2-40B4-BE49-F238E27FC236}">
                <a16:creationId xmlns:a16="http://schemas.microsoft.com/office/drawing/2014/main" id="{0C582FBB-11BF-4F86-A0F8-EAADF447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02362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aplicación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móvil;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servicios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realizar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actividades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importación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y/o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exportación,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así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como</a:t>
            </a:r>
          </a:p>
        </p:txBody>
      </p:sp>
      <p:sp>
        <p:nvSpPr>
          <p:cNvPr id="20" name="INTRO8_CUERPO_5_5">
            <a:extLst xmlns:a="http://schemas.openxmlformats.org/drawingml/2006/main">
              <a:ext uri="{FF2B5EF4-FFF2-40B4-BE49-F238E27FC236}">
                <a16:creationId xmlns:a16="http://schemas.microsoft.com/office/drawing/2014/main" id="{EEC164AF-13FC-45C9-AD42-89075D85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13538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también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conocimiento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Artificial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(IA)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ChatGPT.</a:t>
            </a:r>
          </a:p>
        </p:txBody>
      </p:sp>
      <p:sp>
        <p:nvSpPr>
          <p:cNvPr id="21" name="INTRO8_RECUADRO_6">
            <a:extLst xmlns:a="http://schemas.openxmlformats.org/drawingml/2006/main">
              <a:ext uri="{FF2B5EF4-FFF2-40B4-BE49-F238E27FC236}">
                <a16:creationId xmlns:a16="http://schemas.microsoft.com/office/drawing/2014/main" id="{96F8B077-FE5D-4ACA-B1E8-CE4DB631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47800"/>
            <a:ext cx="8534400" cy="7366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22" name="INTRO8_ACENTO_6">
            <a:extLst xmlns:a="http://schemas.openxmlformats.org/drawingml/2006/main">
              <a:ext uri="{FF2B5EF4-FFF2-40B4-BE49-F238E27FC236}">
                <a16:creationId xmlns:a16="http://schemas.microsoft.com/office/drawing/2014/main" id="{AE1BAD2E-B6CE-449A-B9B8-CBE3E5BD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524000"/>
            <a:ext cx="38100" cy="58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23" name="INTRO8_SEPARADOR_6">
            <a:extLst xmlns:a="http://schemas.openxmlformats.org/drawingml/2006/main">
              <a:ext uri="{FF2B5EF4-FFF2-40B4-BE49-F238E27FC236}">
                <a16:creationId xmlns:a16="http://schemas.microsoft.com/office/drawing/2014/main" id="{CB4A3015-EB46-4483-BA67-AE0388B9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300" y="1536700"/>
            <a:ext cx="6985" cy="55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24" name="INTRO8_NUMERO_FONDO_6">
            <a:extLst xmlns:a="http://schemas.openxmlformats.org/drawingml/2006/main">
              <a:ext uri="{FF2B5EF4-FFF2-40B4-BE49-F238E27FC236}">
                <a16:creationId xmlns:a16="http://schemas.microsoft.com/office/drawing/2014/main" id="{193E46C0-ED9C-4558-B792-1AED3405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01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25" name="INTRO8_NUMERO_6">
            <a:extLst xmlns:a="http://schemas.openxmlformats.org/drawingml/2006/main">
              <a:ext uri="{FF2B5EF4-FFF2-40B4-BE49-F238E27FC236}">
                <a16:creationId xmlns:a16="http://schemas.microsoft.com/office/drawing/2014/main" id="{9ECE3B86-B511-47F8-848F-73F0E3E8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018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6</a:t>
            </a:r>
          </a:p>
        </p:txBody>
      </p:sp>
      <p:sp>
        <p:nvSpPr>
          <p:cNvPr id="26" name="INTRO8_SECCION_6_1">
            <a:extLst xmlns:a="http://schemas.openxmlformats.org/drawingml/2006/main">
              <a:ext uri="{FF2B5EF4-FFF2-40B4-BE49-F238E27FC236}">
                <a16:creationId xmlns:a16="http://schemas.microsoft.com/office/drawing/2014/main" id="{04303C32-004A-4646-98B1-86B508BA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168148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Indicadores con Perspectiva</a:t>
            </a:r>
          </a:p>
        </p:txBody>
      </p:sp>
      <p:sp>
        <p:nvSpPr>
          <p:cNvPr id="27" name="INTRO8_SECCION_6_2">
            <a:extLst xmlns:a="http://schemas.openxmlformats.org/drawingml/2006/main">
              <a:ext uri="{FF2B5EF4-FFF2-40B4-BE49-F238E27FC236}">
                <a16:creationId xmlns:a16="http://schemas.microsoft.com/office/drawing/2014/main" id="{4F896681-9B41-4207-BDEC-34D94449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18161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de Género:</a:t>
            </a:r>
          </a:p>
        </p:txBody>
      </p:sp>
      <p:sp>
        <p:nvSpPr>
          <p:cNvPr id="28" name="INTRO8_CUERPO_6_1">
            <a:extLst xmlns:a="http://schemas.openxmlformats.org/drawingml/2006/main">
              <a:ext uri="{FF2B5EF4-FFF2-40B4-BE49-F238E27FC236}">
                <a16:creationId xmlns:a16="http://schemas.microsoft.com/office/drawing/2014/main" id="{973153BB-98AE-4BBB-93F5-7C194309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52654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Incluye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desagregada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sexo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referente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a: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actividades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realizadas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mediante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teléfono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celular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inteligente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720" b="0" i="1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Smartphone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),</a:t>
            </a:r>
          </a:p>
        </p:txBody>
      </p:sp>
      <p:sp>
        <p:nvSpPr>
          <p:cNvPr id="29" name="INTRO8_CUERPO_6_2">
            <a:extLst xmlns:a="http://schemas.openxmlformats.org/drawingml/2006/main">
              <a:ext uri="{FF2B5EF4-FFF2-40B4-BE49-F238E27FC236}">
                <a16:creationId xmlns:a16="http://schemas.microsoft.com/office/drawing/2014/main" id="{3A351773-BD57-4EDA-8469-F6DEC14A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63830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computadora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redes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sociales,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total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personas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empleadas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sectores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</a:p>
        </p:txBody>
      </p:sp>
      <p:sp>
        <p:nvSpPr>
          <p:cNvPr id="30" name="INTRO8_CUERPO_6_3">
            <a:extLst xmlns:a="http://schemas.openxmlformats.org/drawingml/2006/main">
              <a:ext uri="{FF2B5EF4-FFF2-40B4-BE49-F238E27FC236}">
                <a16:creationId xmlns:a16="http://schemas.microsoft.com/office/drawing/2014/main" id="{5D7AFBDA-5329-4DA1-A648-D8AD9B74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006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radiodifusión;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ciberacoso,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usuarios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mayor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riesgo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víctimas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violencia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digital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través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Internet,</a:t>
            </a:r>
          </a:p>
        </p:txBody>
      </p:sp>
      <p:sp>
        <p:nvSpPr>
          <p:cNvPr id="31" name="INTRO8_CUERPO_6_4">
            <a:extLst xmlns:a="http://schemas.openxmlformats.org/drawingml/2006/main">
              <a:ext uri="{FF2B5EF4-FFF2-40B4-BE49-F238E27FC236}">
                <a16:creationId xmlns:a16="http://schemas.microsoft.com/office/drawing/2014/main" id="{2421FBFA-6E88-4AD9-9468-92EE46E6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6182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teléfono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móvil,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manera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general,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desagregación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sexo,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medias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protección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que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toman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personas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usuarias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ante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</a:p>
        </p:txBody>
      </p:sp>
      <p:sp>
        <p:nvSpPr>
          <p:cNvPr id="32" name="INTRO8_CUERPO_6_5">
            <a:extLst xmlns:a="http://schemas.openxmlformats.org/drawingml/2006/main">
              <a:ext uri="{FF2B5EF4-FFF2-40B4-BE49-F238E27FC236}">
                <a16:creationId xmlns:a16="http://schemas.microsoft.com/office/drawing/2014/main" id="{7443B538-5A5C-4FA7-90A8-E4075A87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97358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violencia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digital,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acciones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realizadas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usuarios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protegerse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prevenir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violencia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digital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través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Internet.</a:t>
            </a:r>
          </a:p>
        </p:txBody>
      </p:sp>
      <p:sp>
        <p:nvSpPr>
          <p:cNvPr id="33" name="INTRO8_RECUADRO_7">
            <a:extLst xmlns:a="http://schemas.openxmlformats.org/drawingml/2006/main">
              <a:ext uri="{FF2B5EF4-FFF2-40B4-BE49-F238E27FC236}">
                <a16:creationId xmlns:a16="http://schemas.microsoft.com/office/drawing/2014/main" id="{382676B6-5B0C-4405-B1CD-B34DFF69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86000"/>
            <a:ext cx="8534400" cy="381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6FAF9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34" name="INTRO8_ACENTO_7">
            <a:extLst xmlns:a="http://schemas.openxmlformats.org/drawingml/2006/main">
              <a:ext uri="{FF2B5EF4-FFF2-40B4-BE49-F238E27FC236}">
                <a16:creationId xmlns:a16="http://schemas.microsoft.com/office/drawing/2014/main" id="{92523961-9110-43EC-9CA8-C5ED3ACF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622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35" name="INTRO8_SEPARADOR_7">
            <a:extLst xmlns:a="http://schemas.openxmlformats.org/drawingml/2006/main">
              <a:ext uri="{FF2B5EF4-FFF2-40B4-BE49-F238E27FC236}">
                <a16:creationId xmlns:a16="http://schemas.microsoft.com/office/drawing/2014/main" id="{71B4E807-9BBB-4943-B1E5-CC4453D7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300" y="2374900"/>
            <a:ext cx="6985" cy="20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36" name="INTRO8_NUMERO_FONDO_7">
            <a:extLst xmlns:a="http://schemas.openxmlformats.org/drawingml/2006/main">
              <a:ext uri="{FF2B5EF4-FFF2-40B4-BE49-F238E27FC236}">
                <a16:creationId xmlns:a16="http://schemas.microsoft.com/office/drawing/2014/main" id="{6D37B86E-7C67-4FFE-8288-37C681EE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37" name="INTRO8_NUMERO_7">
            <a:extLst xmlns:a="http://schemas.openxmlformats.org/drawingml/2006/main">
              <a:ext uri="{FF2B5EF4-FFF2-40B4-BE49-F238E27FC236}">
                <a16:creationId xmlns:a16="http://schemas.microsoft.com/office/drawing/2014/main" id="{C2257BA2-CA07-4D79-948A-F214E295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7</a:t>
            </a:r>
          </a:p>
        </p:txBody>
      </p:sp>
      <p:sp>
        <p:nvSpPr>
          <p:cNvPr id="38" name="INTRO8_SECCION_7_1">
            <a:extLst xmlns:a="http://schemas.openxmlformats.org/drawingml/2006/main">
              <a:ext uri="{FF2B5EF4-FFF2-40B4-BE49-F238E27FC236}">
                <a16:creationId xmlns:a16="http://schemas.microsoft.com/office/drawing/2014/main" id="{265222B4-EF76-4B5E-946C-2B73874F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234188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Indicadores de</a:t>
            </a:r>
          </a:p>
        </p:txBody>
      </p:sp>
      <p:sp>
        <p:nvSpPr>
          <p:cNvPr id="39" name="INTRO8_SECCION_7_2">
            <a:extLst xmlns:a="http://schemas.openxmlformats.org/drawingml/2006/main">
              <a:ext uri="{FF2B5EF4-FFF2-40B4-BE49-F238E27FC236}">
                <a16:creationId xmlns:a16="http://schemas.microsoft.com/office/drawing/2014/main" id="{972F580E-6A4D-435D-8E1F-F1AAB52D0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24765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Radiodifusión:</a:t>
            </a:r>
          </a:p>
        </p:txBody>
      </p:sp>
      <p:sp>
        <p:nvSpPr>
          <p:cNvPr id="40" name="INTRO8_CUERPO_7_1">
            <a:extLst xmlns:a="http://schemas.openxmlformats.org/drawingml/2006/main">
              <a:ext uri="{FF2B5EF4-FFF2-40B4-BE49-F238E27FC236}">
                <a16:creationId xmlns:a16="http://schemas.microsoft.com/office/drawing/2014/main" id="{23FCE93B-440D-474E-8E51-48B3542C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1046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Expone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relativa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concesiones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otorgadas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radiodifusión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AM,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FM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TDT.</a:t>
            </a:r>
          </a:p>
        </p:txBody>
      </p:sp>
      <p:sp>
        <p:nvSpPr>
          <p:cNvPr id="41" name="INTRO8_RECUADRO_8">
            <a:extLst xmlns:a="http://schemas.openxmlformats.org/drawingml/2006/main">
              <a:ext uri="{FF2B5EF4-FFF2-40B4-BE49-F238E27FC236}">
                <a16:creationId xmlns:a16="http://schemas.microsoft.com/office/drawing/2014/main" id="{ED0B5167-A919-4269-8110-5423CD08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768600"/>
            <a:ext cx="8534400" cy="4064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890">
            <a:solidFill>
              <a:srgbClr val="DCE9E6"/>
            </a:solidFill>
          </a:ln>
        </p:spPr>
      </p:sp>
      <p:sp>
        <p:nvSpPr>
          <p:cNvPr id="42" name="INTRO8_ACENTO_8">
            <a:extLst xmlns:a="http://schemas.openxmlformats.org/drawingml/2006/main">
              <a:ext uri="{FF2B5EF4-FFF2-40B4-BE49-F238E27FC236}">
                <a16:creationId xmlns:a16="http://schemas.microsoft.com/office/drawing/2014/main" id="{D98DFFE3-F62E-49B8-B865-19541EC1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44800"/>
            <a:ext cx="38100" cy="25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7D76"/>
          </a:solidFill>
          <a:ln xmlns:a="http://schemas.openxmlformats.org/drawingml/2006/main" w="0">
            <a:noFill/>
          </a:ln>
        </p:spPr>
      </p:sp>
      <p:sp>
        <p:nvSpPr>
          <p:cNvPr id="43" name="INTRO8_SEPARADOR_8">
            <a:extLst xmlns:a="http://schemas.openxmlformats.org/drawingml/2006/main">
              <a:ext uri="{FF2B5EF4-FFF2-40B4-BE49-F238E27FC236}">
                <a16:creationId xmlns:a16="http://schemas.microsoft.com/office/drawing/2014/main" id="{C2D50FC0-B282-498C-AFAF-3CBE468E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300" y="2857500"/>
            <a:ext cx="698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6"/>
          </a:solidFill>
          <a:ln xmlns:a="http://schemas.openxmlformats.org/drawingml/2006/main" w="0">
            <a:noFill/>
          </a:ln>
        </p:spPr>
      </p:sp>
      <p:sp>
        <p:nvSpPr>
          <p:cNvPr id="44" name="INTRO8_NUMERO_FONDO_8">
            <a:extLst xmlns:a="http://schemas.openxmlformats.org/drawingml/2006/main">
              <a:ext uri="{FF2B5EF4-FFF2-40B4-BE49-F238E27FC236}">
                <a16:creationId xmlns:a16="http://schemas.microsoft.com/office/drawing/2014/main" id="{EEC64BD8-B959-4CDA-849D-0D983215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66"/>
          </a:solidFill>
          <a:ln xmlns:a="http://schemas.openxmlformats.org/drawingml/2006/main" w="0">
            <a:noFill/>
          </a:ln>
        </p:spPr>
      </p:sp>
      <p:sp>
        <p:nvSpPr>
          <p:cNvPr id="45" name="INTRO8_NUMERO_8">
            <a:extLst xmlns:a="http://schemas.openxmlformats.org/drawingml/2006/main">
              <a:ext uri="{FF2B5EF4-FFF2-40B4-BE49-F238E27FC236}">
                <a16:creationId xmlns:a16="http://schemas.microsoft.com/office/drawing/2014/main" id="{93790D28-07AD-437C-8364-E038DF1A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8</a:t>
            </a:r>
          </a:p>
        </p:txBody>
      </p:sp>
      <p:sp>
        <p:nvSpPr>
          <p:cNvPr id="46" name="INTRO8_SECCION_8_1">
            <a:extLst xmlns:a="http://schemas.openxmlformats.org/drawingml/2006/main">
              <a:ext uri="{FF2B5EF4-FFF2-40B4-BE49-F238E27FC236}">
                <a16:creationId xmlns:a16="http://schemas.microsoft.com/office/drawing/2014/main" id="{B8FB4775-C4D2-4E0A-A2F1-281F1938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283718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Consumo de Radio y</a:t>
            </a:r>
          </a:p>
        </p:txBody>
      </p:sp>
      <p:sp>
        <p:nvSpPr>
          <p:cNvPr id="47" name="INTRO8_SECCION_8_2">
            <a:extLst xmlns:a="http://schemas.openxmlformats.org/drawingml/2006/main">
              <a:ext uri="{FF2B5EF4-FFF2-40B4-BE49-F238E27FC236}">
                <a16:creationId xmlns:a16="http://schemas.microsoft.com/office/drawing/2014/main" id="{2F980B17-F481-4DFA-8450-7B3E1FC1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2971800"/>
            <a:ext cx="1790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9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819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Televisión:</a:t>
            </a:r>
          </a:p>
        </p:txBody>
      </p:sp>
      <p:sp>
        <p:nvSpPr>
          <p:cNvPr id="48" name="INTRO8_CUERPO_8_1">
            <a:extLst xmlns:a="http://schemas.openxmlformats.org/drawingml/2006/main">
              <a:ext uri="{FF2B5EF4-FFF2-40B4-BE49-F238E27FC236}">
                <a16:creationId xmlns:a16="http://schemas.microsoft.com/office/drawing/2014/main" id="{CCFFA60D-D93D-48BC-A9B1-DAAF45AE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84988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Comprende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sobre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nivel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exposición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televisión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población,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desagregación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sexo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ciudad</a:t>
            </a:r>
          </a:p>
        </p:txBody>
      </p:sp>
      <p:sp>
        <p:nvSpPr>
          <p:cNvPr id="49" name="INTRO8_CUERPO_8_2">
            <a:extLst xmlns:a="http://schemas.openxmlformats.org/drawingml/2006/main">
              <a:ext uri="{FF2B5EF4-FFF2-40B4-BE49-F238E27FC236}">
                <a16:creationId xmlns:a16="http://schemas.microsoft.com/office/drawing/2014/main" id="{7D528F66-0E70-45A0-9224-702BC7C5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61640"/>
            <a:ext cx="58674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seleccionada.</a:t>
            </a:r>
          </a:p>
        </p:txBody>
      </p:sp>
      <p:sp>
        <p:nvSpPr>
          <p:cNvPr id="50" name="INTRO8_INFORMACION_COMPLEMENTARIA">
            <a:extLst xmlns:a="http://schemas.openxmlformats.org/drawingml/2006/main">
              <a:ext uri="{FF2B5EF4-FFF2-40B4-BE49-F238E27FC236}">
                <a16:creationId xmlns:a16="http://schemas.microsoft.com/office/drawing/2014/main" id="{712BA54F-1217-4094-AF0F-3CD1AD5B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302000"/>
            <a:ext cx="8534400" cy="1574800"/>
          </a:xfrm>
          <a:prstGeom xmlns:a="http://schemas.openxmlformats.org/drawingml/2006/main" prst="roundRect">
            <a:avLst>
              <a:gd name="adj" fmla="val 2419"/>
            </a:avLst>
          </a:prstGeom>
          <a:solidFill xmlns:a="http://schemas.openxmlformats.org/drawingml/2006/main">
            <a:srgbClr val="EAF3F1"/>
          </a:solidFill>
          <a:ln xmlns:a="http://schemas.openxmlformats.org/drawingml/2006/main" w="8890">
            <a:solidFill>
              <a:srgbClr val="EAF3F1"/>
            </a:solidFill>
          </a:ln>
        </p:spPr>
      </p:sp>
      <p:sp>
        <p:nvSpPr>
          <p:cNvPr id="51" name="INTRO8_INFORMACION_DIVISOR">
            <a:extLst xmlns:a="http://schemas.openxmlformats.org/drawingml/2006/main">
              <a:ext uri="{FF2B5EF4-FFF2-40B4-BE49-F238E27FC236}">
                <a16:creationId xmlns:a16="http://schemas.microsoft.com/office/drawing/2014/main" id="{B6A84195-E264-4775-966E-59325B41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403600"/>
            <a:ext cx="6985" cy="135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FDA"/>
          </a:solidFill>
          <a:ln xmlns:a="http://schemas.openxmlformats.org/drawingml/2006/main" w="0">
            <a:noFill/>
          </a:ln>
        </p:spPr>
      </p:sp>
      <p:sp>
        <p:nvSpPr>
          <p:cNvPr id="52" name="INTRO8_ROTULO_2_0">
            <a:extLst xmlns:a="http://schemas.openxmlformats.org/drawingml/2006/main">
              <a:ext uri="{FF2B5EF4-FFF2-40B4-BE49-F238E27FC236}">
                <a16:creationId xmlns:a16="http://schemas.microsoft.com/office/drawing/2014/main" id="{15C22A9C-A947-4480-8AF3-3636BC33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378200"/>
            <a:ext cx="1270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Anexos</a:t>
            </a:r>
          </a:p>
        </p:txBody>
      </p:sp>
      <p:sp>
        <p:nvSpPr>
          <p:cNvPr id="53" name="INTRO8_NOTA_2_1">
            <a:extLst xmlns:a="http://schemas.openxmlformats.org/drawingml/2006/main">
              <a:ext uri="{FF2B5EF4-FFF2-40B4-BE49-F238E27FC236}">
                <a16:creationId xmlns:a16="http://schemas.microsoft.com/office/drawing/2014/main" id="{26BEF6F5-9E72-42F8-B0C1-A40675E8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7820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anexos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encuentran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tablas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que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resumen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indicadores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presentados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entidad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federativa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(Anexo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I),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definiciones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conceptos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utilizados</a:t>
            </a:r>
          </a:p>
        </p:txBody>
      </p:sp>
      <p:sp>
        <p:nvSpPr>
          <p:cNvPr id="54" name="INTRO8_NOTA_2_2">
            <a:extLst xmlns:a="http://schemas.openxmlformats.org/drawingml/2006/main">
              <a:ext uri="{FF2B5EF4-FFF2-40B4-BE49-F238E27FC236}">
                <a16:creationId xmlns:a16="http://schemas.microsoft.com/office/drawing/2014/main" id="{77399D4A-9038-441E-A26A-C3501723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8742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(Anexo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II),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metodologías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(Anexo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III)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métodos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cálculo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indicadores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(Anexo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IV).</a:t>
            </a:r>
          </a:p>
        </p:txBody>
      </p:sp>
      <p:sp>
        <p:nvSpPr>
          <p:cNvPr id="55" name="INTRO8_ROTULO_3_0">
            <a:extLst xmlns:a="http://schemas.openxmlformats.org/drawingml/2006/main">
              <a:ext uri="{FF2B5EF4-FFF2-40B4-BE49-F238E27FC236}">
                <a16:creationId xmlns:a16="http://schemas.microsoft.com/office/drawing/2014/main" id="{24B3C505-2EDA-43B1-B8F3-91CA818E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652520"/>
            <a:ext cx="1270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Fuentes</a:t>
            </a:r>
          </a:p>
        </p:txBody>
      </p:sp>
      <p:sp>
        <p:nvSpPr>
          <p:cNvPr id="56" name="INTRO8_NOTA_3_1">
            <a:extLst xmlns:a="http://schemas.openxmlformats.org/drawingml/2006/main">
              <a:ext uri="{FF2B5EF4-FFF2-40B4-BE49-F238E27FC236}">
                <a16:creationId xmlns:a16="http://schemas.microsoft.com/office/drawing/2014/main" id="{5BBC5CD8-4425-4438-B05A-A885A868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5252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presentada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proviene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distintas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fuentes,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tales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como: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datos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reportados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operadores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sector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IFT,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que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</a:p>
        </p:txBody>
      </p:sp>
      <p:sp>
        <p:nvSpPr>
          <p:cNvPr id="57" name="INTRO8_NOTA_3_2">
            <a:extLst xmlns:a="http://schemas.openxmlformats.org/drawingml/2006/main">
              <a:ext uri="{FF2B5EF4-FFF2-40B4-BE49-F238E27FC236}">
                <a16:creationId xmlns:a16="http://schemas.microsoft.com/office/drawing/2014/main" id="{BB98F7CC-2ED8-4C43-A0A0-8070A9F8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6174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fecha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publicación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encuentran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sujetos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revisión;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datos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Instituto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Nacional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Estadística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Geografía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(INEGI)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Secretaría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Economía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(SE).</a:t>
            </a:r>
          </a:p>
        </p:txBody>
      </p:sp>
      <p:sp>
        <p:nvSpPr>
          <p:cNvPr id="58" name="INTRO8_ROTULO_4_0">
            <a:extLst xmlns:a="http://schemas.openxmlformats.org/drawingml/2006/main">
              <a:ext uri="{FF2B5EF4-FFF2-40B4-BE49-F238E27FC236}">
                <a16:creationId xmlns:a16="http://schemas.microsoft.com/office/drawing/2014/main" id="{FFD48A0B-FEA0-49E0-8B72-F64C7CEB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926840"/>
            <a:ext cx="1270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Elaboración</a:t>
            </a:r>
          </a:p>
        </p:txBody>
      </p:sp>
      <p:sp>
        <p:nvSpPr>
          <p:cNvPr id="59" name="INTRO8_NOTA_4_1">
            <a:extLst xmlns:a="http://schemas.openxmlformats.org/drawingml/2006/main">
              <a:ext uri="{FF2B5EF4-FFF2-40B4-BE49-F238E27FC236}">
                <a16:creationId xmlns:a16="http://schemas.microsoft.com/office/drawing/2014/main" id="{4FF06F85-A2FB-4215-AAF1-F16990EB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2684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edición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Anuario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Estadístico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noveno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volumen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elaborado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Coordinación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Planeación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Estratégica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(CGPE)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IFT.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</a:t>
            </a:r>
          </a:p>
        </p:txBody>
      </p:sp>
      <p:sp>
        <p:nvSpPr>
          <p:cNvPr id="60" name="INTRO8_NOTA_4_2">
            <a:extLst xmlns:a="http://schemas.openxmlformats.org/drawingml/2006/main">
              <a:ext uri="{FF2B5EF4-FFF2-40B4-BE49-F238E27FC236}">
                <a16:creationId xmlns:a16="http://schemas.microsoft.com/office/drawing/2014/main" id="{9407BDF3-4428-4F39-B4CE-37B3D608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606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elaboración,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contó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apoyo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Coordinación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General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Política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Usuario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(CGPU),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Espectro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Radioeléctrico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(UER),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61" name="INTRO8_NOTA_4_3">
            <a:extLst xmlns:a="http://schemas.openxmlformats.org/drawingml/2006/main">
              <a:ext uri="{FF2B5EF4-FFF2-40B4-BE49-F238E27FC236}">
                <a16:creationId xmlns:a16="http://schemas.microsoft.com/office/drawing/2014/main" id="{C109183A-EA05-45C6-ABBD-370D8AC2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4528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Concesiones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Servicios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(UCS)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Unidad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Medios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Contenidos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Audiovisuales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(UMCA)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IFT.</a:t>
            </a:r>
          </a:p>
        </p:txBody>
      </p:sp>
      <p:sp>
        <p:nvSpPr>
          <p:cNvPr id="62" name="INTRO8_ROTULO_5_0">
            <a:extLst xmlns:a="http://schemas.openxmlformats.org/drawingml/2006/main">
              <a:ext uri="{FF2B5EF4-FFF2-40B4-BE49-F238E27FC236}">
                <a16:creationId xmlns:a16="http://schemas.microsoft.com/office/drawing/2014/main" id="{87C74B79-9AD6-4EB4-A9EE-954CEB6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4310380"/>
            <a:ext cx="1270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Consulta</a:t>
            </a:r>
          </a:p>
        </p:txBody>
      </p:sp>
      <p:sp>
        <p:nvSpPr>
          <p:cNvPr id="63" name="INTRO8_ROTULO_5_1">
            <a:extLst xmlns:a="http://schemas.openxmlformats.org/drawingml/2006/main">
              <a:ext uri="{FF2B5EF4-FFF2-40B4-BE49-F238E27FC236}">
                <a16:creationId xmlns:a16="http://schemas.microsoft.com/office/drawing/2014/main" id="{DEA18FFF-84A3-4C1E-9B66-36731779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4419600"/>
            <a:ext cx="1270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2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20" b="1">
                <a:solidFill>
                  <a:srgbClr val="1A4043"/>
                </a:solidFill>
                <a:latin typeface="Noto Sans"/>
                <a:ea typeface="Noto Sans"/>
                <a:cs typeface="Noto Sans"/>
              </a:rPr>
              <a:t>interactiva</a:t>
            </a:r>
          </a:p>
        </p:txBody>
      </p:sp>
      <p:sp>
        <p:nvSpPr>
          <p:cNvPr id="64" name="INTRO8_NOTA_5_1">
            <a:extLst xmlns:a="http://schemas.openxmlformats.org/drawingml/2006/main">
              <a:ext uri="{FF2B5EF4-FFF2-40B4-BE49-F238E27FC236}">
                <a16:creationId xmlns:a16="http://schemas.microsoft.com/office/drawing/2014/main" id="{9693281B-0EF9-40F8-AF16-6C73C9C2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1038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Cabe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mencionar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que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lector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puede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complementar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análisis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documento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su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versión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interactiva,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disponible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Banco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65" name="INTRO8_NOTA_5_2">
            <a:extLst xmlns:a="http://schemas.openxmlformats.org/drawingml/2006/main">
              <a:ext uri="{FF2B5EF4-FFF2-40B4-BE49-F238E27FC236}">
                <a16:creationId xmlns:a16="http://schemas.microsoft.com/office/drawing/2014/main" id="{AC989ACD-9234-4105-B46F-224DE8D0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41960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(BIT)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siguiente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enlace: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0563C1"/>
                </a:solidFill>
                <a:latin typeface="Noto Sans"/>
                <a:ea typeface="Noto Sans"/>
                <a:cs typeface="Noto Sans"/>
              </a:rPr>
              <a:t>https://bit.ift.org.mx/BitWebApp/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consultar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0563C1"/>
                </a:solidFill>
                <a:latin typeface="Noto Sans"/>
                <a:ea typeface="Noto Sans"/>
                <a:cs typeface="Noto Sans"/>
              </a:rPr>
              <a:t>https://www.ift.org.mx/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-&gt;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Estadísticas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Banco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66" name="INTRO8_NOTA_5_3">
            <a:extLst xmlns:a="http://schemas.openxmlformats.org/drawingml/2006/main">
              <a:ext uri="{FF2B5EF4-FFF2-40B4-BE49-F238E27FC236}">
                <a16:creationId xmlns:a16="http://schemas.microsoft.com/office/drawing/2014/main" id="{0CC4CD07-9451-4D17-B7B3-0CEB5066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52882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Telecomunicaciones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(BIT).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Además,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puede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consultar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descargar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sectores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regulados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IFT,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actualización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trimestral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partir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</a:t>
            </a:r>
          </a:p>
        </p:txBody>
      </p:sp>
      <p:sp>
        <p:nvSpPr>
          <p:cNvPr id="67" name="INTRO8_NOTA_5_4">
            <a:extLst xmlns:a="http://schemas.openxmlformats.org/drawingml/2006/main">
              <a:ext uri="{FF2B5EF4-FFF2-40B4-BE49-F238E27FC236}">
                <a16:creationId xmlns:a16="http://schemas.microsoft.com/office/drawing/2014/main" id="{36E650E6-B6E2-4827-951F-FF32D1AD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38040"/>
            <a:ext cx="6680200" cy="13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2013.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Y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puede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consultar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portal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del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BIT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estatal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0563C1"/>
                </a:solidFill>
                <a:latin typeface="Noto Sans"/>
                <a:ea typeface="Noto Sans"/>
                <a:cs typeface="Noto Sans"/>
              </a:rPr>
              <a:t>https://bitestatal.ift.org.mx/#/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que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contiene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la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información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estadística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por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entidad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705" b="0" i="0">
                <a:solidFill>
                  <a:srgbClr val="263632"/>
                </a:solidFill>
                <a:latin typeface="Noto Sans"/>
                <a:ea typeface="Noto Sans"/>
                <a:cs typeface="Noto Sans"/>
              </a:rPr>
              <a:t>federativa.</a:t>
            </a:r>
          </a:p>
        </p:txBody>
      </p:sp>
      <p:sp>
        <p:nvSpPr>
          <p:cNvPr id="68" name="ANUARIO_PAGE_NUMBER">
            <a:extLst xmlns:a="http://schemas.openxmlformats.org/drawingml/2006/main">
              <a:ext uri="{FF2B5EF4-FFF2-40B4-BE49-F238E27FC236}">
                <a16:creationId xmlns:a16="http://schemas.microsoft.com/office/drawing/2014/main" id="{DCC81482-7B03-46C7-A79C-14C19B9D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019040"/>
            <a:ext cx="254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0" b="1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7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8</a:t>
            </a:r>
          </a:p>
        </p:txBody>
      </p:sp>
      <p:sp>
        <p:nvSpPr>
          <p:cNvPr id="69" name="INTRO8_EDICION_PIE">
            <a:extLst xmlns:a="http://schemas.openxmlformats.org/drawingml/2006/main">
              <a:ext uri="{FF2B5EF4-FFF2-40B4-BE49-F238E27FC236}">
                <a16:creationId xmlns:a16="http://schemas.microsoft.com/office/drawing/2014/main" id="{0B2371BB-C2A1-44D0-8D72-8E28361A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040"/>
            <a:ext cx="20066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65">
                <a:solidFill>
                  <a:srgbClr val="263632"/>
                </a:solidFill>
                <a:latin typeface="Noto Sans"/>
                <a:ea typeface="Noto Sans"/>
                <a:cs typeface="Noto Sans"/>
              </a:defRPr>
            </a:pPr>
            <a:r>
              <a:rPr sz="565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A N U A R I O   E S T A D Í S T I C O   2 0 2 6</a:t>
            </a:r>
          </a:p>
        </p:txBody>
      </p:sp>
    </p:spTree>
    <p:extLst>
      <p:ext uri="{BB962C8B-B14F-4D97-AF65-F5344CB8AC3E}">
        <p14:creationId xmlns:p14="http://schemas.microsoft.com/office/powerpoint/2010/main" val="1209709162"/>
      </p:ext>
    </p:extLst>
  </p:cSld>
  <p:clrMapOvr>
    <ns0:overrideClrMapping xmlns:ns0="http://schemas.openxmlformats.org/drawingml/2006/main" bg1="lt1" tx1="dk1" bg2="lt2" tx2="dk2" accent1="accent1" accent2="accent2" accent3="accent3" accent4="accent4" accent5="accent5" accent6="accent6" hlink="lt1" folHlink="lt1"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PUNTOS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PUNTOS CLAVE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KEY_ECON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INDICADORES ECONÓMICOS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{{TEXTO:PUNTOS_CLAVE_ECONOMICOS}}</a:t>
            </a:r>
          </a:p>
        </p:txBody>
      </p:sp>
      <p:sp>
        <p:nvSpPr>
          <p:cNvPr id="223" name="ANUARIO_KEY_ESPECTRO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ESPECTRO RADIOELÉCTRICO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{{TEXTO:PUNTOS_CLAVE_ESPECTRO}}</a:t>
            </a:r>
          </a:p>
        </p:txBody>
      </p:sp>
      <p:sp>
        <p:nvSpPr>
          <p:cNvPr id="224" name="ANUARIO_KEY_MOVIL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SERVICIOS MÓVILES DE TELECOMUNICACIONES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{{TEXTO:PUNTOS_CLAVE_MOVILES}}</a:t>
            </a:r>
          </a:p>
        </p:txBody>
      </p:sp>
      <p:sp>
        <p:nvSpPr>
          <p:cNvPr id="225" name="ANUARIO_KEY_AUDIENCIAS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CONSUMO DE RADIO Y TELEVISIÓN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{{TEXTO:PUNTOS_CLAVE_AUDIENCIAS}}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PUNTOS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PUNTOS CLAVE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KEY_FIJOS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SERVICIOS FIJOS DE TELECOMUNICACIONES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{{TEXTO:PUNTOS_CLAVE_FIJOS}}</a:t>
            </a:r>
          </a:p>
        </p:txBody>
      </p:sp>
      <p:sp>
        <p:nvSpPr>
          <p:cNvPr id="223" name="ANUARIO_KEY_GENERO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INDICADORES CON PERSPECTIVA DE GÉNERO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{{TEXTO:PUNTOS_CLAVE_GENERO}}</a:t>
            </a:r>
          </a:p>
        </p:txBody>
      </p:sp>
      <p:sp>
        <p:nvSpPr>
          <p:cNvPr id="224" name="ANUARIO_KEY_TIC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TECNOLOGÍAS DE LA INFORMACIÓN Y COMUNICACIÓN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{{TEXTO:PUNTOS_CLAVE_TIC}}</a:t>
            </a:r>
          </a:p>
        </p:txBody>
      </p:sp>
      <p:sp>
        <p:nvSpPr>
          <p:cNvPr id="225" name="ANUARIO_KEY_USUARIOS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PERSONAS USUARIAS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{{TEXTO:PUNTOS_CLAVE_USUARIOS}}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1" descr="ANUARIO_FIGURE_ID=A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PRODUCTO INTERNO BRUTO Y CONTRIBUCIÓN DE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1" descr="ANUARIO_FIGURE_ID=A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2" descr="ANUARIO_FIGURE_ID=A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EMPLEO EN LOS SECTORES DE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2" descr="ANUARIO_FIGURE_ID=A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3" descr="ANUARIO_FIGURE_ID=A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ÍNDICES DE PRECIOS (INPC E IPCOM)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3" descr="ANUARIO_FIGURE_ID=A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4" descr="ANUARIO_FIGURE_ID=A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INVERSIÓN PRIVADA EN TELECOMUNICACIONES POR TIPO DE INVERSIÓN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4" descr="ANUARIO_FIGURE_ID=A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5" descr="ANUARIO_FIGURE_ID=A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INVERSIÓN EXTRANJERA DIRECTA (IED) EN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5" descr="ANUARIO_FIGURE_ID=A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6" descr="ANUARIO_FIGURE_ID=A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INGRESOS, EGRESOS Y MARGEN EN EL SECTOR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6" descr="ANUARIO_FIGURE_ID=A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7" descr="ANUARIO_FIGURE_ID=A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HOGARES CON SERVICIOS DE TELECOMUNICACIONES FIJAS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7" descr="ANUARIO_FIGURE_ID=A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8" descr="ANUARIO_FIGURE_ID=A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A.8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GASTO PROMEDIO Y PORCENTAJE DE GASTO EN SERVICIOS DE TELECOMUNICACIONES FIJAS DE LOS HOGARES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8" descr="ANUARIO_FIGURE_ID=A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9" descr="ANUARIO_FIGURE_ID=A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HOGARES CON SERVICIOS DE TELECOMUNICACIONES MÓVILES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9" descr="ANUARIO_FIGURE_ID=A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10" descr="ANUARIO_FIGURE_ID=A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A.10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GASTO PROMEDIO Y PORCENTAJE DE GASTO EN SERVICIOS DE TELECOMUNICACIONES MÓVILES DE LOS HOGARES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10" descr="ANUARIO_FIGURE_ID=A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" descr="ANUARIO_FIGURE_ID=B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A NIVEL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" descr="ANUARIO_FIGURE_ID=B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" descr="ANUARIO_FIGURE_ID=B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EN LAS ZONAS RURALES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" descr="ANUARIO_FIGURE_ID=B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3" descr="ANUARIO_FIGURE_ID=B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EN LAS ZONAS URBANAS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3" descr="ANUARIO_FIGURE_ID=B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4" descr="ANUARIO_FIGURE_ID=B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4" descr="ANUARIO_FIGURE_ID=B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5" descr="ANUARIO_FIGURE_ID=B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FIJO DE TELEFONÍA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5" descr="ANUARIO_FIGURE_ID=B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6" descr="ANUARIO_FIGURE_ID=B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FIJO DE TELEFONÍA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6" descr="ANUARIO_FIGURE_ID=B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7" descr="ANUARIO_FIGURE_ID=B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B.7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LÍNEAS DEL SERVICIO FIJO DE TELEFONÍA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7" descr="ANUARIO_FIGURE_ID=B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8" descr="ANUARIO_FIGURE_ID=B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 MINUTOS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8" descr="ANUARIO_FIGURE_ID=B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9" descr="ANUARIO_FIGURE_ID=B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9" descr="ANUARIO_FIGURE_ID=B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0" descr="ANUARIO_FIGURE_ID=B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HERFINDAHL-HIRSCHMAN (IHH)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0" descr="ANUARIO_FIGURE_ID=B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1" descr="ANUARIO_FIGURE_ID=B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1" descr="ANUARIO_FIGURE_ID=B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2" descr="ANUARIO_FIGURE_ID=B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FIJO DE INTERNET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2" descr="ANUARIO_FIGURE_ID=B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3" descr="ANUARIO_FIGURE_ID=B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ACCESOS DEL SERVICIO FIJO DE INTERNET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3" descr="ANUARIO_FIGURE_ID=B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4" descr="ANUARIO_FIGURE_ID=B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B.14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ACCESOS DEL SERVICIO FIJO DE INTERNET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4" descr="ANUARIO_FIGURE_ID=B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5" descr="ANUARIO_FIGURE_ID=B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B.15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ACCESOS DEL SERVICIO FIJO DE INTERNET POR RANGOS DE VELOCIDAD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5" descr="ANUARIO_FIGURE_ID=B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6" descr="ANUARIO_FIGURE_ID=B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ACCESOS DEL SERVICIO FIJO DE INTERNET POR TECNOLOGÍA Y SEGMENTO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6" descr="ANUARIO_FIGURE_ID=B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7" descr="ANUARIO_FIGURE_ID=B.1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7" descr="ANUARIO_FIGURE_ID=B.1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8" descr="ANUARIO_FIGURE_ID=B.1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HERFINDAHL-HIRSCHMAN (IHH)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8" descr="ANUARIO_FIGURE_ID=B.1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9" descr="ANUARIO_FIGURE_ID=B.1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9" descr="ANUARIO_FIGURE_ID=B.1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0" descr="ANUARIO_FIGURE_ID=B.2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DE TELEVISIÓN RESTRINGIDA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0" descr="ANUARIO_FIGURE_ID=B.2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1" descr="ANUARIO_FIGURE_ID=B.2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ACCESOS DEL SERVICIO DE TELEVISIÓN RESTRINGIDA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1" descr="ANUARIO_FIGURE_ID=B.2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2" descr="ANUARIO_FIGURE_ID=B.2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B.22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ACCESOS DEL SERVICIO DE TELEVISIÓN RESTRINGIDA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2" descr="ANUARIO_FIGURE_ID=B.2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3" descr="ANUARIO_FIGURE_ID=B.2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TECNOLOGÍAS DE CONEXIÓN DEL SERVICIO DE TELEVISIÓN RESTRINGIDA POR SEGMENTO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3" descr="ANUARIO_FIGURE_ID=B.2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4" descr="ANUARIO_FIGURE_ID=B.2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4" descr="ANUARIO_FIGURE_ID=B.2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5" descr="ANUARIO_FIGURE_ID=B.2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5" descr="ANUARIO_FIGURE_ID=B.2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" descr="ANUARIO_FIGURE_ID=C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ESPECTRO RADIOELÉCTRICO ASIGNADO POR BANDA DE FRECUENCIA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" descr="ANUARIO_FIGURE_ID=C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2" descr="ANUARIO_FIGURE_ID=C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DEL ESPECTRO RADIOELÉCTRICO POR OPERADOR Y POR BANDA DE FRECUENCIA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2" descr="ANUARIO_FIGURE_ID=C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3" descr="ANUARIO_FIGURE_ID=C.3;ROLE=NARRATIVE_PLACEHOLDER"/>
          <p:cNvSpPr/>
          <p:nvPr/>
        </p:nvSpPr>
        <p:spPr>
          <a:xfrm>
            <a:off x="450900" y="943525"/>
            <a:ext cx="252990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819" b="1">
                <a:solidFill>
                  <a:srgbClr val="203634"/>
                </a:solidFill>
                <a:latin typeface="Noto Sans"/>
              </a:rPr>
              <a:t>FIGURA C.3 · USO DE LOS SERVICIOS MÓVILES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434343"/>
                </a:solidFill>
                <a:latin typeface="Noto Sans"/>
              </a:rPr>
              <a:t>{{TEXTO:C.3}}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3" descr="ANUARIO_FIGURE_ID=C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800" b="1">
                <a:solidFill>
                  <a:srgbClr val="203634"/>
                </a:solidFill>
                <a:latin typeface="Noto Sans"/>
              </a:rPr>
              <a:t>FIGURA C.3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434343"/>
                </a:solidFill>
                <a:latin typeface="Noto Sans"/>
              </a:rPr>
              <a:t>{{FIGURA:C.3}}</a:t>
            </a:r>
          </a:p>
        </p:txBody>
      </p:sp>
      <p:sp>
        <p:nvSpPr>
          <p:cNvPr id="162" name="ANUARIO_TEXT_C_4" descr="ANUARIO_FIGURE_ID=C.3;ROLE=NARRATIVE_PLACEHOLDER"/>
          <p:cNvSpPr/>
          <p:nvPr/>
        </p:nvSpPr>
        <p:spPr>
          <a:xfrm>
            <a:off x="450900" y="2784445"/>
            <a:ext cx="252990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819" b="1">
                <a:solidFill>
                  <a:srgbClr val="203634"/>
                </a:solidFill>
                <a:latin typeface="Noto Sans"/>
              </a:rPr>
              <a:t>FIGURA C.4 · USO POR ZONA GEOGRÁFICA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434343"/>
                </a:solidFill>
                <a:latin typeface="Noto Sans"/>
              </a:rPr>
              <a:t>{{TEXTO:C.4}}</a:t>
            </a:r>
          </a:p>
        </p:txBody>
      </p:sp>
      <p:sp>
        <p:nvSpPr>
          <p:cNvPr id="3" name="ANUARIO_FIGURE_C_4" descr="ANUARIO_FIGURE_ID=C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2784445"/>
            <a:ext cx="5425440" cy="174948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800" b="1">
                <a:solidFill>
                  <a:srgbClr val="203634"/>
                </a:solidFill>
                <a:latin typeface="Noto Sans"/>
              </a:rPr>
              <a:t>FIGURA C.4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434343"/>
                </a:solidFill>
                <a:latin typeface="Noto Sans"/>
              </a:rPr>
              <a:t>{{FIGURA:C.4}}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5" descr="ANUARIO_FIGURE_ID=C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TELEFONÍA POR MODALIDAD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5" descr="ANUARIO_FIGURE_ID=C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6" descr="ANUARIO_FIGURE_ID=C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TELEFONÍA POR CADA 100 HABITANTES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6" descr="ANUARIO_FIGURE_ID=C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7" descr="ANUARIO_FIGURE_ID=C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MÓVIL DE TELEFONÍA POR CADA 100 HABITANTES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7" descr="ANUARIO_FIGURE_ID=C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8" descr="ANUARIO_FIGURE_ID=C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 MINUTOS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8" descr="ANUARIO_FIGURE_ID=C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9" descr="ANUARIO_FIGURE_ID=C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9" descr="ANUARIO_FIGURE_ID=C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0" descr="ANUARIO_FIGURE_ID=C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0" descr="ANUARIO_FIGURE_ID=C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1" descr="ANUARIO_FIGURE_ID=C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ACCESO A INTERNET POR MODALIDAD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1" descr="ANUARIO_FIGURE_ID=C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2" descr="ANUARIO_FIGURE_ID=C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ACCESO A INTERNET POR CADA 100 HABITANTES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2" descr="ANUARIO_FIGURE_ID=C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3" descr="ANUARIO_FIGURE_ID=C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MÓVIL DE ACCESO A INTERNET POR CADA 100 HABITANTES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3" descr="ANUARIO_FIGURE_ID=C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4" descr="ANUARIO_FIGURE_ID=C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DEL SERVICIO MÓVIL DE ACCESO A INTERNET POR TECNOLOGÍA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4" descr="ANUARIO_FIGURE_ID=C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5" descr="ANUARIO_FIGURE_ID=C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MÓVIL DE ACCESO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5" descr="ANUARIO_FIGURE_ID=C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6" descr="ANUARIO_FIGURE_ID=C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MÓVIL DE ACCESO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6" descr="ANUARIO_FIGURE_ID=C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" descr="ANUARIO_FIGURE_ID=D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DISPONIBILIDAD DE LAS TIC EN LOS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" descr="ANUARIO_FIGURE_ID=D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2" descr="ANUARIO_FIGURE_ID=D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SMARTPHONE E INTERNET POR GRUPOS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2" descr="ANUARIO_FIGURE_ID=D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3" descr="ANUARIO_FIGURE_ID=D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HORAS PROMEDIO DE USO DE INTERNET POR GRUPOS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3" descr="ANUARIO_FIGURE_ID=D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4" descr="ANUARIO_FIGURE_ID=D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DISPOSITIVOS INTELIGENTES CONECTADOS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4" descr="ANUARIO_FIGURE_ID=D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5" descr="ANUARIO_FIGURE_ID=D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D.5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FORMA EN QUE LAS PERSONAS APRENDIERON A BUSCAR INFORMACIÓN O USAR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5" descr="ANUARIO_FIGURE_ID=D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6" descr="ANUARIO_FIGURE_ID=D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EXPERIENCIAS NEGATIVAS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6" descr="ANUARIO_FIGURE_ID=D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7" descr="ANUARIO_FIGURE_ID=D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EXPERIENCIAS NEGATIVAS EN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7" descr="ANUARIO_FIGURE_ID=D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8" descr="ANUARIO_FIGURE_ID=D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INFLUENCIA DE LA CONFIANZA EN INTERNET SOBRE SU USO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8" descr="ANUARIO_FIGURE_ID=D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9" descr="ANUARIO_FIGURE_ID=D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PERCEPCIÓN DE SEGURIDAD AL REALIZAR COMPRAS POR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9" descr="ANUARIO_FIGURE_ID=D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0" descr="ANUARIO_FIGURE_ID=D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PERCEPCIÓN DE SEGURIDAD AL USAR BANCA POR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0" descr="ANUARIO_FIGURE_ID=D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1" descr="ANUARIO_FIGURE_ID=D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PERCEPCIÓN DE SEGURIDAD AL COMPARTIR INFORMACIÓN EN REDES SOCIALES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1" descr="ANUARIO_FIGURE_ID=D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1" descr="ANUARIO_FIGURE_ID=E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GENERAL DE SATISFACCIÓN POR SERVICIO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1" descr="ANUARIO_FIGURE_ID=E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2" descr="ANUARIO_FIGURE_ID=E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PRINCIPALES HALLAZGOS DE LA INTELIGENCIA ARTIFICIAL Y CHATGPT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2" descr="ANUARIO_FIGURE_ID=E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3" descr="ANUARIO_FIGURE_ID=E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GENERAL DE SATISFACCIÓN POR SERVICIO Y TAMAÑO DE EMPRESA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3" descr="ANUARIO_FIGURE_ID=E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4" descr="ANUARIO_FIGURE_ID=E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SERVICIOS DE TELECOMUNICACIONES CONTRATADOS POR LAS MIPYMES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4" descr="ANUARIO_FIGURE_ID=E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5" descr="ANUARIO_FIGURE_ID=E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PERCEPCIÓN DE BENEFICIOS DE INTERNET FIJO Y TELEFONÍA FIJA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5" descr="ANUARIO_FIGURE_ID=E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6" descr="ANUARIO_FIGURE_ID=E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BENEFICIOS DE VENDER MEDIANTE INTERNET FIJO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6" descr="ANUARIO_FIGURE_ID=E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7" descr="ANUARIO_FIGURE_ID=E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DISPOSITIVOS UTILIZADOS POR LAS MIPYMES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7" descr="ANUARIO_FIGURE_ID=E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8" descr="ANUARIO_FIGURE_ID=E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BENEFICIOS DE CONTAR CON UNA APLICACIÓN MÓVIL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8" descr="ANUARIO_FIGURE_ID=E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9" descr="ANUARIO_FIGURE_ID=E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SERVICIOS DE TELECOMUNICACIONES MÁS IMPORTANTES PARA MIPYMES IMPORTADORAS Y EXPORTADORAS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9" descr="ANUARIO_FIGURE_ID=E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F_OVERVIEW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F_OVERVIEW_SMARTPHONE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ACTIVIDADES EN EL TELÉFONO CELULAR INTELIGENTE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{{TEXTO:F_OVERVIEW_SMARTPHONE}}</a:t>
            </a:r>
          </a:p>
        </p:txBody>
      </p:sp>
      <p:sp>
        <p:nvSpPr>
          <p:cNvPr id="223" name="ANUARIO_F_OVERVIEW_INTERNET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ACTIVIDADES REALIZADAS EN INTERNET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{{TEXTO:F_OVERVIEW_INTERNET}}</a:t>
            </a:r>
          </a:p>
        </p:txBody>
      </p:sp>
      <p:sp>
        <p:nvSpPr>
          <p:cNvPr id="224" name="ANUARIO_F_OVERVIEW_COMPUTADORA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ACTIVIDADES EN LA COMPUTADORA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{{TEXTO:F_OVERVIEW_COMPUTADORA}}</a:t>
            </a:r>
          </a:p>
        </p:txBody>
      </p:sp>
      <p:sp>
        <p:nvSpPr>
          <p:cNvPr id="225" name="ANUARIO_F_OVERVIEW_REDES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USO DE LAS REDES SOCIALES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{{TEXTO:F_OVERVIEW_REDES}}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1" descr="ANUARIO_FIGURE_ID=F.1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APLICACIONES INSTALADAS MEDIANTE SMARTPHONE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1" descr="ANUARIO_FIGURE_ID=F.1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2" descr="ANUARIO_FIGURE_ID=F.1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ACTIVIDADES REALIZADAS EN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2" descr="ANUARIO_FIGURE_ID=F.1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3" descr="ANUARIO_FIGURE_ID=F.1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HABILIDADES EN LA COMPUTADORA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3" descr="ANUARIO_FIGURE_ID=F.1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4" descr="ANUARIO_FIGURE_ID=F.1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REDES SOCIALES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4" descr="ANUARIO_FIGURE_ID=F.1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2" descr="ANUARIO_FIGURE_ID=F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EMPLEADAS EN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2" descr="ANUARIO_FIGURE_ID=F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3" descr="ANUARIO_FIGURE_ID=F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LA POBLACIÓN DE 12 AÑOS Y MÁS QUE VIVIÓ CIBERACOSO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3" descr="ANUARIO_FIGURE_ID=F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4" descr="ANUARIO_FIGURE_ID=F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LA POBLACIÓN DE 12 AÑOS Y MÁS QUE VIVIÓ CIBERACOSO POR ENTIDAD FEDERATIVA Y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4" descr="ANUARIO_FIGURE_ID=F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5" descr="ANUARIO_FIGURE_ID=F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LA POBLACIÓN QUE VIVIÓ CIBERACOSO POR SEXO Y RANGO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5" descr="ANUARIO_FIGURE_ID=F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6" descr="ANUARIO_FIGURE_ID=F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DISTRIBUCIÓN DE LAS SITUACIONES DE CIBERACOSO EXPERIMENTADAS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6" descr="ANUARIO_FIGURE_ID=F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7" descr="ANUARIO_FIGURE_ID=F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MEDIDAS DE SEGURIDAD PARA PROTEGER EQUIPOS O CUENTAS DE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7" descr="ANUARIO_FIGURE_ID=F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8" descr="ANUARIO_FIGURE_ID=F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POBLACIÓN QUE VIVIÓ CIBERACOSO POR MEDIOS DIGITALES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8" descr="ANUARIO_FIGURE_ID=F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9" descr="ANUARIO_FIGURE_ID=F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TOMADAS CONTRA EL CIBERACOSO EXPERIMENTADO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9" descr="ANUARIO_FIGURE_ID=F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0" descr="ANUARIO_FIGURE_ID=F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SER VÍCTIMAS DE VIOLENCIA EN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0" descr="ANUARIO_FIGURE_ID=F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1" descr="ANUARIO_FIGURE_ID=F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PERSONAS CON MAYOR RIESGO DE SER VÍCTIMAS DE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1" descr="ANUARIO_FIGURE_ID=F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2" descr="ANUARIO_FIGURE_ID=F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VIOLENCIA A TRAVÉS DEL TELÉFONO MÓVIL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2" descr="ANUARIO_FIGURE_ID=F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3" descr="ANUARIO_FIGURE_ID=F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VIOLENCIA MEDIANTE TELEFONÍA MÓVIL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3" descr="ANUARIO_FIGURE_ID=F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4" descr="ANUARIO_FIGURE_ID=F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PREVENTIVAS Y DE PROTECCIÓN ANTE LA VIOLENCIA DIGITAL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4" descr="ANUARIO_FIGURE_ID=F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5" descr="ANUARIO_FIGURE_ID=F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ACCIONES PARA PROTEGERSE O PREVENIR LA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5" descr="ANUARIO_FIGURE_ID=F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6" descr="ANUARIO_FIGURE_ID=F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QUE SE TOMARÍAN ANTE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6" descr="ANUARIO_FIGURE_ID=F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G_1" descr="ANUARIO_FIGURE_ID=G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G.1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CONCESIONES OTORGADAS DE RADIODIFUSIÓN PARA AM, FM Y TDT, A NIVEL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G" descr="ANUARIO_SECTION=G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G. INDICADORES DE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G_1" descr="ANUARIO_FIGURE_ID=G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{{FIGURA:G.1}}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" descr="ANUARIO_FIGURE_ID=H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PERSONAS QUE VIERON LA TELEVISIÓN POR HORA A NIVEL NACIONAL (28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" descr="ANUARIO_FIGURE_ID=H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2" descr="ANUARIO_FIGURE_ID=H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(28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2" descr="ANUARIO_FIGURE_ID=H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3" descr="ANUARIO_FIGURE_ID=H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PERSONAS QUE VIERON LA TELEVISIÓN POR HORA EN CIUDAD DE MÉXICO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3" descr="ANUARIO_FIGURE_ID=H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4" descr="ANUARIO_FIGURE_ID=H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(CDMX)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4" descr="ANUARIO_FIGURE_ID=H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5" descr="ANUARIO_FIGURE_ID=H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GUADALAJARA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5" descr="ANUARIO_FIGURE_ID=H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{{FIGURA:H.5}}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6" descr="ANUARIO_FIGURE_ID=H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(GUADALAJARA)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6" descr="ANUARIO_FIGURE_ID=H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{{FIGURA:H.6}}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7" descr="ANUARIO_FIGURE_ID=H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MONTERREY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7" descr="ANUARIO_FIGURE_ID=H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{{FIGURA:H.7}}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8" descr="ANUARIO_FIGURE_ID=H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H.8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(MONTERREY)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8" descr="ANUARIO_FIGURE_ID=H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{{FIGURA:H.8}}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9" descr="ANUARIO_FIGURE_ID=H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25 CIUDADES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9" descr="ANUARIO_FIGURE_ID=H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{{FIGURA:H.9}}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0" descr="ANUARIO_FIGURE_ID=H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H.10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(25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0" descr="ANUARIO_FIGURE_ID=H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{{FIGURA:H.10}}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1" descr="ANUARIO_FIGURE_ID=H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1" descr="ANUARIO_FIGURE_ID=H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{{FIGURA:H.11}}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2" descr="ANUARIO_FIGURE_ID=H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CDMX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2" descr="ANUARIO_FIGURE_ID=H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{{FIGURA:H.12}}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3" descr="ANUARIO_FIGURE_ID=H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PROPORCIÓN DE PERSONAS QUE ESCUCHARON LA RADIO POR HORA (%) — GUADALAJARA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3" descr="ANUARIO_FIGURE_ID=H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{{FIGURA:H.13}}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4" descr="ANUARIO_FIGURE_ID=H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MONTERREY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4" descr="ANUARIO_FIGURE_ID=H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{{FIGURA:H.14}}</a:t>
            </a:r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HERRAMIENTAS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HERRAMIENTAS IFT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TOOL_1"/>
          <p:cNvSpPr/>
          <p:nvPr/>
        </p:nvSpPr>
        <p:spPr>
          <a:xfrm>
            <a:off x="450900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BANCO DE INFORMACIÓN DE TELECOMUNICACIONES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{{TEXTO:HERRAMIENTA_1}}</a:t>
            </a:r>
          </a:p>
        </p:txBody>
      </p:sp>
      <p:sp>
        <p:nvSpPr>
          <p:cNvPr id="223" name="ANUARIO_TOOL_2"/>
          <p:cNvSpPr/>
          <p:nvPr/>
        </p:nvSpPr>
        <p:spPr>
          <a:xfrm>
            <a:off x="4650827" y="943525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HERRAMIENTA / MICROSITIO 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{{TEXTO:HERRAMIENTA_2}}</a:t>
            </a:r>
          </a:p>
        </p:txBody>
      </p:sp>
      <p:sp>
        <p:nvSpPr>
          <p:cNvPr id="224" name="ANUARIO_TOOL_3"/>
          <p:cNvSpPr/>
          <p:nvPr/>
        </p:nvSpPr>
        <p:spPr>
          <a:xfrm>
            <a:off x="450900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HERRAMIENTA / MICROSITIO 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{{TEXTO:HERRAMIENTA_3}}</a:t>
            </a:r>
          </a:p>
        </p:txBody>
      </p:sp>
      <p:sp>
        <p:nvSpPr>
          <p:cNvPr id="225" name="ANUARIO_TOOL_4"/>
          <p:cNvSpPr/>
          <p:nvPr/>
        </p:nvSpPr>
        <p:spPr>
          <a:xfrm>
            <a:off x="4650827" y="2802733"/>
            <a:ext cx="4053623" cy="1731192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HERRAMIENTA / MICROSITIO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{{TEXTO:HERRAMIENTA_4}}</a:t>
            </a:r>
          </a:p>
        </p:txBody>
      </p:sp>
      <p:sp>
        <p:nvSpPr>
          <p:cNvPr id="226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1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{{TABLA:ANEXO_I_1}}</a:t>
            </a:r>
          </a:p>
        </p:txBody>
      </p:sp>
      <p:sp>
        <p:nvSpPr>
          <p:cNvPr id="202" name="ANUARIO_HEADER_ANEXO_I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2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{{TABLA:ANEXO_I_2}}</a:t>
            </a:r>
          </a:p>
        </p:txBody>
      </p:sp>
      <p:sp>
        <p:nvSpPr>
          <p:cNvPr id="202" name="ANUARIO_HEADER_ANEXO_I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3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{{TABLA:ANEXO_I_3}}</a:t>
            </a:r>
          </a:p>
        </p:txBody>
      </p:sp>
      <p:sp>
        <p:nvSpPr>
          <p:cNvPr id="202" name="ANUARIO_HEADER_ANEXO_I_3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_TABLE_4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RESUMEN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{{TABLA:ANEXO_I_4}}</a:t>
            </a:r>
          </a:p>
        </p:txBody>
      </p:sp>
      <p:sp>
        <p:nvSpPr>
          <p:cNvPr id="202" name="ANUARIO_HEADER_ANEXO_I_4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I. RESUMEN DE INDICADORES DE TELECOMUNICACIONES Y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1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{{TEXTO:ANEXO_II_1_A}}</a:t>
            </a:r>
          </a:p>
        </p:txBody>
      </p:sp>
      <p:sp>
        <p:nvSpPr>
          <p:cNvPr id="223" name="ANUARIO_ANEXO_II_TEXT_1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{{TEXTO:ANEXO_II_1_B}}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2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{{TEXTO:ANEXO_II_2_A}}</a:t>
            </a:r>
          </a:p>
        </p:txBody>
      </p:sp>
      <p:sp>
        <p:nvSpPr>
          <p:cNvPr id="223" name="ANUARIO_ANEXO_II_TEXT_2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{{TEXTO:ANEXO_II_2_B}}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3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3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{{TEXTO:ANEXO_II_3_A}}</a:t>
            </a:r>
          </a:p>
        </p:txBody>
      </p:sp>
      <p:sp>
        <p:nvSpPr>
          <p:cNvPr id="223" name="ANUARIO_ANEXO_II_TEXT_3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{{TEXTO:ANEXO_II_3_B}}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4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4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{{TEXTO:ANEXO_II_4_A}}</a:t>
            </a:r>
          </a:p>
        </p:txBody>
      </p:sp>
      <p:sp>
        <p:nvSpPr>
          <p:cNvPr id="223" name="ANUARIO_ANEXO_II_TEXT_4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{{TEXTO:ANEXO_II_4_B}}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ANUARIO_HEADER_ANEXO_II_5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II. DEFINICIONES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ANUARIO_ANEXO_II_TEXT_5A"/>
          <p:cNvSpPr/>
          <p:nvPr/>
        </p:nvSpPr>
        <p:spPr>
          <a:xfrm>
            <a:off x="450900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{{TEXTO:ANEXO_II_5_A}}</a:t>
            </a:r>
          </a:p>
        </p:txBody>
      </p:sp>
      <p:sp>
        <p:nvSpPr>
          <p:cNvPr id="223" name="ANUARIO_ANEXO_II_TEXT_5B"/>
          <p:cNvSpPr/>
          <p:nvPr/>
        </p:nvSpPr>
        <p:spPr>
          <a:xfrm>
            <a:off x="4650827" y="943525"/>
            <a:ext cx="4053623" cy="3590400"/>
          </a:xfrm>
          <a:prstGeom prst="roundRect">
            <a:avLst/>
          </a:prstGeom>
          <a:solidFill>
            <a:srgbClr val="F7F7F7"/>
          </a:solidFill>
          <a:ln w="889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910" b="1">
                <a:solidFill>
                  <a:srgbClr val="203634"/>
                </a:solidFill>
                <a:latin typeface="Noto Sans"/>
              </a:rPr>
              <a:t>DEFINICIONES · CONTINUACIÓN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434343"/>
                </a:solidFill>
                <a:latin typeface="Noto Sans"/>
              </a:rPr>
              <a:t>{{TEXTO:ANEXO_II_5_B}}</a:t>
            </a:r>
          </a:p>
        </p:txBody>
      </p:sp>
      <p:sp>
        <p:nvSpPr>
          <p:cNvPr id="224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1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SOBRE INFORMACIÓN DE SERVICIOS DE TELECOMUNICACIONES E ÍNDICES DE PRECIOS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{{TEXTO:ANEXO_III_1}}</a:t>
            </a:r>
          </a:p>
        </p:txBody>
      </p:sp>
      <p:sp>
        <p:nvSpPr>
          <p:cNvPr id="202" name="ANUARIO_HEADER_ANEXO_III_1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2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SOBRE INFORMACIÓN DE INGRESO Y GASTO DE LOS HOGARES EN TELECOMUNICACIONES FIJAS Y MÓVILES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{{TEXTO:ANEXO_III_2}}</a:t>
            </a:r>
          </a:p>
        </p:txBody>
      </p:sp>
      <p:sp>
        <p:nvSpPr>
          <p:cNvPr id="202" name="ANUARIO_HEADER_ANEXO_III_2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3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CONSUMO DE RADIO Y TELEVISIÓN / ENDUTIH · PARTICULARIDADES METODOLÓGICAS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{{TEXTO:ANEXO_III_3}}</a:t>
            </a:r>
          </a:p>
        </p:txBody>
      </p:sp>
      <p:sp>
        <p:nvSpPr>
          <p:cNvPr id="202" name="ANUARIO_HEADER_ANEXO_III_3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II_TEXT_4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ENOE / PRODUCTO INTERNO BRUTO · PARTICULARIDADES METODOLÓGICAS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{{TEXTO:ANEXO_III_4}}</a:t>
            </a:r>
          </a:p>
        </p:txBody>
      </p:sp>
      <p:sp>
        <p:nvSpPr>
          <p:cNvPr id="202" name="ANUARIO_HEADER_ANEXO_III_4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III. METODOLOGÍAS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ANEXO_IV_TABLE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rgbClr val="F7F7F7"/>
          </a:solidFill>
          <a:ln w="8890">
            <a:solidFill>
              <a:srgbClr val="E0E0E0"/>
            </a:solidFill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37160" tIns="109728" rIns="137160" bIns="109728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>
                <a:solidFill>
                  <a:srgbClr val="203634"/>
                </a:solidFill>
                <a:latin typeface="Noto Sans"/>
              </a:rPr>
              <a:t>MÉTODOS DE CÁLCULO DE INDICADORES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Noto Sans"/>
              </a:rPr>
              <a:t>{{TABLA:ANEXO_IV_METODOS_CALCULO}}</a:t>
            </a:r>
          </a:p>
        </p:txBody>
      </p:sp>
      <p:sp>
        <p:nvSpPr>
          <p:cNvPr id="202" name="ANUARIO_HEADER_ANEXO_IV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ANEXO IV. MÉTODOS DE CÁLCULO DE INDICADORES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ANUARIO_PAGE_NUMBER"/>
          <p:cNvSpPr txBox="1"/>
          <p:nvPr/>
        </p:nvSpPr>
        <p:spPr>
          <a:xfrm>
            <a:off x="274320" y="4800600"/>
            <a:ext cx="502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50" b="1">
                <a:solidFill>
                  <a:srgbClr val="203634"/>
                </a:solidFill>
                <a:latin typeface="Noto Sans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6" name="ANUARIO_COVER_YEAR"/>
          <p:cNvSpPr txBox="1"/>
          <p:nvPr/>
        </p:nvSpPr>
        <p:spPr>
          <a:xfrm>
            <a:off x="2483550" y="3010223"/>
            <a:ext cx="41769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000000"/>
              </a:buClr>
              <a:buSzPts val="5025"/>
              <a:buFont typeface="Arial"/>
              <a:buNone/>
            </a:pPr>
            <a:r>
              <a:rPr lang="es-419" sz="2000" dirty="0">
                <a:solidFill>
                  <a:srgbClr val="E6D195"/>
                </a:solidFill>
                <a:latin typeface="Noto Sans Light"/>
                <a:ea typeface="Noto Sans Light"/>
                <a:cs typeface="Noto Sans Light"/>
                <a:sym typeface="Noto Sans Light"/>
              </a:rPr>
              <a:t>2026</a:t>
            </a:r>
            <a:endParaRPr lang="es-419" sz="2000" b="0" i="0" u="none" strike="noStrike" cap="none" dirty="0">
              <a:solidFill>
                <a:srgbClr val="E6D195"/>
              </a:solidFill>
              <a:latin typeface="Noto Sans Light"/>
              <a:ea typeface="Noto Sans Light"/>
              <a:cs typeface="Noto Sans Light"/>
              <a:sym typeface="Noto Sans Light"/>
            </a:endParaRPr>
          </a:p>
        </p:txBody>
      </p:sp>
      <p:sp>
        <p:nvSpPr>
          <p:cNvPr id="147" name="ANUARIO_COVER_TITLE"/>
          <p:cNvSpPr txBox="1"/>
          <p:nvPr/>
        </p:nvSpPr>
        <p:spPr>
          <a:xfrm>
            <a:off x="1651800" y="1808275"/>
            <a:ext cx="5840400" cy="8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3500" dirty="0">
                <a:solidFill>
                  <a:srgbClr val="FFFFFF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Anuario estadístico</a:t>
            </a:r>
            <a:endParaRPr lang="es-419" sz="3500" b="0" i="0" u="none" strike="noStrike" cap="none" dirty="0">
              <a:solidFill>
                <a:srgbClr val="FFFFFF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cxnSp>
        <p:nvCxnSpPr>
          <p:cNvPr id="148" name="Google Shape;148;p13"/>
          <p:cNvCxnSpPr/>
          <p:nvPr/>
        </p:nvCxnSpPr>
        <p:spPr>
          <a:xfrm>
            <a:off x="1651800" y="2807935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ANUARIO_BACK_CONTACT"/>
          <p:cNvSpPr txBox="1"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3F3F3"/>
                </a:solidFill>
                <a:latin typeface="Noto Sans"/>
              </a:rPr>
              <a:t>{{CONTRAPORTADA:CONTACTO_INSTITUCIONAL}}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EBCBE3C554DA24CB7C8D4C20CA639E2" ma:contentTypeVersion="5" ma:contentTypeDescription="Crear nuevo documento." ma:contentTypeScope="" ma:versionID="0fcc438b67c801b3c2d9fb562e1e9338">
  <xsd:schema xmlns:xsd="http://www.w3.org/2001/XMLSchema" xmlns:xs="http://www.w3.org/2001/XMLSchema" xmlns:p="http://schemas.microsoft.com/office/2006/metadata/properties" xmlns:ns3="e85a5d3e-7efa-40e1-bbb8-3d115bd3e7d8" targetNamespace="http://schemas.microsoft.com/office/2006/metadata/properties" ma:root="true" ma:fieldsID="a6812b3cfc37913c39a104671458b8db" ns3:_="">
    <xsd:import namespace="e85a5d3e-7efa-40e1-bbb8-3d115bd3e7d8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5a5d3e-7efa-40e1-bbb8-3d115bd3e7d8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85a5d3e-7efa-40e1-bbb8-3d115bd3e7d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F655FB2-7D4B-41EB-AB16-DA03FD3DD1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5a5d3e-7efa-40e1-bbb8-3d115bd3e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96415D-E6AE-49DC-90DB-3F584607812F}">
  <ds:schemaRefs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elements/1.1/"/>
    <ds:schemaRef ds:uri="http://schemas.microsoft.com/office/infopath/2007/PartnerControls"/>
    <ds:schemaRef ds:uri="e85a5d3e-7efa-40e1-bbb8-3d115bd3e7d8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6081950B-401E-479D-907B-8F99CA94331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528</Words>
  <Application>Microsoft Office PowerPoint</Application>
  <PresentationFormat>Presentación en pantalla (16:9)</PresentationFormat>
  <Paragraphs>68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Noto Sans Light</vt:lpstr>
      <vt:lpstr>Poppins</vt:lpstr>
      <vt:lpstr>Arial</vt:lpstr>
      <vt:lpstr>Noto Sans</vt:lpstr>
      <vt:lpstr>Noto Sans ExtraBold</vt:lpstr>
      <vt:lpstr>Noto Sans Black</vt:lpstr>
      <vt:lpstr>Simple Light</vt:lpstr>
      <vt:lpstr>Presentación de PowerPoint</vt:lpstr>
      <vt:lpstr>Presentación de PowerPoint</vt:lpstr>
      <vt:lpstr>A. INDICADORES ECONÓMICOS</vt:lpstr>
      <vt:lpstr>A. INDICADORES ECONÓMICOS</vt:lpstr>
      <vt:lpstr>A. INDICADORES ECONÓMICOS</vt:lpstr>
      <vt:lpstr>A. INDICADORES ECONÓMICOS</vt:lpstr>
      <vt:lpstr>A. INDICADORES ECONÓMICOS</vt:lpstr>
      <vt:lpstr>A. INDICADORES ECONÓMICOS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Gustavo Ivan Garcia Quiroz</dc:creator>
  <cp:lastModifiedBy>Gustavo Ivan Garcia Quiroz</cp:lastModifiedBy>
  <cp:revision>2</cp:revision>
  <dcterms:modified xsi:type="dcterms:W3CDTF">2026-09-15T18:13:40Z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0x010100EEBCBE3C554DA24CB7C8D4C20CA639E2</vt:lpwstr>
  </property>
</Properties>
</file>